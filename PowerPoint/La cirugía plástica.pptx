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42"/>
  </p:notesMasterIdLst>
  <p:sldIdLst>
    <p:sldId id="256" r:id="rId2"/>
    <p:sldId id="257" r:id="rId3"/>
    <p:sldId id="258" r:id="rId4"/>
    <p:sldId id="259" r:id="rId5"/>
    <p:sldId id="292" r:id="rId6"/>
    <p:sldId id="260" r:id="rId7"/>
    <p:sldId id="261" r:id="rId8"/>
    <p:sldId id="262" r:id="rId9"/>
    <p:sldId id="263" r:id="rId10"/>
    <p:sldId id="264" r:id="rId11"/>
    <p:sldId id="265" r:id="rId12"/>
    <p:sldId id="266" r:id="rId13"/>
    <p:sldId id="267" r:id="rId14"/>
    <p:sldId id="268" r:id="rId15"/>
    <p:sldId id="270" r:id="rId16"/>
    <p:sldId id="271" r:id="rId17"/>
    <p:sldId id="272" r:id="rId18"/>
    <p:sldId id="273" r:id="rId19"/>
    <p:sldId id="274" r:id="rId20"/>
    <p:sldId id="293" r:id="rId21"/>
    <p:sldId id="275" r:id="rId22"/>
    <p:sldId id="276" r:id="rId23"/>
    <p:sldId id="277" r:id="rId24"/>
    <p:sldId id="278" r:id="rId25"/>
    <p:sldId id="279" r:id="rId26"/>
    <p:sldId id="294" r:id="rId27"/>
    <p:sldId id="281" r:id="rId28"/>
    <p:sldId id="282" r:id="rId29"/>
    <p:sldId id="283" r:id="rId30"/>
    <p:sldId id="284" r:id="rId31"/>
    <p:sldId id="297" r:id="rId32"/>
    <p:sldId id="285" r:id="rId33"/>
    <p:sldId id="295" r:id="rId34"/>
    <p:sldId id="286" r:id="rId35"/>
    <p:sldId id="287" r:id="rId36"/>
    <p:sldId id="288" r:id="rId37"/>
    <p:sldId id="289" r:id="rId38"/>
    <p:sldId id="290" r:id="rId39"/>
    <p:sldId id="296" r:id="rId40"/>
    <p:sldId id="291" r:id="rId41"/>
  </p:sldIdLst>
  <p:sldSz cx="9144000" cy="6858000" type="screen4x3"/>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A0A0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4669" autoAdjust="0"/>
  </p:normalViewPr>
  <p:slideViewPr>
    <p:cSldViewPr>
      <p:cViewPr varScale="1">
        <p:scale>
          <a:sx n="84" d="100"/>
          <a:sy n="84" d="100"/>
        </p:scale>
        <p:origin x="1506" y="78"/>
      </p:cViewPr>
      <p:guideLst>
        <p:guide orient="horz" pos="2160"/>
        <p:guide pos="2880"/>
      </p:guideLst>
    </p:cSldViewPr>
  </p:slideViewPr>
  <p:outlineViewPr>
    <p:cViewPr>
      <p:scale>
        <a:sx n="33" d="100"/>
        <a:sy n="33" d="100"/>
      </p:scale>
      <p:origin x="0" y="1476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B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25B74D-AA23-4B47-9400-33F533EAAAAD}" type="datetimeFigureOut">
              <a:rPr lang="es-BO" smtClean="0"/>
              <a:pPr/>
              <a:t>20/09/2014</a:t>
            </a:fld>
            <a:endParaRPr lang="es-B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B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B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B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A50A8B-4ABA-481A-975A-F8623C79AA03}" type="slidenum">
              <a:rPr lang="es-BO" smtClean="0"/>
              <a:pPr/>
              <a:t>‹Nº›</a:t>
            </a:fld>
            <a:endParaRPr lang="es-BO"/>
          </a:p>
        </p:txBody>
      </p:sp>
    </p:spTree>
    <p:extLst>
      <p:ext uri="{BB962C8B-B14F-4D97-AF65-F5344CB8AC3E}">
        <p14:creationId xmlns:p14="http://schemas.microsoft.com/office/powerpoint/2010/main" val="3033285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BO"/>
          </a:p>
        </p:txBody>
      </p:sp>
      <p:sp>
        <p:nvSpPr>
          <p:cNvPr id="4" name="3 Marcador de número de diapositiva"/>
          <p:cNvSpPr>
            <a:spLocks noGrp="1"/>
          </p:cNvSpPr>
          <p:nvPr>
            <p:ph type="sldNum" sz="quarter" idx="10"/>
          </p:nvPr>
        </p:nvSpPr>
        <p:spPr/>
        <p:txBody>
          <a:bodyPr/>
          <a:lstStyle/>
          <a:p>
            <a:fld id="{C1A50A8B-4ABA-481A-975A-F8623C79AA03}" type="slidenum">
              <a:rPr lang="es-BO" smtClean="0"/>
              <a:pPr/>
              <a:t>40</a:t>
            </a:fld>
            <a:endParaRPr lang="es-BO"/>
          </a:p>
        </p:txBody>
      </p:sp>
    </p:spTree>
    <p:extLst>
      <p:ext uri="{BB962C8B-B14F-4D97-AF65-F5344CB8AC3E}">
        <p14:creationId xmlns:p14="http://schemas.microsoft.com/office/powerpoint/2010/main" val="122852683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891821" y="5617774"/>
            <a:ext cx="7382935"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989952" y="1016990"/>
            <a:ext cx="7179733" cy="4831643"/>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990600" y="1009650"/>
            <a:ext cx="7179733" cy="4831643"/>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769521" y="702069"/>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7855433" y="749720"/>
            <a:ext cx="566928" cy="566928"/>
          </a:xfrm>
          <a:prstGeom prst="rect">
            <a:avLst/>
          </a:prstGeom>
          <a:noFill/>
        </p:spPr>
      </p:pic>
      <p:sp>
        <p:nvSpPr>
          <p:cNvPr id="2" name="Title 1"/>
          <p:cNvSpPr>
            <a:spLocks noGrp="1"/>
          </p:cNvSpPr>
          <p:nvPr>
            <p:ph type="ctrTitle"/>
          </p:nvPr>
        </p:nvSpPr>
        <p:spPr>
          <a:xfrm>
            <a:off x="1727201" y="1794935"/>
            <a:ext cx="5723468" cy="1828090"/>
          </a:xfrm>
        </p:spPr>
        <p:txBody>
          <a:bodyPr anchor="b">
            <a:normAutofit/>
          </a:bodyPr>
          <a:lstStyle>
            <a:lvl1pPr>
              <a:defRPr sz="4800"/>
            </a:lvl1pPr>
          </a:lstStyle>
          <a:p>
            <a:r>
              <a:rPr lang="es-ES" smtClean="0"/>
              <a:t>Haga clic para modificar el estilo de título del patrón</a:t>
            </a:r>
            <a:endParaRPr lang="en-US"/>
          </a:p>
        </p:txBody>
      </p:sp>
      <p:sp>
        <p:nvSpPr>
          <p:cNvPr id="3" name="Subtitle 2"/>
          <p:cNvSpPr>
            <a:spLocks noGrp="1"/>
          </p:cNvSpPr>
          <p:nvPr>
            <p:ph type="subTitle" idx="1"/>
          </p:nvPr>
        </p:nvSpPr>
        <p:spPr>
          <a:xfrm>
            <a:off x="1727200" y="3736622"/>
            <a:ext cx="5712179" cy="15240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a:xfrm>
            <a:off x="6770676" y="5357592"/>
            <a:ext cx="1213821" cy="365125"/>
          </a:xfrm>
        </p:spPr>
        <p:txBody>
          <a:bodyPr/>
          <a:lstStyle/>
          <a:p>
            <a:fld id="{141FF124-EA66-4B66-8173-CDB431056772}" type="datetimeFigureOut">
              <a:rPr lang="es-BO" smtClean="0"/>
              <a:pPr/>
              <a:t>20/09/2014</a:t>
            </a:fld>
            <a:endParaRPr lang="es-BO"/>
          </a:p>
        </p:txBody>
      </p:sp>
      <p:sp>
        <p:nvSpPr>
          <p:cNvPr id="5" name="Footer Placeholder 4"/>
          <p:cNvSpPr>
            <a:spLocks noGrp="1"/>
          </p:cNvSpPr>
          <p:nvPr>
            <p:ph type="ftr" sz="quarter" idx="11"/>
          </p:nvPr>
        </p:nvSpPr>
        <p:spPr>
          <a:xfrm>
            <a:off x="1174044" y="5357592"/>
            <a:ext cx="5034845" cy="365125"/>
          </a:xfrm>
        </p:spPr>
        <p:txBody>
          <a:bodyPr/>
          <a:lstStyle/>
          <a:p>
            <a:endParaRPr lang="es-BO"/>
          </a:p>
        </p:txBody>
      </p:sp>
      <p:sp>
        <p:nvSpPr>
          <p:cNvPr id="6" name="Slide Number Placeholder 5"/>
          <p:cNvSpPr>
            <a:spLocks noGrp="1"/>
          </p:cNvSpPr>
          <p:nvPr>
            <p:ph type="sldNum" sz="quarter" idx="12"/>
          </p:nvPr>
        </p:nvSpPr>
        <p:spPr>
          <a:xfrm>
            <a:off x="6213930" y="5357592"/>
            <a:ext cx="554023" cy="365125"/>
          </a:xfrm>
        </p:spPr>
        <p:txBody>
          <a:bodyPr/>
          <a:lstStyle>
            <a:lvl1pPr algn="ctr">
              <a:defRPr/>
            </a:lvl1pPr>
          </a:lstStyle>
          <a:p>
            <a:fld id="{537874D3-07FD-4454-ACDD-11D0433E9DBC}" type="slidenum">
              <a:rPr lang="es-BO" smtClean="0"/>
              <a:pPr/>
              <a:t>‹Nº›</a:t>
            </a:fld>
            <a:endParaRPr lang="es-B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141FF124-EA66-4B66-8173-CDB431056772}" type="datetimeFigureOut">
              <a:rPr lang="es-BO" smtClean="0"/>
              <a:pPr/>
              <a:t>20/09/2014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37874D3-07FD-4454-ACDD-11D0433E9DBC}" type="slidenum">
              <a:rPr lang="es-BO" smtClean="0"/>
              <a:pPr/>
              <a:t>‹Nº›</a:t>
            </a:fld>
            <a:endParaRPr lang="es-B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444979" y="2239430"/>
            <a:ext cx="6254044" cy="1362075"/>
          </a:xfrm>
        </p:spPr>
        <p:txBody>
          <a:bodyPr anchor="b"/>
          <a:lstStyle>
            <a:lvl1pPr algn="ctr">
              <a:defRPr sz="4000" b="0" cap="none" baseline="0"/>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456267" y="3725334"/>
            <a:ext cx="6231467" cy="1309511"/>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141FF124-EA66-4B66-8173-CDB431056772}" type="datetimeFigureOut">
              <a:rPr lang="es-BO" smtClean="0"/>
              <a:pPr/>
              <a:t>20/09/2014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37874D3-07FD-4454-ACDD-11D0433E9DBC}" type="slidenum">
              <a:rPr lang="es-BO" smtClean="0"/>
              <a:pPr/>
              <a:t>‹Nº›</a:t>
            </a:fld>
            <a:endParaRPr lang="es-B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5" name="Date Placeholder 4"/>
          <p:cNvSpPr>
            <a:spLocks noGrp="1"/>
          </p:cNvSpPr>
          <p:nvPr>
            <p:ph type="dt" sz="half" idx="10"/>
          </p:nvPr>
        </p:nvSpPr>
        <p:spPr/>
        <p:txBody>
          <a:bodyPr/>
          <a:lstStyle/>
          <a:p>
            <a:fld id="{141FF124-EA66-4B66-8173-CDB431056772}" type="datetimeFigureOut">
              <a:rPr lang="es-BO" smtClean="0"/>
              <a:pPr/>
              <a:t>20/09/2014</a:t>
            </a:fld>
            <a:endParaRPr lang="es-BO"/>
          </a:p>
        </p:txBody>
      </p:sp>
      <p:sp>
        <p:nvSpPr>
          <p:cNvPr id="6" name="Footer Placeholder 5"/>
          <p:cNvSpPr>
            <a:spLocks noGrp="1"/>
          </p:cNvSpPr>
          <p:nvPr>
            <p:ph type="ftr" sz="quarter" idx="11"/>
          </p:nvPr>
        </p:nvSpPr>
        <p:spPr/>
        <p:txBody>
          <a:bodyPr/>
          <a:lstStyle/>
          <a:p>
            <a:endParaRPr lang="es-BO"/>
          </a:p>
        </p:txBody>
      </p:sp>
      <p:sp>
        <p:nvSpPr>
          <p:cNvPr id="7" name="Slide Number Placeholder 6"/>
          <p:cNvSpPr>
            <a:spLocks noGrp="1"/>
          </p:cNvSpPr>
          <p:nvPr>
            <p:ph type="sldNum" sz="quarter" idx="12"/>
          </p:nvPr>
        </p:nvSpPr>
        <p:spPr/>
        <p:txBody>
          <a:bodyPr/>
          <a:lstStyle/>
          <a:p>
            <a:fld id="{537874D3-07FD-4454-ACDD-11D0433E9DBC}" type="slidenum">
              <a:rPr lang="es-BO" smtClean="0"/>
              <a:pPr/>
              <a:t>‹Nº›</a:t>
            </a:fld>
            <a:endParaRPr lang="es-BO"/>
          </a:p>
        </p:txBody>
      </p:sp>
      <p:sp>
        <p:nvSpPr>
          <p:cNvPr id="9" name="Content Placeholder 8"/>
          <p:cNvSpPr>
            <a:spLocks noGrp="1"/>
          </p:cNvSpPr>
          <p:nvPr>
            <p:ph sz="quarter" idx="13"/>
          </p:nvPr>
        </p:nvSpPr>
        <p:spPr>
          <a:xfrm>
            <a:off x="1298448" y="2121407"/>
            <a:ext cx="3200400" cy="360273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1" name="Content Placeholder 10"/>
          <p:cNvSpPr>
            <a:spLocks noGrp="1"/>
          </p:cNvSpPr>
          <p:nvPr>
            <p:ph sz="quarter" idx="14"/>
          </p:nvPr>
        </p:nvSpPr>
        <p:spPr>
          <a:xfrm>
            <a:off x="4663440" y="2119313"/>
            <a:ext cx="3200400" cy="360521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1557869" y="2122312"/>
            <a:ext cx="2939521" cy="820208"/>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5" name="Text Placeholder 4"/>
          <p:cNvSpPr>
            <a:spLocks noGrp="1"/>
          </p:cNvSpPr>
          <p:nvPr>
            <p:ph type="body" sz="quarter" idx="3"/>
          </p:nvPr>
        </p:nvSpPr>
        <p:spPr>
          <a:xfrm>
            <a:off x="4910669" y="2122311"/>
            <a:ext cx="2944368" cy="822960"/>
          </a:xfrm>
        </p:spPr>
        <p:txBody>
          <a:bodyPr anchor="b">
            <a:norm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7" name="Date Placeholder 6"/>
          <p:cNvSpPr>
            <a:spLocks noGrp="1"/>
          </p:cNvSpPr>
          <p:nvPr>
            <p:ph type="dt" sz="half" idx="10"/>
          </p:nvPr>
        </p:nvSpPr>
        <p:spPr/>
        <p:txBody>
          <a:bodyPr/>
          <a:lstStyle/>
          <a:p>
            <a:fld id="{141FF124-EA66-4B66-8173-CDB431056772}" type="datetimeFigureOut">
              <a:rPr lang="es-BO" smtClean="0"/>
              <a:pPr/>
              <a:t>20/09/2014</a:t>
            </a:fld>
            <a:endParaRPr lang="es-BO"/>
          </a:p>
        </p:txBody>
      </p:sp>
      <p:sp>
        <p:nvSpPr>
          <p:cNvPr id="8" name="Footer Placeholder 7"/>
          <p:cNvSpPr>
            <a:spLocks noGrp="1"/>
          </p:cNvSpPr>
          <p:nvPr>
            <p:ph type="ftr" sz="quarter" idx="11"/>
          </p:nvPr>
        </p:nvSpPr>
        <p:spPr/>
        <p:txBody>
          <a:bodyPr/>
          <a:lstStyle/>
          <a:p>
            <a:endParaRPr lang="es-BO"/>
          </a:p>
        </p:txBody>
      </p:sp>
      <p:sp>
        <p:nvSpPr>
          <p:cNvPr id="9" name="Slide Number Placeholder 8"/>
          <p:cNvSpPr>
            <a:spLocks noGrp="1"/>
          </p:cNvSpPr>
          <p:nvPr>
            <p:ph type="sldNum" sz="quarter" idx="12"/>
          </p:nvPr>
        </p:nvSpPr>
        <p:spPr/>
        <p:txBody>
          <a:bodyPr/>
          <a:lstStyle/>
          <a:p>
            <a:fld id="{537874D3-07FD-4454-ACDD-11D0433E9DBC}" type="slidenum">
              <a:rPr lang="es-BO" smtClean="0"/>
              <a:pPr/>
              <a:t>‹Nº›</a:t>
            </a:fld>
            <a:endParaRPr lang="es-BO"/>
          </a:p>
        </p:txBody>
      </p:sp>
      <p:sp>
        <p:nvSpPr>
          <p:cNvPr id="11" name="Content Placeholder 10"/>
          <p:cNvSpPr>
            <a:spLocks noGrp="1"/>
          </p:cNvSpPr>
          <p:nvPr>
            <p:ph sz="quarter" idx="13"/>
          </p:nvPr>
        </p:nvSpPr>
        <p:spPr>
          <a:xfrm>
            <a:off x="1298448" y="2944368"/>
            <a:ext cx="3227832" cy="277977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13" name="Content Placeholder 12"/>
          <p:cNvSpPr>
            <a:spLocks noGrp="1"/>
          </p:cNvSpPr>
          <p:nvPr>
            <p:ph sz="quarter" idx="14"/>
          </p:nvPr>
        </p:nvSpPr>
        <p:spPr>
          <a:xfrm>
            <a:off x="4645151" y="2944813"/>
            <a:ext cx="3227832" cy="2779776"/>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Date Placeholder 2"/>
          <p:cNvSpPr>
            <a:spLocks noGrp="1"/>
          </p:cNvSpPr>
          <p:nvPr>
            <p:ph type="dt" sz="half" idx="10"/>
          </p:nvPr>
        </p:nvSpPr>
        <p:spPr/>
        <p:txBody>
          <a:bodyPr/>
          <a:lstStyle/>
          <a:p>
            <a:fld id="{141FF124-EA66-4B66-8173-CDB431056772}" type="datetimeFigureOut">
              <a:rPr lang="es-BO" smtClean="0"/>
              <a:pPr/>
              <a:t>20/09/2014</a:t>
            </a:fld>
            <a:endParaRPr lang="es-BO"/>
          </a:p>
        </p:txBody>
      </p:sp>
      <p:sp>
        <p:nvSpPr>
          <p:cNvPr id="4" name="Footer Placeholder 3"/>
          <p:cNvSpPr>
            <a:spLocks noGrp="1"/>
          </p:cNvSpPr>
          <p:nvPr>
            <p:ph type="ftr" sz="quarter" idx="11"/>
          </p:nvPr>
        </p:nvSpPr>
        <p:spPr/>
        <p:txBody>
          <a:bodyPr/>
          <a:lstStyle/>
          <a:p>
            <a:endParaRPr lang="es-BO"/>
          </a:p>
        </p:txBody>
      </p:sp>
      <p:sp>
        <p:nvSpPr>
          <p:cNvPr id="5" name="Slide Number Placeholder 4"/>
          <p:cNvSpPr>
            <a:spLocks noGrp="1"/>
          </p:cNvSpPr>
          <p:nvPr>
            <p:ph type="sldNum" sz="quarter" idx="12"/>
          </p:nvPr>
        </p:nvSpPr>
        <p:spPr/>
        <p:txBody>
          <a:bodyPr/>
          <a:lstStyle/>
          <a:p>
            <a:fld id="{537874D3-07FD-4454-ACDD-11D0433E9DBC}" type="slidenum">
              <a:rPr lang="es-BO" smtClean="0"/>
              <a:pPr/>
              <a:t>‹Nº›</a:t>
            </a:fld>
            <a:endParaRPr lang="es-B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1FF124-EA66-4B66-8173-CDB431056772}" type="datetimeFigureOut">
              <a:rPr lang="es-BO" smtClean="0"/>
              <a:pPr/>
              <a:t>20/09/2014</a:t>
            </a:fld>
            <a:endParaRPr lang="es-BO"/>
          </a:p>
        </p:txBody>
      </p:sp>
      <p:sp>
        <p:nvSpPr>
          <p:cNvPr id="3" name="Footer Placeholder 2"/>
          <p:cNvSpPr>
            <a:spLocks noGrp="1"/>
          </p:cNvSpPr>
          <p:nvPr>
            <p:ph type="ftr" sz="quarter" idx="11"/>
          </p:nvPr>
        </p:nvSpPr>
        <p:spPr/>
        <p:txBody>
          <a:bodyPr/>
          <a:lstStyle/>
          <a:p>
            <a:endParaRPr lang="es-BO"/>
          </a:p>
        </p:txBody>
      </p:sp>
      <p:sp>
        <p:nvSpPr>
          <p:cNvPr id="4" name="Slide Number Placeholder 3"/>
          <p:cNvSpPr>
            <a:spLocks noGrp="1"/>
          </p:cNvSpPr>
          <p:nvPr>
            <p:ph type="sldNum" sz="quarter" idx="12"/>
          </p:nvPr>
        </p:nvSpPr>
        <p:spPr/>
        <p:txBody>
          <a:bodyPr/>
          <a:lstStyle/>
          <a:p>
            <a:fld id="{537874D3-07FD-4454-ACDD-11D0433E9DBC}" type="slidenum">
              <a:rPr lang="es-BO" smtClean="0"/>
              <a:pPr/>
              <a:t>‹Nº›</a:t>
            </a:fld>
            <a:endParaRPr lang="es-B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Freeform 1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rot="60000">
            <a:off x="4471416" y="603504"/>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rot="21540000">
            <a:off x="749808" y="576072"/>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9"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8976" y="2020042"/>
            <a:ext cx="3064827" cy="1503037"/>
          </a:xfrm>
        </p:spPr>
        <p:txBody>
          <a:bodyPr anchor="b">
            <a:normAutofit/>
          </a:bodyPr>
          <a:lstStyle>
            <a:lvl1pPr algn="ctr">
              <a:defRPr sz="2400" b="0"/>
            </a:lvl1pPr>
          </a:lstStyle>
          <a:p>
            <a:r>
              <a:rPr lang="es-ES" smtClean="0"/>
              <a:t>Haga clic para modificar el estilo de título del patrón</a:t>
            </a:r>
            <a:endParaRPr lang="en-US"/>
          </a:p>
        </p:txBody>
      </p:sp>
      <p:sp>
        <p:nvSpPr>
          <p:cNvPr id="3" name="Content Placeholder 2"/>
          <p:cNvSpPr>
            <a:spLocks noGrp="1"/>
          </p:cNvSpPr>
          <p:nvPr>
            <p:ph idx="1"/>
          </p:nvPr>
        </p:nvSpPr>
        <p:spPr>
          <a:xfrm rot="60000">
            <a:off x="4854291" y="1150993"/>
            <a:ext cx="3020792" cy="4625489"/>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rot="-60000">
            <a:off x="1148125" y="3623748"/>
            <a:ext cx="3048891" cy="2100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a:xfrm rot="60000">
            <a:off x="6341698" y="5885672"/>
            <a:ext cx="1213821" cy="365125"/>
          </a:xfrm>
        </p:spPr>
        <p:txBody>
          <a:bodyPr/>
          <a:lstStyle/>
          <a:p>
            <a:fld id="{141FF124-EA66-4B66-8173-CDB431056772}" type="datetimeFigureOut">
              <a:rPr lang="es-BO" smtClean="0"/>
              <a:pPr/>
              <a:t>20/09/2014</a:t>
            </a:fld>
            <a:endParaRPr lang="es-BO"/>
          </a:p>
        </p:txBody>
      </p:sp>
      <p:sp>
        <p:nvSpPr>
          <p:cNvPr id="6" name="Footer Placeholder 5"/>
          <p:cNvSpPr>
            <a:spLocks noGrp="1"/>
          </p:cNvSpPr>
          <p:nvPr>
            <p:ph type="ftr" sz="quarter" idx="11"/>
          </p:nvPr>
        </p:nvSpPr>
        <p:spPr>
          <a:xfrm rot="-60000">
            <a:off x="914554" y="5829261"/>
            <a:ext cx="3522607" cy="365125"/>
          </a:xfrm>
        </p:spPr>
        <p:txBody>
          <a:bodyPr/>
          <a:lstStyle/>
          <a:p>
            <a:endParaRPr lang="es-BO"/>
          </a:p>
        </p:txBody>
      </p:sp>
      <p:sp>
        <p:nvSpPr>
          <p:cNvPr id="7" name="Slide Number Placeholder 6"/>
          <p:cNvSpPr>
            <a:spLocks noGrp="1"/>
          </p:cNvSpPr>
          <p:nvPr>
            <p:ph type="sldNum" sz="quarter" idx="12"/>
          </p:nvPr>
        </p:nvSpPr>
        <p:spPr>
          <a:xfrm rot="60000">
            <a:off x="7557313" y="5896961"/>
            <a:ext cx="554023" cy="365125"/>
          </a:xfrm>
        </p:spPr>
        <p:txBody>
          <a:bodyPr/>
          <a:lstStyle/>
          <a:p>
            <a:fld id="{537874D3-07FD-4454-ACDD-11D0433E9DBC}" type="slidenum">
              <a:rPr lang="es-BO" smtClean="0"/>
              <a:pPr/>
              <a:t>‹Nº›</a:t>
            </a:fld>
            <a:endParaRPr lang="es-B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8" name="Group 15"/>
          <p:cNvGrpSpPr/>
          <p:nvPr/>
        </p:nvGrpSpPr>
        <p:grpSpPr>
          <a:xfrm>
            <a:off x="0" y="0"/>
            <a:ext cx="9144000" cy="6858000"/>
            <a:chOff x="0" y="0"/>
            <a:chExt cx="9144000" cy="6858000"/>
          </a:xfrm>
        </p:grpSpPr>
        <p:sp>
          <p:nvSpPr>
            <p:cNvPr id="9" name="Rectangle 8"/>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30"/>
          <p:cNvSpPr/>
          <p:nvPr/>
        </p:nvSpPr>
        <p:spPr>
          <a:xfrm rot="10800000">
            <a:off x="632177" y="6058038"/>
            <a:ext cx="772160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rot="21540000">
            <a:off x="749204" y="576868"/>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rot="21540000">
            <a:off x="745058" y="575769"/>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rot="60000">
            <a:off x="4468872" y="605163"/>
            <a:ext cx="3788941" cy="5722296"/>
          </a:xfrm>
          <a:prstGeom prst="rect">
            <a:avLst/>
          </a:prstGeom>
          <a:solidFill>
            <a:schemeClr val="bg1"/>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rot="60000">
            <a:off x="4464768" y="603920"/>
            <a:ext cx="3788941" cy="5722296"/>
          </a:xfrm>
          <a:prstGeom prst="rect">
            <a:avLst/>
          </a:prstGeom>
          <a:blipFill dpi="0" rotWithShape="1">
            <a:blip r:embed="rId2"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2" descr="C:\Users\Administrator\Desktop\Pushpin Dev\Assets\pushpinLeft.png"/>
          <p:cNvPicPr>
            <a:picLocks noChangeAspect="1" noChangeArrowheads="1"/>
          </p:cNvPicPr>
          <p:nvPr/>
        </p:nvPicPr>
        <p:blipFill>
          <a:blip r:embed="rId3" cstate="print"/>
          <a:srcRect/>
          <a:stretch>
            <a:fillRect/>
          </a:stretch>
        </p:blipFill>
        <p:spPr bwMode="auto">
          <a:xfrm rot="1435684">
            <a:off x="2371106" y="293953"/>
            <a:ext cx="567831" cy="567830"/>
          </a:xfrm>
          <a:prstGeom prst="rect">
            <a:avLst/>
          </a:prstGeom>
          <a:noFill/>
        </p:spPr>
      </p:pic>
      <p:pic>
        <p:nvPicPr>
          <p:cNvPr id="15" name="Picture 2" descr="C:\Users\Administrator\Desktop\Pushpin Dev\Assets\pushpinLeft.png"/>
          <p:cNvPicPr>
            <a:picLocks noChangeAspect="1" noChangeArrowheads="1"/>
          </p:cNvPicPr>
          <p:nvPr/>
        </p:nvPicPr>
        <p:blipFill>
          <a:blip r:embed="rId3" cstate="print"/>
          <a:srcRect/>
          <a:stretch>
            <a:fillRect/>
          </a:stretch>
        </p:blipFill>
        <p:spPr bwMode="auto">
          <a:xfrm rot="4096196">
            <a:off x="6279647" y="333163"/>
            <a:ext cx="566928" cy="566928"/>
          </a:xfrm>
          <a:prstGeom prst="rect">
            <a:avLst/>
          </a:prstGeom>
          <a:noFill/>
        </p:spPr>
      </p:pic>
      <p:sp>
        <p:nvSpPr>
          <p:cNvPr id="2" name="Title 1"/>
          <p:cNvSpPr>
            <a:spLocks noGrp="1"/>
          </p:cNvSpPr>
          <p:nvPr>
            <p:ph type="title"/>
          </p:nvPr>
        </p:nvSpPr>
        <p:spPr>
          <a:xfrm rot="-60000">
            <a:off x="1106424" y="2020824"/>
            <a:ext cx="3063240" cy="1499616"/>
          </a:xfrm>
        </p:spPr>
        <p:txBody>
          <a:bodyPr anchor="b">
            <a:normAutofit/>
          </a:bodyPr>
          <a:lstStyle>
            <a:lvl1pPr algn="ctr">
              <a:defRPr sz="2400" b="0"/>
            </a:lvl1pPr>
          </a:lstStyle>
          <a:p>
            <a:r>
              <a:rPr lang="es-ES" smtClean="0"/>
              <a:t>Haga clic para modificar el estilo de título del patrón</a:t>
            </a:r>
            <a:endParaRPr lang="en-US" dirty="0"/>
          </a:p>
        </p:txBody>
      </p:sp>
      <p:sp>
        <p:nvSpPr>
          <p:cNvPr id="3" name="Picture Placeholder 2"/>
          <p:cNvSpPr>
            <a:spLocks noGrp="1"/>
          </p:cNvSpPr>
          <p:nvPr>
            <p:ph type="pic" idx="1"/>
          </p:nvPr>
        </p:nvSpPr>
        <p:spPr>
          <a:xfrm rot="60000">
            <a:off x="4898615" y="1207272"/>
            <a:ext cx="2913863" cy="4539412"/>
          </a:xfrm>
          <a:ln w="101600" cap="rnd">
            <a:solidFill>
              <a:srgbClr val="FFFFFF"/>
            </a:solidFill>
          </a:ln>
          <a:effectLst>
            <a:outerShdw blurRad="88900" dir="2700000" algn="tl" rotWithShape="0">
              <a:prstClr val="black">
                <a:alpha val="40000"/>
              </a:prstClr>
            </a:outerShdw>
          </a:effectLst>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a:p>
        </p:txBody>
      </p:sp>
      <p:sp>
        <p:nvSpPr>
          <p:cNvPr id="4" name="Text Placeholder 3"/>
          <p:cNvSpPr>
            <a:spLocks noGrp="1"/>
          </p:cNvSpPr>
          <p:nvPr>
            <p:ph type="body" sz="half" idx="2"/>
          </p:nvPr>
        </p:nvSpPr>
        <p:spPr>
          <a:xfrm rot="-60000">
            <a:off x="1152144" y="3621024"/>
            <a:ext cx="3044952" cy="210312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a:xfrm rot="60000">
            <a:off x="6345936" y="5888737"/>
            <a:ext cx="1213821" cy="365125"/>
          </a:xfrm>
        </p:spPr>
        <p:txBody>
          <a:bodyPr/>
          <a:lstStyle/>
          <a:p>
            <a:fld id="{141FF124-EA66-4B66-8173-CDB431056772}" type="datetimeFigureOut">
              <a:rPr lang="es-BO" smtClean="0"/>
              <a:pPr/>
              <a:t>20/09/2014</a:t>
            </a:fld>
            <a:endParaRPr lang="es-BO"/>
          </a:p>
        </p:txBody>
      </p:sp>
      <p:sp>
        <p:nvSpPr>
          <p:cNvPr id="6" name="Footer Placeholder 5"/>
          <p:cNvSpPr>
            <a:spLocks noGrp="1"/>
          </p:cNvSpPr>
          <p:nvPr>
            <p:ph type="ftr" sz="quarter" idx="11"/>
          </p:nvPr>
        </p:nvSpPr>
        <p:spPr>
          <a:xfrm rot="-60000">
            <a:off x="914569" y="5831037"/>
            <a:ext cx="3319043" cy="365125"/>
          </a:xfrm>
        </p:spPr>
        <p:txBody>
          <a:bodyPr/>
          <a:lstStyle/>
          <a:p>
            <a:endParaRPr lang="es-BO"/>
          </a:p>
        </p:txBody>
      </p:sp>
      <p:sp>
        <p:nvSpPr>
          <p:cNvPr id="7" name="Slide Number Placeholder 6"/>
          <p:cNvSpPr>
            <a:spLocks noGrp="1"/>
          </p:cNvSpPr>
          <p:nvPr>
            <p:ph type="sldNum" sz="quarter" idx="12"/>
          </p:nvPr>
        </p:nvSpPr>
        <p:spPr>
          <a:xfrm rot="60000">
            <a:off x="7562089" y="5900026"/>
            <a:ext cx="554023" cy="365125"/>
          </a:xfrm>
        </p:spPr>
        <p:txBody>
          <a:bodyPr/>
          <a:lstStyle/>
          <a:p>
            <a:fld id="{537874D3-07FD-4454-ACDD-11D0433E9DBC}" type="slidenum">
              <a:rPr lang="es-BO" smtClean="0"/>
              <a:pPr/>
              <a:t>‹Nº›</a:t>
            </a:fld>
            <a:endParaRPr lang="es-B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nchor="ct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141FF124-EA66-4B66-8173-CDB431056772}" type="datetimeFigureOut">
              <a:rPr lang="es-BO" smtClean="0"/>
              <a:pPr/>
              <a:t>20/09/2014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37874D3-07FD-4454-ACDD-11D0433E9DBC}" type="slidenum">
              <a:rPr lang="es-BO" smtClean="0"/>
              <a:pPr/>
              <a:t>‹Nº›</a:t>
            </a:fld>
            <a:endParaRPr lang="es-B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1" y="925690"/>
            <a:ext cx="1430867" cy="4763911"/>
          </a:xfrm>
        </p:spPr>
        <p:txBody>
          <a:bodyPr vert="eaVert"/>
          <a:lstStyle>
            <a:lvl1pPr algn="l">
              <a:defRPr/>
            </a:lvl1p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1298221" y="1106312"/>
            <a:ext cx="5178779" cy="440266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141FF124-EA66-4B66-8173-CDB431056772}" type="datetimeFigureOut">
              <a:rPr lang="es-BO" smtClean="0"/>
              <a:pPr/>
              <a:t>20/09/2014</a:t>
            </a:fld>
            <a:endParaRPr lang="es-BO"/>
          </a:p>
        </p:txBody>
      </p:sp>
      <p:sp>
        <p:nvSpPr>
          <p:cNvPr id="5" name="Footer Placeholder 4"/>
          <p:cNvSpPr>
            <a:spLocks noGrp="1"/>
          </p:cNvSpPr>
          <p:nvPr>
            <p:ph type="ftr" sz="quarter" idx="11"/>
          </p:nvPr>
        </p:nvSpPr>
        <p:spPr/>
        <p:txBody>
          <a:bodyPr/>
          <a:lstStyle/>
          <a:p>
            <a:endParaRPr lang="es-BO"/>
          </a:p>
        </p:txBody>
      </p:sp>
      <p:sp>
        <p:nvSpPr>
          <p:cNvPr id="6" name="Slide Number Placeholder 5"/>
          <p:cNvSpPr>
            <a:spLocks noGrp="1"/>
          </p:cNvSpPr>
          <p:nvPr>
            <p:ph type="sldNum" sz="quarter" idx="12"/>
          </p:nvPr>
        </p:nvSpPr>
        <p:spPr/>
        <p:txBody>
          <a:bodyPr/>
          <a:lstStyle/>
          <a:p>
            <a:fld id="{537874D3-07FD-4454-ACDD-11D0433E9DBC}" type="slidenum">
              <a:rPr lang="es-BO" smtClean="0"/>
              <a:pPr/>
              <a:t>‹Nº›</a:t>
            </a:fld>
            <a:endParaRPr lang="es-B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3.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15"/>
          <p:cNvGrpSpPr/>
          <p:nvPr/>
        </p:nvGrpSpPr>
        <p:grpSpPr>
          <a:xfrm>
            <a:off x="0" y="0"/>
            <a:ext cx="9144000" cy="6858000"/>
            <a:chOff x="0" y="0"/>
            <a:chExt cx="9144000" cy="6858000"/>
          </a:xfrm>
        </p:grpSpPr>
        <p:sp>
          <p:nvSpPr>
            <p:cNvPr id="8" name="Rectangle 7"/>
            <p:cNvSpPr/>
            <p:nvPr/>
          </p:nvSpPr>
          <p:spPr>
            <a:xfrm>
              <a:off x="0" y="0"/>
              <a:ext cx="7162800" cy="6858000"/>
            </a:xfrm>
            <a:prstGeom prst="rect">
              <a:avLst/>
            </a:prstGeom>
            <a:gradFill flip="none" rotWithShape="1">
              <a:gsLst>
                <a:gs pos="0">
                  <a:srgbClr val="010101">
                    <a:alpha val="51765"/>
                  </a:srgbClr>
                </a:gs>
                <a:gs pos="60000">
                  <a:srgbClr val="FEFEFE">
                    <a:alpha val="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143000" y="0"/>
              <a:ext cx="8001000" cy="6858000"/>
            </a:xfrm>
            <a:prstGeom prst="rect">
              <a:avLst/>
            </a:prstGeom>
            <a:gradFill flip="none" rotWithShape="1">
              <a:gsLst>
                <a:gs pos="0">
                  <a:srgbClr val="010101">
                    <a:alpha val="56000"/>
                  </a:srgbClr>
                </a:gs>
                <a:gs pos="61000">
                  <a:srgbClr val="FEFEF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reeform 9"/>
          <p:cNvSpPr/>
          <p:nvPr/>
        </p:nvSpPr>
        <p:spPr>
          <a:xfrm rot="10800000">
            <a:off x="628650" y="6069330"/>
            <a:ext cx="7920991" cy="537210"/>
          </a:xfrm>
          <a:custGeom>
            <a:avLst/>
            <a:gdLst>
              <a:gd name="connsiteX0" fmla="*/ 0 w 7955280"/>
              <a:gd name="connsiteY0" fmla="*/ 495300 h 495300"/>
              <a:gd name="connsiteX1" fmla="*/ 169546 w 7955280"/>
              <a:gd name="connsiteY1" fmla="*/ 0 h 495300"/>
              <a:gd name="connsiteX2" fmla="*/ 7785734 w 7955280"/>
              <a:gd name="connsiteY2" fmla="*/ 0 h 495300"/>
              <a:gd name="connsiteX3" fmla="*/ 7955280 w 7955280"/>
              <a:gd name="connsiteY3" fmla="*/ 495300 h 495300"/>
              <a:gd name="connsiteX4" fmla="*/ 0 w 7955280"/>
              <a:gd name="connsiteY4" fmla="*/ 495300 h 495300"/>
              <a:gd name="connsiteX0" fmla="*/ 0 w 7955280"/>
              <a:gd name="connsiteY0" fmla="*/ 495300 h 495300"/>
              <a:gd name="connsiteX1" fmla="*/ 169546 w 7955280"/>
              <a:gd name="connsiteY1" fmla="*/ 0 h 495300"/>
              <a:gd name="connsiteX2" fmla="*/ 3966210 w 7955280"/>
              <a:gd name="connsiteY2" fmla="*/ 95250 h 495300"/>
              <a:gd name="connsiteX3" fmla="*/ 7785734 w 7955280"/>
              <a:gd name="connsiteY3" fmla="*/ 0 h 495300"/>
              <a:gd name="connsiteX4" fmla="*/ 7955280 w 7955280"/>
              <a:gd name="connsiteY4" fmla="*/ 495300 h 495300"/>
              <a:gd name="connsiteX5" fmla="*/ 0 w 7955280"/>
              <a:gd name="connsiteY5" fmla="*/ 495300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55280" h="495300">
                <a:moveTo>
                  <a:pt x="0" y="495300"/>
                </a:moveTo>
                <a:lnTo>
                  <a:pt x="169546" y="0"/>
                </a:lnTo>
                <a:lnTo>
                  <a:pt x="3966210" y="95250"/>
                </a:lnTo>
                <a:lnTo>
                  <a:pt x="7785734" y="0"/>
                </a:lnTo>
                <a:lnTo>
                  <a:pt x="7955280" y="495300"/>
                </a:lnTo>
                <a:lnTo>
                  <a:pt x="0" y="495300"/>
                </a:lnTo>
                <a:close/>
              </a:path>
            </a:pathLst>
          </a:custGeom>
          <a:gradFill flip="none" rotWithShape="1">
            <a:gsLst>
              <a:gs pos="30000">
                <a:srgbClr val="010101">
                  <a:alpha val="34000"/>
                </a:srgbClr>
              </a:gs>
              <a:gs pos="100000">
                <a:srgbClr val="010101">
                  <a:alpha val="26000"/>
                </a:srgbClr>
              </a:gs>
            </a:gsLst>
            <a:path path="circle">
              <a:fillToRect l="50000" t="50000" r="50000" b="50000"/>
            </a:path>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31520" y="575310"/>
            <a:ext cx="7696200" cy="5715000"/>
          </a:xfrm>
          <a:prstGeom prst="rect">
            <a:avLst/>
          </a:prstGeom>
          <a:solidFill>
            <a:schemeClr val="bg1">
              <a:lumMod val="75000"/>
              <a:lumOff val="25000"/>
            </a:schemeClr>
          </a:solid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731520" y="576072"/>
            <a:ext cx="7696200" cy="5715000"/>
          </a:xfrm>
          <a:prstGeom prst="rect">
            <a:avLst/>
          </a:prstGeom>
          <a:blipFill dpi="0" rotWithShape="1">
            <a:blip r:embed="rId13" cstate="print">
              <a:alphaModFix amt="20000"/>
              <a:grayscl/>
              <a:lum contrast="12000"/>
            </a:blip>
            <a:srcRect/>
            <a:tile tx="0" ty="0" sx="100000" sy="100000" flip="none" algn="tl"/>
          </a:blipFill>
          <a:ln w="6350">
            <a:noFill/>
          </a:ln>
          <a:effectLst>
            <a:outerShdw blurRad="101600" dist="508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2" descr="C:\Users\Administrator\Desktop\Pushpin Dev\Assets\pushpinLeft.png"/>
          <p:cNvPicPr>
            <a:picLocks noChangeAspect="1" noChangeArrowheads="1"/>
          </p:cNvPicPr>
          <p:nvPr/>
        </p:nvPicPr>
        <p:blipFill>
          <a:blip r:embed="rId14" cstate="print"/>
          <a:srcRect/>
          <a:stretch>
            <a:fillRect/>
          </a:stretch>
        </p:blipFill>
        <p:spPr bwMode="auto">
          <a:xfrm rot="1435684">
            <a:off x="543741" y="273091"/>
            <a:ext cx="567831" cy="567830"/>
          </a:xfrm>
          <a:prstGeom prst="rect">
            <a:avLst/>
          </a:prstGeom>
          <a:noFill/>
        </p:spPr>
      </p:pic>
      <p:pic>
        <p:nvPicPr>
          <p:cNvPr id="14" name="Picture 2" descr="C:\Users\Administrator\Desktop\Pushpin Dev\Assets\pushpinLeft.png"/>
          <p:cNvPicPr>
            <a:picLocks noChangeAspect="1" noChangeArrowheads="1"/>
          </p:cNvPicPr>
          <p:nvPr/>
        </p:nvPicPr>
        <p:blipFill>
          <a:blip r:embed="rId14" cstate="print"/>
          <a:srcRect/>
          <a:stretch>
            <a:fillRect/>
          </a:stretch>
        </p:blipFill>
        <p:spPr bwMode="auto">
          <a:xfrm rot="4096196">
            <a:off x="8115079" y="298163"/>
            <a:ext cx="566928" cy="566928"/>
          </a:xfrm>
          <a:prstGeom prst="rect">
            <a:avLst/>
          </a:prstGeom>
          <a:noFill/>
        </p:spPr>
      </p:pic>
      <p:sp>
        <p:nvSpPr>
          <p:cNvPr id="2" name="Title Placeholder 1"/>
          <p:cNvSpPr>
            <a:spLocks noGrp="1"/>
          </p:cNvSpPr>
          <p:nvPr>
            <p:ph type="title"/>
          </p:nvPr>
        </p:nvSpPr>
        <p:spPr>
          <a:xfrm>
            <a:off x="1095023" y="817582"/>
            <a:ext cx="6965245" cy="1202485"/>
          </a:xfrm>
          <a:prstGeom prst="rect">
            <a:avLst/>
          </a:prstGeom>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463040" y="2119257"/>
            <a:ext cx="6196405" cy="3603812"/>
          </a:xfrm>
          <a:prstGeom prst="rect">
            <a:avLst/>
          </a:prstGeom>
        </p:spPr>
        <p:txBody>
          <a:bodyPr vert="horz" lIns="91440" tIns="45720" rIns="91440" bIns="45720" rtlCol="0" anchor="t">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6454588" y="5809152"/>
            <a:ext cx="1213821" cy="365125"/>
          </a:xfrm>
          <a:prstGeom prst="rect">
            <a:avLst/>
          </a:prstGeom>
        </p:spPr>
        <p:txBody>
          <a:bodyPr vert="horz" lIns="91440" tIns="45720" rIns="91440" bIns="45720" rtlCol="0" anchor="ctr"/>
          <a:lstStyle>
            <a:lvl1pPr algn="r">
              <a:defRPr sz="1200">
                <a:solidFill>
                  <a:schemeClr val="tx2"/>
                </a:solidFill>
                <a:latin typeface="Rage Italic" pitchFamily="66" charset="0"/>
              </a:defRPr>
            </a:lvl1pPr>
          </a:lstStyle>
          <a:p>
            <a:fld id="{141FF124-EA66-4B66-8173-CDB431056772}" type="datetimeFigureOut">
              <a:rPr lang="es-BO" smtClean="0"/>
              <a:pPr/>
              <a:t>20/09/2014</a:t>
            </a:fld>
            <a:endParaRPr lang="es-BO"/>
          </a:p>
        </p:txBody>
      </p:sp>
      <p:sp>
        <p:nvSpPr>
          <p:cNvPr id="5" name="Footer Placeholder 4"/>
          <p:cNvSpPr>
            <a:spLocks noGrp="1"/>
          </p:cNvSpPr>
          <p:nvPr>
            <p:ph type="ftr" sz="quarter" idx="3"/>
          </p:nvPr>
        </p:nvSpPr>
        <p:spPr>
          <a:xfrm>
            <a:off x="914401" y="5809152"/>
            <a:ext cx="5540188" cy="365125"/>
          </a:xfrm>
          <a:prstGeom prst="rect">
            <a:avLst/>
          </a:prstGeom>
        </p:spPr>
        <p:txBody>
          <a:bodyPr vert="horz" lIns="91440" tIns="45720" rIns="91440" bIns="45720" rtlCol="0" anchor="ctr"/>
          <a:lstStyle>
            <a:lvl1pPr algn="l">
              <a:defRPr sz="1400">
                <a:solidFill>
                  <a:schemeClr val="tx2"/>
                </a:solidFill>
                <a:latin typeface="Rage Italic" pitchFamily="66" charset="0"/>
              </a:defRPr>
            </a:lvl1pPr>
          </a:lstStyle>
          <a:p>
            <a:endParaRPr lang="es-BO"/>
          </a:p>
        </p:txBody>
      </p:sp>
      <p:sp>
        <p:nvSpPr>
          <p:cNvPr id="6" name="Slide Number Placeholder 5"/>
          <p:cNvSpPr>
            <a:spLocks noGrp="1"/>
          </p:cNvSpPr>
          <p:nvPr>
            <p:ph type="sldNum" sz="quarter" idx="4"/>
          </p:nvPr>
        </p:nvSpPr>
        <p:spPr>
          <a:xfrm>
            <a:off x="7670202" y="5809152"/>
            <a:ext cx="554023" cy="365125"/>
          </a:xfrm>
          <a:prstGeom prst="rect">
            <a:avLst/>
          </a:prstGeom>
        </p:spPr>
        <p:txBody>
          <a:bodyPr vert="horz" lIns="91440" tIns="45720" rIns="91440" bIns="45720" rtlCol="0" anchor="ctr"/>
          <a:lstStyle>
            <a:lvl1pPr algn="r">
              <a:defRPr sz="1400">
                <a:solidFill>
                  <a:schemeClr val="tx2"/>
                </a:solidFill>
                <a:latin typeface="Rage Italic" pitchFamily="66" charset="0"/>
              </a:defRPr>
            </a:lvl1pPr>
          </a:lstStyle>
          <a:p>
            <a:fld id="{537874D3-07FD-4454-ACDD-11D0433E9DBC}" type="slidenum">
              <a:rPr lang="es-BO" smtClean="0"/>
              <a:pPr/>
              <a:t>‹Nº›</a:t>
            </a:fld>
            <a:endParaRPr lang="es-BO"/>
          </a:p>
        </p:txBody>
      </p:sp>
    </p:spTree>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2"/>
        </a:buClr>
        <a:buSzPct val="85000"/>
        <a:buFont typeface="Brush Script MT" pitchFamily="66" charset="0"/>
        <a:buChar char="O"/>
        <a:defRPr sz="2400" kern="1200">
          <a:solidFill>
            <a:schemeClr val="tx1"/>
          </a:solidFill>
          <a:latin typeface="+mn-lt"/>
          <a:ea typeface="+mn-ea"/>
          <a:cs typeface="+mn-cs"/>
        </a:defRPr>
      </a:lvl1pPr>
      <a:lvl2pPr marL="640080" indent="-274320" algn="l" defTabSz="914400" rtl="0" eaLnBrk="1" latinLnBrk="0" hangingPunct="1">
        <a:spcBef>
          <a:spcPct val="20000"/>
        </a:spcBef>
        <a:buClr>
          <a:schemeClr val="accent2"/>
        </a:buClr>
        <a:buSzPct val="85000"/>
        <a:buFont typeface="Brush Script MT" pitchFamily="66" charset="0"/>
        <a:buChar char="O"/>
        <a:defRPr sz="2200" kern="1200">
          <a:solidFill>
            <a:schemeClr val="tx1"/>
          </a:solidFill>
          <a:latin typeface="+mn-lt"/>
          <a:ea typeface="+mn-ea"/>
          <a:cs typeface="+mn-cs"/>
        </a:defRPr>
      </a:lvl2pPr>
      <a:lvl3pPr marL="914400" indent="-228600" algn="l" defTabSz="914400" rtl="0" eaLnBrk="1" latinLnBrk="0" hangingPunct="1">
        <a:spcBef>
          <a:spcPct val="20000"/>
        </a:spcBef>
        <a:buClr>
          <a:schemeClr val="accent2"/>
        </a:buClr>
        <a:buSzPct val="85000"/>
        <a:buFont typeface="Brush Script MT" pitchFamily="66" charset="0"/>
        <a:buChar char="O"/>
        <a:defRPr sz="2000" kern="1200">
          <a:solidFill>
            <a:schemeClr val="tx1"/>
          </a:solidFill>
          <a:latin typeface="+mn-lt"/>
          <a:ea typeface="+mn-ea"/>
          <a:cs typeface="+mn-cs"/>
        </a:defRPr>
      </a:lvl3pPr>
      <a:lvl4pPr marL="1280160" indent="-228600" algn="l" defTabSz="914400" rtl="0" eaLnBrk="1" latinLnBrk="0" hangingPunct="1">
        <a:spcBef>
          <a:spcPct val="20000"/>
        </a:spcBef>
        <a:buClr>
          <a:schemeClr val="accent2"/>
        </a:buClr>
        <a:buSzPct val="85000"/>
        <a:buFont typeface="Brush Script MT" pitchFamily="66" charset="0"/>
        <a:buChar char="O"/>
        <a:defRPr sz="1800" kern="1200">
          <a:solidFill>
            <a:schemeClr val="tx1"/>
          </a:solidFill>
          <a:latin typeface="+mn-lt"/>
          <a:ea typeface="+mn-ea"/>
          <a:cs typeface="+mn-cs"/>
        </a:defRPr>
      </a:lvl4pPr>
      <a:lvl5pPr marL="164592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5pPr>
      <a:lvl6pPr marL="201168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6pPr>
      <a:lvl7pPr marL="237744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7pPr>
      <a:lvl8pPr marL="274320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8pPr>
      <a:lvl9pPr marL="3108960" indent="-228600" algn="l" defTabSz="914400" rtl="0" eaLnBrk="1" latinLnBrk="0" hangingPunct="1">
        <a:spcBef>
          <a:spcPct val="20000"/>
        </a:spcBef>
        <a:buClr>
          <a:schemeClr val="accent2"/>
        </a:buClr>
        <a:buSzPct val="85000"/>
        <a:buFont typeface="Brush Script MT" pitchFamily="66" charset="0"/>
        <a:buChar char="O"/>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es.wikipedia.org/wiki/Cuerpo" TargetMode="External"/><Relationship Id="rId2" Type="http://schemas.openxmlformats.org/officeDocument/2006/relationships/hyperlink" Target="http://es.wikipedia.org/wiki/Especialidad_m%C3%A9dica" TargetMode="External"/><Relationship Id="rId1" Type="http://schemas.openxmlformats.org/officeDocument/2006/relationships/slideLayout" Target="../slideLayouts/slideLayout1.xml"/><Relationship Id="rId5" Type="http://schemas.openxmlformats.org/officeDocument/2006/relationships/hyperlink" Target="http://es.wikipedia.org/wiki/Cuerpo_humano" TargetMode="External"/><Relationship Id="rId4" Type="http://schemas.openxmlformats.org/officeDocument/2006/relationships/hyperlink" Target="http://es.wikipedia.org/wiki/Cirug%C3%ADa"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es.wikipedia.org/wiki/Mama" TargetMode="External"/><Relationship Id="rId2" Type="http://schemas.openxmlformats.org/officeDocument/2006/relationships/hyperlink" Target="http://es.wikipedia.org/wiki/Cirug%C3%ADa_pl%C3%A1stica_oncol%C3%B3gica" TargetMode="External"/><Relationship Id="rId1" Type="http://schemas.openxmlformats.org/officeDocument/2006/relationships/slideLayout" Target="../slideLayouts/slideLayout2.xml"/><Relationship Id="rId5" Type="http://schemas.openxmlformats.org/officeDocument/2006/relationships/hyperlink" Target="http://es.wikipedia.org/wiki/Cuello" TargetMode="External"/><Relationship Id="rId4" Type="http://schemas.openxmlformats.org/officeDocument/2006/relationships/hyperlink" Target="http://es.wikipedia.org/wiki/Cabez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es.wikipedia.org/wiki/Blefaroplastia"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www.lifting-info.es/consideraciones-anatomicas-y-fisiopatologia-lifting.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gif"/><Relationship Id="rId7" Type="http://schemas.openxmlformats.org/officeDocument/2006/relationships/image" Target="../media/image17.jpeg"/><Relationship Id="rId2" Type="http://schemas.openxmlformats.org/officeDocument/2006/relationships/image" Target="../media/image12.gif"/><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gif"/><Relationship Id="rId4" Type="http://schemas.openxmlformats.org/officeDocument/2006/relationships/image" Target="../media/image14.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gif"/><Relationship Id="rId1" Type="http://schemas.openxmlformats.org/officeDocument/2006/relationships/slideLayout" Target="../slideLayouts/slideLayout2.xml"/><Relationship Id="rId4" Type="http://schemas.openxmlformats.org/officeDocument/2006/relationships/image" Target="../media/image21.gif"/></Relationships>
</file>

<file path=ppt/slides/_rels/slide2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5" Type="http://schemas.openxmlformats.org/officeDocument/2006/relationships/image" Target="../media/image30.gif"/><Relationship Id="rId4" Type="http://schemas.openxmlformats.org/officeDocument/2006/relationships/image" Target="../media/image29.gif"/></Relationships>
</file>

<file path=ppt/slides/_rels/slide3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image" Target="../media/image33.gif"/><Relationship Id="rId1" Type="http://schemas.openxmlformats.org/officeDocument/2006/relationships/slideLayout" Target="../slideLayouts/slideLayout2.xml"/><Relationship Id="rId4" Type="http://schemas.openxmlformats.org/officeDocument/2006/relationships/image" Target="../media/image35.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187624" y="1268760"/>
            <a:ext cx="6912768" cy="936104"/>
          </a:xfrm>
        </p:spPr>
        <p:txBody>
          <a:bodyPr>
            <a:normAutofit/>
          </a:bodyPr>
          <a:lstStyle/>
          <a:p>
            <a:r>
              <a:rPr lang="es-ES" dirty="0" smtClean="0"/>
              <a:t>La </a:t>
            </a:r>
            <a:r>
              <a:rPr lang="es-ES" b="1" dirty="0" smtClean="0"/>
              <a:t>cirugía plástica</a:t>
            </a:r>
            <a:r>
              <a:rPr lang="es-ES" dirty="0" smtClean="0"/>
              <a:t> </a:t>
            </a:r>
            <a:endParaRPr lang="es-BO" dirty="0"/>
          </a:p>
        </p:txBody>
      </p:sp>
      <p:sp>
        <p:nvSpPr>
          <p:cNvPr id="3" name="2 Subtítulo"/>
          <p:cNvSpPr>
            <a:spLocks noGrp="1"/>
          </p:cNvSpPr>
          <p:nvPr>
            <p:ph type="subTitle" idx="1"/>
          </p:nvPr>
        </p:nvSpPr>
        <p:spPr>
          <a:xfrm>
            <a:off x="1371600" y="2276872"/>
            <a:ext cx="6400800" cy="3361928"/>
          </a:xfrm>
        </p:spPr>
        <p:txBody>
          <a:bodyPr>
            <a:normAutofit fontScale="92500"/>
          </a:bodyPr>
          <a:lstStyle/>
          <a:p>
            <a:pPr algn="just"/>
            <a:r>
              <a:rPr lang="es-ES" dirty="0" smtClean="0">
                <a:solidFill>
                  <a:schemeClr val="tx1"/>
                </a:solidFill>
              </a:rPr>
              <a:t>Es </a:t>
            </a:r>
            <a:r>
              <a:rPr lang="es-ES" dirty="0">
                <a:solidFill>
                  <a:schemeClr val="tx1"/>
                </a:solidFill>
              </a:rPr>
              <a:t>la </a:t>
            </a:r>
            <a:r>
              <a:rPr lang="es-ES" dirty="0">
                <a:solidFill>
                  <a:schemeClr val="tx1"/>
                </a:solidFill>
                <a:hlinkClick r:id="rId2" tooltip="Especialidad médica"/>
              </a:rPr>
              <a:t>especialidad médica</a:t>
            </a:r>
            <a:r>
              <a:rPr lang="es-ES" dirty="0">
                <a:solidFill>
                  <a:schemeClr val="tx1"/>
                </a:solidFill>
              </a:rPr>
              <a:t> cuya función es llevar a la normalidad funcional y anatómica la cobertura corporal, es decir la forma del </a:t>
            </a:r>
            <a:r>
              <a:rPr lang="es-ES" dirty="0">
                <a:solidFill>
                  <a:schemeClr val="tx1"/>
                </a:solidFill>
                <a:hlinkClick r:id="rId3" tooltip="Cuerpo"/>
              </a:rPr>
              <a:t>cuerpo</a:t>
            </a:r>
            <a:r>
              <a:rPr lang="es-ES" dirty="0">
                <a:solidFill>
                  <a:schemeClr val="tx1"/>
                </a:solidFill>
              </a:rPr>
              <a:t> de las personas</a:t>
            </a:r>
            <a:r>
              <a:rPr lang="es-ES" dirty="0" smtClean="0">
                <a:solidFill>
                  <a:schemeClr val="tx1"/>
                </a:solidFill>
              </a:rPr>
              <a:t>.</a:t>
            </a:r>
          </a:p>
          <a:p>
            <a:pPr algn="just"/>
            <a:r>
              <a:rPr lang="es-ES" dirty="0" smtClean="0">
                <a:solidFill>
                  <a:schemeClr val="tx1"/>
                </a:solidFill>
              </a:rPr>
              <a:t> </a:t>
            </a:r>
            <a:r>
              <a:rPr lang="es-ES" dirty="0">
                <a:solidFill>
                  <a:schemeClr val="tx1"/>
                </a:solidFill>
              </a:rPr>
              <a:t>Mediante </a:t>
            </a:r>
            <a:r>
              <a:rPr lang="es-ES" dirty="0">
                <a:solidFill>
                  <a:schemeClr val="tx1"/>
                </a:solidFill>
                <a:hlinkClick r:id="rId4" tooltip="Cirugía"/>
              </a:rPr>
              <a:t>cirugía</a:t>
            </a:r>
            <a:r>
              <a:rPr lang="es-ES" dirty="0">
                <a:solidFill>
                  <a:schemeClr val="tx1"/>
                </a:solidFill>
              </a:rPr>
              <a:t> busca reconstruir las deformidades y corregir las deficiencias funcionales mediante la transformación del </a:t>
            </a:r>
            <a:r>
              <a:rPr lang="es-ES" dirty="0">
                <a:solidFill>
                  <a:schemeClr val="tx1"/>
                </a:solidFill>
                <a:hlinkClick r:id="rId5" tooltip="Cuerpo humano"/>
              </a:rPr>
              <a:t>cuerpo humano</a:t>
            </a:r>
            <a:r>
              <a:rPr lang="es-ES" dirty="0">
                <a:solidFill>
                  <a:schemeClr val="tx1"/>
                </a:solidFill>
              </a:rPr>
              <a:t>. </a:t>
            </a:r>
            <a:endParaRPr lang="es-ES" dirty="0" smtClean="0">
              <a:solidFill>
                <a:schemeClr val="tx1"/>
              </a:solidFill>
            </a:endParaRPr>
          </a:p>
          <a:p>
            <a:pPr algn="just"/>
            <a:r>
              <a:rPr lang="es-ES" dirty="0" smtClean="0">
                <a:solidFill>
                  <a:schemeClr val="tx1"/>
                </a:solidFill>
              </a:rPr>
              <a:t>La </a:t>
            </a:r>
            <a:r>
              <a:rPr lang="es-ES" dirty="0">
                <a:solidFill>
                  <a:schemeClr val="tx1"/>
                </a:solidFill>
              </a:rPr>
              <a:t>palabra "plástica" es originaria del griego "</a:t>
            </a:r>
            <a:r>
              <a:rPr lang="es-ES" dirty="0" err="1">
                <a:solidFill>
                  <a:schemeClr val="tx1"/>
                </a:solidFill>
              </a:rPr>
              <a:t>plastikos</a:t>
            </a:r>
            <a:r>
              <a:rPr lang="es-ES" dirty="0">
                <a:solidFill>
                  <a:schemeClr val="tx1"/>
                </a:solidFill>
              </a:rPr>
              <a:t>" que significa moldear o transformar.</a:t>
            </a:r>
            <a:endParaRPr lang="es-BO" dirty="0">
              <a:solidFill>
                <a:schemeClr val="tx1"/>
              </a:solidFill>
            </a:endParaRPr>
          </a:p>
        </p:txBody>
      </p:sp>
    </p:spTree>
    <p:extLst>
      <p:ext uri="{BB962C8B-B14F-4D97-AF65-F5344CB8AC3E}">
        <p14:creationId xmlns:p14="http://schemas.microsoft.com/office/powerpoint/2010/main" val="2184381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1" end="1"/>
                                            </p:txEl>
                                          </p:spTgt>
                                        </p:tgtEl>
                                      </p:cBhvr>
                                    </p:animEffect>
                                  </p:childTnLst>
                                </p:cTn>
                              </p:par>
                              <p:par>
                                <p:cTn id="27" presetID="31" presetClass="entr" presetSubtype="0" fill="hold"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p:cTn id="29"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0"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1"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2"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827584" y="1628800"/>
            <a:ext cx="7560840" cy="4497363"/>
          </a:xfrm>
        </p:spPr>
        <p:txBody>
          <a:bodyPr/>
          <a:lstStyle/>
          <a:p>
            <a:pPr algn="just"/>
            <a:r>
              <a:rPr lang="es-ES" dirty="0"/>
              <a:t>La finalidad es que el paciente que ha nacido con un defecto congénito o ha sufrido un accidente que le ha hecho perder la función alcance la normalidad tanto en su aspecto como en la función de su cuerpo. </a:t>
            </a:r>
            <a:endParaRPr lang="es-ES" dirty="0" smtClean="0"/>
          </a:p>
          <a:p>
            <a:pPr algn="just"/>
            <a:r>
              <a:rPr lang="es-ES" dirty="0" smtClean="0"/>
              <a:t>También </a:t>
            </a:r>
            <a:r>
              <a:rPr lang="es-ES" dirty="0"/>
              <a:t>permite brindar la mejoría estética al remodelar cuerpos para mejorarlos o hacerlos más "hermosos</a:t>
            </a:r>
            <a:r>
              <a:rPr lang="es-ES" dirty="0" smtClean="0"/>
              <a:t>".</a:t>
            </a:r>
          </a:p>
          <a:p>
            <a:pPr algn="just"/>
            <a:r>
              <a:rPr lang="es-ES" dirty="0" smtClean="0"/>
              <a:t>Por lo que la </a:t>
            </a:r>
            <a:r>
              <a:rPr lang="es-ES" dirty="0"/>
              <a:t>cirugía plástica se ha dividido desde un punto de vista práctico en dos campos de acción.</a:t>
            </a:r>
            <a:endParaRPr lang="es-BO" dirty="0"/>
          </a:p>
          <a:p>
            <a:pPr algn="just"/>
            <a:endParaRPr lang="es-BO" dirty="0"/>
          </a:p>
        </p:txBody>
      </p:sp>
    </p:spTree>
    <p:extLst>
      <p:ext uri="{BB962C8B-B14F-4D97-AF65-F5344CB8AC3E}">
        <p14:creationId xmlns:p14="http://schemas.microsoft.com/office/powerpoint/2010/main" val="36968802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547664" y="548680"/>
            <a:ext cx="6408712" cy="504056"/>
          </a:xfrm>
        </p:spPr>
        <p:txBody>
          <a:bodyPr>
            <a:normAutofit fontScale="90000"/>
          </a:bodyPr>
          <a:lstStyle/>
          <a:p>
            <a:r>
              <a:rPr lang="es-ES" sz="3200" dirty="0" smtClean="0"/>
              <a:t>Cirugía reconstructiva</a:t>
            </a:r>
            <a:r>
              <a:rPr lang="es-ES" sz="3200" dirty="0"/>
              <a:t> </a:t>
            </a:r>
            <a:r>
              <a:rPr lang="es-ES" sz="3200" dirty="0" smtClean="0"/>
              <a:t>o reparadora  </a:t>
            </a:r>
            <a:endParaRPr lang="es-BO" sz="3200" dirty="0"/>
          </a:p>
        </p:txBody>
      </p:sp>
      <p:sp>
        <p:nvSpPr>
          <p:cNvPr id="3" name="2 Marcador de contenido"/>
          <p:cNvSpPr>
            <a:spLocks noGrp="1"/>
          </p:cNvSpPr>
          <p:nvPr>
            <p:ph idx="1"/>
          </p:nvPr>
        </p:nvSpPr>
        <p:spPr>
          <a:xfrm>
            <a:off x="827584" y="1124744"/>
            <a:ext cx="7488832" cy="5001419"/>
          </a:xfrm>
        </p:spPr>
        <p:txBody>
          <a:bodyPr>
            <a:normAutofit/>
          </a:bodyPr>
          <a:lstStyle/>
          <a:p>
            <a:pPr algn="just"/>
            <a:r>
              <a:rPr lang="es-ES" dirty="0" smtClean="0"/>
              <a:t>Que </a:t>
            </a:r>
            <a:r>
              <a:rPr lang="es-ES" dirty="0"/>
              <a:t>incluye a la </a:t>
            </a:r>
            <a:r>
              <a:rPr lang="es-ES" b="1" dirty="0"/>
              <a:t>microcirugía</a:t>
            </a:r>
            <a:r>
              <a:rPr lang="es-ES" dirty="0"/>
              <a:t>, está enfocada en disimular y reconstruir los efectos destructivos de un </a:t>
            </a:r>
            <a:r>
              <a:rPr lang="es-ES" b="1" dirty="0"/>
              <a:t>accidente</a:t>
            </a:r>
            <a:r>
              <a:rPr lang="es-ES" dirty="0"/>
              <a:t> o </a:t>
            </a:r>
            <a:r>
              <a:rPr lang="es-ES" b="1" dirty="0"/>
              <a:t>trauma</a:t>
            </a:r>
            <a:r>
              <a:rPr lang="es-ES" dirty="0"/>
              <a:t>, los defectos de una </a:t>
            </a:r>
            <a:r>
              <a:rPr lang="es-ES" b="1" dirty="0"/>
              <a:t>malformación congénita</a:t>
            </a:r>
            <a:r>
              <a:rPr lang="es-ES" dirty="0"/>
              <a:t> y de una </a:t>
            </a:r>
            <a:r>
              <a:rPr lang="es-ES" b="1" dirty="0"/>
              <a:t>resección tumoral u oncológica</a:t>
            </a:r>
            <a:r>
              <a:rPr lang="es-ES" dirty="0"/>
              <a:t>. </a:t>
            </a:r>
            <a:endParaRPr lang="es-ES" dirty="0" smtClean="0"/>
          </a:p>
          <a:p>
            <a:pPr algn="just"/>
            <a:r>
              <a:rPr lang="es-ES" dirty="0" smtClean="0"/>
              <a:t>La </a:t>
            </a:r>
            <a:r>
              <a:rPr lang="es-ES" dirty="0"/>
              <a:t>cirugía reconstructiva o reparadora hace uso de distintas técnicas: de osteosíntesis, de traslado de tejidos mediante colgajos y trasplantes autólogos de partes del cuerpo sanas a las afectadas, </a:t>
            </a:r>
            <a:r>
              <a:rPr lang="es-ES" dirty="0" smtClean="0"/>
              <a:t>sin embargo, en caso de que el injerto sea de otra persona, hablamos de alografo. </a:t>
            </a:r>
            <a:r>
              <a:rPr lang="es-ES" dirty="0"/>
              <a:t>Campos de influencia de la cirugía reconstructiva:</a:t>
            </a:r>
            <a:endParaRPr lang="es-BO" dirty="0"/>
          </a:p>
        </p:txBody>
      </p:sp>
    </p:spTree>
    <p:extLst>
      <p:ext uri="{BB962C8B-B14F-4D97-AF65-F5344CB8AC3E}">
        <p14:creationId xmlns:p14="http://schemas.microsoft.com/office/powerpoint/2010/main" val="2717505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692696"/>
            <a:ext cx="7992888" cy="5721499"/>
          </a:xfrm>
        </p:spPr>
        <p:txBody>
          <a:bodyPr>
            <a:normAutofit/>
          </a:bodyPr>
          <a:lstStyle/>
          <a:p>
            <a:pPr lvl="0" algn="just"/>
            <a:r>
              <a:rPr lang="es-ES" dirty="0"/>
              <a:t>Fracturas complicadas del esqueleto </a:t>
            </a:r>
            <a:r>
              <a:rPr lang="es-ES" dirty="0" err="1"/>
              <a:t>craneofacial</a:t>
            </a:r>
            <a:endParaRPr lang="es-BO" dirty="0"/>
          </a:p>
          <a:p>
            <a:pPr lvl="0" algn="just"/>
            <a:r>
              <a:rPr lang="es-ES" dirty="0"/>
              <a:t>Malformaciones congénitas del esqueleto </a:t>
            </a:r>
            <a:r>
              <a:rPr lang="es-ES" dirty="0" err="1"/>
              <a:t>craneofacial</a:t>
            </a:r>
            <a:r>
              <a:rPr lang="es-ES" dirty="0"/>
              <a:t> y de la cara (cirugía de labio y paladar hendido)</a:t>
            </a:r>
            <a:endParaRPr lang="es-BO" dirty="0"/>
          </a:p>
          <a:p>
            <a:pPr lvl="0" algn="just"/>
            <a:r>
              <a:rPr lang="es-ES" dirty="0"/>
              <a:t>Reconstrucción de la piel y estructuras nerviosas de la cara</a:t>
            </a:r>
            <a:endParaRPr lang="es-BO" dirty="0"/>
          </a:p>
          <a:p>
            <a:pPr lvl="0" algn="just"/>
            <a:r>
              <a:rPr lang="es-ES" dirty="0"/>
              <a:t>Cirugía </a:t>
            </a:r>
            <a:r>
              <a:rPr lang="es-ES" dirty="0" err="1"/>
              <a:t>oncoplástica</a:t>
            </a:r>
            <a:r>
              <a:rPr lang="es-ES" dirty="0"/>
              <a:t> o </a:t>
            </a:r>
            <a:r>
              <a:rPr lang="es-ES" dirty="0">
                <a:hlinkClick r:id="rId2" tooltip="Cirugía plástica oncológica"/>
              </a:rPr>
              <a:t>cirugía plástica oncológica</a:t>
            </a:r>
            <a:r>
              <a:rPr lang="es-ES" dirty="0"/>
              <a:t>: reconstrucción después de cirugía de extirpación tumoral. Especialmente en </a:t>
            </a:r>
            <a:r>
              <a:rPr lang="es-ES" dirty="0">
                <a:hlinkClick r:id="rId3" tooltip="Mama"/>
              </a:rPr>
              <a:t>mama</a:t>
            </a:r>
            <a:r>
              <a:rPr lang="es-ES" dirty="0"/>
              <a:t> y </a:t>
            </a:r>
            <a:r>
              <a:rPr lang="es-ES" dirty="0">
                <a:hlinkClick r:id="rId4" tooltip="Cabeza"/>
              </a:rPr>
              <a:t>cabeza</a:t>
            </a:r>
            <a:r>
              <a:rPr lang="es-ES" dirty="0"/>
              <a:t> y </a:t>
            </a:r>
            <a:r>
              <a:rPr lang="es-ES" dirty="0">
                <a:hlinkClick r:id="rId5" tooltip="Cuello"/>
              </a:rPr>
              <a:t>cuello</a:t>
            </a:r>
            <a:r>
              <a:rPr lang="es-ES" dirty="0"/>
              <a:t>.</a:t>
            </a:r>
            <a:endParaRPr lang="es-BO" dirty="0"/>
          </a:p>
          <a:p>
            <a:pPr lvl="0" algn="just"/>
            <a:r>
              <a:rPr lang="es-ES" dirty="0"/>
              <a:t>Úlceras por presión</a:t>
            </a:r>
            <a:endParaRPr lang="es-BO" dirty="0"/>
          </a:p>
          <a:p>
            <a:pPr lvl="0" algn="just"/>
            <a:r>
              <a:rPr lang="es-ES" dirty="0"/>
              <a:t>Úlceras varicosas</a:t>
            </a:r>
            <a:endParaRPr lang="es-BO" dirty="0"/>
          </a:p>
          <a:p>
            <a:pPr algn="just"/>
            <a:endParaRPr lang="es-BO" dirty="0"/>
          </a:p>
        </p:txBody>
      </p:sp>
    </p:spTree>
    <p:extLst>
      <p:ext uri="{BB962C8B-B14F-4D97-AF65-F5344CB8AC3E}">
        <p14:creationId xmlns:p14="http://schemas.microsoft.com/office/powerpoint/2010/main" val="2865993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p:cTn id="31"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3" end="3"/>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 calcmode="lin" valueType="num">
                                      <p:cBhvr>
                                        <p:cTn id="39"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0"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41"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42" dur="1000"/>
                                        <p:tgtEl>
                                          <p:spTgt spid="3">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nodeType="click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 calcmode="lin" valueType="num">
                                      <p:cBhvr>
                                        <p:cTn id="47"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8"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49"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50"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115616" y="1124744"/>
            <a:ext cx="6984776" cy="4598325"/>
          </a:xfrm>
        </p:spPr>
        <p:txBody>
          <a:bodyPr>
            <a:normAutofit/>
          </a:bodyPr>
          <a:lstStyle/>
          <a:p>
            <a:pPr lvl="0" algn="just"/>
            <a:r>
              <a:rPr lang="es-ES" dirty="0"/>
              <a:t>Quemaduras por fuego directo, escaldadura, electricidad, químicas, por congelamiento.</a:t>
            </a:r>
            <a:endParaRPr lang="es-BO" dirty="0"/>
          </a:p>
          <a:p>
            <a:pPr lvl="0" algn="just"/>
            <a:r>
              <a:rPr lang="es-ES" dirty="0"/>
              <a:t>Reconstrucción de tejidos blandos asociados a fracturas previa o durante la Cirugía ortopédica.</a:t>
            </a:r>
            <a:endParaRPr lang="es-BO" dirty="0"/>
          </a:p>
          <a:p>
            <a:pPr lvl="0" algn="just"/>
            <a:r>
              <a:rPr lang="es-ES" dirty="0"/>
              <a:t>Cirugía de mano: reconstrucción postraumática, reimplantes, trasplantes</a:t>
            </a:r>
            <a:endParaRPr lang="es-BO" dirty="0"/>
          </a:p>
          <a:p>
            <a:pPr lvl="0" algn="just"/>
            <a:r>
              <a:rPr lang="es-ES" dirty="0"/>
              <a:t>Corrección de defectos congénitos y por enfermedades degenerativas como la artritis reumatoide.</a:t>
            </a:r>
            <a:endParaRPr lang="es-BO" dirty="0"/>
          </a:p>
          <a:p>
            <a:endParaRPr lang="es-BO" dirty="0"/>
          </a:p>
        </p:txBody>
      </p:sp>
    </p:spTree>
    <p:extLst>
      <p:ext uri="{BB962C8B-B14F-4D97-AF65-F5344CB8AC3E}">
        <p14:creationId xmlns:p14="http://schemas.microsoft.com/office/powerpoint/2010/main" val="2767770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p:cTn id="31"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187624" y="692696"/>
            <a:ext cx="5904656" cy="432048"/>
          </a:xfrm>
        </p:spPr>
        <p:txBody>
          <a:bodyPr>
            <a:noAutofit/>
          </a:bodyPr>
          <a:lstStyle/>
          <a:p>
            <a:r>
              <a:rPr lang="es-ES" sz="2800" dirty="0" smtClean="0"/>
              <a:t>Cirugía estética o cosmética  </a:t>
            </a:r>
            <a:endParaRPr lang="es-BO" sz="2800" dirty="0"/>
          </a:p>
        </p:txBody>
      </p:sp>
      <p:sp>
        <p:nvSpPr>
          <p:cNvPr id="3" name="2 Marcador de contenido"/>
          <p:cNvSpPr>
            <a:spLocks noGrp="1"/>
          </p:cNvSpPr>
          <p:nvPr>
            <p:ph idx="1"/>
          </p:nvPr>
        </p:nvSpPr>
        <p:spPr>
          <a:xfrm>
            <a:off x="899592" y="1484784"/>
            <a:ext cx="7416824" cy="4641379"/>
          </a:xfrm>
        </p:spPr>
        <p:txBody>
          <a:bodyPr/>
          <a:lstStyle/>
          <a:p>
            <a:pPr lvl="0" algn="just"/>
            <a:r>
              <a:rPr lang="es-ES" dirty="0" smtClean="0"/>
              <a:t>Es </a:t>
            </a:r>
            <a:r>
              <a:rPr lang="es-ES" dirty="0"/>
              <a:t>realizada con la finalidad de modificar aquellas partes del cuerpo que no son satisfactorias para el paciente. </a:t>
            </a:r>
            <a:endParaRPr lang="es-ES" dirty="0" smtClean="0"/>
          </a:p>
          <a:p>
            <a:pPr lvl="0" algn="just"/>
            <a:r>
              <a:rPr lang="es-ES" dirty="0" smtClean="0"/>
              <a:t>En </a:t>
            </a:r>
            <a:r>
              <a:rPr lang="es-ES" dirty="0"/>
              <a:t>muchos casos, sin embargo, hay razones médicas (por ejemplo, </a:t>
            </a:r>
            <a:r>
              <a:rPr lang="es-ES" b="1" dirty="0" err="1"/>
              <a:t>mamoplastia</a:t>
            </a:r>
            <a:r>
              <a:rPr lang="es-ES" b="1" dirty="0"/>
              <a:t> de reducción</a:t>
            </a:r>
            <a:r>
              <a:rPr lang="es-ES" dirty="0"/>
              <a:t> cuando hay problemas ortopédicos en la columna lumbar, o la </a:t>
            </a:r>
            <a:r>
              <a:rPr lang="es-ES" dirty="0">
                <a:hlinkClick r:id="rId2" tooltip="Blefaroplastia"/>
              </a:rPr>
              <a:t>blefaroplastia</a:t>
            </a:r>
            <a:r>
              <a:rPr lang="es-ES" dirty="0"/>
              <a:t> en casos graves de </a:t>
            </a:r>
            <a:r>
              <a:rPr lang="es-ES" dirty="0" err="1"/>
              <a:t>dermatocalasia</a:t>
            </a:r>
            <a:r>
              <a:rPr lang="es-ES" dirty="0"/>
              <a:t> que incluso impiden la vista).</a:t>
            </a:r>
            <a:endParaRPr lang="es-BO" dirty="0"/>
          </a:p>
          <a:p>
            <a:pPr algn="just"/>
            <a:endParaRPr lang="es-BO" dirty="0"/>
          </a:p>
        </p:txBody>
      </p:sp>
    </p:spTree>
    <p:extLst>
      <p:ext uri="{BB962C8B-B14F-4D97-AF65-F5344CB8AC3E}">
        <p14:creationId xmlns:p14="http://schemas.microsoft.com/office/powerpoint/2010/main" val="675165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827584" y="1052736"/>
            <a:ext cx="7488832" cy="5073427"/>
          </a:xfrm>
        </p:spPr>
        <p:txBody>
          <a:bodyPr/>
          <a:lstStyle/>
          <a:p>
            <a:pPr algn="just"/>
            <a:r>
              <a:rPr lang="es-ES" dirty="0"/>
              <a:t>Esta división ha sido marcada por la sociedad, y los servicios de salud pública y privados (compañías de seguros) pues los servicios de salud solo cubrirán los gastos de cirugía plástica que estén relacionados a enfermedades congénitas, adquiridas y a los accidentes. </a:t>
            </a:r>
            <a:endParaRPr lang="es-ES" dirty="0" smtClean="0"/>
          </a:p>
          <a:p>
            <a:pPr algn="just"/>
            <a:r>
              <a:rPr lang="es-ES" dirty="0" smtClean="0"/>
              <a:t>Pero </a:t>
            </a:r>
            <a:r>
              <a:rPr lang="es-ES" dirty="0"/>
              <a:t>no cubrirán los gastos de cirugía plástica asociados a la mejoría estética de la persona.</a:t>
            </a:r>
            <a:endParaRPr lang="es-BO" dirty="0"/>
          </a:p>
          <a:p>
            <a:endParaRPr lang="es-BO" dirty="0"/>
          </a:p>
        </p:txBody>
      </p:sp>
    </p:spTree>
    <p:extLst>
      <p:ext uri="{BB962C8B-B14F-4D97-AF65-F5344CB8AC3E}">
        <p14:creationId xmlns:p14="http://schemas.microsoft.com/office/powerpoint/2010/main" val="2026908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07704" y="692696"/>
            <a:ext cx="5904656" cy="504056"/>
          </a:xfrm>
        </p:spPr>
        <p:txBody>
          <a:bodyPr>
            <a:noAutofit/>
          </a:bodyPr>
          <a:lstStyle/>
          <a:p>
            <a:r>
              <a:rPr lang="es-ES" sz="2400" dirty="0"/>
              <a:t>Consideraciones Anatómicas y Fisiopatología del Envejecimiento Facial</a:t>
            </a:r>
            <a:endParaRPr lang="es-BO" sz="2400" dirty="0"/>
          </a:p>
        </p:txBody>
      </p:sp>
      <p:sp>
        <p:nvSpPr>
          <p:cNvPr id="5" name="4 Marcador de contenido"/>
          <p:cNvSpPr>
            <a:spLocks noGrp="1"/>
          </p:cNvSpPr>
          <p:nvPr>
            <p:ph idx="1"/>
          </p:nvPr>
        </p:nvSpPr>
        <p:spPr>
          <a:xfrm>
            <a:off x="827584" y="1556792"/>
            <a:ext cx="7488832" cy="4569371"/>
          </a:xfrm>
        </p:spPr>
        <p:txBody>
          <a:bodyPr>
            <a:normAutofit fontScale="92500" lnSpcReduction="20000"/>
          </a:bodyPr>
          <a:lstStyle/>
          <a:p>
            <a:pPr algn="just"/>
            <a:r>
              <a:rPr lang="es-ES" dirty="0"/>
              <a:t>Un conocimiento anatómico sólido es el pilar del conocimiento del mecanismo del envejecimiento facial y de su corrección quirúrgica. Entender la anatomía facial es básico para realizar tratamientos correctivos y seguros.</a:t>
            </a:r>
            <a:endParaRPr lang="es-BO" dirty="0"/>
          </a:p>
          <a:p>
            <a:pPr algn="just"/>
            <a:r>
              <a:rPr lang="es-ES" dirty="0"/>
              <a:t>Durante el envejecimiento facial van apareciendo de manera </a:t>
            </a:r>
            <a:r>
              <a:rPr lang="es-ES" sz="2200" dirty="0"/>
              <a:t>progresiva</a:t>
            </a:r>
            <a:r>
              <a:rPr lang="es-ES" dirty="0"/>
              <a:t> cambios faciales y cervicales directamente </a:t>
            </a:r>
            <a:r>
              <a:rPr lang="es-ES" sz="1700" dirty="0"/>
              <a:t>relacionados</a:t>
            </a:r>
            <a:r>
              <a:rPr lang="es-ES" dirty="0"/>
              <a:t> con la disposición de las estructuras anatómicas.</a:t>
            </a:r>
            <a:endParaRPr lang="es-BO" dirty="0"/>
          </a:p>
          <a:p>
            <a:pPr algn="just"/>
            <a:r>
              <a:rPr lang="es-ES" dirty="0"/>
              <a:t>Los tejidos de la cara están conceptualmente en capas concéntricas. La más externa es la piel, seguida por el </a:t>
            </a:r>
            <a:r>
              <a:rPr lang="es-ES" dirty="0">
                <a:hlinkClick r:id="rId2"/>
              </a:rPr>
              <a:t>tejido subcutáneo</a:t>
            </a:r>
            <a:r>
              <a:rPr lang="es-ES" dirty="0"/>
              <a:t>, que es principalmente graso. </a:t>
            </a:r>
            <a:endParaRPr lang="es-ES" dirty="0" smtClean="0"/>
          </a:p>
          <a:p>
            <a:pPr algn="just"/>
            <a:r>
              <a:rPr lang="es-ES" dirty="0" smtClean="0"/>
              <a:t>Debajo </a:t>
            </a:r>
            <a:r>
              <a:rPr lang="es-ES" dirty="0"/>
              <a:t>de la piel está la capa </a:t>
            </a:r>
            <a:r>
              <a:rPr lang="es-ES" dirty="0" err="1"/>
              <a:t>fibroadiposa</a:t>
            </a:r>
            <a:r>
              <a:rPr lang="es-ES" dirty="0"/>
              <a:t> conocida como </a:t>
            </a:r>
            <a:r>
              <a:rPr lang="es-ES" dirty="0">
                <a:hlinkClick r:id="rId2"/>
              </a:rPr>
              <a:t>sistema aponeurótico superficial (SMAS)</a:t>
            </a:r>
            <a:r>
              <a:rPr lang="es-ES" dirty="0"/>
              <a:t>, más profundo </a:t>
            </a:r>
            <a:r>
              <a:rPr lang="es-ES" dirty="0" smtClean="0"/>
              <a:t> </a:t>
            </a:r>
            <a:r>
              <a:rPr lang="es-ES" dirty="0"/>
              <a:t>están los </a:t>
            </a:r>
            <a:r>
              <a:rPr lang="es-ES" dirty="0">
                <a:hlinkClick r:id="rId2"/>
              </a:rPr>
              <a:t>músculos miméticos de la cara</a:t>
            </a:r>
            <a:r>
              <a:rPr lang="es-ES" dirty="0"/>
              <a:t> y por debajo está la fascia facial profunda que protege al </a:t>
            </a:r>
            <a:r>
              <a:rPr lang="es-ES" dirty="0">
                <a:hlinkClick r:id="rId2"/>
              </a:rPr>
              <a:t>nervio facial</a:t>
            </a:r>
            <a:r>
              <a:rPr lang="es-ES" dirty="0"/>
              <a:t>.</a:t>
            </a:r>
            <a:endParaRPr lang="es-BO" dirty="0"/>
          </a:p>
          <a:p>
            <a:endParaRPr lang="es-BO" dirty="0"/>
          </a:p>
        </p:txBody>
      </p:sp>
    </p:spTree>
    <p:extLst>
      <p:ext uri="{BB962C8B-B14F-4D97-AF65-F5344CB8AC3E}">
        <p14:creationId xmlns:p14="http://schemas.microsoft.com/office/powerpoint/2010/main" val="2613713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 calcmode="lin" valueType="num">
                                      <p:cBhvr>
                                        <p:cTn id="15"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5">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5">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anim calcmode="lin" valueType="num">
                                      <p:cBhvr>
                                        <p:cTn id="23" dur="1000" fill="hold"/>
                                        <p:tgtEl>
                                          <p:spTgt spid="5">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5">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5">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5">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anim calcmode="lin" valueType="num">
                                      <p:cBhvr>
                                        <p:cTn id="31" dur="1000" fill="hold"/>
                                        <p:tgtEl>
                                          <p:spTgt spid="5">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5">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5">
                                            <p:txEl>
                                              <p:pRg st="2" end="2"/>
                                            </p:txEl>
                                          </p:spTgt>
                                        </p:tgtEl>
                                        <p:attrNameLst>
                                          <p:attrName>style.rotation</p:attrName>
                                        </p:attrNameLst>
                                      </p:cBhvr>
                                      <p:tavLst>
                                        <p:tav tm="0">
                                          <p:val>
                                            <p:fltVal val="90"/>
                                          </p:val>
                                        </p:tav>
                                        <p:tav tm="100000">
                                          <p:val>
                                            <p:fltVal val="0"/>
                                          </p:val>
                                        </p:tav>
                                      </p:tavLst>
                                    </p:anim>
                                    <p:animEffect transition="in" filter="fade">
                                      <p:cBhvr>
                                        <p:cTn id="34" dur="1000"/>
                                        <p:tgtEl>
                                          <p:spTgt spid="5">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anim calcmode="lin" valueType="num">
                                      <p:cBhvr>
                                        <p:cTn id="39" dur="1000" fill="hold"/>
                                        <p:tgtEl>
                                          <p:spTgt spid="5">
                                            <p:txEl>
                                              <p:pRg st="3" end="3"/>
                                            </p:txEl>
                                          </p:spTgt>
                                        </p:tgtEl>
                                        <p:attrNameLst>
                                          <p:attrName>ppt_w</p:attrName>
                                        </p:attrNameLst>
                                      </p:cBhvr>
                                      <p:tavLst>
                                        <p:tav tm="0">
                                          <p:val>
                                            <p:fltVal val="0"/>
                                          </p:val>
                                        </p:tav>
                                        <p:tav tm="100000">
                                          <p:val>
                                            <p:strVal val="#ppt_w"/>
                                          </p:val>
                                        </p:tav>
                                      </p:tavLst>
                                    </p:anim>
                                    <p:anim calcmode="lin" valueType="num">
                                      <p:cBhvr>
                                        <p:cTn id="40" dur="1000" fill="hold"/>
                                        <p:tgtEl>
                                          <p:spTgt spid="5">
                                            <p:txEl>
                                              <p:pRg st="3" end="3"/>
                                            </p:txEl>
                                          </p:spTgt>
                                        </p:tgtEl>
                                        <p:attrNameLst>
                                          <p:attrName>ppt_h</p:attrName>
                                        </p:attrNameLst>
                                      </p:cBhvr>
                                      <p:tavLst>
                                        <p:tav tm="0">
                                          <p:val>
                                            <p:fltVal val="0"/>
                                          </p:val>
                                        </p:tav>
                                        <p:tav tm="100000">
                                          <p:val>
                                            <p:strVal val="#ppt_h"/>
                                          </p:val>
                                        </p:tav>
                                      </p:tavLst>
                                    </p:anim>
                                    <p:anim calcmode="lin" valueType="num">
                                      <p:cBhvr>
                                        <p:cTn id="41" dur="1000" fill="hold"/>
                                        <p:tgtEl>
                                          <p:spTgt spid="5">
                                            <p:txEl>
                                              <p:pRg st="3" end="3"/>
                                            </p:txEl>
                                          </p:spTgt>
                                        </p:tgtEl>
                                        <p:attrNameLst>
                                          <p:attrName>style.rotation</p:attrName>
                                        </p:attrNameLst>
                                      </p:cBhvr>
                                      <p:tavLst>
                                        <p:tav tm="0">
                                          <p:val>
                                            <p:fltVal val="90"/>
                                          </p:val>
                                        </p:tav>
                                        <p:tav tm="100000">
                                          <p:val>
                                            <p:fltVal val="0"/>
                                          </p:val>
                                        </p:tav>
                                      </p:tavLst>
                                    </p:anim>
                                    <p:animEffect transition="in" filter="fade">
                                      <p:cBhvr>
                                        <p:cTn id="42" dur="1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836712"/>
            <a:ext cx="7488832" cy="1728192"/>
          </a:xfrm>
        </p:spPr>
        <p:txBody>
          <a:bodyPr>
            <a:normAutofit fontScale="90000"/>
          </a:bodyPr>
          <a:lstStyle/>
          <a:p>
            <a:pPr algn="just"/>
            <a:r>
              <a:rPr lang="es-BO" sz="1800" b="1" dirty="0" smtClean="0"/>
              <a:t/>
            </a:r>
            <a:br>
              <a:rPr lang="es-BO" sz="1800" b="1" dirty="0" smtClean="0"/>
            </a:br>
            <a:r>
              <a:rPr lang="es-ES" sz="1800" b="1" dirty="0" smtClean="0"/>
              <a:t/>
            </a:r>
            <a:br>
              <a:rPr lang="es-ES" sz="1800" b="1" dirty="0" smtClean="0"/>
            </a:br>
            <a:r>
              <a:rPr lang="es-ES" sz="1800" b="1" dirty="0" smtClean="0"/>
              <a:t/>
            </a:r>
            <a:br>
              <a:rPr lang="es-ES" sz="1800" b="1" dirty="0" smtClean="0"/>
            </a:br>
            <a:r>
              <a:rPr lang="es-ES" sz="2000" dirty="0" smtClean="0"/>
              <a:t>La capa subcutánea está formada principalmente por tejido graso, con algunos tabiques fibrosos que transmiten el movimiento desde las capas más profundas (músculos miméticos) al superficie.</a:t>
            </a:r>
            <a:r>
              <a:rPr lang="es-BO" sz="2000" dirty="0" smtClean="0"/>
              <a:t/>
            </a:r>
            <a:br>
              <a:rPr lang="es-BO" sz="2000" dirty="0" smtClean="0"/>
            </a:br>
            <a:r>
              <a:rPr lang="es-ES" sz="2000" dirty="0" smtClean="0"/>
              <a:t>Hay regiones en las que la grasa es más densa, son las llamadas almohadillas grasas, que son responsables del </a:t>
            </a:r>
            <a:r>
              <a:rPr lang="es-ES" sz="2000" b="1" dirty="0" smtClean="0"/>
              <a:t>contorno facial</a:t>
            </a:r>
            <a:r>
              <a:rPr lang="es-ES" sz="2000" dirty="0" smtClean="0"/>
              <a:t> normal, y con el envejecimiento se producen cambios de su distribución</a:t>
            </a:r>
            <a:r>
              <a:rPr lang="es-BO" sz="2000" dirty="0" smtClean="0"/>
              <a:t/>
            </a:r>
            <a:br>
              <a:rPr lang="es-BO" sz="2000" dirty="0" smtClean="0"/>
            </a:br>
            <a:r>
              <a:rPr lang="es-ES" sz="2000" b="1" dirty="0" smtClean="0"/>
              <a:t/>
            </a:r>
            <a:br>
              <a:rPr lang="es-ES" sz="2000" b="1" dirty="0" smtClean="0"/>
            </a:br>
            <a:endParaRPr lang="es-BO" sz="2000" dirty="0"/>
          </a:p>
        </p:txBody>
      </p:sp>
      <p:pic>
        <p:nvPicPr>
          <p:cNvPr id="4" name="3 Marcador de contenido" descr="La inervación sensitiva"/>
          <p:cNvPicPr>
            <a:picLocks noGrp="1"/>
          </p:cNvPicPr>
          <p:nvPr>
            <p:ph idx="1"/>
          </p:nvPr>
        </p:nvPicPr>
        <p:blipFill>
          <a:blip r:embed="rId2"/>
          <a:srcRect/>
          <a:stretch>
            <a:fillRect/>
          </a:stretch>
        </p:blipFill>
        <p:spPr bwMode="auto">
          <a:xfrm>
            <a:off x="1403648" y="2780928"/>
            <a:ext cx="5904656" cy="3168352"/>
          </a:xfrm>
          <a:prstGeom prst="rect">
            <a:avLst/>
          </a:prstGeom>
          <a:noFill/>
          <a:ln w="9525">
            <a:noFill/>
            <a:miter lim="800000"/>
            <a:headEnd/>
            <a:tailEnd/>
          </a:ln>
        </p:spPr>
      </p:pic>
    </p:spTree>
    <p:extLst>
      <p:ext uri="{BB962C8B-B14F-4D97-AF65-F5344CB8AC3E}">
        <p14:creationId xmlns:p14="http://schemas.microsoft.com/office/powerpoint/2010/main" val="553865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style.rotation</p:attrName>
                                        </p:attrNameLst>
                                      </p:cBhvr>
                                      <p:tavLst>
                                        <p:tav tm="0">
                                          <p:val>
                                            <p:fltVal val="90"/>
                                          </p:val>
                                        </p:tav>
                                        <p:tav tm="100000">
                                          <p:val>
                                            <p:fltVal val="0"/>
                                          </p:val>
                                        </p:tav>
                                      </p:tavLst>
                                    </p:anim>
                                    <p:animEffect transition="in" filter="fade">
                                      <p:cBhvr>
                                        <p:cTn id="18"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99592" y="620688"/>
            <a:ext cx="7416824" cy="720080"/>
          </a:xfrm>
        </p:spPr>
        <p:txBody>
          <a:bodyPr>
            <a:normAutofit/>
          </a:bodyPr>
          <a:lstStyle/>
          <a:p>
            <a:r>
              <a:rPr lang="es-ES" sz="2400" dirty="0" smtClean="0"/>
              <a:t>LIGAMENTOS DE RETENCI</a:t>
            </a:r>
            <a:r>
              <a:rPr lang="es-ES" sz="2400" dirty="0"/>
              <a:t>O</a:t>
            </a:r>
            <a:r>
              <a:rPr lang="es-ES" sz="2400" dirty="0" smtClean="0"/>
              <a:t>N</a:t>
            </a:r>
            <a:endParaRPr lang="es-BO" sz="1800" dirty="0"/>
          </a:p>
        </p:txBody>
      </p:sp>
      <p:sp>
        <p:nvSpPr>
          <p:cNvPr id="3" name="2 Marcador de contenido"/>
          <p:cNvSpPr>
            <a:spLocks noGrp="1"/>
          </p:cNvSpPr>
          <p:nvPr>
            <p:ph idx="1"/>
          </p:nvPr>
        </p:nvSpPr>
        <p:spPr>
          <a:xfrm>
            <a:off x="827584" y="1268760"/>
            <a:ext cx="7560840" cy="4857403"/>
          </a:xfrm>
        </p:spPr>
        <p:txBody>
          <a:bodyPr>
            <a:normAutofit/>
          </a:bodyPr>
          <a:lstStyle/>
          <a:p>
            <a:pPr algn="just"/>
            <a:r>
              <a:rPr lang="es-ES" dirty="0"/>
              <a:t>Son condensaciones de tejido conjuntivo fibroso intercaladas entre los tejidos blandos de la cara y el cuello, que anclan las estructuras superficiales a otras subyacentes más firmes.</a:t>
            </a:r>
            <a:endParaRPr lang="es-BO" dirty="0"/>
          </a:p>
          <a:p>
            <a:pPr algn="just"/>
            <a:r>
              <a:rPr lang="es-ES" dirty="0"/>
              <a:t>Son estructuras fijas que permiten que los tejidos blandos pivoten a su alrededor, produciendo surcos, como las líneas de marioneta.</a:t>
            </a:r>
            <a:endParaRPr lang="es-BO" dirty="0"/>
          </a:p>
          <a:p>
            <a:pPr algn="just"/>
            <a:r>
              <a:rPr lang="es-ES" dirty="0" smtClean="0"/>
              <a:t>La </a:t>
            </a:r>
            <a:r>
              <a:rPr lang="es-ES" dirty="0"/>
              <a:t>corrección quirúrgica debe volver a suspender este desplazamiento del tejido blando y liberar al tejido de los ligamentos en la zona mandibular y zigomática (en mejilla) para poder reponer todo el tejido y la piel hacia arriba y que se atenúen los surcos.</a:t>
            </a:r>
            <a:endParaRPr lang="es-BO" dirty="0"/>
          </a:p>
        </p:txBody>
      </p:sp>
    </p:spTree>
    <p:extLst>
      <p:ext uri="{BB962C8B-B14F-4D97-AF65-F5344CB8AC3E}">
        <p14:creationId xmlns:p14="http://schemas.microsoft.com/office/powerpoint/2010/main" val="1319995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p:cTn id="31"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descr="Anatomía del envejecimiento facial"/>
          <p:cNvPicPr>
            <a:picLocks noGrp="1"/>
          </p:cNvPicPr>
          <p:nvPr>
            <p:ph idx="1"/>
          </p:nvPr>
        </p:nvPicPr>
        <p:blipFill>
          <a:blip r:embed="rId2"/>
          <a:srcRect/>
          <a:stretch>
            <a:fillRect/>
          </a:stretch>
        </p:blipFill>
        <p:spPr bwMode="auto">
          <a:xfrm>
            <a:off x="827584" y="764704"/>
            <a:ext cx="6912768" cy="5256583"/>
          </a:xfrm>
          <a:prstGeom prst="rect">
            <a:avLst/>
          </a:prstGeom>
          <a:noFill/>
          <a:ln w="9525">
            <a:noFill/>
            <a:miter lim="800000"/>
            <a:headEnd/>
            <a:tailEnd/>
          </a:ln>
        </p:spPr>
      </p:pic>
    </p:spTree>
    <p:extLst>
      <p:ext uri="{BB962C8B-B14F-4D97-AF65-F5344CB8AC3E}">
        <p14:creationId xmlns:p14="http://schemas.microsoft.com/office/powerpoint/2010/main" val="2785517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71600" y="692696"/>
            <a:ext cx="7200800" cy="504056"/>
          </a:xfrm>
        </p:spPr>
        <p:txBody>
          <a:bodyPr>
            <a:normAutofit fontScale="90000"/>
          </a:bodyPr>
          <a:lstStyle/>
          <a:p>
            <a:r>
              <a:rPr lang="es-ES" sz="2400" b="1" dirty="0" smtClean="0"/>
              <a:t/>
            </a:r>
            <a:br>
              <a:rPr lang="es-ES" sz="2400" b="1" dirty="0" smtClean="0"/>
            </a:br>
            <a:r>
              <a:rPr lang="es-ES" sz="2400" b="1" dirty="0" smtClean="0"/>
              <a:t>SMAS </a:t>
            </a:r>
            <a:r>
              <a:rPr lang="es-ES" sz="2400" b="1" dirty="0"/>
              <a:t>(Sistema Músculo Aponeurótico Superficial)</a:t>
            </a:r>
            <a:r>
              <a:rPr lang="es-BO" sz="2400" b="1" dirty="0"/>
              <a:t/>
            </a:r>
            <a:br>
              <a:rPr lang="es-BO" sz="2400" b="1" dirty="0"/>
            </a:br>
            <a:endParaRPr lang="es-BO" sz="2400" dirty="0"/>
          </a:p>
        </p:txBody>
      </p:sp>
      <p:sp>
        <p:nvSpPr>
          <p:cNvPr id="3" name="2 Marcador de contenido"/>
          <p:cNvSpPr>
            <a:spLocks noGrp="1"/>
          </p:cNvSpPr>
          <p:nvPr>
            <p:ph idx="1"/>
          </p:nvPr>
        </p:nvSpPr>
        <p:spPr>
          <a:xfrm>
            <a:off x="755576" y="1196752"/>
            <a:ext cx="7560840" cy="4929411"/>
          </a:xfrm>
        </p:spPr>
        <p:txBody>
          <a:bodyPr>
            <a:normAutofit fontScale="85000" lnSpcReduction="10000"/>
          </a:bodyPr>
          <a:lstStyle/>
          <a:p>
            <a:pPr algn="just"/>
            <a:r>
              <a:rPr lang="es-ES" sz="2600" dirty="0"/>
              <a:t>El SMAS se extiende desde el cuello hasta el cuero cabelludo por debajo de la grasa.</a:t>
            </a:r>
            <a:endParaRPr lang="es-BO" sz="2600" dirty="0"/>
          </a:p>
          <a:p>
            <a:pPr algn="just"/>
            <a:r>
              <a:rPr lang="es-ES" sz="2600" dirty="0"/>
              <a:t>Según la zona está formado por fascia, tejido </a:t>
            </a:r>
            <a:r>
              <a:rPr lang="es-ES" sz="2600" dirty="0" err="1"/>
              <a:t>fibroadiposo</a:t>
            </a:r>
            <a:r>
              <a:rPr lang="es-ES" sz="2600" dirty="0"/>
              <a:t> o músculo, de ahí su nombre.</a:t>
            </a:r>
            <a:endParaRPr lang="es-BO" sz="2600" dirty="0"/>
          </a:p>
          <a:p>
            <a:pPr algn="just"/>
            <a:r>
              <a:rPr lang="es-ES" sz="2600" b="1" dirty="0" smtClean="0"/>
              <a:t>Esta </a:t>
            </a:r>
            <a:r>
              <a:rPr lang="es-ES" sz="2600" b="1" dirty="0"/>
              <a:t>capa es de vital importancia en la cirugía facial</a:t>
            </a:r>
            <a:r>
              <a:rPr lang="es-ES" sz="2600" dirty="0"/>
              <a:t>, ya que la suspensión de este plano es lo que da soporte a la piel y, por tanto, la corrección y la naturalidad del </a:t>
            </a:r>
            <a:r>
              <a:rPr lang="es-ES" sz="2600" dirty="0" smtClean="0"/>
              <a:t>tratamiento</a:t>
            </a:r>
          </a:p>
          <a:p>
            <a:pPr algn="just"/>
            <a:r>
              <a:rPr lang="es-ES" sz="2800" dirty="0" smtClean="0"/>
              <a:t>Los </a:t>
            </a:r>
            <a:r>
              <a:rPr lang="es-ES" sz="2800" dirty="0"/>
              <a:t>músculos faciales actúan en grupos sincrónicos con contracción y relajación, lo que permite la variada expresión que produce la cara humana. </a:t>
            </a:r>
            <a:endParaRPr lang="es-ES" sz="2800" dirty="0" smtClean="0"/>
          </a:p>
          <a:p>
            <a:pPr algn="just"/>
            <a:r>
              <a:rPr lang="es-ES" sz="2800" dirty="0" smtClean="0"/>
              <a:t>Están </a:t>
            </a:r>
            <a:r>
              <a:rPr lang="es-ES" sz="2800" dirty="0"/>
              <a:t>entrelazados con fibras del SMAS que a su vez está conectado con la piel y así la contracción muscular se transmite a ésta.</a:t>
            </a:r>
            <a:endParaRPr lang="es-BO" sz="2800" dirty="0"/>
          </a:p>
          <a:p>
            <a:pPr algn="just"/>
            <a:endParaRPr lang="es-BO" sz="2600" dirty="0"/>
          </a:p>
          <a:p>
            <a:pPr marL="0" indent="0">
              <a:buNone/>
            </a:pPr>
            <a:endParaRPr lang="es-BO" dirty="0"/>
          </a:p>
        </p:txBody>
      </p:sp>
    </p:spTree>
    <p:extLst>
      <p:ext uri="{BB962C8B-B14F-4D97-AF65-F5344CB8AC3E}">
        <p14:creationId xmlns:p14="http://schemas.microsoft.com/office/powerpoint/2010/main" val="348485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p:cTn id="31"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 calcmode="lin" valueType="num">
                                      <p:cBhvr>
                                        <p:cTn id="39"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40"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41"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42" dur="1000"/>
                                        <p:tgtEl>
                                          <p:spTgt spid="3">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 calcmode="lin" valueType="num">
                                      <p:cBhvr>
                                        <p:cTn id="47"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8"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49"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0"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descr="Sistema Músculo Aponeurótico Superficial (SMAS)"/>
          <p:cNvPicPr>
            <a:picLocks noGrp="1"/>
          </p:cNvPicPr>
          <p:nvPr>
            <p:ph idx="1"/>
          </p:nvPr>
        </p:nvPicPr>
        <p:blipFill>
          <a:blip r:embed="rId2"/>
          <a:srcRect/>
          <a:stretch>
            <a:fillRect/>
          </a:stretch>
        </p:blipFill>
        <p:spPr bwMode="auto">
          <a:xfrm>
            <a:off x="1115616" y="764704"/>
            <a:ext cx="6696744" cy="5222552"/>
          </a:xfrm>
          <a:prstGeom prst="rect">
            <a:avLst/>
          </a:prstGeom>
          <a:noFill/>
          <a:ln w="9525">
            <a:noFill/>
            <a:miter lim="800000"/>
            <a:headEnd/>
            <a:tailEnd/>
          </a:ln>
        </p:spPr>
      </p:pic>
    </p:spTree>
    <p:extLst>
      <p:ext uri="{BB962C8B-B14F-4D97-AF65-F5344CB8AC3E}">
        <p14:creationId xmlns:p14="http://schemas.microsoft.com/office/powerpoint/2010/main" val="3164071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187624" y="620688"/>
            <a:ext cx="6192688" cy="360040"/>
          </a:xfrm>
        </p:spPr>
        <p:txBody>
          <a:bodyPr>
            <a:normAutofit fontScale="90000"/>
          </a:bodyPr>
          <a:lstStyle/>
          <a:p>
            <a:r>
              <a:rPr lang="es-ES" sz="2000" b="1" dirty="0" smtClean="0"/>
              <a:t/>
            </a:r>
            <a:br>
              <a:rPr lang="es-ES" sz="2000" b="1" dirty="0" smtClean="0"/>
            </a:br>
            <a:r>
              <a:rPr lang="es-ES" sz="2000" b="1" dirty="0"/>
              <a:t/>
            </a:r>
            <a:br>
              <a:rPr lang="es-ES" sz="2000" b="1" dirty="0"/>
            </a:br>
            <a:r>
              <a:rPr lang="es-ES" sz="2000" b="1" dirty="0" smtClean="0"/>
              <a:t>Tipos de músculos faciales</a:t>
            </a:r>
            <a:r>
              <a:rPr lang="es-BO" b="1" dirty="0"/>
              <a:t/>
            </a:r>
            <a:br>
              <a:rPr lang="es-BO" b="1" dirty="0"/>
            </a:br>
            <a:endParaRPr lang="es-BO" dirty="0"/>
          </a:p>
        </p:txBody>
      </p:sp>
      <p:pic>
        <p:nvPicPr>
          <p:cNvPr id="4" name="3 Marcador de contenido" descr="Los músculos faciales"/>
          <p:cNvPicPr>
            <a:picLocks noGrp="1"/>
          </p:cNvPicPr>
          <p:nvPr>
            <p:ph idx="1"/>
          </p:nvPr>
        </p:nvPicPr>
        <p:blipFill>
          <a:blip r:embed="rId2"/>
          <a:srcRect/>
          <a:stretch>
            <a:fillRect/>
          </a:stretch>
        </p:blipFill>
        <p:spPr bwMode="auto">
          <a:xfrm>
            <a:off x="1892017" y="1124744"/>
            <a:ext cx="4968552" cy="3672408"/>
          </a:xfrm>
          <a:prstGeom prst="rect">
            <a:avLst/>
          </a:prstGeom>
          <a:noFill/>
          <a:ln w="9525">
            <a:noFill/>
            <a:miter lim="800000"/>
            <a:headEnd/>
            <a:tailEnd/>
          </a:ln>
        </p:spPr>
      </p:pic>
      <p:sp>
        <p:nvSpPr>
          <p:cNvPr id="5" name="4 Rectángulo"/>
          <p:cNvSpPr/>
          <p:nvPr/>
        </p:nvSpPr>
        <p:spPr>
          <a:xfrm>
            <a:off x="1331640" y="4941168"/>
            <a:ext cx="5958408" cy="1200329"/>
          </a:xfrm>
          <a:prstGeom prst="rect">
            <a:avLst/>
          </a:prstGeom>
        </p:spPr>
        <p:txBody>
          <a:bodyPr wrap="square">
            <a:spAutoFit/>
          </a:bodyPr>
          <a:lstStyle/>
          <a:p>
            <a:r>
              <a:rPr lang="es-ES" dirty="0"/>
              <a:t>Se pueden considerar 3 grupos de músculos faciales:</a:t>
            </a:r>
            <a:endParaRPr lang="es-BO" dirty="0"/>
          </a:p>
          <a:p>
            <a:pPr lvl="0"/>
            <a:r>
              <a:rPr lang="es-ES" dirty="0"/>
              <a:t>Músculos Faciales </a:t>
            </a:r>
            <a:r>
              <a:rPr lang="es-ES" dirty="0" err="1"/>
              <a:t>Perioculares</a:t>
            </a:r>
            <a:r>
              <a:rPr lang="es-ES" dirty="0"/>
              <a:t>.</a:t>
            </a:r>
            <a:endParaRPr lang="es-BO" dirty="0"/>
          </a:p>
          <a:p>
            <a:pPr lvl="0"/>
            <a:r>
              <a:rPr lang="es-ES" dirty="0"/>
              <a:t>Músculos Faciales </a:t>
            </a:r>
            <a:r>
              <a:rPr lang="es-ES" dirty="0" err="1"/>
              <a:t>Periorales</a:t>
            </a:r>
            <a:r>
              <a:rPr lang="es-ES" dirty="0"/>
              <a:t>.</a:t>
            </a:r>
            <a:endParaRPr lang="es-BO" dirty="0"/>
          </a:p>
          <a:p>
            <a:pPr lvl="0"/>
            <a:r>
              <a:rPr lang="es-ES" dirty="0"/>
              <a:t>Músculos Faciales Cervicales.</a:t>
            </a:r>
            <a:endParaRPr lang="es-BO" dirty="0"/>
          </a:p>
        </p:txBody>
      </p:sp>
    </p:spTree>
    <p:extLst>
      <p:ext uri="{BB962C8B-B14F-4D97-AF65-F5344CB8AC3E}">
        <p14:creationId xmlns:p14="http://schemas.microsoft.com/office/powerpoint/2010/main" val="1393544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 calcmode="lin" valueType="num">
                                      <p:cBhvr>
                                        <p:cTn id="15" dur="10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5">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5">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5">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5">
                                            <p:txEl>
                                              <p:pRg st="1" end="1"/>
                                            </p:txEl>
                                          </p:spTgt>
                                        </p:tgtEl>
                                        <p:attrNameLst>
                                          <p:attrName>style.visibility</p:attrName>
                                        </p:attrNameLst>
                                      </p:cBhvr>
                                      <p:to>
                                        <p:strVal val="visible"/>
                                      </p:to>
                                    </p:set>
                                    <p:anim calcmode="lin" valueType="num">
                                      <p:cBhvr>
                                        <p:cTn id="23" dur="1000" fill="hold"/>
                                        <p:tgtEl>
                                          <p:spTgt spid="5">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5">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5">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5">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anim calcmode="lin" valueType="num">
                                      <p:cBhvr>
                                        <p:cTn id="31" dur="1000" fill="hold"/>
                                        <p:tgtEl>
                                          <p:spTgt spid="5">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5">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5">
                                            <p:txEl>
                                              <p:pRg st="2" end="2"/>
                                            </p:txEl>
                                          </p:spTgt>
                                        </p:tgtEl>
                                        <p:attrNameLst>
                                          <p:attrName>style.rotation</p:attrName>
                                        </p:attrNameLst>
                                      </p:cBhvr>
                                      <p:tavLst>
                                        <p:tav tm="0">
                                          <p:val>
                                            <p:fltVal val="90"/>
                                          </p:val>
                                        </p:tav>
                                        <p:tav tm="100000">
                                          <p:val>
                                            <p:fltVal val="0"/>
                                          </p:val>
                                        </p:tav>
                                      </p:tavLst>
                                    </p:anim>
                                    <p:animEffect transition="in" filter="fade">
                                      <p:cBhvr>
                                        <p:cTn id="34" dur="1000"/>
                                        <p:tgtEl>
                                          <p:spTgt spid="5">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anim calcmode="lin" valueType="num">
                                      <p:cBhvr>
                                        <p:cTn id="39" dur="1000" fill="hold"/>
                                        <p:tgtEl>
                                          <p:spTgt spid="5">
                                            <p:txEl>
                                              <p:pRg st="3" end="3"/>
                                            </p:txEl>
                                          </p:spTgt>
                                        </p:tgtEl>
                                        <p:attrNameLst>
                                          <p:attrName>ppt_w</p:attrName>
                                        </p:attrNameLst>
                                      </p:cBhvr>
                                      <p:tavLst>
                                        <p:tav tm="0">
                                          <p:val>
                                            <p:fltVal val="0"/>
                                          </p:val>
                                        </p:tav>
                                        <p:tav tm="100000">
                                          <p:val>
                                            <p:strVal val="#ppt_w"/>
                                          </p:val>
                                        </p:tav>
                                      </p:tavLst>
                                    </p:anim>
                                    <p:anim calcmode="lin" valueType="num">
                                      <p:cBhvr>
                                        <p:cTn id="40" dur="1000" fill="hold"/>
                                        <p:tgtEl>
                                          <p:spTgt spid="5">
                                            <p:txEl>
                                              <p:pRg st="3" end="3"/>
                                            </p:txEl>
                                          </p:spTgt>
                                        </p:tgtEl>
                                        <p:attrNameLst>
                                          <p:attrName>ppt_h</p:attrName>
                                        </p:attrNameLst>
                                      </p:cBhvr>
                                      <p:tavLst>
                                        <p:tav tm="0">
                                          <p:val>
                                            <p:fltVal val="0"/>
                                          </p:val>
                                        </p:tav>
                                        <p:tav tm="100000">
                                          <p:val>
                                            <p:strVal val="#ppt_h"/>
                                          </p:val>
                                        </p:tav>
                                      </p:tavLst>
                                    </p:anim>
                                    <p:anim calcmode="lin" valueType="num">
                                      <p:cBhvr>
                                        <p:cTn id="41" dur="1000" fill="hold"/>
                                        <p:tgtEl>
                                          <p:spTgt spid="5">
                                            <p:txEl>
                                              <p:pRg st="3" end="3"/>
                                            </p:txEl>
                                          </p:spTgt>
                                        </p:tgtEl>
                                        <p:attrNameLst>
                                          <p:attrName>style.rotation</p:attrName>
                                        </p:attrNameLst>
                                      </p:cBhvr>
                                      <p:tavLst>
                                        <p:tav tm="0">
                                          <p:val>
                                            <p:fltVal val="90"/>
                                          </p:val>
                                        </p:tav>
                                        <p:tav tm="100000">
                                          <p:val>
                                            <p:fltVal val="0"/>
                                          </p:val>
                                        </p:tav>
                                      </p:tavLst>
                                    </p:anim>
                                    <p:animEffect transition="in" filter="fade">
                                      <p:cBhvr>
                                        <p:cTn id="42" dur="10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Imagen" descr="Los músculos de los ojos"/>
          <p:cNvPicPr/>
          <p:nvPr/>
        </p:nvPicPr>
        <p:blipFill>
          <a:blip r:embed="rId2"/>
          <a:srcRect/>
          <a:stretch>
            <a:fillRect/>
          </a:stretch>
        </p:blipFill>
        <p:spPr bwMode="auto">
          <a:xfrm>
            <a:off x="899592" y="656691"/>
            <a:ext cx="3384376" cy="2491983"/>
          </a:xfrm>
          <a:prstGeom prst="rect">
            <a:avLst/>
          </a:prstGeom>
          <a:noFill/>
          <a:ln w="9525">
            <a:noFill/>
            <a:miter lim="800000"/>
            <a:headEnd/>
            <a:tailEnd/>
          </a:ln>
        </p:spPr>
      </p:pic>
      <p:pic>
        <p:nvPicPr>
          <p:cNvPr id="5" name="4 Marcador de contenido" descr="Los músculos de la boca"/>
          <p:cNvPicPr>
            <a:picLocks noGrp="1"/>
          </p:cNvPicPr>
          <p:nvPr>
            <p:ph idx="1"/>
          </p:nvPr>
        </p:nvPicPr>
        <p:blipFill>
          <a:blip r:embed="rId3"/>
          <a:srcRect/>
          <a:stretch>
            <a:fillRect/>
          </a:stretch>
        </p:blipFill>
        <p:spPr bwMode="auto">
          <a:xfrm>
            <a:off x="4355976" y="660951"/>
            <a:ext cx="3888432" cy="2487724"/>
          </a:xfrm>
          <a:prstGeom prst="rect">
            <a:avLst/>
          </a:prstGeom>
          <a:noFill/>
          <a:ln w="9525">
            <a:noFill/>
            <a:miter lim="800000"/>
            <a:headEnd/>
            <a:tailEnd/>
          </a:ln>
        </p:spPr>
      </p:pic>
      <p:pic>
        <p:nvPicPr>
          <p:cNvPr id="6" name="5 Imagen" descr="Los músculos del cuello "/>
          <p:cNvPicPr/>
          <p:nvPr/>
        </p:nvPicPr>
        <p:blipFill>
          <a:blip r:embed="rId4"/>
          <a:srcRect/>
          <a:stretch>
            <a:fillRect/>
          </a:stretch>
        </p:blipFill>
        <p:spPr bwMode="auto">
          <a:xfrm>
            <a:off x="2195736" y="3212976"/>
            <a:ext cx="4032448" cy="2880320"/>
          </a:xfrm>
          <a:prstGeom prst="rect">
            <a:avLst/>
          </a:prstGeom>
          <a:noFill/>
          <a:ln w="9525">
            <a:noFill/>
            <a:miter lim="800000"/>
            <a:headEnd/>
            <a:tailEnd/>
          </a:ln>
        </p:spPr>
      </p:pic>
    </p:spTree>
    <p:extLst>
      <p:ext uri="{BB962C8B-B14F-4D97-AF65-F5344CB8AC3E}">
        <p14:creationId xmlns:p14="http://schemas.microsoft.com/office/powerpoint/2010/main" val="2020921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2123728" y="692696"/>
            <a:ext cx="5256584" cy="504056"/>
          </a:xfrm>
        </p:spPr>
        <p:txBody>
          <a:bodyPr>
            <a:noAutofit/>
          </a:bodyPr>
          <a:lstStyle/>
          <a:p>
            <a:r>
              <a:rPr lang="es-ES" sz="2800" b="1" dirty="0"/>
              <a:t>LIFTING FACIAL</a:t>
            </a:r>
            <a:endParaRPr lang="es-BO" sz="2800" b="1" dirty="0"/>
          </a:p>
        </p:txBody>
      </p:sp>
      <p:sp>
        <p:nvSpPr>
          <p:cNvPr id="3" name="2 Marcador de contenido"/>
          <p:cNvSpPr>
            <a:spLocks noGrp="1"/>
          </p:cNvSpPr>
          <p:nvPr>
            <p:ph idx="1"/>
          </p:nvPr>
        </p:nvSpPr>
        <p:spPr>
          <a:xfrm>
            <a:off x="827584" y="1124744"/>
            <a:ext cx="7488832" cy="5001419"/>
          </a:xfrm>
        </p:spPr>
        <p:txBody>
          <a:bodyPr>
            <a:normAutofit fontScale="92500" lnSpcReduction="10000"/>
          </a:bodyPr>
          <a:lstStyle/>
          <a:p>
            <a:pPr algn="just"/>
            <a:r>
              <a:rPr lang="es-ES" dirty="0"/>
              <a:t>El lifting se ha convertido en uno de los procedimientos de rejuvenecimiento facial más requeridos. </a:t>
            </a:r>
            <a:br>
              <a:rPr lang="es-ES" dirty="0"/>
            </a:br>
            <a:r>
              <a:rPr lang="es-ES" dirty="0"/>
              <a:t>Aunque hace un tiempo la cirugía estética o correctora daba un aspecto demasiado común, hoy en día un cirujano habilidoso puede proporcionar resultados hermosos y con un aspecto natural</a:t>
            </a:r>
            <a:r>
              <a:rPr lang="es-ES" dirty="0" smtClean="0"/>
              <a:t>.</a:t>
            </a:r>
          </a:p>
          <a:p>
            <a:pPr algn="just"/>
            <a:r>
              <a:rPr lang="es-ES" dirty="0" smtClean="0"/>
              <a:t> </a:t>
            </a:r>
            <a:r>
              <a:rPr lang="es-ES" dirty="0"/>
              <a:t/>
            </a:r>
            <a:br>
              <a:rPr lang="es-ES" dirty="0"/>
            </a:br>
            <a:r>
              <a:rPr lang="es-ES" dirty="0"/>
              <a:t>Con un cuidado meticuloso del estiramiento y de la recolocación del músculo y de la piel, además de esculpir y restituir la grasa facial, </a:t>
            </a:r>
            <a:endParaRPr lang="es-ES" dirty="0" smtClean="0"/>
          </a:p>
          <a:p>
            <a:pPr algn="just"/>
            <a:r>
              <a:rPr lang="es-ES" dirty="0" smtClean="0"/>
              <a:t>el lifting </a:t>
            </a:r>
            <a:r>
              <a:rPr lang="es-ES" dirty="0"/>
              <a:t>consigue un resultado natural </a:t>
            </a:r>
            <a:r>
              <a:rPr lang="es-ES" dirty="0" smtClean="0"/>
              <a:t>y </a:t>
            </a:r>
            <a:r>
              <a:rPr lang="es-ES" dirty="0"/>
              <a:t>un aspecto juvenil duradero. </a:t>
            </a:r>
            <a:br>
              <a:rPr lang="es-ES" dirty="0"/>
            </a:br>
            <a:r>
              <a:rPr lang="es-ES" dirty="0"/>
              <a:t>Muchos pacientes aparentan tener al menos 5 ò 10 anos menos, y lo mejor de todo es que, en lugar de «estirados», los pacientes de hoy en día parecen descansados y sanos. </a:t>
            </a:r>
            <a:endParaRPr lang="es-BO" dirty="0"/>
          </a:p>
        </p:txBody>
      </p:sp>
    </p:spTree>
    <p:extLst>
      <p:ext uri="{BB962C8B-B14F-4D97-AF65-F5344CB8AC3E}">
        <p14:creationId xmlns:p14="http://schemas.microsoft.com/office/powerpoint/2010/main" val="1826314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p:cTn id="31"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descr="http://www.doctorcandiabolivia.com/userfiles/image/lifting3.gif"/>
          <p:cNvPicPr>
            <a:picLocks noGrp="1"/>
          </p:cNvPicPr>
          <p:nvPr>
            <p:ph idx="1"/>
          </p:nvPr>
        </p:nvPicPr>
        <p:blipFill>
          <a:blip r:embed="rId2"/>
          <a:srcRect/>
          <a:stretch>
            <a:fillRect/>
          </a:stretch>
        </p:blipFill>
        <p:spPr bwMode="auto">
          <a:xfrm>
            <a:off x="611560" y="548680"/>
            <a:ext cx="1584176" cy="2088232"/>
          </a:xfrm>
          <a:prstGeom prst="rect">
            <a:avLst/>
          </a:prstGeom>
          <a:noFill/>
          <a:ln w="9525">
            <a:noFill/>
            <a:miter lim="800000"/>
            <a:headEnd/>
            <a:tailEnd/>
          </a:ln>
        </p:spPr>
      </p:pic>
      <p:pic>
        <p:nvPicPr>
          <p:cNvPr id="5" name="4 Imagen" descr="http://www.doctorcandiabolivia.com/userfiles/image/lifting4.gif"/>
          <p:cNvPicPr/>
          <p:nvPr/>
        </p:nvPicPr>
        <p:blipFill>
          <a:blip r:embed="rId3"/>
          <a:srcRect/>
          <a:stretch>
            <a:fillRect/>
          </a:stretch>
        </p:blipFill>
        <p:spPr bwMode="auto">
          <a:xfrm>
            <a:off x="2411760" y="548680"/>
            <a:ext cx="1728192" cy="2088232"/>
          </a:xfrm>
          <a:prstGeom prst="rect">
            <a:avLst/>
          </a:prstGeom>
          <a:noFill/>
          <a:ln w="9525">
            <a:noFill/>
            <a:miter lim="800000"/>
            <a:headEnd/>
            <a:tailEnd/>
          </a:ln>
        </p:spPr>
      </p:pic>
      <p:pic>
        <p:nvPicPr>
          <p:cNvPr id="6" name="5 Imagen" descr="http://www.doctorcandiabolivia.com/userfiles/image/lifting1.gif"/>
          <p:cNvPicPr/>
          <p:nvPr/>
        </p:nvPicPr>
        <p:blipFill>
          <a:blip r:embed="rId4"/>
          <a:srcRect/>
          <a:stretch>
            <a:fillRect/>
          </a:stretch>
        </p:blipFill>
        <p:spPr bwMode="auto">
          <a:xfrm>
            <a:off x="4427984" y="547302"/>
            <a:ext cx="1800200" cy="2017602"/>
          </a:xfrm>
          <a:prstGeom prst="rect">
            <a:avLst/>
          </a:prstGeom>
          <a:noFill/>
          <a:ln w="9525">
            <a:noFill/>
            <a:miter lim="800000"/>
            <a:headEnd/>
            <a:tailEnd/>
          </a:ln>
        </p:spPr>
      </p:pic>
      <p:pic>
        <p:nvPicPr>
          <p:cNvPr id="7" name="6 Imagen" descr="http://www.doctorcandiabolivia.com/userfiles/image/lifting2.gif"/>
          <p:cNvPicPr/>
          <p:nvPr/>
        </p:nvPicPr>
        <p:blipFill>
          <a:blip r:embed="rId5"/>
          <a:srcRect/>
          <a:stretch>
            <a:fillRect/>
          </a:stretch>
        </p:blipFill>
        <p:spPr bwMode="auto">
          <a:xfrm>
            <a:off x="6516216" y="558204"/>
            <a:ext cx="1656184" cy="2006699"/>
          </a:xfrm>
          <a:prstGeom prst="rect">
            <a:avLst/>
          </a:prstGeom>
          <a:noFill/>
          <a:ln w="9525">
            <a:noFill/>
            <a:miter lim="800000"/>
            <a:headEnd/>
            <a:tailEnd/>
          </a:ln>
        </p:spPr>
      </p:pic>
      <p:pic>
        <p:nvPicPr>
          <p:cNvPr id="8" name="7 Imagen" descr="http://i1.ytimg.com/vi/54vbEn8oIb4/default.jpg"/>
          <p:cNvPicPr/>
          <p:nvPr/>
        </p:nvPicPr>
        <p:blipFill>
          <a:blip r:embed="rId6"/>
          <a:srcRect/>
          <a:stretch>
            <a:fillRect/>
          </a:stretch>
        </p:blipFill>
        <p:spPr bwMode="auto">
          <a:xfrm>
            <a:off x="586011" y="3068960"/>
            <a:ext cx="2473821" cy="2880320"/>
          </a:xfrm>
          <a:prstGeom prst="rect">
            <a:avLst/>
          </a:prstGeom>
          <a:noFill/>
          <a:ln w="9525">
            <a:noFill/>
            <a:miter lim="800000"/>
            <a:headEnd/>
            <a:tailEnd/>
          </a:ln>
        </p:spPr>
      </p:pic>
      <p:pic>
        <p:nvPicPr>
          <p:cNvPr id="9" name="cms_img_2177_before" descr="Lifting facial: lifting MACS - antes"/>
          <p:cNvPicPr/>
          <p:nvPr/>
        </p:nvPicPr>
        <p:blipFill>
          <a:blip r:embed="rId7"/>
          <a:srcRect/>
          <a:stretch>
            <a:fillRect/>
          </a:stretch>
        </p:blipFill>
        <p:spPr bwMode="auto">
          <a:xfrm>
            <a:off x="3275856" y="3068960"/>
            <a:ext cx="2448272" cy="2880320"/>
          </a:xfrm>
          <a:prstGeom prst="rect">
            <a:avLst/>
          </a:prstGeom>
          <a:noFill/>
          <a:ln w="9525">
            <a:noFill/>
            <a:miter lim="800000"/>
            <a:headEnd/>
            <a:tailEnd/>
          </a:ln>
        </p:spPr>
      </p:pic>
      <p:pic>
        <p:nvPicPr>
          <p:cNvPr id="10" name="cms_img_2177_after" descr="Lifting facial: lifting MACS - después"/>
          <p:cNvPicPr/>
          <p:nvPr/>
        </p:nvPicPr>
        <p:blipFill>
          <a:blip r:embed="rId8"/>
          <a:srcRect/>
          <a:stretch>
            <a:fillRect/>
          </a:stretch>
        </p:blipFill>
        <p:spPr bwMode="auto">
          <a:xfrm>
            <a:off x="6156176" y="3068960"/>
            <a:ext cx="2448272" cy="2880320"/>
          </a:xfrm>
          <a:prstGeom prst="rect">
            <a:avLst/>
          </a:prstGeom>
          <a:noFill/>
          <a:ln w="9525">
            <a:noFill/>
            <a:miter lim="800000"/>
            <a:headEnd/>
            <a:tailEnd/>
          </a:ln>
        </p:spPr>
      </p:pic>
    </p:spTree>
    <p:extLst>
      <p:ext uri="{BB962C8B-B14F-4D97-AF65-F5344CB8AC3E}">
        <p14:creationId xmlns:p14="http://schemas.microsoft.com/office/powerpoint/2010/main" val="1381936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1000" fill="hold"/>
                                        <p:tgtEl>
                                          <p:spTgt spid="7"/>
                                        </p:tgtEl>
                                        <p:attrNameLst>
                                          <p:attrName>ppt_w</p:attrName>
                                        </p:attrNameLst>
                                      </p:cBhvr>
                                      <p:tavLst>
                                        <p:tav tm="0">
                                          <p:val>
                                            <p:fltVal val="0"/>
                                          </p:val>
                                        </p:tav>
                                        <p:tav tm="100000">
                                          <p:val>
                                            <p:strVal val="#ppt_w"/>
                                          </p:val>
                                        </p:tav>
                                      </p:tavLst>
                                    </p:anim>
                                    <p:anim calcmode="lin" valueType="num">
                                      <p:cBhvr>
                                        <p:cTn id="32" dur="1000" fill="hold"/>
                                        <p:tgtEl>
                                          <p:spTgt spid="7"/>
                                        </p:tgtEl>
                                        <p:attrNameLst>
                                          <p:attrName>ppt_h</p:attrName>
                                        </p:attrNameLst>
                                      </p:cBhvr>
                                      <p:tavLst>
                                        <p:tav tm="0">
                                          <p:val>
                                            <p:fltVal val="0"/>
                                          </p:val>
                                        </p:tav>
                                        <p:tav tm="100000">
                                          <p:val>
                                            <p:strVal val="#ppt_h"/>
                                          </p:val>
                                        </p:tav>
                                      </p:tavLst>
                                    </p:anim>
                                    <p:anim calcmode="lin" valueType="num">
                                      <p:cBhvr>
                                        <p:cTn id="33" dur="1000" fill="hold"/>
                                        <p:tgtEl>
                                          <p:spTgt spid="7"/>
                                        </p:tgtEl>
                                        <p:attrNameLst>
                                          <p:attrName>style.rotation</p:attrName>
                                        </p:attrNameLst>
                                      </p:cBhvr>
                                      <p:tavLst>
                                        <p:tav tm="0">
                                          <p:val>
                                            <p:fltVal val="90"/>
                                          </p:val>
                                        </p:tav>
                                        <p:tav tm="100000">
                                          <p:val>
                                            <p:fltVal val="0"/>
                                          </p:val>
                                        </p:tav>
                                      </p:tavLst>
                                    </p:anim>
                                    <p:animEffect transition="in" filter="fade">
                                      <p:cBhvr>
                                        <p:cTn id="34" dur="10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1000" fill="hold"/>
                                        <p:tgtEl>
                                          <p:spTgt spid="8"/>
                                        </p:tgtEl>
                                        <p:attrNameLst>
                                          <p:attrName>ppt_w</p:attrName>
                                        </p:attrNameLst>
                                      </p:cBhvr>
                                      <p:tavLst>
                                        <p:tav tm="0">
                                          <p:val>
                                            <p:fltVal val="0"/>
                                          </p:val>
                                        </p:tav>
                                        <p:tav tm="100000">
                                          <p:val>
                                            <p:strVal val="#ppt_w"/>
                                          </p:val>
                                        </p:tav>
                                      </p:tavLst>
                                    </p:anim>
                                    <p:anim calcmode="lin" valueType="num">
                                      <p:cBhvr>
                                        <p:cTn id="40" dur="1000" fill="hold"/>
                                        <p:tgtEl>
                                          <p:spTgt spid="8"/>
                                        </p:tgtEl>
                                        <p:attrNameLst>
                                          <p:attrName>ppt_h</p:attrName>
                                        </p:attrNameLst>
                                      </p:cBhvr>
                                      <p:tavLst>
                                        <p:tav tm="0">
                                          <p:val>
                                            <p:fltVal val="0"/>
                                          </p:val>
                                        </p:tav>
                                        <p:tav tm="100000">
                                          <p:val>
                                            <p:strVal val="#ppt_h"/>
                                          </p:val>
                                        </p:tav>
                                      </p:tavLst>
                                    </p:anim>
                                    <p:anim calcmode="lin" valueType="num">
                                      <p:cBhvr>
                                        <p:cTn id="41" dur="1000" fill="hold"/>
                                        <p:tgtEl>
                                          <p:spTgt spid="8"/>
                                        </p:tgtEl>
                                        <p:attrNameLst>
                                          <p:attrName>style.rotation</p:attrName>
                                        </p:attrNameLst>
                                      </p:cBhvr>
                                      <p:tavLst>
                                        <p:tav tm="0">
                                          <p:val>
                                            <p:fltVal val="90"/>
                                          </p:val>
                                        </p:tav>
                                        <p:tav tm="100000">
                                          <p:val>
                                            <p:fltVal val="0"/>
                                          </p:val>
                                        </p:tav>
                                      </p:tavLst>
                                    </p:anim>
                                    <p:animEffect transition="in" filter="fade">
                                      <p:cBhvr>
                                        <p:cTn id="42" dur="1000"/>
                                        <p:tgtEl>
                                          <p:spTgt spid="8"/>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p:cTn id="47" dur="1000" fill="hold"/>
                                        <p:tgtEl>
                                          <p:spTgt spid="9"/>
                                        </p:tgtEl>
                                        <p:attrNameLst>
                                          <p:attrName>ppt_w</p:attrName>
                                        </p:attrNameLst>
                                      </p:cBhvr>
                                      <p:tavLst>
                                        <p:tav tm="0">
                                          <p:val>
                                            <p:fltVal val="0"/>
                                          </p:val>
                                        </p:tav>
                                        <p:tav tm="100000">
                                          <p:val>
                                            <p:strVal val="#ppt_w"/>
                                          </p:val>
                                        </p:tav>
                                      </p:tavLst>
                                    </p:anim>
                                    <p:anim calcmode="lin" valueType="num">
                                      <p:cBhvr>
                                        <p:cTn id="48" dur="1000" fill="hold"/>
                                        <p:tgtEl>
                                          <p:spTgt spid="9"/>
                                        </p:tgtEl>
                                        <p:attrNameLst>
                                          <p:attrName>ppt_h</p:attrName>
                                        </p:attrNameLst>
                                      </p:cBhvr>
                                      <p:tavLst>
                                        <p:tav tm="0">
                                          <p:val>
                                            <p:fltVal val="0"/>
                                          </p:val>
                                        </p:tav>
                                        <p:tav tm="100000">
                                          <p:val>
                                            <p:strVal val="#ppt_h"/>
                                          </p:val>
                                        </p:tav>
                                      </p:tavLst>
                                    </p:anim>
                                    <p:anim calcmode="lin" valueType="num">
                                      <p:cBhvr>
                                        <p:cTn id="49" dur="1000" fill="hold"/>
                                        <p:tgtEl>
                                          <p:spTgt spid="9"/>
                                        </p:tgtEl>
                                        <p:attrNameLst>
                                          <p:attrName>style.rotation</p:attrName>
                                        </p:attrNameLst>
                                      </p:cBhvr>
                                      <p:tavLst>
                                        <p:tav tm="0">
                                          <p:val>
                                            <p:fltVal val="90"/>
                                          </p:val>
                                        </p:tav>
                                        <p:tav tm="100000">
                                          <p:val>
                                            <p:fltVal val="0"/>
                                          </p:val>
                                        </p:tav>
                                      </p:tavLst>
                                    </p:anim>
                                    <p:animEffect transition="in" filter="fade">
                                      <p:cBhvr>
                                        <p:cTn id="50" dur="10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p:cTn id="55" dur="1000" fill="hold"/>
                                        <p:tgtEl>
                                          <p:spTgt spid="10"/>
                                        </p:tgtEl>
                                        <p:attrNameLst>
                                          <p:attrName>ppt_w</p:attrName>
                                        </p:attrNameLst>
                                      </p:cBhvr>
                                      <p:tavLst>
                                        <p:tav tm="0">
                                          <p:val>
                                            <p:fltVal val="0"/>
                                          </p:val>
                                        </p:tav>
                                        <p:tav tm="100000">
                                          <p:val>
                                            <p:strVal val="#ppt_w"/>
                                          </p:val>
                                        </p:tav>
                                      </p:tavLst>
                                    </p:anim>
                                    <p:anim calcmode="lin" valueType="num">
                                      <p:cBhvr>
                                        <p:cTn id="56" dur="1000" fill="hold"/>
                                        <p:tgtEl>
                                          <p:spTgt spid="10"/>
                                        </p:tgtEl>
                                        <p:attrNameLst>
                                          <p:attrName>ppt_h</p:attrName>
                                        </p:attrNameLst>
                                      </p:cBhvr>
                                      <p:tavLst>
                                        <p:tav tm="0">
                                          <p:val>
                                            <p:fltVal val="0"/>
                                          </p:val>
                                        </p:tav>
                                        <p:tav tm="100000">
                                          <p:val>
                                            <p:strVal val="#ppt_h"/>
                                          </p:val>
                                        </p:tav>
                                      </p:tavLst>
                                    </p:anim>
                                    <p:anim calcmode="lin" valueType="num">
                                      <p:cBhvr>
                                        <p:cTn id="57" dur="1000" fill="hold"/>
                                        <p:tgtEl>
                                          <p:spTgt spid="10"/>
                                        </p:tgtEl>
                                        <p:attrNameLst>
                                          <p:attrName>style.rotation</p:attrName>
                                        </p:attrNameLst>
                                      </p:cBhvr>
                                      <p:tavLst>
                                        <p:tav tm="0">
                                          <p:val>
                                            <p:fltVal val="90"/>
                                          </p:val>
                                        </p:tav>
                                        <p:tav tm="100000">
                                          <p:val>
                                            <p:fltVal val="0"/>
                                          </p:val>
                                        </p:tav>
                                      </p:tavLst>
                                    </p:anim>
                                    <p:animEffect transition="in" filter="fade">
                                      <p:cBhvr>
                                        <p:cTn id="58"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475656" y="764704"/>
            <a:ext cx="6624736" cy="720080"/>
          </a:xfrm>
        </p:spPr>
        <p:txBody>
          <a:bodyPr>
            <a:normAutofit fontScale="90000"/>
          </a:bodyPr>
          <a:lstStyle/>
          <a:p>
            <a:r>
              <a:rPr lang="es-ES" sz="3100" b="1" dirty="0" smtClean="0"/>
              <a:t/>
            </a:r>
            <a:br>
              <a:rPr lang="es-ES" sz="3100" b="1" dirty="0" smtClean="0"/>
            </a:br>
            <a:r>
              <a:rPr lang="es-ES" sz="2200" b="1" dirty="0" smtClean="0"/>
              <a:t>BLEFAROPLASTIA CIRUGÍA DE PÁRPADOS</a:t>
            </a:r>
            <a:r>
              <a:rPr lang="es-BO" sz="2200" b="1" dirty="0" smtClean="0"/>
              <a:t/>
            </a:r>
            <a:br>
              <a:rPr lang="es-BO" sz="2200" b="1" dirty="0" smtClean="0"/>
            </a:br>
            <a:endParaRPr lang="es-BO" sz="2200" dirty="0"/>
          </a:p>
        </p:txBody>
      </p:sp>
      <p:sp>
        <p:nvSpPr>
          <p:cNvPr id="3" name="2 Marcador de contenido"/>
          <p:cNvSpPr>
            <a:spLocks noGrp="1"/>
          </p:cNvSpPr>
          <p:nvPr>
            <p:ph idx="1"/>
          </p:nvPr>
        </p:nvSpPr>
        <p:spPr>
          <a:xfrm>
            <a:off x="827584" y="1556792"/>
            <a:ext cx="7488832" cy="4569371"/>
          </a:xfrm>
        </p:spPr>
        <p:txBody>
          <a:bodyPr/>
          <a:lstStyle/>
          <a:p>
            <a:pPr algn="just"/>
            <a:r>
              <a:rPr lang="es-ES" dirty="0"/>
              <a:t>Más que cualquier otra parte de su cuerpo, los ojos tienen un tremendo impacto sobre su aspecto general. Por desgracia, suele ser el primer sitio donde aparecen los signos de envejecimiento. </a:t>
            </a:r>
            <a:endParaRPr lang="es-ES" dirty="0" smtClean="0"/>
          </a:p>
          <a:p>
            <a:pPr algn="just"/>
            <a:r>
              <a:rPr lang="es-ES" dirty="0" smtClean="0"/>
              <a:t>Esto </a:t>
            </a:r>
            <a:r>
              <a:rPr lang="es-ES" dirty="0"/>
              <a:t>es porque la piel que rodea los ojos es la mitad de gruesa que el resto de la cara. También posee menos glándulas, estructura interna más débil y realiza más </a:t>
            </a:r>
            <a:r>
              <a:rPr lang="es-ES" dirty="0" smtClean="0"/>
              <a:t>ejercicio que la boca.</a:t>
            </a:r>
            <a:endParaRPr lang="es-BO" dirty="0"/>
          </a:p>
        </p:txBody>
      </p:sp>
    </p:spTree>
    <p:extLst>
      <p:ext uri="{BB962C8B-B14F-4D97-AF65-F5344CB8AC3E}">
        <p14:creationId xmlns:p14="http://schemas.microsoft.com/office/powerpoint/2010/main" val="91952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descr="http://www.doctorcandiabolivia.com/userfiles/image/blefaro1.gif"/>
          <p:cNvPicPr>
            <a:picLocks noGrp="1"/>
          </p:cNvPicPr>
          <p:nvPr>
            <p:ph idx="1"/>
          </p:nvPr>
        </p:nvPicPr>
        <p:blipFill>
          <a:blip r:embed="rId2"/>
          <a:srcRect/>
          <a:stretch>
            <a:fillRect/>
          </a:stretch>
        </p:blipFill>
        <p:spPr bwMode="auto">
          <a:xfrm>
            <a:off x="882640" y="548680"/>
            <a:ext cx="2321208" cy="2952328"/>
          </a:xfrm>
          <a:prstGeom prst="rect">
            <a:avLst/>
          </a:prstGeom>
          <a:noFill/>
          <a:ln w="9525">
            <a:noFill/>
            <a:miter lim="800000"/>
            <a:headEnd/>
            <a:tailEnd/>
          </a:ln>
        </p:spPr>
      </p:pic>
      <p:pic>
        <p:nvPicPr>
          <p:cNvPr id="5" name="4 Imagen" descr="http://www.doctorcandiabolivia.com/userfiles/image/blefaro4.gif"/>
          <p:cNvPicPr/>
          <p:nvPr/>
        </p:nvPicPr>
        <p:blipFill>
          <a:blip r:embed="rId3"/>
          <a:srcRect/>
          <a:stretch>
            <a:fillRect/>
          </a:stretch>
        </p:blipFill>
        <p:spPr bwMode="auto">
          <a:xfrm>
            <a:off x="3203848" y="548680"/>
            <a:ext cx="2880320" cy="3024336"/>
          </a:xfrm>
          <a:prstGeom prst="rect">
            <a:avLst/>
          </a:prstGeom>
          <a:noFill/>
          <a:ln w="9525">
            <a:noFill/>
            <a:miter lim="800000"/>
            <a:headEnd/>
            <a:tailEnd/>
          </a:ln>
        </p:spPr>
      </p:pic>
      <p:pic>
        <p:nvPicPr>
          <p:cNvPr id="6" name="5 Imagen" descr="http://www.doctorcandiabolivia.com/userfiles/image/blefaro6.gif"/>
          <p:cNvPicPr/>
          <p:nvPr/>
        </p:nvPicPr>
        <p:blipFill>
          <a:blip r:embed="rId4"/>
          <a:srcRect/>
          <a:stretch>
            <a:fillRect/>
          </a:stretch>
        </p:blipFill>
        <p:spPr bwMode="auto">
          <a:xfrm>
            <a:off x="6058814" y="548679"/>
            <a:ext cx="2329610" cy="3024335"/>
          </a:xfrm>
          <a:prstGeom prst="rect">
            <a:avLst/>
          </a:prstGeom>
          <a:noFill/>
          <a:ln w="9525">
            <a:noFill/>
            <a:miter lim="800000"/>
            <a:headEnd/>
            <a:tailEnd/>
          </a:ln>
        </p:spPr>
      </p:pic>
    </p:spTree>
    <p:extLst>
      <p:ext uri="{BB962C8B-B14F-4D97-AF65-F5344CB8AC3E}">
        <p14:creationId xmlns:p14="http://schemas.microsoft.com/office/powerpoint/2010/main" val="4142768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box-image" descr="http://www.clinicaplanas.com/files/0001/planas1212b127y128ytty775737219/web.system/assets/images/content/antes_despues/blefaroplastia_cirugia_parpados_1.jpg"/>
          <p:cNvPicPr>
            <a:picLocks noGrp="1"/>
          </p:cNvPicPr>
          <p:nvPr>
            <p:ph idx="1"/>
          </p:nvPr>
        </p:nvPicPr>
        <p:blipFill>
          <a:blip r:embed="rId2"/>
          <a:srcRect/>
          <a:stretch>
            <a:fillRect/>
          </a:stretch>
        </p:blipFill>
        <p:spPr bwMode="auto">
          <a:xfrm>
            <a:off x="1115616" y="1052736"/>
            <a:ext cx="6264696" cy="4896543"/>
          </a:xfrm>
          <a:prstGeom prst="rect">
            <a:avLst/>
          </a:prstGeom>
          <a:noFill/>
          <a:ln w="9525">
            <a:noFill/>
            <a:miter lim="800000"/>
            <a:headEnd/>
            <a:tailEnd/>
          </a:ln>
        </p:spPr>
      </p:pic>
    </p:spTree>
    <p:extLst>
      <p:ext uri="{BB962C8B-B14F-4D97-AF65-F5344CB8AC3E}">
        <p14:creationId xmlns:p14="http://schemas.microsoft.com/office/powerpoint/2010/main" val="1279805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71600" y="620688"/>
            <a:ext cx="7128792" cy="792088"/>
          </a:xfrm>
        </p:spPr>
        <p:txBody>
          <a:bodyPr>
            <a:normAutofit fontScale="90000"/>
          </a:bodyPr>
          <a:lstStyle/>
          <a:p>
            <a:r>
              <a:rPr lang="es-ES" sz="2800" b="1" dirty="0" smtClean="0"/>
              <a:t/>
            </a:r>
            <a:br>
              <a:rPr lang="es-ES" sz="2800" b="1" dirty="0" smtClean="0"/>
            </a:br>
            <a:r>
              <a:rPr lang="es-ES" sz="2700" b="1" dirty="0" smtClean="0"/>
              <a:t>RINOPLASTIA CIRUGÍA DE NARIZ</a:t>
            </a:r>
            <a:r>
              <a:rPr lang="es-BO" sz="2700" b="1" dirty="0" smtClean="0"/>
              <a:t/>
            </a:r>
            <a:br>
              <a:rPr lang="es-BO" sz="2700" b="1" dirty="0" smtClean="0"/>
            </a:br>
            <a:endParaRPr lang="es-BO" sz="2700" dirty="0"/>
          </a:p>
        </p:txBody>
      </p:sp>
      <p:sp>
        <p:nvSpPr>
          <p:cNvPr id="3" name="2 Marcador de contenido"/>
          <p:cNvSpPr>
            <a:spLocks noGrp="1"/>
          </p:cNvSpPr>
          <p:nvPr>
            <p:ph idx="1"/>
          </p:nvPr>
        </p:nvSpPr>
        <p:spPr>
          <a:xfrm>
            <a:off x="827584" y="1340768"/>
            <a:ext cx="7560840" cy="4785395"/>
          </a:xfrm>
        </p:spPr>
        <p:txBody>
          <a:bodyPr>
            <a:normAutofit/>
          </a:bodyPr>
          <a:lstStyle/>
          <a:p>
            <a:pPr algn="just"/>
            <a:r>
              <a:rPr lang="es-ES" dirty="0"/>
              <a:t>La rinoplastia o cirugía de nariz es la remodelación de la nariz. Esta puede realizarse para mejorar el aspecto de una nariz aparentemente normal, o para reconstruir una nariz dañada. También se practica para solucionar problemas respiratorios nasales. </a:t>
            </a:r>
            <a:endParaRPr lang="es-ES" dirty="0" smtClean="0"/>
          </a:p>
          <a:p>
            <a:pPr algn="just"/>
            <a:r>
              <a:rPr lang="es-ES" dirty="0" smtClean="0"/>
              <a:t>Cuando </a:t>
            </a:r>
            <a:r>
              <a:rPr lang="es-ES" dirty="0"/>
              <a:t>se practica una rinoplastia tanto para mejoras respiratorias como para el aspecto de la nariz, la intervención se denomina septo-rinoplastia. </a:t>
            </a:r>
            <a:endParaRPr lang="es-ES" dirty="0" smtClean="0"/>
          </a:p>
          <a:p>
            <a:pPr algn="just"/>
            <a:r>
              <a:rPr lang="es-ES" dirty="0" smtClean="0"/>
              <a:t>La </a:t>
            </a:r>
            <a:r>
              <a:rPr lang="es-ES" dirty="0"/>
              <a:t>remodelación puede dividirse en dos aspectos: cuando se cambia solo la apariencia de la punta de la nariz (cirugía de </a:t>
            </a:r>
            <a:r>
              <a:rPr lang="es-ES" dirty="0" err="1"/>
              <a:t>de</a:t>
            </a:r>
            <a:r>
              <a:rPr lang="es-ES" dirty="0"/>
              <a:t> la punta nasal) o cuando se remodela la parte ósea (rinoplastia).</a:t>
            </a:r>
            <a:endParaRPr lang="es-BO" dirty="0"/>
          </a:p>
        </p:txBody>
      </p:sp>
    </p:spTree>
    <p:extLst>
      <p:ext uri="{BB962C8B-B14F-4D97-AF65-F5344CB8AC3E}">
        <p14:creationId xmlns:p14="http://schemas.microsoft.com/office/powerpoint/2010/main" val="3790030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 calcmode="lin" valueType="num">
                                      <p:cBhvr>
                                        <p:cTn id="15"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 calcmode="lin" valueType="num">
                                      <p:cBhvr>
                                        <p:cTn id="23"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sz="2800" b="1" dirty="0"/>
              <a:t>A quien le beneficia una rinoplastia?</a:t>
            </a:r>
            <a:endParaRPr lang="es-BO" sz="2800" dirty="0"/>
          </a:p>
        </p:txBody>
      </p:sp>
      <p:sp>
        <p:nvSpPr>
          <p:cNvPr id="3" name="2 Marcador de contenido"/>
          <p:cNvSpPr>
            <a:spLocks noGrp="1"/>
          </p:cNvSpPr>
          <p:nvPr>
            <p:ph idx="1"/>
          </p:nvPr>
        </p:nvSpPr>
        <p:spPr>
          <a:xfrm>
            <a:off x="827584" y="692696"/>
            <a:ext cx="7488832" cy="5544616"/>
          </a:xfrm>
        </p:spPr>
        <p:txBody>
          <a:bodyPr>
            <a:normAutofit/>
          </a:bodyPr>
          <a:lstStyle/>
          <a:p>
            <a:pPr marL="0" indent="0" algn="just">
              <a:buNone/>
            </a:pPr>
            <a:endParaRPr lang="es-ES" dirty="0" smtClean="0"/>
          </a:p>
          <a:p>
            <a:pPr marL="0" indent="0" algn="just">
              <a:buNone/>
            </a:pPr>
            <a:endParaRPr lang="es-ES" dirty="0" smtClean="0"/>
          </a:p>
          <a:p>
            <a:pPr algn="just"/>
            <a:r>
              <a:rPr lang="es-ES" dirty="0" smtClean="0"/>
              <a:t>Si </a:t>
            </a:r>
            <a:r>
              <a:rPr lang="es-ES" dirty="0"/>
              <a:t>se ha roto la nariz o ésta ha cambiado de </a:t>
            </a:r>
            <a:r>
              <a:rPr lang="es-ES" dirty="0" smtClean="0"/>
              <a:t>aspecto </a:t>
            </a:r>
            <a:r>
              <a:rPr lang="es-ES" dirty="0"/>
              <a:t>tras un accidente, las aseguradoras probablemente contribuyan a pagar al menos una parte de los gastos para restablecer el aspecto normal de su nariz</a:t>
            </a:r>
            <a:r>
              <a:rPr lang="es-ES" dirty="0" smtClean="0"/>
              <a:t>.</a:t>
            </a:r>
          </a:p>
          <a:p>
            <a:pPr algn="just"/>
            <a:r>
              <a:rPr lang="es-ES" dirty="0" smtClean="0"/>
              <a:t>Si </a:t>
            </a:r>
            <a:r>
              <a:rPr lang="es-ES" dirty="0"/>
              <a:t>padece problemas respiratorios que puedan corregirse estirando la piel de la mejilla cerca de la nariz, una rinoplastia con injerto de cartílago mejorará su respiración</a:t>
            </a:r>
            <a:r>
              <a:rPr lang="es-ES" dirty="0" smtClean="0"/>
              <a:t>.</a:t>
            </a:r>
          </a:p>
          <a:p>
            <a:pPr algn="just"/>
            <a:r>
              <a:rPr lang="es-ES" dirty="0" smtClean="0"/>
              <a:t>Los </a:t>
            </a:r>
            <a:r>
              <a:rPr lang="es-ES" dirty="0"/>
              <a:t>problemas respiratorios después de un accidente o la imposibilidad de respirar </a:t>
            </a:r>
            <a:r>
              <a:rPr lang="es-ES" dirty="0" smtClean="0"/>
              <a:t>por </a:t>
            </a:r>
            <a:r>
              <a:rPr lang="es-ES" dirty="0"/>
              <a:t>una de las fosas nasales, se corrige la mayoría de las veces con una septoplastia</a:t>
            </a:r>
            <a:endParaRPr lang="es-BO" dirty="0"/>
          </a:p>
        </p:txBody>
      </p:sp>
    </p:spTree>
    <p:extLst>
      <p:ext uri="{BB962C8B-B14F-4D97-AF65-F5344CB8AC3E}">
        <p14:creationId xmlns:p14="http://schemas.microsoft.com/office/powerpoint/2010/main" val="3296409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p:cTn id="7"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8"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9"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10" dur="10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p:cTn id="15"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p:cTn id="23"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box-image" descr="http://www.clinicaplanas.com/files/0001/planas1212b127y128ytty775737219/web.system/assets/images/content/antes_despues/rinoplastia_antes_y_despues_1_sonia.jpg"/>
          <p:cNvPicPr>
            <a:picLocks noGrp="1"/>
          </p:cNvPicPr>
          <p:nvPr>
            <p:ph idx="1"/>
          </p:nvPr>
        </p:nvPicPr>
        <p:blipFill>
          <a:blip r:embed="rId2"/>
          <a:srcRect/>
          <a:stretch>
            <a:fillRect/>
          </a:stretch>
        </p:blipFill>
        <p:spPr bwMode="auto">
          <a:xfrm>
            <a:off x="971599" y="764704"/>
            <a:ext cx="7344817" cy="4525963"/>
          </a:xfrm>
          <a:prstGeom prst="rect">
            <a:avLst/>
          </a:prstGeom>
          <a:noFill/>
          <a:ln w="9525">
            <a:noFill/>
            <a:miter lim="800000"/>
            <a:headEnd/>
            <a:tailEnd/>
          </a:ln>
        </p:spPr>
      </p:pic>
    </p:spTree>
    <p:extLst>
      <p:ext uri="{BB962C8B-B14F-4D97-AF65-F5344CB8AC3E}">
        <p14:creationId xmlns:p14="http://schemas.microsoft.com/office/powerpoint/2010/main" val="2714506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71600" y="620688"/>
            <a:ext cx="7056784" cy="792088"/>
          </a:xfrm>
        </p:spPr>
        <p:txBody>
          <a:bodyPr>
            <a:normAutofit/>
          </a:bodyPr>
          <a:lstStyle/>
          <a:p>
            <a:r>
              <a:rPr lang="es-ES" sz="2800" b="1" dirty="0" smtClean="0"/>
              <a:t>Mamoplastia</a:t>
            </a:r>
            <a:endParaRPr lang="es-BO" sz="3200" b="1" dirty="0"/>
          </a:p>
        </p:txBody>
      </p:sp>
      <p:sp>
        <p:nvSpPr>
          <p:cNvPr id="3" name="2 Marcador de contenido"/>
          <p:cNvSpPr>
            <a:spLocks noGrp="1"/>
          </p:cNvSpPr>
          <p:nvPr>
            <p:ph idx="1"/>
          </p:nvPr>
        </p:nvSpPr>
        <p:spPr>
          <a:xfrm>
            <a:off x="827584" y="1556792"/>
            <a:ext cx="7560840" cy="4569371"/>
          </a:xfrm>
        </p:spPr>
        <p:txBody>
          <a:bodyPr>
            <a:noAutofit/>
          </a:bodyPr>
          <a:lstStyle/>
          <a:p>
            <a:pPr marL="0" indent="0" algn="just">
              <a:buNone/>
            </a:pPr>
            <a:r>
              <a:rPr lang="es-ES" sz="1600" dirty="0" smtClean="0"/>
              <a:t>Existen </a:t>
            </a:r>
            <a:r>
              <a:rPr lang="es-ES" sz="1600" dirty="0"/>
              <a:t>cuatro categorías generales de </a:t>
            </a:r>
            <a:r>
              <a:rPr lang="es-ES" sz="1600" dirty="0" err="1"/>
              <a:t>mamoplastia</a:t>
            </a:r>
            <a:r>
              <a:rPr lang="es-ES" sz="1600" dirty="0"/>
              <a:t> (operación estética) practicadas en el pecho: </a:t>
            </a:r>
            <a:endParaRPr lang="es-ES" sz="1600" dirty="0" smtClean="0"/>
          </a:p>
          <a:p>
            <a:pPr marL="457200" indent="-457200" algn="just">
              <a:buFont typeface="+mj-lt"/>
              <a:buAutoNum type="arabicPeriod"/>
            </a:pPr>
            <a:r>
              <a:rPr lang="es-ES" sz="1600" b="1" dirty="0" smtClean="0"/>
              <a:t>Aumento, </a:t>
            </a:r>
          </a:p>
          <a:p>
            <a:pPr marL="457200" indent="-457200" algn="just">
              <a:buFont typeface="+mj-lt"/>
              <a:buAutoNum type="arabicPeriod"/>
            </a:pPr>
            <a:r>
              <a:rPr lang="es-ES" sz="1600" b="1" dirty="0" smtClean="0"/>
              <a:t>Estiramiento</a:t>
            </a:r>
          </a:p>
          <a:p>
            <a:pPr marL="457200" indent="-457200" algn="just">
              <a:buFont typeface="+mj-lt"/>
              <a:buAutoNum type="arabicPeriod"/>
            </a:pPr>
            <a:r>
              <a:rPr lang="es-ES" sz="1600" b="1" dirty="0" smtClean="0"/>
              <a:t> Reducción </a:t>
            </a:r>
          </a:p>
          <a:p>
            <a:pPr marL="457200" indent="-457200" algn="just">
              <a:buFont typeface="+mj-lt"/>
              <a:buAutoNum type="arabicPeriod"/>
            </a:pPr>
            <a:r>
              <a:rPr lang="es-ES" sz="1600" b="1" dirty="0" smtClean="0"/>
              <a:t> Reconstrucción.</a:t>
            </a:r>
            <a:endParaRPr lang="es-BO" sz="1600" b="1" dirty="0"/>
          </a:p>
          <a:p>
            <a:pPr algn="just"/>
            <a:r>
              <a:rPr lang="es-ES" sz="1600" b="1" dirty="0" smtClean="0"/>
              <a:t>MASTOPEXIA: </a:t>
            </a:r>
            <a:r>
              <a:rPr lang="es-ES" sz="1600" dirty="0" smtClean="0"/>
              <a:t>elevación de mamas</a:t>
            </a:r>
            <a:r>
              <a:rPr lang="es-ES" sz="1600" dirty="0"/>
              <a:t/>
            </a:r>
            <a:br>
              <a:rPr lang="es-ES" sz="1600" dirty="0"/>
            </a:br>
            <a:endParaRPr lang="es-BO" sz="1600" dirty="0"/>
          </a:p>
          <a:p>
            <a:pPr algn="just"/>
            <a:r>
              <a:rPr lang="es-ES" sz="1600" dirty="0" smtClean="0"/>
              <a:t>El lifting de los pechos se practica para remodelar y estirar los pechos que caen con el paso del tiempo</a:t>
            </a:r>
          </a:p>
          <a:p>
            <a:pPr algn="just"/>
            <a:r>
              <a:rPr lang="es-ES" sz="1600" dirty="0" smtClean="0"/>
              <a:t>Existen muchas razones que explican la caída de los pechos: </a:t>
            </a:r>
          </a:p>
          <a:p>
            <a:pPr algn="just"/>
            <a:r>
              <a:rPr lang="es-ES" sz="1600" dirty="0"/>
              <a:t>L</a:t>
            </a:r>
            <a:r>
              <a:rPr lang="es-ES" sz="1600" dirty="0" smtClean="0"/>
              <a:t>a edad, </a:t>
            </a:r>
          </a:p>
          <a:p>
            <a:pPr algn="just"/>
            <a:r>
              <a:rPr lang="es-ES" sz="1600" dirty="0" smtClean="0"/>
              <a:t>Amamantar</a:t>
            </a:r>
          </a:p>
          <a:p>
            <a:pPr algn="just"/>
            <a:r>
              <a:rPr lang="es-ES" sz="1600" dirty="0"/>
              <a:t>P</a:t>
            </a:r>
            <a:r>
              <a:rPr lang="es-ES" sz="1600" dirty="0" smtClean="0"/>
              <a:t>érdida de peso</a:t>
            </a:r>
          </a:p>
          <a:p>
            <a:pPr algn="just"/>
            <a:r>
              <a:rPr lang="es-ES" sz="1600" dirty="0"/>
              <a:t>C</a:t>
            </a:r>
            <a:r>
              <a:rPr lang="es-ES" sz="1600" dirty="0" smtClean="0"/>
              <a:t>ambios hormonales y genéticas</a:t>
            </a:r>
          </a:p>
          <a:p>
            <a:pPr algn="just"/>
            <a:r>
              <a:rPr lang="es-ES" sz="1600" dirty="0" smtClean="0"/>
              <a:t>Las condiciones generales de la piel son los principales factores</a:t>
            </a:r>
          </a:p>
          <a:p>
            <a:pPr algn="just"/>
            <a:endParaRPr lang="es-BO" sz="1600" dirty="0" smtClean="0"/>
          </a:p>
          <a:p>
            <a:pPr marL="0" indent="0">
              <a:buNone/>
            </a:pPr>
            <a:r>
              <a:rPr lang="es-ES" sz="1600" dirty="0" smtClean="0"/>
              <a:t/>
            </a:r>
            <a:br>
              <a:rPr lang="es-ES" sz="1600" dirty="0" smtClean="0"/>
            </a:br>
            <a:r>
              <a:rPr lang="es-ES" sz="1600" dirty="0"/>
              <a:t/>
            </a:r>
            <a:br>
              <a:rPr lang="es-ES" sz="1600" dirty="0"/>
            </a:br>
            <a:endParaRPr lang="es-BO" sz="1600" dirty="0"/>
          </a:p>
        </p:txBody>
      </p:sp>
    </p:spTree>
    <p:extLst>
      <p:ext uri="{BB962C8B-B14F-4D97-AF65-F5344CB8AC3E}">
        <p14:creationId xmlns:p14="http://schemas.microsoft.com/office/powerpoint/2010/main" val="1289812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p:cTn id="23"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4" end="4"/>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p:cTn id="31"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childTnLst>
                                    <p:set>
                                      <p:cBhvr>
                                        <p:cTn id="38" dur="1" fill="hold">
                                          <p:stCondLst>
                                            <p:cond delay="0"/>
                                          </p:stCondLst>
                                        </p:cTn>
                                        <p:tgtEl>
                                          <p:spTgt spid="3">
                                            <p:txEl>
                                              <p:pRg st="2" end="2"/>
                                            </p:txEl>
                                          </p:spTgt>
                                        </p:tgtEl>
                                        <p:attrNameLst>
                                          <p:attrName>style.visibility</p:attrName>
                                        </p:attrNameLst>
                                      </p:cBhvr>
                                      <p:to>
                                        <p:strVal val="visible"/>
                                      </p:to>
                                    </p:set>
                                    <p:anim calcmode="lin" valueType="num">
                                      <p:cBhvr>
                                        <p:cTn id="39"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40"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41"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42" dur="1000"/>
                                        <p:tgtEl>
                                          <p:spTgt spid="3">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nodeType="clickEffect">
                                  <p:stCondLst>
                                    <p:cond delay="0"/>
                                  </p:stCondLst>
                                  <p:childTnLst>
                                    <p:set>
                                      <p:cBhvr>
                                        <p:cTn id="46" dur="1" fill="hold">
                                          <p:stCondLst>
                                            <p:cond delay="0"/>
                                          </p:stCondLst>
                                        </p:cTn>
                                        <p:tgtEl>
                                          <p:spTgt spid="3">
                                            <p:txEl>
                                              <p:pRg st="3" end="3"/>
                                            </p:txEl>
                                          </p:spTgt>
                                        </p:tgtEl>
                                        <p:attrNameLst>
                                          <p:attrName>style.visibility</p:attrName>
                                        </p:attrNameLst>
                                      </p:cBhvr>
                                      <p:to>
                                        <p:strVal val="visible"/>
                                      </p:to>
                                    </p:set>
                                    <p:anim calcmode="lin" valueType="num">
                                      <p:cBhvr>
                                        <p:cTn id="47"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48"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49"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50" dur="1000"/>
                                        <p:tgtEl>
                                          <p:spTgt spid="3">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nodeType="click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anim calcmode="lin" valueType="num">
                                      <p:cBhvr>
                                        <p:cTn id="55"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56"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57"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58" dur="1000"/>
                                        <p:tgtEl>
                                          <p:spTgt spid="3">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nodeType="clickEffect">
                                  <p:stCondLst>
                                    <p:cond delay="0"/>
                                  </p:stCondLst>
                                  <p:childTnLst>
                                    <p:set>
                                      <p:cBhvr>
                                        <p:cTn id="62" dur="1" fill="hold">
                                          <p:stCondLst>
                                            <p:cond delay="0"/>
                                          </p:stCondLst>
                                        </p:cTn>
                                        <p:tgtEl>
                                          <p:spTgt spid="3">
                                            <p:txEl>
                                              <p:pRg st="6" end="6"/>
                                            </p:txEl>
                                          </p:spTgt>
                                        </p:tgtEl>
                                        <p:attrNameLst>
                                          <p:attrName>style.visibility</p:attrName>
                                        </p:attrNameLst>
                                      </p:cBhvr>
                                      <p:to>
                                        <p:strVal val="visible"/>
                                      </p:to>
                                    </p:set>
                                    <p:anim calcmode="lin" valueType="num">
                                      <p:cBhvr>
                                        <p:cTn id="63" dur="1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64" dur="1000" fill="hold"/>
                                        <p:tgtEl>
                                          <p:spTgt spid="3">
                                            <p:txEl>
                                              <p:pRg st="6" end="6"/>
                                            </p:txEl>
                                          </p:spTgt>
                                        </p:tgtEl>
                                        <p:attrNameLst>
                                          <p:attrName>ppt_h</p:attrName>
                                        </p:attrNameLst>
                                      </p:cBhvr>
                                      <p:tavLst>
                                        <p:tav tm="0">
                                          <p:val>
                                            <p:fltVal val="0"/>
                                          </p:val>
                                        </p:tav>
                                        <p:tav tm="100000">
                                          <p:val>
                                            <p:strVal val="#ppt_h"/>
                                          </p:val>
                                        </p:tav>
                                      </p:tavLst>
                                    </p:anim>
                                    <p:anim calcmode="lin" valueType="num">
                                      <p:cBhvr>
                                        <p:cTn id="65" dur="1000" fill="hold"/>
                                        <p:tgtEl>
                                          <p:spTgt spid="3">
                                            <p:txEl>
                                              <p:pRg st="6" end="6"/>
                                            </p:txEl>
                                          </p:spTgt>
                                        </p:tgtEl>
                                        <p:attrNameLst>
                                          <p:attrName>style.rotation</p:attrName>
                                        </p:attrNameLst>
                                      </p:cBhvr>
                                      <p:tavLst>
                                        <p:tav tm="0">
                                          <p:val>
                                            <p:fltVal val="90"/>
                                          </p:val>
                                        </p:tav>
                                        <p:tav tm="100000">
                                          <p:val>
                                            <p:fltVal val="0"/>
                                          </p:val>
                                        </p:tav>
                                      </p:tavLst>
                                    </p:anim>
                                    <p:animEffect transition="in" filter="fade">
                                      <p:cBhvr>
                                        <p:cTn id="66" dur="1000"/>
                                        <p:tgtEl>
                                          <p:spTgt spid="3">
                                            <p:txEl>
                                              <p:pRg st="6" end="6"/>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31" presetClass="entr" presetSubtype="0" fill="hold" nodeType="clickEffect">
                                  <p:stCondLst>
                                    <p:cond delay="0"/>
                                  </p:stCondLst>
                                  <p:childTnLst>
                                    <p:set>
                                      <p:cBhvr>
                                        <p:cTn id="70" dur="1" fill="hold">
                                          <p:stCondLst>
                                            <p:cond delay="0"/>
                                          </p:stCondLst>
                                        </p:cTn>
                                        <p:tgtEl>
                                          <p:spTgt spid="3">
                                            <p:txEl>
                                              <p:pRg st="7" end="7"/>
                                            </p:txEl>
                                          </p:spTgt>
                                        </p:tgtEl>
                                        <p:attrNameLst>
                                          <p:attrName>style.visibility</p:attrName>
                                        </p:attrNameLst>
                                      </p:cBhvr>
                                      <p:to>
                                        <p:strVal val="visible"/>
                                      </p:to>
                                    </p:set>
                                    <p:anim calcmode="lin" valueType="num">
                                      <p:cBhvr>
                                        <p:cTn id="71" dur="1000" fill="hold"/>
                                        <p:tgtEl>
                                          <p:spTgt spid="3">
                                            <p:txEl>
                                              <p:pRg st="7" end="7"/>
                                            </p:txEl>
                                          </p:spTgt>
                                        </p:tgtEl>
                                        <p:attrNameLst>
                                          <p:attrName>ppt_w</p:attrName>
                                        </p:attrNameLst>
                                      </p:cBhvr>
                                      <p:tavLst>
                                        <p:tav tm="0">
                                          <p:val>
                                            <p:fltVal val="0"/>
                                          </p:val>
                                        </p:tav>
                                        <p:tav tm="100000">
                                          <p:val>
                                            <p:strVal val="#ppt_w"/>
                                          </p:val>
                                        </p:tav>
                                      </p:tavLst>
                                    </p:anim>
                                    <p:anim calcmode="lin" valueType="num">
                                      <p:cBhvr>
                                        <p:cTn id="72" dur="1000" fill="hold"/>
                                        <p:tgtEl>
                                          <p:spTgt spid="3">
                                            <p:txEl>
                                              <p:pRg st="7" end="7"/>
                                            </p:txEl>
                                          </p:spTgt>
                                        </p:tgtEl>
                                        <p:attrNameLst>
                                          <p:attrName>ppt_h</p:attrName>
                                        </p:attrNameLst>
                                      </p:cBhvr>
                                      <p:tavLst>
                                        <p:tav tm="0">
                                          <p:val>
                                            <p:fltVal val="0"/>
                                          </p:val>
                                        </p:tav>
                                        <p:tav tm="100000">
                                          <p:val>
                                            <p:strVal val="#ppt_h"/>
                                          </p:val>
                                        </p:tav>
                                      </p:tavLst>
                                    </p:anim>
                                    <p:anim calcmode="lin" valueType="num">
                                      <p:cBhvr>
                                        <p:cTn id="73" dur="1000" fill="hold"/>
                                        <p:tgtEl>
                                          <p:spTgt spid="3">
                                            <p:txEl>
                                              <p:pRg st="7" end="7"/>
                                            </p:txEl>
                                          </p:spTgt>
                                        </p:tgtEl>
                                        <p:attrNameLst>
                                          <p:attrName>style.rotation</p:attrName>
                                        </p:attrNameLst>
                                      </p:cBhvr>
                                      <p:tavLst>
                                        <p:tav tm="0">
                                          <p:val>
                                            <p:fltVal val="90"/>
                                          </p:val>
                                        </p:tav>
                                        <p:tav tm="100000">
                                          <p:val>
                                            <p:fltVal val="0"/>
                                          </p:val>
                                        </p:tav>
                                      </p:tavLst>
                                    </p:anim>
                                    <p:animEffect transition="in" filter="fade">
                                      <p:cBhvr>
                                        <p:cTn id="74" dur="1000"/>
                                        <p:tgtEl>
                                          <p:spTgt spid="3">
                                            <p:txEl>
                                              <p:pRg st="7" end="7"/>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31" presetClass="entr" presetSubtype="0" fill="hold" nodeType="clickEffect">
                                  <p:stCondLst>
                                    <p:cond delay="0"/>
                                  </p:stCondLst>
                                  <p:childTnLst>
                                    <p:set>
                                      <p:cBhvr>
                                        <p:cTn id="78" dur="1" fill="hold">
                                          <p:stCondLst>
                                            <p:cond delay="0"/>
                                          </p:stCondLst>
                                        </p:cTn>
                                        <p:tgtEl>
                                          <p:spTgt spid="3">
                                            <p:txEl>
                                              <p:pRg st="8" end="8"/>
                                            </p:txEl>
                                          </p:spTgt>
                                        </p:tgtEl>
                                        <p:attrNameLst>
                                          <p:attrName>style.visibility</p:attrName>
                                        </p:attrNameLst>
                                      </p:cBhvr>
                                      <p:to>
                                        <p:strVal val="visible"/>
                                      </p:to>
                                    </p:set>
                                    <p:anim calcmode="lin" valueType="num">
                                      <p:cBhvr>
                                        <p:cTn id="79" dur="1000" fill="hold"/>
                                        <p:tgtEl>
                                          <p:spTgt spid="3">
                                            <p:txEl>
                                              <p:pRg st="8" end="8"/>
                                            </p:txEl>
                                          </p:spTgt>
                                        </p:tgtEl>
                                        <p:attrNameLst>
                                          <p:attrName>ppt_w</p:attrName>
                                        </p:attrNameLst>
                                      </p:cBhvr>
                                      <p:tavLst>
                                        <p:tav tm="0">
                                          <p:val>
                                            <p:fltVal val="0"/>
                                          </p:val>
                                        </p:tav>
                                        <p:tav tm="100000">
                                          <p:val>
                                            <p:strVal val="#ppt_w"/>
                                          </p:val>
                                        </p:tav>
                                      </p:tavLst>
                                    </p:anim>
                                    <p:anim calcmode="lin" valueType="num">
                                      <p:cBhvr>
                                        <p:cTn id="80" dur="1000" fill="hold"/>
                                        <p:tgtEl>
                                          <p:spTgt spid="3">
                                            <p:txEl>
                                              <p:pRg st="8" end="8"/>
                                            </p:txEl>
                                          </p:spTgt>
                                        </p:tgtEl>
                                        <p:attrNameLst>
                                          <p:attrName>ppt_h</p:attrName>
                                        </p:attrNameLst>
                                      </p:cBhvr>
                                      <p:tavLst>
                                        <p:tav tm="0">
                                          <p:val>
                                            <p:fltVal val="0"/>
                                          </p:val>
                                        </p:tav>
                                        <p:tav tm="100000">
                                          <p:val>
                                            <p:strVal val="#ppt_h"/>
                                          </p:val>
                                        </p:tav>
                                      </p:tavLst>
                                    </p:anim>
                                    <p:anim calcmode="lin" valueType="num">
                                      <p:cBhvr>
                                        <p:cTn id="81" dur="1000" fill="hold"/>
                                        <p:tgtEl>
                                          <p:spTgt spid="3">
                                            <p:txEl>
                                              <p:pRg st="8" end="8"/>
                                            </p:txEl>
                                          </p:spTgt>
                                        </p:tgtEl>
                                        <p:attrNameLst>
                                          <p:attrName>style.rotation</p:attrName>
                                        </p:attrNameLst>
                                      </p:cBhvr>
                                      <p:tavLst>
                                        <p:tav tm="0">
                                          <p:val>
                                            <p:fltVal val="90"/>
                                          </p:val>
                                        </p:tav>
                                        <p:tav tm="100000">
                                          <p:val>
                                            <p:fltVal val="0"/>
                                          </p:val>
                                        </p:tav>
                                      </p:tavLst>
                                    </p:anim>
                                    <p:animEffect transition="in" filter="fade">
                                      <p:cBhvr>
                                        <p:cTn id="82" dur="1000"/>
                                        <p:tgtEl>
                                          <p:spTgt spid="3">
                                            <p:txEl>
                                              <p:pRg st="8" end="8"/>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31" presetClass="entr" presetSubtype="0" fill="hold" nodeType="clickEffect">
                                  <p:stCondLst>
                                    <p:cond delay="0"/>
                                  </p:stCondLst>
                                  <p:childTnLst>
                                    <p:set>
                                      <p:cBhvr>
                                        <p:cTn id="86" dur="1" fill="hold">
                                          <p:stCondLst>
                                            <p:cond delay="0"/>
                                          </p:stCondLst>
                                        </p:cTn>
                                        <p:tgtEl>
                                          <p:spTgt spid="3">
                                            <p:txEl>
                                              <p:pRg st="9" end="9"/>
                                            </p:txEl>
                                          </p:spTgt>
                                        </p:tgtEl>
                                        <p:attrNameLst>
                                          <p:attrName>style.visibility</p:attrName>
                                        </p:attrNameLst>
                                      </p:cBhvr>
                                      <p:to>
                                        <p:strVal val="visible"/>
                                      </p:to>
                                    </p:set>
                                    <p:anim calcmode="lin" valueType="num">
                                      <p:cBhvr>
                                        <p:cTn id="87" dur="1000" fill="hold"/>
                                        <p:tgtEl>
                                          <p:spTgt spid="3">
                                            <p:txEl>
                                              <p:pRg st="9" end="9"/>
                                            </p:txEl>
                                          </p:spTgt>
                                        </p:tgtEl>
                                        <p:attrNameLst>
                                          <p:attrName>ppt_w</p:attrName>
                                        </p:attrNameLst>
                                      </p:cBhvr>
                                      <p:tavLst>
                                        <p:tav tm="0">
                                          <p:val>
                                            <p:fltVal val="0"/>
                                          </p:val>
                                        </p:tav>
                                        <p:tav tm="100000">
                                          <p:val>
                                            <p:strVal val="#ppt_w"/>
                                          </p:val>
                                        </p:tav>
                                      </p:tavLst>
                                    </p:anim>
                                    <p:anim calcmode="lin" valueType="num">
                                      <p:cBhvr>
                                        <p:cTn id="88" dur="1000" fill="hold"/>
                                        <p:tgtEl>
                                          <p:spTgt spid="3">
                                            <p:txEl>
                                              <p:pRg st="9" end="9"/>
                                            </p:txEl>
                                          </p:spTgt>
                                        </p:tgtEl>
                                        <p:attrNameLst>
                                          <p:attrName>ppt_h</p:attrName>
                                        </p:attrNameLst>
                                      </p:cBhvr>
                                      <p:tavLst>
                                        <p:tav tm="0">
                                          <p:val>
                                            <p:fltVal val="0"/>
                                          </p:val>
                                        </p:tav>
                                        <p:tav tm="100000">
                                          <p:val>
                                            <p:strVal val="#ppt_h"/>
                                          </p:val>
                                        </p:tav>
                                      </p:tavLst>
                                    </p:anim>
                                    <p:anim calcmode="lin" valueType="num">
                                      <p:cBhvr>
                                        <p:cTn id="89" dur="1000" fill="hold"/>
                                        <p:tgtEl>
                                          <p:spTgt spid="3">
                                            <p:txEl>
                                              <p:pRg st="9" end="9"/>
                                            </p:txEl>
                                          </p:spTgt>
                                        </p:tgtEl>
                                        <p:attrNameLst>
                                          <p:attrName>style.rotation</p:attrName>
                                        </p:attrNameLst>
                                      </p:cBhvr>
                                      <p:tavLst>
                                        <p:tav tm="0">
                                          <p:val>
                                            <p:fltVal val="90"/>
                                          </p:val>
                                        </p:tav>
                                        <p:tav tm="100000">
                                          <p:val>
                                            <p:fltVal val="0"/>
                                          </p:val>
                                        </p:tav>
                                      </p:tavLst>
                                    </p:anim>
                                    <p:animEffect transition="in" filter="fade">
                                      <p:cBhvr>
                                        <p:cTn id="90" dur="1000"/>
                                        <p:tgtEl>
                                          <p:spTgt spid="3">
                                            <p:txEl>
                                              <p:pRg st="9" end="9"/>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1" presetClass="entr" presetSubtype="0" fill="hold" nodeType="clickEffect">
                                  <p:stCondLst>
                                    <p:cond delay="0"/>
                                  </p:stCondLst>
                                  <p:childTnLst>
                                    <p:set>
                                      <p:cBhvr>
                                        <p:cTn id="94" dur="1" fill="hold">
                                          <p:stCondLst>
                                            <p:cond delay="0"/>
                                          </p:stCondLst>
                                        </p:cTn>
                                        <p:tgtEl>
                                          <p:spTgt spid="3">
                                            <p:txEl>
                                              <p:pRg st="10" end="10"/>
                                            </p:txEl>
                                          </p:spTgt>
                                        </p:tgtEl>
                                        <p:attrNameLst>
                                          <p:attrName>style.visibility</p:attrName>
                                        </p:attrNameLst>
                                      </p:cBhvr>
                                      <p:to>
                                        <p:strVal val="visible"/>
                                      </p:to>
                                    </p:set>
                                    <p:anim calcmode="lin" valueType="num">
                                      <p:cBhvr>
                                        <p:cTn id="95" dur="10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96" dur="1000" fill="hold"/>
                                        <p:tgtEl>
                                          <p:spTgt spid="3">
                                            <p:txEl>
                                              <p:pRg st="10" end="10"/>
                                            </p:txEl>
                                          </p:spTgt>
                                        </p:tgtEl>
                                        <p:attrNameLst>
                                          <p:attrName>ppt_h</p:attrName>
                                        </p:attrNameLst>
                                      </p:cBhvr>
                                      <p:tavLst>
                                        <p:tav tm="0">
                                          <p:val>
                                            <p:fltVal val="0"/>
                                          </p:val>
                                        </p:tav>
                                        <p:tav tm="100000">
                                          <p:val>
                                            <p:strVal val="#ppt_h"/>
                                          </p:val>
                                        </p:tav>
                                      </p:tavLst>
                                    </p:anim>
                                    <p:anim calcmode="lin" valueType="num">
                                      <p:cBhvr>
                                        <p:cTn id="97" dur="1000" fill="hold"/>
                                        <p:tgtEl>
                                          <p:spTgt spid="3">
                                            <p:txEl>
                                              <p:pRg st="10" end="10"/>
                                            </p:txEl>
                                          </p:spTgt>
                                        </p:tgtEl>
                                        <p:attrNameLst>
                                          <p:attrName>style.rotation</p:attrName>
                                        </p:attrNameLst>
                                      </p:cBhvr>
                                      <p:tavLst>
                                        <p:tav tm="0">
                                          <p:val>
                                            <p:fltVal val="90"/>
                                          </p:val>
                                        </p:tav>
                                        <p:tav tm="100000">
                                          <p:val>
                                            <p:fltVal val="0"/>
                                          </p:val>
                                        </p:tav>
                                      </p:tavLst>
                                    </p:anim>
                                    <p:animEffect transition="in" filter="fade">
                                      <p:cBhvr>
                                        <p:cTn id="98" dur="1000"/>
                                        <p:tgtEl>
                                          <p:spTgt spid="3">
                                            <p:txEl>
                                              <p:pRg st="10" end="10"/>
                                            </p:txEl>
                                          </p:spTgt>
                                        </p:tgtEl>
                                      </p:cBhvr>
                                    </p:animEffect>
                                  </p:childTnLst>
                                </p:cTn>
                              </p:par>
                            </p:childTnLst>
                          </p:cTn>
                        </p:par>
                      </p:childTnLst>
                    </p:cTn>
                  </p:par>
                  <p:par>
                    <p:cTn id="99" fill="hold">
                      <p:stCondLst>
                        <p:cond delay="indefinite"/>
                      </p:stCondLst>
                      <p:childTnLst>
                        <p:par>
                          <p:cTn id="100" fill="hold">
                            <p:stCondLst>
                              <p:cond delay="0"/>
                            </p:stCondLst>
                            <p:childTnLst>
                              <p:par>
                                <p:cTn id="101" presetID="31" presetClass="entr" presetSubtype="0" fill="hold" nodeType="clickEffect">
                                  <p:stCondLst>
                                    <p:cond delay="0"/>
                                  </p:stCondLst>
                                  <p:childTnLst>
                                    <p:set>
                                      <p:cBhvr>
                                        <p:cTn id="102" dur="1" fill="hold">
                                          <p:stCondLst>
                                            <p:cond delay="0"/>
                                          </p:stCondLst>
                                        </p:cTn>
                                        <p:tgtEl>
                                          <p:spTgt spid="3">
                                            <p:txEl>
                                              <p:pRg st="11" end="11"/>
                                            </p:txEl>
                                          </p:spTgt>
                                        </p:tgtEl>
                                        <p:attrNameLst>
                                          <p:attrName>style.visibility</p:attrName>
                                        </p:attrNameLst>
                                      </p:cBhvr>
                                      <p:to>
                                        <p:strVal val="visible"/>
                                      </p:to>
                                    </p:set>
                                    <p:anim calcmode="lin" valueType="num">
                                      <p:cBhvr>
                                        <p:cTn id="103" dur="1000" fill="hold"/>
                                        <p:tgtEl>
                                          <p:spTgt spid="3">
                                            <p:txEl>
                                              <p:pRg st="11" end="11"/>
                                            </p:txEl>
                                          </p:spTgt>
                                        </p:tgtEl>
                                        <p:attrNameLst>
                                          <p:attrName>ppt_w</p:attrName>
                                        </p:attrNameLst>
                                      </p:cBhvr>
                                      <p:tavLst>
                                        <p:tav tm="0">
                                          <p:val>
                                            <p:fltVal val="0"/>
                                          </p:val>
                                        </p:tav>
                                        <p:tav tm="100000">
                                          <p:val>
                                            <p:strVal val="#ppt_w"/>
                                          </p:val>
                                        </p:tav>
                                      </p:tavLst>
                                    </p:anim>
                                    <p:anim calcmode="lin" valueType="num">
                                      <p:cBhvr>
                                        <p:cTn id="104" dur="1000" fill="hold"/>
                                        <p:tgtEl>
                                          <p:spTgt spid="3">
                                            <p:txEl>
                                              <p:pRg st="11" end="11"/>
                                            </p:txEl>
                                          </p:spTgt>
                                        </p:tgtEl>
                                        <p:attrNameLst>
                                          <p:attrName>ppt_h</p:attrName>
                                        </p:attrNameLst>
                                      </p:cBhvr>
                                      <p:tavLst>
                                        <p:tav tm="0">
                                          <p:val>
                                            <p:fltVal val="0"/>
                                          </p:val>
                                        </p:tav>
                                        <p:tav tm="100000">
                                          <p:val>
                                            <p:strVal val="#ppt_h"/>
                                          </p:val>
                                        </p:tav>
                                      </p:tavLst>
                                    </p:anim>
                                    <p:anim calcmode="lin" valueType="num">
                                      <p:cBhvr>
                                        <p:cTn id="105" dur="1000" fill="hold"/>
                                        <p:tgtEl>
                                          <p:spTgt spid="3">
                                            <p:txEl>
                                              <p:pRg st="11" end="11"/>
                                            </p:txEl>
                                          </p:spTgt>
                                        </p:tgtEl>
                                        <p:attrNameLst>
                                          <p:attrName>style.rotation</p:attrName>
                                        </p:attrNameLst>
                                      </p:cBhvr>
                                      <p:tavLst>
                                        <p:tav tm="0">
                                          <p:val>
                                            <p:fltVal val="90"/>
                                          </p:val>
                                        </p:tav>
                                        <p:tav tm="100000">
                                          <p:val>
                                            <p:fltVal val="0"/>
                                          </p:val>
                                        </p:tav>
                                      </p:tavLst>
                                    </p:anim>
                                    <p:animEffect transition="in" filter="fade">
                                      <p:cBhvr>
                                        <p:cTn id="106" dur="1000"/>
                                        <p:tgtEl>
                                          <p:spTgt spid="3">
                                            <p:txEl>
                                              <p:pRg st="11" end="11"/>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31" presetClass="entr" presetSubtype="0" fill="hold" nodeType="clickEffect">
                                  <p:stCondLst>
                                    <p:cond delay="0"/>
                                  </p:stCondLst>
                                  <p:childTnLst>
                                    <p:set>
                                      <p:cBhvr>
                                        <p:cTn id="110" dur="1" fill="hold">
                                          <p:stCondLst>
                                            <p:cond delay="0"/>
                                          </p:stCondLst>
                                        </p:cTn>
                                        <p:tgtEl>
                                          <p:spTgt spid="3">
                                            <p:txEl>
                                              <p:pRg st="12" end="12"/>
                                            </p:txEl>
                                          </p:spTgt>
                                        </p:tgtEl>
                                        <p:attrNameLst>
                                          <p:attrName>style.visibility</p:attrName>
                                        </p:attrNameLst>
                                      </p:cBhvr>
                                      <p:to>
                                        <p:strVal val="visible"/>
                                      </p:to>
                                    </p:set>
                                    <p:anim calcmode="lin" valueType="num">
                                      <p:cBhvr>
                                        <p:cTn id="111" dur="1000" fill="hold"/>
                                        <p:tgtEl>
                                          <p:spTgt spid="3">
                                            <p:txEl>
                                              <p:pRg st="12" end="12"/>
                                            </p:txEl>
                                          </p:spTgt>
                                        </p:tgtEl>
                                        <p:attrNameLst>
                                          <p:attrName>ppt_w</p:attrName>
                                        </p:attrNameLst>
                                      </p:cBhvr>
                                      <p:tavLst>
                                        <p:tav tm="0">
                                          <p:val>
                                            <p:fltVal val="0"/>
                                          </p:val>
                                        </p:tav>
                                        <p:tav tm="100000">
                                          <p:val>
                                            <p:strVal val="#ppt_w"/>
                                          </p:val>
                                        </p:tav>
                                      </p:tavLst>
                                    </p:anim>
                                    <p:anim calcmode="lin" valueType="num">
                                      <p:cBhvr>
                                        <p:cTn id="112" dur="1000" fill="hold"/>
                                        <p:tgtEl>
                                          <p:spTgt spid="3">
                                            <p:txEl>
                                              <p:pRg st="12" end="12"/>
                                            </p:txEl>
                                          </p:spTgt>
                                        </p:tgtEl>
                                        <p:attrNameLst>
                                          <p:attrName>ppt_h</p:attrName>
                                        </p:attrNameLst>
                                      </p:cBhvr>
                                      <p:tavLst>
                                        <p:tav tm="0">
                                          <p:val>
                                            <p:fltVal val="0"/>
                                          </p:val>
                                        </p:tav>
                                        <p:tav tm="100000">
                                          <p:val>
                                            <p:strVal val="#ppt_h"/>
                                          </p:val>
                                        </p:tav>
                                      </p:tavLst>
                                    </p:anim>
                                    <p:anim calcmode="lin" valueType="num">
                                      <p:cBhvr>
                                        <p:cTn id="113" dur="1000" fill="hold"/>
                                        <p:tgtEl>
                                          <p:spTgt spid="3">
                                            <p:txEl>
                                              <p:pRg st="12" end="12"/>
                                            </p:txEl>
                                          </p:spTgt>
                                        </p:tgtEl>
                                        <p:attrNameLst>
                                          <p:attrName>style.rotation</p:attrName>
                                        </p:attrNameLst>
                                      </p:cBhvr>
                                      <p:tavLst>
                                        <p:tav tm="0">
                                          <p:val>
                                            <p:fltVal val="90"/>
                                          </p:val>
                                        </p:tav>
                                        <p:tav tm="100000">
                                          <p:val>
                                            <p:fltVal val="0"/>
                                          </p:val>
                                        </p:tav>
                                      </p:tavLst>
                                    </p:anim>
                                    <p:animEffect transition="in" filter="fade">
                                      <p:cBhvr>
                                        <p:cTn id="114" dur="10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descr="http://www.doctorcandiabolivia.com/userfiles/image/redu2.jpg"/>
          <p:cNvPicPr>
            <a:picLocks noGrp="1"/>
          </p:cNvPicPr>
          <p:nvPr>
            <p:ph idx="1"/>
          </p:nvPr>
        </p:nvPicPr>
        <p:blipFill>
          <a:blip r:embed="rId2"/>
          <a:srcRect/>
          <a:stretch>
            <a:fillRect/>
          </a:stretch>
        </p:blipFill>
        <p:spPr bwMode="auto">
          <a:xfrm>
            <a:off x="1475656" y="1063622"/>
            <a:ext cx="3168352" cy="3589514"/>
          </a:xfrm>
          <a:prstGeom prst="rect">
            <a:avLst/>
          </a:prstGeom>
          <a:noFill/>
          <a:ln w="9525">
            <a:noFill/>
            <a:miter lim="800000"/>
            <a:headEnd/>
            <a:tailEnd/>
          </a:ln>
        </p:spPr>
      </p:pic>
      <p:pic>
        <p:nvPicPr>
          <p:cNvPr id="5" name="4 Imagen" descr="http://www.doctorcandiabolivia.com/userfiles/image/redu4.jpg"/>
          <p:cNvPicPr/>
          <p:nvPr/>
        </p:nvPicPr>
        <p:blipFill>
          <a:blip r:embed="rId3"/>
          <a:srcRect/>
          <a:stretch>
            <a:fillRect/>
          </a:stretch>
        </p:blipFill>
        <p:spPr bwMode="auto">
          <a:xfrm>
            <a:off x="5359829" y="1063622"/>
            <a:ext cx="2592288" cy="3517506"/>
          </a:xfrm>
          <a:prstGeom prst="rect">
            <a:avLst/>
          </a:prstGeom>
          <a:noFill/>
          <a:ln w="9525">
            <a:noFill/>
            <a:miter lim="800000"/>
            <a:headEnd/>
            <a:tailEnd/>
          </a:ln>
        </p:spPr>
      </p:pic>
    </p:spTree>
    <p:extLst>
      <p:ext uri="{BB962C8B-B14F-4D97-AF65-F5344CB8AC3E}">
        <p14:creationId xmlns:p14="http://schemas.microsoft.com/office/powerpoint/2010/main" val="3081016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descr="http://www.doctorcandiabolivia.com/userfiles/image/prot4.gif"/>
          <p:cNvPicPr>
            <a:picLocks noGrp="1"/>
          </p:cNvPicPr>
          <p:nvPr>
            <p:ph idx="1"/>
          </p:nvPr>
        </p:nvPicPr>
        <p:blipFill>
          <a:blip r:embed="rId2"/>
          <a:srcRect/>
          <a:stretch>
            <a:fillRect/>
          </a:stretch>
        </p:blipFill>
        <p:spPr bwMode="auto">
          <a:xfrm>
            <a:off x="1619672" y="980728"/>
            <a:ext cx="5040560" cy="4320480"/>
          </a:xfrm>
          <a:prstGeom prst="rect">
            <a:avLst/>
          </a:prstGeom>
          <a:noFill/>
          <a:ln w="9525">
            <a:noFill/>
            <a:miter lim="800000"/>
            <a:headEnd/>
            <a:tailEnd/>
          </a:ln>
        </p:spPr>
      </p:pic>
      <p:sp>
        <p:nvSpPr>
          <p:cNvPr id="5" name="4 Rectángulo"/>
          <p:cNvSpPr/>
          <p:nvPr/>
        </p:nvSpPr>
        <p:spPr>
          <a:xfrm>
            <a:off x="1979712" y="5445224"/>
            <a:ext cx="1124026" cy="307777"/>
          </a:xfrm>
          <a:prstGeom prst="rect">
            <a:avLst/>
          </a:prstGeom>
        </p:spPr>
        <p:txBody>
          <a:bodyPr wrap="none">
            <a:spAutoFit/>
          </a:bodyPr>
          <a:lstStyle/>
          <a:p>
            <a:r>
              <a:rPr lang="es-ES" sz="1400" dirty="0" err="1"/>
              <a:t>Submuscular</a:t>
            </a:r>
            <a:endParaRPr lang="es-BO" sz="1400" dirty="0"/>
          </a:p>
        </p:txBody>
      </p:sp>
      <p:sp>
        <p:nvSpPr>
          <p:cNvPr id="6" name="5 Rectángulo"/>
          <p:cNvSpPr/>
          <p:nvPr/>
        </p:nvSpPr>
        <p:spPr>
          <a:xfrm>
            <a:off x="4860032" y="5445223"/>
            <a:ext cx="1224136" cy="307777"/>
          </a:xfrm>
          <a:prstGeom prst="rect">
            <a:avLst/>
          </a:prstGeom>
        </p:spPr>
        <p:txBody>
          <a:bodyPr wrap="square">
            <a:spAutoFit/>
          </a:bodyPr>
          <a:lstStyle/>
          <a:p>
            <a:r>
              <a:rPr lang="es-ES" sz="1400" dirty="0"/>
              <a:t>Subglandular</a:t>
            </a:r>
            <a:endParaRPr lang="es-BO" sz="1400" dirty="0"/>
          </a:p>
        </p:txBody>
      </p:sp>
    </p:spTree>
    <p:extLst>
      <p:ext uri="{BB962C8B-B14F-4D97-AF65-F5344CB8AC3E}">
        <p14:creationId xmlns:p14="http://schemas.microsoft.com/office/powerpoint/2010/main" val="465477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899592" y="836712"/>
            <a:ext cx="7416824" cy="720080"/>
          </a:xfrm>
        </p:spPr>
        <p:txBody>
          <a:bodyPr>
            <a:noAutofit/>
          </a:bodyPr>
          <a:lstStyle/>
          <a:p>
            <a:r>
              <a:rPr lang="es-BO" sz="2000" b="1" dirty="0" smtClean="0"/>
              <a:t>FISIOPATOLOGÍA DE LA PARED DEL ABDOMEN Y LA REGIÓN INGUINOCRURAL</a:t>
            </a:r>
            <a:r>
              <a:rPr lang="es-BO" sz="2000" dirty="0" smtClean="0"/>
              <a:t/>
            </a:r>
            <a:br>
              <a:rPr lang="es-BO" sz="2000" dirty="0" smtClean="0"/>
            </a:br>
            <a:endParaRPr lang="es-BO" sz="2000" dirty="0"/>
          </a:p>
        </p:txBody>
      </p:sp>
      <p:sp>
        <p:nvSpPr>
          <p:cNvPr id="7" name="6 Marcador de contenido"/>
          <p:cNvSpPr>
            <a:spLocks noGrp="1"/>
          </p:cNvSpPr>
          <p:nvPr>
            <p:ph idx="1"/>
          </p:nvPr>
        </p:nvSpPr>
        <p:spPr>
          <a:xfrm>
            <a:off x="1115616" y="1412776"/>
            <a:ext cx="6984776" cy="4310293"/>
          </a:xfrm>
        </p:spPr>
        <p:txBody>
          <a:bodyPr>
            <a:normAutofit/>
          </a:bodyPr>
          <a:lstStyle/>
          <a:p>
            <a:r>
              <a:rPr lang="es-BO" dirty="0"/>
              <a:t>L</a:t>
            </a:r>
            <a:r>
              <a:rPr lang="es-BO" dirty="0" smtClean="0"/>
              <a:t>a principal función de la pared del abdomen es contener y proteger las viseras que se encuentran en dicha cavidad</a:t>
            </a:r>
            <a:br>
              <a:rPr lang="es-BO" dirty="0" smtClean="0"/>
            </a:br>
            <a:r>
              <a:rPr lang="es-BO" dirty="0" smtClean="0"/>
              <a:t>desde el punto de vista fisiológico:</a:t>
            </a:r>
          </a:p>
          <a:p>
            <a:r>
              <a:rPr lang="es-BO" dirty="0" smtClean="0"/>
              <a:t>La porción superior </a:t>
            </a:r>
            <a:r>
              <a:rPr lang="es-BO" dirty="0" err="1" smtClean="0"/>
              <a:t>supraumbilical</a:t>
            </a:r>
            <a:r>
              <a:rPr lang="es-BO" dirty="0"/>
              <a:t> </a:t>
            </a:r>
            <a:r>
              <a:rPr lang="es-BO" dirty="0" smtClean="0"/>
              <a:t>es móvil conocido como la zona respiratoria de esta cavidad, en la cual repercutan los procesos patológicos digestivos y respiratorios.</a:t>
            </a:r>
          </a:p>
          <a:p>
            <a:r>
              <a:rPr lang="es-BO" dirty="0" smtClean="0"/>
              <a:t>La porción inferior es bien fija y fuerte, es la llama zona intestinal o zona de soporte intestinal y contiene la viseras del intestino </a:t>
            </a:r>
            <a:endParaRPr lang="es-BO" dirty="0"/>
          </a:p>
        </p:txBody>
      </p:sp>
    </p:spTree>
    <p:extLst>
      <p:ext uri="{BB962C8B-B14F-4D97-AF65-F5344CB8AC3E}">
        <p14:creationId xmlns:p14="http://schemas.microsoft.com/office/powerpoint/2010/main" val="219106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anim calcmode="lin" valueType="num">
                                      <p:cBhvr>
                                        <p:cTn id="15" dur="1000" fill="hold"/>
                                        <p:tgtEl>
                                          <p:spTgt spid="7">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7">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7">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7">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7">
                                            <p:txEl>
                                              <p:pRg st="1" end="1"/>
                                            </p:txEl>
                                          </p:spTgt>
                                        </p:tgtEl>
                                        <p:attrNameLst>
                                          <p:attrName>style.visibility</p:attrName>
                                        </p:attrNameLst>
                                      </p:cBhvr>
                                      <p:to>
                                        <p:strVal val="visible"/>
                                      </p:to>
                                    </p:set>
                                    <p:anim calcmode="lin" valueType="num">
                                      <p:cBhvr>
                                        <p:cTn id="23" dur="1000" fill="hold"/>
                                        <p:tgtEl>
                                          <p:spTgt spid="7">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7">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7">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7">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7">
                                            <p:txEl>
                                              <p:pRg st="2" end="2"/>
                                            </p:txEl>
                                          </p:spTgt>
                                        </p:tgtEl>
                                        <p:attrNameLst>
                                          <p:attrName>style.visibility</p:attrName>
                                        </p:attrNameLst>
                                      </p:cBhvr>
                                      <p:to>
                                        <p:strVal val="visible"/>
                                      </p:to>
                                    </p:set>
                                    <p:anim calcmode="lin" valueType="num">
                                      <p:cBhvr>
                                        <p:cTn id="31" dur="1000" fill="hold"/>
                                        <p:tgtEl>
                                          <p:spTgt spid="7">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7">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7">
                                            <p:txEl>
                                              <p:pRg st="2" end="2"/>
                                            </p:txEl>
                                          </p:spTgt>
                                        </p:tgtEl>
                                        <p:attrNameLst>
                                          <p:attrName>style.rotation</p:attrName>
                                        </p:attrNameLst>
                                      </p:cBhvr>
                                      <p:tavLst>
                                        <p:tav tm="0">
                                          <p:val>
                                            <p:fltVal val="90"/>
                                          </p:val>
                                        </p:tav>
                                        <p:tav tm="100000">
                                          <p:val>
                                            <p:fltVal val="0"/>
                                          </p:val>
                                        </p:tav>
                                      </p:tavLst>
                                    </p:anim>
                                    <p:animEffect transition="in" filter="fade">
                                      <p:cBhvr>
                                        <p:cTn id="34" dur="10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259632" y="764705"/>
            <a:ext cx="6821229" cy="5184576"/>
          </a:xfrm>
        </p:spPr>
        <p:txBody>
          <a:bodyPr>
            <a:normAutofit/>
          </a:bodyPr>
          <a:lstStyle/>
          <a:p>
            <a:pPr marL="457200" indent="-457200" algn="l">
              <a:buFont typeface="Wingdings" panose="05000000000000000000" pitchFamily="2" charset="2"/>
              <a:buChar char="ü"/>
            </a:pPr>
            <a:r>
              <a:rPr lang="es-BO" sz="2400" dirty="0" smtClean="0"/>
              <a:t>LA </a:t>
            </a:r>
            <a:r>
              <a:rPr lang="es-BO" sz="2400" dirty="0"/>
              <a:t>PARED DEL ABDOMEN ESTA FORMADO POR LAS SIGUIENTES </a:t>
            </a:r>
            <a:r>
              <a:rPr lang="es-BO" sz="2400" dirty="0" smtClean="0"/>
              <a:t>CAPAS</a:t>
            </a:r>
            <a:br>
              <a:rPr lang="es-BO" sz="2400" dirty="0" smtClean="0"/>
            </a:br>
            <a:r>
              <a:rPr lang="es-BO" sz="2400" dirty="0" smtClean="0"/>
              <a:t>- Piel</a:t>
            </a:r>
            <a:r>
              <a:rPr lang="es-BO" sz="2400" dirty="0"/>
              <a:t/>
            </a:r>
            <a:br>
              <a:rPr lang="es-BO" sz="2400" dirty="0"/>
            </a:br>
            <a:r>
              <a:rPr lang="es-BO" sz="2400" dirty="0" smtClean="0"/>
              <a:t>- Tejido </a:t>
            </a:r>
            <a:r>
              <a:rPr lang="es-BO" sz="2400" dirty="0" err="1" smtClean="0"/>
              <a:t>subcutaneo</a:t>
            </a:r>
            <a:r>
              <a:rPr lang="es-BO" sz="2400" dirty="0" smtClean="0"/>
              <a:t>,</a:t>
            </a:r>
            <a:br>
              <a:rPr lang="es-BO" sz="2400" dirty="0" smtClean="0"/>
            </a:br>
            <a:r>
              <a:rPr lang="es-BO" sz="2400" dirty="0" smtClean="0"/>
              <a:t>- Musculo y sus fascias profundas</a:t>
            </a:r>
            <a:br>
              <a:rPr lang="es-BO" sz="2400" dirty="0" smtClean="0"/>
            </a:br>
            <a:r>
              <a:rPr lang="es-BO" sz="2400" dirty="0" smtClean="0"/>
              <a:t>- Aponeurosis</a:t>
            </a:r>
            <a:br>
              <a:rPr lang="es-BO" sz="2400" dirty="0" smtClean="0"/>
            </a:br>
            <a:r>
              <a:rPr lang="es-BO" sz="2400" dirty="0" smtClean="0"/>
              <a:t>- </a:t>
            </a:r>
            <a:r>
              <a:rPr lang="es-BO" sz="2400" dirty="0" err="1" smtClean="0"/>
              <a:t>Extraperitoneal</a:t>
            </a:r>
            <a:r>
              <a:rPr lang="es-BO" sz="2400" dirty="0" smtClean="0"/>
              <a:t> </a:t>
            </a:r>
            <a:br>
              <a:rPr lang="es-BO" sz="2400" dirty="0" smtClean="0"/>
            </a:br>
            <a:r>
              <a:rPr lang="es-BO" sz="2400" dirty="0" smtClean="0"/>
              <a:t>- Peritoneo parietal</a:t>
            </a:r>
            <a:endParaRPr lang="es-BO" sz="2400" dirty="0"/>
          </a:p>
        </p:txBody>
      </p:sp>
    </p:spTree>
    <p:extLst>
      <p:ext uri="{BB962C8B-B14F-4D97-AF65-F5344CB8AC3E}">
        <p14:creationId xmlns:p14="http://schemas.microsoft.com/office/powerpoint/2010/main" val="50286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971600" y="692696"/>
            <a:ext cx="7272808" cy="1152128"/>
          </a:xfrm>
        </p:spPr>
        <p:txBody>
          <a:bodyPr>
            <a:normAutofit fontScale="90000"/>
          </a:bodyPr>
          <a:lstStyle/>
          <a:p>
            <a:r>
              <a:rPr lang="es-ES" b="1" dirty="0" smtClean="0"/>
              <a:t/>
            </a:r>
            <a:br>
              <a:rPr lang="es-ES" b="1" dirty="0" smtClean="0"/>
            </a:br>
            <a:r>
              <a:rPr lang="es-ES" b="1" dirty="0" smtClean="0"/>
              <a:t>Qué es la </a:t>
            </a:r>
            <a:r>
              <a:rPr lang="es-ES" b="1" dirty="0"/>
              <a:t>A</a:t>
            </a:r>
            <a:r>
              <a:rPr lang="es-ES" b="1" dirty="0" smtClean="0"/>
              <a:t>bdominoplastia?</a:t>
            </a:r>
            <a:r>
              <a:rPr lang="es-BO" b="1" dirty="0" smtClean="0"/>
              <a:t/>
            </a:r>
            <a:br>
              <a:rPr lang="es-BO" b="1" dirty="0" smtClean="0"/>
            </a:br>
            <a:endParaRPr lang="es-BO" dirty="0"/>
          </a:p>
        </p:txBody>
      </p:sp>
      <p:sp>
        <p:nvSpPr>
          <p:cNvPr id="3" name="2 Marcador de contenido"/>
          <p:cNvSpPr>
            <a:spLocks noGrp="1"/>
          </p:cNvSpPr>
          <p:nvPr>
            <p:ph idx="1"/>
          </p:nvPr>
        </p:nvSpPr>
        <p:spPr>
          <a:xfrm>
            <a:off x="683568" y="1916832"/>
            <a:ext cx="7632848" cy="4137323"/>
          </a:xfrm>
        </p:spPr>
        <p:txBody>
          <a:bodyPr>
            <a:normAutofit lnSpcReduction="10000"/>
          </a:bodyPr>
          <a:lstStyle/>
          <a:p>
            <a:pPr algn="just"/>
            <a:r>
              <a:rPr lang="es-ES" dirty="0" smtClean="0"/>
              <a:t>La </a:t>
            </a:r>
            <a:r>
              <a:rPr lang="es-ES" dirty="0"/>
              <a:t>A</a:t>
            </a:r>
            <a:r>
              <a:rPr lang="es-ES" dirty="0" smtClean="0"/>
              <a:t>bdominoplastia </a:t>
            </a:r>
            <a:r>
              <a:rPr lang="es-ES" dirty="0"/>
              <a:t>es un procedimiento quirúrgico mayor cuya finalidad es extirpar el exceso de piel y grasa de la parte media y baja del abdomen y reforzar la musculatura de la pared abdominal. </a:t>
            </a:r>
            <a:endParaRPr lang="es-ES" dirty="0" smtClean="0"/>
          </a:p>
          <a:p>
            <a:pPr algn="just"/>
            <a:r>
              <a:rPr lang="es-ES" dirty="0" smtClean="0"/>
              <a:t>Este </a:t>
            </a:r>
            <a:r>
              <a:rPr lang="es-ES" dirty="0"/>
              <a:t>procedimiento puede reducir drásticamente el aspecto abombado del </a:t>
            </a:r>
            <a:r>
              <a:rPr lang="es-ES" dirty="0" smtClean="0"/>
              <a:t>abdomen. </a:t>
            </a:r>
          </a:p>
          <a:p>
            <a:pPr algn="just"/>
            <a:r>
              <a:rPr lang="es-ES" dirty="0" smtClean="0"/>
              <a:t>A </a:t>
            </a:r>
            <a:r>
              <a:rPr lang="es-ES" dirty="0"/>
              <a:t>cambio, deja una cicatriz permanente que, dependiendo de la extensión del problema original y de la cirugía requerida para corregirlo, puede ser más o menos larga.</a:t>
            </a:r>
            <a:br>
              <a:rPr lang="es-ES" dirty="0"/>
            </a:br>
            <a:endParaRPr lang="es-BO" dirty="0"/>
          </a:p>
        </p:txBody>
      </p:sp>
    </p:spTree>
    <p:extLst>
      <p:ext uri="{BB962C8B-B14F-4D97-AF65-F5344CB8AC3E}">
        <p14:creationId xmlns:p14="http://schemas.microsoft.com/office/powerpoint/2010/main" val="1825034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p:cTn id="31"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43608" y="620688"/>
            <a:ext cx="6696744" cy="720080"/>
          </a:xfrm>
        </p:spPr>
        <p:txBody>
          <a:bodyPr>
            <a:noAutofit/>
          </a:bodyPr>
          <a:lstStyle/>
          <a:p>
            <a:r>
              <a:rPr lang="es-ES" sz="2400" b="1" dirty="0"/>
              <a:t>Existen riesgos? ¿Hay garantías?</a:t>
            </a:r>
            <a:endParaRPr lang="es-BO" sz="2400" b="1" dirty="0"/>
          </a:p>
        </p:txBody>
      </p:sp>
      <p:sp>
        <p:nvSpPr>
          <p:cNvPr id="3" name="2 Marcador de contenido"/>
          <p:cNvSpPr>
            <a:spLocks noGrp="1"/>
          </p:cNvSpPr>
          <p:nvPr>
            <p:ph idx="1"/>
          </p:nvPr>
        </p:nvSpPr>
        <p:spPr>
          <a:xfrm>
            <a:off x="827584" y="1484784"/>
            <a:ext cx="7560840" cy="4641379"/>
          </a:xfrm>
        </p:spPr>
        <p:txBody>
          <a:bodyPr>
            <a:normAutofit fontScale="70000" lnSpcReduction="20000"/>
          </a:bodyPr>
          <a:lstStyle/>
          <a:p>
            <a:pPr algn="just"/>
            <a:r>
              <a:rPr lang="es-ES" dirty="0"/>
              <a:t>Todos los años se realizan cientos de </a:t>
            </a:r>
            <a:r>
              <a:rPr lang="es-ES" dirty="0" err="1"/>
              <a:t>A</a:t>
            </a:r>
            <a:r>
              <a:rPr lang="es-ES" dirty="0" err="1" smtClean="0"/>
              <a:t>bdominoplastias</a:t>
            </a:r>
            <a:r>
              <a:rPr lang="es-ES" dirty="0" smtClean="0"/>
              <a:t> </a:t>
            </a:r>
            <a:r>
              <a:rPr lang="es-ES" dirty="0"/>
              <a:t>con éxito. Cuando es realizada por un cirujano plástico cualificado los resultados suelen ser muy buenos. Sin embargo, siempre que se realiza una cirugía existen riegos, al igual que complicaciones relacionadas con este procedimiento en concreto. </a:t>
            </a:r>
            <a:endParaRPr lang="es-ES" dirty="0" smtClean="0"/>
          </a:p>
          <a:p>
            <a:pPr algn="just"/>
            <a:r>
              <a:rPr lang="es-ES" dirty="0" smtClean="0"/>
              <a:t>Las </a:t>
            </a:r>
            <a:r>
              <a:rPr lang="es-ES" dirty="0"/>
              <a:t>complicaciones tras la cirugía, como la </a:t>
            </a:r>
            <a:r>
              <a:rPr lang="es-ES" b="1" dirty="0"/>
              <a:t>infección o los trombos venosos pueden ocurrir</a:t>
            </a:r>
            <a:r>
              <a:rPr lang="es-ES" dirty="0"/>
              <a:t>, pero son raros. </a:t>
            </a:r>
            <a:endParaRPr lang="es-ES" dirty="0" smtClean="0"/>
          </a:p>
          <a:p>
            <a:pPr algn="just"/>
            <a:r>
              <a:rPr lang="es-ES" dirty="0" smtClean="0"/>
              <a:t>La </a:t>
            </a:r>
            <a:r>
              <a:rPr lang="es-ES" dirty="0"/>
              <a:t>infección se resuelve con antibióticos y drenaje, pero prolongará la estancia en la clínica. </a:t>
            </a:r>
            <a:endParaRPr lang="es-ES" dirty="0" smtClean="0"/>
          </a:p>
          <a:p>
            <a:pPr algn="just"/>
            <a:r>
              <a:rPr lang="es-ES" dirty="0" smtClean="0"/>
              <a:t>Los </a:t>
            </a:r>
            <a:r>
              <a:rPr lang="es-ES" dirty="0"/>
              <a:t>trombos venosos se previenen moviendo las piernas y levantándose tan pronto como lo permita la cirugía. </a:t>
            </a:r>
            <a:endParaRPr lang="es-ES" dirty="0" smtClean="0"/>
          </a:p>
          <a:p>
            <a:pPr algn="just"/>
            <a:r>
              <a:rPr lang="es-ES" dirty="0" smtClean="0"/>
              <a:t>Una </a:t>
            </a:r>
            <a:r>
              <a:rPr lang="es-ES" dirty="0"/>
              <a:t>mala cicatrización puede producir una cicatriz de mala calidad que, a veces, precisará una segunda cirugía</a:t>
            </a:r>
            <a:r>
              <a:rPr lang="es-ES" dirty="0" smtClean="0"/>
              <a:t>.</a:t>
            </a:r>
          </a:p>
          <a:p>
            <a:pPr algn="just"/>
            <a:r>
              <a:rPr lang="es-ES" dirty="0" smtClean="0"/>
              <a:t> </a:t>
            </a:r>
            <a:r>
              <a:rPr lang="es-ES" dirty="0"/>
              <a:t>Los fumadores deben dejar de fumar unas semanas antes de la cirugía y deben ser advertidos de que el tabaco aumenta la posibilidad de complicaciones y retrasa la cicatrización. </a:t>
            </a:r>
            <a:endParaRPr lang="es-ES" dirty="0" smtClean="0"/>
          </a:p>
          <a:p>
            <a:pPr algn="just"/>
            <a:r>
              <a:rPr lang="es-ES" dirty="0" smtClean="0"/>
              <a:t>Se </a:t>
            </a:r>
            <a:r>
              <a:rPr lang="es-ES" dirty="0"/>
              <a:t>puede reducir el riesgo de que surjan complicaciones siguiendo cuidadosamente las instrucciones que le dé su cirujano plástico antes y después de la cirugía, </a:t>
            </a:r>
            <a:r>
              <a:rPr lang="es-ES" dirty="0" smtClean="0"/>
              <a:t>en </a:t>
            </a:r>
            <a:r>
              <a:rPr lang="es-ES" dirty="0"/>
              <a:t>especial aquellas que se refieren a cuándo reanudar la actividad física.</a:t>
            </a:r>
            <a:endParaRPr lang="es-BO" dirty="0"/>
          </a:p>
          <a:p>
            <a:endParaRPr lang="es-BO" dirty="0"/>
          </a:p>
        </p:txBody>
      </p:sp>
    </p:spTree>
    <p:extLst>
      <p:ext uri="{BB962C8B-B14F-4D97-AF65-F5344CB8AC3E}">
        <p14:creationId xmlns:p14="http://schemas.microsoft.com/office/powerpoint/2010/main" val="3168431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p:cTn id="31"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 calcmode="lin" valueType="num">
                                      <p:cBhvr>
                                        <p:cTn id="39"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40"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41"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42" dur="1000"/>
                                        <p:tgtEl>
                                          <p:spTgt spid="3">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 calcmode="lin" valueType="num">
                                      <p:cBhvr>
                                        <p:cTn id="47"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8"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49"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0" dur="1000"/>
                                        <p:tgtEl>
                                          <p:spTgt spid="3">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1" presetClass="entr" presetSubtype="0" fill="hold" nodeType="click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anim calcmode="lin" valueType="num">
                                      <p:cBhvr>
                                        <p:cTn id="55"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56"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57"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58" dur="1000"/>
                                        <p:tgtEl>
                                          <p:spTgt spid="3">
                                            <p:txEl>
                                              <p:pRg st="5" end="5"/>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31" presetClass="entr" presetSubtype="0" fill="hold" nodeType="clickEffect">
                                  <p:stCondLst>
                                    <p:cond delay="0"/>
                                  </p:stCondLst>
                                  <p:childTnLst>
                                    <p:set>
                                      <p:cBhvr>
                                        <p:cTn id="62" dur="1" fill="hold">
                                          <p:stCondLst>
                                            <p:cond delay="0"/>
                                          </p:stCondLst>
                                        </p:cTn>
                                        <p:tgtEl>
                                          <p:spTgt spid="3">
                                            <p:txEl>
                                              <p:pRg st="6" end="6"/>
                                            </p:txEl>
                                          </p:spTgt>
                                        </p:tgtEl>
                                        <p:attrNameLst>
                                          <p:attrName>style.visibility</p:attrName>
                                        </p:attrNameLst>
                                      </p:cBhvr>
                                      <p:to>
                                        <p:strVal val="visible"/>
                                      </p:to>
                                    </p:set>
                                    <p:anim calcmode="lin" valueType="num">
                                      <p:cBhvr>
                                        <p:cTn id="63" dur="1000" fill="hold"/>
                                        <p:tgtEl>
                                          <p:spTgt spid="3">
                                            <p:txEl>
                                              <p:pRg st="6" end="6"/>
                                            </p:txEl>
                                          </p:spTgt>
                                        </p:tgtEl>
                                        <p:attrNameLst>
                                          <p:attrName>ppt_w</p:attrName>
                                        </p:attrNameLst>
                                      </p:cBhvr>
                                      <p:tavLst>
                                        <p:tav tm="0">
                                          <p:val>
                                            <p:fltVal val="0"/>
                                          </p:val>
                                        </p:tav>
                                        <p:tav tm="100000">
                                          <p:val>
                                            <p:strVal val="#ppt_w"/>
                                          </p:val>
                                        </p:tav>
                                      </p:tavLst>
                                    </p:anim>
                                    <p:anim calcmode="lin" valueType="num">
                                      <p:cBhvr>
                                        <p:cTn id="64" dur="1000" fill="hold"/>
                                        <p:tgtEl>
                                          <p:spTgt spid="3">
                                            <p:txEl>
                                              <p:pRg st="6" end="6"/>
                                            </p:txEl>
                                          </p:spTgt>
                                        </p:tgtEl>
                                        <p:attrNameLst>
                                          <p:attrName>ppt_h</p:attrName>
                                        </p:attrNameLst>
                                      </p:cBhvr>
                                      <p:tavLst>
                                        <p:tav tm="0">
                                          <p:val>
                                            <p:fltVal val="0"/>
                                          </p:val>
                                        </p:tav>
                                        <p:tav tm="100000">
                                          <p:val>
                                            <p:strVal val="#ppt_h"/>
                                          </p:val>
                                        </p:tav>
                                      </p:tavLst>
                                    </p:anim>
                                    <p:anim calcmode="lin" valueType="num">
                                      <p:cBhvr>
                                        <p:cTn id="65" dur="1000" fill="hold"/>
                                        <p:tgtEl>
                                          <p:spTgt spid="3">
                                            <p:txEl>
                                              <p:pRg st="6" end="6"/>
                                            </p:txEl>
                                          </p:spTgt>
                                        </p:tgtEl>
                                        <p:attrNameLst>
                                          <p:attrName>style.rotation</p:attrName>
                                        </p:attrNameLst>
                                      </p:cBhvr>
                                      <p:tavLst>
                                        <p:tav tm="0">
                                          <p:val>
                                            <p:fltVal val="90"/>
                                          </p:val>
                                        </p:tav>
                                        <p:tav tm="100000">
                                          <p:val>
                                            <p:fltVal val="0"/>
                                          </p:val>
                                        </p:tav>
                                      </p:tavLst>
                                    </p:anim>
                                    <p:animEffect transition="in" filter="fade">
                                      <p:cBhvr>
                                        <p:cTn id="66" dur="1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2 Marcador de contenido"/>
          <p:cNvSpPr>
            <a:spLocks noGrp="1"/>
          </p:cNvSpPr>
          <p:nvPr>
            <p:ph idx="1"/>
          </p:nvPr>
        </p:nvSpPr>
        <p:spPr>
          <a:xfrm>
            <a:off x="1115616" y="908720"/>
            <a:ext cx="6696744" cy="4968552"/>
          </a:xfrm>
        </p:spPr>
        <p:txBody>
          <a:bodyPr>
            <a:normAutofit fontScale="70000" lnSpcReduction="20000"/>
          </a:bodyPr>
          <a:lstStyle/>
          <a:p>
            <a:pPr lvl="0" algn="just"/>
            <a:endParaRPr lang="es-ES" dirty="0" smtClean="0"/>
          </a:p>
          <a:p>
            <a:pPr lvl="0" algn="just"/>
            <a:r>
              <a:rPr lang="es-ES" dirty="0" smtClean="0"/>
              <a:t>La </a:t>
            </a:r>
            <a:r>
              <a:rPr lang="es-ES" b="1" dirty="0" smtClean="0"/>
              <a:t>O.M.S.</a:t>
            </a:r>
            <a:r>
              <a:rPr lang="es-ES" dirty="0" smtClean="0"/>
              <a:t> en octubre de 2004 con el objeto de reducir accidentes y riesgos de error en la atención de la salud , lanza este </a:t>
            </a:r>
            <a:r>
              <a:rPr lang="es-ES" dirty="0" smtClean="0"/>
              <a:t>enunciado</a:t>
            </a:r>
            <a:r>
              <a:rPr lang="es-ES" b="1" dirty="0"/>
              <a:t> </a:t>
            </a:r>
            <a:r>
              <a:rPr lang="es-ES" b="1" dirty="0" smtClean="0">
                <a:effectLst>
                  <a:outerShdw blurRad="38100" dist="38100" dir="2700000" algn="tl">
                    <a:srgbClr val="000000">
                      <a:alpha val="43137"/>
                    </a:srgbClr>
                  </a:outerShdw>
                </a:effectLst>
              </a:rPr>
              <a:t>LO PRIMERO ES NO DAÑAR AL PACIENTE </a:t>
            </a:r>
            <a:r>
              <a:rPr lang="es-ES" dirty="0" smtClean="0"/>
              <a:t>: por lo que el personal de enfermería debe de capacitarse en forma continua y permanente para no cometer errores y poder responder a este  </a:t>
            </a:r>
            <a:r>
              <a:rPr lang="es-ES" dirty="0" smtClean="0"/>
              <a:t>enunciado en razón de que el personal  </a:t>
            </a:r>
            <a:r>
              <a:rPr lang="es-ES" dirty="0" smtClean="0"/>
              <a:t>de enfermería es el pilar fundamental de un hospital. Un personal no capacitado y entrenado en las distintas especialidades  tiene un  </a:t>
            </a:r>
            <a:r>
              <a:rPr lang="es-ES" dirty="0" smtClean="0"/>
              <a:t>un  riesgo potencial de cometer errores por: 	</a:t>
            </a:r>
          </a:p>
          <a:p>
            <a:pPr marL="514350" lvl="0" indent="-514350" algn="just">
              <a:buFont typeface="+mj-lt"/>
              <a:buAutoNum type="arabicPeriod"/>
            </a:pPr>
            <a:r>
              <a:rPr lang="es-ES" b="1" dirty="0" smtClean="0"/>
              <a:t>Error por impericia: </a:t>
            </a:r>
            <a:r>
              <a:rPr lang="es-ES" dirty="0" smtClean="0"/>
              <a:t>El producido por falta de conocimiento o entrenamiento. </a:t>
            </a:r>
          </a:p>
          <a:p>
            <a:pPr marL="514350" lvl="0" indent="-514350" algn="just">
              <a:buFont typeface="+mj-lt"/>
              <a:buAutoNum type="arabicPeriod"/>
            </a:pPr>
            <a:r>
              <a:rPr lang="es-ES" b="1" dirty="0" smtClean="0"/>
              <a:t>Error por imprudencia: </a:t>
            </a:r>
            <a:r>
              <a:rPr lang="es-ES" dirty="0" smtClean="0"/>
              <a:t>El producido por afrontar riesgos sin haber tomado las  debidas precauciones para evitarlo, o proceder a manejar equipos con apresuramiento innecesario o sin detenerse a pensar en las consecuencias. </a:t>
            </a:r>
          </a:p>
          <a:p>
            <a:pPr marL="514350" lvl="0" indent="-514350" algn="just">
              <a:buFont typeface="+mj-lt"/>
              <a:buAutoNum type="arabicPeriod"/>
            </a:pPr>
            <a:r>
              <a:rPr lang="es-ES" b="1" dirty="0" smtClean="0"/>
              <a:t>Error por negligencia: </a:t>
            </a:r>
            <a:r>
              <a:rPr lang="es-ES" dirty="0" smtClean="0"/>
              <a:t> producido por no obrar con la debida diligencia. Todo esto implica el no poder cumplir con  el lema de la Alianza Mundial para la Seguridad de los Pacientes.</a:t>
            </a:r>
          </a:p>
        </p:txBody>
      </p:sp>
    </p:spTree>
    <p:extLst>
      <p:ext uri="{BB962C8B-B14F-4D97-AF65-F5344CB8AC3E}">
        <p14:creationId xmlns:p14="http://schemas.microsoft.com/office/powerpoint/2010/main" val="123038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p:cTn id="7" dur="1000" fill="hold"/>
                                        <p:tgtEl>
                                          <p:spTgt spid="4">
                                            <p:txEl>
                                              <p:pRg st="1" end="1"/>
                                            </p:txEl>
                                          </p:spTgt>
                                        </p:tgtEl>
                                        <p:attrNameLst>
                                          <p:attrName>ppt_w</p:attrName>
                                        </p:attrNameLst>
                                      </p:cBhvr>
                                      <p:tavLst>
                                        <p:tav tm="0">
                                          <p:val>
                                            <p:fltVal val="0"/>
                                          </p:val>
                                        </p:tav>
                                        <p:tav tm="100000">
                                          <p:val>
                                            <p:strVal val="#ppt_w"/>
                                          </p:val>
                                        </p:tav>
                                      </p:tavLst>
                                    </p:anim>
                                    <p:anim calcmode="lin" valueType="num">
                                      <p:cBhvr>
                                        <p:cTn id="8" dur="1000" fill="hold"/>
                                        <p:tgtEl>
                                          <p:spTgt spid="4">
                                            <p:txEl>
                                              <p:pRg st="1" end="1"/>
                                            </p:txEl>
                                          </p:spTgt>
                                        </p:tgtEl>
                                        <p:attrNameLst>
                                          <p:attrName>ppt_h</p:attrName>
                                        </p:attrNameLst>
                                      </p:cBhvr>
                                      <p:tavLst>
                                        <p:tav tm="0">
                                          <p:val>
                                            <p:fltVal val="0"/>
                                          </p:val>
                                        </p:tav>
                                        <p:tav tm="100000">
                                          <p:val>
                                            <p:strVal val="#ppt_h"/>
                                          </p:val>
                                        </p:tav>
                                      </p:tavLst>
                                    </p:anim>
                                    <p:anim calcmode="lin" valueType="num">
                                      <p:cBhvr>
                                        <p:cTn id="9" dur="1000" fill="hold"/>
                                        <p:tgtEl>
                                          <p:spTgt spid="4">
                                            <p:txEl>
                                              <p:pRg st="1" end="1"/>
                                            </p:txEl>
                                          </p:spTgt>
                                        </p:tgtEl>
                                        <p:attrNameLst>
                                          <p:attrName>style.rotation</p:attrName>
                                        </p:attrNameLst>
                                      </p:cBhvr>
                                      <p:tavLst>
                                        <p:tav tm="0">
                                          <p:val>
                                            <p:fltVal val="90"/>
                                          </p:val>
                                        </p:tav>
                                        <p:tav tm="100000">
                                          <p:val>
                                            <p:fltVal val="0"/>
                                          </p:val>
                                        </p:tav>
                                      </p:tavLst>
                                    </p:anim>
                                    <p:animEffect transition="in" filter="fade">
                                      <p:cBhvr>
                                        <p:cTn id="10" dur="10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 calcmode="lin" valueType="num">
                                      <p:cBhvr>
                                        <p:cTn id="15" dur="1000" fill="hold"/>
                                        <p:tgtEl>
                                          <p:spTgt spid="4">
                                            <p:txEl>
                                              <p:pRg st="2" end="2"/>
                                            </p:txEl>
                                          </p:spTgt>
                                        </p:tgtEl>
                                        <p:attrNameLst>
                                          <p:attrName>ppt_w</p:attrName>
                                        </p:attrNameLst>
                                      </p:cBhvr>
                                      <p:tavLst>
                                        <p:tav tm="0">
                                          <p:val>
                                            <p:fltVal val="0"/>
                                          </p:val>
                                        </p:tav>
                                        <p:tav tm="100000">
                                          <p:val>
                                            <p:strVal val="#ppt_w"/>
                                          </p:val>
                                        </p:tav>
                                      </p:tavLst>
                                    </p:anim>
                                    <p:anim calcmode="lin" valueType="num">
                                      <p:cBhvr>
                                        <p:cTn id="16" dur="1000" fill="hold"/>
                                        <p:tgtEl>
                                          <p:spTgt spid="4">
                                            <p:txEl>
                                              <p:pRg st="2" end="2"/>
                                            </p:txEl>
                                          </p:spTgt>
                                        </p:tgtEl>
                                        <p:attrNameLst>
                                          <p:attrName>ppt_h</p:attrName>
                                        </p:attrNameLst>
                                      </p:cBhvr>
                                      <p:tavLst>
                                        <p:tav tm="0">
                                          <p:val>
                                            <p:fltVal val="0"/>
                                          </p:val>
                                        </p:tav>
                                        <p:tav tm="100000">
                                          <p:val>
                                            <p:strVal val="#ppt_h"/>
                                          </p:val>
                                        </p:tav>
                                      </p:tavLst>
                                    </p:anim>
                                    <p:anim calcmode="lin" valueType="num">
                                      <p:cBhvr>
                                        <p:cTn id="17" dur="1000" fill="hold"/>
                                        <p:tgtEl>
                                          <p:spTgt spid="4">
                                            <p:txEl>
                                              <p:pRg st="2" end="2"/>
                                            </p:txEl>
                                          </p:spTgt>
                                        </p:tgtEl>
                                        <p:attrNameLst>
                                          <p:attrName>style.rotation</p:attrName>
                                        </p:attrNameLst>
                                      </p:cBhvr>
                                      <p:tavLst>
                                        <p:tav tm="0">
                                          <p:val>
                                            <p:fltVal val="90"/>
                                          </p:val>
                                        </p:tav>
                                        <p:tav tm="100000">
                                          <p:val>
                                            <p:fltVal val="0"/>
                                          </p:val>
                                        </p:tav>
                                      </p:tavLst>
                                    </p:anim>
                                    <p:animEffect transition="in" filter="fade">
                                      <p:cBhvr>
                                        <p:cTn id="18" dur="1000"/>
                                        <p:tgtEl>
                                          <p:spTgt spid="4">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anim calcmode="lin" valueType="num">
                                      <p:cBhvr>
                                        <p:cTn id="23" dur="1000" fill="hold"/>
                                        <p:tgtEl>
                                          <p:spTgt spid="4">
                                            <p:txEl>
                                              <p:pRg st="3" end="3"/>
                                            </p:txEl>
                                          </p:spTgt>
                                        </p:tgtEl>
                                        <p:attrNameLst>
                                          <p:attrName>ppt_w</p:attrName>
                                        </p:attrNameLst>
                                      </p:cBhvr>
                                      <p:tavLst>
                                        <p:tav tm="0">
                                          <p:val>
                                            <p:fltVal val="0"/>
                                          </p:val>
                                        </p:tav>
                                        <p:tav tm="100000">
                                          <p:val>
                                            <p:strVal val="#ppt_w"/>
                                          </p:val>
                                        </p:tav>
                                      </p:tavLst>
                                    </p:anim>
                                    <p:anim calcmode="lin" valueType="num">
                                      <p:cBhvr>
                                        <p:cTn id="24" dur="1000" fill="hold"/>
                                        <p:tgtEl>
                                          <p:spTgt spid="4">
                                            <p:txEl>
                                              <p:pRg st="3" end="3"/>
                                            </p:txEl>
                                          </p:spTgt>
                                        </p:tgtEl>
                                        <p:attrNameLst>
                                          <p:attrName>ppt_h</p:attrName>
                                        </p:attrNameLst>
                                      </p:cBhvr>
                                      <p:tavLst>
                                        <p:tav tm="0">
                                          <p:val>
                                            <p:fltVal val="0"/>
                                          </p:val>
                                        </p:tav>
                                        <p:tav tm="100000">
                                          <p:val>
                                            <p:strVal val="#ppt_h"/>
                                          </p:val>
                                        </p:tav>
                                      </p:tavLst>
                                    </p:anim>
                                    <p:anim calcmode="lin" valueType="num">
                                      <p:cBhvr>
                                        <p:cTn id="25" dur="1000" fill="hold"/>
                                        <p:tgtEl>
                                          <p:spTgt spid="4">
                                            <p:txEl>
                                              <p:pRg st="3" end="3"/>
                                            </p:txEl>
                                          </p:spTgt>
                                        </p:tgtEl>
                                        <p:attrNameLst>
                                          <p:attrName>style.rotation</p:attrName>
                                        </p:attrNameLst>
                                      </p:cBhvr>
                                      <p:tavLst>
                                        <p:tav tm="0">
                                          <p:val>
                                            <p:fltVal val="90"/>
                                          </p:val>
                                        </p:tav>
                                        <p:tav tm="100000">
                                          <p:val>
                                            <p:fltVal val="0"/>
                                          </p:val>
                                        </p:tav>
                                      </p:tavLst>
                                    </p:anim>
                                    <p:animEffect transition="in" filter="fade">
                                      <p:cBhvr>
                                        <p:cTn id="26" dur="1000"/>
                                        <p:tgtEl>
                                          <p:spTgt spid="4">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anim calcmode="lin" valueType="num">
                                      <p:cBhvr>
                                        <p:cTn id="31" dur="1000" fill="hold"/>
                                        <p:tgtEl>
                                          <p:spTgt spid="4">
                                            <p:txEl>
                                              <p:pRg st="4" end="4"/>
                                            </p:txEl>
                                          </p:spTgt>
                                        </p:tgtEl>
                                        <p:attrNameLst>
                                          <p:attrName>ppt_w</p:attrName>
                                        </p:attrNameLst>
                                      </p:cBhvr>
                                      <p:tavLst>
                                        <p:tav tm="0">
                                          <p:val>
                                            <p:fltVal val="0"/>
                                          </p:val>
                                        </p:tav>
                                        <p:tav tm="100000">
                                          <p:val>
                                            <p:strVal val="#ppt_w"/>
                                          </p:val>
                                        </p:tav>
                                      </p:tavLst>
                                    </p:anim>
                                    <p:anim calcmode="lin" valueType="num">
                                      <p:cBhvr>
                                        <p:cTn id="32" dur="1000" fill="hold"/>
                                        <p:tgtEl>
                                          <p:spTgt spid="4">
                                            <p:txEl>
                                              <p:pRg st="4" end="4"/>
                                            </p:txEl>
                                          </p:spTgt>
                                        </p:tgtEl>
                                        <p:attrNameLst>
                                          <p:attrName>ppt_h</p:attrName>
                                        </p:attrNameLst>
                                      </p:cBhvr>
                                      <p:tavLst>
                                        <p:tav tm="0">
                                          <p:val>
                                            <p:fltVal val="0"/>
                                          </p:val>
                                        </p:tav>
                                        <p:tav tm="100000">
                                          <p:val>
                                            <p:strVal val="#ppt_h"/>
                                          </p:val>
                                        </p:tav>
                                      </p:tavLst>
                                    </p:anim>
                                    <p:anim calcmode="lin" valueType="num">
                                      <p:cBhvr>
                                        <p:cTn id="33" dur="1000" fill="hold"/>
                                        <p:tgtEl>
                                          <p:spTgt spid="4">
                                            <p:txEl>
                                              <p:pRg st="4" end="4"/>
                                            </p:txEl>
                                          </p:spTgt>
                                        </p:tgtEl>
                                        <p:attrNameLst>
                                          <p:attrName>style.rotation</p:attrName>
                                        </p:attrNameLst>
                                      </p:cBhvr>
                                      <p:tavLst>
                                        <p:tav tm="0">
                                          <p:val>
                                            <p:fltVal val="90"/>
                                          </p:val>
                                        </p:tav>
                                        <p:tav tm="100000">
                                          <p:val>
                                            <p:fltVal val="0"/>
                                          </p:val>
                                        </p:tav>
                                      </p:tavLst>
                                    </p:anim>
                                    <p:animEffect transition="in" filter="fade">
                                      <p:cBhvr>
                                        <p:cTn id="34" dur="1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descr="Antes de una abdominoplastia: musculatura de la pared abdominal."/>
          <p:cNvPicPr>
            <a:picLocks noGrp="1"/>
          </p:cNvPicPr>
          <p:nvPr>
            <p:ph idx="1"/>
          </p:nvPr>
        </p:nvPicPr>
        <p:blipFill>
          <a:blip r:embed="rId2"/>
          <a:srcRect/>
          <a:stretch>
            <a:fillRect/>
          </a:stretch>
        </p:blipFill>
        <p:spPr bwMode="auto">
          <a:xfrm>
            <a:off x="1907704" y="850402"/>
            <a:ext cx="1993007" cy="2218557"/>
          </a:xfrm>
          <a:prstGeom prst="rect">
            <a:avLst/>
          </a:prstGeom>
          <a:noFill/>
          <a:ln w="9525">
            <a:noFill/>
            <a:miter lim="800000"/>
            <a:headEnd/>
            <a:tailEnd/>
          </a:ln>
        </p:spPr>
      </p:pic>
      <p:pic>
        <p:nvPicPr>
          <p:cNvPr id="5" name="4 Imagen" descr="La musculatura y tejidos de la pared abdominal son aproximados para conseguir una cintura más estrecha y larga."/>
          <p:cNvPicPr/>
          <p:nvPr/>
        </p:nvPicPr>
        <p:blipFill>
          <a:blip r:embed="rId3"/>
          <a:srcRect/>
          <a:stretch>
            <a:fillRect/>
          </a:stretch>
        </p:blipFill>
        <p:spPr bwMode="auto">
          <a:xfrm>
            <a:off x="5004048" y="836712"/>
            <a:ext cx="1944215" cy="2088231"/>
          </a:xfrm>
          <a:prstGeom prst="rect">
            <a:avLst/>
          </a:prstGeom>
          <a:noFill/>
          <a:ln w="9525">
            <a:noFill/>
            <a:miter lim="800000"/>
            <a:headEnd/>
            <a:tailEnd/>
          </a:ln>
        </p:spPr>
      </p:pic>
      <p:pic>
        <p:nvPicPr>
          <p:cNvPr id="6" name="5 Imagen" descr="http://www.doctorcandiabolivia.com/userfiles/image/abdomino3.gif"/>
          <p:cNvPicPr/>
          <p:nvPr/>
        </p:nvPicPr>
        <p:blipFill>
          <a:blip r:embed="rId4"/>
          <a:srcRect/>
          <a:stretch>
            <a:fillRect/>
          </a:stretch>
        </p:blipFill>
        <p:spPr bwMode="auto">
          <a:xfrm>
            <a:off x="2267744" y="3356992"/>
            <a:ext cx="2167044" cy="2304256"/>
          </a:xfrm>
          <a:prstGeom prst="rect">
            <a:avLst/>
          </a:prstGeom>
          <a:noFill/>
          <a:ln w="9525">
            <a:noFill/>
            <a:miter lim="800000"/>
            <a:headEnd/>
            <a:tailEnd/>
          </a:ln>
        </p:spPr>
      </p:pic>
      <p:pic>
        <p:nvPicPr>
          <p:cNvPr id="7" name="6 Imagen" descr="http://www.doctorcandiabolivia.com/userfiles/image/abdomino4.gif"/>
          <p:cNvPicPr/>
          <p:nvPr/>
        </p:nvPicPr>
        <p:blipFill>
          <a:blip r:embed="rId5"/>
          <a:srcRect/>
          <a:stretch>
            <a:fillRect/>
          </a:stretch>
        </p:blipFill>
        <p:spPr bwMode="auto">
          <a:xfrm>
            <a:off x="4788024" y="3356992"/>
            <a:ext cx="2160239" cy="2304256"/>
          </a:xfrm>
          <a:prstGeom prst="rect">
            <a:avLst/>
          </a:prstGeom>
          <a:noFill/>
          <a:ln w="9525">
            <a:noFill/>
            <a:miter lim="800000"/>
            <a:headEnd/>
            <a:tailEnd/>
          </a:ln>
        </p:spPr>
      </p:pic>
    </p:spTree>
    <p:extLst>
      <p:ext uri="{BB962C8B-B14F-4D97-AF65-F5344CB8AC3E}">
        <p14:creationId xmlns:p14="http://schemas.microsoft.com/office/powerpoint/2010/main" val="1509109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p:cTn id="31" dur="1000" fill="hold"/>
                                        <p:tgtEl>
                                          <p:spTgt spid="7"/>
                                        </p:tgtEl>
                                        <p:attrNameLst>
                                          <p:attrName>ppt_w</p:attrName>
                                        </p:attrNameLst>
                                      </p:cBhvr>
                                      <p:tavLst>
                                        <p:tav tm="0">
                                          <p:val>
                                            <p:fltVal val="0"/>
                                          </p:val>
                                        </p:tav>
                                        <p:tav tm="100000">
                                          <p:val>
                                            <p:strVal val="#ppt_w"/>
                                          </p:val>
                                        </p:tav>
                                      </p:tavLst>
                                    </p:anim>
                                    <p:anim calcmode="lin" valueType="num">
                                      <p:cBhvr>
                                        <p:cTn id="32" dur="1000" fill="hold"/>
                                        <p:tgtEl>
                                          <p:spTgt spid="7"/>
                                        </p:tgtEl>
                                        <p:attrNameLst>
                                          <p:attrName>ppt_h</p:attrName>
                                        </p:attrNameLst>
                                      </p:cBhvr>
                                      <p:tavLst>
                                        <p:tav tm="0">
                                          <p:val>
                                            <p:fltVal val="0"/>
                                          </p:val>
                                        </p:tav>
                                        <p:tav tm="100000">
                                          <p:val>
                                            <p:strVal val="#ppt_h"/>
                                          </p:val>
                                        </p:tav>
                                      </p:tavLst>
                                    </p:anim>
                                    <p:anim calcmode="lin" valueType="num">
                                      <p:cBhvr>
                                        <p:cTn id="33" dur="1000" fill="hold"/>
                                        <p:tgtEl>
                                          <p:spTgt spid="7"/>
                                        </p:tgtEl>
                                        <p:attrNameLst>
                                          <p:attrName>style.rotation</p:attrName>
                                        </p:attrNameLst>
                                      </p:cBhvr>
                                      <p:tavLst>
                                        <p:tav tm="0">
                                          <p:val>
                                            <p:fltVal val="90"/>
                                          </p:val>
                                        </p:tav>
                                        <p:tav tm="100000">
                                          <p:val>
                                            <p:fltVal val="0"/>
                                          </p:val>
                                        </p:tav>
                                      </p:tavLst>
                                    </p:anim>
                                    <p:animEffect transition="in" filter="fade">
                                      <p:cBhvr>
                                        <p:cTn id="3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descr="http://2.bp.blogspot.com/-YgQcXHwUUMw/Uc3W8meNv6I/AAAAAAAABBg/0hoRvHoN_Ls/s850/mommy+makeover+Bogota-+Colombia+(1).jpg"/>
          <p:cNvPicPr>
            <a:picLocks noGrp="1"/>
          </p:cNvPicPr>
          <p:nvPr>
            <p:ph idx="1"/>
          </p:nvPr>
        </p:nvPicPr>
        <p:blipFill>
          <a:blip r:embed="rId2"/>
          <a:srcRect/>
          <a:stretch>
            <a:fillRect/>
          </a:stretch>
        </p:blipFill>
        <p:spPr bwMode="auto">
          <a:xfrm>
            <a:off x="1691680" y="1340768"/>
            <a:ext cx="5710601" cy="4382170"/>
          </a:xfrm>
          <a:prstGeom prst="rect">
            <a:avLst/>
          </a:prstGeom>
          <a:noFill/>
          <a:ln w="9525">
            <a:noFill/>
            <a:miter lim="800000"/>
            <a:headEnd/>
            <a:tailEnd/>
          </a:ln>
        </p:spPr>
      </p:pic>
    </p:spTree>
    <p:extLst>
      <p:ext uri="{BB962C8B-B14F-4D97-AF65-F5344CB8AC3E}">
        <p14:creationId xmlns:p14="http://schemas.microsoft.com/office/powerpoint/2010/main" val="2292261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095023" y="817583"/>
            <a:ext cx="6965245" cy="811218"/>
          </a:xfrm>
        </p:spPr>
        <p:txBody>
          <a:bodyPr>
            <a:normAutofit/>
          </a:bodyPr>
          <a:lstStyle/>
          <a:p>
            <a:r>
              <a:rPr lang="es-ES" sz="2400" b="1" dirty="0" smtClean="0"/>
              <a:t>GLUTEOPLASTIA IMPLANTES DE GLÚTEOS</a:t>
            </a:r>
            <a:endParaRPr lang="es-BO" sz="2400" b="1" dirty="0"/>
          </a:p>
        </p:txBody>
      </p:sp>
      <p:sp>
        <p:nvSpPr>
          <p:cNvPr id="3" name="2 Marcador de contenido"/>
          <p:cNvSpPr>
            <a:spLocks noGrp="1"/>
          </p:cNvSpPr>
          <p:nvPr>
            <p:ph idx="1"/>
          </p:nvPr>
        </p:nvSpPr>
        <p:spPr>
          <a:xfrm>
            <a:off x="1095024" y="1628800"/>
            <a:ext cx="6965244" cy="4392487"/>
          </a:xfrm>
        </p:spPr>
        <p:txBody>
          <a:bodyPr>
            <a:normAutofit fontScale="85000" lnSpcReduction="10000"/>
          </a:bodyPr>
          <a:lstStyle/>
          <a:p>
            <a:pPr algn="just"/>
            <a:r>
              <a:rPr lang="es-ES" dirty="0"/>
              <a:t>La colocación de implantes glúteo es completamente </a:t>
            </a:r>
            <a:r>
              <a:rPr lang="es-ES" dirty="0" smtClean="0"/>
              <a:t>factible en </a:t>
            </a:r>
            <a:r>
              <a:rPr lang="es-ES" dirty="0"/>
              <a:t>caso de ausencia o de reblandecimiento de los músculos glúteos Estos implantes son efectivamente concebidos para aumentar la zona del gran glúteo y mejorar la curva de las nalgas. </a:t>
            </a:r>
            <a:br>
              <a:rPr lang="es-ES" dirty="0"/>
            </a:br>
            <a:r>
              <a:rPr lang="es-ES" dirty="0"/>
              <a:t/>
            </a:r>
            <a:br>
              <a:rPr lang="es-ES" dirty="0"/>
            </a:br>
            <a:r>
              <a:rPr lang="es-ES" dirty="0"/>
              <a:t>La forma del glúteo viene determinada por el estado de tres músculos: el glúteo mayor, el glúteo mediano y el glúteo menor, así como por el ángulo de la curva lumbosacra en la base de la columna vertebral (triángulo visible desde la parte trasera</a:t>
            </a:r>
            <a:r>
              <a:rPr lang="es-ES" dirty="0" smtClean="0"/>
              <a:t>).</a:t>
            </a:r>
          </a:p>
          <a:p>
            <a:pPr algn="just"/>
            <a:r>
              <a:rPr lang="es-ES" dirty="0" smtClean="0"/>
              <a:t>Una </a:t>
            </a:r>
            <a:r>
              <a:rPr lang="es-ES" dirty="0"/>
              <a:t>insuficiencia de la masa muscular o del ángulo de la curva de la columna vertebral puede </a:t>
            </a:r>
            <a:r>
              <a:rPr lang="es-ES" dirty="0" smtClean="0"/>
              <a:t>ser responsable </a:t>
            </a:r>
            <a:r>
              <a:rPr lang="es-ES" dirty="0"/>
              <a:t>de una curva de volumen que algunos pacientes consideran insuficiente en comparación con el resto </a:t>
            </a:r>
            <a:r>
              <a:rPr lang="es-ES" dirty="0" smtClean="0"/>
              <a:t>de su cuerpo.  </a:t>
            </a:r>
            <a:endParaRPr lang="es-BO" dirty="0"/>
          </a:p>
        </p:txBody>
      </p:sp>
    </p:spTree>
    <p:extLst>
      <p:ext uri="{BB962C8B-B14F-4D97-AF65-F5344CB8AC3E}">
        <p14:creationId xmlns:p14="http://schemas.microsoft.com/office/powerpoint/2010/main" val="3207836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descr="http://doctorcandiabolivia.com/userfiles/image/Implante%20de%20gluteos.JPG"/>
          <p:cNvPicPr>
            <a:picLocks noGrp="1"/>
          </p:cNvPicPr>
          <p:nvPr>
            <p:ph idx="1"/>
          </p:nvPr>
        </p:nvPicPr>
        <p:blipFill>
          <a:blip r:embed="rId2"/>
          <a:srcRect/>
          <a:stretch>
            <a:fillRect/>
          </a:stretch>
        </p:blipFill>
        <p:spPr bwMode="auto">
          <a:xfrm>
            <a:off x="971600" y="836712"/>
            <a:ext cx="7056784" cy="4680520"/>
          </a:xfrm>
          <a:prstGeom prst="rect">
            <a:avLst/>
          </a:prstGeom>
          <a:noFill/>
          <a:ln w="9525">
            <a:noFill/>
            <a:miter lim="800000"/>
            <a:headEnd/>
            <a:tailEnd/>
          </a:ln>
        </p:spPr>
      </p:pic>
    </p:spTree>
    <p:extLst>
      <p:ext uri="{BB962C8B-B14F-4D97-AF65-F5344CB8AC3E}">
        <p14:creationId xmlns:p14="http://schemas.microsoft.com/office/powerpoint/2010/main" val="2185369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196928" y="764704"/>
            <a:ext cx="6728628" cy="720080"/>
          </a:xfrm>
        </p:spPr>
        <p:txBody>
          <a:bodyPr>
            <a:normAutofit fontScale="90000"/>
          </a:bodyPr>
          <a:lstStyle/>
          <a:p>
            <a:r>
              <a:rPr lang="es-BO" b="1" dirty="0" smtClean="0"/>
              <a:t/>
            </a:r>
            <a:br>
              <a:rPr lang="es-BO" b="1" dirty="0" smtClean="0"/>
            </a:br>
            <a:r>
              <a:rPr lang="es-ES" sz="2700" b="1" dirty="0" smtClean="0"/>
              <a:t>LIPOSUCCIÓN</a:t>
            </a:r>
            <a:endParaRPr lang="es-BO" sz="2700" dirty="0"/>
          </a:p>
        </p:txBody>
      </p:sp>
      <p:sp>
        <p:nvSpPr>
          <p:cNvPr id="3" name="2 Marcador de contenido"/>
          <p:cNvSpPr>
            <a:spLocks noGrp="1"/>
          </p:cNvSpPr>
          <p:nvPr>
            <p:ph idx="1"/>
          </p:nvPr>
        </p:nvSpPr>
        <p:spPr>
          <a:xfrm>
            <a:off x="971600" y="1700808"/>
            <a:ext cx="6687845" cy="4022261"/>
          </a:xfrm>
        </p:spPr>
        <p:txBody>
          <a:bodyPr>
            <a:normAutofit lnSpcReduction="10000"/>
          </a:bodyPr>
          <a:lstStyle/>
          <a:p>
            <a:pPr algn="just"/>
            <a:r>
              <a:rPr lang="es-ES" dirty="0"/>
              <a:t>La liposucción es el procedimiento estético más practicado. </a:t>
            </a:r>
            <a:endParaRPr lang="es-ES" dirty="0" smtClean="0"/>
          </a:p>
          <a:p>
            <a:pPr algn="just"/>
            <a:r>
              <a:rPr lang="es-ES" dirty="0" smtClean="0"/>
              <a:t>Es </a:t>
            </a:r>
            <a:r>
              <a:rPr lang="es-ES" dirty="0"/>
              <a:t>el más apropiado para eliminar bolsas de grasa en distintas partes del cuerpo con un mínimo de cicatrices y una recuperación rápida. </a:t>
            </a:r>
            <a:endParaRPr lang="es-ES" dirty="0" smtClean="0"/>
          </a:p>
          <a:p>
            <a:pPr algn="just"/>
            <a:r>
              <a:rPr lang="es-ES" dirty="0" smtClean="0"/>
              <a:t>Cuando </a:t>
            </a:r>
            <a:r>
              <a:rPr lang="es-ES" dirty="0"/>
              <a:t>se realiza adecuadamente es bien tolerado y muy seguro. </a:t>
            </a:r>
            <a:endParaRPr lang="es-ES" dirty="0" smtClean="0"/>
          </a:p>
          <a:p>
            <a:pPr algn="just"/>
            <a:r>
              <a:rPr lang="es-ES" dirty="0" smtClean="0"/>
              <a:t>Aunque </a:t>
            </a:r>
            <a:r>
              <a:rPr lang="es-ES" dirty="0"/>
              <a:t>la cantidad de la pérdida de peso no sea notable, porque se coge la grasa de una zona clave, los cambios en la forma del cuerpo pueden ser drásticos. </a:t>
            </a:r>
            <a:endParaRPr lang="es-BO" dirty="0"/>
          </a:p>
          <a:p>
            <a:endParaRPr lang="es-BO" dirty="0"/>
          </a:p>
        </p:txBody>
      </p:sp>
    </p:spTree>
    <p:extLst>
      <p:ext uri="{BB962C8B-B14F-4D97-AF65-F5344CB8AC3E}">
        <p14:creationId xmlns:p14="http://schemas.microsoft.com/office/powerpoint/2010/main" val="3747118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p:cTn id="31"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1" presetClass="entr" presetSubtype="0" fill="hold"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 calcmode="lin" valueType="num">
                                      <p:cBhvr>
                                        <p:cTn id="39"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40"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41"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42"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3 Marcador de contenido" descr="http://www.doctorcandiabolivia.com/userfiles/image/liposuccion4.gif"/>
          <p:cNvPicPr>
            <a:picLocks noGrp="1"/>
          </p:cNvPicPr>
          <p:nvPr>
            <p:ph idx="1"/>
          </p:nvPr>
        </p:nvPicPr>
        <p:blipFill>
          <a:blip r:embed="rId2"/>
          <a:srcRect/>
          <a:stretch>
            <a:fillRect/>
          </a:stretch>
        </p:blipFill>
        <p:spPr bwMode="auto">
          <a:xfrm>
            <a:off x="1043608" y="1023392"/>
            <a:ext cx="2160240" cy="2592288"/>
          </a:xfrm>
          <a:prstGeom prst="rect">
            <a:avLst/>
          </a:prstGeom>
          <a:noFill/>
          <a:ln w="9525">
            <a:noFill/>
            <a:miter lim="800000"/>
            <a:headEnd/>
            <a:tailEnd/>
          </a:ln>
        </p:spPr>
      </p:pic>
      <p:pic>
        <p:nvPicPr>
          <p:cNvPr id="5" name="4 Imagen" descr="http://www.doctorcandiabolivia.com/userfiles/image/liposuccion6.gif"/>
          <p:cNvPicPr/>
          <p:nvPr/>
        </p:nvPicPr>
        <p:blipFill>
          <a:blip r:embed="rId3"/>
          <a:srcRect/>
          <a:stretch>
            <a:fillRect/>
          </a:stretch>
        </p:blipFill>
        <p:spPr bwMode="auto">
          <a:xfrm>
            <a:off x="3491880" y="3388770"/>
            <a:ext cx="2304256" cy="2664296"/>
          </a:xfrm>
          <a:prstGeom prst="rect">
            <a:avLst/>
          </a:prstGeom>
          <a:noFill/>
          <a:ln w="9525">
            <a:noFill/>
            <a:miter lim="800000"/>
            <a:headEnd/>
            <a:tailEnd/>
          </a:ln>
        </p:spPr>
      </p:pic>
      <p:pic>
        <p:nvPicPr>
          <p:cNvPr id="6" name="5 Imagen" descr="http://www.doctorcandiabolivia.com/userfiles/image/liposuccion5.gif"/>
          <p:cNvPicPr/>
          <p:nvPr/>
        </p:nvPicPr>
        <p:blipFill>
          <a:blip r:embed="rId4"/>
          <a:srcRect/>
          <a:stretch>
            <a:fillRect/>
          </a:stretch>
        </p:blipFill>
        <p:spPr bwMode="auto">
          <a:xfrm>
            <a:off x="6012160" y="1052736"/>
            <a:ext cx="2162547" cy="2562944"/>
          </a:xfrm>
          <a:prstGeom prst="rect">
            <a:avLst/>
          </a:prstGeom>
          <a:noFill/>
          <a:ln w="9525">
            <a:noFill/>
            <a:miter lim="800000"/>
            <a:headEnd/>
            <a:tailEnd/>
          </a:ln>
        </p:spPr>
      </p:pic>
    </p:spTree>
    <p:extLst>
      <p:ext uri="{BB962C8B-B14F-4D97-AF65-F5344CB8AC3E}">
        <p14:creationId xmlns:p14="http://schemas.microsoft.com/office/powerpoint/2010/main" val="1228467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p:cTn id="15" dur="1000" fill="hold"/>
                                        <p:tgtEl>
                                          <p:spTgt spid="5"/>
                                        </p:tgtEl>
                                        <p:attrNameLst>
                                          <p:attrName>ppt_w</p:attrName>
                                        </p:attrNameLst>
                                      </p:cBhvr>
                                      <p:tavLst>
                                        <p:tav tm="0">
                                          <p:val>
                                            <p:fltVal val="0"/>
                                          </p:val>
                                        </p:tav>
                                        <p:tav tm="100000">
                                          <p:val>
                                            <p:strVal val="#ppt_w"/>
                                          </p:val>
                                        </p:tav>
                                      </p:tavLst>
                                    </p:anim>
                                    <p:anim calcmode="lin" valueType="num">
                                      <p:cBhvr>
                                        <p:cTn id="16" dur="1000" fill="hold"/>
                                        <p:tgtEl>
                                          <p:spTgt spid="5"/>
                                        </p:tgtEl>
                                        <p:attrNameLst>
                                          <p:attrName>ppt_h</p:attrName>
                                        </p:attrNameLst>
                                      </p:cBhvr>
                                      <p:tavLst>
                                        <p:tav tm="0">
                                          <p:val>
                                            <p:fltVal val="0"/>
                                          </p:val>
                                        </p:tav>
                                        <p:tav tm="100000">
                                          <p:val>
                                            <p:strVal val="#ppt_h"/>
                                          </p:val>
                                        </p:tav>
                                      </p:tavLst>
                                    </p:anim>
                                    <p:anim calcmode="lin" valueType="num">
                                      <p:cBhvr>
                                        <p:cTn id="17" dur="1000" fill="hold"/>
                                        <p:tgtEl>
                                          <p:spTgt spid="5"/>
                                        </p:tgtEl>
                                        <p:attrNameLst>
                                          <p:attrName>style.rotation</p:attrName>
                                        </p:attrNameLst>
                                      </p:cBhvr>
                                      <p:tavLst>
                                        <p:tav tm="0">
                                          <p:val>
                                            <p:fltVal val="90"/>
                                          </p:val>
                                        </p:tav>
                                        <p:tav tm="100000">
                                          <p:val>
                                            <p:fltVal val="0"/>
                                          </p:val>
                                        </p:tav>
                                      </p:tavLst>
                                    </p:anim>
                                    <p:animEffect transition="in" filter="fade">
                                      <p:cBhvr>
                                        <p:cTn id="18" dur="1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p:cTn id="23" dur="1000" fill="hold"/>
                                        <p:tgtEl>
                                          <p:spTgt spid="6"/>
                                        </p:tgtEl>
                                        <p:attrNameLst>
                                          <p:attrName>ppt_w</p:attrName>
                                        </p:attrNameLst>
                                      </p:cBhvr>
                                      <p:tavLst>
                                        <p:tav tm="0">
                                          <p:val>
                                            <p:fltVal val="0"/>
                                          </p:val>
                                        </p:tav>
                                        <p:tav tm="100000">
                                          <p:val>
                                            <p:strVal val="#ppt_w"/>
                                          </p:val>
                                        </p:tav>
                                      </p:tavLst>
                                    </p:anim>
                                    <p:anim calcmode="lin" valueType="num">
                                      <p:cBhvr>
                                        <p:cTn id="24" dur="1000" fill="hold"/>
                                        <p:tgtEl>
                                          <p:spTgt spid="6"/>
                                        </p:tgtEl>
                                        <p:attrNameLst>
                                          <p:attrName>ppt_h</p:attrName>
                                        </p:attrNameLst>
                                      </p:cBhvr>
                                      <p:tavLst>
                                        <p:tav tm="0">
                                          <p:val>
                                            <p:fltVal val="0"/>
                                          </p:val>
                                        </p:tav>
                                        <p:tav tm="100000">
                                          <p:val>
                                            <p:strVal val="#ppt_h"/>
                                          </p:val>
                                        </p:tav>
                                      </p:tavLst>
                                    </p:anim>
                                    <p:anim calcmode="lin" valueType="num">
                                      <p:cBhvr>
                                        <p:cTn id="25" dur="1000" fill="hold"/>
                                        <p:tgtEl>
                                          <p:spTgt spid="6"/>
                                        </p:tgtEl>
                                        <p:attrNameLst>
                                          <p:attrName>style.rotation</p:attrName>
                                        </p:attrNameLst>
                                      </p:cBhvr>
                                      <p:tavLst>
                                        <p:tav tm="0">
                                          <p:val>
                                            <p:fltVal val="90"/>
                                          </p:val>
                                        </p:tav>
                                        <p:tav tm="100000">
                                          <p:val>
                                            <p:fltVal val="0"/>
                                          </p:val>
                                        </p:tav>
                                      </p:tavLst>
                                    </p:anim>
                                    <p:animEffect transition="in" filter="fade">
                                      <p:cBhvr>
                                        <p:cTn id="2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620688"/>
            <a:ext cx="8229600" cy="432048"/>
          </a:xfrm>
        </p:spPr>
        <p:txBody>
          <a:bodyPr>
            <a:normAutofit fontScale="90000"/>
          </a:bodyPr>
          <a:lstStyle/>
          <a:p>
            <a:r>
              <a:rPr lang="es-ES" sz="3200" b="1" dirty="0"/>
              <a:t>BÓTOX / RELLENOS</a:t>
            </a:r>
            <a:endParaRPr lang="es-BO" sz="3200" b="1" dirty="0"/>
          </a:p>
        </p:txBody>
      </p:sp>
      <p:sp>
        <p:nvSpPr>
          <p:cNvPr id="3" name="2 Marcador de contenido"/>
          <p:cNvSpPr>
            <a:spLocks noGrp="1"/>
          </p:cNvSpPr>
          <p:nvPr>
            <p:ph idx="1"/>
          </p:nvPr>
        </p:nvSpPr>
        <p:spPr>
          <a:xfrm>
            <a:off x="827584" y="1196752"/>
            <a:ext cx="7560840" cy="4929411"/>
          </a:xfrm>
        </p:spPr>
        <p:txBody>
          <a:bodyPr>
            <a:normAutofit fontScale="92500" lnSpcReduction="20000"/>
          </a:bodyPr>
          <a:lstStyle/>
          <a:p>
            <a:pPr algn="just"/>
            <a:r>
              <a:rPr lang="es-ES" dirty="0"/>
              <a:t>Con más de cuatro millones de procedimientos realizados durante el año 2006, el BOTOX es el recurso cosmético mínimamente invasivo con mayor popularidad. Se usa para tratar líneas de expresión, como las líneas de la frente o del ceño fruncido, pero también las arrugas, las patas de gallo o las líneas alrededor del cuello. Botox es el nombre de marca registrada para la toxina botulínica tipo A. </a:t>
            </a:r>
            <a:endParaRPr lang="es-ES" dirty="0" smtClean="0"/>
          </a:p>
          <a:p>
            <a:pPr algn="just"/>
            <a:r>
              <a:rPr lang="es-ES" dirty="0" smtClean="0"/>
              <a:t>La </a:t>
            </a:r>
            <a:r>
              <a:rPr lang="es-ES" dirty="0"/>
              <a:t>toxina botulínica es producida por una bacteria conocida como « </a:t>
            </a:r>
            <a:r>
              <a:rPr lang="es-ES" dirty="0" err="1"/>
              <a:t>clostridium</a:t>
            </a:r>
            <a:r>
              <a:rPr lang="es-ES" dirty="0"/>
              <a:t> </a:t>
            </a:r>
            <a:r>
              <a:rPr lang="es-ES" dirty="0" err="1"/>
              <a:t>botulinum</a:t>
            </a:r>
            <a:r>
              <a:rPr lang="es-ES" dirty="0"/>
              <a:t> ». A pequeñas dosis, la toxina botulínica se usa eficazmente para reducir el aspecto de las líneas faciales y las arrugas. Además, está demostrado que la toxina botulínica </a:t>
            </a:r>
            <a:r>
              <a:rPr lang="es-ES" dirty="0" smtClean="0"/>
              <a:t>actúa </a:t>
            </a:r>
            <a:r>
              <a:rPr lang="es-ES" dirty="0"/>
              <a:t>eficazmente en el tratamiento de las migrañas, las sudoración excesiva y las espasmos musculares, entre otras aplicaciones. </a:t>
            </a:r>
            <a:endParaRPr lang="es-ES" dirty="0" smtClean="0"/>
          </a:p>
          <a:p>
            <a:pPr algn="just"/>
            <a:r>
              <a:rPr lang="es-ES" dirty="0" smtClean="0"/>
              <a:t>Con </a:t>
            </a:r>
            <a:r>
              <a:rPr lang="es-ES" dirty="0"/>
              <a:t>poco tiempo de indisponibilidad y resultados casi inmediatos, el Botox puede ayudarle a recuperar un aspecto facial más terso y joven. </a:t>
            </a:r>
            <a:endParaRPr lang="es-BO" dirty="0"/>
          </a:p>
          <a:p>
            <a:endParaRPr lang="es-BO" dirty="0"/>
          </a:p>
        </p:txBody>
      </p:sp>
    </p:spTree>
    <p:extLst>
      <p:ext uri="{BB962C8B-B14F-4D97-AF65-F5344CB8AC3E}">
        <p14:creationId xmlns:p14="http://schemas.microsoft.com/office/powerpoint/2010/main" val="1684528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 calcmode="lin" valueType="num">
                                      <p:cBhvr>
                                        <p:cTn id="15"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6"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7"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8" dur="1000"/>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1"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 calcmode="lin" valueType="num">
                                      <p:cBhvr>
                                        <p:cTn id="23" dur="1000" fill="hold"/>
                                        <p:tgtEl>
                                          <p:spTgt spid="3">
                                            <p:txEl>
                                              <p:pRg st="1" end="1"/>
                                            </p:txEl>
                                          </p:spTgt>
                                        </p:tgtEl>
                                        <p:attrNameLst>
                                          <p:attrName>ppt_w</p:attrName>
                                        </p:attrNameLst>
                                      </p:cBhvr>
                                      <p:tavLst>
                                        <p:tav tm="0">
                                          <p:val>
                                            <p:fltVal val="0"/>
                                          </p:val>
                                        </p:tav>
                                        <p:tav tm="100000">
                                          <p:val>
                                            <p:strVal val="#ppt_w"/>
                                          </p:val>
                                        </p:tav>
                                      </p:tavLst>
                                    </p:anim>
                                    <p:anim calcmode="lin" valueType="num">
                                      <p:cBhvr>
                                        <p:cTn id="24" dur="1000" fill="hold"/>
                                        <p:tgtEl>
                                          <p:spTgt spid="3">
                                            <p:txEl>
                                              <p:pRg st="1" end="1"/>
                                            </p:txEl>
                                          </p:spTgt>
                                        </p:tgtEl>
                                        <p:attrNameLst>
                                          <p:attrName>ppt_h</p:attrName>
                                        </p:attrNameLst>
                                      </p:cBhvr>
                                      <p:tavLst>
                                        <p:tav tm="0">
                                          <p:val>
                                            <p:fltVal val="0"/>
                                          </p:val>
                                        </p:tav>
                                        <p:tav tm="100000">
                                          <p:val>
                                            <p:strVal val="#ppt_h"/>
                                          </p:val>
                                        </p:tav>
                                      </p:tavLst>
                                    </p:anim>
                                    <p:anim calcmode="lin" valueType="num">
                                      <p:cBhvr>
                                        <p:cTn id="25" dur="1000" fill="hold"/>
                                        <p:tgtEl>
                                          <p:spTgt spid="3">
                                            <p:txEl>
                                              <p:pRg st="1" end="1"/>
                                            </p:txEl>
                                          </p:spTgt>
                                        </p:tgtEl>
                                        <p:attrNameLst>
                                          <p:attrName>style.rotation</p:attrName>
                                        </p:attrNameLst>
                                      </p:cBhvr>
                                      <p:tavLst>
                                        <p:tav tm="0">
                                          <p:val>
                                            <p:fltVal val="90"/>
                                          </p:val>
                                        </p:tav>
                                        <p:tav tm="100000">
                                          <p:val>
                                            <p:fltVal val="0"/>
                                          </p:val>
                                        </p:tav>
                                      </p:tavLst>
                                    </p:anim>
                                    <p:animEffect transition="in" filter="fade">
                                      <p:cBhvr>
                                        <p:cTn id="26" dur="1000"/>
                                        <p:tgtEl>
                                          <p:spTgt spid="3">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p:cTn id="31" dur="1000" fill="hold"/>
                                        <p:tgtEl>
                                          <p:spTgt spid="3">
                                            <p:txEl>
                                              <p:pRg st="2" end="2"/>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2" end="2"/>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2" end="2"/>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3 Imagen" descr="La observación indica cómo está el paciente; la reflexión indica qué hay que hacer; la destreza práctica indica cómo hay que hacerlo. La formación y la experiencia son necesarias para saber cómo observar y qué observar; cómo pensar y qué pensar. (Florence Nightingale)"/>
          <p:cNvPicPr/>
          <p:nvPr/>
        </p:nvPicPr>
        <p:blipFill>
          <a:blip r:embed="rId2"/>
          <a:srcRect/>
          <a:stretch>
            <a:fillRect/>
          </a:stretch>
        </p:blipFill>
        <p:spPr bwMode="auto">
          <a:xfrm>
            <a:off x="1115616" y="1196752"/>
            <a:ext cx="7171160" cy="4536504"/>
          </a:xfrm>
          <a:prstGeom prst="rect">
            <a:avLst/>
          </a:prstGeom>
          <a:solidFill>
            <a:srgbClr val="C00000"/>
          </a:solidFill>
          <a:ln>
            <a:solidFill>
              <a:srgbClr val="0A0A0A"/>
            </a:solidFill>
          </a:ln>
        </p:spPr>
        <p:style>
          <a:lnRef idx="1">
            <a:schemeClr val="accent1"/>
          </a:lnRef>
          <a:fillRef idx="2">
            <a:schemeClr val="accent1"/>
          </a:fillRef>
          <a:effectRef idx="1">
            <a:schemeClr val="accent1"/>
          </a:effectRef>
          <a:fontRef idx="minor">
            <a:schemeClr val="dk1"/>
          </a:fontRef>
        </p:style>
      </p:pic>
    </p:spTree>
    <p:extLst>
      <p:ext uri="{BB962C8B-B14F-4D97-AF65-F5344CB8AC3E}">
        <p14:creationId xmlns:p14="http://schemas.microsoft.com/office/powerpoint/2010/main" val="228697732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619672" y="2564904"/>
            <a:ext cx="5917272" cy="1525767"/>
          </a:xfrm>
        </p:spPr>
        <p:txBody>
          <a:bodyPr>
            <a:normAutofit lnSpcReduction="10000"/>
          </a:bodyPr>
          <a:lstStyle/>
          <a:p>
            <a:r>
              <a:rPr lang="es-BO" sz="9600" dirty="0" smtClean="0"/>
              <a:t>GRACIAS</a:t>
            </a:r>
            <a:endParaRPr lang="es-BO" sz="9600" dirty="0"/>
          </a:p>
        </p:txBody>
      </p:sp>
      <p:sp>
        <p:nvSpPr>
          <p:cNvPr id="2" name="Rectángulo 1"/>
          <p:cNvSpPr/>
          <p:nvPr/>
        </p:nvSpPr>
        <p:spPr>
          <a:xfrm>
            <a:off x="3966126" y="4752459"/>
            <a:ext cx="3716210" cy="461665"/>
          </a:xfrm>
          <a:prstGeom prst="rect">
            <a:avLst/>
          </a:prstGeom>
        </p:spPr>
        <p:txBody>
          <a:bodyPr wrap="none">
            <a:spAutoFit/>
          </a:bodyPr>
          <a:lstStyle/>
          <a:p>
            <a:r>
              <a:rPr lang="es-BO" sz="2400" dirty="0"/>
              <a:t>Lic. </a:t>
            </a:r>
            <a:r>
              <a:rPr lang="es-BO" sz="2400" dirty="0" err="1"/>
              <a:t>Msc</a:t>
            </a:r>
            <a:r>
              <a:rPr lang="es-BO" sz="2400" dirty="0"/>
              <a:t>. Victoria Nicolás C.</a:t>
            </a:r>
          </a:p>
        </p:txBody>
      </p:sp>
    </p:spTree>
    <p:extLst>
      <p:ext uri="{BB962C8B-B14F-4D97-AF65-F5344CB8AC3E}">
        <p14:creationId xmlns:p14="http://schemas.microsoft.com/office/powerpoint/2010/main" val="60919435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hincheta">
  <a:themeElements>
    <a:clrScheme name="Chincheta">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Chincheta">
      <a:majorFont>
        <a:latin typeface="Constantia"/>
        <a:ea typeface=""/>
        <a:cs typeface=""/>
        <a:font script="Jpan" typeface="HGS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Grek" typeface="Arial"/>
        <a:font script="Cyrl" typeface="Arial"/>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incheta">
      <a:fillStyleLst>
        <a:solidFill>
          <a:schemeClr val="phClr"/>
        </a:solidFill>
        <a:gradFill rotWithShape="1">
          <a:gsLst>
            <a:gs pos="0">
              <a:schemeClr val="phClr">
                <a:tint val="50000"/>
                <a:satMod val="180000"/>
                <a:lumMod val="100000"/>
              </a:schemeClr>
            </a:gs>
            <a:gs pos="40000">
              <a:schemeClr val="phClr">
                <a:tint val="60000"/>
                <a:satMod val="130000"/>
                <a:lumMod val="100000"/>
              </a:schemeClr>
            </a:gs>
            <a:gs pos="100000">
              <a:schemeClr val="phClr">
                <a:tint val="96000"/>
                <a:lumMod val="108000"/>
              </a:schemeClr>
            </a:gs>
          </a:gsLst>
          <a:lin ang="5400000" scaled="0"/>
        </a:gradFill>
        <a:gradFill rotWithShape="1">
          <a:gsLst>
            <a:gs pos="0">
              <a:schemeClr val="phClr"/>
            </a:gs>
            <a:gs pos="100000">
              <a:schemeClr val="phClr">
                <a:shade val="76000"/>
                <a:lumMod val="90000"/>
              </a:schemeClr>
            </a:gs>
          </a:gsLst>
          <a:lin ang="5400000" scaled="0"/>
        </a:gradFill>
      </a:fillStyleLst>
      <a:lnStyleLst>
        <a:ln w="9525" cap="flat" cmpd="sng" algn="ctr">
          <a:solidFill>
            <a:schemeClr val="phClr"/>
          </a:solidFill>
          <a:prstDash val="solid"/>
        </a:ln>
        <a:ln w="15875" cap="flat" cmpd="sng" algn="ctr">
          <a:solidFill>
            <a:schemeClr val="phClr">
              <a:shade val="80000"/>
              <a:lumMod val="90000"/>
            </a:schemeClr>
          </a:solidFill>
          <a:prstDash val="solid"/>
        </a:ln>
        <a:ln w="25400" cap="flat" cmpd="sng" algn="ctr">
          <a:solidFill>
            <a:schemeClr val="phClr"/>
          </a:solidFill>
          <a:prstDash val="solid"/>
        </a:ln>
      </a:lnStyleLst>
      <a:effectStyleLst>
        <a:effectStyle>
          <a:effectLst/>
        </a:effectStyle>
        <a:effectStyle>
          <a:effectLst>
            <a:outerShdw blurRad="38100" dist="38100" dir="4800000" sx="98000" sy="98000" rotWithShape="0">
              <a:srgbClr val="000000">
                <a:alpha val="32000"/>
              </a:srgbClr>
            </a:outerShdw>
          </a:effectLst>
        </a:effectStyle>
        <a:effectStyle>
          <a:effectLst>
            <a:outerShdw blurRad="38100" dist="38100" dir="4800000" sx="96000" sy="96000" rotWithShape="0">
              <a:srgbClr val="000000">
                <a:alpha val="40000"/>
              </a:srgbClr>
            </a:outerShdw>
          </a:effectLst>
          <a:scene3d>
            <a:camera prst="orthographicFront">
              <a:rot lat="0" lon="0" rev="0"/>
            </a:camera>
            <a:lightRig rig="threePt" dir="t">
              <a:rot lat="0" lon="0" rev="3240000"/>
            </a:lightRig>
          </a:scene3d>
          <a:sp3d>
            <a:bevelT w="28575" h="28575"/>
          </a:sp3d>
        </a:effectStyle>
      </a:effectStyleLst>
      <a:bgFillStyleLst>
        <a:solidFill>
          <a:schemeClr val="phClr">
            <a:tint val="93000"/>
          </a:schemeClr>
        </a:solidFill>
        <a:blipFill rotWithShape="1">
          <a:blip xmlns:r="http://schemas.openxmlformats.org/officeDocument/2006/relationships" r:embed="rId1">
            <a:duotone>
              <a:schemeClr val="phClr">
                <a:shade val="80000"/>
                <a:satMod val="140000"/>
                <a:lumMod val="50000"/>
              </a:schemeClr>
              <a:schemeClr val="phClr">
                <a:tint val="95000"/>
                <a:satMod val="180000"/>
                <a:lumMod val="160000"/>
              </a:schemeClr>
            </a:duotone>
          </a:blip>
          <a:stretch/>
        </a:blipFill>
        <a:blipFill rotWithShape="1">
          <a:blip xmlns:r="http://schemas.openxmlformats.org/officeDocument/2006/relationships" r:embed="rId2">
            <a:duotone>
              <a:schemeClr val="phClr">
                <a:tint val="98000"/>
                <a:shade val="90000"/>
                <a:satMod val="120000"/>
                <a:lumMod val="54000"/>
              </a:schemeClr>
              <a:schemeClr val="phClr">
                <a:tint val="80000"/>
                <a:satMod val="160000"/>
                <a:lumMod val="140000"/>
              </a:schemeClr>
            </a:duotone>
          </a:blip>
          <a:stretch/>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Pushpin</Template>
  <TotalTime>674</TotalTime>
  <Words>1893</Words>
  <Application>Microsoft Office PowerPoint</Application>
  <PresentationFormat>Presentación en pantalla (4:3)</PresentationFormat>
  <Paragraphs>118</Paragraphs>
  <Slides>40</Slides>
  <Notes>1</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40</vt:i4>
      </vt:variant>
    </vt:vector>
  </HeadingPairs>
  <TitlesOfParts>
    <vt:vector size="47" baseType="lpstr">
      <vt:lpstr>Brush Script MT</vt:lpstr>
      <vt:lpstr>Calibri</vt:lpstr>
      <vt:lpstr>Constantia</vt:lpstr>
      <vt:lpstr>Franklin Gothic Book</vt:lpstr>
      <vt:lpstr>Rage Italic</vt:lpstr>
      <vt:lpstr>Wingdings</vt:lpstr>
      <vt:lpstr>Chincheta</vt:lpstr>
      <vt:lpstr>La cirugía plástica </vt:lpstr>
      <vt:lpstr>Presentación de PowerPoint</vt:lpstr>
      <vt:lpstr>Cirugía reconstructiva o reparadora  </vt:lpstr>
      <vt:lpstr>Presentación de PowerPoint</vt:lpstr>
      <vt:lpstr>Presentación de PowerPoint</vt:lpstr>
      <vt:lpstr>Cirugía estética o cosmética  </vt:lpstr>
      <vt:lpstr>Presentación de PowerPoint</vt:lpstr>
      <vt:lpstr>Consideraciones Anatómicas y Fisiopatología del Envejecimiento Facial</vt:lpstr>
      <vt:lpstr>   La capa subcutánea está formada principalmente por tejido graso, con algunos tabiques fibrosos que transmiten el movimiento desde las capas más profundas (músculos miméticos) al superficie. Hay regiones en las que la grasa es más densa, son las llamadas almohadillas grasas, que son responsables del contorno facial normal, y con el envejecimiento se producen cambios de su distribución  </vt:lpstr>
      <vt:lpstr>LIGAMENTOS DE RETENCION</vt:lpstr>
      <vt:lpstr>Presentación de PowerPoint</vt:lpstr>
      <vt:lpstr> SMAS (Sistema Músculo Aponeurótico Superficial) </vt:lpstr>
      <vt:lpstr>Presentación de PowerPoint</vt:lpstr>
      <vt:lpstr>  Tipos de músculos faciales </vt:lpstr>
      <vt:lpstr>Presentación de PowerPoint</vt:lpstr>
      <vt:lpstr>LIFTING FACIAL</vt:lpstr>
      <vt:lpstr>Presentación de PowerPoint</vt:lpstr>
      <vt:lpstr> BLEFAROPLASTIA CIRUGÍA DE PÁRPADOS </vt:lpstr>
      <vt:lpstr>Presentación de PowerPoint</vt:lpstr>
      <vt:lpstr>Presentación de PowerPoint</vt:lpstr>
      <vt:lpstr> RINOPLASTIA CIRUGÍA DE NARIZ </vt:lpstr>
      <vt:lpstr>A quien le beneficia una rinoplastia?</vt:lpstr>
      <vt:lpstr>Presentación de PowerPoint</vt:lpstr>
      <vt:lpstr>Mamoplastia</vt:lpstr>
      <vt:lpstr>Presentación de PowerPoint</vt:lpstr>
      <vt:lpstr>Presentación de PowerPoint</vt:lpstr>
      <vt:lpstr>FISIOPATOLOGÍA DE LA PARED DEL ABDOMEN Y LA REGIÓN INGUINOCRURAL </vt:lpstr>
      <vt:lpstr>LA PARED DEL ABDOMEN ESTA FORMADO POR LAS SIGUIENTES CAPAS - Piel - Tejido subcutaneo, - Musculo y sus fascias profundas - Aponeurosis - Extraperitoneal  - Peritoneo parietal</vt:lpstr>
      <vt:lpstr> Qué es la Abdominoplastia? </vt:lpstr>
      <vt:lpstr>Existen riesgos? ¿Hay garantías?</vt:lpstr>
      <vt:lpstr>Presentación de PowerPoint</vt:lpstr>
      <vt:lpstr>Presentación de PowerPoint</vt:lpstr>
      <vt:lpstr>Presentación de PowerPoint</vt:lpstr>
      <vt:lpstr>GLUTEOPLASTIA IMPLANTES DE GLÚTEOS</vt:lpstr>
      <vt:lpstr>Presentación de PowerPoint</vt:lpstr>
      <vt:lpstr> LIPOSUCCIÓN</vt:lpstr>
      <vt:lpstr>Presentación de PowerPoint</vt:lpstr>
      <vt:lpstr>BÓTOX / RELLENOS</vt:lpstr>
      <vt:lpstr>Presentación de PowerPoint</vt:lpstr>
      <vt:lpstr>Presentación de PowerPoint</vt:lpstr>
    </vt:vector>
  </TitlesOfParts>
  <Company>GP</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cirugía plástica</dc:title>
  <dc:creator>Boris</dc:creator>
  <cp:lastModifiedBy>profe Boris</cp:lastModifiedBy>
  <cp:revision>53</cp:revision>
  <dcterms:created xsi:type="dcterms:W3CDTF">2014-03-15T00:57:35Z</dcterms:created>
  <dcterms:modified xsi:type="dcterms:W3CDTF">2014-09-20T11:53:06Z</dcterms:modified>
</cp:coreProperties>
</file>