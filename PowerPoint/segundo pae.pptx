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5" d="100"/>
          <a:sy n="45" d="100"/>
        </p:scale>
        <p:origin x="-123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1">
        <a:schemeClr val="bg1"/>
      </p:bgRef>
    </p:bg>
    <p:spTree>
      <p:nvGrpSpPr>
        <p:cNvPr id="1" name=""/>
        <p:cNvGrpSpPr/>
        <p:nvPr/>
      </p:nvGrpSpPr>
      <p:grpSpPr>
        <a:xfrm>
          <a:off x="0" y="0"/>
          <a:ext cx="0" cy="0"/>
          <a:chOff x="0" y="0"/>
          <a:chExt cx="0" cy="0"/>
        </a:xfrm>
      </p:grpSpPr>
      <p:sp>
        <p:nvSpPr>
          <p:cNvPr id="8" name="7 Título"/>
          <p:cNvSpPr>
            <a:spLocks noGrp="1"/>
          </p:cNvSpPr>
          <p:nvPr>
            <p:ph type="ctrTitle"/>
          </p:nvPr>
        </p:nvSpPr>
        <p:spPr>
          <a:xfrm>
            <a:off x="2286000" y="3124200"/>
            <a:ext cx="6172200" cy="1894362"/>
          </a:xfrm>
        </p:spPr>
        <p:txBody>
          <a:bodyPr/>
          <a:lstStyle>
            <a:lvl1pPr>
              <a:defRPr b="1"/>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bwMode="auto">
          <a:xfrm rot="5400000">
            <a:off x="7764621" y="1174097"/>
            <a:ext cx="2286000" cy="381000"/>
          </a:xfrm>
        </p:spPr>
        <p:txBody>
          <a:bodyPr/>
          <a:lstStyle/>
          <a:p>
            <a:fld id="{48545A44-EF4B-4F3F-8DAA-3D9B5B436743}" type="datetimeFigureOut">
              <a:rPr lang="es-ES" smtClean="0"/>
              <a:t>30/09/2013</a:t>
            </a:fld>
            <a:endParaRPr lang="es-ES"/>
          </a:p>
        </p:txBody>
      </p:sp>
      <p:sp>
        <p:nvSpPr>
          <p:cNvPr id="17" name="16 Marcador de pie de página"/>
          <p:cNvSpPr>
            <a:spLocks noGrp="1"/>
          </p:cNvSpPr>
          <p:nvPr>
            <p:ph type="ftr" sz="quarter" idx="11"/>
          </p:nvPr>
        </p:nvSpPr>
        <p:spPr bwMode="auto">
          <a:xfrm rot="5400000">
            <a:off x="7077269" y="4181669"/>
            <a:ext cx="3657600" cy="384048"/>
          </a:xfrm>
        </p:spPr>
        <p:txBody>
          <a:bodyPr/>
          <a:lstStyle/>
          <a:p>
            <a:endParaRPr lang="es-ES"/>
          </a:p>
        </p:txBody>
      </p:sp>
      <p:sp>
        <p:nvSpPr>
          <p:cNvPr id="10"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Conector recto"/>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Elipse"/>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Elipse"/>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Marcador de número de diapositiva"/>
          <p:cNvSpPr>
            <a:spLocks noGrp="1"/>
          </p:cNvSpPr>
          <p:nvPr>
            <p:ph type="sldNum" sz="quarter" idx="12"/>
          </p:nvPr>
        </p:nvSpPr>
        <p:spPr bwMode="auto">
          <a:xfrm>
            <a:off x="1325544" y="4928702"/>
            <a:ext cx="609600" cy="517524"/>
          </a:xfrm>
        </p:spPr>
        <p:txBody>
          <a:bodyPr/>
          <a:lstStyle/>
          <a:p>
            <a:fld id="{E6C13B84-76A3-45F8-B2BE-9C7860EE5A54}"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8" name="7 Marcador de contenido"/>
          <p:cNvSpPr>
            <a:spLocks noGrp="1"/>
          </p:cNvSpPr>
          <p:nvPr>
            <p:ph sz="quarter" idx="1"/>
          </p:nvPr>
        </p:nvSpPr>
        <p:spPr>
          <a:xfrm>
            <a:off x="457200" y="1600200"/>
            <a:ext cx="7467600" cy="4873752"/>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4"/>
          </p:nvPr>
        </p:nvSpPr>
        <p:spPr/>
        <p:txBody>
          <a:bodyPr rtlCol="0"/>
          <a:lstStyle/>
          <a:p>
            <a:fld id="{48545A44-EF4B-4F3F-8DAA-3D9B5B436743}" type="datetimeFigureOut">
              <a:rPr lang="es-ES" smtClean="0"/>
              <a:t>30/09/2013</a:t>
            </a:fld>
            <a:endParaRPr lang="es-ES"/>
          </a:p>
        </p:txBody>
      </p:sp>
      <p:sp>
        <p:nvSpPr>
          <p:cNvPr id="9" name="8 Marcador de número de diapositiva"/>
          <p:cNvSpPr>
            <a:spLocks noGrp="1"/>
          </p:cNvSpPr>
          <p:nvPr>
            <p:ph type="sldNum" sz="quarter" idx="15"/>
          </p:nvPr>
        </p:nvSpPr>
        <p:spPr/>
        <p:txBody>
          <a:bodyPr rtlCol="0"/>
          <a:lstStyle/>
          <a:p>
            <a:fld id="{E6C13B84-76A3-45F8-B2BE-9C7860EE5A54}" type="slidenum">
              <a:rPr lang="es-ES" smtClean="0"/>
              <a:t>‹Nº›</a:t>
            </a:fld>
            <a:endParaRPr lang="es-ES"/>
          </a:p>
        </p:txBody>
      </p:sp>
      <p:sp>
        <p:nvSpPr>
          <p:cNvPr id="10" name="9 Marcador de pie de página"/>
          <p:cNvSpPr>
            <a:spLocks noGrp="1"/>
          </p:cNvSpPr>
          <p:nvPr>
            <p:ph type="ftr" sz="quarter" idx="16"/>
          </p:nvPr>
        </p:nvSpPr>
        <p:spPr/>
        <p:txBody>
          <a:bodyPr rtlCol="0"/>
          <a:lstStyle/>
          <a:p>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bwMode="auto">
          <a:xfrm rot="5400000">
            <a:off x="7763256" y="1170432"/>
            <a:ext cx="2286000" cy="381000"/>
          </a:xfrm>
        </p:spPr>
        <p:txBody>
          <a:bodyPr/>
          <a:lstStyle/>
          <a:p>
            <a:fld id="{48545A44-EF4B-4F3F-8DAA-3D9B5B436743}" type="datetimeFigureOut">
              <a:rPr lang="es-ES" smtClean="0"/>
              <a:t>30/09/2013</a:t>
            </a:fld>
            <a:endParaRPr lang="es-ES"/>
          </a:p>
        </p:txBody>
      </p:sp>
      <p:sp>
        <p:nvSpPr>
          <p:cNvPr id="5" name="4 Marcador de pie de página"/>
          <p:cNvSpPr>
            <a:spLocks noGrp="1"/>
          </p:cNvSpPr>
          <p:nvPr>
            <p:ph type="ftr" sz="quarter" idx="11"/>
          </p:nvPr>
        </p:nvSpPr>
        <p:spPr bwMode="auto">
          <a:xfrm rot="5400000">
            <a:off x="7077456" y="4178808"/>
            <a:ext cx="3657600" cy="384048"/>
          </a:xfrm>
        </p:spPr>
        <p:txBody>
          <a:bodyPr/>
          <a:lstStyle/>
          <a:p>
            <a:endParaRPr lang="es-ES"/>
          </a:p>
        </p:txBody>
      </p:sp>
      <p:sp>
        <p:nvSpPr>
          <p:cNvPr id="9"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Conector recto"/>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Conector recto"/>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Elipse"/>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Elipse"/>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Elipse"/>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Elipse"/>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Conector recto"/>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Marcador de número de diapositiva"/>
          <p:cNvSpPr>
            <a:spLocks noGrp="1"/>
          </p:cNvSpPr>
          <p:nvPr>
            <p:ph type="sldNum" sz="quarter" idx="12"/>
          </p:nvPr>
        </p:nvSpPr>
        <p:spPr bwMode="auto">
          <a:xfrm>
            <a:off x="1340616" y="4928702"/>
            <a:ext cx="609600" cy="517524"/>
          </a:xfrm>
        </p:spPr>
        <p:txBody>
          <a:bodyPr/>
          <a:lstStyle/>
          <a:p>
            <a:fld id="{E6C13B84-76A3-45F8-B2BE-9C7860EE5A54}" type="slidenum">
              <a:rPr lang="es-ES" smtClean="0"/>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48545A44-EF4B-4F3F-8DAA-3D9B5B436743}" type="datetimeFigureOut">
              <a:rPr lang="es-ES" smtClean="0"/>
              <a:t>30/09/2013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E6C13B84-76A3-45F8-B2BE-9C7860EE5A54}" type="slidenum">
              <a:rPr lang="es-ES" smtClean="0"/>
              <a:t>‹Nº›</a:t>
            </a:fld>
            <a:endParaRPr lang="es-ES"/>
          </a:p>
        </p:txBody>
      </p:sp>
      <p:sp>
        <p:nvSpPr>
          <p:cNvPr id="9" name="8 Marcador de contenido"/>
          <p:cNvSpPr>
            <a:spLocks noGrp="1"/>
          </p:cNvSpPr>
          <p:nvPr>
            <p:ph sz="quarter" idx="1"/>
          </p:nvPr>
        </p:nvSpPr>
        <p:spPr>
          <a:xfrm>
            <a:off x="457200"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270248" y="1600200"/>
            <a:ext cx="3657600" cy="4572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nchor="b"/>
          <a:lstStyle>
            <a:lvl1pPr>
              <a:defRPr/>
            </a:lvl1pPr>
          </a:lstStyle>
          <a:p>
            <a:r>
              <a:rPr kumimoji="0" lang="es-ES" smtClean="0"/>
              <a:t>Haga clic para modificar el estilo de título del patrón</a:t>
            </a:r>
            <a:endParaRPr kumimoji="0" lang="en-US"/>
          </a:p>
        </p:txBody>
      </p:sp>
      <p:sp>
        <p:nvSpPr>
          <p:cNvPr id="7" name="6 Marcador de fecha"/>
          <p:cNvSpPr>
            <a:spLocks noGrp="1"/>
          </p:cNvSpPr>
          <p:nvPr>
            <p:ph type="dt" sz="half" idx="10"/>
          </p:nvPr>
        </p:nvSpPr>
        <p:spPr/>
        <p:txBody>
          <a:bodyPr/>
          <a:lstStyle/>
          <a:p>
            <a:fld id="{48545A44-EF4B-4F3F-8DAA-3D9B5B436743}" type="datetimeFigureOut">
              <a:rPr lang="es-ES" smtClean="0"/>
              <a:t>30/09/2013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E6C13B84-76A3-45F8-B2BE-9C7860EE5A54}" type="slidenum">
              <a:rPr lang="es-ES" smtClean="0"/>
              <a:t>‹Nº›</a:t>
            </a:fld>
            <a:endParaRPr lang="es-ES"/>
          </a:p>
        </p:txBody>
      </p:sp>
      <p:sp>
        <p:nvSpPr>
          <p:cNvPr id="11" name="10 Marcador de contenido"/>
          <p:cNvSpPr>
            <a:spLocks noGrp="1"/>
          </p:cNvSpPr>
          <p:nvPr>
            <p:ph sz="quarter" idx="2"/>
          </p:nvPr>
        </p:nvSpPr>
        <p:spPr>
          <a:xfrm>
            <a:off x="457200"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371975" y="2362200"/>
            <a:ext cx="3657600" cy="38862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s-ES" smtClean="0"/>
              <a:t>Haga clic para modificar el estilo de texto del patrón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6" name="5 Marcador de fecha"/>
          <p:cNvSpPr>
            <a:spLocks noGrp="1"/>
          </p:cNvSpPr>
          <p:nvPr>
            <p:ph type="dt" sz="half" idx="10"/>
          </p:nvPr>
        </p:nvSpPr>
        <p:spPr/>
        <p:txBody>
          <a:bodyPr rtlCol="0"/>
          <a:lstStyle/>
          <a:p>
            <a:fld id="{48545A44-EF4B-4F3F-8DAA-3D9B5B436743}" type="datetimeFigureOut">
              <a:rPr lang="es-ES" smtClean="0"/>
              <a:t>30/09/2013</a:t>
            </a:fld>
            <a:endParaRPr lang="es-ES"/>
          </a:p>
        </p:txBody>
      </p:sp>
      <p:sp>
        <p:nvSpPr>
          <p:cNvPr id="7" name="6 Marcador de número de diapositiva"/>
          <p:cNvSpPr>
            <a:spLocks noGrp="1"/>
          </p:cNvSpPr>
          <p:nvPr>
            <p:ph type="sldNum" sz="quarter" idx="11"/>
          </p:nvPr>
        </p:nvSpPr>
        <p:spPr/>
        <p:txBody>
          <a:bodyPr rtlCol="0"/>
          <a:lstStyle/>
          <a:p>
            <a:fld id="{E6C13B84-76A3-45F8-B2BE-9C7860EE5A54}" type="slidenum">
              <a:rPr lang="es-ES" smtClean="0"/>
              <a:t>‹Nº›</a:t>
            </a:fld>
            <a:endParaRPr lang="es-ES"/>
          </a:p>
        </p:txBody>
      </p:sp>
      <p:sp>
        <p:nvSpPr>
          <p:cNvPr id="8" name="7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8545A44-EF4B-4F3F-8DAA-3D9B5B436743}" type="datetimeFigureOut">
              <a:rPr lang="es-ES" smtClean="0"/>
              <a:t>30/09/2013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E6C13B84-76A3-45F8-B2BE-9C7860EE5A54}"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1">
        <a:schemeClr val="bg1"/>
      </p:bgRef>
    </p:bg>
    <p:spTree>
      <p:nvGrpSpPr>
        <p:cNvPr id="1" name=""/>
        <p:cNvGrpSpPr/>
        <p:nvPr/>
      </p:nvGrpSpPr>
      <p:grpSpPr>
        <a:xfrm>
          <a:off x="0" y="0"/>
          <a:ext cx="0" cy="0"/>
          <a:chOff x="0" y="0"/>
          <a:chExt cx="0" cy="0"/>
        </a:xfrm>
      </p:grpSpPr>
      <p:sp>
        <p:nvSpPr>
          <p:cNvPr id="10"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Título"/>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8"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Marcador de contenido"/>
          <p:cNvSpPr>
            <a:spLocks noGrp="1"/>
          </p:cNvSpPr>
          <p:nvPr>
            <p:ph sz="quarter" idx="1"/>
          </p:nvPr>
        </p:nvSpPr>
        <p:spPr>
          <a:xfrm>
            <a:off x="304800" y="274320"/>
            <a:ext cx="5638800" cy="6327648"/>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1" name="20 Marcador de fecha"/>
          <p:cNvSpPr>
            <a:spLocks noGrp="1"/>
          </p:cNvSpPr>
          <p:nvPr>
            <p:ph type="dt" sz="half" idx="14"/>
          </p:nvPr>
        </p:nvSpPr>
        <p:spPr/>
        <p:txBody>
          <a:bodyPr rtlCol="0"/>
          <a:lstStyle/>
          <a:p>
            <a:fld id="{48545A44-EF4B-4F3F-8DAA-3D9B5B436743}" type="datetimeFigureOut">
              <a:rPr lang="es-ES" smtClean="0"/>
              <a:t>30/09/2013</a:t>
            </a:fld>
            <a:endParaRPr lang="es-ES"/>
          </a:p>
        </p:txBody>
      </p:sp>
      <p:sp>
        <p:nvSpPr>
          <p:cNvPr id="22" name="21 Marcador de número de diapositiva"/>
          <p:cNvSpPr>
            <a:spLocks noGrp="1"/>
          </p:cNvSpPr>
          <p:nvPr>
            <p:ph type="sldNum" sz="quarter" idx="15"/>
          </p:nvPr>
        </p:nvSpPr>
        <p:spPr/>
        <p:txBody>
          <a:bodyPr rtlCol="0"/>
          <a:lstStyle/>
          <a:p>
            <a:fld id="{E6C13B84-76A3-45F8-B2BE-9C7860EE5A54}" type="slidenum">
              <a:rPr lang="es-ES" smtClean="0"/>
              <a:t>‹Nº›</a:t>
            </a:fld>
            <a:endParaRPr lang="es-ES"/>
          </a:p>
        </p:txBody>
      </p:sp>
      <p:sp>
        <p:nvSpPr>
          <p:cNvPr id="23" name="22 Marcador de pie de página"/>
          <p:cNvSpPr>
            <a:spLocks noGrp="1"/>
          </p:cNvSpPr>
          <p:nvPr>
            <p:ph type="ftr" sz="quarter" idx="16"/>
          </p:nvPr>
        </p:nvSpPr>
        <p:spPr/>
        <p:txBody>
          <a:bodyPr rtlCol="0"/>
          <a:lstStyle/>
          <a:p>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Título"/>
          <p:cNvSpPr>
            <a:spLocks noGrp="1"/>
          </p:cNvSpPr>
          <p:nvPr>
            <p:ph type="title"/>
          </p:nvPr>
        </p:nvSpPr>
        <p:spPr>
          <a:xfrm rot="5400000">
            <a:off x="3350133" y="3200400"/>
            <a:ext cx="6309360" cy="457200"/>
          </a:xfrm>
        </p:spPr>
        <p:txBody>
          <a:bodyPr anchor="b"/>
          <a:lstStyle>
            <a:lvl1pPr algn="l">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10"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Conector recto"/>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Marcador de fecha"/>
          <p:cNvSpPr>
            <a:spLocks noGrp="1"/>
          </p:cNvSpPr>
          <p:nvPr>
            <p:ph type="dt" sz="half" idx="10"/>
          </p:nvPr>
        </p:nvSpPr>
        <p:spPr/>
        <p:txBody>
          <a:bodyPr rtlCol="0"/>
          <a:lstStyle/>
          <a:p>
            <a:fld id="{48545A44-EF4B-4F3F-8DAA-3D9B5B436743}" type="datetimeFigureOut">
              <a:rPr lang="es-ES" smtClean="0"/>
              <a:t>30/09/2013</a:t>
            </a:fld>
            <a:endParaRPr lang="es-ES"/>
          </a:p>
        </p:txBody>
      </p:sp>
      <p:sp>
        <p:nvSpPr>
          <p:cNvPr id="18" name="17 Marcador de número de diapositiva"/>
          <p:cNvSpPr>
            <a:spLocks noGrp="1"/>
          </p:cNvSpPr>
          <p:nvPr>
            <p:ph type="sldNum" sz="quarter" idx="11"/>
          </p:nvPr>
        </p:nvSpPr>
        <p:spPr/>
        <p:txBody>
          <a:bodyPr rtlCol="0"/>
          <a:lstStyle/>
          <a:p>
            <a:fld id="{E6C13B84-76A3-45F8-B2BE-9C7860EE5A54}" type="slidenum">
              <a:rPr lang="es-ES" smtClean="0"/>
              <a:t>‹Nº›</a:t>
            </a:fld>
            <a:endParaRPr lang="es-ES"/>
          </a:p>
        </p:txBody>
      </p:sp>
      <p:sp>
        <p:nvSpPr>
          <p:cNvPr id="21" name="20 Marcador de pie de página"/>
          <p:cNvSpPr>
            <a:spLocks noGrp="1"/>
          </p:cNvSpPr>
          <p:nvPr>
            <p:ph type="ftr" sz="quarter" idx="12"/>
          </p:nvPr>
        </p:nvSpPr>
        <p:spPr/>
        <p:txBody>
          <a:bodyPr rtlCol="0"/>
          <a:lstStyle/>
          <a:p>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48545A44-EF4B-4F3F-8DAA-3D9B5B436743}" type="datetimeFigureOut">
              <a:rPr lang="es-ES" smtClean="0"/>
              <a:t>30/09/2013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6C13B84-76A3-45F8-B2BE-9C7860EE5A54}"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48545A44-EF4B-4F3F-8DAA-3D9B5B436743}" type="datetimeFigureOut">
              <a:rPr lang="es-ES" smtClean="0"/>
              <a:t>30/09/2013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E6C13B84-76A3-45F8-B2BE-9C7860EE5A54}"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48545A44-EF4B-4F3F-8DAA-3D9B5B436743}" type="datetimeFigureOut">
              <a:rPr lang="es-ES" smtClean="0"/>
              <a:t>30/09/2013</a:t>
            </a:fld>
            <a:endParaRPr lang="es-ES"/>
          </a:p>
        </p:txBody>
      </p:sp>
      <p:sp>
        <p:nvSpPr>
          <p:cNvPr id="3" name="2 Marcador de pie de página"/>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s-ES"/>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Elipse"/>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Marcador de número de diapositiva"/>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E6C13B84-76A3-45F8-B2BE-9C7860EE5A54}"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940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79172" y="1196752"/>
            <a:ext cx="7776864" cy="4662815"/>
          </a:xfrm>
          <a:prstGeom prst="rect">
            <a:avLst/>
          </a:prstGeom>
        </p:spPr>
        <p:txBody>
          <a:bodyPr wrap="square">
            <a:spAutoFit/>
          </a:bodyPr>
          <a:lstStyle/>
          <a:p>
            <a:pPr marL="342900" lvl="0" indent="-342900" algn="just">
              <a:lnSpc>
                <a:spcPct val="150000"/>
              </a:lnSpc>
              <a:spcAft>
                <a:spcPts val="0"/>
              </a:spcAft>
              <a:buFont typeface="+mj-lt"/>
              <a:buAutoNum type="romanUcPeriod"/>
            </a:pPr>
            <a:r>
              <a:rPr lang="es-BO" b="1" dirty="0" smtClean="0">
                <a:effectLst/>
                <a:latin typeface="Bookman Old Style"/>
                <a:ea typeface="Calibri"/>
                <a:cs typeface="Times New Roman"/>
              </a:rPr>
              <a:t>DATOS GENERALES DEL PACIENTE:</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Nombre: </a:t>
            </a:r>
            <a:r>
              <a:rPr lang="es-BO" dirty="0" smtClean="0">
                <a:effectLst/>
                <a:latin typeface="Bookman Old Style"/>
                <a:ea typeface="Calibri"/>
                <a:cs typeface="Times New Roman"/>
              </a:rPr>
              <a:t>B.T.T.                                    </a:t>
            </a:r>
            <a:r>
              <a:rPr lang="es-BO" b="1" dirty="0" smtClean="0">
                <a:effectLst/>
                <a:latin typeface="Bookman Old Style"/>
                <a:ea typeface="Calibri"/>
                <a:cs typeface="Times New Roman"/>
              </a:rPr>
              <a:t> Sala: </a:t>
            </a:r>
            <a:r>
              <a:rPr lang="es-BO" dirty="0" smtClean="0">
                <a:effectLst/>
                <a:latin typeface="Bookman Old Style"/>
                <a:ea typeface="Calibri"/>
                <a:cs typeface="Times New Roman"/>
              </a:rPr>
              <a:t>112 - A</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Edad:</a:t>
            </a:r>
            <a:r>
              <a:rPr lang="es-BO" dirty="0" smtClean="0">
                <a:effectLst/>
                <a:latin typeface="Bookman Old Style"/>
                <a:ea typeface="Calibri"/>
                <a:cs typeface="Times New Roman"/>
              </a:rPr>
              <a:t> 20 años</a:t>
            </a:r>
            <a:r>
              <a:rPr lang="es-BO" b="1" dirty="0" smtClean="0">
                <a:effectLst/>
                <a:latin typeface="Bookman Old Style"/>
                <a:ea typeface="Calibri"/>
                <a:cs typeface="Times New Roman"/>
              </a:rPr>
              <a:t> </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Estado civil:</a:t>
            </a:r>
            <a:r>
              <a:rPr lang="es-BO" dirty="0" smtClean="0">
                <a:effectLst/>
                <a:latin typeface="Bookman Old Style"/>
                <a:ea typeface="Calibri"/>
                <a:cs typeface="Times New Roman"/>
              </a:rPr>
              <a:t> Concubina</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Procedencia: </a:t>
            </a:r>
            <a:r>
              <a:rPr lang="es-BO" dirty="0" err="1" smtClean="0">
                <a:effectLst/>
                <a:latin typeface="Bookman Old Style"/>
                <a:ea typeface="Calibri"/>
                <a:cs typeface="Times New Roman"/>
              </a:rPr>
              <a:t>Tapacari</a:t>
            </a:r>
            <a:r>
              <a:rPr lang="es-BO" dirty="0" smtClean="0">
                <a:effectLst/>
                <a:latin typeface="Bookman Old Style"/>
                <a:ea typeface="Calibri"/>
                <a:cs typeface="Times New Roman"/>
              </a:rPr>
              <a:t> – Cercado – Cochabamba</a:t>
            </a:r>
            <a:endParaRPr lang="es-ES" dirty="0" smtClean="0">
              <a:effectLst/>
              <a:latin typeface="Cambria"/>
              <a:ea typeface="Calibri"/>
              <a:cs typeface="Times New Roman"/>
            </a:endParaRPr>
          </a:p>
          <a:p>
            <a:pPr>
              <a:lnSpc>
                <a:spcPct val="150000"/>
              </a:lnSpc>
            </a:pPr>
            <a:r>
              <a:rPr lang="es-BO" b="1" dirty="0" smtClean="0">
                <a:effectLst/>
                <a:latin typeface="Bookman Old Style"/>
                <a:ea typeface="Calibri"/>
                <a:cs typeface="Times New Roman"/>
              </a:rPr>
              <a:t>Grado de escolaridad:</a:t>
            </a:r>
            <a:r>
              <a:rPr lang="es-BO" dirty="0" smtClean="0">
                <a:effectLst/>
                <a:latin typeface="Bookman Old Style"/>
                <a:ea typeface="Calibri"/>
                <a:cs typeface="Times New Roman"/>
              </a:rPr>
              <a:t> Segundo básico</a:t>
            </a:r>
            <a:endParaRPr lang="es-ES" dirty="0" smtClean="0">
              <a:effectLst/>
              <a:latin typeface="Cambria"/>
              <a:ea typeface="Calibri"/>
              <a:cs typeface="Times New Roman"/>
            </a:endParaRPr>
          </a:p>
          <a:p>
            <a:pPr>
              <a:lnSpc>
                <a:spcPct val="150000"/>
              </a:lnSpc>
            </a:pPr>
            <a:r>
              <a:rPr lang="es-BO" b="1" dirty="0" smtClean="0">
                <a:effectLst/>
                <a:latin typeface="Bookman Old Style"/>
                <a:ea typeface="Calibri"/>
                <a:cs typeface="Times New Roman"/>
              </a:rPr>
              <a:t>Sexo:</a:t>
            </a:r>
            <a:r>
              <a:rPr lang="es-BO" dirty="0" smtClean="0">
                <a:effectLst/>
                <a:latin typeface="Bookman Old Style"/>
                <a:ea typeface="Calibri"/>
                <a:cs typeface="Times New Roman"/>
              </a:rPr>
              <a:t> Femenino</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Ocupación: </a:t>
            </a:r>
            <a:r>
              <a:rPr lang="es-BO" dirty="0" smtClean="0">
                <a:effectLst/>
                <a:latin typeface="Bookman Old Style"/>
                <a:ea typeface="Calibri"/>
                <a:cs typeface="Times New Roman"/>
              </a:rPr>
              <a:t>Comerciante</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Fecha de ingreso: </a:t>
            </a:r>
            <a:r>
              <a:rPr lang="es-BO" dirty="0" smtClean="0">
                <a:effectLst/>
                <a:latin typeface="Bookman Old Style"/>
                <a:ea typeface="Calibri"/>
                <a:cs typeface="Times New Roman"/>
              </a:rPr>
              <a:t>15 – 09 – 13   </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Hora: </a:t>
            </a:r>
            <a:r>
              <a:rPr lang="es-BO" dirty="0" smtClean="0">
                <a:effectLst/>
                <a:latin typeface="Bookman Old Style"/>
                <a:ea typeface="Calibri"/>
                <a:cs typeface="Times New Roman"/>
              </a:rPr>
              <a:t>11:20</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Fecha de valoración</a:t>
            </a:r>
            <a:r>
              <a:rPr lang="es-BO" dirty="0" smtClean="0">
                <a:effectLst/>
                <a:latin typeface="Bookman Old Style"/>
                <a:ea typeface="Calibri"/>
                <a:cs typeface="Times New Roman"/>
              </a:rPr>
              <a:t>: 22/09/13</a:t>
            </a:r>
            <a:endParaRPr lang="es-ES" dirty="0">
              <a:effectLst/>
              <a:latin typeface="Cambria"/>
              <a:ea typeface="Calibri"/>
              <a:cs typeface="Times New Roman"/>
            </a:endParaRPr>
          </a:p>
        </p:txBody>
      </p:sp>
      <p:sp>
        <p:nvSpPr>
          <p:cNvPr id="5" name="4 Rectángulo"/>
          <p:cNvSpPr/>
          <p:nvPr/>
        </p:nvSpPr>
        <p:spPr>
          <a:xfrm>
            <a:off x="827584" y="188640"/>
            <a:ext cx="7632848" cy="64633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lgn="ctr">
              <a:lnSpc>
                <a:spcPct val="150000"/>
              </a:lnSpc>
              <a:spcAft>
                <a:spcPts val="1000"/>
              </a:spcAft>
            </a:pPr>
            <a:r>
              <a:rPr lang="es-BO" sz="2400" b="1" dirty="0">
                <a:latin typeface="Bookman Old Style"/>
                <a:ea typeface="Calibri"/>
                <a:cs typeface="Times New Roman"/>
              </a:rPr>
              <a:t>PROCESO DE ATENCIÓN DE ENFERMERÍA</a:t>
            </a:r>
            <a:endParaRPr lang="es-ES" sz="2400" dirty="0">
              <a:latin typeface="Cambria"/>
              <a:ea typeface="Calibri"/>
              <a:cs typeface="Times New Roman"/>
            </a:endParaRPr>
          </a:p>
        </p:txBody>
      </p:sp>
    </p:spTree>
    <p:extLst>
      <p:ext uri="{BB962C8B-B14F-4D97-AF65-F5344CB8AC3E}">
        <p14:creationId xmlns:p14="http://schemas.microsoft.com/office/powerpoint/2010/main" val="2066764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539552" y="1700808"/>
            <a:ext cx="7272808" cy="3416320"/>
          </a:xfrm>
          <a:prstGeom prst="rect">
            <a:avLst/>
          </a:prstGeom>
        </p:spPr>
        <p:txBody>
          <a:bodyPr wrap="square">
            <a:spAutoFit/>
          </a:bodyPr>
          <a:lstStyle/>
          <a:p>
            <a:pPr lvl="1" algn="just">
              <a:lnSpc>
                <a:spcPct val="150000"/>
              </a:lnSpc>
              <a:spcAft>
                <a:spcPts val="0"/>
              </a:spcAft>
            </a:pPr>
            <a:r>
              <a:rPr lang="es-BO" b="1" dirty="0" smtClean="0">
                <a:effectLst/>
                <a:latin typeface="Bookman Old Style"/>
                <a:ea typeface="Calibri"/>
                <a:cs typeface="Times New Roman"/>
              </a:rPr>
              <a:t>Antecedentes familiares:</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Madre:</a:t>
            </a:r>
            <a:r>
              <a:rPr lang="es-BO" dirty="0" smtClean="0">
                <a:effectLst/>
                <a:latin typeface="Bookman Old Style"/>
                <a:ea typeface="Calibri"/>
                <a:cs typeface="Times New Roman"/>
              </a:rPr>
              <a:t> de 62 años de edad, con problemas de artritis y artrosis.</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Padre:</a:t>
            </a:r>
            <a:r>
              <a:rPr lang="es-BO" dirty="0" smtClean="0">
                <a:effectLst/>
                <a:latin typeface="Bookman Old Style"/>
                <a:ea typeface="Calibri"/>
                <a:cs typeface="Times New Roman"/>
              </a:rPr>
              <a:t> de 64 de edad, con problema de artritis.</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Concubino:</a:t>
            </a:r>
            <a:r>
              <a:rPr lang="es-BO" dirty="0" smtClean="0">
                <a:effectLst/>
                <a:latin typeface="Bookman Old Style"/>
                <a:ea typeface="Calibri"/>
                <a:cs typeface="Times New Roman"/>
              </a:rPr>
              <a:t> de 20 años de edad, aparentemente sano. </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Hermanos:</a:t>
            </a:r>
            <a:r>
              <a:rPr lang="es-BO" dirty="0" smtClean="0">
                <a:effectLst/>
                <a:latin typeface="Bookman Old Style"/>
                <a:ea typeface="Calibri"/>
                <a:cs typeface="Times New Roman"/>
              </a:rPr>
              <a:t> 9 hermanos, 5 varones, 4 mujeres todos aparentemente sanos.</a:t>
            </a:r>
            <a:endParaRPr lang="es-ES" dirty="0" smtClean="0">
              <a:effectLst/>
              <a:latin typeface="Cambria"/>
              <a:ea typeface="Calibri"/>
              <a:cs typeface="Times New Roman"/>
            </a:endParaRPr>
          </a:p>
          <a:p>
            <a:pPr algn="just">
              <a:lnSpc>
                <a:spcPct val="150000"/>
              </a:lnSpc>
              <a:spcAft>
                <a:spcPts val="0"/>
              </a:spcAft>
            </a:pPr>
            <a:r>
              <a:rPr lang="es-BO" b="1" dirty="0" smtClean="0">
                <a:effectLst/>
                <a:latin typeface="Bookman Old Style"/>
                <a:ea typeface="Calibri"/>
                <a:cs typeface="Times New Roman"/>
              </a:rPr>
              <a:t>Hijos:</a:t>
            </a:r>
            <a:r>
              <a:rPr lang="es-BO" dirty="0" smtClean="0">
                <a:effectLst/>
                <a:latin typeface="Bookman Old Style"/>
                <a:ea typeface="Calibri"/>
                <a:cs typeface="Times New Roman"/>
              </a:rPr>
              <a:t> No tiene.</a:t>
            </a:r>
            <a:endParaRPr lang="es-ES" dirty="0">
              <a:effectLst/>
              <a:latin typeface="Cambria"/>
              <a:ea typeface="Calibri"/>
              <a:cs typeface="Times New Roman"/>
            </a:endParaRPr>
          </a:p>
        </p:txBody>
      </p:sp>
      <p:sp>
        <p:nvSpPr>
          <p:cNvPr id="5" name="4 Rectángulo"/>
          <p:cNvSpPr/>
          <p:nvPr/>
        </p:nvSpPr>
        <p:spPr>
          <a:xfrm>
            <a:off x="2411760" y="302713"/>
            <a:ext cx="4887044" cy="66133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lgn="ctr">
              <a:lnSpc>
                <a:spcPct val="150000"/>
              </a:lnSpc>
            </a:pPr>
            <a:r>
              <a:rPr lang="es-BO" sz="2800" b="1" dirty="0">
                <a:solidFill>
                  <a:prstClr val="black"/>
                </a:solidFill>
                <a:latin typeface="Bookman Old Style"/>
                <a:ea typeface="Calibri"/>
                <a:cs typeface="Times New Roman"/>
              </a:rPr>
              <a:t>HISTORIA MÈDICA</a:t>
            </a:r>
            <a:endParaRPr lang="es-ES" sz="2800" dirty="0">
              <a:solidFill>
                <a:prstClr val="black"/>
              </a:solidFill>
              <a:latin typeface="Cambria"/>
              <a:ea typeface="Calibri"/>
              <a:cs typeface="Times New Roman"/>
            </a:endParaRPr>
          </a:p>
        </p:txBody>
      </p:sp>
    </p:spTree>
    <p:extLst>
      <p:ext uri="{BB962C8B-B14F-4D97-AF65-F5344CB8AC3E}">
        <p14:creationId xmlns:p14="http://schemas.microsoft.com/office/powerpoint/2010/main" val="3596162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539552" y="332656"/>
            <a:ext cx="7992888" cy="5170646"/>
          </a:xfrm>
          <a:prstGeom prst="rect">
            <a:avLst/>
          </a:prstGeom>
        </p:spPr>
        <p:txBody>
          <a:bodyPr wrap="square">
            <a:spAutoFit/>
          </a:bodyPr>
          <a:lstStyle/>
          <a:p>
            <a:pPr algn="just">
              <a:lnSpc>
                <a:spcPct val="150000"/>
              </a:lnSpc>
              <a:spcAft>
                <a:spcPts val="0"/>
              </a:spcAft>
            </a:pPr>
            <a:r>
              <a:rPr lang="es-BO" sz="2000" b="1" dirty="0" smtClean="0">
                <a:effectLst/>
                <a:latin typeface="Bookman Old Style"/>
                <a:ea typeface="Calibri"/>
                <a:cs typeface="Times New Roman"/>
              </a:rPr>
              <a:t>Antecedentes personales:</a:t>
            </a:r>
            <a:endParaRPr lang="es-ES" sz="2000" dirty="0" smtClean="0">
              <a:effectLst/>
              <a:latin typeface="Cambria"/>
              <a:ea typeface="Calibri"/>
              <a:cs typeface="Times New Roman"/>
            </a:endParaRPr>
          </a:p>
          <a:p>
            <a:pPr algn="just">
              <a:lnSpc>
                <a:spcPct val="150000"/>
              </a:lnSpc>
              <a:spcAft>
                <a:spcPts val="0"/>
              </a:spcAft>
            </a:pPr>
            <a:r>
              <a:rPr lang="es-BO" sz="2000" b="1" dirty="0" smtClean="0">
                <a:effectLst/>
                <a:latin typeface="Bookman Old Style"/>
                <a:ea typeface="Calibri"/>
                <a:cs typeface="Times New Roman"/>
              </a:rPr>
              <a:t>Clínicos:</a:t>
            </a:r>
            <a:r>
              <a:rPr lang="es-BO" sz="2000" dirty="0" smtClean="0">
                <a:effectLst/>
                <a:latin typeface="Bookman Old Style"/>
                <a:ea typeface="Calibri"/>
                <a:cs typeface="Times New Roman"/>
              </a:rPr>
              <a:t> refiere que hace +/- 6 meses, presento una herida en la pierna derecha de unos 2 cm de diámetro, por lo cual asistió a la posta, donde le realizaron curaciones, sin embargo el cuadro empeoro, la herida se hizo más profunda llegando a una osteomielitis, por lo cual en doctor de la posta le indico que debería de asistir a un tercer nivel de atención. Pero no tenía recursos económicos por lo cual asistió a la ayuda espiritual, sin efecto, de esta manera decidió asistir a un nivel superior de atención, donde en el transcurso del viaje sufrió el accidente de tránsito.</a:t>
            </a:r>
            <a:endParaRPr lang="es-ES" sz="2000" dirty="0">
              <a:effectLst/>
              <a:latin typeface="Cambria"/>
              <a:ea typeface="Calibri"/>
              <a:cs typeface="Times New Roman"/>
            </a:endParaRPr>
          </a:p>
        </p:txBody>
      </p:sp>
      <p:sp>
        <p:nvSpPr>
          <p:cNvPr id="5" name="4 Rectángulo"/>
          <p:cNvSpPr/>
          <p:nvPr/>
        </p:nvSpPr>
        <p:spPr>
          <a:xfrm>
            <a:off x="683568" y="5561029"/>
            <a:ext cx="4572000" cy="923330"/>
          </a:xfrm>
          <a:prstGeom prst="rect">
            <a:avLst/>
          </a:prstGeom>
        </p:spPr>
        <p:txBody>
          <a:bodyPr>
            <a:spAutoFit/>
          </a:bodyPr>
          <a:lstStyle/>
          <a:p>
            <a:pPr algn="just">
              <a:lnSpc>
                <a:spcPct val="150000"/>
              </a:lnSpc>
              <a:spcAft>
                <a:spcPts val="0"/>
              </a:spcAft>
            </a:pPr>
            <a:r>
              <a:rPr lang="es-BO" dirty="0" smtClean="0">
                <a:effectLst/>
                <a:latin typeface="Bookman Old Style"/>
                <a:ea typeface="Calibri"/>
                <a:cs typeface="Times New Roman"/>
              </a:rPr>
              <a:t> </a:t>
            </a:r>
            <a:endParaRPr lang="es-ES" dirty="0" smtClean="0">
              <a:effectLst/>
              <a:latin typeface="Cambria"/>
              <a:ea typeface="Calibri"/>
              <a:cs typeface="Times New Roman"/>
            </a:endParaRPr>
          </a:p>
          <a:p>
            <a:pPr>
              <a:lnSpc>
                <a:spcPct val="150000"/>
              </a:lnSpc>
            </a:pPr>
            <a:r>
              <a:rPr lang="es-BO" b="1" dirty="0" smtClean="0">
                <a:effectLst/>
                <a:latin typeface="Bookman Old Style"/>
                <a:ea typeface="Calibri"/>
                <a:cs typeface="Times New Roman"/>
              </a:rPr>
              <a:t>Quirúrgico: </a:t>
            </a:r>
            <a:r>
              <a:rPr lang="es-BO" dirty="0" smtClean="0">
                <a:effectLst/>
                <a:latin typeface="Bookman Old Style"/>
                <a:ea typeface="Calibri"/>
                <a:cs typeface="Times New Roman"/>
              </a:rPr>
              <a:t>no refiere.</a:t>
            </a:r>
            <a:endParaRPr lang="es-ES" dirty="0">
              <a:effectLst/>
              <a:latin typeface="Cambria"/>
              <a:ea typeface="Calibri"/>
              <a:cs typeface="Times New Roman"/>
            </a:endParaRPr>
          </a:p>
        </p:txBody>
      </p:sp>
    </p:spTree>
    <p:extLst>
      <p:ext uri="{BB962C8B-B14F-4D97-AF65-F5344CB8AC3E}">
        <p14:creationId xmlns:p14="http://schemas.microsoft.com/office/powerpoint/2010/main" val="2914707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95536" y="889844"/>
            <a:ext cx="8136904" cy="5014450"/>
          </a:xfrm>
          <a:prstGeom prst="rect">
            <a:avLst/>
          </a:prstGeom>
        </p:spPr>
        <p:txBody>
          <a:bodyPr wrap="square">
            <a:spAutoFit/>
          </a:bodyPr>
          <a:lstStyle/>
          <a:p>
            <a:pPr algn="just">
              <a:lnSpc>
                <a:spcPct val="150000"/>
              </a:lnSpc>
              <a:spcAft>
                <a:spcPts val="0"/>
              </a:spcAft>
            </a:pPr>
            <a:r>
              <a:rPr lang="es-BO" sz="2400" b="1" dirty="0" smtClean="0">
                <a:effectLst/>
                <a:latin typeface="Bookman Old Style"/>
                <a:ea typeface="Calibri"/>
                <a:cs typeface="Times New Roman"/>
              </a:rPr>
              <a:t>Enfermedad actual:</a:t>
            </a:r>
            <a:endParaRPr lang="es-ES" sz="2400" dirty="0" smtClean="0">
              <a:effectLst/>
              <a:latin typeface="Cambria"/>
              <a:ea typeface="Calibri"/>
              <a:cs typeface="Times New Roman"/>
            </a:endParaRPr>
          </a:p>
          <a:p>
            <a:pPr algn="just">
              <a:lnSpc>
                <a:spcPct val="150000"/>
              </a:lnSpc>
              <a:spcAft>
                <a:spcPts val="0"/>
              </a:spcAft>
            </a:pPr>
            <a:r>
              <a:rPr lang="es-BO" sz="2400" dirty="0" smtClean="0">
                <a:effectLst/>
                <a:latin typeface="Bookman Old Style"/>
                <a:ea typeface="Calibri"/>
                <a:cs typeface="Times New Roman"/>
              </a:rPr>
              <a:t>Paciente de 20 años de edad, de sexo femenino, ingresa a emergencia con antecedentes de haber sufrido un accidente de tránsito, cuando viajaba de Pongo a Cochabamba, en la flota Trans Azul, refiere que viajaba con velocidad, producto del cual fue impactado de frente hacia un camión, la paciente refiere haber salido por la ventana y haber pérdido el conocimiento por tiempo no estimado.</a:t>
            </a:r>
            <a:endParaRPr lang="es-ES" sz="2400" dirty="0">
              <a:effectLst/>
              <a:latin typeface="Cambria"/>
              <a:ea typeface="Calibri"/>
              <a:cs typeface="Times New Roman"/>
            </a:endParaRPr>
          </a:p>
        </p:txBody>
      </p:sp>
    </p:spTree>
    <p:extLst>
      <p:ext uri="{BB962C8B-B14F-4D97-AF65-F5344CB8AC3E}">
        <p14:creationId xmlns:p14="http://schemas.microsoft.com/office/powerpoint/2010/main" val="32601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11560" y="908720"/>
            <a:ext cx="7704856" cy="4524315"/>
          </a:xfrm>
          <a:prstGeom prst="rect">
            <a:avLst/>
          </a:prstGeom>
        </p:spPr>
        <p:txBody>
          <a:bodyPr wrap="square">
            <a:spAutoFit/>
          </a:bodyPr>
          <a:lstStyle/>
          <a:p>
            <a:pPr algn="just">
              <a:lnSpc>
                <a:spcPct val="150000"/>
              </a:lnSpc>
              <a:spcAft>
                <a:spcPts val="0"/>
              </a:spcAft>
            </a:pPr>
            <a:r>
              <a:rPr lang="es-BO" sz="2400" b="1" dirty="0" smtClean="0">
                <a:effectLst/>
                <a:latin typeface="Bookman Old Style"/>
                <a:ea typeface="Calibri"/>
                <a:cs typeface="Times New Roman"/>
              </a:rPr>
              <a:t>Diagnóstico: Médico actual</a:t>
            </a:r>
            <a:endParaRPr lang="es-ES" sz="2400" dirty="0" smtClean="0">
              <a:effectLst/>
              <a:latin typeface="Cambria"/>
              <a:ea typeface="Calibri"/>
              <a:cs typeface="Times New Roman"/>
            </a:endParaRPr>
          </a:p>
          <a:p>
            <a:pPr algn="just">
              <a:lnSpc>
                <a:spcPct val="150000"/>
              </a:lnSpc>
              <a:spcAft>
                <a:spcPts val="0"/>
              </a:spcAft>
            </a:pPr>
            <a:r>
              <a:rPr lang="es-BO" sz="2400" dirty="0" smtClean="0">
                <a:effectLst/>
                <a:latin typeface="Bookman Old Style"/>
                <a:ea typeface="Calibri"/>
                <a:cs typeface="Times New Roman"/>
              </a:rPr>
              <a:t> </a:t>
            </a:r>
            <a:endParaRPr lang="es-ES" sz="2400" dirty="0" smtClean="0">
              <a:effectLst/>
              <a:latin typeface="Cambria"/>
              <a:ea typeface="Calibri"/>
              <a:cs typeface="Times New Roman"/>
            </a:endParaRPr>
          </a:p>
          <a:p>
            <a:pPr algn="just">
              <a:lnSpc>
                <a:spcPct val="150000"/>
              </a:lnSpc>
              <a:spcAft>
                <a:spcPts val="0"/>
              </a:spcAft>
            </a:pPr>
            <a:r>
              <a:rPr lang="es-BO" sz="2400" b="1" dirty="0" smtClean="0">
                <a:effectLst/>
                <a:latin typeface="Bookman Old Style"/>
                <a:ea typeface="Calibri"/>
                <a:cs typeface="Times New Roman"/>
              </a:rPr>
              <a:t>a).- Clínico:</a:t>
            </a:r>
            <a:r>
              <a:rPr lang="es-BO" sz="2400" dirty="0" smtClean="0">
                <a:effectLst/>
                <a:latin typeface="Bookman Old Style"/>
                <a:ea typeface="Calibri"/>
                <a:cs typeface="Times New Roman"/>
              </a:rPr>
              <a:t>   Fractura de fémur derecho</a:t>
            </a:r>
            <a:endParaRPr lang="es-ES" sz="2400" dirty="0" smtClean="0">
              <a:effectLst/>
              <a:latin typeface="Cambria"/>
              <a:ea typeface="Calibri"/>
              <a:cs typeface="Times New Roman"/>
            </a:endParaRPr>
          </a:p>
          <a:p>
            <a:pPr algn="just">
              <a:lnSpc>
                <a:spcPct val="150000"/>
              </a:lnSpc>
              <a:spcAft>
                <a:spcPts val="0"/>
              </a:spcAft>
            </a:pPr>
            <a:r>
              <a:rPr lang="es-BO" sz="2400" dirty="0" smtClean="0">
                <a:effectLst/>
                <a:latin typeface="Bookman Old Style"/>
                <a:ea typeface="Calibri"/>
                <a:cs typeface="Times New Roman"/>
              </a:rPr>
              <a:t>                     Fractura de pelvis</a:t>
            </a:r>
            <a:endParaRPr lang="es-ES" sz="2400" dirty="0" smtClean="0">
              <a:effectLst/>
              <a:latin typeface="Cambria"/>
              <a:ea typeface="Calibri"/>
              <a:cs typeface="Times New Roman"/>
            </a:endParaRPr>
          </a:p>
          <a:p>
            <a:pPr algn="just">
              <a:lnSpc>
                <a:spcPct val="150000"/>
              </a:lnSpc>
              <a:spcAft>
                <a:spcPts val="0"/>
              </a:spcAft>
            </a:pPr>
            <a:r>
              <a:rPr lang="es-BO" sz="2400" dirty="0" smtClean="0">
                <a:effectLst/>
                <a:latin typeface="Bookman Old Style"/>
                <a:ea typeface="Calibri"/>
                <a:cs typeface="Times New Roman"/>
              </a:rPr>
              <a:t>                     Osteomielitis</a:t>
            </a:r>
            <a:endParaRPr lang="es-ES" sz="2400" dirty="0" smtClean="0">
              <a:effectLst/>
              <a:latin typeface="Cambria"/>
              <a:ea typeface="Calibri"/>
              <a:cs typeface="Times New Roman"/>
            </a:endParaRPr>
          </a:p>
          <a:p>
            <a:pPr algn="just">
              <a:lnSpc>
                <a:spcPct val="150000"/>
              </a:lnSpc>
              <a:spcAft>
                <a:spcPts val="0"/>
              </a:spcAft>
            </a:pPr>
            <a:r>
              <a:rPr lang="es-BO" sz="2400" b="1" dirty="0" smtClean="0">
                <a:effectLst/>
                <a:latin typeface="Bookman Old Style"/>
                <a:ea typeface="Calibri"/>
                <a:cs typeface="Times New Roman"/>
              </a:rPr>
              <a:t> </a:t>
            </a:r>
            <a:endParaRPr lang="es-ES" sz="2400" dirty="0" smtClean="0">
              <a:effectLst/>
              <a:latin typeface="Cambria"/>
              <a:ea typeface="Calibri"/>
              <a:cs typeface="Times New Roman"/>
            </a:endParaRPr>
          </a:p>
          <a:p>
            <a:pPr algn="just">
              <a:lnSpc>
                <a:spcPct val="150000"/>
              </a:lnSpc>
              <a:spcAft>
                <a:spcPts val="0"/>
              </a:spcAft>
            </a:pPr>
            <a:r>
              <a:rPr lang="es-BO" sz="2400" b="1" dirty="0" smtClean="0">
                <a:effectLst/>
                <a:latin typeface="Bookman Old Style"/>
                <a:ea typeface="Calibri"/>
                <a:cs typeface="Times New Roman"/>
              </a:rPr>
              <a:t>b).- Quirúrgico:</a:t>
            </a:r>
            <a:r>
              <a:rPr lang="es-BO" sz="2400" dirty="0" smtClean="0">
                <a:effectLst/>
                <a:latin typeface="Bookman Old Style"/>
                <a:ea typeface="Calibri"/>
                <a:cs typeface="Times New Roman"/>
              </a:rPr>
              <a:t> Osteosíntesis con placa</a:t>
            </a:r>
            <a:endParaRPr lang="es-ES" sz="2400" dirty="0" smtClean="0">
              <a:effectLst/>
              <a:latin typeface="Cambria"/>
              <a:ea typeface="Calibri"/>
              <a:cs typeface="Times New Roman"/>
            </a:endParaRPr>
          </a:p>
          <a:p>
            <a:pPr marL="457200">
              <a:lnSpc>
                <a:spcPct val="150000"/>
              </a:lnSpc>
            </a:pPr>
            <a:r>
              <a:rPr lang="es-BO" sz="2400" dirty="0" smtClean="0">
                <a:effectLst/>
                <a:latin typeface="Bookman Old Style"/>
                <a:ea typeface="Calibri"/>
                <a:cs typeface="Times New Roman"/>
              </a:rPr>
              <a:t>                Shock hipovolémico</a:t>
            </a:r>
            <a:endParaRPr lang="es-ES" sz="2400" dirty="0">
              <a:effectLst/>
              <a:latin typeface="Cambria"/>
              <a:ea typeface="Calibri"/>
              <a:cs typeface="Times New Roman"/>
            </a:endParaRPr>
          </a:p>
        </p:txBody>
      </p:sp>
    </p:spTree>
    <p:extLst>
      <p:ext uri="{BB962C8B-B14F-4D97-AF65-F5344CB8AC3E}">
        <p14:creationId xmlns:p14="http://schemas.microsoft.com/office/powerpoint/2010/main" val="3929616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251520" y="1196752"/>
            <a:ext cx="8136904" cy="5262979"/>
          </a:xfrm>
          <a:prstGeom prst="rect">
            <a:avLst/>
          </a:prstGeom>
        </p:spPr>
        <p:txBody>
          <a:bodyPr wrap="square">
            <a:spAutoFit/>
          </a:bodyPr>
          <a:lstStyle/>
          <a:p>
            <a:pPr algn="just">
              <a:lnSpc>
                <a:spcPct val="150000"/>
              </a:lnSpc>
              <a:spcAft>
                <a:spcPts val="0"/>
              </a:spcAft>
            </a:pPr>
            <a:r>
              <a:rPr lang="es-BO" sz="1600" b="1" dirty="0" smtClean="0">
                <a:effectLst/>
                <a:latin typeface="Bookman Old Style"/>
                <a:ea typeface="Calibri"/>
                <a:cs typeface="Times New Roman"/>
              </a:rPr>
              <a:t> FRACTURA DE PELVIS</a:t>
            </a:r>
            <a:endParaRPr lang="es-ES" sz="1600" dirty="0" smtClean="0">
              <a:effectLst/>
              <a:latin typeface="Cambria"/>
              <a:ea typeface="Calibri"/>
              <a:cs typeface="Times New Roman"/>
            </a:endParaRPr>
          </a:p>
          <a:p>
            <a:pPr algn="just">
              <a:lnSpc>
                <a:spcPct val="150000"/>
              </a:lnSpc>
              <a:spcAft>
                <a:spcPts val="0"/>
              </a:spcAft>
            </a:pPr>
            <a:r>
              <a:rPr lang="es-BO" sz="1600" dirty="0" smtClean="0">
                <a:effectLst/>
                <a:latin typeface="Bookman Old Style"/>
                <a:ea typeface="Calibri"/>
                <a:cs typeface="Times New Roman"/>
              </a:rPr>
              <a:t>La fractura por un traumatismo directo, puede provocar fracturas que por su sintomatología, compromiso óseo, pronóstico y tratamiento pueden dividirse en cuatro grupos:</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dirty="0" smtClean="0">
                <a:effectLst/>
                <a:latin typeface="Bookman Old Style"/>
                <a:ea typeface="Calibri"/>
                <a:cs typeface="Times New Roman"/>
              </a:rPr>
              <a:t>Fracturas que no comprometen la integridad del anillo pelviano. Por ejemplo, fractura aislada del ala ilíaca, de una rama pubiana o del </a:t>
            </a:r>
            <a:r>
              <a:rPr lang="es-BO" sz="1600" dirty="0" err="1" smtClean="0">
                <a:effectLst/>
                <a:latin typeface="Bookman Old Style"/>
                <a:ea typeface="Calibri"/>
                <a:cs typeface="Times New Roman"/>
              </a:rPr>
              <a:t>isquión</a:t>
            </a:r>
            <a:r>
              <a:rPr lang="es-BO" sz="1600" dirty="0" smtClean="0">
                <a:effectLst/>
                <a:latin typeface="Bookman Old Style"/>
                <a:ea typeface="Calibri"/>
                <a:cs typeface="Times New Roman"/>
              </a:rPr>
              <a:t>. </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dirty="0" smtClean="0">
                <a:effectLst/>
                <a:latin typeface="Bookman Old Style"/>
                <a:ea typeface="Calibri"/>
                <a:cs typeface="Times New Roman"/>
              </a:rPr>
              <a:t>Fracturas que comprometen el anillo pelviano en un solo segmento. Por ejemplo, fractura del isquion y pubis (del agujero obturador), fractura de toda un ala ilíaca. </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dirty="0" smtClean="0">
                <a:effectLst/>
                <a:latin typeface="Bookman Old Style"/>
                <a:ea typeface="Calibri"/>
                <a:cs typeface="Times New Roman"/>
              </a:rPr>
              <a:t>Fracturas que comprometen el anillo pelviano en dos o más segmentos. Por ejemplo, fracturas de las ramas </a:t>
            </a:r>
            <a:r>
              <a:rPr lang="es-BO" sz="1600" dirty="0" err="1" smtClean="0">
                <a:effectLst/>
                <a:latin typeface="Bookman Old Style"/>
                <a:ea typeface="Calibri"/>
                <a:cs typeface="Times New Roman"/>
              </a:rPr>
              <a:t>isquio</a:t>
            </a:r>
            <a:r>
              <a:rPr lang="es-BO" sz="1600" dirty="0" smtClean="0">
                <a:effectLst/>
                <a:latin typeface="Bookman Old Style"/>
                <a:ea typeface="Calibri"/>
                <a:cs typeface="Times New Roman"/>
              </a:rPr>
              <a:t>-pubianas de ambos lados, fractura de la rama </a:t>
            </a:r>
            <a:r>
              <a:rPr lang="es-BO" sz="1600" dirty="0" err="1" smtClean="0">
                <a:effectLst/>
                <a:latin typeface="Bookman Old Style"/>
                <a:ea typeface="Calibri"/>
                <a:cs typeface="Times New Roman"/>
              </a:rPr>
              <a:t>isquio</a:t>
            </a:r>
            <a:r>
              <a:rPr lang="es-BO" sz="1600" dirty="0" smtClean="0">
                <a:effectLst/>
                <a:latin typeface="Bookman Old Style"/>
                <a:ea typeface="Calibri"/>
                <a:cs typeface="Times New Roman"/>
              </a:rPr>
              <a:t>-pubiana y del ala ilíaca del mismo lado. </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dirty="0" smtClean="0">
                <a:effectLst/>
                <a:latin typeface="Bookman Old Style"/>
                <a:ea typeface="Calibri"/>
                <a:cs typeface="Times New Roman"/>
              </a:rPr>
              <a:t>La fractura con hundimiento mayor o menor del </a:t>
            </a:r>
            <a:r>
              <a:rPr lang="es-BO" sz="1600" dirty="0" err="1" smtClean="0">
                <a:effectLst/>
                <a:latin typeface="Bookman Old Style"/>
                <a:ea typeface="Calibri"/>
                <a:cs typeface="Times New Roman"/>
              </a:rPr>
              <a:t>cótilo</a:t>
            </a:r>
            <a:r>
              <a:rPr lang="es-BO" sz="1600" dirty="0" smtClean="0">
                <a:effectLst/>
                <a:latin typeface="Bookman Old Style"/>
                <a:ea typeface="Calibri"/>
                <a:cs typeface="Times New Roman"/>
              </a:rPr>
              <a:t> (</a:t>
            </a:r>
            <a:r>
              <a:rPr lang="es-BO" sz="1600" dirty="0" err="1" smtClean="0">
                <a:effectLst/>
                <a:latin typeface="Bookman Old Style"/>
                <a:ea typeface="Calibri"/>
                <a:cs typeface="Times New Roman"/>
              </a:rPr>
              <a:t>luxofractura</a:t>
            </a:r>
            <a:r>
              <a:rPr lang="es-BO" sz="1600" dirty="0" smtClean="0">
                <a:effectLst/>
                <a:latin typeface="Bookman Old Style"/>
                <a:ea typeface="Calibri"/>
                <a:cs typeface="Times New Roman"/>
              </a:rPr>
              <a:t> central de la cadera).</a:t>
            </a:r>
            <a:endParaRPr lang="es-ES" sz="1600" dirty="0">
              <a:effectLst/>
              <a:latin typeface="Cambria"/>
              <a:ea typeface="Calibri"/>
              <a:cs typeface="Times New Roman"/>
            </a:endParaRPr>
          </a:p>
        </p:txBody>
      </p:sp>
      <p:sp>
        <p:nvSpPr>
          <p:cNvPr id="5" name="4 Rectángulo"/>
          <p:cNvSpPr/>
          <p:nvPr/>
        </p:nvSpPr>
        <p:spPr>
          <a:xfrm>
            <a:off x="1247774" y="401936"/>
            <a:ext cx="6852617" cy="49879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lgn="ctr">
              <a:lnSpc>
                <a:spcPct val="150000"/>
              </a:lnSpc>
            </a:pPr>
            <a:r>
              <a:rPr lang="es-BO" sz="2000" b="1" dirty="0">
                <a:solidFill>
                  <a:prstClr val="black"/>
                </a:solidFill>
                <a:latin typeface="Bookman Old Style"/>
                <a:ea typeface="Calibri"/>
                <a:cs typeface="Times New Roman"/>
              </a:rPr>
              <a:t>DESCRIPCIÓN DEL DIAGNOSTICO MÉDICO</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2847926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95536" y="266596"/>
            <a:ext cx="8136904" cy="5579156"/>
          </a:xfrm>
          <a:prstGeom prst="rect">
            <a:avLst/>
          </a:prstGeom>
        </p:spPr>
        <p:txBody>
          <a:bodyPr wrap="square">
            <a:spAutoFit/>
          </a:bodyPr>
          <a:lstStyle/>
          <a:p>
            <a:pPr algn="just">
              <a:lnSpc>
                <a:spcPct val="150000"/>
              </a:lnSpc>
              <a:spcAft>
                <a:spcPts val="0"/>
              </a:spcAft>
            </a:pPr>
            <a:r>
              <a:rPr lang="es-BO" sz="2000" b="1" dirty="0" smtClean="0">
                <a:effectLst/>
                <a:latin typeface="Bookman Old Style"/>
                <a:ea typeface="Calibri"/>
                <a:cs typeface="Times New Roman"/>
              </a:rPr>
              <a:t>Fractura de fémur</a:t>
            </a:r>
            <a:endParaRPr lang="es-ES" sz="2000" dirty="0" smtClean="0">
              <a:effectLst/>
              <a:latin typeface="Cambria"/>
              <a:ea typeface="Calibri"/>
              <a:cs typeface="Times New Roman"/>
            </a:endParaRPr>
          </a:p>
          <a:p>
            <a:pPr algn="just">
              <a:lnSpc>
                <a:spcPct val="150000"/>
              </a:lnSpc>
              <a:spcAft>
                <a:spcPts val="0"/>
              </a:spcAft>
            </a:pPr>
            <a:r>
              <a:rPr lang="es-ES" sz="2000" dirty="0" smtClean="0">
                <a:effectLst/>
                <a:latin typeface="Bookman Old Style"/>
                <a:ea typeface="Calibri"/>
                <a:cs typeface="Times New Roman"/>
              </a:rPr>
              <a:t>Una fractura femoral es la ruptura del hueso del muslo. Es un hueso que va desde la cadera hasta la rodilla. Es conocido como el hueso más largo y fuerte del cuerpo. Por ello, es necesaria mucha fuerza para romperlo. </a:t>
            </a:r>
            <a:endParaRPr lang="es-ES" sz="2000" dirty="0" smtClean="0">
              <a:effectLst/>
              <a:latin typeface="Cambria"/>
              <a:ea typeface="Calibri"/>
              <a:cs typeface="Times New Roman"/>
            </a:endParaRPr>
          </a:p>
          <a:p>
            <a:pPr algn="just">
              <a:lnSpc>
                <a:spcPct val="150000"/>
              </a:lnSpc>
              <a:spcAft>
                <a:spcPts val="0"/>
              </a:spcAft>
            </a:pPr>
            <a:r>
              <a:rPr lang="es-ES" sz="2000" b="1" dirty="0" smtClean="0">
                <a:effectLst/>
                <a:latin typeface="Bookman Old Style"/>
                <a:ea typeface="Calibri"/>
                <a:cs typeface="Times New Roman"/>
              </a:rPr>
              <a:t> </a:t>
            </a:r>
            <a:endParaRPr lang="es-ES" sz="2000" dirty="0" smtClean="0">
              <a:effectLst/>
              <a:latin typeface="Cambria"/>
              <a:ea typeface="Calibri"/>
              <a:cs typeface="Times New Roman"/>
            </a:endParaRPr>
          </a:p>
          <a:p>
            <a:pPr algn="just">
              <a:lnSpc>
                <a:spcPct val="150000"/>
              </a:lnSpc>
              <a:spcAft>
                <a:spcPts val="0"/>
              </a:spcAft>
            </a:pPr>
            <a:r>
              <a:rPr lang="es-ES" sz="2000" b="1" dirty="0" smtClean="0">
                <a:effectLst/>
                <a:latin typeface="Bookman Old Style"/>
                <a:ea typeface="Calibri"/>
                <a:cs typeface="Times New Roman"/>
              </a:rPr>
              <a:t>Causas:</a:t>
            </a:r>
            <a:endParaRPr lang="es-ES" sz="2000" dirty="0" smtClean="0">
              <a:effectLst/>
              <a:latin typeface="Cambria"/>
              <a:ea typeface="Calibri"/>
              <a:cs typeface="Times New Roman"/>
            </a:endParaRPr>
          </a:p>
          <a:p>
            <a:pPr algn="just">
              <a:lnSpc>
                <a:spcPct val="150000"/>
              </a:lnSpc>
              <a:spcAft>
                <a:spcPts val="0"/>
              </a:spcAft>
            </a:pPr>
            <a:r>
              <a:rPr lang="es-ES" sz="2000" dirty="0" smtClean="0">
                <a:effectLst/>
                <a:latin typeface="Bookman Old Style"/>
                <a:ea typeface="Calibri"/>
                <a:cs typeface="Times New Roman"/>
              </a:rPr>
              <a:t>Causada por el traumatismo directo en el hueso. </a:t>
            </a:r>
            <a:endParaRPr lang="es-ES" sz="20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ES" sz="2000" dirty="0" smtClean="0">
                <a:effectLst/>
                <a:latin typeface="Bookman Old Style"/>
                <a:ea typeface="Calibri"/>
                <a:cs typeface="Times New Roman"/>
              </a:rPr>
              <a:t>Caídas. </a:t>
            </a:r>
            <a:endParaRPr lang="es-ES" sz="20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ES" sz="2000" dirty="0" smtClean="0">
                <a:effectLst/>
                <a:latin typeface="Bookman Old Style"/>
                <a:ea typeface="Calibri"/>
                <a:cs typeface="Times New Roman"/>
              </a:rPr>
              <a:t>Golpes. </a:t>
            </a:r>
            <a:endParaRPr lang="es-ES" sz="20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ES" sz="2000" dirty="0" smtClean="0">
                <a:effectLst/>
                <a:latin typeface="Bookman Old Style"/>
                <a:ea typeface="Calibri"/>
                <a:cs typeface="Times New Roman"/>
              </a:rPr>
              <a:t>Accidentes automovilísticos. </a:t>
            </a:r>
            <a:endParaRPr lang="es-ES" sz="20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ES" sz="2000" dirty="0" smtClean="0">
                <a:effectLst/>
                <a:latin typeface="Bookman Old Style"/>
                <a:ea typeface="Calibri"/>
                <a:cs typeface="Times New Roman"/>
              </a:rPr>
              <a:t>Torceduras severas.</a:t>
            </a:r>
            <a:endParaRPr lang="es-ES" sz="2000" dirty="0">
              <a:effectLst/>
              <a:latin typeface="Cambria"/>
              <a:ea typeface="Calibri"/>
              <a:cs typeface="Times New Roman"/>
            </a:endParaRPr>
          </a:p>
        </p:txBody>
      </p:sp>
    </p:spTree>
    <p:extLst>
      <p:ext uri="{BB962C8B-B14F-4D97-AF65-F5344CB8AC3E}">
        <p14:creationId xmlns:p14="http://schemas.microsoft.com/office/powerpoint/2010/main" val="168973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11560" y="692696"/>
            <a:ext cx="7848872" cy="4708981"/>
          </a:xfrm>
          <a:prstGeom prst="rect">
            <a:avLst/>
          </a:prstGeom>
        </p:spPr>
        <p:txBody>
          <a:bodyPr wrap="square">
            <a:spAutoFit/>
          </a:bodyPr>
          <a:lstStyle/>
          <a:p>
            <a:pPr algn="just">
              <a:lnSpc>
                <a:spcPct val="150000"/>
              </a:lnSpc>
              <a:spcAft>
                <a:spcPts val="0"/>
              </a:spcAft>
            </a:pPr>
            <a:r>
              <a:rPr lang="es-BO" sz="2000" b="1" dirty="0" smtClean="0">
                <a:effectLst/>
                <a:latin typeface="Bookman Old Style"/>
                <a:ea typeface="Calibri"/>
                <a:cs typeface="Times New Roman"/>
              </a:rPr>
              <a:t>Osteosíntesis con placa </a:t>
            </a:r>
            <a:endParaRPr lang="es-ES" sz="2000" dirty="0" smtClean="0">
              <a:effectLst/>
              <a:latin typeface="Cambria"/>
              <a:ea typeface="Calibri"/>
              <a:cs typeface="Times New Roman"/>
            </a:endParaRPr>
          </a:p>
          <a:p>
            <a:pPr algn="just">
              <a:lnSpc>
                <a:spcPct val="150000"/>
              </a:lnSpc>
              <a:spcAft>
                <a:spcPts val="0"/>
              </a:spcAft>
            </a:pPr>
            <a:r>
              <a:rPr lang="es-ES" sz="2000" dirty="0" smtClean="0">
                <a:effectLst/>
                <a:latin typeface="Bookman Old Style"/>
                <a:ea typeface="Calibri"/>
                <a:cs typeface="Times New Roman"/>
              </a:rPr>
              <a:t>La osteosíntesis es un tratamiento quirúrgico de fracturas, en el que éstas son reducidas y fijadas en forma estable. Para ello se utiliza la implantación de diferentes dispositivos tales como placas, clavos, tornillos, alambre, agujas y pines, entre otros. Inicialmente estos implantes estaban fabricados de acero de grado médico, pero al ir evolucionando se han sumado otros materiales más bio-compatibles como aleaciones de titanio y polímeros bio-absorbibles como el PLLA (polímero de ácido </a:t>
            </a:r>
            <a:r>
              <a:rPr lang="es-ES" sz="2000" dirty="0" err="1" smtClean="0">
                <a:effectLst/>
                <a:latin typeface="Bookman Old Style"/>
                <a:ea typeface="Calibri"/>
                <a:cs typeface="Times New Roman"/>
              </a:rPr>
              <a:t>poliláctico</a:t>
            </a:r>
            <a:r>
              <a:rPr lang="es-ES" sz="2000" dirty="0" smtClean="0">
                <a:effectLst/>
                <a:latin typeface="Bookman Old Style"/>
                <a:ea typeface="Calibri"/>
                <a:cs typeface="Times New Roman"/>
              </a:rPr>
              <a:t>).</a:t>
            </a:r>
            <a:endParaRPr lang="es-ES" sz="2000" dirty="0">
              <a:effectLst/>
              <a:latin typeface="Cambria"/>
              <a:ea typeface="Calibri"/>
              <a:cs typeface="Times New Roman"/>
            </a:endParaRPr>
          </a:p>
        </p:txBody>
      </p:sp>
    </p:spTree>
    <p:extLst>
      <p:ext uri="{BB962C8B-B14F-4D97-AF65-F5344CB8AC3E}">
        <p14:creationId xmlns:p14="http://schemas.microsoft.com/office/powerpoint/2010/main" val="2934611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27584" y="2060848"/>
            <a:ext cx="4572000" cy="3170099"/>
          </a:xfrm>
          <a:prstGeom prst="rect">
            <a:avLst/>
          </a:prstGeom>
        </p:spPr>
        <p:txBody>
          <a:bodyPr>
            <a:spAutoFit/>
          </a:bodyPr>
          <a:lstStyle/>
          <a:p>
            <a:r>
              <a:rPr lang="es-BO" sz="2000" b="1" dirty="0" smtClean="0">
                <a:effectLst/>
                <a:latin typeface="Bookman Old Style"/>
                <a:ea typeface="Calibri"/>
                <a:cs typeface="Times New Roman"/>
              </a:rPr>
              <a:t>A).- Medicamentos</a:t>
            </a:r>
            <a:r>
              <a:rPr lang="es-BO" sz="2000" dirty="0" smtClean="0">
                <a:effectLst/>
                <a:latin typeface="Bookman Old Style"/>
                <a:ea typeface="Calibri"/>
                <a:cs typeface="Times New Roman"/>
              </a:rPr>
              <a:t> </a:t>
            </a:r>
            <a:endParaRPr lang="es-ES" sz="2000" dirty="0" smtClean="0">
              <a:effectLst/>
              <a:latin typeface="Cambria"/>
              <a:ea typeface="Calibri"/>
              <a:cs typeface="Times New Roman"/>
            </a:endParaRPr>
          </a:p>
          <a:p>
            <a:pPr marL="342900" lvl="0" indent="-342900">
              <a:buFont typeface="Wingdings"/>
              <a:buChar char=""/>
            </a:pPr>
            <a:r>
              <a:rPr lang="es-BO" sz="2000" dirty="0" smtClean="0">
                <a:effectLst/>
                <a:latin typeface="Bookman Old Style"/>
                <a:ea typeface="Calibri"/>
                <a:cs typeface="Times New Roman"/>
              </a:rPr>
              <a:t>Ranitidina 50 mg. EV c/12</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Cefotaxima 1g EV c/8</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Gentamicina 240 mg EV c/24</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Metronidazol 500 mg EV c/8</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Clexane 40mg SC c/24</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Adecuan 10mg EV c/8</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Dexametazona 8 mg EV c/12</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Paracetamol 1g VO c/8</a:t>
            </a:r>
            <a:endParaRPr lang="es-ES" sz="2000" dirty="0" smtClean="0">
              <a:effectLst/>
              <a:latin typeface="Cambria"/>
              <a:ea typeface="Calibri"/>
              <a:cs typeface="Times New Roman"/>
            </a:endParaRPr>
          </a:p>
          <a:p>
            <a:pPr marL="342900" lvl="0" indent="-342900">
              <a:buFont typeface="Wingdings"/>
              <a:buChar char=""/>
            </a:pPr>
            <a:r>
              <a:rPr lang="es-AR" sz="2000" dirty="0" smtClean="0">
                <a:effectLst/>
                <a:latin typeface="Bookman Old Style"/>
                <a:ea typeface="Calibri"/>
                <a:cs typeface="Times New Roman"/>
              </a:rPr>
              <a:t>Veramidom 1 </a:t>
            </a:r>
            <a:r>
              <a:rPr lang="es-AR" sz="2000" dirty="0" err="1" smtClean="0">
                <a:effectLst/>
                <a:latin typeface="Bookman Old Style"/>
                <a:ea typeface="Calibri"/>
                <a:cs typeface="Times New Roman"/>
              </a:rPr>
              <a:t>amp</a:t>
            </a:r>
            <a:r>
              <a:rPr lang="es-AR" sz="2000" dirty="0" smtClean="0">
                <a:effectLst/>
                <a:latin typeface="Bookman Old Style"/>
                <a:ea typeface="Calibri"/>
                <a:cs typeface="Times New Roman"/>
              </a:rPr>
              <a:t> c/8</a:t>
            </a:r>
            <a:endParaRPr lang="es-ES" sz="2000" dirty="0">
              <a:effectLst/>
              <a:latin typeface="Cambria"/>
              <a:ea typeface="Calibri"/>
              <a:cs typeface="Times New Roman"/>
            </a:endParaRPr>
          </a:p>
        </p:txBody>
      </p:sp>
      <p:sp>
        <p:nvSpPr>
          <p:cNvPr id="5" name="4 Rectángulo"/>
          <p:cNvSpPr/>
          <p:nvPr/>
        </p:nvSpPr>
        <p:spPr>
          <a:xfrm>
            <a:off x="1346867" y="343724"/>
            <a:ext cx="6245224" cy="87363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spcAft>
                <a:spcPts val="1000"/>
              </a:spcAft>
            </a:pPr>
            <a:r>
              <a:rPr lang="es-BO" b="1" dirty="0" smtClean="0">
                <a:solidFill>
                  <a:prstClr val="black"/>
                </a:solidFill>
                <a:latin typeface="Bookman Old Style"/>
                <a:ea typeface="Calibri"/>
                <a:cs typeface="Times New Roman"/>
              </a:rPr>
              <a:t>DESCRIPCIÓN DEL TRATAMIENTO QUE RECIBE EL PACIENTE:</a:t>
            </a:r>
            <a:endParaRPr lang="es-ES" dirty="0">
              <a:solidFill>
                <a:prstClr val="black"/>
              </a:solidFill>
              <a:latin typeface="Cambria"/>
              <a:ea typeface="Calibri"/>
              <a:cs typeface="Times New Roman"/>
            </a:endParaRPr>
          </a:p>
        </p:txBody>
      </p:sp>
    </p:spTree>
    <p:extLst>
      <p:ext uri="{BB962C8B-B14F-4D97-AF65-F5344CB8AC3E}">
        <p14:creationId xmlns:p14="http://schemas.microsoft.com/office/powerpoint/2010/main" val="4038276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910021142"/>
              </p:ext>
            </p:extLst>
          </p:nvPr>
        </p:nvGraphicFramePr>
        <p:xfrm>
          <a:off x="395536" y="2500896"/>
          <a:ext cx="8136904" cy="3017520"/>
        </p:xfrm>
        <a:graphic>
          <a:graphicData uri="http://schemas.openxmlformats.org/drawingml/2006/table">
            <a:tbl>
              <a:tblPr firstRow="1" firstCol="1" bandRow="1"/>
              <a:tblGrid>
                <a:gridCol w="2236281"/>
                <a:gridCol w="2685641"/>
                <a:gridCol w="3214982"/>
              </a:tblGrid>
              <a:tr h="0">
                <a:tc>
                  <a:txBody>
                    <a:bodyPr/>
                    <a:lstStyle/>
                    <a:p>
                      <a:pPr algn="just">
                        <a:spcAft>
                          <a:spcPts val="0"/>
                        </a:spcAft>
                      </a:pPr>
                      <a:r>
                        <a:rPr lang="es-BO" sz="1800">
                          <a:effectLst/>
                          <a:latin typeface="Bookman Old Style"/>
                          <a:ea typeface="Calibri"/>
                          <a:cs typeface="Times New Roman"/>
                        </a:rPr>
                        <a:t> </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BO" sz="1800" b="1">
                          <a:effectLst/>
                          <a:latin typeface="Bookman Old Style"/>
                          <a:ea typeface="Calibri"/>
                          <a:cs typeface="Times New Roman"/>
                        </a:rPr>
                        <a:t>Resultados</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BO" sz="1800" b="1">
                          <a:effectLst/>
                          <a:latin typeface="Bookman Old Style"/>
                          <a:ea typeface="Calibri"/>
                          <a:cs typeface="Times New Roman"/>
                        </a:rPr>
                        <a:t>Valores de referencia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3">
                  <a:txBody>
                    <a:bodyPr/>
                    <a:lstStyle/>
                    <a:p>
                      <a:pPr algn="ctr">
                        <a:spcAft>
                          <a:spcPts val="0"/>
                        </a:spcAft>
                      </a:pPr>
                      <a:r>
                        <a:rPr lang="es-BO" sz="1800" b="1">
                          <a:effectLst/>
                          <a:latin typeface="Bookman Old Style"/>
                          <a:ea typeface="Calibri"/>
                          <a:cs typeface="Times New Roman"/>
                        </a:rPr>
                        <a:t>SERIE ROJA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0">
                <a:tc>
                  <a:txBody>
                    <a:bodyPr/>
                    <a:lstStyle/>
                    <a:p>
                      <a:pPr algn="just">
                        <a:spcAft>
                          <a:spcPts val="0"/>
                        </a:spcAft>
                      </a:pPr>
                      <a:r>
                        <a:rPr lang="es-BO" sz="1800" b="1">
                          <a:effectLst/>
                          <a:latin typeface="Bookman Old Style"/>
                          <a:ea typeface="Calibri"/>
                          <a:cs typeface="Times New Roman"/>
                        </a:rPr>
                        <a:t>GR</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3.560.000/mm3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4.000.000-5.500.000/m3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HB</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11g/dl</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11,5-13,0 g/dl</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HTO</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34.8%</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35-41%</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3">
                  <a:txBody>
                    <a:bodyPr/>
                    <a:lstStyle/>
                    <a:p>
                      <a:pPr algn="ctr">
                        <a:spcAft>
                          <a:spcPts val="0"/>
                        </a:spcAft>
                      </a:pPr>
                      <a:r>
                        <a:rPr lang="es-BO" sz="1800" b="1">
                          <a:effectLst/>
                          <a:latin typeface="Bookman Old Style"/>
                          <a:ea typeface="Calibri"/>
                          <a:cs typeface="Times New Roman"/>
                        </a:rPr>
                        <a:t>SERIE BLANCA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0">
                <a:tc>
                  <a:txBody>
                    <a:bodyPr/>
                    <a:lstStyle/>
                    <a:p>
                      <a:pPr algn="just">
                        <a:spcAft>
                          <a:spcPts val="0"/>
                        </a:spcAft>
                      </a:pPr>
                      <a:r>
                        <a:rPr lang="es-BO" sz="1800" b="1">
                          <a:effectLst/>
                          <a:latin typeface="Bookman Old Style"/>
                          <a:ea typeface="Calibri"/>
                          <a:cs typeface="Times New Roman"/>
                        </a:rPr>
                        <a:t>GB</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16.800/mm3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5.000-12.000/mm3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3">
                  <a:txBody>
                    <a:bodyPr/>
                    <a:lstStyle/>
                    <a:p>
                      <a:pPr algn="ctr">
                        <a:spcAft>
                          <a:spcPts val="0"/>
                        </a:spcAft>
                      </a:pPr>
                      <a:r>
                        <a:rPr lang="es-BO" sz="1800" b="1">
                          <a:effectLst/>
                          <a:latin typeface="Bookman Old Style"/>
                          <a:ea typeface="Calibri"/>
                          <a:cs typeface="Times New Roman"/>
                        </a:rPr>
                        <a:t>COAGULACION</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0">
                <a:tc>
                  <a:txBody>
                    <a:bodyPr/>
                    <a:lstStyle/>
                    <a:p>
                      <a:pPr algn="just">
                        <a:spcAft>
                          <a:spcPts val="0"/>
                        </a:spcAft>
                      </a:pPr>
                      <a:r>
                        <a:rPr lang="es-BO" sz="1800" b="1">
                          <a:effectLst/>
                          <a:latin typeface="Bookman Old Style"/>
                          <a:ea typeface="Calibri"/>
                          <a:cs typeface="Times New Roman"/>
                        </a:rPr>
                        <a:t>Plaquetas </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162.000/mm3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150.000-450.000/mm3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T. Protrombina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13.8seg.</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11.1 -13 seg.</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INR</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1.15</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dirty="0">
                          <a:effectLst/>
                          <a:latin typeface="Bookman Old Style"/>
                          <a:ea typeface="Calibri"/>
                          <a:cs typeface="Times New Roman"/>
                        </a:rPr>
                        <a:t>1.0- 1.16</a:t>
                      </a:r>
                      <a:endParaRPr lang="es-ES" sz="18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1734964" y="1124744"/>
            <a:ext cx="489654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BO" altLang="es-ES" sz="2000" b="1"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HEMOGRAMA</a:t>
            </a: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BO" altLang="es-ES" sz="2000" b="1"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          Fecha: </a:t>
            </a:r>
            <a:r>
              <a:rPr kumimoji="0" lang="es-BO" altLang="es-ES" sz="2000"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15/09/13</a:t>
            </a: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5 Rectángulo"/>
          <p:cNvSpPr/>
          <p:nvPr/>
        </p:nvSpPr>
        <p:spPr>
          <a:xfrm>
            <a:off x="1850256" y="314962"/>
            <a:ext cx="4665960"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BO" altLang="es-ES" sz="2400" b="1" dirty="0">
                <a:solidFill>
                  <a:prstClr val="black"/>
                </a:solidFill>
                <a:latin typeface="Bookman Old Style" pitchFamily="18" charset="0"/>
                <a:ea typeface="Calibri" pitchFamily="34" charset="0"/>
                <a:cs typeface="Times New Roman" pitchFamily="18" charset="0"/>
              </a:rPr>
              <a:t>EXAMENES COMPLEMENTARIOS</a:t>
            </a:r>
            <a:endParaRPr lang="es-ES" sz="2400" dirty="0"/>
          </a:p>
        </p:txBody>
      </p:sp>
    </p:spTree>
    <p:extLst>
      <p:ext uri="{BB962C8B-B14F-4D97-AF65-F5344CB8AC3E}">
        <p14:creationId xmlns:p14="http://schemas.microsoft.com/office/powerpoint/2010/main" val="1513401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3830693394"/>
              </p:ext>
            </p:extLst>
          </p:nvPr>
        </p:nvGraphicFramePr>
        <p:xfrm>
          <a:off x="611560" y="2276872"/>
          <a:ext cx="7560839" cy="3017520"/>
        </p:xfrm>
        <a:graphic>
          <a:graphicData uri="http://schemas.openxmlformats.org/drawingml/2006/table">
            <a:tbl>
              <a:tblPr firstRow="1" firstCol="1" bandRow="1"/>
              <a:tblGrid>
                <a:gridCol w="2166562"/>
                <a:gridCol w="2455180"/>
                <a:gridCol w="2939097"/>
              </a:tblGrid>
              <a:tr h="0">
                <a:tc>
                  <a:txBody>
                    <a:bodyPr/>
                    <a:lstStyle/>
                    <a:p>
                      <a:pPr algn="just">
                        <a:spcAft>
                          <a:spcPts val="0"/>
                        </a:spcAft>
                      </a:pPr>
                      <a:r>
                        <a:rPr lang="es-BO" sz="1800">
                          <a:effectLst/>
                          <a:latin typeface="Bookman Old Style"/>
                          <a:ea typeface="Calibri"/>
                          <a:cs typeface="Times New Roman"/>
                        </a:rPr>
                        <a:t> </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BO" sz="1800" b="1">
                          <a:effectLst/>
                          <a:latin typeface="Bookman Old Style"/>
                          <a:ea typeface="Calibri"/>
                          <a:cs typeface="Times New Roman"/>
                        </a:rPr>
                        <a:t>Resultados</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s-BO" sz="1800" b="1">
                          <a:effectLst/>
                          <a:latin typeface="Bookman Old Style"/>
                          <a:ea typeface="Calibri"/>
                          <a:cs typeface="Times New Roman"/>
                        </a:rPr>
                        <a:t>Valores de referencia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3">
                  <a:txBody>
                    <a:bodyPr/>
                    <a:lstStyle/>
                    <a:p>
                      <a:pPr algn="ctr">
                        <a:spcAft>
                          <a:spcPts val="0"/>
                        </a:spcAft>
                      </a:pPr>
                      <a:r>
                        <a:rPr lang="es-BO" sz="1800" b="1">
                          <a:effectLst/>
                          <a:latin typeface="Bookman Old Style"/>
                          <a:ea typeface="Calibri"/>
                          <a:cs typeface="Times New Roman"/>
                        </a:rPr>
                        <a:t>SERIE ROJA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0">
                <a:tc>
                  <a:txBody>
                    <a:bodyPr/>
                    <a:lstStyle/>
                    <a:p>
                      <a:pPr algn="just">
                        <a:spcAft>
                          <a:spcPts val="0"/>
                        </a:spcAft>
                      </a:pPr>
                      <a:r>
                        <a:rPr lang="es-BO" sz="1800" b="1">
                          <a:effectLst/>
                          <a:latin typeface="Bookman Old Style"/>
                          <a:ea typeface="Calibri"/>
                          <a:cs typeface="Times New Roman"/>
                        </a:rPr>
                        <a:t>GR</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2.550.000/mm3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4.000.000-5.500.000/m3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HB</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7.7g/dl</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11,5-13,0 g/dl</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HTO</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24.4%</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35-41%</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3">
                  <a:txBody>
                    <a:bodyPr/>
                    <a:lstStyle/>
                    <a:p>
                      <a:pPr algn="ctr">
                        <a:spcAft>
                          <a:spcPts val="0"/>
                        </a:spcAft>
                      </a:pPr>
                      <a:r>
                        <a:rPr lang="es-BO" sz="1800" b="1">
                          <a:effectLst/>
                          <a:latin typeface="Bookman Old Style"/>
                          <a:ea typeface="Calibri"/>
                          <a:cs typeface="Times New Roman"/>
                        </a:rPr>
                        <a:t>SERIE BLANCA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0">
                <a:tc>
                  <a:txBody>
                    <a:bodyPr/>
                    <a:lstStyle/>
                    <a:p>
                      <a:pPr algn="just">
                        <a:spcAft>
                          <a:spcPts val="0"/>
                        </a:spcAft>
                      </a:pPr>
                      <a:r>
                        <a:rPr lang="es-BO" sz="1800" b="1">
                          <a:effectLst/>
                          <a:latin typeface="Bookman Old Style"/>
                          <a:ea typeface="Calibri"/>
                          <a:cs typeface="Times New Roman"/>
                        </a:rPr>
                        <a:t>GB</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5.000-12.000/mm3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gridSpan="3">
                  <a:txBody>
                    <a:bodyPr/>
                    <a:lstStyle/>
                    <a:p>
                      <a:pPr algn="ctr">
                        <a:spcAft>
                          <a:spcPts val="0"/>
                        </a:spcAft>
                      </a:pPr>
                      <a:r>
                        <a:rPr lang="es-BO" sz="1800" b="1">
                          <a:effectLst/>
                          <a:latin typeface="Bookman Old Style"/>
                          <a:ea typeface="Calibri"/>
                          <a:cs typeface="Times New Roman"/>
                        </a:rPr>
                        <a:t>COAGULACION</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ES"/>
                    </a:p>
                  </a:txBody>
                  <a:tcPr/>
                </a:tc>
                <a:tc hMerge="1">
                  <a:txBody>
                    <a:bodyPr/>
                    <a:lstStyle/>
                    <a:p>
                      <a:endParaRPr lang="es-ES"/>
                    </a:p>
                  </a:txBody>
                  <a:tcPr/>
                </a:tc>
              </a:tr>
              <a:tr h="0">
                <a:tc>
                  <a:txBody>
                    <a:bodyPr/>
                    <a:lstStyle/>
                    <a:p>
                      <a:pPr algn="just">
                        <a:spcAft>
                          <a:spcPts val="0"/>
                        </a:spcAft>
                      </a:pPr>
                      <a:r>
                        <a:rPr lang="es-BO" sz="1800" b="1">
                          <a:effectLst/>
                          <a:latin typeface="Bookman Old Style"/>
                          <a:ea typeface="Calibri"/>
                          <a:cs typeface="Times New Roman"/>
                        </a:rPr>
                        <a:t>T. Protrombina</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14.5seg.</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11.1 -13 seg.</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s-BO" sz="1800" b="1">
                          <a:effectLst/>
                          <a:latin typeface="Bookman Old Style"/>
                          <a:ea typeface="Calibri"/>
                          <a:cs typeface="Times New Roman"/>
                        </a:rPr>
                        <a:t>INR</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a:effectLst/>
                          <a:latin typeface="Bookman Old Style"/>
                          <a:ea typeface="Calibri"/>
                          <a:cs typeface="Times New Roman"/>
                        </a:rPr>
                        <a:t>1.3</a:t>
                      </a:r>
                      <a:endParaRPr lang="es-ES" sz="18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s-BO" sz="1800" dirty="0">
                          <a:effectLst/>
                          <a:latin typeface="Bookman Old Style"/>
                          <a:ea typeface="Calibri"/>
                          <a:cs typeface="Times New Roman"/>
                        </a:rPr>
                        <a:t>1.0- 1.16</a:t>
                      </a:r>
                      <a:endParaRPr lang="es-ES" sz="18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539552" y="629489"/>
            <a:ext cx="607730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BO" altLang="es-ES" sz="2000" b="1"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HEMOGRAMA</a:t>
            </a: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BO" altLang="es-ES" sz="2000" b="1"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          Fecha: </a:t>
            </a:r>
            <a:r>
              <a:rPr kumimoji="0" lang="es-BO" altLang="es-ES" sz="2000"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15/09/13 despu</a:t>
            </a:r>
            <a:r>
              <a:rPr kumimoji="0" lang="es-BO" altLang="es-ES" sz="2000" b="0" i="0" u="none" strike="noStrike" cap="none" normalizeH="0" baseline="0" dirty="0" smtClean="0">
                <a:ln>
                  <a:noFill/>
                </a:ln>
                <a:solidFill>
                  <a:schemeClr val="tx1"/>
                </a:solidFill>
                <a:effectLst/>
                <a:latin typeface="Cambria"/>
                <a:ea typeface="Calibri" pitchFamily="34" charset="0"/>
                <a:cs typeface="Times New Roman" pitchFamily="18" charset="0"/>
              </a:rPr>
              <a:t>é</a:t>
            </a:r>
            <a:r>
              <a:rPr kumimoji="0" lang="es-BO" altLang="es-ES" sz="2000"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s de la cirug</a:t>
            </a:r>
            <a:r>
              <a:rPr kumimoji="0" lang="es-BO" altLang="es-ES" sz="2000" b="0" i="0" u="none" strike="noStrike" cap="none" normalizeH="0" baseline="0" dirty="0" smtClean="0">
                <a:ln>
                  <a:noFill/>
                </a:ln>
                <a:solidFill>
                  <a:schemeClr val="tx1"/>
                </a:solidFill>
                <a:effectLst/>
                <a:latin typeface="Cambria"/>
                <a:ea typeface="Calibri" pitchFamily="34" charset="0"/>
                <a:cs typeface="Times New Roman" pitchFamily="18" charset="0"/>
              </a:rPr>
              <a:t>í</a:t>
            </a:r>
            <a:r>
              <a:rPr kumimoji="0" lang="es-BO" altLang="es-ES" sz="2000"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a </a:t>
            </a: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014436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23528" y="908720"/>
            <a:ext cx="8208912" cy="5632311"/>
          </a:xfrm>
          <a:prstGeom prst="rect">
            <a:avLst/>
          </a:prstGeom>
        </p:spPr>
        <p:txBody>
          <a:bodyPr wrap="square">
            <a:spAutoFit/>
          </a:bodyPr>
          <a:lstStyle/>
          <a:p>
            <a:pPr marL="342900" lvl="0" indent="-342900" algn="just">
              <a:lnSpc>
                <a:spcPct val="150000"/>
              </a:lnSpc>
              <a:spcAft>
                <a:spcPts val="0"/>
              </a:spcAft>
              <a:buFont typeface="Wingdings"/>
              <a:buChar char=""/>
            </a:pPr>
            <a:r>
              <a:rPr lang="es-BO" sz="1600" b="1" dirty="0" smtClean="0">
                <a:effectLst/>
                <a:latin typeface="Bookman Old Style"/>
                <a:ea typeface="Calibri"/>
                <a:cs typeface="Times New Roman"/>
              </a:rPr>
              <a:t>Estado general de salud:</a:t>
            </a:r>
            <a:r>
              <a:rPr lang="es-BO" sz="1600" dirty="0" smtClean="0">
                <a:effectLst/>
                <a:latin typeface="Bookman Old Style"/>
                <a:ea typeface="Calibri"/>
                <a:cs typeface="Times New Roman"/>
              </a:rPr>
              <a:t> se encuentra en regular estado, orientada, mucosas pálidas y secas, pupilas isocòricas fotoreactivas hemodinamicamente aparentemente estable, se transfundió después de la cirugía 4 paquetes globulares, más dos paquetes de plasma con lo cual incremento su serie roja.</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b="1" dirty="0" smtClean="0">
                <a:effectLst/>
                <a:latin typeface="Bookman Old Style"/>
                <a:ea typeface="Calibri"/>
                <a:cs typeface="Times New Roman"/>
              </a:rPr>
              <a:t>Uso de alcohol, tabaco y otras drogas: </a:t>
            </a:r>
            <a:r>
              <a:rPr lang="es-BO" sz="1600" dirty="0" err="1" smtClean="0">
                <a:effectLst/>
                <a:latin typeface="Bookman Old Style"/>
                <a:ea typeface="Calibri"/>
                <a:cs typeface="Times New Roman"/>
              </a:rPr>
              <a:t>consumìa</a:t>
            </a:r>
            <a:r>
              <a:rPr lang="es-BO" sz="1600" dirty="0" smtClean="0">
                <a:effectLst/>
                <a:latin typeface="Bookman Old Style"/>
                <a:ea typeface="Calibri"/>
                <a:cs typeface="Times New Roman"/>
              </a:rPr>
              <a:t> bebidas alcohólicas en ocasiones (chicha) y no consume ningún tipo de tabaco, ni drogas.</a:t>
            </a:r>
            <a:r>
              <a:rPr lang="es-BO" sz="1600" b="1" dirty="0" smtClean="0">
                <a:effectLst/>
                <a:latin typeface="Bookman Old Style"/>
                <a:ea typeface="Calibri"/>
                <a:cs typeface="Times New Roman"/>
              </a:rPr>
              <a:t> </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b="1" dirty="0" smtClean="0">
                <a:effectLst/>
                <a:latin typeface="Bookman Old Style"/>
                <a:ea typeface="Calibri"/>
                <a:cs typeface="Times New Roman"/>
              </a:rPr>
              <a:t>Alergias: </a:t>
            </a:r>
            <a:r>
              <a:rPr lang="es-BO" sz="1600" dirty="0" smtClean="0">
                <a:effectLst/>
                <a:latin typeface="Bookman Old Style"/>
                <a:ea typeface="Calibri"/>
                <a:cs typeface="Times New Roman"/>
              </a:rPr>
              <a:t>no refiere tener alergias a ningún tipo de alimentos, ni medicamento.</a:t>
            </a:r>
            <a:endParaRPr lang="es-ES" sz="1600"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sz="1600" b="1" dirty="0" smtClean="0">
                <a:effectLst/>
                <a:latin typeface="Bookman Old Style"/>
                <a:ea typeface="Calibri"/>
                <a:cs typeface="Times New Roman"/>
              </a:rPr>
              <a:t>Preocupación expresada sobre su estado de salud, internación: </a:t>
            </a:r>
            <a:r>
              <a:rPr lang="es-BO" sz="1600" dirty="0" smtClean="0">
                <a:effectLst/>
                <a:latin typeface="Bookman Old Style"/>
                <a:ea typeface="Calibri"/>
                <a:cs typeface="Times New Roman"/>
              </a:rPr>
              <a:t>Se encuentra muy preocupada, nerviosa, temerosa por su salud, ya que le informaron que existe una posibilidad de amputar su miembro inferior derecho, por la osteomielitis que presentaba antes de su accidente. Además no moviliza sus dos miembros inferiores, sin embargo solo responde a estímulos sensitivos, según la TAC no presenta daño medular.</a:t>
            </a:r>
            <a:endParaRPr lang="es-ES" sz="1600" dirty="0" smtClean="0">
              <a:effectLst/>
              <a:latin typeface="Cambria"/>
              <a:ea typeface="Calibri"/>
              <a:cs typeface="Times New Roman"/>
            </a:endParaRPr>
          </a:p>
        </p:txBody>
      </p:sp>
      <p:sp>
        <p:nvSpPr>
          <p:cNvPr id="5" name="4 Rectángulo"/>
          <p:cNvSpPr/>
          <p:nvPr/>
        </p:nvSpPr>
        <p:spPr>
          <a:xfrm>
            <a:off x="611560" y="153639"/>
            <a:ext cx="7805613" cy="41748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just">
              <a:lnSpc>
                <a:spcPct val="150000"/>
              </a:lnSpc>
            </a:pPr>
            <a:r>
              <a:rPr lang="es-BO" sz="1600" b="1" dirty="0">
                <a:solidFill>
                  <a:prstClr val="black"/>
                </a:solidFill>
                <a:latin typeface="Bookman Old Style"/>
                <a:ea typeface="Calibri"/>
                <a:cs typeface="Times New Roman"/>
              </a:rPr>
              <a:t>PATRON DE PERCEPCION Y MANEJO DE SITUACION DE LA SALUD</a:t>
            </a:r>
            <a:endParaRPr lang="es-ES" sz="1600" dirty="0">
              <a:solidFill>
                <a:prstClr val="black"/>
              </a:solidFill>
              <a:latin typeface="Cambria"/>
              <a:ea typeface="Calibri"/>
              <a:cs typeface="Times New Roman"/>
            </a:endParaRPr>
          </a:p>
        </p:txBody>
      </p:sp>
    </p:spTree>
    <p:extLst>
      <p:ext uri="{BB962C8B-B14F-4D97-AF65-F5344CB8AC3E}">
        <p14:creationId xmlns:p14="http://schemas.microsoft.com/office/powerpoint/2010/main" val="4161173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19814" y="1052736"/>
            <a:ext cx="8136904" cy="5493812"/>
          </a:xfrm>
          <a:prstGeom prst="rect">
            <a:avLst/>
          </a:prstGeom>
        </p:spPr>
        <p:txBody>
          <a:bodyPr wrap="square">
            <a:spAutoFit/>
          </a:bodyPr>
          <a:lstStyle/>
          <a:p>
            <a:pPr marL="342900" lvl="0" indent="-342900" algn="just">
              <a:lnSpc>
                <a:spcPct val="150000"/>
              </a:lnSpc>
              <a:spcAft>
                <a:spcPts val="0"/>
              </a:spcAft>
              <a:buFont typeface="Wingdings"/>
              <a:buChar char=""/>
            </a:pPr>
            <a:r>
              <a:rPr lang="es-BO" b="1" dirty="0" smtClean="0">
                <a:effectLst/>
                <a:latin typeface="Bookman Old Style"/>
                <a:ea typeface="Calibri"/>
                <a:cs typeface="Times New Roman"/>
              </a:rPr>
              <a:t>Higiene e integridad cutánea:</a:t>
            </a:r>
            <a:r>
              <a:rPr lang="es-BO" dirty="0" smtClean="0">
                <a:effectLst/>
                <a:latin typeface="Bookman Old Style"/>
                <a:ea typeface="Calibri"/>
                <a:cs typeface="Times New Roman"/>
              </a:rPr>
              <a:t> Se observa piel y mucosas pálidas, mucosa oral seca.</a:t>
            </a:r>
            <a:r>
              <a:rPr lang="es-ES" dirty="0">
                <a:latin typeface="Cambria"/>
                <a:ea typeface="Calibri"/>
                <a:cs typeface="Times New Roman"/>
              </a:rPr>
              <a:t> </a:t>
            </a:r>
            <a:r>
              <a:rPr lang="es-BO" dirty="0" smtClean="0">
                <a:effectLst/>
                <a:latin typeface="Bookman Old Style"/>
                <a:ea typeface="Calibri"/>
                <a:cs typeface="Times New Roman"/>
              </a:rPr>
              <a:t>A nivel de pierna derecha en la parte media se observa solución de discontinuidad de +/- 5cm de diámetro llegando hasta el hueso. También en fémur derecho se observa solución de discontinuidad </a:t>
            </a:r>
            <a:r>
              <a:rPr lang="es-BO" dirty="0" smtClean="0">
                <a:latin typeface="Bookman Old Style"/>
                <a:ea typeface="Calibri"/>
                <a:cs typeface="Times New Roman"/>
              </a:rPr>
              <a:t>por </a:t>
            </a:r>
            <a:r>
              <a:rPr lang="es-BO" dirty="0" smtClean="0">
                <a:effectLst/>
                <a:latin typeface="Bookman Old Style"/>
                <a:ea typeface="Calibri"/>
                <a:cs typeface="Times New Roman"/>
              </a:rPr>
              <a:t>la fijación externa, cubierta con apósitos manchados con solución </a:t>
            </a:r>
            <a:r>
              <a:rPr lang="es-BO" dirty="0" err="1" smtClean="0">
                <a:effectLst/>
                <a:latin typeface="Bookman Old Style"/>
                <a:ea typeface="Calibri"/>
                <a:cs typeface="Times New Roman"/>
              </a:rPr>
              <a:t>povidona</a:t>
            </a:r>
            <a:r>
              <a:rPr lang="es-BO" dirty="0" smtClean="0">
                <a:effectLst/>
                <a:latin typeface="Bookman Old Style"/>
                <a:ea typeface="Calibri"/>
                <a:cs typeface="Times New Roman"/>
              </a:rPr>
              <a:t>.</a:t>
            </a:r>
            <a:endParaRPr lang="es-ES"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b="1" dirty="0" smtClean="0">
                <a:effectLst/>
                <a:latin typeface="Bookman Old Style"/>
                <a:ea typeface="Calibri"/>
                <a:cs typeface="Times New Roman"/>
              </a:rPr>
              <a:t>Estado Nutricional:</a:t>
            </a:r>
            <a:r>
              <a:rPr lang="es-BO" dirty="0" smtClean="0">
                <a:effectLst/>
                <a:latin typeface="Bookman Old Style"/>
                <a:ea typeface="Calibri"/>
                <a:cs typeface="Times New Roman"/>
              </a:rPr>
              <a:t> la dieta de la paciente basada en carbohidratos y fibra, con buena tolerancia por vía oral, además se observa piezas dentarias incompletas faltantes el molar derecho superior y el premolar inferior izquierdo, con caries y halitosis. </a:t>
            </a:r>
            <a:endParaRPr lang="es-ES" dirty="0" smtClean="0">
              <a:effectLst/>
              <a:latin typeface="Cambria"/>
              <a:ea typeface="Calibri"/>
              <a:cs typeface="Times New Roman"/>
            </a:endParaRPr>
          </a:p>
          <a:p>
            <a:pPr marL="342900" lvl="0" indent="-342900" algn="just">
              <a:lnSpc>
                <a:spcPct val="150000"/>
              </a:lnSpc>
              <a:spcAft>
                <a:spcPts val="0"/>
              </a:spcAft>
              <a:buFont typeface="Wingdings"/>
              <a:buChar char=""/>
            </a:pPr>
            <a:r>
              <a:rPr lang="es-BO" b="1" dirty="0" smtClean="0">
                <a:effectLst/>
                <a:latin typeface="Bookman Old Style"/>
                <a:ea typeface="Calibri"/>
                <a:cs typeface="Times New Roman"/>
              </a:rPr>
              <a:t>Líquidos y Electrolitos:</a:t>
            </a:r>
            <a:r>
              <a:rPr lang="es-BO" dirty="0" smtClean="0">
                <a:effectLst/>
                <a:latin typeface="Bookman Old Style"/>
                <a:ea typeface="Calibri"/>
                <a:cs typeface="Times New Roman"/>
              </a:rPr>
              <a:t> consume de 1000 a 1500 ml diarios de refresco, jugos, no presenta restricción de líquidos, se observa un leve edema a nivel de los pies.</a:t>
            </a:r>
            <a:endParaRPr lang="es-ES" dirty="0">
              <a:effectLst/>
              <a:latin typeface="Cambria"/>
              <a:ea typeface="Calibri"/>
              <a:cs typeface="Times New Roman"/>
            </a:endParaRPr>
          </a:p>
        </p:txBody>
      </p:sp>
      <p:sp>
        <p:nvSpPr>
          <p:cNvPr id="5" name="4 Rectángulo"/>
          <p:cNvSpPr/>
          <p:nvPr/>
        </p:nvSpPr>
        <p:spPr>
          <a:xfrm>
            <a:off x="683568" y="188640"/>
            <a:ext cx="7410524" cy="49879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pPr>
            <a:r>
              <a:rPr lang="es-BO" sz="2000" b="1" dirty="0">
                <a:solidFill>
                  <a:prstClr val="black"/>
                </a:solidFill>
                <a:latin typeface="Bookman Old Style"/>
                <a:ea typeface="Calibri"/>
                <a:cs typeface="Times New Roman"/>
              </a:rPr>
              <a:t>PATRON DE NUTRICIÒN Y METABOLISMO</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737788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83568" y="1342133"/>
            <a:ext cx="7344816" cy="3000821"/>
          </a:xfrm>
          <a:prstGeom prst="rect">
            <a:avLst/>
          </a:prstGeom>
        </p:spPr>
        <p:txBody>
          <a:bodyPr wrap="square">
            <a:spAutoFit/>
          </a:bodyPr>
          <a:lstStyle/>
          <a:p>
            <a:pPr algn="just">
              <a:lnSpc>
                <a:spcPct val="150000"/>
              </a:lnSpc>
              <a:spcAft>
                <a:spcPts val="0"/>
              </a:spcAft>
            </a:pPr>
            <a:r>
              <a:rPr lang="es-BO" dirty="0" smtClean="0">
                <a:effectLst/>
                <a:latin typeface="Bookman Old Style"/>
                <a:ea typeface="Calibri"/>
                <a:cs typeface="Times New Roman"/>
              </a:rPr>
              <a:t>Actualmente hace 3 días no presenta deposiciones, su abdomen a la palpación se encuentra duro, doloroso, distendido. </a:t>
            </a:r>
          </a:p>
          <a:p>
            <a:pPr algn="just">
              <a:lnSpc>
                <a:spcPct val="150000"/>
              </a:lnSpc>
              <a:spcAft>
                <a:spcPts val="0"/>
              </a:spcAft>
            </a:pPr>
            <a:endParaRPr lang="es-BO" dirty="0">
              <a:latin typeface="Bookman Old Style"/>
              <a:ea typeface="Calibri"/>
              <a:cs typeface="Times New Roman"/>
            </a:endParaRPr>
          </a:p>
          <a:p>
            <a:pPr algn="just">
              <a:lnSpc>
                <a:spcPct val="150000"/>
              </a:lnSpc>
              <a:spcAft>
                <a:spcPts val="0"/>
              </a:spcAft>
            </a:pPr>
            <a:r>
              <a:rPr lang="es-BO" dirty="0" smtClean="0">
                <a:effectLst/>
                <a:latin typeface="Bookman Old Style"/>
                <a:ea typeface="Calibri"/>
                <a:cs typeface="Times New Roman"/>
              </a:rPr>
              <a:t>En cuanto a la eliminación urinaria se encuentra con sonda foley se observa orina clara en 24 hrs 2500 a 2800 cc  no presenta disuria, ni hematuria.</a:t>
            </a:r>
            <a:endParaRPr lang="es-ES" dirty="0">
              <a:effectLst/>
              <a:latin typeface="Cambria"/>
              <a:ea typeface="Calibri"/>
              <a:cs typeface="Times New Roman"/>
            </a:endParaRPr>
          </a:p>
        </p:txBody>
      </p:sp>
      <p:sp>
        <p:nvSpPr>
          <p:cNvPr id="5" name="4 Rectángulo"/>
          <p:cNvSpPr/>
          <p:nvPr/>
        </p:nvSpPr>
        <p:spPr>
          <a:xfrm>
            <a:off x="1493193" y="260648"/>
            <a:ext cx="5725566" cy="55399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pPr>
            <a:r>
              <a:rPr lang="es-BO" sz="2000" b="1" dirty="0">
                <a:solidFill>
                  <a:prstClr val="black"/>
                </a:solidFill>
                <a:latin typeface="Bookman Old Style"/>
                <a:ea typeface="Calibri"/>
                <a:cs typeface="Times New Roman"/>
              </a:rPr>
              <a:t>PATRON DE ELIMINACIÓN </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3603947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701630541"/>
              </p:ext>
            </p:extLst>
          </p:nvPr>
        </p:nvGraphicFramePr>
        <p:xfrm>
          <a:off x="3437857" y="3789040"/>
          <a:ext cx="5003294" cy="2804160"/>
        </p:xfrm>
        <a:graphic>
          <a:graphicData uri="http://schemas.openxmlformats.org/drawingml/2006/table">
            <a:tbl>
              <a:tblPr firstRow="1" firstCol="1" bandRow="1"/>
              <a:tblGrid>
                <a:gridCol w="1970994"/>
                <a:gridCol w="606460"/>
                <a:gridCol w="606460"/>
                <a:gridCol w="606460"/>
                <a:gridCol w="606460"/>
                <a:gridCol w="606460"/>
              </a:tblGrid>
              <a:tr h="0">
                <a:tc>
                  <a:txBody>
                    <a:bodyPr/>
                    <a:lstStyle/>
                    <a:p>
                      <a:pPr algn="ctr"/>
                      <a:endParaRPr lang="es-ES" sz="16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b="1">
                          <a:effectLst/>
                          <a:latin typeface="Times New Roman"/>
                          <a:ea typeface="Times New Roman"/>
                          <a:cs typeface="Times New Roman"/>
                        </a:rPr>
                        <a:t>0</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b="1">
                          <a:effectLst/>
                          <a:latin typeface="Times New Roman"/>
                          <a:ea typeface="Times New Roman"/>
                          <a:cs typeface="Times New Roman"/>
                        </a:rPr>
                        <a:t>1</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b="1">
                          <a:effectLst/>
                          <a:latin typeface="Times New Roman"/>
                          <a:ea typeface="Times New Roman"/>
                          <a:cs typeface="Times New Roman"/>
                        </a:rPr>
                        <a:t>2</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b="1">
                          <a:effectLst/>
                          <a:latin typeface="Times New Roman"/>
                          <a:ea typeface="Times New Roman"/>
                          <a:cs typeface="Times New Roman"/>
                        </a:rPr>
                        <a:t>3</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b="1">
                          <a:effectLst/>
                          <a:latin typeface="Times New Roman"/>
                          <a:ea typeface="Times New Roman"/>
                          <a:cs typeface="Times New Roman"/>
                        </a:rPr>
                        <a:t>4</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Comer / Beber</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a:effectLst/>
                          <a:latin typeface="Times New Roman"/>
                          <a:ea typeface="Times New Roman"/>
                          <a:cs typeface="Times New Roman"/>
                        </a:rPr>
                        <a:t>X</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Baño</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s-BO" sz="1600">
                          <a:effectLst/>
                          <a:latin typeface="Times New Roman"/>
                          <a:ea typeface="Times New Roman"/>
                          <a:cs typeface="Times New Roman"/>
                        </a:rPr>
                        <a:t>X</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Vestirse / Arreglarse</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s-BO" sz="1600">
                          <a:effectLst/>
                          <a:latin typeface="Times New Roman"/>
                          <a:ea typeface="Times New Roman"/>
                          <a:cs typeface="Times New Roman"/>
                        </a:rPr>
                        <a:t>X</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Evacuar</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s-BO" sz="1600">
                          <a:effectLst/>
                          <a:latin typeface="Times New Roman"/>
                          <a:ea typeface="Times New Roman"/>
                          <a:cs typeface="Times New Roman"/>
                        </a:rPr>
                        <a:t>X</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Movilidad en Cama</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s-BO" sz="1600">
                          <a:effectLst/>
                          <a:latin typeface="Times New Roman"/>
                          <a:ea typeface="Times New Roman"/>
                          <a:cs typeface="Times New Roman"/>
                        </a:rPr>
                        <a:t>X</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Traslados</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Caminar</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Subir Escaleras</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l">
                        <a:lnSpc>
                          <a:spcPct val="115000"/>
                        </a:lnSpc>
                        <a:spcAft>
                          <a:spcPts val="1000"/>
                        </a:spcAft>
                      </a:pPr>
                      <a:r>
                        <a:rPr lang="es-BO" sz="1600">
                          <a:effectLst/>
                          <a:latin typeface="Times New Roman"/>
                          <a:ea typeface="Times New Roman"/>
                          <a:cs typeface="Times New Roman"/>
                        </a:rPr>
                        <a:t>Orinar</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s-BO" sz="1600">
                          <a:effectLst/>
                          <a:latin typeface="Times New Roman"/>
                          <a:ea typeface="Times New Roman"/>
                          <a:cs typeface="Times New Roman"/>
                        </a:rPr>
                        <a:t>X</a:t>
                      </a: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s-ES" sz="1600" dirty="0">
                        <a:effectLst/>
                        <a:latin typeface="Cambria"/>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611560" y="1041703"/>
            <a:ext cx="784887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Refiere que hace +/- 6 meses presento una herida en pierna derecha, que con el pasar del tiempo le dificulto caminar, utilizaba la ayuda de un bast</a:t>
            </a:r>
            <a:r>
              <a:rPr kumimoji="0" lang="es-BO" altLang="es-ES" b="0" i="0" u="none" strike="noStrike" cap="none" normalizeH="0" baseline="0" dirty="0" smtClean="0">
                <a:ln>
                  <a:noFill/>
                </a:ln>
                <a:solidFill>
                  <a:schemeClr val="tx1"/>
                </a:solidFill>
                <a:effectLst/>
                <a:latin typeface="Cambria"/>
                <a:ea typeface="Calibri" pitchFamily="34" charset="0"/>
                <a:cs typeface="Times New Roman" pitchFamily="18" charset="0"/>
              </a:rPr>
              <a:t>ó</a:t>
            </a: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n para  movilizarse.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BO" altLang="es-ES" b="1"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Observaci</a:t>
            </a:r>
            <a:r>
              <a:rPr kumimoji="0" lang="es-BO" altLang="es-ES" b="1" i="0" u="none" strike="noStrike" cap="none" normalizeH="0" baseline="0" dirty="0" smtClean="0">
                <a:ln>
                  <a:noFill/>
                </a:ln>
                <a:solidFill>
                  <a:schemeClr val="tx1"/>
                </a:solidFill>
                <a:effectLst/>
                <a:latin typeface="Cambria"/>
                <a:ea typeface="Calibri" pitchFamily="34" charset="0"/>
                <a:cs typeface="Times New Roman" pitchFamily="18" charset="0"/>
              </a:rPr>
              <a:t>ó</a:t>
            </a:r>
            <a:r>
              <a:rPr kumimoji="0" lang="es-BO" altLang="es-ES" b="1"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n:</a:t>
            </a: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 paciente con grado de dependencia, no puede movilizarse, se encuentra con restricci</a:t>
            </a:r>
            <a:r>
              <a:rPr kumimoji="0" lang="es-BO" altLang="es-ES" b="0" i="0" u="none" strike="noStrike" cap="none" normalizeH="0" baseline="0" dirty="0" smtClean="0">
                <a:ln>
                  <a:noFill/>
                </a:ln>
                <a:solidFill>
                  <a:schemeClr val="tx1"/>
                </a:solidFill>
                <a:effectLst/>
                <a:latin typeface="Cambria"/>
                <a:ea typeface="Calibri" pitchFamily="34" charset="0"/>
                <a:cs typeface="Times New Roman" pitchFamily="18" charset="0"/>
              </a:rPr>
              <a:t>ó</a:t>
            </a: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n, necesita la ayuda de otras personas. Se encuentra acostada, en posici</a:t>
            </a:r>
            <a:r>
              <a:rPr kumimoji="0" lang="es-BO" altLang="es-ES" b="0" i="0" u="none" strike="noStrike" cap="none" normalizeH="0" baseline="0" dirty="0" smtClean="0">
                <a:ln>
                  <a:noFill/>
                </a:ln>
                <a:solidFill>
                  <a:schemeClr val="tx1"/>
                </a:solidFill>
                <a:effectLst/>
                <a:latin typeface="Cambria"/>
                <a:ea typeface="Calibri" pitchFamily="34" charset="0"/>
                <a:cs typeface="Times New Roman" pitchFamily="18" charset="0"/>
              </a:rPr>
              <a:t>ó</a:t>
            </a: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n semifawler a 20</a:t>
            </a:r>
            <a:r>
              <a:rPr kumimoji="0" lang="es-BO" altLang="es-ES" b="0" i="0" u="none" strike="noStrike" cap="none" normalizeH="0" baseline="0" dirty="0" smtClean="0">
                <a:ln>
                  <a:noFill/>
                </a:ln>
                <a:solidFill>
                  <a:schemeClr val="tx1"/>
                </a:solidFill>
                <a:effectLst/>
                <a:latin typeface="Cambria"/>
                <a:ea typeface="Calibri" pitchFamily="34" charset="0"/>
                <a:cs typeface="Times New Roman" pitchFamily="18" charset="0"/>
              </a:rPr>
              <a:t>º</a:t>
            </a: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 en dec</a:t>
            </a:r>
            <a:r>
              <a:rPr kumimoji="0" lang="es-BO" altLang="es-ES" b="0" i="0" u="none" strike="noStrike" cap="none" normalizeH="0" baseline="0" dirty="0" smtClean="0">
                <a:ln>
                  <a:noFill/>
                </a:ln>
                <a:solidFill>
                  <a:schemeClr val="tx1"/>
                </a:solidFill>
                <a:effectLst/>
                <a:latin typeface="Cambria"/>
                <a:ea typeface="Calibri" pitchFamily="34" charset="0"/>
                <a:cs typeface="Times New Roman" pitchFamily="18" charset="0"/>
              </a:rPr>
              <a:t>ú</a:t>
            </a:r>
            <a:r>
              <a:rPr kumimoji="0" lang="es-BO" altLang="es-ES" b="0" i="0" u="none" strike="noStrike" cap="none" normalizeH="0" baseline="0" dirty="0" smtClean="0">
                <a:ln>
                  <a:noFill/>
                </a:ln>
                <a:solidFill>
                  <a:schemeClr val="tx1"/>
                </a:solidFill>
                <a:effectLst/>
                <a:latin typeface="Bookman Old Style" pitchFamily="18" charset="0"/>
                <a:ea typeface="Calibri" pitchFamily="34" charset="0"/>
                <a:cs typeface="Times New Roman" pitchFamily="18" charset="0"/>
              </a:rPr>
              <a:t>bito dorsal.</a:t>
            </a:r>
            <a:endParaRPr kumimoji="0" lang="es-ES" altLang="es-E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5 Rectángulo"/>
          <p:cNvSpPr/>
          <p:nvPr/>
        </p:nvSpPr>
        <p:spPr>
          <a:xfrm>
            <a:off x="1359312" y="204425"/>
            <a:ext cx="6434410"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fontAlgn="base">
              <a:spcBef>
                <a:spcPct val="0"/>
              </a:spcBef>
              <a:spcAft>
                <a:spcPct val="0"/>
              </a:spcAft>
            </a:pPr>
            <a:r>
              <a:rPr lang="es-BO" altLang="es-ES" sz="2000" b="1" dirty="0">
                <a:solidFill>
                  <a:prstClr val="black"/>
                </a:solidFill>
                <a:latin typeface="Bookman Old Style" pitchFamily="18" charset="0"/>
                <a:ea typeface="Calibri" pitchFamily="34" charset="0"/>
                <a:cs typeface="Times New Roman" pitchFamily="18" charset="0"/>
              </a:rPr>
              <a:t>PATRON DE ACTIVIDADES Y EJERCICIO</a:t>
            </a:r>
            <a:endParaRPr lang="es-ES" altLang="es-ES" sz="2000" dirty="0">
              <a:solidFill>
                <a:prstClr val="black"/>
              </a:solidFill>
              <a:latin typeface="Arial" pitchFamily="34" charset="0"/>
              <a:cs typeface="Arial" pitchFamily="34" charset="0"/>
            </a:endParaRPr>
          </a:p>
        </p:txBody>
      </p:sp>
      <p:sp>
        <p:nvSpPr>
          <p:cNvPr id="7" name="6 Rectángulo"/>
          <p:cNvSpPr/>
          <p:nvPr/>
        </p:nvSpPr>
        <p:spPr>
          <a:xfrm>
            <a:off x="611560" y="3678367"/>
            <a:ext cx="1800200" cy="2677656"/>
          </a:xfrm>
          <a:prstGeom prst="rect">
            <a:avLst/>
          </a:prstGeom>
        </p:spPr>
        <p:txBody>
          <a:bodyPr wrap="square">
            <a:spAutoFit/>
          </a:bodyPr>
          <a:lstStyle/>
          <a:p>
            <a:pPr lvl="0" eaLnBrk="0" fontAlgn="base" hangingPunct="0">
              <a:spcBef>
                <a:spcPct val="0"/>
              </a:spcBef>
              <a:spcAft>
                <a:spcPct val="0"/>
              </a:spcAft>
            </a:pPr>
            <a:r>
              <a:rPr lang="es-BO" altLang="es-ES" sz="1400" b="1" dirty="0">
                <a:solidFill>
                  <a:prstClr val="black"/>
                </a:solidFill>
                <a:latin typeface="Bookman Old Style" pitchFamily="18" charset="0"/>
                <a:ea typeface="Calibri" pitchFamily="34" charset="0"/>
                <a:cs typeface="Times New Roman" pitchFamily="18" charset="0"/>
              </a:rPr>
              <a:t>Capacidad de autocuidado </a:t>
            </a:r>
            <a:endParaRPr lang="es-ES" altLang="es-ES" sz="1400" dirty="0">
              <a:solidFill>
                <a:prstClr val="black"/>
              </a:solidFill>
              <a:latin typeface="Arial" pitchFamily="34" charset="0"/>
              <a:cs typeface="Arial" pitchFamily="34" charset="0"/>
            </a:endParaRPr>
          </a:p>
          <a:p>
            <a:pPr lvl="0" eaLnBrk="0" fontAlgn="base" hangingPunct="0">
              <a:spcBef>
                <a:spcPct val="0"/>
              </a:spcBef>
              <a:spcAft>
                <a:spcPct val="0"/>
              </a:spcAft>
            </a:pPr>
            <a:r>
              <a:rPr lang="es-BO" altLang="es-ES" sz="1400" dirty="0">
                <a:solidFill>
                  <a:prstClr val="black"/>
                </a:solidFill>
                <a:latin typeface="Bookman Old Style" pitchFamily="18" charset="0"/>
                <a:ea typeface="Calibri" pitchFamily="34" charset="0"/>
                <a:cs typeface="Times New Roman" pitchFamily="18" charset="0"/>
              </a:rPr>
              <a:t>0 = Independiente 1 = Aparato Auxiliar </a:t>
            </a:r>
            <a:endParaRPr lang="es-BO" altLang="es-ES" sz="1400" dirty="0" smtClean="0">
              <a:solidFill>
                <a:prstClr val="black"/>
              </a:solidFill>
              <a:latin typeface="Bookman Old Style" pitchFamily="18" charset="0"/>
              <a:ea typeface="Calibri" pitchFamily="34" charset="0"/>
              <a:cs typeface="Times New Roman" pitchFamily="18" charset="0"/>
            </a:endParaRPr>
          </a:p>
          <a:p>
            <a:pPr lvl="0" eaLnBrk="0" fontAlgn="base" hangingPunct="0">
              <a:spcBef>
                <a:spcPct val="0"/>
              </a:spcBef>
              <a:spcAft>
                <a:spcPct val="0"/>
              </a:spcAft>
            </a:pPr>
            <a:r>
              <a:rPr lang="es-BO" altLang="es-ES" sz="1400" dirty="0" smtClean="0">
                <a:solidFill>
                  <a:prstClr val="black"/>
                </a:solidFill>
                <a:latin typeface="Bookman Old Style" pitchFamily="18" charset="0"/>
                <a:ea typeface="Calibri" pitchFamily="34" charset="0"/>
                <a:cs typeface="Times New Roman" pitchFamily="18" charset="0"/>
              </a:rPr>
              <a:t>2 </a:t>
            </a:r>
            <a:r>
              <a:rPr lang="es-BO" altLang="es-ES" sz="1400" dirty="0">
                <a:solidFill>
                  <a:prstClr val="black"/>
                </a:solidFill>
                <a:latin typeface="Bookman Old Style" pitchFamily="18" charset="0"/>
                <a:ea typeface="Calibri" pitchFamily="34" charset="0"/>
                <a:cs typeface="Times New Roman" pitchFamily="18" charset="0"/>
              </a:rPr>
              <a:t>= Ayuda de Otros</a:t>
            </a:r>
            <a:endParaRPr lang="es-ES" altLang="es-ES" sz="1400" dirty="0">
              <a:solidFill>
                <a:prstClr val="black"/>
              </a:solidFill>
              <a:latin typeface="Arial" pitchFamily="34" charset="0"/>
              <a:cs typeface="Arial" pitchFamily="34" charset="0"/>
            </a:endParaRPr>
          </a:p>
          <a:p>
            <a:pPr lvl="0" eaLnBrk="0" fontAlgn="base" hangingPunct="0">
              <a:spcBef>
                <a:spcPct val="0"/>
              </a:spcBef>
              <a:spcAft>
                <a:spcPct val="0"/>
              </a:spcAft>
            </a:pPr>
            <a:r>
              <a:rPr lang="es-BO" altLang="es-ES" sz="1400" dirty="0">
                <a:solidFill>
                  <a:prstClr val="black"/>
                </a:solidFill>
                <a:latin typeface="Bookman Old Style" pitchFamily="18" charset="0"/>
                <a:ea typeface="Calibri" pitchFamily="34" charset="0"/>
                <a:cs typeface="Times New Roman" pitchFamily="18" charset="0"/>
              </a:rPr>
              <a:t>3 = Ayuda de otros equipos </a:t>
            </a:r>
            <a:endParaRPr lang="es-BO" altLang="es-ES" sz="1400" dirty="0" smtClean="0">
              <a:solidFill>
                <a:prstClr val="black"/>
              </a:solidFill>
              <a:latin typeface="Bookman Old Style" pitchFamily="18" charset="0"/>
              <a:ea typeface="Calibri" pitchFamily="34" charset="0"/>
              <a:cs typeface="Times New Roman" pitchFamily="18" charset="0"/>
            </a:endParaRPr>
          </a:p>
          <a:p>
            <a:pPr lvl="0" eaLnBrk="0" fontAlgn="base" hangingPunct="0">
              <a:spcBef>
                <a:spcPct val="0"/>
              </a:spcBef>
              <a:spcAft>
                <a:spcPct val="0"/>
              </a:spcAft>
            </a:pPr>
            <a:r>
              <a:rPr lang="es-BO" altLang="es-ES" sz="1400" dirty="0" smtClean="0">
                <a:solidFill>
                  <a:prstClr val="black"/>
                </a:solidFill>
                <a:latin typeface="Bookman Old Style" pitchFamily="18" charset="0"/>
                <a:ea typeface="Calibri" pitchFamily="34" charset="0"/>
                <a:cs typeface="Times New Roman" pitchFamily="18" charset="0"/>
              </a:rPr>
              <a:t>4 </a:t>
            </a:r>
            <a:r>
              <a:rPr lang="es-BO" altLang="es-ES" sz="1400" dirty="0">
                <a:solidFill>
                  <a:prstClr val="black"/>
                </a:solidFill>
                <a:latin typeface="Bookman Old Style" pitchFamily="18" charset="0"/>
                <a:ea typeface="Calibri" pitchFamily="34" charset="0"/>
                <a:cs typeface="Times New Roman" pitchFamily="18" charset="0"/>
              </a:rPr>
              <a:t>= Dependiente/Incapaz</a:t>
            </a:r>
            <a:endParaRPr lang="es-ES" altLang="es-ES" sz="1400"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916609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95536" y="1412776"/>
            <a:ext cx="7122988" cy="3323987"/>
          </a:xfrm>
          <a:prstGeom prst="rect">
            <a:avLst/>
          </a:prstGeom>
        </p:spPr>
        <p:txBody>
          <a:bodyPr wrap="square">
            <a:spAutoFit/>
          </a:bodyPr>
          <a:lstStyle/>
          <a:p>
            <a:pPr algn="just">
              <a:lnSpc>
                <a:spcPct val="150000"/>
              </a:lnSpc>
              <a:spcAft>
                <a:spcPts val="0"/>
              </a:spcAft>
            </a:pPr>
            <a:r>
              <a:rPr lang="es-BO" sz="2000" b="1" dirty="0" smtClean="0">
                <a:effectLst/>
                <a:latin typeface="Bookman Old Style"/>
                <a:ea typeface="Calibri"/>
                <a:cs typeface="Times New Roman"/>
              </a:rPr>
              <a:t>Observación:</a:t>
            </a:r>
            <a:r>
              <a:rPr lang="es-BO" sz="2000" dirty="0" smtClean="0">
                <a:effectLst/>
                <a:latin typeface="Bookman Old Style"/>
                <a:ea typeface="Calibri"/>
                <a:cs typeface="Times New Roman"/>
              </a:rPr>
              <a:t> actualmente no puede descansar  por las noches por el dolor a nivel de la herida quirúrgica, la preocupación por la posibilidad de amputar su miembro inferior derecho, la cuenta a pagar ya que su familia no tiene presupuesto económico y los ruidos ambientales refiere que la cama es incomoda y en el día se encuentra somnolienta.</a:t>
            </a:r>
            <a:endParaRPr lang="es-ES" sz="2000" dirty="0">
              <a:effectLst/>
              <a:latin typeface="Cambria"/>
              <a:ea typeface="Calibri"/>
              <a:cs typeface="Times New Roman"/>
            </a:endParaRPr>
          </a:p>
        </p:txBody>
      </p:sp>
      <p:sp>
        <p:nvSpPr>
          <p:cNvPr id="5" name="4 Rectángulo"/>
          <p:cNvSpPr/>
          <p:nvPr/>
        </p:nvSpPr>
        <p:spPr>
          <a:xfrm>
            <a:off x="1907704" y="210567"/>
            <a:ext cx="5610820" cy="55399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pPr>
            <a:r>
              <a:rPr lang="es-BO" sz="2000" b="1" dirty="0">
                <a:solidFill>
                  <a:prstClr val="black"/>
                </a:solidFill>
                <a:latin typeface="Bookman Old Style"/>
                <a:ea typeface="Calibri"/>
                <a:cs typeface="Times New Roman"/>
              </a:rPr>
              <a:t>PATRON DE DESCANSO Y SUEÑO</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3434901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539552" y="1124744"/>
            <a:ext cx="7776864" cy="5170646"/>
          </a:xfrm>
          <a:prstGeom prst="rect">
            <a:avLst/>
          </a:prstGeom>
        </p:spPr>
        <p:txBody>
          <a:bodyPr wrap="square">
            <a:spAutoFit/>
          </a:bodyPr>
          <a:lstStyle/>
          <a:p>
            <a:pPr algn="just">
              <a:lnSpc>
                <a:spcPct val="150000"/>
              </a:lnSpc>
              <a:spcAft>
                <a:spcPts val="0"/>
              </a:spcAft>
            </a:pPr>
            <a:r>
              <a:rPr lang="es-BO" sz="2000" b="1" dirty="0" smtClean="0">
                <a:effectLst/>
                <a:latin typeface="Bookman Old Style"/>
                <a:ea typeface="Calibri"/>
                <a:cs typeface="Times New Roman"/>
              </a:rPr>
              <a:t>Audición:</a:t>
            </a:r>
            <a:r>
              <a:rPr lang="es-BO" sz="2000" dirty="0" smtClean="0">
                <a:effectLst/>
                <a:latin typeface="Bookman Old Style"/>
                <a:ea typeface="Calibri"/>
                <a:cs typeface="Times New Roman"/>
              </a:rPr>
              <a:t> no presenta ningún problema, se observa cerumen en ambos conductos auriculares.</a:t>
            </a:r>
            <a:endParaRPr lang="es-ES" sz="2000" dirty="0" smtClean="0">
              <a:effectLst/>
              <a:latin typeface="Cambria"/>
              <a:ea typeface="Calibri"/>
              <a:cs typeface="Times New Roman"/>
            </a:endParaRPr>
          </a:p>
          <a:p>
            <a:pPr algn="just">
              <a:lnSpc>
                <a:spcPct val="150000"/>
              </a:lnSpc>
              <a:spcAft>
                <a:spcPts val="0"/>
              </a:spcAft>
            </a:pPr>
            <a:r>
              <a:rPr lang="es-BO" sz="2000" b="1" dirty="0" smtClean="0">
                <a:effectLst/>
                <a:latin typeface="Bookman Old Style"/>
                <a:ea typeface="Calibri"/>
                <a:cs typeface="Times New Roman"/>
              </a:rPr>
              <a:t>Visión:</a:t>
            </a:r>
            <a:r>
              <a:rPr lang="es-BO" sz="2000" dirty="0" smtClean="0">
                <a:effectLst/>
                <a:latin typeface="Bookman Old Style"/>
                <a:ea typeface="Calibri"/>
                <a:cs typeface="Times New Roman"/>
              </a:rPr>
              <a:t> refiere no presentar ningún problema, sin embargo se observa la esclera irritada.</a:t>
            </a:r>
            <a:endParaRPr lang="es-ES" sz="2000" dirty="0" smtClean="0">
              <a:effectLst/>
              <a:latin typeface="Cambria"/>
              <a:ea typeface="Calibri"/>
              <a:cs typeface="Times New Roman"/>
            </a:endParaRPr>
          </a:p>
          <a:p>
            <a:pPr algn="just">
              <a:lnSpc>
                <a:spcPct val="150000"/>
              </a:lnSpc>
              <a:spcAft>
                <a:spcPts val="0"/>
              </a:spcAft>
            </a:pPr>
            <a:r>
              <a:rPr lang="es-BO" sz="2000" b="1" dirty="0" smtClean="0">
                <a:effectLst/>
                <a:latin typeface="Bookman Old Style"/>
                <a:ea typeface="Calibri"/>
                <a:cs typeface="Times New Roman"/>
              </a:rPr>
              <a:t>Lenguaje:</a:t>
            </a:r>
            <a:r>
              <a:rPr lang="es-BO" sz="2000" dirty="0" smtClean="0">
                <a:effectLst/>
                <a:latin typeface="Bookman Old Style"/>
                <a:ea typeface="Calibri"/>
                <a:cs typeface="Times New Roman"/>
              </a:rPr>
              <a:t> paciente con lenguaje claro, no presenta problemas.</a:t>
            </a:r>
            <a:endParaRPr lang="es-ES" sz="2000" dirty="0" smtClean="0">
              <a:effectLst/>
              <a:latin typeface="Cambria"/>
              <a:ea typeface="Calibri"/>
              <a:cs typeface="Times New Roman"/>
            </a:endParaRPr>
          </a:p>
          <a:p>
            <a:pPr algn="just">
              <a:lnSpc>
                <a:spcPct val="150000"/>
              </a:lnSpc>
              <a:spcAft>
                <a:spcPts val="0"/>
              </a:spcAft>
            </a:pPr>
            <a:r>
              <a:rPr lang="es-BO" sz="2000" dirty="0" smtClean="0">
                <a:effectLst/>
                <a:latin typeface="Bookman Old Style"/>
                <a:ea typeface="Calibri"/>
                <a:cs typeface="Times New Roman"/>
              </a:rPr>
              <a:t> </a:t>
            </a:r>
            <a:endParaRPr lang="es-ES" sz="2000" dirty="0" smtClean="0">
              <a:effectLst/>
              <a:latin typeface="Cambria"/>
              <a:ea typeface="Calibri"/>
              <a:cs typeface="Times New Roman"/>
            </a:endParaRPr>
          </a:p>
          <a:p>
            <a:pPr algn="just">
              <a:lnSpc>
                <a:spcPct val="150000"/>
              </a:lnSpc>
              <a:spcAft>
                <a:spcPts val="0"/>
              </a:spcAft>
            </a:pPr>
            <a:r>
              <a:rPr lang="es-BO" sz="2000" b="1" dirty="0" smtClean="0">
                <a:effectLst/>
                <a:latin typeface="Bookman Old Style"/>
                <a:ea typeface="Calibri"/>
                <a:cs typeface="Times New Roman"/>
              </a:rPr>
              <a:t>Observación:</a:t>
            </a:r>
            <a:r>
              <a:rPr lang="es-BO" sz="2000" dirty="0" smtClean="0">
                <a:effectLst/>
                <a:latin typeface="Bookman Old Style"/>
                <a:ea typeface="Calibri"/>
                <a:cs typeface="Times New Roman"/>
              </a:rPr>
              <a:t> refiere que presenta sequedad en ambos ojos y se observa enrojecimiento en ambas escleras, porque no puede conciliar el sueño por el dolor, la preocupación y los ruidos ambientales.</a:t>
            </a:r>
            <a:endParaRPr lang="es-ES" sz="2000" dirty="0">
              <a:effectLst/>
              <a:latin typeface="Cambria"/>
              <a:ea typeface="Calibri"/>
              <a:cs typeface="Times New Roman"/>
            </a:endParaRPr>
          </a:p>
        </p:txBody>
      </p:sp>
      <p:sp>
        <p:nvSpPr>
          <p:cNvPr id="5" name="4 Rectángulo"/>
          <p:cNvSpPr/>
          <p:nvPr/>
        </p:nvSpPr>
        <p:spPr>
          <a:xfrm>
            <a:off x="1685924" y="38825"/>
            <a:ext cx="5478363" cy="55399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pPr>
            <a:r>
              <a:rPr lang="es-BO" sz="2000" b="1" dirty="0">
                <a:solidFill>
                  <a:prstClr val="black"/>
                </a:solidFill>
                <a:latin typeface="Bookman Old Style"/>
                <a:ea typeface="Calibri"/>
                <a:cs typeface="Times New Roman"/>
              </a:rPr>
              <a:t>PATRON DE COGNOSCITIVO</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4147437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611560" y="1351508"/>
            <a:ext cx="7488832" cy="3785652"/>
          </a:xfrm>
          <a:prstGeom prst="rect">
            <a:avLst/>
          </a:prstGeom>
        </p:spPr>
        <p:txBody>
          <a:bodyPr wrap="square">
            <a:spAutoFit/>
          </a:bodyPr>
          <a:lstStyle/>
          <a:p>
            <a:pPr algn="just">
              <a:lnSpc>
                <a:spcPct val="150000"/>
              </a:lnSpc>
              <a:spcAft>
                <a:spcPts val="0"/>
              </a:spcAft>
            </a:pPr>
            <a:r>
              <a:rPr lang="es-BO" sz="2000" dirty="0" smtClean="0">
                <a:effectLst/>
                <a:latin typeface="Bookman Old Style"/>
                <a:ea typeface="Calibri"/>
                <a:cs typeface="Times New Roman"/>
              </a:rPr>
              <a:t>Refiere que se encuentra triste, deprimida por su estado de salud por la posibilidad de amputar su miembro inferior, además que no puede movilizar ambos miembros, sin embargo se encuentra intacta el área sensitiva, por lo cual no sabe si podrá recuperarse del todo y poder realizar sus actividades de trabajo. Se encuentra con una autoestima muy bajo porque si le amputan el miembro inferior refiere que se sentirá inútil y prefiere morirse.</a:t>
            </a:r>
            <a:endParaRPr lang="es-ES" sz="2000" dirty="0">
              <a:effectLst/>
              <a:latin typeface="Cambria"/>
              <a:ea typeface="Calibri"/>
              <a:cs typeface="Times New Roman"/>
            </a:endParaRPr>
          </a:p>
        </p:txBody>
      </p:sp>
      <p:sp>
        <p:nvSpPr>
          <p:cNvPr id="5" name="4 Rectángulo"/>
          <p:cNvSpPr/>
          <p:nvPr/>
        </p:nvSpPr>
        <p:spPr>
          <a:xfrm>
            <a:off x="594134" y="228124"/>
            <a:ext cx="7704856" cy="55399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just">
              <a:lnSpc>
                <a:spcPct val="150000"/>
              </a:lnSpc>
            </a:pPr>
            <a:r>
              <a:rPr lang="es-BO" sz="2000" b="1" dirty="0">
                <a:solidFill>
                  <a:prstClr val="black"/>
                </a:solidFill>
                <a:latin typeface="Bookman Old Style"/>
                <a:ea typeface="Calibri"/>
                <a:cs typeface="Times New Roman"/>
              </a:rPr>
              <a:t>PATRON DE AUTOPERCEPCION Y AUTOCONCEPTO</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3442967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1115616" y="1844824"/>
            <a:ext cx="6336704" cy="3323987"/>
          </a:xfrm>
          <a:prstGeom prst="rect">
            <a:avLst/>
          </a:prstGeom>
        </p:spPr>
        <p:txBody>
          <a:bodyPr wrap="square">
            <a:spAutoFit/>
          </a:bodyPr>
          <a:lstStyle/>
          <a:p>
            <a:pPr algn="just">
              <a:lnSpc>
                <a:spcPct val="150000"/>
              </a:lnSpc>
              <a:spcAft>
                <a:spcPts val="0"/>
              </a:spcAft>
            </a:pPr>
            <a:r>
              <a:rPr lang="es-BO" sz="2000" dirty="0" smtClean="0">
                <a:effectLst/>
                <a:latin typeface="Bookman Old Style"/>
                <a:ea typeface="Calibri"/>
                <a:cs typeface="Times New Roman"/>
              </a:rPr>
              <a:t>Su principal actividad era el trabajo de la agricultura y comercio, también la crianza de ganado bovino. Actualmente se observa a la paciente deprimida, solo espera volver a realizar sus actividades cotidianas, sin embargo está consciente del tiempo que lleva la recuperación de su salud.</a:t>
            </a:r>
            <a:endParaRPr lang="es-ES" sz="2000" dirty="0">
              <a:effectLst/>
              <a:latin typeface="Cambria"/>
              <a:ea typeface="Calibri"/>
              <a:cs typeface="Times New Roman"/>
            </a:endParaRPr>
          </a:p>
        </p:txBody>
      </p:sp>
      <p:sp>
        <p:nvSpPr>
          <p:cNvPr id="5" name="4 Rectángulo"/>
          <p:cNvSpPr/>
          <p:nvPr/>
        </p:nvSpPr>
        <p:spPr>
          <a:xfrm>
            <a:off x="1979712" y="254898"/>
            <a:ext cx="5886399" cy="55399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just">
              <a:lnSpc>
                <a:spcPct val="150000"/>
              </a:lnSpc>
            </a:pPr>
            <a:r>
              <a:rPr lang="es-BO" sz="2000" b="1" dirty="0">
                <a:solidFill>
                  <a:prstClr val="black"/>
                </a:solidFill>
                <a:latin typeface="Bookman Old Style"/>
                <a:ea typeface="Calibri"/>
                <a:cs typeface="Times New Roman"/>
              </a:rPr>
              <a:t>PATRON DE RELACIONES DEL ROL</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729481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971600" y="1484784"/>
            <a:ext cx="6624736" cy="4662815"/>
          </a:xfrm>
          <a:prstGeom prst="rect">
            <a:avLst/>
          </a:prstGeom>
        </p:spPr>
        <p:txBody>
          <a:bodyPr wrap="square">
            <a:spAutoFit/>
          </a:bodyPr>
          <a:lstStyle/>
          <a:p>
            <a:pPr algn="just">
              <a:lnSpc>
                <a:spcPct val="150000"/>
              </a:lnSpc>
              <a:spcAft>
                <a:spcPts val="0"/>
              </a:spcAft>
            </a:pPr>
            <a:r>
              <a:rPr lang="es-BO" dirty="0" smtClean="0">
                <a:effectLst/>
                <a:latin typeface="Bookman Old Style"/>
                <a:ea typeface="Calibri"/>
                <a:cs typeface="Times New Roman"/>
              </a:rPr>
              <a:t>Refiere no conocer el autoexamen de mama por lo cual no lo practica, indica que inicio su vida sexual a los 19 años y desde entonces no se realizó ningún papanicolaou porque tiene vergüenza. </a:t>
            </a:r>
          </a:p>
          <a:p>
            <a:pPr algn="just">
              <a:lnSpc>
                <a:spcPct val="150000"/>
              </a:lnSpc>
              <a:spcAft>
                <a:spcPts val="0"/>
              </a:spcAft>
            </a:pPr>
            <a:endParaRPr lang="es-ES" dirty="0" smtClean="0">
              <a:effectLst/>
              <a:latin typeface="Cambria"/>
              <a:ea typeface="Calibri"/>
              <a:cs typeface="Times New Roman"/>
            </a:endParaRPr>
          </a:p>
          <a:p>
            <a:pPr algn="just">
              <a:lnSpc>
                <a:spcPct val="150000"/>
              </a:lnSpc>
              <a:spcAft>
                <a:spcPts val="0"/>
              </a:spcAft>
            </a:pPr>
            <a:r>
              <a:rPr lang="es-BO" dirty="0" smtClean="0">
                <a:effectLst/>
                <a:latin typeface="Bookman Old Style"/>
                <a:ea typeface="Calibri"/>
                <a:cs typeface="Times New Roman"/>
              </a:rPr>
              <a:t>Se encuentra en su tercer día de menstruación, con escaso flujo </a:t>
            </a:r>
            <a:r>
              <a:rPr lang="es-BO" dirty="0" err="1" smtClean="0">
                <a:effectLst/>
                <a:latin typeface="Bookman Old Style"/>
                <a:ea typeface="Calibri"/>
                <a:cs typeface="Times New Roman"/>
              </a:rPr>
              <a:t>trans</a:t>
            </a:r>
            <a:r>
              <a:rPr lang="es-BO" dirty="0" smtClean="0">
                <a:effectLst/>
                <a:latin typeface="Bookman Old Style"/>
                <a:ea typeface="Calibri"/>
                <a:cs typeface="Times New Roman"/>
              </a:rPr>
              <a:t>-vaginal, refiere que su menstruación es regular cada 28 días. No utiliza ningún método anticonceptivo.   </a:t>
            </a:r>
          </a:p>
          <a:p>
            <a:pPr algn="just">
              <a:lnSpc>
                <a:spcPct val="150000"/>
              </a:lnSpc>
              <a:spcAft>
                <a:spcPts val="0"/>
              </a:spcAft>
            </a:pPr>
            <a:endParaRPr lang="es-ES" dirty="0" smtClean="0">
              <a:effectLst/>
              <a:latin typeface="Cambria"/>
              <a:ea typeface="Calibri"/>
              <a:cs typeface="Times New Roman"/>
            </a:endParaRPr>
          </a:p>
          <a:p>
            <a:pPr algn="just">
              <a:lnSpc>
                <a:spcPct val="150000"/>
              </a:lnSpc>
              <a:spcAft>
                <a:spcPts val="0"/>
              </a:spcAft>
            </a:pPr>
            <a:r>
              <a:rPr lang="es-BO" dirty="0" smtClean="0">
                <a:effectLst/>
                <a:latin typeface="Bookman Old Style"/>
                <a:ea typeface="Calibri"/>
                <a:cs typeface="Times New Roman"/>
              </a:rPr>
              <a:t>Se observa sonda foley, en su octavo día.</a:t>
            </a:r>
            <a:endParaRPr lang="es-ES" dirty="0">
              <a:effectLst/>
              <a:latin typeface="Cambria"/>
              <a:ea typeface="Calibri"/>
              <a:cs typeface="Times New Roman"/>
            </a:endParaRPr>
          </a:p>
        </p:txBody>
      </p:sp>
      <p:sp>
        <p:nvSpPr>
          <p:cNvPr id="5" name="4 Rectángulo"/>
          <p:cNvSpPr/>
          <p:nvPr/>
        </p:nvSpPr>
        <p:spPr>
          <a:xfrm>
            <a:off x="1691680" y="188640"/>
            <a:ext cx="5735711" cy="49879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pPr>
            <a:r>
              <a:rPr lang="es-BO" sz="2000" b="1" dirty="0">
                <a:solidFill>
                  <a:prstClr val="black"/>
                </a:solidFill>
                <a:latin typeface="Bookman Old Style"/>
                <a:ea typeface="Calibri"/>
                <a:cs typeface="Times New Roman"/>
              </a:rPr>
              <a:t>PATRON REPRODUTIVO Y SEXUAL</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1425065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27584" y="1916832"/>
            <a:ext cx="6984776" cy="4247317"/>
          </a:xfrm>
          <a:prstGeom prst="rect">
            <a:avLst/>
          </a:prstGeom>
        </p:spPr>
        <p:txBody>
          <a:bodyPr wrap="square">
            <a:spAutoFit/>
          </a:bodyPr>
          <a:lstStyle/>
          <a:p>
            <a:pPr algn="just">
              <a:lnSpc>
                <a:spcPct val="150000"/>
              </a:lnSpc>
              <a:spcAft>
                <a:spcPts val="0"/>
              </a:spcAft>
            </a:pPr>
            <a:r>
              <a:rPr lang="es-BO" sz="2000" dirty="0" smtClean="0">
                <a:effectLst/>
                <a:latin typeface="Bookman Old Style"/>
                <a:ea typeface="Calibri"/>
                <a:cs typeface="Times New Roman"/>
              </a:rPr>
              <a:t>Indica la paciente que se encuentra preocupada, ansiosa por la recuperación de su salud, por la cuenta y también por su ganado bovino y sus sembradíos, porque los abandonó  ya que toda su familia se encuentra con ella apoyándola.</a:t>
            </a:r>
          </a:p>
          <a:p>
            <a:pPr algn="just">
              <a:lnSpc>
                <a:spcPct val="150000"/>
              </a:lnSpc>
              <a:spcAft>
                <a:spcPts val="0"/>
              </a:spcAft>
            </a:pPr>
            <a:endParaRPr lang="es-ES" sz="2000" dirty="0" smtClean="0">
              <a:effectLst/>
              <a:latin typeface="Cambria"/>
              <a:ea typeface="Calibri"/>
              <a:cs typeface="Times New Roman"/>
            </a:endParaRPr>
          </a:p>
          <a:p>
            <a:pPr algn="just">
              <a:lnSpc>
                <a:spcPct val="150000"/>
              </a:lnSpc>
              <a:spcAft>
                <a:spcPts val="0"/>
              </a:spcAft>
            </a:pPr>
            <a:r>
              <a:rPr lang="es-BO" sz="2000" dirty="0" smtClean="0">
                <a:effectLst/>
                <a:latin typeface="Bookman Old Style"/>
                <a:ea typeface="Calibri"/>
                <a:cs typeface="Times New Roman"/>
              </a:rPr>
              <a:t>Su estado emocional se encuentra alterado, incluso presenta momento de nerviosismo, en ocasiones se encuentra irritable.  </a:t>
            </a:r>
            <a:endParaRPr lang="es-ES" sz="2000" dirty="0">
              <a:effectLst/>
              <a:latin typeface="Cambria"/>
              <a:ea typeface="Calibri"/>
              <a:cs typeface="Times New Roman"/>
            </a:endParaRPr>
          </a:p>
        </p:txBody>
      </p:sp>
      <p:sp>
        <p:nvSpPr>
          <p:cNvPr id="5" name="4 Rectángulo"/>
          <p:cNvSpPr/>
          <p:nvPr/>
        </p:nvSpPr>
        <p:spPr>
          <a:xfrm>
            <a:off x="1547663" y="188640"/>
            <a:ext cx="5839887" cy="101566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ctr">
              <a:lnSpc>
                <a:spcPct val="150000"/>
              </a:lnSpc>
            </a:pPr>
            <a:r>
              <a:rPr lang="es-BO" sz="2000" b="1" dirty="0">
                <a:solidFill>
                  <a:prstClr val="black"/>
                </a:solidFill>
                <a:latin typeface="Bookman Old Style"/>
                <a:ea typeface="Calibri"/>
                <a:cs typeface="Times New Roman"/>
              </a:rPr>
              <a:t>PATRON DE ENFRENTAMIENTO Y TOLERANCIA DEL STRESS</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2626022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544248" y="1268760"/>
            <a:ext cx="7628151" cy="5170646"/>
          </a:xfrm>
          <a:prstGeom prst="rect">
            <a:avLst/>
          </a:prstGeom>
        </p:spPr>
        <p:txBody>
          <a:bodyPr wrap="square">
            <a:spAutoFit/>
          </a:bodyPr>
          <a:lstStyle/>
          <a:p>
            <a:pPr algn="just">
              <a:lnSpc>
                <a:spcPct val="150000"/>
              </a:lnSpc>
              <a:spcAft>
                <a:spcPts val="0"/>
              </a:spcAft>
            </a:pPr>
            <a:r>
              <a:rPr lang="es-AR" sz="2000" dirty="0" smtClean="0">
                <a:effectLst/>
                <a:latin typeface="Bookman Old Style"/>
                <a:ea typeface="Calibri"/>
                <a:cs typeface="Times New Roman"/>
              </a:rPr>
              <a:t>Refiere que toda su familia profesa la religión católica y hace unos 4 meses la paciente se volvió evangélica, menciona que iba a sus cultos, rezaba y supuestamente sentía que iba a recuperarse de su problema (osteomielitis) y cuando llego al hospital por el accidente le informaron los doctores que no había cedido y que existía una posibilidad de amputar, por lo cual se sintió desesperanzada sin querer escuchar más de Dios.</a:t>
            </a:r>
          </a:p>
          <a:p>
            <a:pPr algn="just">
              <a:lnSpc>
                <a:spcPct val="150000"/>
              </a:lnSpc>
              <a:spcAft>
                <a:spcPts val="0"/>
              </a:spcAft>
            </a:pPr>
            <a:endParaRPr lang="es-ES" sz="2000" dirty="0" smtClean="0">
              <a:effectLst/>
              <a:latin typeface="Cambria"/>
              <a:ea typeface="Calibri"/>
              <a:cs typeface="Times New Roman"/>
            </a:endParaRPr>
          </a:p>
          <a:p>
            <a:pPr algn="just">
              <a:lnSpc>
                <a:spcPct val="150000"/>
              </a:lnSpc>
              <a:spcAft>
                <a:spcPts val="0"/>
              </a:spcAft>
            </a:pPr>
            <a:r>
              <a:rPr lang="es-AR" sz="2000" dirty="0" smtClean="0">
                <a:effectLst/>
                <a:latin typeface="Bookman Old Style"/>
                <a:ea typeface="Calibri"/>
                <a:cs typeface="Times New Roman"/>
              </a:rPr>
              <a:t>Sin embargo su familia le apoya rezan, sin que la paciente escuche.</a:t>
            </a:r>
            <a:endParaRPr lang="es-ES" sz="2000" dirty="0">
              <a:effectLst/>
              <a:latin typeface="Cambria"/>
              <a:ea typeface="Calibri"/>
              <a:cs typeface="Times New Roman"/>
            </a:endParaRPr>
          </a:p>
        </p:txBody>
      </p:sp>
      <p:sp>
        <p:nvSpPr>
          <p:cNvPr id="5" name="4 Rectángulo"/>
          <p:cNvSpPr/>
          <p:nvPr/>
        </p:nvSpPr>
        <p:spPr>
          <a:xfrm>
            <a:off x="1691680" y="260648"/>
            <a:ext cx="5973266" cy="49879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1" algn="just">
              <a:lnSpc>
                <a:spcPct val="150000"/>
              </a:lnSpc>
            </a:pPr>
            <a:r>
              <a:rPr lang="es-ES" sz="2000" b="1" dirty="0">
                <a:solidFill>
                  <a:prstClr val="black"/>
                </a:solidFill>
                <a:latin typeface="Bookman Old Style"/>
                <a:ea typeface="Calibri"/>
                <a:cs typeface="Times New Roman"/>
              </a:rPr>
              <a:t>PATRON DE VALORES Y CREENCIAS</a:t>
            </a:r>
            <a:endParaRPr lang="es-ES" sz="2000" dirty="0">
              <a:solidFill>
                <a:prstClr val="black"/>
              </a:solidFill>
              <a:latin typeface="Cambria"/>
              <a:ea typeface="Calibri"/>
              <a:cs typeface="Times New Roman"/>
            </a:endParaRPr>
          </a:p>
        </p:txBody>
      </p:sp>
    </p:spTree>
    <p:extLst>
      <p:ext uri="{BB962C8B-B14F-4D97-AF65-F5344CB8AC3E}">
        <p14:creationId xmlns:p14="http://schemas.microsoft.com/office/powerpoint/2010/main" val="34059534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Fluj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1268</TotalTime>
  <Words>1598</Words>
  <Application>Microsoft Office PowerPoint</Application>
  <PresentationFormat>Presentación en pantalla (4:3)</PresentationFormat>
  <Paragraphs>187</Paragraphs>
  <Slides>23</Slides>
  <Notes>0</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Mirador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LILI</cp:lastModifiedBy>
  <cp:revision>7</cp:revision>
  <dcterms:created xsi:type="dcterms:W3CDTF">2013-09-28T05:58:53Z</dcterms:created>
  <dcterms:modified xsi:type="dcterms:W3CDTF">2013-09-30T20:33:49Z</dcterms:modified>
</cp:coreProperties>
</file>