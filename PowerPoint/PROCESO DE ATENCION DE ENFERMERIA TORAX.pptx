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5" r:id="rId15"/>
    <p:sldId id="269" r:id="rId16"/>
    <p:sldId id="270" r:id="rId17"/>
    <p:sldId id="271" r:id="rId18"/>
    <p:sldId id="272" r:id="rId19"/>
    <p:sldId id="273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5" d="100"/>
          <a:sy n="45" d="100"/>
        </p:scale>
        <p:origin x="-1152" y="-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50B1CC-09DC-4C8E-8BFB-B3B5E5289428}" type="doc">
      <dgm:prSet loTypeId="urn:microsoft.com/office/officeart/2005/8/layout/radial6" loCatId="cycle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s-BO"/>
        </a:p>
      </dgm:t>
    </dgm:pt>
    <dgm:pt modelId="{F0763237-6D79-4E21-82C3-A3E31CA160A1}">
      <dgm:prSet phldrT="[Texto]"/>
      <dgm:spPr/>
      <dgm:t>
        <a:bodyPr/>
        <a:lstStyle/>
        <a:p>
          <a:r>
            <a:rPr lang="es-BO" dirty="0" smtClean="0">
              <a:solidFill>
                <a:schemeClr val="tx1"/>
              </a:solidFill>
            </a:rPr>
            <a:t>PACIENTE</a:t>
          </a:r>
          <a:endParaRPr lang="es-BO" dirty="0">
            <a:solidFill>
              <a:schemeClr val="tx1"/>
            </a:solidFill>
          </a:endParaRPr>
        </a:p>
      </dgm:t>
    </dgm:pt>
    <dgm:pt modelId="{6CEF9727-65D5-4A2D-AABD-F49707BF90CD}" type="parTrans" cxnId="{BBA659C1-3D04-45A0-8459-C454AFBCCBF5}">
      <dgm:prSet/>
      <dgm:spPr/>
      <dgm:t>
        <a:bodyPr/>
        <a:lstStyle/>
        <a:p>
          <a:endParaRPr lang="es-BO"/>
        </a:p>
      </dgm:t>
    </dgm:pt>
    <dgm:pt modelId="{24A7A7D9-92F1-4E7F-820E-184BF580E0F9}" type="sibTrans" cxnId="{BBA659C1-3D04-45A0-8459-C454AFBCCBF5}">
      <dgm:prSet/>
      <dgm:spPr/>
      <dgm:t>
        <a:bodyPr/>
        <a:lstStyle/>
        <a:p>
          <a:endParaRPr lang="es-BO"/>
        </a:p>
      </dgm:t>
    </dgm:pt>
    <dgm:pt modelId="{281794E6-10CF-4D24-8B66-DE09EEFEA355}">
      <dgm:prSet phldrT="[Texto]"/>
      <dgm:spPr/>
      <dgm:t>
        <a:bodyPr/>
        <a:lstStyle/>
        <a:p>
          <a:r>
            <a:rPr lang="es-BO" dirty="0" smtClean="0">
              <a:solidFill>
                <a:schemeClr val="tx1"/>
              </a:solidFill>
            </a:rPr>
            <a:t>POLICONTUSION  </a:t>
          </a:r>
          <a:endParaRPr lang="es-BO" dirty="0">
            <a:solidFill>
              <a:schemeClr val="tx1"/>
            </a:solidFill>
          </a:endParaRPr>
        </a:p>
      </dgm:t>
    </dgm:pt>
    <dgm:pt modelId="{EC0C5BB1-1141-4100-BAC9-530B63391D0C}" type="parTrans" cxnId="{B259F9CD-6EDF-4F1E-929C-746518E7FF79}">
      <dgm:prSet/>
      <dgm:spPr/>
      <dgm:t>
        <a:bodyPr/>
        <a:lstStyle/>
        <a:p>
          <a:endParaRPr lang="es-BO"/>
        </a:p>
      </dgm:t>
    </dgm:pt>
    <dgm:pt modelId="{90005695-101A-40A0-BB5C-3F8578958036}" type="sibTrans" cxnId="{B259F9CD-6EDF-4F1E-929C-746518E7FF79}">
      <dgm:prSet/>
      <dgm:spPr/>
      <dgm:t>
        <a:bodyPr/>
        <a:lstStyle/>
        <a:p>
          <a:endParaRPr lang="es-BO"/>
        </a:p>
      </dgm:t>
    </dgm:pt>
    <dgm:pt modelId="{F4462857-A5D7-4781-9DEC-F9BE7BD5911D}">
      <dgm:prSet phldrT="[Texto]"/>
      <dgm:spPr/>
      <dgm:t>
        <a:bodyPr/>
        <a:lstStyle/>
        <a:p>
          <a:r>
            <a:rPr lang="es-BO" dirty="0" smtClean="0">
              <a:solidFill>
                <a:schemeClr val="tx1"/>
              </a:solidFill>
            </a:rPr>
            <a:t>FRACTURA</a:t>
          </a:r>
          <a:r>
            <a:rPr lang="es-BO" dirty="0" smtClean="0"/>
            <a:t> </a:t>
          </a:r>
          <a:r>
            <a:rPr lang="es-BO" dirty="0" smtClean="0">
              <a:solidFill>
                <a:schemeClr val="tx1"/>
              </a:solidFill>
            </a:rPr>
            <a:t>DE</a:t>
          </a:r>
          <a:r>
            <a:rPr lang="es-BO" dirty="0" smtClean="0"/>
            <a:t> </a:t>
          </a:r>
          <a:r>
            <a:rPr lang="es-BO" dirty="0" smtClean="0">
              <a:solidFill>
                <a:schemeClr val="tx1"/>
              </a:solidFill>
            </a:rPr>
            <a:t>TIBIA</a:t>
          </a:r>
          <a:endParaRPr lang="es-BO" dirty="0">
            <a:solidFill>
              <a:schemeClr val="tx1"/>
            </a:solidFill>
          </a:endParaRPr>
        </a:p>
      </dgm:t>
    </dgm:pt>
    <dgm:pt modelId="{D85DAD41-157B-419A-8FF3-1FAE0776BA11}" type="parTrans" cxnId="{4185F699-A932-485C-8AAA-6AE9CC3E41B3}">
      <dgm:prSet/>
      <dgm:spPr/>
      <dgm:t>
        <a:bodyPr/>
        <a:lstStyle/>
        <a:p>
          <a:endParaRPr lang="es-BO"/>
        </a:p>
      </dgm:t>
    </dgm:pt>
    <dgm:pt modelId="{A2FD6D2A-AA5D-462E-9CA5-796E052C84C8}" type="sibTrans" cxnId="{4185F699-A932-485C-8AAA-6AE9CC3E41B3}">
      <dgm:prSet/>
      <dgm:spPr/>
      <dgm:t>
        <a:bodyPr/>
        <a:lstStyle/>
        <a:p>
          <a:endParaRPr lang="es-BO"/>
        </a:p>
      </dgm:t>
    </dgm:pt>
    <dgm:pt modelId="{FEDC455B-3597-4B3A-8086-45102053DC30}">
      <dgm:prSet phldrT="[Texto]"/>
      <dgm:spPr/>
      <dgm:t>
        <a:bodyPr/>
        <a:lstStyle/>
        <a:p>
          <a:r>
            <a:rPr lang="es-BO" dirty="0" smtClean="0">
              <a:solidFill>
                <a:schemeClr val="tx1"/>
              </a:solidFill>
            </a:rPr>
            <a:t>TEC LEVE </a:t>
          </a:r>
          <a:endParaRPr lang="es-BO" dirty="0">
            <a:solidFill>
              <a:schemeClr val="tx1"/>
            </a:solidFill>
          </a:endParaRPr>
        </a:p>
      </dgm:t>
    </dgm:pt>
    <dgm:pt modelId="{F3D14442-032A-4C80-844F-81BB5613C723}" type="parTrans" cxnId="{CBA2D2E1-37C4-4C17-965C-A1F22ACF47DA}">
      <dgm:prSet/>
      <dgm:spPr/>
      <dgm:t>
        <a:bodyPr/>
        <a:lstStyle/>
        <a:p>
          <a:endParaRPr lang="es-BO"/>
        </a:p>
      </dgm:t>
    </dgm:pt>
    <dgm:pt modelId="{B314EC9F-FB54-4F01-ADE8-77EB740388EC}" type="sibTrans" cxnId="{CBA2D2E1-37C4-4C17-965C-A1F22ACF47DA}">
      <dgm:prSet/>
      <dgm:spPr/>
      <dgm:t>
        <a:bodyPr/>
        <a:lstStyle/>
        <a:p>
          <a:endParaRPr lang="es-BO"/>
        </a:p>
      </dgm:t>
    </dgm:pt>
    <dgm:pt modelId="{BC5FF6F0-CE8E-41DE-9BD1-CBD545A8B13F}">
      <dgm:prSet phldrT="[Texto]"/>
      <dgm:spPr/>
      <dgm:t>
        <a:bodyPr/>
        <a:lstStyle/>
        <a:p>
          <a:r>
            <a:rPr lang="es-BO" dirty="0" smtClean="0">
              <a:solidFill>
                <a:schemeClr val="tx1"/>
              </a:solidFill>
            </a:rPr>
            <a:t>TORAX INESTABLE</a:t>
          </a:r>
          <a:endParaRPr lang="es-BO" dirty="0">
            <a:solidFill>
              <a:schemeClr val="tx1"/>
            </a:solidFill>
          </a:endParaRPr>
        </a:p>
      </dgm:t>
    </dgm:pt>
    <dgm:pt modelId="{8E9EBC3F-C48B-44C5-A6F4-41E583961541}" type="parTrans" cxnId="{483B1BF1-A517-419F-BD57-04A5FD424BAA}">
      <dgm:prSet/>
      <dgm:spPr/>
      <dgm:t>
        <a:bodyPr/>
        <a:lstStyle/>
        <a:p>
          <a:endParaRPr lang="es-BO"/>
        </a:p>
      </dgm:t>
    </dgm:pt>
    <dgm:pt modelId="{E6846A77-8D85-4E8B-ACF4-49EB2A5E86BF}" type="sibTrans" cxnId="{483B1BF1-A517-419F-BD57-04A5FD424BAA}">
      <dgm:prSet/>
      <dgm:spPr/>
      <dgm:t>
        <a:bodyPr/>
        <a:lstStyle/>
        <a:p>
          <a:endParaRPr lang="es-BO"/>
        </a:p>
      </dgm:t>
    </dgm:pt>
    <dgm:pt modelId="{0DFB2B48-AEC9-4AE2-A690-13E1B3D17897}">
      <dgm:prSet phldrT="[Texto]"/>
      <dgm:spPr/>
      <dgm:t>
        <a:bodyPr/>
        <a:lstStyle/>
        <a:p>
          <a:r>
            <a:rPr lang="es-BO" dirty="0" smtClean="0">
              <a:solidFill>
                <a:schemeClr val="tx1"/>
              </a:solidFill>
            </a:rPr>
            <a:t>HEMONEUMOTORAX</a:t>
          </a:r>
          <a:endParaRPr lang="es-BO" dirty="0">
            <a:solidFill>
              <a:schemeClr val="tx1"/>
            </a:solidFill>
          </a:endParaRPr>
        </a:p>
      </dgm:t>
    </dgm:pt>
    <dgm:pt modelId="{40C1074E-60D9-472A-A480-1CCA2F949546}" type="parTrans" cxnId="{BB02E4EA-6488-4735-8D38-5559D71D8B9C}">
      <dgm:prSet/>
      <dgm:spPr/>
      <dgm:t>
        <a:bodyPr/>
        <a:lstStyle/>
        <a:p>
          <a:endParaRPr lang="es-BO"/>
        </a:p>
      </dgm:t>
    </dgm:pt>
    <dgm:pt modelId="{85A3D859-EA8B-4537-8A89-4B26527BC505}" type="sibTrans" cxnId="{BB02E4EA-6488-4735-8D38-5559D71D8B9C}">
      <dgm:prSet/>
      <dgm:spPr/>
      <dgm:t>
        <a:bodyPr/>
        <a:lstStyle/>
        <a:p>
          <a:endParaRPr lang="es-BO"/>
        </a:p>
      </dgm:t>
    </dgm:pt>
    <dgm:pt modelId="{446789C7-90AF-4043-ACE9-B829E155090F}" type="pres">
      <dgm:prSet presAssocID="{0850B1CC-09DC-4C8E-8BFB-B3B5E5289428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s-BO"/>
        </a:p>
      </dgm:t>
    </dgm:pt>
    <dgm:pt modelId="{825BACFB-C08B-4424-9466-169EEAC8B20B}" type="pres">
      <dgm:prSet presAssocID="{F0763237-6D79-4E21-82C3-A3E31CA160A1}" presName="centerShape" presStyleLbl="node0" presStyleIdx="0" presStyleCnt="1" custScaleY="63097"/>
      <dgm:spPr/>
      <dgm:t>
        <a:bodyPr/>
        <a:lstStyle/>
        <a:p>
          <a:endParaRPr lang="es-BO"/>
        </a:p>
      </dgm:t>
    </dgm:pt>
    <dgm:pt modelId="{68FFDF50-646A-4099-97A3-2F323140569A}" type="pres">
      <dgm:prSet presAssocID="{281794E6-10CF-4D24-8B66-DE09EEFEA355}" presName="node" presStyleLbl="node1" presStyleIdx="0" presStyleCnt="5" custScaleX="151603" custRadScaleRad="98548" custRadScaleInc="-3292">
        <dgm:presLayoutVars>
          <dgm:bulletEnabled val="1"/>
        </dgm:presLayoutVars>
      </dgm:prSet>
      <dgm:spPr/>
      <dgm:t>
        <a:bodyPr/>
        <a:lstStyle/>
        <a:p>
          <a:endParaRPr lang="es-BO"/>
        </a:p>
      </dgm:t>
    </dgm:pt>
    <dgm:pt modelId="{8E761CE0-7C9A-406E-AB73-0E25355E49EC}" type="pres">
      <dgm:prSet presAssocID="{281794E6-10CF-4D24-8B66-DE09EEFEA355}" presName="dummy" presStyleCnt="0"/>
      <dgm:spPr/>
    </dgm:pt>
    <dgm:pt modelId="{C2F82618-6544-4A01-8D7F-565B1681B5FC}" type="pres">
      <dgm:prSet presAssocID="{90005695-101A-40A0-BB5C-3F8578958036}" presName="sibTrans" presStyleLbl="sibTrans2D1" presStyleIdx="0" presStyleCnt="5"/>
      <dgm:spPr/>
      <dgm:t>
        <a:bodyPr/>
        <a:lstStyle/>
        <a:p>
          <a:endParaRPr lang="es-BO"/>
        </a:p>
      </dgm:t>
    </dgm:pt>
    <dgm:pt modelId="{DEA96D3D-5B48-45C8-BF2D-18F22E0E493B}" type="pres">
      <dgm:prSet presAssocID="{F4462857-A5D7-4781-9DEC-F9BE7BD5911D}" presName="node" presStyleLbl="node1" presStyleIdx="1" presStyleCnt="5" custScaleX="138071">
        <dgm:presLayoutVars>
          <dgm:bulletEnabled val="1"/>
        </dgm:presLayoutVars>
      </dgm:prSet>
      <dgm:spPr/>
      <dgm:t>
        <a:bodyPr/>
        <a:lstStyle/>
        <a:p>
          <a:endParaRPr lang="es-BO"/>
        </a:p>
      </dgm:t>
    </dgm:pt>
    <dgm:pt modelId="{B6242F9D-C36C-41B7-9556-9F4B51FBB153}" type="pres">
      <dgm:prSet presAssocID="{F4462857-A5D7-4781-9DEC-F9BE7BD5911D}" presName="dummy" presStyleCnt="0"/>
      <dgm:spPr/>
    </dgm:pt>
    <dgm:pt modelId="{72688755-4757-4C80-8B24-0B183567D022}" type="pres">
      <dgm:prSet presAssocID="{A2FD6D2A-AA5D-462E-9CA5-796E052C84C8}" presName="sibTrans" presStyleLbl="sibTrans2D1" presStyleIdx="1" presStyleCnt="5"/>
      <dgm:spPr/>
      <dgm:t>
        <a:bodyPr/>
        <a:lstStyle/>
        <a:p>
          <a:endParaRPr lang="es-BO"/>
        </a:p>
      </dgm:t>
    </dgm:pt>
    <dgm:pt modelId="{9C58D510-B9B2-4ADF-AA21-A8E93D52B45F}" type="pres">
      <dgm:prSet presAssocID="{FEDC455B-3597-4B3A-8086-45102053DC30}" presName="node" presStyleLbl="node1" presStyleIdx="2" presStyleCnt="5" custScaleX="141466">
        <dgm:presLayoutVars>
          <dgm:bulletEnabled val="1"/>
        </dgm:presLayoutVars>
      </dgm:prSet>
      <dgm:spPr/>
      <dgm:t>
        <a:bodyPr/>
        <a:lstStyle/>
        <a:p>
          <a:endParaRPr lang="es-BO"/>
        </a:p>
      </dgm:t>
    </dgm:pt>
    <dgm:pt modelId="{B875AFA4-CC4E-46F2-966A-AE42BDD0BDFD}" type="pres">
      <dgm:prSet presAssocID="{FEDC455B-3597-4B3A-8086-45102053DC30}" presName="dummy" presStyleCnt="0"/>
      <dgm:spPr/>
    </dgm:pt>
    <dgm:pt modelId="{F4845E2B-6A32-48E4-9E56-AC277EFF19CC}" type="pres">
      <dgm:prSet presAssocID="{B314EC9F-FB54-4F01-ADE8-77EB740388EC}" presName="sibTrans" presStyleLbl="sibTrans2D1" presStyleIdx="2" presStyleCnt="5"/>
      <dgm:spPr/>
      <dgm:t>
        <a:bodyPr/>
        <a:lstStyle/>
        <a:p>
          <a:endParaRPr lang="es-BO"/>
        </a:p>
      </dgm:t>
    </dgm:pt>
    <dgm:pt modelId="{75C11F47-89C3-48EA-832D-260DC93019B0}" type="pres">
      <dgm:prSet presAssocID="{BC5FF6F0-CE8E-41DE-9BD1-CBD545A8B13F}" presName="node" presStyleLbl="node1" presStyleIdx="3" presStyleCnt="5" custScaleX="134501">
        <dgm:presLayoutVars>
          <dgm:bulletEnabled val="1"/>
        </dgm:presLayoutVars>
      </dgm:prSet>
      <dgm:spPr/>
      <dgm:t>
        <a:bodyPr/>
        <a:lstStyle/>
        <a:p>
          <a:endParaRPr lang="es-BO"/>
        </a:p>
      </dgm:t>
    </dgm:pt>
    <dgm:pt modelId="{D07080DD-A198-48DF-A82A-254EC8ACBABE}" type="pres">
      <dgm:prSet presAssocID="{BC5FF6F0-CE8E-41DE-9BD1-CBD545A8B13F}" presName="dummy" presStyleCnt="0"/>
      <dgm:spPr/>
    </dgm:pt>
    <dgm:pt modelId="{CFB389D2-A825-4939-9C6D-F558D5A6FD64}" type="pres">
      <dgm:prSet presAssocID="{E6846A77-8D85-4E8B-ACF4-49EB2A5E86BF}" presName="sibTrans" presStyleLbl="sibTrans2D1" presStyleIdx="3" presStyleCnt="5"/>
      <dgm:spPr/>
      <dgm:t>
        <a:bodyPr/>
        <a:lstStyle/>
        <a:p>
          <a:endParaRPr lang="es-BO"/>
        </a:p>
      </dgm:t>
    </dgm:pt>
    <dgm:pt modelId="{383B8A0A-DB50-412B-AC25-F4BF33B96E5A}" type="pres">
      <dgm:prSet presAssocID="{0DFB2B48-AEC9-4AE2-A690-13E1B3D17897}" presName="node" presStyleLbl="node1" presStyleIdx="4" presStyleCnt="5" custScaleX="135120">
        <dgm:presLayoutVars>
          <dgm:bulletEnabled val="1"/>
        </dgm:presLayoutVars>
      </dgm:prSet>
      <dgm:spPr/>
      <dgm:t>
        <a:bodyPr/>
        <a:lstStyle/>
        <a:p>
          <a:endParaRPr lang="es-BO"/>
        </a:p>
      </dgm:t>
    </dgm:pt>
    <dgm:pt modelId="{729B199E-AE58-4897-BF93-D2675F8CF462}" type="pres">
      <dgm:prSet presAssocID="{0DFB2B48-AEC9-4AE2-A690-13E1B3D17897}" presName="dummy" presStyleCnt="0"/>
      <dgm:spPr/>
    </dgm:pt>
    <dgm:pt modelId="{2A55015B-ED6C-4A28-BC1D-7B5F7CB54B99}" type="pres">
      <dgm:prSet presAssocID="{85A3D859-EA8B-4537-8A89-4B26527BC505}" presName="sibTrans" presStyleLbl="sibTrans2D1" presStyleIdx="4" presStyleCnt="5"/>
      <dgm:spPr/>
    </dgm:pt>
  </dgm:ptLst>
  <dgm:cxnLst>
    <dgm:cxn modelId="{BBA659C1-3D04-45A0-8459-C454AFBCCBF5}" srcId="{0850B1CC-09DC-4C8E-8BFB-B3B5E5289428}" destId="{F0763237-6D79-4E21-82C3-A3E31CA160A1}" srcOrd="0" destOrd="0" parTransId="{6CEF9727-65D5-4A2D-AABD-F49707BF90CD}" sibTransId="{24A7A7D9-92F1-4E7F-820E-184BF580E0F9}"/>
    <dgm:cxn modelId="{1C72419D-C018-4AE9-9694-BE44356C941B}" type="presOf" srcId="{FEDC455B-3597-4B3A-8086-45102053DC30}" destId="{9C58D510-B9B2-4ADF-AA21-A8E93D52B45F}" srcOrd="0" destOrd="0" presId="urn:microsoft.com/office/officeart/2005/8/layout/radial6"/>
    <dgm:cxn modelId="{C72B3AFA-5AEC-4CBD-AAA8-8E327B8AF833}" type="presOf" srcId="{BC5FF6F0-CE8E-41DE-9BD1-CBD545A8B13F}" destId="{75C11F47-89C3-48EA-832D-260DC93019B0}" srcOrd="0" destOrd="0" presId="urn:microsoft.com/office/officeart/2005/8/layout/radial6"/>
    <dgm:cxn modelId="{4E61A3E1-D1C3-416C-B8CF-789DC4D6D077}" type="presOf" srcId="{B314EC9F-FB54-4F01-ADE8-77EB740388EC}" destId="{F4845E2B-6A32-48E4-9E56-AC277EFF19CC}" srcOrd="0" destOrd="0" presId="urn:microsoft.com/office/officeart/2005/8/layout/radial6"/>
    <dgm:cxn modelId="{7A0C0E3D-FCDE-4E2F-A1C8-723C3F3E44B2}" type="presOf" srcId="{90005695-101A-40A0-BB5C-3F8578958036}" destId="{C2F82618-6544-4A01-8D7F-565B1681B5FC}" srcOrd="0" destOrd="0" presId="urn:microsoft.com/office/officeart/2005/8/layout/radial6"/>
    <dgm:cxn modelId="{BB02E4EA-6488-4735-8D38-5559D71D8B9C}" srcId="{F0763237-6D79-4E21-82C3-A3E31CA160A1}" destId="{0DFB2B48-AEC9-4AE2-A690-13E1B3D17897}" srcOrd="4" destOrd="0" parTransId="{40C1074E-60D9-472A-A480-1CCA2F949546}" sibTransId="{85A3D859-EA8B-4537-8A89-4B26527BC505}"/>
    <dgm:cxn modelId="{8C2252D6-540A-4154-8DC9-FFE3AE4AE2E7}" type="presOf" srcId="{0850B1CC-09DC-4C8E-8BFB-B3B5E5289428}" destId="{446789C7-90AF-4043-ACE9-B829E155090F}" srcOrd="0" destOrd="0" presId="urn:microsoft.com/office/officeart/2005/8/layout/radial6"/>
    <dgm:cxn modelId="{B259F9CD-6EDF-4F1E-929C-746518E7FF79}" srcId="{F0763237-6D79-4E21-82C3-A3E31CA160A1}" destId="{281794E6-10CF-4D24-8B66-DE09EEFEA355}" srcOrd="0" destOrd="0" parTransId="{EC0C5BB1-1141-4100-BAC9-530B63391D0C}" sibTransId="{90005695-101A-40A0-BB5C-3F8578958036}"/>
    <dgm:cxn modelId="{4185F699-A932-485C-8AAA-6AE9CC3E41B3}" srcId="{F0763237-6D79-4E21-82C3-A3E31CA160A1}" destId="{F4462857-A5D7-4781-9DEC-F9BE7BD5911D}" srcOrd="1" destOrd="0" parTransId="{D85DAD41-157B-419A-8FF3-1FAE0776BA11}" sibTransId="{A2FD6D2A-AA5D-462E-9CA5-796E052C84C8}"/>
    <dgm:cxn modelId="{07272854-AAA8-4270-9F63-C09C200ACB24}" type="presOf" srcId="{281794E6-10CF-4D24-8B66-DE09EEFEA355}" destId="{68FFDF50-646A-4099-97A3-2F323140569A}" srcOrd="0" destOrd="0" presId="urn:microsoft.com/office/officeart/2005/8/layout/radial6"/>
    <dgm:cxn modelId="{A13CF508-A80E-4994-A272-4188195684F5}" type="presOf" srcId="{F0763237-6D79-4E21-82C3-A3E31CA160A1}" destId="{825BACFB-C08B-4424-9466-169EEAC8B20B}" srcOrd="0" destOrd="0" presId="urn:microsoft.com/office/officeart/2005/8/layout/radial6"/>
    <dgm:cxn modelId="{483B1BF1-A517-419F-BD57-04A5FD424BAA}" srcId="{F0763237-6D79-4E21-82C3-A3E31CA160A1}" destId="{BC5FF6F0-CE8E-41DE-9BD1-CBD545A8B13F}" srcOrd="3" destOrd="0" parTransId="{8E9EBC3F-C48B-44C5-A6F4-41E583961541}" sibTransId="{E6846A77-8D85-4E8B-ACF4-49EB2A5E86BF}"/>
    <dgm:cxn modelId="{F30FF778-411B-4599-982F-81CF6B62FFFD}" type="presOf" srcId="{F4462857-A5D7-4781-9DEC-F9BE7BD5911D}" destId="{DEA96D3D-5B48-45C8-BF2D-18F22E0E493B}" srcOrd="0" destOrd="0" presId="urn:microsoft.com/office/officeart/2005/8/layout/radial6"/>
    <dgm:cxn modelId="{2639C18F-24EC-4BC7-B11A-1687CC5A3B8C}" type="presOf" srcId="{85A3D859-EA8B-4537-8A89-4B26527BC505}" destId="{2A55015B-ED6C-4A28-BC1D-7B5F7CB54B99}" srcOrd="0" destOrd="0" presId="urn:microsoft.com/office/officeart/2005/8/layout/radial6"/>
    <dgm:cxn modelId="{8D0DB4B0-5737-4E90-BB11-F2CB9E5197CD}" type="presOf" srcId="{0DFB2B48-AEC9-4AE2-A690-13E1B3D17897}" destId="{383B8A0A-DB50-412B-AC25-F4BF33B96E5A}" srcOrd="0" destOrd="0" presId="urn:microsoft.com/office/officeart/2005/8/layout/radial6"/>
    <dgm:cxn modelId="{CBA2D2E1-37C4-4C17-965C-A1F22ACF47DA}" srcId="{F0763237-6D79-4E21-82C3-A3E31CA160A1}" destId="{FEDC455B-3597-4B3A-8086-45102053DC30}" srcOrd="2" destOrd="0" parTransId="{F3D14442-032A-4C80-844F-81BB5613C723}" sibTransId="{B314EC9F-FB54-4F01-ADE8-77EB740388EC}"/>
    <dgm:cxn modelId="{868E4577-AE8A-4EAB-8D58-19C0A5560641}" type="presOf" srcId="{A2FD6D2A-AA5D-462E-9CA5-796E052C84C8}" destId="{72688755-4757-4C80-8B24-0B183567D022}" srcOrd="0" destOrd="0" presId="urn:microsoft.com/office/officeart/2005/8/layout/radial6"/>
    <dgm:cxn modelId="{6A0B7F3E-8706-470A-98CA-E59CAEFD08AF}" type="presOf" srcId="{E6846A77-8D85-4E8B-ACF4-49EB2A5E86BF}" destId="{CFB389D2-A825-4939-9C6D-F558D5A6FD64}" srcOrd="0" destOrd="0" presId="urn:microsoft.com/office/officeart/2005/8/layout/radial6"/>
    <dgm:cxn modelId="{C1D6B7AF-340F-4EB6-8E2B-CDD620B9DADF}" type="presParOf" srcId="{446789C7-90AF-4043-ACE9-B829E155090F}" destId="{825BACFB-C08B-4424-9466-169EEAC8B20B}" srcOrd="0" destOrd="0" presId="urn:microsoft.com/office/officeart/2005/8/layout/radial6"/>
    <dgm:cxn modelId="{65A27A0F-977A-41F5-8257-B2E860B38506}" type="presParOf" srcId="{446789C7-90AF-4043-ACE9-B829E155090F}" destId="{68FFDF50-646A-4099-97A3-2F323140569A}" srcOrd="1" destOrd="0" presId="urn:microsoft.com/office/officeart/2005/8/layout/radial6"/>
    <dgm:cxn modelId="{F88A38C8-2DDB-4334-930C-5F4C72D4A51B}" type="presParOf" srcId="{446789C7-90AF-4043-ACE9-B829E155090F}" destId="{8E761CE0-7C9A-406E-AB73-0E25355E49EC}" srcOrd="2" destOrd="0" presId="urn:microsoft.com/office/officeart/2005/8/layout/radial6"/>
    <dgm:cxn modelId="{B6CE1DEC-512C-45D1-9922-6EE179C018D7}" type="presParOf" srcId="{446789C7-90AF-4043-ACE9-B829E155090F}" destId="{C2F82618-6544-4A01-8D7F-565B1681B5FC}" srcOrd="3" destOrd="0" presId="urn:microsoft.com/office/officeart/2005/8/layout/radial6"/>
    <dgm:cxn modelId="{90552F80-DC07-4A15-8853-F06B0BC2402C}" type="presParOf" srcId="{446789C7-90AF-4043-ACE9-B829E155090F}" destId="{DEA96D3D-5B48-45C8-BF2D-18F22E0E493B}" srcOrd="4" destOrd="0" presId="urn:microsoft.com/office/officeart/2005/8/layout/radial6"/>
    <dgm:cxn modelId="{E3499B03-7F6D-48CA-8C39-2B5786A114A8}" type="presParOf" srcId="{446789C7-90AF-4043-ACE9-B829E155090F}" destId="{B6242F9D-C36C-41B7-9556-9F4B51FBB153}" srcOrd="5" destOrd="0" presId="urn:microsoft.com/office/officeart/2005/8/layout/radial6"/>
    <dgm:cxn modelId="{A9202CBF-83A3-4ABA-8A6A-87699F7FAC45}" type="presParOf" srcId="{446789C7-90AF-4043-ACE9-B829E155090F}" destId="{72688755-4757-4C80-8B24-0B183567D022}" srcOrd="6" destOrd="0" presId="urn:microsoft.com/office/officeart/2005/8/layout/radial6"/>
    <dgm:cxn modelId="{1152FC21-8366-439E-836A-C62611E35271}" type="presParOf" srcId="{446789C7-90AF-4043-ACE9-B829E155090F}" destId="{9C58D510-B9B2-4ADF-AA21-A8E93D52B45F}" srcOrd="7" destOrd="0" presId="urn:microsoft.com/office/officeart/2005/8/layout/radial6"/>
    <dgm:cxn modelId="{50651493-C993-4BED-B8FE-446BE9298AF2}" type="presParOf" srcId="{446789C7-90AF-4043-ACE9-B829E155090F}" destId="{B875AFA4-CC4E-46F2-966A-AE42BDD0BDFD}" srcOrd="8" destOrd="0" presId="urn:microsoft.com/office/officeart/2005/8/layout/radial6"/>
    <dgm:cxn modelId="{F4AA99E0-31D4-4E1C-B23D-835C252AB428}" type="presParOf" srcId="{446789C7-90AF-4043-ACE9-B829E155090F}" destId="{F4845E2B-6A32-48E4-9E56-AC277EFF19CC}" srcOrd="9" destOrd="0" presId="urn:microsoft.com/office/officeart/2005/8/layout/radial6"/>
    <dgm:cxn modelId="{E8B88BFF-C026-4FD0-9005-1884CEF90485}" type="presParOf" srcId="{446789C7-90AF-4043-ACE9-B829E155090F}" destId="{75C11F47-89C3-48EA-832D-260DC93019B0}" srcOrd="10" destOrd="0" presId="urn:microsoft.com/office/officeart/2005/8/layout/radial6"/>
    <dgm:cxn modelId="{8BF8DA38-66B5-4122-9B36-BCDA59EB6408}" type="presParOf" srcId="{446789C7-90AF-4043-ACE9-B829E155090F}" destId="{D07080DD-A198-48DF-A82A-254EC8ACBABE}" srcOrd="11" destOrd="0" presId="urn:microsoft.com/office/officeart/2005/8/layout/radial6"/>
    <dgm:cxn modelId="{70717E0C-5AA5-4604-AABE-83F78F36C651}" type="presParOf" srcId="{446789C7-90AF-4043-ACE9-B829E155090F}" destId="{CFB389D2-A825-4939-9C6D-F558D5A6FD64}" srcOrd="12" destOrd="0" presId="urn:microsoft.com/office/officeart/2005/8/layout/radial6"/>
    <dgm:cxn modelId="{9A289F47-F744-4ABF-8801-135F32E8C26C}" type="presParOf" srcId="{446789C7-90AF-4043-ACE9-B829E155090F}" destId="{383B8A0A-DB50-412B-AC25-F4BF33B96E5A}" srcOrd="13" destOrd="0" presId="urn:microsoft.com/office/officeart/2005/8/layout/radial6"/>
    <dgm:cxn modelId="{0DED81EE-53F1-452A-A9AD-3783273EF7A0}" type="presParOf" srcId="{446789C7-90AF-4043-ACE9-B829E155090F}" destId="{729B199E-AE58-4897-BF93-D2675F8CF462}" srcOrd="14" destOrd="0" presId="urn:microsoft.com/office/officeart/2005/8/layout/radial6"/>
    <dgm:cxn modelId="{EFC8164A-2A9C-4296-A90A-4C79492B87A2}" type="presParOf" srcId="{446789C7-90AF-4043-ACE9-B829E155090F}" destId="{2A55015B-ED6C-4A28-BC1D-7B5F7CB54B99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1404B7C-316C-410D-8D68-2AC2A8689CF8}" type="doc">
      <dgm:prSet loTypeId="urn:microsoft.com/office/officeart/2005/8/layout/cycle5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BO"/>
        </a:p>
      </dgm:t>
    </dgm:pt>
    <dgm:pt modelId="{445EDF24-B9DF-4C8E-9FDC-4596772983DF}">
      <dgm:prSet phldrT="[Texto]"/>
      <dgm:spPr/>
      <dgm:t>
        <a:bodyPr/>
        <a:lstStyle/>
        <a:p>
          <a:r>
            <a:rPr lang="es-BO" dirty="0" smtClean="0">
              <a:solidFill>
                <a:schemeClr val="tx1"/>
              </a:solidFill>
            </a:rPr>
            <a:t>Urología </a:t>
          </a:r>
          <a:endParaRPr lang="es-BO" dirty="0">
            <a:solidFill>
              <a:schemeClr val="tx1"/>
            </a:solidFill>
          </a:endParaRPr>
        </a:p>
      </dgm:t>
    </dgm:pt>
    <dgm:pt modelId="{28F06924-317E-44AF-A0DC-DB1079A69BBC}" type="parTrans" cxnId="{D2421836-A87E-4D17-8891-F2663229A8A0}">
      <dgm:prSet/>
      <dgm:spPr/>
      <dgm:t>
        <a:bodyPr/>
        <a:lstStyle/>
        <a:p>
          <a:endParaRPr lang="es-BO"/>
        </a:p>
      </dgm:t>
    </dgm:pt>
    <dgm:pt modelId="{8820088F-949F-4E3E-8237-B91A21C0EEFC}" type="sibTrans" cxnId="{D2421836-A87E-4D17-8891-F2663229A8A0}">
      <dgm:prSet/>
      <dgm:spPr/>
      <dgm:t>
        <a:bodyPr/>
        <a:lstStyle/>
        <a:p>
          <a:endParaRPr lang="es-BO"/>
        </a:p>
      </dgm:t>
    </dgm:pt>
    <dgm:pt modelId="{A357D5EB-2BAE-49C0-8441-58F73ADC5A64}">
      <dgm:prSet phldrT="[Texto]"/>
      <dgm:spPr/>
      <dgm:t>
        <a:bodyPr/>
        <a:lstStyle/>
        <a:p>
          <a:r>
            <a:rPr lang="es-BO" dirty="0" smtClean="0">
              <a:solidFill>
                <a:schemeClr val="tx1"/>
              </a:solidFill>
            </a:rPr>
            <a:t>Neurología</a:t>
          </a:r>
          <a:r>
            <a:rPr lang="es-BO" dirty="0" smtClean="0"/>
            <a:t> </a:t>
          </a:r>
          <a:endParaRPr lang="es-BO" dirty="0"/>
        </a:p>
      </dgm:t>
    </dgm:pt>
    <dgm:pt modelId="{C77E7B1F-1EDE-411B-B407-FE9C224CB5ED}" type="parTrans" cxnId="{D79674DD-C120-42BC-8DC1-95CA1A968581}">
      <dgm:prSet/>
      <dgm:spPr/>
      <dgm:t>
        <a:bodyPr/>
        <a:lstStyle/>
        <a:p>
          <a:endParaRPr lang="es-BO"/>
        </a:p>
      </dgm:t>
    </dgm:pt>
    <dgm:pt modelId="{E0ABF6B2-1629-4435-A5FC-1791B956EB27}" type="sibTrans" cxnId="{D79674DD-C120-42BC-8DC1-95CA1A968581}">
      <dgm:prSet/>
      <dgm:spPr/>
      <dgm:t>
        <a:bodyPr/>
        <a:lstStyle/>
        <a:p>
          <a:endParaRPr lang="es-BO"/>
        </a:p>
      </dgm:t>
    </dgm:pt>
    <dgm:pt modelId="{61AD3069-CD8D-4815-B6AF-FE52A668DAEF}">
      <dgm:prSet phldrT="[Texto]"/>
      <dgm:spPr/>
      <dgm:t>
        <a:bodyPr/>
        <a:lstStyle/>
        <a:p>
          <a:r>
            <a:rPr lang="es-BO" dirty="0" smtClean="0">
              <a:solidFill>
                <a:schemeClr val="tx1"/>
              </a:solidFill>
            </a:rPr>
            <a:t>Cirujano de Tórax  </a:t>
          </a:r>
          <a:endParaRPr lang="es-BO" dirty="0">
            <a:solidFill>
              <a:schemeClr val="tx1"/>
            </a:solidFill>
          </a:endParaRPr>
        </a:p>
      </dgm:t>
    </dgm:pt>
    <dgm:pt modelId="{036E8F78-F770-4FC7-8F66-B7D4B1BC6042}" type="parTrans" cxnId="{9252C33C-9F85-4F56-89F5-ECC3A43F7B72}">
      <dgm:prSet/>
      <dgm:spPr/>
      <dgm:t>
        <a:bodyPr/>
        <a:lstStyle/>
        <a:p>
          <a:endParaRPr lang="es-BO"/>
        </a:p>
      </dgm:t>
    </dgm:pt>
    <dgm:pt modelId="{CB7BE7F0-6A60-4B8B-9714-0C86E876CF52}" type="sibTrans" cxnId="{9252C33C-9F85-4F56-89F5-ECC3A43F7B72}">
      <dgm:prSet/>
      <dgm:spPr/>
      <dgm:t>
        <a:bodyPr/>
        <a:lstStyle/>
        <a:p>
          <a:endParaRPr lang="es-BO"/>
        </a:p>
      </dgm:t>
    </dgm:pt>
    <dgm:pt modelId="{B1140790-D5EF-4F2A-B827-95192B4163CC}">
      <dgm:prSet phldrT="[Texto]"/>
      <dgm:spPr/>
      <dgm:t>
        <a:bodyPr/>
        <a:lstStyle/>
        <a:p>
          <a:r>
            <a:rPr lang="es-BO" dirty="0" smtClean="0">
              <a:solidFill>
                <a:schemeClr val="tx1"/>
              </a:solidFill>
            </a:rPr>
            <a:t>Medicina interna</a:t>
          </a:r>
          <a:endParaRPr lang="es-BO" dirty="0">
            <a:solidFill>
              <a:schemeClr val="tx1"/>
            </a:solidFill>
          </a:endParaRPr>
        </a:p>
      </dgm:t>
    </dgm:pt>
    <dgm:pt modelId="{97B58415-E031-4DA6-B3CB-CE92396D075D}" type="parTrans" cxnId="{6E91F336-3F28-4D24-9F83-593EA4E27123}">
      <dgm:prSet/>
      <dgm:spPr/>
      <dgm:t>
        <a:bodyPr/>
        <a:lstStyle/>
        <a:p>
          <a:endParaRPr lang="es-BO"/>
        </a:p>
      </dgm:t>
    </dgm:pt>
    <dgm:pt modelId="{95FF2088-28D0-455F-B7B2-249A19E16DDD}" type="sibTrans" cxnId="{6E91F336-3F28-4D24-9F83-593EA4E27123}">
      <dgm:prSet/>
      <dgm:spPr/>
      <dgm:t>
        <a:bodyPr/>
        <a:lstStyle/>
        <a:p>
          <a:endParaRPr lang="es-BO"/>
        </a:p>
      </dgm:t>
    </dgm:pt>
    <dgm:pt modelId="{2D6DF2AE-4EBD-4FA9-85C3-DC31307782D1}">
      <dgm:prSet phldrT="[Texto]"/>
      <dgm:spPr/>
      <dgm:t>
        <a:bodyPr/>
        <a:lstStyle/>
        <a:p>
          <a:r>
            <a:rPr lang="es-BO" dirty="0" smtClean="0">
              <a:solidFill>
                <a:schemeClr val="tx1"/>
              </a:solidFill>
            </a:rPr>
            <a:t>Traumatología</a:t>
          </a:r>
          <a:r>
            <a:rPr lang="es-BO" dirty="0" smtClean="0"/>
            <a:t> </a:t>
          </a:r>
          <a:endParaRPr lang="es-BO" dirty="0"/>
        </a:p>
      </dgm:t>
    </dgm:pt>
    <dgm:pt modelId="{84C3B5FF-BCE4-42E5-9ACB-33404421ABD3}" type="parTrans" cxnId="{CD525B7E-F317-4329-9F93-664C8308A55A}">
      <dgm:prSet/>
      <dgm:spPr/>
      <dgm:t>
        <a:bodyPr/>
        <a:lstStyle/>
        <a:p>
          <a:endParaRPr lang="es-BO"/>
        </a:p>
      </dgm:t>
    </dgm:pt>
    <dgm:pt modelId="{D43D5C08-0D16-431F-B8C1-32B13CA0AB52}" type="sibTrans" cxnId="{CD525B7E-F317-4329-9F93-664C8308A55A}">
      <dgm:prSet/>
      <dgm:spPr/>
      <dgm:t>
        <a:bodyPr/>
        <a:lstStyle/>
        <a:p>
          <a:endParaRPr lang="es-BO"/>
        </a:p>
      </dgm:t>
    </dgm:pt>
    <dgm:pt modelId="{57E8E8F4-1532-4D54-A753-B3F15DDB4C06}">
      <dgm:prSet phldrT="[Texto]"/>
      <dgm:spPr/>
      <dgm:t>
        <a:bodyPr/>
        <a:lstStyle/>
        <a:p>
          <a:r>
            <a:rPr lang="es-BO" dirty="0" smtClean="0"/>
            <a:t>UTI</a:t>
          </a:r>
          <a:endParaRPr lang="es-BO" dirty="0"/>
        </a:p>
      </dgm:t>
    </dgm:pt>
    <dgm:pt modelId="{DBA3D211-78D3-42D3-B5FD-6BC06E64AF8E}" type="parTrans" cxnId="{CF68D3B9-1051-4597-BDE3-277A6F6A4B9C}">
      <dgm:prSet/>
      <dgm:spPr/>
      <dgm:t>
        <a:bodyPr/>
        <a:lstStyle/>
        <a:p>
          <a:endParaRPr lang="es-BO"/>
        </a:p>
      </dgm:t>
    </dgm:pt>
    <dgm:pt modelId="{69562BF3-EA3B-4DE8-A526-8FA531FC41E3}" type="sibTrans" cxnId="{CF68D3B9-1051-4597-BDE3-277A6F6A4B9C}">
      <dgm:prSet/>
      <dgm:spPr/>
      <dgm:t>
        <a:bodyPr/>
        <a:lstStyle/>
        <a:p>
          <a:endParaRPr lang="es-BO"/>
        </a:p>
      </dgm:t>
    </dgm:pt>
    <dgm:pt modelId="{48EA19C8-939A-4C5D-AA28-50E40065CB1A}" type="pres">
      <dgm:prSet presAssocID="{A1404B7C-316C-410D-8D68-2AC2A8689CF8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BO"/>
        </a:p>
      </dgm:t>
    </dgm:pt>
    <dgm:pt modelId="{AF13DC54-1A75-440B-B5A8-AA4CDB07367A}" type="pres">
      <dgm:prSet presAssocID="{445EDF24-B9DF-4C8E-9FDC-4596772983DF}" presName="node" presStyleLbl="node1" presStyleIdx="0" presStyleCnt="6" custScaleX="128211">
        <dgm:presLayoutVars>
          <dgm:bulletEnabled val="1"/>
        </dgm:presLayoutVars>
      </dgm:prSet>
      <dgm:spPr/>
      <dgm:t>
        <a:bodyPr/>
        <a:lstStyle/>
        <a:p>
          <a:endParaRPr lang="es-BO"/>
        </a:p>
      </dgm:t>
    </dgm:pt>
    <dgm:pt modelId="{49987C65-1F1C-47C8-BD1F-137AE83CA7EC}" type="pres">
      <dgm:prSet presAssocID="{445EDF24-B9DF-4C8E-9FDC-4596772983DF}" presName="spNode" presStyleCnt="0"/>
      <dgm:spPr/>
    </dgm:pt>
    <dgm:pt modelId="{C6020D34-6AC9-4819-81C9-9F901253DA37}" type="pres">
      <dgm:prSet presAssocID="{8820088F-949F-4E3E-8237-B91A21C0EEFC}" presName="sibTrans" presStyleLbl="sibTrans1D1" presStyleIdx="0" presStyleCnt="6"/>
      <dgm:spPr/>
      <dgm:t>
        <a:bodyPr/>
        <a:lstStyle/>
        <a:p>
          <a:endParaRPr lang="es-BO"/>
        </a:p>
      </dgm:t>
    </dgm:pt>
    <dgm:pt modelId="{D31F1BA2-3A6E-4395-848E-C22573811617}" type="pres">
      <dgm:prSet presAssocID="{A357D5EB-2BAE-49C0-8441-58F73ADC5A64}" presName="node" presStyleLbl="node1" presStyleIdx="1" presStyleCnt="6" custScaleX="133073">
        <dgm:presLayoutVars>
          <dgm:bulletEnabled val="1"/>
        </dgm:presLayoutVars>
      </dgm:prSet>
      <dgm:spPr/>
      <dgm:t>
        <a:bodyPr/>
        <a:lstStyle/>
        <a:p>
          <a:endParaRPr lang="es-BO"/>
        </a:p>
      </dgm:t>
    </dgm:pt>
    <dgm:pt modelId="{6857BFA6-5223-4794-8D58-F18B28A0847D}" type="pres">
      <dgm:prSet presAssocID="{A357D5EB-2BAE-49C0-8441-58F73ADC5A64}" presName="spNode" presStyleCnt="0"/>
      <dgm:spPr/>
    </dgm:pt>
    <dgm:pt modelId="{6843F13B-E68C-44C6-9479-654382D30808}" type="pres">
      <dgm:prSet presAssocID="{E0ABF6B2-1629-4435-A5FC-1791B956EB27}" presName="sibTrans" presStyleLbl="sibTrans1D1" presStyleIdx="1" presStyleCnt="6"/>
      <dgm:spPr/>
      <dgm:t>
        <a:bodyPr/>
        <a:lstStyle/>
        <a:p>
          <a:endParaRPr lang="es-BO"/>
        </a:p>
      </dgm:t>
    </dgm:pt>
    <dgm:pt modelId="{7712A42A-D63E-495F-A938-BD5BF69323B8}" type="pres">
      <dgm:prSet presAssocID="{61AD3069-CD8D-4815-B6AF-FE52A668DAEF}" presName="node" presStyleLbl="node1" presStyleIdx="2" presStyleCnt="6" custScaleX="124464">
        <dgm:presLayoutVars>
          <dgm:bulletEnabled val="1"/>
        </dgm:presLayoutVars>
      </dgm:prSet>
      <dgm:spPr/>
      <dgm:t>
        <a:bodyPr/>
        <a:lstStyle/>
        <a:p>
          <a:endParaRPr lang="es-BO"/>
        </a:p>
      </dgm:t>
    </dgm:pt>
    <dgm:pt modelId="{96DD8CCD-3C2B-408A-9354-EE8E0E8AE474}" type="pres">
      <dgm:prSet presAssocID="{61AD3069-CD8D-4815-B6AF-FE52A668DAEF}" presName="spNode" presStyleCnt="0"/>
      <dgm:spPr/>
    </dgm:pt>
    <dgm:pt modelId="{ADE9A7F6-3CFB-41E5-95A4-9B74E8C4510A}" type="pres">
      <dgm:prSet presAssocID="{CB7BE7F0-6A60-4B8B-9714-0C86E876CF52}" presName="sibTrans" presStyleLbl="sibTrans1D1" presStyleIdx="2" presStyleCnt="6"/>
      <dgm:spPr/>
      <dgm:t>
        <a:bodyPr/>
        <a:lstStyle/>
        <a:p>
          <a:endParaRPr lang="es-BO"/>
        </a:p>
      </dgm:t>
    </dgm:pt>
    <dgm:pt modelId="{32C6EDD8-B715-468F-9074-108366305AEC}" type="pres">
      <dgm:prSet presAssocID="{B1140790-D5EF-4F2A-B827-95192B4163CC}" presName="node" presStyleLbl="node1" presStyleIdx="3" presStyleCnt="6" custScaleX="119169">
        <dgm:presLayoutVars>
          <dgm:bulletEnabled val="1"/>
        </dgm:presLayoutVars>
      </dgm:prSet>
      <dgm:spPr/>
      <dgm:t>
        <a:bodyPr/>
        <a:lstStyle/>
        <a:p>
          <a:endParaRPr lang="es-BO"/>
        </a:p>
      </dgm:t>
    </dgm:pt>
    <dgm:pt modelId="{B8173398-9FB5-49CA-9536-AAD233B69F2D}" type="pres">
      <dgm:prSet presAssocID="{B1140790-D5EF-4F2A-B827-95192B4163CC}" presName="spNode" presStyleCnt="0"/>
      <dgm:spPr/>
    </dgm:pt>
    <dgm:pt modelId="{ADB16E84-E1FF-4440-9572-1BFF9DB30C4B}" type="pres">
      <dgm:prSet presAssocID="{95FF2088-28D0-455F-B7B2-249A19E16DDD}" presName="sibTrans" presStyleLbl="sibTrans1D1" presStyleIdx="3" presStyleCnt="6"/>
      <dgm:spPr/>
      <dgm:t>
        <a:bodyPr/>
        <a:lstStyle/>
        <a:p>
          <a:endParaRPr lang="es-BO"/>
        </a:p>
      </dgm:t>
    </dgm:pt>
    <dgm:pt modelId="{EFBDB44E-6190-452C-98E7-E24E024B3646}" type="pres">
      <dgm:prSet presAssocID="{2D6DF2AE-4EBD-4FA9-85C3-DC31307782D1}" presName="node" presStyleLbl="node1" presStyleIdx="4" presStyleCnt="6" custScaleX="146350">
        <dgm:presLayoutVars>
          <dgm:bulletEnabled val="1"/>
        </dgm:presLayoutVars>
      </dgm:prSet>
      <dgm:spPr/>
      <dgm:t>
        <a:bodyPr/>
        <a:lstStyle/>
        <a:p>
          <a:endParaRPr lang="es-BO"/>
        </a:p>
      </dgm:t>
    </dgm:pt>
    <dgm:pt modelId="{E5A3DE79-5838-4D21-AC72-E4E369975CE5}" type="pres">
      <dgm:prSet presAssocID="{2D6DF2AE-4EBD-4FA9-85C3-DC31307782D1}" presName="spNode" presStyleCnt="0"/>
      <dgm:spPr/>
    </dgm:pt>
    <dgm:pt modelId="{F2BCDA06-1334-4012-8205-06ADEF293F7F}" type="pres">
      <dgm:prSet presAssocID="{D43D5C08-0D16-431F-B8C1-32B13CA0AB52}" presName="sibTrans" presStyleLbl="sibTrans1D1" presStyleIdx="4" presStyleCnt="6"/>
      <dgm:spPr/>
      <dgm:t>
        <a:bodyPr/>
        <a:lstStyle/>
        <a:p>
          <a:endParaRPr lang="es-BO"/>
        </a:p>
      </dgm:t>
    </dgm:pt>
    <dgm:pt modelId="{EF8F8D60-33D9-49F0-AB3C-0ADEC468FC76}" type="pres">
      <dgm:prSet presAssocID="{57E8E8F4-1532-4D54-A753-B3F15DDB4C06}" presName="node" presStyleLbl="node1" presStyleIdx="5" presStyleCnt="6" custScaleX="137600">
        <dgm:presLayoutVars>
          <dgm:bulletEnabled val="1"/>
        </dgm:presLayoutVars>
      </dgm:prSet>
      <dgm:spPr/>
      <dgm:t>
        <a:bodyPr/>
        <a:lstStyle/>
        <a:p>
          <a:endParaRPr lang="es-BO"/>
        </a:p>
      </dgm:t>
    </dgm:pt>
    <dgm:pt modelId="{21311493-BEC0-4D81-82E9-58B1088F10B9}" type="pres">
      <dgm:prSet presAssocID="{57E8E8F4-1532-4D54-A753-B3F15DDB4C06}" presName="spNode" presStyleCnt="0"/>
      <dgm:spPr/>
    </dgm:pt>
    <dgm:pt modelId="{64D790A6-036C-4875-97EB-E7F094831683}" type="pres">
      <dgm:prSet presAssocID="{69562BF3-EA3B-4DE8-A526-8FA531FC41E3}" presName="sibTrans" presStyleLbl="sibTrans1D1" presStyleIdx="5" presStyleCnt="6"/>
      <dgm:spPr/>
      <dgm:t>
        <a:bodyPr/>
        <a:lstStyle/>
        <a:p>
          <a:endParaRPr lang="es-BO"/>
        </a:p>
      </dgm:t>
    </dgm:pt>
  </dgm:ptLst>
  <dgm:cxnLst>
    <dgm:cxn modelId="{6C3C96B5-2745-4DAE-AB7B-2689FD312631}" type="presOf" srcId="{8820088F-949F-4E3E-8237-B91A21C0EEFC}" destId="{C6020D34-6AC9-4819-81C9-9F901253DA37}" srcOrd="0" destOrd="0" presId="urn:microsoft.com/office/officeart/2005/8/layout/cycle5"/>
    <dgm:cxn modelId="{9252C33C-9F85-4F56-89F5-ECC3A43F7B72}" srcId="{A1404B7C-316C-410D-8D68-2AC2A8689CF8}" destId="{61AD3069-CD8D-4815-B6AF-FE52A668DAEF}" srcOrd="2" destOrd="0" parTransId="{036E8F78-F770-4FC7-8F66-B7D4B1BC6042}" sibTransId="{CB7BE7F0-6A60-4B8B-9714-0C86E876CF52}"/>
    <dgm:cxn modelId="{FC4C2BF7-4B6E-4AF0-A308-0EE94072F83F}" type="presOf" srcId="{61AD3069-CD8D-4815-B6AF-FE52A668DAEF}" destId="{7712A42A-D63E-495F-A938-BD5BF69323B8}" srcOrd="0" destOrd="0" presId="urn:microsoft.com/office/officeart/2005/8/layout/cycle5"/>
    <dgm:cxn modelId="{D2421836-A87E-4D17-8891-F2663229A8A0}" srcId="{A1404B7C-316C-410D-8D68-2AC2A8689CF8}" destId="{445EDF24-B9DF-4C8E-9FDC-4596772983DF}" srcOrd="0" destOrd="0" parTransId="{28F06924-317E-44AF-A0DC-DB1079A69BBC}" sibTransId="{8820088F-949F-4E3E-8237-B91A21C0EEFC}"/>
    <dgm:cxn modelId="{6E91F336-3F28-4D24-9F83-593EA4E27123}" srcId="{A1404B7C-316C-410D-8D68-2AC2A8689CF8}" destId="{B1140790-D5EF-4F2A-B827-95192B4163CC}" srcOrd="3" destOrd="0" parTransId="{97B58415-E031-4DA6-B3CB-CE92396D075D}" sibTransId="{95FF2088-28D0-455F-B7B2-249A19E16DDD}"/>
    <dgm:cxn modelId="{CF68D3B9-1051-4597-BDE3-277A6F6A4B9C}" srcId="{A1404B7C-316C-410D-8D68-2AC2A8689CF8}" destId="{57E8E8F4-1532-4D54-A753-B3F15DDB4C06}" srcOrd="5" destOrd="0" parTransId="{DBA3D211-78D3-42D3-B5FD-6BC06E64AF8E}" sibTransId="{69562BF3-EA3B-4DE8-A526-8FA531FC41E3}"/>
    <dgm:cxn modelId="{D79674DD-C120-42BC-8DC1-95CA1A968581}" srcId="{A1404B7C-316C-410D-8D68-2AC2A8689CF8}" destId="{A357D5EB-2BAE-49C0-8441-58F73ADC5A64}" srcOrd="1" destOrd="0" parTransId="{C77E7B1F-1EDE-411B-B407-FE9C224CB5ED}" sibTransId="{E0ABF6B2-1629-4435-A5FC-1791B956EB27}"/>
    <dgm:cxn modelId="{78A7F3D7-452F-4097-97A0-679A0774AF50}" type="presOf" srcId="{B1140790-D5EF-4F2A-B827-95192B4163CC}" destId="{32C6EDD8-B715-468F-9074-108366305AEC}" srcOrd="0" destOrd="0" presId="urn:microsoft.com/office/officeart/2005/8/layout/cycle5"/>
    <dgm:cxn modelId="{CD525B7E-F317-4329-9F93-664C8308A55A}" srcId="{A1404B7C-316C-410D-8D68-2AC2A8689CF8}" destId="{2D6DF2AE-4EBD-4FA9-85C3-DC31307782D1}" srcOrd="4" destOrd="0" parTransId="{84C3B5FF-BCE4-42E5-9ACB-33404421ABD3}" sibTransId="{D43D5C08-0D16-431F-B8C1-32B13CA0AB52}"/>
    <dgm:cxn modelId="{530B7D20-94AB-41B2-80B4-DC4E4C3FE01C}" type="presOf" srcId="{95FF2088-28D0-455F-B7B2-249A19E16DDD}" destId="{ADB16E84-E1FF-4440-9572-1BFF9DB30C4B}" srcOrd="0" destOrd="0" presId="urn:microsoft.com/office/officeart/2005/8/layout/cycle5"/>
    <dgm:cxn modelId="{188351E0-CF60-4CC7-9486-8CB05397A177}" type="presOf" srcId="{2D6DF2AE-4EBD-4FA9-85C3-DC31307782D1}" destId="{EFBDB44E-6190-452C-98E7-E24E024B3646}" srcOrd="0" destOrd="0" presId="urn:microsoft.com/office/officeart/2005/8/layout/cycle5"/>
    <dgm:cxn modelId="{7E1108DB-04A6-47AA-BC2D-7A263E2AFC35}" type="presOf" srcId="{445EDF24-B9DF-4C8E-9FDC-4596772983DF}" destId="{AF13DC54-1A75-440B-B5A8-AA4CDB07367A}" srcOrd="0" destOrd="0" presId="urn:microsoft.com/office/officeart/2005/8/layout/cycle5"/>
    <dgm:cxn modelId="{34CECF45-1676-4A9B-A43F-86863A101FC6}" type="presOf" srcId="{57E8E8F4-1532-4D54-A753-B3F15DDB4C06}" destId="{EF8F8D60-33D9-49F0-AB3C-0ADEC468FC76}" srcOrd="0" destOrd="0" presId="urn:microsoft.com/office/officeart/2005/8/layout/cycle5"/>
    <dgm:cxn modelId="{2E1AEA19-34E3-41E2-AD79-4E7A4B912632}" type="presOf" srcId="{D43D5C08-0D16-431F-B8C1-32B13CA0AB52}" destId="{F2BCDA06-1334-4012-8205-06ADEF293F7F}" srcOrd="0" destOrd="0" presId="urn:microsoft.com/office/officeart/2005/8/layout/cycle5"/>
    <dgm:cxn modelId="{36834D4A-5507-403C-98E3-0ECF75DC1609}" type="presOf" srcId="{CB7BE7F0-6A60-4B8B-9714-0C86E876CF52}" destId="{ADE9A7F6-3CFB-41E5-95A4-9B74E8C4510A}" srcOrd="0" destOrd="0" presId="urn:microsoft.com/office/officeart/2005/8/layout/cycle5"/>
    <dgm:cxn modelId="{D4070536-E59D-4886-B7A9-06D6EF7B13C6}" type="presOf" srcId="{E0ABF6B2-1629-4435-A5FC-1791B956EB27}" destId="{6843F13B-E68C-44C6-9479-654382D30808}" srcOrd="0" destOrd="0" presId="urn:microsoft.com/office/officeart/2005/8/layout/cycle5"/>
    <dgm:cxn modelId="{19F2444D-8D69-4345-A2CB-C61877DAD629}" type="presOf" srcId="{A357D5EB-2BAE-49C0-8441-58F73ADC5A64}" destId="{D31F1BA2-3A6E-4395-848E-C22573811617}" srcOrd="0" destOrd="0" presId="urn:microsoft.com/office/officeart/2005/8/layout/cycle5"/>
    <dgm:cxn modelId="{3693BAF4-F8B6-4C60-9A1C-DF876C1DB13F}" type="presOf" srcId="{69562BF3-EA3B-4DE8-A526-8FA531FC41E3}" destId="{64D790A6-036C-4875-97EB-E7F094831683}" srcOrd="0" destOrd="0" presId="urn:microsoft.com/office/officeart/2005/8/layout/cycle5"/>
    <dgm:cxn modelId="{247728A1-6CF0-4FD4-BA60-66910B36C488}" type="presOf" srcId="{A1404B7C-316C-410D-8D68-2AC2A8689CF8}" destId="{48EA19C8-939A-4C5D-AA28-50E40065CB1A}" srcOrd="0" destOrd="0" presId="urn:microsoft.com/office/officeart/2005/8/layout/cycle5"/>
    <dgm:cxn modelId="{06810F31-FC34-46AE-8BC4-9935C5B74072}" type="presParOf" srcId="{48EA19C8-939A-4C5D-AA28-50E40065CB1A}" destId="{AF13DC54-1A75-440B-B5A8-AA4CDB07367A}" srcOrd="0" destOrd="0" presId="urn:microsoft.com/office/officeart/2005/8/layout/cycle5"/>
    <dgm:cxn modelId="{7CF18398-824A-46D3-B7D4-C6DE952A0AAC}" type="presParOf" srcId="{48EA19C8-939A-4C5D-AA28-50E40065CB1A}" destId="{49987C65-1F1C-47C8-BD1F-137AE83CA7EC}" srcOrd="1" destOrd="0" presId="urn:microsoft.com/office/officeart/2005/8/layout/cycle5"/>
    <dgm:cxn modelId="{A3859687-9085-4AAC-B9EC-B74BB9400C07}" type="presParOf" srcId="{48EA19C8-939A-4C5D-AA28-50E40065CB1A}" destId="{C6020D34-6AC9-4819-81C9-9F901253DA37}" srcOrd="2" destOrd="0" presId="urn:microsoft.com/office/officeart/2005/8/layout/cycle5"/>
    <dgm:cxn modelId="{620259C9-8294-4A4F-AA33-1C2ADFEBEA60}" type="presParOf" srcId="{48EA19C8-939A-4C5D-AA28-50E40065CB1A}" destId="{D31F1BA2-3A6E-4395-848E-C22573811617}" srcOrd="3" destOrd="0" presId="urn:microsoft.com/office/officeart/2005/8/layout/cycle5"/>
    <dgm:cxn modelId="{B71117C8-2833-4E99-98AD-0A44B318E691}" type="presParOf" srcId="{48EA19C8-939A-4C5D-AA28-50E40065CB1A}" destId="{6857BFA6-5223-4794-8D58-F18B28A0847D}" srcOrd="4" destOrd="0" presId="urn:microsoft.com/office/officeart/2005/8/layout/cycle5"/>
    <dgm:cxn modelId="{AF0FB86F-27A9-446B-80D1-724CB70AFD8C}" type="presParOf" srcId="{48EA19C8-939A-4C5D-AA28-50E40065CB1A}" destId="{6843F13B-E68C-44C6-9479-654382D30808}" srcOrd="5" destOrd="0" presId="urn:microsoft.com/office/officeart/2005/8/layout/cycle5"/>
    <dgm:cxn modelId="{AA53AA34-7D83-4A2D-B365-15093B50B933}" type="presParOf" srcId="{48EA19C8-939A-4C5D-AA28-50E40065CB1A}" destId="{7712A42A-D63E-495F-A938-BD5BF69323B8}" srcOrd="6" destOrd="0" presId="urn:microsoft.com/office/officeart/2005/8/layout/cycle5"/>
    <dgm:cxn modelId="{2C86EECD-F650-4A5D-97B6-CBA020DF8B89}" type="presParOf" srcId="{48EA19C8-939A-4C5D-AA28-50E40065CB1A}" destId="{96DD8CCD-3C2B-408A-9354-EE8E0E8AE474}" srcOrd="7" destOrd="0" presId="urn:microsoft.com/office/officeart/2005/8/layout/cycle5"/>
    <dgm:cxn modelId="{248F5A60-AE37-4C9B-AA12-9D10BB8EC65C}" type="presParOf" srcId="{48EA19C8-939A-4C5D-AA28-50E40065CB1A}" destId="{ADE9A7F6-3CFB-41E5-95A4-9B74E8C4510A}" srcOrd="8" destOrd="0" presId="urn:microsoft.com/office/officeart/2005/8/layout/cycle5"/>
    <dgm:cxn modelId="{03E95A25-AE33-4F6E-9AF8-BE8DB0998945}" type="presParOf" srcId="{48EA19C8-939A-4C5D-AA28-50E40065CB1A}" destId="{32C6EDD8-B715-468F-9074-108366305AEC}" srcOrd="9" destOrd="0" presId="urn:microsoft.com/office/officeart/2005/8/layout/cycle5"/>
    <dgm:cxn modelId="{E28BDAF5-D066-410B-B777-A28ADB555012}" type="presParOf" srcId="{48EA19C8-939A-4C5D-AA28-50E40065CB1A}" destId="{B8173398-9FB5-49CA-9536-AAD233B69F2D}" srcOrd="10" destOrd="0" presId="urn:microsoft.com/office/officeart/2005/8/layout/cycle5"/>
    <dgm:cxn modelId="{D114BBA5-913A-4AC0-B352-67F7A5CF0F12}" type="presParOf" srcId="{48EA19C8-939A-4C5D-AA28-50E40065CB1A}" destId="{ADB16E84-E1FF-4440-9572-1BFF9DB30C4B}" srcOrd="11" destOrd="0" presId="urn:microsoft.com/office/officeart/2005/8/layout/cycle5"/>
    <dgm:cxn modelId="{9E9C78A7-9824-4CFF-B8C0-2E60EF6EE8BE}" type="presParOf" srcId="{48EA19C8-939A-4C5D-AA28-50E40065CB1A}" destId="{EFBDB44E-6190-452C-98E7-E24E024B3646}" srcOrd="12" destOrd="0" presId="urn:microsoft.com/office/officeart/2005/8/layout/cycle5"/>
    <dgm:cxn modelId="{81D611E2-4DEF-4B3D-BDA0-C41CACE572BB}" type="presParOf" srcId="{48EA19C8-939A-4C5D-AA28-50E40065CB1A}" destId="{E5A3DE79-5838-4D21-AC72-E4E369975CE5}" srcOrd="13" destOrd="0" presId="urn:microsoft.com/office/officeart/2005/8/layout/cycle5"/>
    <dgm:cxn modelId="{4CCB065B-0491-4466-92C8-DB70B47321B8}" type="presParOf" srcId="{48EA19C8-939A-4C5D-AA28-50E40065CB1A}" destId="{F2BCDA06-1334-4012-8205-06ADEF293F7F}" srcOrd="14" destOrd="0" presId="urn:microsoft.com/office/officeart/2005/8/layout/cycle5"/>
    <dgm:cxn modelId="{46D8D2B0-4B5F-4994-BEA7-CF3E2E022E14}" type="presParOf" srcId="{48EA19C8-939A-4C5D-AA28-50E40065CB1A}" destId="{EF8F8D60-33D9-49F0-AB3C-0ADEC468FC76}" srcOrd="15" destOrd="0" presId="urn:microsoft.com/office/officeart/2005/8/layout/cycle5"/>
    <dgm:cxn modelId="{021EE2B6-8776-43CD-8A92-D76335816F95}" type="presParOf" srcId="{48EA19C8-939A-4C5D-AA28-50E40065CB1A}" destId="{21311493-BEC0-4D81-82E9-58B1088F10B9}" srcOrd="16" destOrd="0" presId="urn:microsoft.com/office/officeart/2005/8/layout/cycle5"/>
    <dgm:cxn modelId="{D0A49A5A-C386-4C59-8E4D-1ABF4B574917}" type="presParOf" srcId="{48EA19C8-939A-4C5D-AA28-50E40065CB1A}" destId="{64D790A6-036C-4875-97EB-E7F094831683}" srcOrd="17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9F4EBE-19D4-4F25-B029-FB594E6F51DD}" type="doc">
      <dgm:prSet loTypeId="urn:microsoft.com/office/officeart/2005/8/layout/defaul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s-BO"/>
        </a:p>
      </dgm:t>
    </dgm:pt>
    <dgm:pt modelId="{9F14F05B-D5BE-42EA-98BF-30CB4CDAF274}">
      <dgm:prSet phldrT="[Texto]"/>
      <dgm:spPr/>
      <dgm:t>
        <a:bodyPr/>
        <a:lstStyle/>
        <a:p>
          <a:r>
            <a:rPr lang="es-BO" dirty="0" err="1" smtClean="0">
              <a:solidFill>
                <a:schemeClr val="tx1"/>
              </a:solidFill>
            </a:rPr>
            <a:t>Ceftriaxona</a:t>
          </a:r>
          <a:r>
            <a:rPr lang="es-BO" dirty="0" smtClean="0">
              <a:solidFill>
                <a:schemeClr val="tx1"/>
              </a:solidFill>
            </a:rPr>
            <a:t> 1gr.c / 12 </a:t>
          </a:r>
          <a:r>
            <a:rPr lang="es-BO" dirty="0" err="1" smtClean="0">
              <a:solidFill>
                <a:schemeClr val="tx1"/>
              </a:solidFill>
            </a:rPr>
            <a:t>hrs</a:t>
          </a:r>
          <a:r>
            <a:rPr lang="es-BO" dirty="0" smtClean="0"/>
            <a:t>.</a:t>
          </a:r>
          <a:endParaRPr lang="es-BO" dirty="0"/>
        </a:p>
      </dgm:t>
    </dgm:pt>
    <dgm:pt modelId="{D458C9B3-45F3-40B7-BFD9-BB98D1B6E851}" type="parTrans" cxnId="{C81FE2B1-E27D-4661-9104-CBF91032E098}">
      <dgm:prSet/>
      <dgm:spPr/>
      <dgm:t>
        <a:bodyPr/>
        <a:lstStyle/>
        <a:p>
          <a:endParaRPr lang="es-BO"/>
        </a:p>
      </dgm:t>
    </dgm:pt>
    <dgm:pt modelId="{5CDD810E-97A0-4B18-AA70-045E7F5474F8}" type="sibTrans" cxnId="{C81FE2B1-E27D-4661-9104-CBF91032E098}">
      <dgm:prSet/>
      <dgm:spPr/>
      <dgm:t>
        <a:bodyPr/>
        <a:lstStyle/>
        <a:p>
          <a:endParaRPr lang="es-BO"/>
        </a:p>
      </dgm:t>
    </dgm:pt>
    <dgm:pt modelId="{50869706-81F2-47D3-97C5-3F449749C174}">
      <dgm:prSet phldrT="[Texto]"/>
      <dgm:spPr/>
      <dgm:t>
        <a:bodyPr/>
        <a:lstStyle/>
        <a:p>
          <a:r>
            <a:rPr lang="es-BO" dirty="0" err="1" smtClean="0">
              <a:solidFill>
                <a:schemeClr val="tx1"/>
              </a:solidFill>
            </a:rPr>
            <a:t>Ranitidina</a:t>
          </a:r>
          <a:r>
            <a:rPr lang="es-BO" dirty="0" smtClean="0">
              <a:solidFill>
                <a:schemeClr val="tx1"/>
              </a:solidFill>
            </a:rPr>
            <a:t> 50 mg c/ 8 </a:t>
          </a:r>
          <a:r>
            <a:rPr lang="es-BO" dirty="0" err="1" smtClean="0">
              <a:solidFill>
                <a:schemeClr val="tx1"/>
              </a:solidFill>
            </a:rPr>
            <a:t>hrs</a:t>
          </a:r>
          <a:endParaRPr lang="es-BO" dirty="0">
            <a:solidFill>
              <a:schemeClr val="tx1"/>
            </a:solidFill>
          </a:endParaRPr>
        </a:p>
      </dgm:t>
    </dgm:pt>
    <dgm:pt modelId="{391C7CEE-8CF2-4F26-AEA8-254C1BEA3AB8}" type="parTrans" cxnId="{689170F6-CD36-405D-845E-7AB0016A1380}">
      <dgm:prSet/>
      <dgm:spPr/>
      <dgm:t>
        <a:bodyPr/>
        <a:lstStyle/>
        <a:p>
          <a:endParaRPr lang="es-BO"/>
        </a:p>
      </dgm:t>
    </dgm:pt>
    <dgm:pt modelId="{41658D1F-550C-4D1A-8A4E-53463ADDD07B}" type="sibTrans" cxnId="{689170F6-CD36-405D-845E-7AB0016A1380}">
      <dgm:prSet/>
      <dgm:spPr/>
      <dgm:t>
        <a:bodyPr/>
        <a:lstStyle/>
        <a:p>
          <a:endParaRPr lang="es-BO"/>
        </a:p>
      </dgm:t>
    </dgm:pt>
    <dgm:pt modelId="{EACBC87E-D15D-4375-B6C4-83A62E707746}">
      <dgm:prSet phldrT="[Texto]"/>
      <dgm:spPr/>
      <dgm:t>
        <a:bodyPr/>
        <a:lstStyle/>
        <a:p>
          <a:r>
            <a:rPr lang="es-BO" b="0" dirty="0" err="1" smtClean="0">
              <a:solidFill>
                <a:schemeClr val="tx1"/>
              </a:solidFill>
            </a:rPr>
            <a:t>Tramadol</a:t>
          </a:r>
          <a:r>
            <a:rPr lang="es-BO" b="0" dirty="0" smtClean="0">
              <a:solidFill>
                <a:schemeClr val="tx1"/>
              </a:solidFill>
            </a:rPr>
            <a:t> 100mg. c/ 12 </a:t>
          </a:r>
          <a:r>
            <a:rPr lang="es-BO" b="0" dirty="0" err="1" smtClean="0">
              <a:solidFill>
                <a:schemeClr val="tx1"/>
              </a:solidFill>
            </a:rPr>
            <a:t>hrs</a:t>
          </a:r>
          <a:r>
            <a:rPr lang="es-BO" b="0" dirty="0" smtClean="0">
              <a:solidFill>
                <a:schemeClr val="tx1"/>
              </a:solidFill>
            </a:rPr>
            <a:t>.</a:t>
          </a:r>
          <a:endParaRPr lang="es-BO" b="0" dirty="0">
            <a:solidFill>
              <a:schemeClr val="tx1"/>
            </a:solidFill>
          </a:endParaRPr>
        </a:p>
      </dgm:t>
    </dgm:pt>
    <dgm:pt modelId="{5C3BFC20-10BA-472A-80A4-27C4341812D7}" type="parTrans" cxnId="{CCF5AF84-5664-4630-8B71-9E5CE43261DF}">
      <dgm:prSet/>
      <dgm:spPr/>
      <dgm:t>
        <a:bodyPr/>
        <a:lstStyle/>
        <a:p>
          <a:endParaRPr lang="es-BO"/>
        </a:p>
      </dgm:t>
    </dgm:pt>
    <dgm:pt modelId="{12F3EF4F-266A-4181-9BEE-21DC8B6F0303}" type="sibTrans" cxnId="{CCF5AF84-5664-4630-8B71-9E5CE43261DF}">
      <dgm:prSet/>
      <dgm:spPr/>
      <dgm:t>
        <a:bodyPr/>
        <a:lstStyle/>
        <a:p>
          <a:endParaRPr lang="es-BO"/>
        </a:p>
      </dgm:t>
    </dgm:pt>
    <dgm:pt modelId="{CCCCF7C7-B546-4994-824F-15F6BF198F8D}">
      <dgm:prSet phldrT="[Texto]"/>
      <dgm:spPr/>
      <dgm:t>
        <a:bodyPr/>
        <a:lstStyle/>
        <a:p>
          <a:r>
            <a:rPr lang="es-BO" b="0" dirty="0" err="1" smtClean="0">
              <a:solidFill>
                <a:schemeClr val="tx1"/>
              </a:solidFill>
            </a:rPr>
            <a:t>Vit</a:t>
          </a:r>
          <a:r>
            <a:rPr lang="es-BO" b="0" dirty="0" smtClean="0">
              <a:solidFill>
                <a:schemeClr val="tx1"/>
              </a:solidFill>
            </a:rPr>
            <a:t>. K c/ 12 </a:t>
          </a:r>
          <a:r>
            <a:rPr lang="es-BO" b="0" dirty="0" err="1" smtClean="0">
              <a:solidFill>
                <a:schemeClr val="tx1"/>
              </a:solidFill>
            </a:rPr>
            <a:t>hrs</a:t>
          </a:r>
          <a:endParaRPr lang="es-BO" b="0" dirty="0">
            <a:solidFill>
              <a:schemeClr val="tx1"/>
            </a:solidFill>
          </a:endParaRPr>
        </a:p>
      </dgm:t>
    </dgm:pt>
    <dgm:pt modelId="{16176656-CD3A-491A-8B5C-A647D52F380D}" type="parTrans" cxnId="{FBC17FBF-FD12-44C3-A183-28B8E4B50A0E}">
      <dgm:prSet/>
      <dgm:spPr/>
      <dgm:t>
        <a:bodyPr/>
        <a:lstStyle/>
        <a:p>
          <a:endParaRPr lang="es-BO"/>
        </a:p>
      </dgm:t>
    </dgm:pt>
    <dgm:pt modelId="{4D0810F2-A675-413F-A0BB-F9F59DFE9742}" type="sibTrans" cxnId="{FBC17FBF-FD12-44C3-A183-28B8E4B50A0E}">
      <dgm:prSet/>
      <dgm:spPr/>
      <dgm:t>
        <a:bodyPr/>
        <a:lstStyle/>
        <a:p>
          <a:endParaRPr lang="es-BO"/>
        </a:p>
      </dgm:t>
    </dgm:pt>
    <dgm:pt modelId="{65FEEE36-9678-44A8-B7B1-35288314873F}">
      <dgm:prSet phldrT="[Texto]"/>
      <dgm:spPr/>
      <dgm:t>
        <a:bodyPr/>
        <a:lstStyle/>
        <a:p>
          <a:r>
            <a:rPr lang="es-BO" dirty="0" smtClean="0">
              <a:solidFill>
                <a:schemeClr val="tx1"/>
              </a:solidFill>
            </a:rPr>
            <a:t>Sol. FSL.  Con diclofenaco c/12 </a:t>
          </a:r>
          <a:r>
            <a:rPr lang="es-BO" dirty="0" err="1" smtClean="0">
              <a:solidFill>
                <a:schemeClr val="tx1"/>
              </a:solidFill>
            </a:rPr>
            <a:t>hrs</a:t>
          </a:r>
          <a:r>
            <a:rPr lang="es-BO" dirty="0" smtClean="0">
              <a:solidFill>
                <a:schemeClr val="tx1"/>
              </a:solidFill>
            </a:rPr>
            <a:t>.</a:t>
          </a:r>
          <a:endParaRPr lang="es-BO" dirty="0">
            <a:solidFill>
              <a:schemeClr val="tx1"/>
            </a:solidFill>
          </a:endParaRPr>
        </a:p>
      </dgm:t>
    </dgm:pt>
    <dgm:pt modelId="{280F62B8-4CD8-4F87-A26D-99D505A2C9CE}" type="parTrans" cxnId="{E16CC686-4F68-4D1E-ABBF-D634DD7B774E}">
      <dgm:prSet/>
      <dgm:spPr/>
      <dgm:t>
        <a:bodyPr/>
        <a:lstStyle/>
        <a:p>
          <a:endParaRPr lang="es-BO"/>
        </a:p>
      </dgm:t>
    </dgm:pt>
    <dgm:pt modelId="{74F3C5FD-55AA-46CE-A1F1-D42AA32A73C3}" type="sibTrans" cxnId="{E16CC686-4F68-4D1E-ABBF-D634DD7B774E}">
      <dgm:prSet/>
      <dgm:spPr/>
      <dgm:t>
        <a:bodyPr/>
        <a:lstStyle/>
        <a:p>
          <a:endParaRPr lang="es-BO"/>
        </a:p>
      </dgm:t>
    </dgm:pt>
    <dgm:pt modelId="{79421A81-C8F1-4471-8385-55BE5D770D8C}" type="pres">
      <dgm:prSet presAssocID="{8D9F4EBE-19D4-4F25-B029-FB594E6F51DD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BO"/>
        </a:p>
      </dgm:t>
    </dgm:pt>
    <dgm:pt modelId="{5BAF7A8F-233C-4EC8-8C0E-91DFA678E455}" type="pres">
      <dgm:prSet presAssocID="{9F14F05B-D5BE-42EA-98BF-30CB4CDAF274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s-BO"/>
        </a:p>
      </dgm:t>
    </dgm:pt>
    <dgm:pt modelId="{8E1DA879-1664-48F4-8811-DF6C03BA7550}" type="pres">
      <dgm:prSet presAssocID="{5CDD810E-97A0-4B18-AA70-045E7F5474F8}" presName="sibTrans" presStyleCnt="0"/>
      <dgm:spPr/>
    </dgm:pt>
    <dgm:pt modelId="{C4209CE7-BD6B-411C-B9A2-AEFA69638848}" type="pres">
      <dgm:prSet presAssocID="{50869706-81F2-47D3-97C5-3F449749C174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s-BO"/>
        </a:p>
      </dgm:t>
    </dgm:pt>
    <dgm:pt modelId="{133A71A9-748F-4E93-85C2-31E7C001E09B}" type="pres">
      <dgm:prSet presAssocID="{41658D1F-550C-4D1A-8A4E-53463ADDD07B}" presName="sibTrans" presStyleCnt="0"/>
      <dgm:spPr/>
    </dgm:pt>
    <dgm:pt modelId="{18D6B47A-0C5D-46CC-A46D-0E03337BBBCA}" type="pres">
      <dgm:prSet presAssocID="{EACBC87E-D15D-4375-B6C4-83A62E707746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s-BO"/>
        </a:p>
      </dgm:t>
    </dgm:pt>
    <dgm:pt modelId="{265CC639-0082-4F9D-A301-2CA927082A63}" type="pres">
      <dgm:prSet presAssocID="{12F3EF4F-266A-4181-9BEE-21DC8B6F0303}" presName="sibTrans" presStyleCnt="0"/>
      <dgm:spPr/>
    </dgm:pt>
    <dgm:pt modelId="{53089D2C-7225-4CDB-A725-293363909C44}" type="pres">
      <dgm:prSet presAssocID="{CCCCF7C7-B546-4994-824F-15F6BF198F8D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s-BO"/>
        </a:p>
      </dgm:t>
    </dgm:pt>
    <dgm:pt modelId="{4D7E8507-EAA2-43C1-9825-A7630B0182DD}" type="pres">
      <dgm:prSet presAssocID="{4D0810F2-A675-413F-A0BB-F9F59DFE9742}" presName="sibTrans" presStyleCnt="0"/>
      <dgm:spPr/>
    </dgm:pt>
    <dgm:pt modelId="{19E49FDC-2058-486F-A948-57CE97DA6CB4}" type="pres">
      <dgm:prSet presAssocID="{65FEEE36-9678-44A8-B7B1-35288314873F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s-BO"/>
        </a:p>
      </dgm:t>
    </dgm:pt>
  </dgm:ptLst>
  <dgm:cxnLst>
    <dgm:cxn modelId="{E16CC686-4F68-4D1E-ABBF-D634DD7B774E}" srcId="{8D9F4EBE-19D4-4F25-B029-FB594E6F51DD}" destId="{65FEEE36-9678-44A8-B7B1-35288314873F}" srcOrd="4" destOrd="0" parTransId="{280F62B8-4CD8-4F87-A26D-99D505A2C9CE}" sibTransId="{74F3C5FD-55AA-46CE-A1F1-D42AA32A73C3}"/>
    <dgm:cxn modelId="{F9BC69AB-199F-4223-9E1E-76E990DA268D}" type="presOf" srcId="{65FEEE36-9678-44A8-B7B1-35288314873F}" destId="{19E49FDC-2058-486F-A948-57CE97DA6CB4}" srcOrd="0" destOrd="0" presId="urn:microsoft.com/office/officeart/2005/8/layout/default"/>
    <dgm:cxn modelId="{C81FE2B1-E27D-4661-9104-CBF91032E098}" srcId="{8D9F4EBE-19D4-4F25-B029-FB594E6F51DD}" destId="{9F14F05B-D5BE-42EA-98BF-30CB4CDAF274}" srcOrd="0" destOrd="0" parTransId="{D458C9B3-45F3-40B7-BFD9-BB98D1B6E851}" sibTransId="{5CDD810E-97A0-4B18-AA70-045E7F5474F8}"/>
    <dgm:cxn modelId="{5D9E480D-6E2E-48AF-A474-E36777DEED43}" type="presOf" srcId="{50869706-81F2-47D3-97C5-3F449749C174}" destId="{C4209CE7-BD6B-411C-B9A2-AEFA69638848}" srcOrd="0" destOrd="0" presId="urn:microsoft.com/office/officeart/2005/8/layout/default"/>
    <dgm:cxn modelId="{689170F6-CD36-405D-845E-7AB0016A1380}" srcId="{8D9F4EBE-19D4-4F25-B029-FB594E6F51DD}" destId="{50869706-81F2-47D3-97C5-3F449749C174}" srcOrd="1" destOrd="0" parTransId="{391C7CEE-8CF2-4F26-AEA8-254C1BEA3AB8}" sibTransId="{41658D1F-550C-4D1A-8A4E-53463ADDD07B}"/>
    <dgm:cxn modelId="{CCF5AF84-5664-4630-8B71-9E5CE43261DF}" srcId="{8D9F4EBE-19D4-4F25-B029-FB594E6F51DD}" destId="{EACBC87E-D15D-4375-B6C4-83A62E707746}" srcOrd="2" destOrd="0" parTransId="{5C3BFC20-10BA-472A-80A4-27C4341812D7}" sibTransId="{12F3EF4F-266A-4181-9BEE-21DC8B6F0303}"/>
    <dgm:cxn modelId="{FBC17FBF-FD12-44C3-A183-28B8E4B50A0E}" srcId="{8D9F4EBE-19D4-4F25-B029-FB594E6F51DD}" destId="{CCCCF7C7-B546-4994-824F-15F6BF198F8D}" srcOrd="3" destOrd="0" parTransId="{16176656-CD3A-491A-8B5C-A647D52F380D}" sibTransId="{4D0810F2-A675-413F-A0BB-F9F59DFE9742}"/>
    <dgm:cxn modelId="{01E24D42-A735-436F-8F9A-9519B156DBD3}" type="presOf" srcId="{8D9F4EBE-19D4-4F25-B029-FB594E6F51DD}" destId="{79421A81-C8F1-4471-8385-55BE5D770D8C}" srcOrd="0" destOrd="0" presId="urn:microsoft.com/office/officeart/2005/8/layout/default"/>
    <dgm:cxn modelId="{3CCD68F8-A316-4367-B5F1-8E3C790DABE8}" type="presOf" srcId="{9F14F05B-D5BE-42EA-98BF-30CB4CDAF274}" destId="{5BAF7A8F-233C-4EC8-8C0E-91DFA678E455}" srcOrd="0" destOrd="0" presId="urn:microsoft.com/office/officeart/2005/8/layout/default"/>
    <dgm:cxn modelId="{8E4E67A6-022B-4C21-9399-4EA2C3B6AB54}" type="presOf" srcId="{EACBC87E-D15D-4375-B6C4-83A62E707746}" destId="{18D6B47A-0C5D-46CC-A46D-0E03337BBBCA}" srcOrd="0" destOrd="0" presId="urn:microsoft.com/office/officeart/2005/8/layout/default"/>
    <dgm:cxn modelId="{3EC70E9B-C930-4E93-828D-A7478E78167F}" type="presOf" srcId="{CCCCF7C7-B546-4994-824F-15F6BF198F8D}" destId="{53089D2C-7225-4CDB-A725-293363909C44}" srcOrd="0" destOrd="0" presId="urn:microsoft.com/office/officeart/2005/8/layout/default"/>
    <dgm:cxn modelId="{40F75092-31A0-40C8-BBE4-E866562BF18A}" type="presParOf" srcId="{79421A81-C8F1-4471-8385-55BE5D770D8C}" destId="{5BAF7A8F-233C-4EC8-8C0E-91DFA678E455}" srcOrd="0" destOrd="0" presId="urn:microsoft.com/office/officeart/2005/8/layout/default"/>
    <dgm:cxn modelId="{79161760-397B-40A8-84BB-EAF8E46FE8BE}" type="presParOf" srcId="{79421A81-C8F1-4471-8385-55BE5D770D8C}" destId="{8E1DA879-1664-48F4-8811-DF6C03BA7550}" srcOrd="1" destOrd="0" presId="urn:microsoft.com/office/officeart/2005/8/layout/default"/>
    <dgm:cxn modelId="{BE28D18E-8C78-4EF4-8B62-01C860C6ADBC}" type="presParOf" srcId="{79421A81-C8F1-4471-8385-55BE5D770D8C}" destId="{C4209CE7-BD6B-411C-B9A2-AEFA69638848}" srcOrd="2" destOrd="0" presId="urn:microsoft.com/office/officeart/2005/8/layout/default"/>
    <dgm:cxn modelId="{918C42E8-0781-492C-BC8A-8DA82B945FAF}" type="presParOf" srcId="{79421A81-C8F1-4471-8385-55BE5D770D8C}" destId="{133A71A9-748F-4E93-85C2-31E7C001E09B}" srcOrd="3" destOrd="0" presId="urn:microsoft.com/office/officeart/2005/8/layout/default"/>
    <dgm:cxn modelId="{F9CE5DBF-E05F-48AE-965F-36C21F14A823}" type="presParOf" srcId="{79421A81-C8F1-4471-8385-55BE5D770D8C}" destId="{18D6B47A-0C5D-46CC-A46D-0E03337BBBCA}" srcOrd="4" destOrd="0" presId="urn:microsoft.com/office/officeart/2005/8/layout/default"/>
    <dgm:cxn modelId="{30C7ADBE-D9E2-460A-BB32-E1ABA3A231FF}" type="presParOf" srcId="{79421A81-C8F1-4471-8385-55BE5D770D8C}" destId="{265CC639-0082-4F9D-A301-2CA927082A63}" srcOrd="5" destOrd="0" presId="urn:microsoft.com/office/officeart/2005/8/layout/default"/>
    <dgm:cxn modelId="{11B34AF7-FD3D-45F1-ADA1-A49F8B3F1566}" type="presParOf" srcId="{79421A81-C8F1-4471-8385-55BE5D770D8C}" destId="{53089D2C-7225-4CDB-A725-293363909C44}" srcOrd="6" destOrd="0" presId="urn:microsoft.com/office/officeart/2005/8/layout/default"/>
    <dgm:cxn modelId="{94BF0F32-40E7-477D-A528-9CE7976DECF5}" type="presParOf" srcId="{79421A81-C8F1-4471-8385-55BE5D770D8C}" destId="{4D7E8507-EAA2-43C1-9825-A7630B0182DD}" srcOrd="7" destOrd="0" presId="urn:microsoft.com/office/officeart/2005/8/layout/default"/>
    <dgm:cxn modelId="{4202B9AB-825D-465E-98BC-DC3424C241B3}" type="presParOf" srcId="{79421A81-C8F1-4471-8385-55BE5D770D8C}" destId="{19E49FDC-2058-486F-A948-57CE97DA6CB4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55015B-ED6C-4A28-BC1D-7B5F7CB54B99}">
      <dsp:nvSpPr>
        <dsp:cNvPr id="0" name=""/>
        <dsp:cNvSpPr/>
      </dsp:nvSpPr>
      <dsp:spPr>
        <a:xfrm>
          <a:off x="1709426" y="630335"/>
          <a:ext cx="4010632" cy="4010632"/>
        </a:xfrm>
        <a:prstGeom prst="blockArc">
          <a:avLst>
            <a:gd name="adj1" fmla="val 11932820"/>
            <a:gd name="adj2" fmla="val 16169992"/>
            <a:gd name="adj3" fmla="val 4642"/>
          </a:avLst>
        </a:prstGeom>
        <a:solidFill>
          <a:schemeClr val="accent2">
            <a:hueOff val="-12635355"/>
            <a:satOff val="21297"/>
            <a:lumOff val="-26079"/>
            <a:alphaOff val="0"/>
          </a:schemeClr>
        </a:solidFill>
        <a:ln>
          <a:noFill/>
        </a:ln>
        <a:effectLst>
          <a:outerShdw blurRad="50800" dist="25000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FB389D2-A825-4939-9C6D-F558D5A6FD64}">
      <dsp:nvSpPr>
        <dsp:cNvPr id="0" name=""/>
        <dsp:cNvSpPr/>
      </dsp:nvSpPr>
      <dsp:spPr>
        <a:xfrm>
          <a:off x="1718946" y="601784"/>
          <a:ext cx="4010632" cy="4010632"/>
        </a:xfrm>
        <a:prstGeom prst="blockArc">
          <a:avLst>
            <a:gd name="adj1" fmla="val 7560000"/>
            <a:gd name="adj2" fmla="val 11880000"/>
            <a:gd name="adj3" fmla="val 4642"/>
          </a:avLst>
        </a:prstGeom>
        <a:solidFill>
          <a:schemeClr val="accent2">
            <a:hueOff val="-9476516"/>
            <a:satOff val="15973"/>
            <a:lumOff val="-19559"/>
            <a:alphaOff val="0"/>
          </a:schemeClr>
        </a:solidFill>
        <a:ln>
          <a:noFill/>
        </a:ln>
        <a:effectLst>
          <a:outerShdw blurRad="50800" dist="25000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4845E2B-6A32-48E4-9E56-AC277EFF19CC}">
      <dsp:nvSpPr>
        <dsp:cNvPr id="0" name=""/>
        <dsp:cNvSpPr/>
      </dsp:nvSpPr>
      <dsp:spPr>
        <a:xfrm>
          <a:off x="1718946" y="601784"/>
          <a:ext cx="4010632" cy="4010632"/>
        </a:xfrm>
        <a:prstGeom prst="blockArc">
          <a:avLst>
            <a:gd name="adj1" fmla="val 3240000"/>
            <a:gd name="adj2" fmla="val 7560000"/>
            <a:gd name="adj3" fmla="val 4642"/>
          </a:avLst>
        </a:prstGeom>
        <a:solidFill>
          <a:schemeClr val="accent2">
            <a:hueOff val="-6317677"/>
            <a:satOff val="10648"/>
            <a:lumOff val="-13040"/>
            <a:alphaOff val="0"/>
          </a:schemeClr>
        </a:solidFill>
        <a:ln>
          <a:noFill/>
        </a:ln>
        <a:effectLst>
          <a:outerShdw blurRad="50800" dist="25000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2688755-4757-4C80-8B24-0B183567D022}">
      <dsp:nvSpPr>
        <dsp:cNvPr id="0" name=""/>
        <dsp:cNvSpPr/>
      </dsp:nvSpPr>
      <dsp:spPr>
        <a:xfrm>
          <a:off x="1718946" y="601784"/>
          <a:ext cx="4010632" cy="4010632"/>
        </a:xfrm>
        <a:prstGeom prst="blockArc">
          <a:avLst>
            <a:gd name="adj1" fmla="val 20520000"/>
            <a:gd name="adj2" fmla="val 3240000"/>
            <a:gd name="adj3" fmla="val 4642"/>
          </a:avLst>
        </a:prstGeom>
        <a:solidFill>
          <a:schemeClr val="accent2">
            <a:hueOff val="-3158839"/>
            <a:satOff val="5324"/>
            <a:lumOff val="-6520"/>
            <a:alphaOff val="0"/>
          </a:schemeClr>
        </a:solidFill>
        <a:ln>
          <a:noFill/>
        </a:ln>
        <a:effectLst>
          <a:outerShdw blurRad="50800" dist="25000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2F82618-6544-4A01-8D7F-565B1681B5FC}">
      <dsp:nvSpPr>
        <dsp:cNvPr id="0" name=""/>
        <dsp:cNvSpPr/>
      </dsp:nvSpPr>
      <dsp:spPr>
        <a:xfrm>
          <a:off x="1728377" y="630078"/>
          <a:ext cx="4010632" cy="4010632"/>
        </a:xfrm>
        <a:prstGeom prst="blockArc">
          <a:avLst>
            <a:gd name="adj1" fmla="val 16136728"/>
            <a:gd name="adj2" fmla="val 20467657"/>
            <a:gd name="adj3" fmla="val 4642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5000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25BACFB-C08B-4424-9466-169EEAC8B20B}">
      <dsp:nvSpPr>
        <dsp:cNvPr id="0" name=""/>
        <dsp:cNvSpPr/>
      </dsp:nvSpPr>
      <dsp:spPr>
        <a:xfrm>
          <a:off x="2800839" y="2024449"/>
          <a:ext cx="1846845" cy="116530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rgbClr val="000000">
              <a:alpha val="40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1800" kern="1200" dirty="0" smtClean="0">
              <a:solidFill>
                <a:schemeClr val="tx1"/>
              </a:solidFill>
            </a:rPr>
            <a:t>PACIENTE</a:t>
          </a:r>
          <a:endParaRPr lang="es-BO" sz="1800" kern="1200" dirty="0">
            <a:solidFill>
              <a:schemeClr val="tx1"/>
            </a:solidFill>
          </a:endParaRPr>
        </a:p>
      </dsp:txBody>
      <dsp:txXfrm>
        <a:off x="3071303" y="2195104"/>
        <a:ext cx="1305917" cy="823994"/>
      </dsp:txXfrm>
    </dsp:sp>
    <dsp:sp modelId="{68FFDF50-646A-4099-97A3-2F323140569A}">
      <dsp:nvSpPr>
        <dsp:cNvPr id="0" name=""/>
        <dsp:cNvSpPr/>
      </dsp:nvSpPr>
      <dsp:spPr>
        <a:xfrm>
          <a:off x="2717689" y="30554"/>
          <a:ext cx="1959911" cy="129279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49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rgbClr val="000000">
              <a:alpha val="40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800" kern="1200" dirty="0" smtClean="0">
              <a:solidFill>
                <a:schemeClr val="tx1"/>
              </a:solidFill>
            </a:rPr>
            <a:t>POLICONTUSION  </a:t>
          </a:r>
          <a:endParaRPr lang="es-BO" sz="800" kern="1200" dirty="0">
            <a:solidFill>
              <a:schemeClr val="tx1"/>
            </a:solidFill>
          </a:endParaRPr>
        </a:p>
      </dsp:txBody>
      <dsp:txXfrm>
        <a:off x="3004711" y="219879"/>
        <a:ext cx="1385867" cy="914141"/>
      </dsp:txXfrm>
    </dsp:sp>
    <dsp:sp modelId="{DEA96D3D-5B48-45C8-BF2D-18F22E0E493B}">
      <dsp:nvSpPr>
        <dsp:cNvPr id="0" name=""/>
        <dsp:cNvSpPr/>
      </dsp:nvSpPr>
      <dsp:spPr>
        <a:xfrm>
          <a:off x="4694683" y="1355410"/>
          <a:ext cx="1784970" cy="1292791"/>
        </a:xfrm>
        <a:prstGeom prst="ellipse">
          <a:avLst/>
        </a:prstGeom>
        <a:solidFill>
          <a:schemeClr val="accent2">
            <a:hueOff val="-3158839"/>
            <a:satOff val="5324"/>
            <a:lumOff val="-6520"/>
            <a:alphaOff val="0"/>
          </a:schemeClr>
        </a:solidFill>
        <a:ln w="349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rgbClr val="000000">
              <a:alpha val="40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800" kern="1200" dirty="0" smtClean="0">
              <a:solidFill>
                <a:schemeClr val="tx1"/>
              </a:solidFill>
            </a:rPr>
            <a:t>FRACTURA</a:t>
          </a:r>
          <a:r>
            <a:rPr lang="es-BO" sz="800" kern="1200" dirty="0" smtClean="0"/>
            <a:t> </a:t>
          </a:r>
          <a:r>
            <a:rPr lang="es-BO" sz="800" kern="1200" dirty="0" smtClean="0">
              <a:solidFill>
                <a:schemeClr val="tx1"/>
              </a:solidFill>
            </a:rPr>
            <a:t>DE</a:t>
          </a:r>
          <a:r>
            <a:rPr lang="es-BO" sz="800" kern="1200" dirty="0" smtClean="0"/>
            <a:t> </a:t>
          </a:r>
          <a:r>
            <a:rPr lang="es-BO" sz="800" kern="1200" dirty="0" smtClean="0">
              <a:solidFill>
                <a:schemeClr val="tx1"/>
              </a:solidFill>
            </a:rPr>
            <a:t>TIBIA</a:t>
          </a:r>
          <a:endParaRPr lang="es-BO" sz="800" kern="1200" dirty="0">
            <a:solidFill>
              <a:schemeClr val="tx1"/>
            </a:solidFill>
          </a:endParaRPr>
        </a:p>
      </dsp:txBody>
      <dsp:txXfrm>
        <a:off x="4956086" y="1544735"/>
        <a:ext cx="1262164" cy="914141"/>
      </dsp:txXfrm>
    </dsp:sp>
    <dsp:sp modelId="{9C58D510-B9B2-4ADF-AA21-A8E93D52B45F}">
      <dsp:nvSpPr>
        <dsp:cNvPr id="0" name=""/>
        <dsp:cNvSpPr/>
      </dsp:nvSpPr>
      <dsp:spPr>
        <a:xfrm>
          <a:off x="3961171" y="3545388"/>
          <a:ext cx="1828860" cy="1292791"/>
        </a:xfrm>
        <a:prstGeom prst="ellipse">
          <a:avLst/>
        </a:prstGeom>
        <a:solidFill>
          <a:schemeClr val="accent2">
            <a:hueOff val="-6317677"/>
            <a:satOff val="10648"/>
            <a:lumOff val="-13040"/>
            <a:alphaOff val="0"/>
          </a:schemeClr>
        </a:solidFill>
        <a:ln w="349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rgbClr val="000000">
              <a:alpha val="40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800" kern="1200" dirty="0" smtClean="0">
              <a:solidFill>
                <a:schemeClr val="tx1"/>
              </a:solidFill>
            </a:rPr>
            <a:t>TEC LEVE </a:t>
          </a:r>
          <a:endParaRPr lang="es-BO" sz="800" kern="1200" dirty="0">
            <a:solidFill>
              <a:schemeClr val="tx1"/>
            </a:solidFill>
          </a:endParaRPr>
        </a:p>
      </dsp:txBody>
      <dsp:txXfrm>
        <a:off x="4229001" y="3734713"/>
        <a:ext cx="1293200" cy="914141"/>
      </dsp:txXfrm>
    </dsp:sp>
    <dsp:sp modelId="{75C11F47-89C3-48EA-832D-260DC93019B0}">
      <dsp:nvSpPr>
        <dsp:cNvPr id="0" name=""/>
        <dsp:cNvSpPr/>
      </dsp:nvSpPr>
      <dsp:spPr>
        <a:xfrm>
          <a:off x="1703513" y="3545388"/>
          <a:ext cx="1738817" cy="1292791"/>
        </a:xfrm>
        <a:prstGeom prst="ellipse">
          <a:avLst/>
        </a:prstGeom>
        <a:solidFill>
          <a:schemeClr val="accent2">
            <a:hueOff val="-9476516"/>
            <a:satOff val="15973"/>
            <a:lumOff val="-19559"/>
            <a:alphaOff val="0"/>
          </a:schemeClr>
        </a:solidFill>
        <a:ln w="349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rgbClr val="000000">
              <a:alpha val="40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800" kern="1200" dirty="0" smtClean="0">
              <a:solidFill>
                <a:schemeClr val="tx1"/>
              </a:solidFill>
            </a:rPr>
            <a:t>TORAX INESTABLE</a:t>
          </a:r>
          <a:endParaRPr lang="es-BO" sz="800" kern="1200" dirty="0">
            <a:solidFill>
              <a:schemeClr val="tx1"/>
            </a:solidFill>
          </a:endParaRPr>
        </a:p>
      </dsp:txBody>
      <dsp:txXfrm>
        <a:off x="1958157" y="3734713"/>
        <a:ext cx="1229529" cy="914141"/>
      </dsp:txXfrm>
    </dsp:sp>
    <dsp:sp modelId="{383B8A0A-DB50-412B-AC25-F4BF33B96E5A}">
      <dsp:nvSpPr>
        <dsp:cNvPr id="0" name=""/>
        <dsp:cNvSpPr/>
      </dsp:nvSpPr>
      <dsp:spPr>
        <a:xfrm>
          <a:off x="987945" y="1355410"/>
          <a:ext cx="1746820" cy="1292791"/>
        </a:xfrm>
        <a:prstGeom prst="ellipse">
          <a:avLst/>
        </a:prstGeom>
        <a:solidFill>
          <a:schemeClr val="accent2">
            <a:hueOff val="-12635355"/>
            <a:satOff val="21297"/>
            <a:lumOff val="-26079"/>
            <a:alphaOff val="0"/>
          </a:schemeClr>
        </a:solidFill>
        <a:ln w="349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rgbClr val="000000">
              <a:alpha val="40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800" kern="1200" dirty="0" smtClean="0">
              <a:solidFill>
                <a:schemeClr val="tx1"/>
              </a:solidFill>
            </a:rPr>
            <a:t>HEMONEUMOTORAX</a:t>
          </a:r>
          <a:endParaRPr lang="es-BO" sz="800" kern="1200" dirty="0">
            <a:solidFill>
              <a:schemeClr val="tx1"/>
            </a:solidFill>
          </a:endParaRPr>
        </a:p>
      </dsp:txBody>
      <dsp:txXfrm>
        <a:off x="1243761" y="1544735"/>
        <a:ext cx="1235188" cy="9141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13DC54-1A75-440B-B5A8-AA4CDB07367A}">
      <dsp:nvSpPr>
        <dsp:cNvPr id="0" name=""/>
        <dsp:cNvSpPr/>
      </dsp:nvSpPr>
      <dsp:spPr>
        <a:xfrm>
          <a:off x="2935880" y="976"/>
          <a:ext cx="1682979" cy="85323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1900" kern="1200" dirty="0" smtClean="0">
              <a:solidFill>
                <a:schemeClr val="tx1"/>
              </a:solidFill>
            </a:rPr>
            <a:t>Urología </a:t>
          </a:r>
          <a:endParaRPr lang="es-BO" sz="1900" kern="1200" dirty="0">
            <a:solidFill>
              <a:schemeClr val="tx1"/>
            </a:solidFill>
          </a:endParaRPr>
        </a:p>
      </dsp:txBody>
      <dsp:txXfrm>
        <a:off x="2977531" y="42627"/>
        <a:ext cx="1599677" cy="769929"/>
      </dsp:txXfrm>
    </dsp:sp>
    <dsp:sp modelId="{C6020D34-6AC9-4819-81C9-9F901253DA37}">
      <dsp:nvSpPr>
        <dsp:cNvPr id="0" name=""/>
        <dsp:cNvSpPr/>
      </dsp:nvSpPr>
      <dsp:spPr>
        <a:xfrm>
          <a:off x="1768150" y="427592"/>
          <a:ext cx="4018439" cy="4018439"/>
        </a:xfrm>
        <a:custGeom>
          <a:avLst/>
          <a:gdLst/>
          <a:ahLst/>
          <a:cxnLst/>
          <a:rect l="0" t="0" r="0" b="0"/>
          <a:pathLst>
            <a:path>
              <a:moveTo>
                <a:pt x="2974190" y="246893"/>
              </a:moveTo>
              <a:arcTo wR="2009219" hR="2009219" stAng="17922188" swAng="715725"/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1F1BA2-3A6E-4395-848E-C22573811617}">
      <dsp:nvSpPr>
        <dsp:cNvPr id="0" name=""/>
        <dsp:cNvSpPr/>
      </dsp:nvSpPr>
      <dsp:spPr>
        <a:xfrm>
          <a:off x="4644005" y="1005586"/>
          <a:ext cx="1746801" cy="853231"/>
        </a:xfrm>
        <a:prstGeom prst="roundRect">
          <a:avLst/>
        </a:prstGeom>
        <a:solidFill>
          <a:schemeClr val="accent2">
            <a:hueOff val="-2527071"/>
            <a:satOff val="4259"/>
            <a:lumOff val="-521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1900" kern="1200" dirty="0" smtClean="0">
              <a:solidFill>
                <a:schemeClr val="tx1"/>
              </a:solidFill>
            </a:rPr>
            <a:t>Neurología</a:t>
          </a:r>
          <a:r>
            <a:rPr lang="es-BO" sz="1900" kern="1200" dirty="0" smtClean="0"/>
            <a:t> </a:t>
          </a:r>
          <a:endParaRPr lang="es-BO" sz="1900" kern="1200" dirty="0"/>
        </a:p>
      </dsp:txBody>
      <dsp:txXfrm>
        <a:off x="4685656" y="1047237"/>
        <a:ext cx="1663499" cy="769929"/>
      </dsp:txXfrm>
    </dsp:sp>
    <dsp:sp modelId="{6843F13B-E68C-44C6-9479-654382D30808}">
      <dsp:nvSpPr>
        <dsp:cNvPr id="0" name=""/>
        <dsp:cNvSpPr/>
      </dsp:nvSpPr>
      <dsp:spPr>
        <a:xfrm>
          <a:off x="1768150" y="427592"/>
          <a:ext cx="4018439" cy="4018439"/>
        </a:xfrm>
        <a:custGeom>
          <a:avLst/>
          <a:gdLst/>
          <a:ahLst/>
          <a:cxnLst/>
          <a:rect l="0" t="0" r="0" b="0"/>
          <a:pathLst>
            <a:path>
              <a:moveTo>
                <a:pt x="3987145" y="1655984"/>
              </a:moveTo>
              <a:arcTo wR="2009219" hR="2009219" stAng="20992462" swAng="1215076"/>
            </a:path>
          </a:pathLst>
        </a:custGeom>
        <a:noFill/>
        <a:ln w="12700" cap="flat" cmpd="sng" algn="ctr">
          <a:solidFill>
            <a:schemeClr val="accent2">
              <a:hueOff val="-2527071"/>
              <a:satOff val="4259"/>
              <a:lumOff val="-521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12A42A-D63E-495F-A938-BD5BF69323B8}">
      <dsp:nvSpPr>
        <dsp:cNvPr id="0" name=""/>
        <dsp:cNvSpPr/>
      </dsp:nvSpPr>
      <dsp:spPr>
        <a:xfrm>
          <a:off x="4700509" y="3014806"/>
          <a:ext cx="1633794" cy="853231"/>
        </a:xfrm>
        <a:prstGeom prst="roundRect">
          <a:avLst/>
        </a:prstGeom>
        <a:solidFill>
          <a:schemeClr val="accent2">
            <a:hueOff val="-5054142"/>
            <a:satOff val="8519"/>
            <a:lumOff val="-1043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1900" kern="1200" dirty="0" smtClean="0">
              <a:solidFill>
                <a:schemeClr val="tx1"/>
              </a:solidFill>
            </a:rPr>
            <a:t>Cirujano de Tórax  </a:t>
          </a:r>
          <a:endParaRPr lang="es-BO" sz="1900" kern="1200" dirty="0">
            <a:solidFill>
              <a:schemeClr val="tx1"/>
            </a:solidFill>
          </a:endParaRPr>
        </a:p>
      </dsp:txBody>
      <dsp:txXfrm>
        <a:off x="4742160" y="3056457"/>
        <a:ext cx="1550492" cy="769929"/>
      </dsp:txXfrm>
    </dsp:sp>
    <dsp:sp modelId="{ADE9A7F6-3CFB-41E5-95A4-9B74E8C4510A}">
      <dsp:nvSpPr>
        <dsp:cNvPr id="0" name=""/>
        <dsp:cNvSpPr/>
      </dsp:nvSpPr>
      <dsp:spPr>
        <a:xfrm>
          <a:off x="1768150" y="427592"/>
          <a:ext cx="4018439" cy="4018439"/>
        </a:xfrm>
        <a:custGeom>
          <a:avLst/>
          <a:gdLst/>
          <a:ahLst/>
          <a:cxnLst/>
          <a:rect l="0" t="0" r="0" b="0"/>
          <a:pathLst>
            <a:path>
              <a:moveTo>
                <a:pt x="3307904" y="3542316"/>
              </a:moveTo>
              <a:arcTo wR="2009219" hR="2009219" stAng="2983926" swAng="783058"/>
            </a:path>
          </a:pathLst>
        </a:custGeom>
        <a:noFill/>
        <a:ln w="12700" cap="flat" cmpd="sng" algn="ctr">
          <a:solidFill>
            <a:schemeClr val="accent2">
              <a:hueOff val="-5054142"/>
              <a:satOff val="8519"/>
              <a:lumOff val="-1043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C6EDD8-B715-468F-9074-108366305AEC}">
      <dsp:nvSpPr>
        <dsp:cNvPr id="0" name=""/>
        <dsp:cNvSpPr/>
      </dsp:nvSpPr>
      <dsp:spPr>
        <a:xfrm>
          <a:off x="2995226" y="4019416"/>
          <a:ext cx="1564288" cy="853231"/>
        </a:xfrm>
        <a:prstGeom prst="roundRect">
          <a:avLst/>
        </a:prstGeom>
        <a:solidFill>
          <a:schemeClr val="accent2">
            <a:hueOff val="-7581213"/>
            <a:satOff val="12778"/>
            <a:lumOff val="-1564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1900" kern="1200" dirty="0" smtClean="0">
              <a:solidFill>
                <a:schemeClr val="tx1"/>
              </a:solidFill>
            </a:rPr>
            <a:t>Medicina interna</a:t>
          </a:r>
          <a:endParaRPr lang="es-BO" sz="1900" kern="1200" dirty="0">
            <a:solidFill>
              <a:schemeClr val="tx1"/>
            </a:solidFill>
          </a:endParaRPr>
        </a:p>
      </dsp:txBody>
      <dsp:txXfrm>
        <a:off x="3036877" y="4061067"/>
        <a:ext cx="1480986" cy="769929"/>
      </dsp:txXfrm>
    </dsp:sp>
    <dsp:sp modelId="{ADB16E84-E1FF-4440-9572-1BFF9DB30C4B}">
      <dsp:nvSpPr>
        <dsp:cNvPr id="0" name=""/>
        <dsp:cNvSpPr/>
      </dsp:nvSpPr>
      <dsp:spPr>
        <a:xfrm>
          <a:off x="1768150" y="427592"/>
          <a:ext cx="4018439" cy="4018439"/>
        </a:xfrm>
        <a:custGeom>
          <a:avLst/>
          <a:gdLst/>
          <a:ahLst/>
          <a:cxnLst/>
          <a:rect l="0" t="0" r="0" b="0"/>
          <a:pathLst>
            <a:path>
              <a:moveTo>
                <a:pt x="1090281" y="3795981"/>
              </a:moveTo>
              <a:arcTo wR="2009219" hR="2009219" stAng="7033016" swAng="783058"/>
            </a:path>
          </a:pathLst>
        </a:custGeom>
        <a:noFill/>
        <a:ln w="12700" cap="flat" cmpd="sng" algn="ctr">
          <a:solidFill>
            <a:schemeClr val="accent2">
              <a:hueOff val="-7581213"/>
              <a:satOff val="12778"/>
              <a:lumOff val="-1564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BDB44E-6190-452C-98E7-E24E024B3646}">
      <dsp:nvSpPr>
        <dsp:cNvPr id="0" name=""/>
        <dsp:cNvSpPr/>
      </dsp:nvSpPr>
      <dsp:spPr>
        <a:xfrm>
          <a:off x="1076793" y="3014806"/>
          <a:ext cx="1921083" cy="853231"/>
        </a:xfrm>
        <a:prstGeom prst="roundRect">
          <a:avLst/>
        </a:prstGeom>
        <a:solidFill>
          <a:schemeClr val="accent2">
            <a:hueOff val="-10108284"/>
            <a:satOff val="17038"/>
            <a:lumOff val="-2086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1900" kern="1200" dirty="0" smtClean="0">
              <a:solidFill>
                <a:schemeClr val="tx1"/>
              </a:solidFill>
            </a:rPr>
            <a:t>Traumatología</a:t>
          </a:r>
          <a:r>
            <a:rPr lang="es-BO" sz="1900" kern="1200" dirty="0" smtClean="0"/>
            <a:t> </a:t>
          </a:r>
          <a:endParaRPr lang="es-BO" sz="1900" kern="1200" dirty="0"/>
        </a:p>
      </dsp:txBody>
      <dsp:txXfrm>
        <a:off x="1118444" y="3056457"/>
        <a:ext cx="1837781" cy="769929"/>
      </dsp:txXfrm>
    </dsp:sp>
    <dsp:sp modelId="{F2BCDA06-1334-4012-8205-06ADEF293F7F}">
      <dsp:nvSpPr>
        <dsp:cNvPr id="0" name=""/>
        <dsp:cNvSpPr/>
      </dsp:nvSpPr>
      <dsp:spPr>
        <a:xfrm>
          <a:off x="1768150" y="427592"/>
          <a:ext cx="4018439" cy="4018439"/>
        </a:xfrm>
        <a:custGeom>
          <a:avLst/>
          <a:gdLst/>
          <a:ahLst/>
          <a:cxnLst/>
          <a:rect l="0" t="0" r="0" b="0"/>
          <a:pathLst>
            <a:path>
              <a:moveTo>
                <a:pt x="31294" y="2362455"/>
              </a:moveTo>
              <a:arcTo wR="2009219" hR="2009219" stAng="10192462" swAng="1215076"/>
            </a:path>
          </a:pathLst>
        </a:custGeom>
        <a:noFill/>
        <a:ln w="12700" cap="flat" cmpd="sng" algn="ctr">
          <a:solidFill>
            <a:schemeClr val="accent2">
              <a:hueOff val="-10108284"/>
              <a:satOff val="17038"/>
              <a:lumOff val="-2086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8F8D60-33D9-49F0-AB3C-0ADEC468FC76}">
      <dsp:nvSpPr>
        <dsp:cNvPr id="0" name=""/>
        <dsp:cNvSpPr/>
      </dsp:nvSpPr>
      <dsp:spPr>
        <a:xfrm>
          <a:off x="1134222" y="1005586"/>
          <a:ext cx="1806225" cy="853231"/>
        </a:xfrm>
        <a:prstGeom prst="roundRect">
          <a:avLst/>
        </a:prstGeom>
        <a:solidFill>
          <a:schemeClr val="accent2">
            <a:hueOff val="-12635355"/>
            <a:satOff val="21297"/>
            <a:lumOff val="-2607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1900" kern="1200" dirty="0" smtClean="0"/>
            <a:t>UTI</a:t>
          </a:r>
          <a:endParaRPr lang="es-BO" sz="1900" kern="1200" dirty="0"/>
        </a:p>
      </dsp:txBody>
      <dsp:txXfrm>
        <a:off x="1175873" y="1047237"/>
        <a:ext cx="1722923" cy="769929"/>
      </dsp:txXfrm>
    </dsp:sp>
    <dsp:sp modelId="{64D790A6-036C-4875-97EB-E7F094831683}">
      <dsp:nvSpPr>
        <dsp:cNvPr id="0" name=""/>
        <dsp:cNvSpPr/>
      </dsp:nvSpPr>
      <dsp:spPr>
        <a:xfrm>
          <a:off x="1768150" y="427592"/>
          <a:ext cx="4018439" cy="4018439"/>
        </a:xfrm>
        <a:custGeom>
          <a:avLst/>
          <a:gdLst/>
          <a:ahLst/>
          <a:cxnLst/>
          <a:rect l="0" t="0" r="0" b="0"/>
          <a:pathLst>
            <a:path>
              <a:moveTo>
                <a:pt x="700822" y="484404"/>
              </a:moveTo>
              <a:arcTo wR="2009219" hR="2009219" stAng="13762087" swAng="715725"/>
            </a:path>
          </a:pathLst>
        </a:custGeom>
        <a:noFill/>
        <a:ln w="12700" cap="flat" cmpd="sng" algn="ctr">
          <a:solidFill>
            <a:schemeClr val="accent2">
              <a:hueOff val="-12635355"/>
              <a:satOff val="21297"/>
              <a:lumOff val="-2607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AF7A8F-233C-4EC8-8C0E-91DFA678E455}">
      <dsp:nvSpPr>
        <dsp:cNvPr id="0" name=""/>
        <dsp:cNvSpPr/>
      </dsp:nvSpPr>
      <dsp:spPr>
        <a:xfrm>
          <a:off x="1176292" y="1091"/>
          <a:ext cx="2435721" cy="146143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2600" kern="1200" dirty="0" err="1" smtClean="0">
              <a:solidFill>
                <a:schemeClr val="tx1"/>
              </a:solidFill>
            </a:rPr>
            <a:t>Ceftriaxona</a:t>
          </a:r>
          <a:r>
            <a:rPr lang="es-BO" sz="2600" kern="1200" dirty="0" smtClean="0">
              <a:solidFill>
                <a:schemeClr val="tx1"/>
              </a:solidFill>
            </a:rPr>
            <a:t> 1gr.c / 12 </a:t>
          </a:r>
          <a:r>
            <a:rPr lang="es-BO" sz="2600" kern="1200" dirty="0" err="1" smtClean="0">
              <a:solidFill>
                <a:schemeClr val="tx1"/>
              </a:solidFill>
            </a:rPr>
            <a:t>hrs</a:t>
          </a:r>
          <a:r>
            <a:rPr lang="es-BO" sz="2600" kern="1200" dirty="0" smtClean="0"/>
            <a:t>.</a:t>
          </a:r>
          <a:endParaRPr lang="es-BO" sz="2600" kern="1200" dirty="0"/>
        </a:p>
      </dsp:txBody>
      <dsp:txXfrm>
        <a:off x="1176292" y="1091"/>
        <a:ext cx="2435721" cy="1461432"/>
      </dsp:txXfrm>
    </dsp:sp>
    <dsp:sp modelId="{C4209CE7-BD6B-411C-B9A2-AEFA69638848}">
      <dsp:nvSpPr>
        <dsp:cNvPr id="0" name=""/>
        <dsp:cNvSpPr/>
      </dsp:nvSpPr>
      <dsp:spPr>
        <a:xfrm>
          <a:off x="3855586" y="1091"/>
          <a:ext cx="2435721" cy="1461432"/>
        </a:xfrm>
        <a:prstGeom prst="rect">
          <a:avLst/>
        </a:prstGeom>
        <a:solidFill>
          <a:schemeClr val="accent3">
            <a:hueOff val="593843"/>
            <a:satOff val="3198"/>
            <a:lumOff val="436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2600" kern="1200" dirty="0" err="1" smtClean="0">
              <a:solidFill>
                <a:schemeClr val="tx1"/>
              </a:solidFill>
            </a:rPr>
            <a:t>Ranitidina</a:t>
          </a:r>
          <a:r>
            <a:rPr lang="es-BO" sz="2600" kern="1200" dirty="0" smtClean="0">
              <a:solidFill>
                <a:schemeClr val="tx1"/>
              </a:solidFill>
            </a:rPr>
            <a:t> 50 mg c/ 8 </a:t>
          </a:r>
          <a:r>
            <a:rPr lang="es-BO" sz="2600" kern="1200" dirty="0" err="1" smtClean="0">
              <a:solidFill>
                <a:schemeClr val="tx1"/>
              </a:solidFill>
            </a:rPr>
            <a:t>hrs</a:t>
          </a:r>
          <a:endParaRPr lang="es-BO" sz="2600" kern="1200" dirty="0">
            <a:solidFill>
              <a:schemeClr val="tx1"/>
            </a:solidFill>
          </a:endParaRPr>
        </a:p>
      </dsp:txBody>
      <dsp:txXfrm>
        <a:off x="3855586" y="1091"/>
        <a:ext cx="2435721" cy="1461432"/>
      </dsp:txXfrm>
    </dsp:sp>
    <dsp:sp modelId="{18D6B47A-0C5D-46CC-A46D-0E03337BBBCA}">
      <dsp:nvSpPr>
        <dsp:cNvPr id="0" name=""/>
        <dsp:cNvSpPr/>
      </dsp:nvSpPr>
      <dsp:spPr>
        <a:xfrm>
          <a:off x="1176292" y="1706096"/>
          <a:ext cx="2435721" cy="1461432"/>
        </a:xfrm>
        <a:prstGeom prst="rect">
          <a:avLst/>
        </a:prstGeom>
        <a:solidFill>
          <a:schemeClr val="accent3">
            <a:hueOff val="1187685"/>
            <a:satOff val="6397"/>
            <a:lumOff val="87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2600" b="0" kern="1200" dirty="0" err="1" smtClean="0">
              <a:solidFill>
                <a:schemeClr val="tx1"/>
              </a:solidFill>
            </a:rPr>
            <a:t>Tramadol</a:t>
          </a:r>
          <a:r>
            <a:rPr lang="es-BO" sz="2600" b="0" kern="1200" dirty="0" smtClean="0">
              <a:solidFill>
                <a:schemeClr val="tx1"/>
              </a:solidFill>
            </a:rPr>
            <a:t> 100mg. c/ 12 </a:t>
          </a:r>
          <a:r>
            <a:rPr lang="es-BO" sz="2600" b="0" kern="1200" dirty="0" err="1" smtClean="0">
              <a:solidFill>
                <a:schemeClr val="tx1"/>
              </a:solidFill>
            </a:rPr>
            <a:t>hrs</a:t>
          </a:r>
          <a:r>
            <a:rPr lang="es-BO" sz="2600" b="0" kern="1200" dirty="0" smtClean="0">
              <a:solidFill>
                <a:schemeClr val="tx1"/>
              </a:solidFill>
            </a:rPr>
            <a:t>.</a:t>
          </a:r>
          <a:endParaRPr lang="es-BO" sz="2600" b="0" kern="1200" dirty="0">
            <a:solidFill>
              <a:schemeClr val="tx1"/>
            </a:solidFill>
          </a:endParaRPr>
        </a:p>
      </dsp:txBody>
      <dsp:txXfrm>
        <a:off x="1176292" y="1706096"/>
        <a:ext cx="2435721" cy="1461432"/>
      </dsp:txXfrm>
    </dsp:sp>
    <dsp:sp modelId="{53089D2C-7225-4CDB-A725-293363909C44}">
      <dsp:nvSpPr>
        <dsp:cNvPr id="0" name=""/>
        <dsp:cNvSpPr/>
      </dsp:nvSpPr>
      <dsp:spPr>
        <a:xfrm>
          <a:off x="3855586" y="1706096"/>
          <a:ext cx="2435721" cy="1461432"/>
        </a:xfrm>
        <a:prstGeom prst="rect">
          <a:avLst/>
        </a:prstGeom>
        <a:solidFill>
          <a:schemeClr val="accent3">
            <a:hueOff val="1781528"/>
            <a:satOff val="9595"/>
            <a:lumOff val="1308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2600" b="0" kern="1200" dirty="0" err="1" smtClean="0">
              <a:solidFill>
                <a:schemeClr val="tx1"/>
              </a:solidFill>
            </a:rPr>
            <a:t>Vit</a:t>
          </a:r>
          <a:r>
            <a:rPr lang="es-BO" sz="2600" b="0" kern="1200" dirty="0" smtClean="0">
              <a:solidFill>
                <a:schemeClr val="tx1"/>
              </a:solidFill>
            </a:rPr>
            <a:t>. K c/ 12 </a:t>
          </a:r>
          <a:r>
            <a:rPr lang="es-BO" sz="2600" b="0" kern="1200" dirty="0" err="1" smtClean="0">
              <a:solidFill>
                <a:schemeClr val="tx1"/>
              </a:solidFill>
            </a:rPr>
            <a:t>hrs</a:t>
          </a:r>
          <a:endParaRPr lang="es-BO" sz="2600" b="0" kern="1200" dirty="0">
            <a:solidFill>
              <a:schemeClr val="tx1"/>
            </a:solidFill>
          </a:endParaRPr>
        </a:p>
      </dsp:txBody>
      <dsp:txXfrm>
        <a:off x="3855586" y="1706096"/>
        <a:ext cx="2435721" cy="1461432"/>
      </dsp:txXfrm>
    </dsp:sp>
    <dsp:sp modelId="{19E49FDC-2058-486F-A948-57CE97DA6CB4}">
      <dsp:nvSpPr>
        <dsp:cNvPr id="0" name=""/>
        <dsp:cNvSpPr/>
      </dsp:nvSpPr>
      <dsp:spPr>
        <a:xfrm>
          <a:off x="2515939" y="3411100"/>
          <a:ext cx="2435721" cy="1461432"/>
        </a:xfrm>
        <a:prstGeom prst="rect">
          <a:avLst/>
        </a:prstGeom>
        <a:solidFill>
          <a:schemeClr val="accent3">
            <a:hueOff val="2375370"/>
            <a:satOff val="12794"/>
            <a:lumOff val="174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2600" kern="1200" dirty="0" smtClean="0">
              <a:solidFill>
                <a:schemeClr val="tx1"/>
              </a:solidFill>
            </a:rPr>
            <a:t>Sol. FSL.  Con diclofenaco c/12 </a:t>
          </a:r>
          <a:r>
            <a:rPr lang="es-BO" sz="2600" kern="1200" dirty="0" err="1" smtClean="0">
              <a:solidFill>
                <a:schemeClr val="tx1"/>
              </a:solidFill>
            </a:rPr>
            <a:t>hrs</a:t>
          </a:r>
          <a:r>
            <a:rPr lang="es-BO" sz="2600" kern="1200" dirty="0" smtClean="0">
              <a:solidFill>
                <a:schemeClr val="tx1"/>
              </a:solidFill>
            </a:rPr>
            <a:t>.</a:t>
          </a:r>
          <a:endParaRPr lang="es-BO" sz="2600" kern="1200" dirty="0">
            <a:solidFill>
              <a:schemeClr val="tx1"/>
            </a:solidFill>
          </a:endParaRPr>
        </a:p>
      </dsp:txBody>
      <dsp:txXfrm>
        <a:off x="2515939" y="3411100"/>
        <a:ext cx="2435721" cy="14614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5678BAF6-4CFE-4555-A988-1E3A5C6D533C}" type="datetimeFigureOut">
              <a:rPr lang="es-BO" smtClean="0"/>
              <a:t>17/12/2014</a:t>
            </a:fld>
            <a:endParaRPr lang="es-BO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s-BO"/>
          </a:p>
        </p:txBody>
      </p:sp>
      <p:sp>
        <p:nvSpPr>
          <p:cNvPr id="10" name="9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18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21 Conector recto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26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23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Elipse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24 Elipse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2AD9E129-2DD9-424C-9ED9-EF35E0535904}" type="slidenum">
              <a:rPr lang="es-BO" smtClean="0"/>
              <a:t>‹Nº›</a:t>
            </a:fld>
            <a:endParaRPr lang="es-B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678BAF6-4CFE-4555-A988-1E3A5C6D533C}" type="datetimeFigureOut">
              <a:rPr lang="es-BO" smtClean="0"/>
              <a:t>17/12/2014</a:t>
            </a:fld>
            <a:endParaRPr lang="es-B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AD9E129-2DD9-424C-9ED9-EF35E0535904}" type="slidenum">
              <a:rPr lang="es-BO" smtClean="0"/>
              <a:t>‹Nº›</a:t>
            </a:fld>
            <a:endParaRPr lang="es-BO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5678BAF6-4CFE-4555-A988-1E3A5C6D533C}" type="datetimeFigureOut">
              <a:rPr lang="es-BO" smtClean="0"/>
              <a:t>17/12/2014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s-BO"/>
          </a:p>
        </p:txBody>
      </p:sp>
      <p:sp>
        <p:nvSpPr>
          <p:cNvPr id="9" name="8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16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18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19 Elipse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Elipse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Conector recto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2AD9E129-2DD9-424C-9ED9-EF35E0535904}" type="slidenum">
              <a:rPr lang="es-BO" smtClean="0"/>
              <a:t>‹Nº›</a:t>
            </a:fld>
            <a:endParaRPr lang="es-B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8BAF6-4CFE-4555-A988-1E3A5C6D533C}" type="datetimeFigureOut">
              <a:rPr lang="es-BO" smtClean="0"/>
              <a:t>17/12/2014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E129-2DD9-424C-9ED9-EF35E0535904}" type="slidenum">
              <a:rPr lang="es-BO" smtClean="0"/>
              <a:t>‹Nº›</a:t>
            </a:fld>
            <a:endParaRPr lang="es-BO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8BAF6-4CFE-4555-A988-1E3A5C6D533C}" type="datetimeFigureOut">
              <a:rPr lang="es-BO" smtClean="0"/>
              <a:t>17/12/2014</a:t>
            </a:fld>
            <a:endParaRPr lang="es-B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E129-2DD9-424C-9ED9-EF35E0535904}" type="slidenum">
              <a:rPr lang="es-BO" smtClean="0"/>
              <a:t>‹Nº›</a:t>
            </a:fld>
            <a:endParaRPr lang="es-BO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2" name="11 Marcador de texto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4" name="13 Marcador de texto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6" name="5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678BAF6-4CFE-4555-A988-1E3A5C6D533C}" type="datetimeFigureOut">
              <a:rPr lang="es-BO" smtClean="0"/>
              <a:t>17/12/2014</a:t>
            </a:fld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AD9E129-2DD9-424C-9ED9-EF35E0535904}" type="slidenum">
              <a:rPr lang="es-BO" smtClean="0"/>
              <a:t>‹Nº›</a:t>
            </a:fld>
            <a:endParaRPr lang="es-B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8BAF6-4CFE-4555-A988-1E3A5C6D533C}" type="datetimeFigureOut">
              <a:rPr lang="es-BO" smtClean="0"/>
              <a:t>17/12/2014</a:t>
            </a:fld>
            <a:endParaRPr lang="es-B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E129-2DD9-424C-9ED9-EF35E0535904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17 Marcador de contenido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1" name="20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678BAF6-4CFE-4555-A988-1E3A5C6D533C}" type="datetimeFigureOut">
              <a:rPr lang="es-BO" smtClean="0"/>
              <a:t>17/12/2014</a:t>
            </a:fld>
            <a:endParaRPr lang="es-BO"/>
          </a:p>
        </p:txBody>
      </p:sp>
      <p:sp>
        <p:nvSpPr>
          <p:cNvPr id="22" name="21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AD9E129-2DD9-424C-9ED9-EF35E0535904}" type="slidenum">
              <a:rPr lang="es-BO" smtClean="0"/>
              <a:t>‹Nº›</a:t>
            </a:fld>
            <a:endParaRPr lang="es-BO"/>
          </a:p>
        </p:txBody>
      </p:sp>
      <p:sp>
        <p:nvSpPr>
          <p:cNvPr id="23" name="22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s-B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12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18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16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678BAF6-4CFE-4555-A988-1E3A5C6D533C}" type="datetimeFigureOut">
              <a:rPr lang="es-BO" smtClean="0"/>
              <a:t>17/12/2014</a:t>
            </a:fld>
            <a:endParaRPr lang="es-BO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AD9E129-2DD9-424C-9ED9-EF35E0535904}" type="slidenum">
              <a:rPr lang="es-BO" smtClean="0"/>
              <a:t>‹Nº›</a:t>
            </a:fld>
            <a:endParaRPr lang="es-BO"/>
          </a:p>
        </p:txBody>
      </p:sp>
      <p:sp>
        <p:nvSpPr>
          <p:cNvPr id="21" name="20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B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8BAF6-4CFE-4555-A988-1E3A5C6D533C}" type="datetimeFigureOut">
              <a:rPr lang="es-BO" smtClean="0"/>
              <a:t>17/12/2014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E129-2DD9-424C-9ED9-EF35E0535904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8BAF6-4CFE-4555-A988-1E3A5C6D533C}" type="datetimeFigureOut">
              <a:rPr lang="es-BO" smtClean="0"/>
              <a:t>17/12/2014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E129-2DD9-424C-9ED9-EF35E0535904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678BAF6-4CFE-4555-A988-1E3A5C6D533C}" type="datetimeFigureOut">
              <a:rPr lang="es-BO" smtClean="0"/>
              <a:t>17/12/2014</a:t>
            </a:fld>
            <a:endParaRPr lang="es-B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s-BO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AD9E129-2DD9-424C-9ED9-EF35E0535904}" type="slidenum">
              <a:rPr lang="es-BO" smtClean="0"/>
              <a:t>‹Nº›</a:t>
            </a:fld>
            <a:endParaRPr lang="es-B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286000" y="1196752"/>
            <a:ext cx="6172200" cy="2952328"/>
          </a:xfrm>
        </p:spPr>
        <p:txBody>
          <a:bodyPr>
            <a:normAutofit/>
          </a:bodyPr>
          <a:lstStyle/>
          <a:p>
            <a:pPr algn="ctr"/>
            <a:r>
              <a:rPr lang="es-BO" dirty="0" smtClean="0"/>
              <a:t>PROCESO DE ATENCION DE ENFERMERIA</a:t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827584" y="5229200"/>
            <a:ext cx="6944816" cy="1368152"/>
          </a:xfrm>
        </p:spPr>
        <p:txBody>
          <a:bodyPr>
            <a:normAutofit/>
          </a:bodyPr>
          <a:lstStyle/>
          <a:p>
            <a:pPr algn="r"/>
            <a:r>
              <a:rPr lang="es-BO" dirty="0" smtClean="0"/>
              <a:t>Elaborado por:  Lic. Lilian Zapata Claros</a:t>
            </a:r>
          </a:p>
          <a:p>
            <a:pPr algn="r"/>
            <a:endParaRPr lang="es-BO" dirty="0" smtClean="0"/>
          </a:p>
          <a:p>
            <a:pPr algn="ctr"/>
            <a:r>
              <a:rPr lang="es-BO" dirty="0" err="1" smtClean="0"/>
              <a:t>Cbba</a:t>
            </a:r>
            <a:r>
              <a:rPr lang="es-BO" dirty="0" smtClean="0"/>
              <a:t>, 17 de diciembre del 2014</a:t>
            </a:r>
            <a:endParaRPr lang="es-BO" dirty="0"/>
          </a:p>
        </p:txBody>
      </p:sp>
      <p:pic>
        <p:nvPicPr>
          <p:cNvPr id="4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764704"/>
            <a:ext cx="3107432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358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BO" dirty="0" smtClean="0"/>
              <a:t>Datos generales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BO" b="1" dirty="0"/>
              <a:t>Nombre: E. J. V.</a:t>
            </a:r>
            <a:endParaRPr lang="es-BO" dirty="0"/>
          </a:p>
          <a:p>
            <a:r>
              <a:rPr lang="es-BO" b="1" dirty="0"/>
              <a:t>Edad: 18 años</a:t>
            </a:r>
            <a:endParaRPr lang="es-BO" dirty="0"/>
          </a:p>
          <a:p>
            <a:r>
              <a:rPr lang="es-BO" b="1" dirty="0"/>
              <a:t>Procedencia:</a:t>
            </a:r>
            <a:r>
              <a:rPr lang="es-BO" dirty="0"/>
              <a:t> </a:t>
            </a:r>
            <a:r>
              <a:rPr lang="es-BO" dirty="0" err="1"/>
              <a:t>Shinaota</a:t>
            </a:r>
            <a:r>
              <a:rPr lang="es-BO" dirty="0"/>
              <a:t> - Chapare</a:t>
            </a:r>
          </a:p>
          <a:p>
            <a:r>
              <a:rPr lang="es-BO" b="1" dirty="0"/>
              <a:t>Sexo:</a:t>
            </a:r>
            <a:r>
              <a:rPr lang="es-BO" dirty="0"/>
              <a:t> Masculino.</a:t>
            </a:r>
          </a:p>
          <a:p>
            <a:r>
              <a:rPr lang="es-BO" b="1" dirty="0"/>
              <a:t>Estado Civil: </a:t>
            </a:r>
            <a:r>
              <a:rPr lang="es-BO" dirty="0"/>
              <a:t>soltero</a:t>
            </a:r>
          </a:p>
          <a:p>
            <a:r>
              <a:rPr lang="es-BO" b="1" dirty="0"/>
              <a:t>Ocupación:</a:t>
            </a:r>
            <a:r>
              <a:rPr lang="es-BO" dirty="0"/>
              <a:t> agricultor</a:t>
            </a:r>
          </a:p>
          <a:p>
            <a:r>
              <a:rPr lang="es-BO" b="1" dirty="0"/>
              <a:t>Fecha de nacimiento:</a:t>
            </a:r>
            <a:r>
              <a:rPr lang="es-BO" dirty="0"/>
              <a:t> 21/09/96 </a:t>
            </a:r>
          </a:p>
          <a:p>
            <a:r>
              <a:rPr lang="es-BO" b="1" dirty="0"/>
              <a:t>Sala:</a:t>
            </a:r>
            <a:r>
              <a:rPr lang="es-BO" dirty="0"/>
              <a:t> 250 – 4.</a:t>
            </a:r>
          </a:p>
          <a:p>
            <a:r>
              <a:rPr lang="es-BO" b="1" dirty="0"/>
              <a:t>Fecha de ingreso: 7 – 11- 14</a:t>
            </a:r>
            <a:endParaRPr lang="es-BO" dirty="0"/>
          </a:p>
          <a:p>
            <a:r>
              <a:rPr lang="es-BO" b="1" dirty="0"/>
              <a:t>Fecha de valoración: 10/11/14</a:t>
            </a:r>
            <a:r>
              <a:rPr lang="es-BO" dirty="0"/>
              <a:t>.     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714051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contenido"/>
          <p:cNvSpPr>
            <a:spLocks noGrp="1"/>
          </p:cNvSpPr>
          <p:nvPr>
            <p:ph sz="quarter" idx="2"/>
          </p:nvPr>
        </p:nvSpPr>
        <p:spPr>
          <a:xfrm>
            <a:off x="539552" y="1844824"/>
            <a:ext cx="3575248" cy="4403576"/>
          </a:xfrm>
        </p:spPr>
        <p:txBody>
          <a:bodyPr/>
          <a:lstStyle/>
          <a:p>
            <a:pPr lvl="0"/>
            <a:r>
              <a:rPr lang="es-BO" dirty="0"/>
              <a:t>Politraumatismo </a:t>
            </a:r>
          </a:p>
          <a:p>
            <a:pPr lvl="0"/>
            <a:r>
              <a:rPr lang="es-BO" dirty="0"/>
              <a:t>Tórax inestable </a:t>
            </a:r>
          </a:p>
          <a:p>
            <a:pPr lvl="0"/>
            <a:r>
              <a:rPr lang="es-BO" dirty="0"/>
              <a:t>Fractura de tibia y peroné derecho</a:t>
            </a:r>
          </a:p>
          <a:p>
            <a:pPr lvl="0"/>
            <a:r>
              <a:rPr lang="es-BO" dirty="0" err="1"/>
              <a:t>Tec</a:t>
            </a:r>
            <a:r>
              <a:rPr lang="es-BO" dirty="0"/>
              <a:t> moderado</a:t>
            </a:r>
          </a:p>
          <a:p>
            <a:pPr marL="0" indent="0">
              <a:buNone/>
            </a:pPr>
            <a:endParaRPr lang="es-BO" dirty="0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lvl="0"/>
            <a:r>
              <a:rPr lang="es-BO" dirty="0"/>
              <a:t>Politraumatismo</a:t>
            </a:r>
          </a:p>
          <a:p>
            <a:pPr lvl="0"/>
            <a:r>
              <a:rPr lang="es-BO" dirty="0" err="1"/>
              <a:t>Fx</a:t>
            </a:r>
            <a:r>
              <a:rPr lang="es-BO" dirty="0"/>
              <a:t> de tibia  derecha</a:t>
            </a:r>
          </a:p>
          <a:p>
            <a:pPr lvl="0"/>
            <a:r>
              <a:rPr lang="es-BO" dirty="0"/>
              <a:t> tórax inestable.</a:t>
            </a:r>
          </a:p>
          <a:p>
            <a:pPr lvl="0"/>
            <a:r>
              <a:rPr lang="es-BO" dirty="0" err="1"/>
              <a:t>Pleurostomia</a:t>
            </a:r>
            <a:r>
              <a:rPr lang="es-BO" dirty="0"/>
              <a:t> bilateral en resolución.</a:t>
            </a:r>
          </a:p>
          <a:p>
            <a:endParaRPr lang="es-BO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1"/>
          </p:nvPr>
        </p:nvSpPr>
        <p:spPr>
          <a:xfrm>
            <a:off x="457200" y="764704"/>
            <a:ext cx="3657600" cy="720080"/>
          </a:xfrm>
        </p:spPr>
        <p:txBody>
          <a:bodyPr/>
          <a:lstStyle/>
          <a:p>
            <a:r>
              <a:rPr lang="es-BO" dirty="0" smtClean="0"/>
              <a:t>DX. DE INGRESO</a:t>
            </a:r>
            <a:endParaRPr lang="es-BO" dirty="0"/>
          </a:p>
        </p:txBody>
      </p:sp>
      <p:sp>
        <p:nvSpPr>
          <p:cNvPr id="7" name="6 Marcador de texto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BO" dirty="0" smtClean="0"/>
              <a:t>DX. ACTUAL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693513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611560" y="692696"/>
            <a:ext cx="7560840" cy="5781256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s-BO" b="1" dirty="0"/>
              <a:t>HISTORIA MEDICA:</a:t>
            </a:r>
            <a:endParaRPr lang="es-BO" dirty="0"/>
          </a:p>
          <a:p>
            <a:r>
              <a:rPr lang="es-BO" b="1" dirty="0"/>
              <a:t>Fuente: </a:t>
            </a:r>
            <a:r>
              <a:rPr lang="es-BO" dirty="0"/>
              <a:t>paciente que amerita confianza</a:t>
            </a:r>
          </a:p>
          <a:p>
            <a:pPr marL="0" indent="0">
              <a:buNone/>
            </a:pPr>
            <a:endParaRPr lang="es-BO" dirty="0"/>
          </a:p>
          <a:p>
            <a:pPr lvl="0"/>
            <a:r>
              <a:rPr lang="es-BO" b="1" dirty="0"/>
              <a:t>MOTIVO DE CONSULTA:</a:t>
            </a:r>
            <a:endParaRPr lang="es-BO" dirty="0"/>
          </a:p>
          <a:p>
            <a:r>
              <a:rPr lang="es-BO" dirty="0"/>
              <a:t>Accidente de tránsito</a:t>
            </a:r>
            <a:r>
              <a:rPr lang="es-BO" dirty="0" smtClean="0"/>
              <a:t>.</a:t>
            </a:r>
          </a:p>
          <a:p>
            <a:pPr marL="0" indent="0">
              <a:buNone/>
            </a:pPr>
            <a:endParaRPr lang="es-BO" dirty="0"/>
          </a:p>
          <a:p>
            <a:pPr lvl="0"/>
            <a:r>
              <a:rPr lang="es-BO" b="1" dirty="0"/>
              <a:t>ENFERMEDAD ACTUAL:</a:t>
            </a:r>
            <a:endParaRPr lang="es-BO" dirty="0"/>
          </a:p>
          <a:p>
            <a:r>
              <a:rPr lang="es-BO" dirty="0"/>
              <a:t>Cuadro clínico de más o menos  horas de evolución caracterizado por excoriaciones en región cervical derecho y en región torácica, disnea a mediano esfuerzo de inicio  súbdito posterior a accidente de tránsito. Paciente se encontraba manejando motocicleta en la carretera de Villa </a:t>
            </a:r>
            <a:r>
              <a:rPr lang="es-BO" dirty="0" err="1"/>
              <a:t>Tunari</a:t>
            </a:r>
            <a:r>
              <a:rPr lang="es-BO" dirty="0"/>
              <a:t> a alta velocidad</a:t>
            </a:r>
            <a:r>
              <a:rPr lang="es-BO" b="1" dirty="0"/>
              <a:t> </a:t>
            </a:r>
            <a:r>
              <a:rPr lang="es-BO" dirty="0"/>
              <a:t>es envestido por un camión tráiler de alto tonelaje. No refiere perdida del conocimiento ni vómitos. 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13433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1052736"/>
            <a:ext cx="7467600" cy="5421216"/>
          </a:xfrm>
        </p:spPr>
        <p:txBody>
          <a:bodyPr/>
          <a:lstStyle/>
          <a:p>
            <a:pPr lvl="0"/>
            <a:r>
              <a:rPr lang="es-BO" b="1" dirty="0"/>
              <a:t>ANTECEDENTES </a:t>
            </a:r>
            <a:r>
              <a:rPr lang="es-BO" b="1" dirty="0" smtClean="0"/>
              <a:t>FAMILIARES</a:t>
            </a:r>
          </a:p>
          <a:p>
            <a:pPr marL="0" lvl="0" indent="0">
              <a:buNone/>
            </a:pPr>
            <a:endParaRPr lang="es-BO" dirty="0"/>
          </a:p>
          <a:p>
            <a:r>
              <a:rPr lang="es-BO" b="1" dirty="0"/>
              <a:t>MADRE: </a:t>
            </a:r>
            <a:r>
              <a:rPr lang="es-BO" dirty="0"/>
              <a:t>vive aparentemente sana</a:t>
            </a:r>
          </a:p>
          <a:p>
            <a:r>
              <a:rPr lang="es-BO" b="1" dirty="0"/>
              <a:t>PADRE: </a:t>
            </a:r>
            <a:r>
              <a:rPr lang="es-BO" dirty="0"/>
              <a:t>no lo conoce, tiene su padrastro aparentemente sano.</a:t>
            </a:r>
          </a:p>
          <a:p>
            <a:r>
              <a:rPr lang="es-BO" b="1" dirty="0"/>
              <a:t>HERMANOS: </a:t>
            </a:r>
            <a:r>
              <a:rPr lang="es-BO" dirty="0"/>
              <a:t>4 hermanos: 3 varones y 1 mujer 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849544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s-BO" b="1" dirty="0"/>
              <a:t>ANTECEDENTES PERSONALES PATOLÓGICOS</a:t>
            </a:r>
            <a:r>
              <a:rPr lang="es-BO" b="1" dirty="0" smtClean="0"/>
              <a:t>.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s-BO" b="1" dirty="0" smtClean="0"/>
              <a:t>Clínicos</a:t>
            </a:r>
            <a:r>
              <a:rPr lang="es-BO" b="1" dirty="0"/>
              <a:t>.-</a:t>
            </a:r>
            <a:r>
              <a:rPr lang="es-BO" dirty="0"/>
              <a:t> El paciente refiere que jamás  se internó en un hospital o centro de salud ya que no padeció enfermedades graves. Cuenta que es la primera vez que se internó y que siente miedo por lo que vaya a pasar con su enfermedad actual.</a:t>
            </a:r>
          </a:p>
          <a:p>
            <a:pPr lvl="0"/>
            <a:r>
              <a:rPr lang="es-BO" b="1" dirty="0"/>
              <a:t>Quirúrgico.-</a:t>
            </a:r>
            <a:r>
              <a:rPr lang="es-BO" dirty="0"/>
              <a:t>  Paciente refiere que es la primera cirugía que le realizan.</a:t>
            </a:r>
          </a:p>
          <a:p>
            <a:pPr lvl="0"/>
            <a:r>
              <a:rPr lang="es-BO" b="1" dirty="0" smtClean="0"/>
              <a:t>Hospitalización.</a:t>
            </a:r>
            <a:r>
              <a:rPr lang="es-BO" dirty="0" smtClean="0"/>
              <a:t>- </a:t>
            </a:r>
            <a:r>
              <a:rPr lang="es-BO" dirty="0"/>
              <a:t>indica que es la primera vez que se interna. 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701199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s-BO" b="1" dirty="0"/>
              <a:t>ANTECEDENTES PERSONALES NO PATOLÓGICOS</a:t>
            </a:r>
            <a:r>
              <a:rPr lang="es-BO" b="1" dirty="0" smtClean="0"/>
              <a:t>.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BO" b="1" dirty="0" smtClean="0"/>
              <a:t>Vivienda</a:t>
            </a:r>
            <a:r>
              <a:rPr lang="es-BO" b="1" dirty="0"/>
              <a:t>:</a:t>
            </a:r>
            <a:r>
              <a:rPr lang="es-BO" dirty="0"/>
              <a:t> en alquiler y cuenta con todos los servicios básicos. </a:t>
            </a:r>
          </a:p>
          <a:p>
            <a:r>
              <a:rPr lang="es-BO" b="1" dirty="0"/>
              <a:t>Hábitos alimenticios:</a:t>
            </a:r>
            <a:r>
              <a:rPr lang="es-BO" dirty="0"/>
              <a:t> basada en carbohidratos, variada y alimentándose 3 veces al día. </a:t>
            </a:r>
          </a:p>
          <a:p>
            <a:r>
              <a:rPr lang="es-BO" b="1" dirty="0"/>
              <a:t>Tabaco.-</a:t>
            </a:r>
            <a:r>
              <a:rPr lang="es-BO" dirty="0"/>
              <a:t> no refiere, ni coca y tampoco drogas</a:t>
            </a:r>
          </a:p>
          <a:p>
            <a:r>
              <a:rPr lang="es-BO" b="1" dirty="0"/>
              <a:t>Alcohol.-</a:t>
            </a:r>
            <a:r>
              <a:rPr lang="es-BO" dirty="0"/>
              <a:t> bebe ocasionalmente.</a:t>
            </a:r>
          </a:p>
          <a:p>
            <a:r>
              <a:rPr lang="es-BO" b="1" dirty="0"/>
              <a:t>Alergias.-</a:t>
            </a:r>
            <a:r>
              <a:rPr lang="es-BO" dirty="0"/>
              <a:t> no refiere.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2457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s-BO" b="1" dirty="0"/>
              <a:t>EXAMEN FÍSICO GENERAL. 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1412776"/>
            <a:ext cx="7467600" cy="506117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s-BO" dirty="0"/>
          </a:p>
          <a:p>
            <a:r>
              <a:rPr lang="es-BO" b="1" dirty="0"/>
              <a:t>CABEZA: </a:t>
            </a:r>
            <a:r>
              <a:rPr lang="es-BO" dirty="0"/>
              <a:t>normo céfalo de</a:t>
            </a:r>
            <a:r>
              <a:rPr lang="es-BO" b="1" dirty="0"/>
              <a:t> </a:t>
            </a:r>
            <a:r>
              <a:rPr lang="es-BO" dirty="0"/>
              <a:t> Implantación pilosa normal, androide, cabello negro lacio corto.</a:t>
            </a:r>
          </a:p>
          <a:p>
            <a:r>
              <a:rPr lang="es-BO" b="1" dirty="0"/>
              <a:t>OJOS:</a:t>
            </a:r>
            <a:r>
              <a:rPr lang="es-BO" dirty="0"/>
              <a:t> Pupilas isocoricas fotoreactivas, conjuntiva palpebral pálidas húmedas.</a:t>
            </a:r>
          </a:p>
          <a:p>
            <a:r>
              <a:rPr lang="es-BO" b="1" dirty="0"/>
              <a:t>OIDOS: </a:t>
            </a:r>
            <a:r>
              <a:rPr lang="es-BO" dirty="0"/>
              <a:t>Implantación simétrica, conducto auditivo izquierdo con presencia de cerumen, lado derecho con excoriaciones en proceso de cicatrización más laceraciones del pabellón.</a:t>
            </a:r>
          </a:p>
          <a:p>
            <a:r>
              <a:rPr lang="es-BO" b="1" dirty="0"/>
              <a:t>NARIZ:</a:t>
            </a:r>
            <a:r>
              <a:rPr lang="es-BO" dirty="0"/>
              <a:t> Simétrica, fosas nasales permeables con presencia puntas nasales, recibiendo oxígeno a 2 litros por minuto.</a:t>
            </a:r>
          </a:p>
          <a:p>
            <a:r>
              <a:rPr lang="es-BO" b="1" dirty="0"/>
              <a:t>BOCA:</a:t>
            </a:r>
            <a:r>
              <a:rPr lang="es-BO" dirty="0"/>
              <a:t> simétrica mediana, mucosas ligeramente pálidas </a:t>
            </a:r>
            <a:r>
              <a:rPr lang="es-BO" dirty="0" err="1"/>
              <a:t>normohidratadas</a:t>
            </a:r>
            <a:r>
              <a:rPr lang="es-BO" dirty="0"/>
              <a:t>.</a:t>
            </a:r>
          </a:p>
          <a:p>
            <a:r>
              <a:rPr lang="es-BO" b="1" dirty="0"/>
              <a:t>DIENTES:</a:t>
            </a:r>
            <a:r>
              <a:rPr lang="es-BO" dirty="0"/>
              <a:t> completos, con presencia de caries y halitosis. </a:t>
            </a:r>
          </a:p>
          <a:p>
            <a:r>
              <a:rPr lang="es-BO" b="1" dirty="0"/>
              <a:t>CUELLO: </a:t>
            </a:r>
            <a:r>
              <a:rPr lang="es-BO" dirty="0"/>
              <a:t>Cilindro, simétrico, móvil, no se palpan adenopatías, con excoriaciones en región cara lateral derecha del cuello.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858991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50106"/>
          </a:xfrm>
        </p:spPr>
        <p:txBody>
          <a:bodyPr/>
          <a:lstStyle/>
          <a:p>
            <a:r>
              <a:rPr lang="es-BO" dirty="0" smtClean="0"/>
              <a:t>Examen físico general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7467600" cy="5277200"/>
          </a:xfrm>
        </p:spPr>
        <p:txBody>
          <a:bodyPr>
            <a:normAutofit fontScale="70000" lnSpcReduction="20000"/>
          </a:bodyPr>
          <a:lstStyle/>
          <a:p>
            <a:r>
              <a:rPr lang="es-BO" b="1" dirty="0"/>
              <a:t>TORAX:</a:t>
            </a:r>
            <a:r>
              <a:rPr lang="es-BO" dirty="0"/>
              <a:t> Parrilla costal simétrica, elasticidad y expansibilidad disminuida, presencia de tubo de tórax bilateral con debito </a:t>
            </a:r>
            <a:r>
              <a:rPr lang="es-BO" dirty="0" err="1"/>
              <a:t>sero</a:t>
            </a:r>
            <a:r>
              <a:rPr lang="es-BO" dirty="0"/>
              <a:t> hemático en escasa cantidad lado derecho sin débito y lado izquierdo 300 </a:t>
            </a:r>
            <a:r>
              <a:rPr lang="es-BO" dirty="0" err="1"/>
              <a:t>cc.</a:t>
            </a:r>
            <a:r>
              <a:rPr lang="es-BO" dirty="0"/>
              <a:t> Doloroso a la palpación. También se observa vía central en regio subclavia derecha permeable de doble lumen, ingresando solución  fisiológica. A la auscultación murmullo vesicular disminuido.</a:t>
            </a:r>
          </a:p>
          <a:p>
            <a:r>
              <a:rPr lang="es-BO" b="1" dirty="0"/>
              <a:t>CORAZON:</a:t>
            </a:r>
            <a:r>
              <a:rPr lang="es-BO" dirty="0"/>
              <a:t> Rítmico, regular, normo fonético.</a:t>
            </a:r>
          </a:p>
          <a:p>
            <a:r>
              <a:rPr lang="es-BO" b="1" dirty="0"/>
              <a:t>ABDOMEN:</a:t>
            </a:r>
            <a:r>
              <a:rPr lang="es-BO" dirty="0"/>
              <a:t> blando depresible, no doloroso a la palpación a la palpación profunda, ruidos </a:t>
            </a:r>
            <a:r>
              <a:rPr lang="es-BO" dirty="0" err="1"/>
              <a:t>hidroaereos</a:t>
            </a:r>
            <a:r>
              <a:rPr lang="es-BO" dirty="0"/>
              <a:t> presentes.</a:t>
            </a:r>
          </a:p>
          <a:p>
            <a:r>
              <a:rPr lang="es-BO" b="1" dirty="0"/>
              <a:t>GENITOURINARIO: </a:t>
            </a:r>
            <a:r>
              <a:rPr lang="es-BO" dirty="0"/>
              <a:t>De sexo masculino con presencia de vello púbico, se evidencia presencia de sonda Foley a caída libre conectado a bolsa colectora, se observa orina </a:t>
            </a:r>
            <a:r>
              <a:rPr lang="es-BO" dirty="0" err="1"/>
              <a:t>colurica</a:t>
            </a:r>
            <a:r>
              <a:rPr lang="es-BO" dirty="0"/>
              <a:t>.</a:t>
            </a:r>
          </a:p>
          <a:p>
            <a:r>
              <a:rPr lang="es-BO" b="1" dirty="0"/>
              <a:t>EXTREMIDADES:</a:t>
            </a:r>
            <a:r>
              <a:rPr lang="es-BO" dirty="0"/>
              <a:t> </a:t>
            </a:r>
          </a:p>
          <a:p>
            <a:r>
              <a:rPr lang="es-BO" dirty="0"/>
              <a:t>Superiores: tono y </a:t>
            </a:r>
            <a:r>
              <a:rPr lang="es-BO" dirty="0" err="1"/>
              <a:t>trofismo</a:t>
            </a:r>
            <a:r>
              <a:rPr lang="es-BO" dirty="0"/>
              <a:t> conservado con arco de movimientos disminuido por el dolor.</a:t>
            </a:r>
          </a:p>
          <a:p>
            <a:r>
              <a:rPr lang="es-BO" dirty="0"/>
              <a:t>Inferiores:</a:t>
            </a:r>
          </a:p>
          <a:p>
            <a:r>
              <a:rPr lang="es-BO" dirty="0"/>
              <a:t>Izquierda.- tono y </a:t>
            </a:r>
            <a:r>
              <a:rPr lang="es-BO" dirty="0" err="1"/>
              <a:t>trofismo</a:t>
            </a:r>
            <a:r>
              <a:rPr lang="es-BO" dirty="0"/>
              <a:t> disminuido.</a:t>
            </a:r>
          </a:p>
          <a:p>
            <a:r>
              <a:rPr lang="es-BO" dirty="0"/>
              <a:t>Derecho. Se observa férula </a:t>
            </a:r>
            <a:r>
              <a:rPr lang="es-BO" dirty="0" err="1"/>
              <a:t>curvopedica</a:t>
            </a:r>
            <a:r>
              <a:rPr lang="es-BO" dirty="0"/>
              <a:t> con vendaje de gasa manchado externamente, </a:t>
            </a:r>
            <a:r>
              <a:rPr lang="es-BO" dirty="0" err="1"/>
              <a:t>neurocirculatorio</a:t>
            </a:r>
            <a:r>
              <a:rPr lang="es-BO" dirty="0"/>
              <a:t> conservado, movimiento disminuido, tono y </a:t>
            </a:r>
            <a:r>
              <a:rPr lang="es-BO" dirty="0" err="1"/>
              <a:t>trofismo</a:t>
            </a:r>
            <a:r>
              <a:rPr lang="es-BO" dirty="0"/>
              <a:t> disminuido.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344706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contenido"/>
          <p:cNvSpPr>
            <a:spLocks noGrp="1"/>
          </p:cNvSpPr>
          <p:nvPr>
            <p:ph sz="quarter" idx="2"/>
          </p:nvPr>
        </p:nvSpPr>
        <p:spPr>
          <a:xfrm>
            <a:off x="467544" y="1484784"/>
            <a:ext cx="3647256" cy="4763616"/>
          </a:xfrm>
        </p:spPr>
        <p:txBody>
          <a:bodyPr>
            <a:normAutofit fontScale="62500" lnSpcReduction="20000"/>
          </a:bodyPr>
          <a:lstStyle/>
          <a:p>
            <a:pPr lvl="0"/>
            <a:r>
              <a:rPr lang="es-BO" dirty="0"/>
              <a:t>Escoriaciones en proceso de cicatrización en cara y cuello</a:t>
            </a:r>
          </a:p>
          <a:p>
            <a:pPr lvl="0"/>
            <a:r>
              <a:rPr lang="es-BO" dirty="0" smtClean="0"/>
              <a:t>FC:98X  T</a:t>
            </a:r>
            <a:r>
              <a:rPr lang="es-BO" dirty="0"/>
              <a:t>: </a:t>
            </a:r>
            <a:r>
              <a:rPr lang="es-BO" dirty="0" smtClean="0"/>
              <a:t>38C   P/A:115/70 Fr:20 X</a:t>
            </a:r>
            <a:endParaRPr lang="es-BO" dirty="0"/>
          </a:p>
          <a:p>
            <a:pPr lvl="0"/>
            <a:r>
              <a:rPr lang="es-BO" dirty="0"/>
              <a:t>Mucosas </a:t>
            </a:r>
            <a:r>
              <a:rPr lang="es-BO" dirty="0" err="1"/>
              <a:t>normohidratadas</a:t>
            </a:r>
            <a:r>
              <a:rPr lang="es-BO" dirty="0"/>
              <a:t> y p ligeramente </a:t>
            </a:r>
            <a:r>
              <a:rPr lang="es-BO" dirty="0" err="1"/>
              <a:t>palidas</a:t>
            </a:r>
            <a:r>
              <a:rPr lang="es-BO" dirty="0"/>
              <a:t>.</a:t>
            </a:r>
          </a:p>
          <a:p>
            <a:pPr lvl="0"/>
            <a:r>
              <a:rPr lang="es-BO" dirty="0" err="1"/>
              <a:t>Torax</a:t>
            </a:r>
            <a:r>
              <a:rPr lang="es-BO" dirty="0"/>
              <a:t> elasticidad y expansibilidad disminuido.  A la palpación dolorosa en caras laterales del tórax.</a:t>
            </a:r>
          </a:p>
          <a:p>
            <a:pPr lvl="0"/>
            <a:r>
              <a:rPr lang="es-BO" dirty="0"/>
              <a:t>Abdomen blando depresible RHA presentes.</a:t>
            </a:r>
          </a:p>
          <a:p>
            <a:pPr lvl="0"/>
            <a:r>
              <a:rPr lang="es-BO" dirty="0"/>
              <a:t>Sonda Foley orina ligeramente </a:t>
            </a:r>
            <a:r>
              <a:rPr lang="es-BO" dirty="0" err="1"/>
              <a:t>colurica</a:t>
            </a:r>
            <a:r>
              <a:rPr lang="es-BO" dirty="0"/>
              <a:t>.</a:t>
            </a:r>
          </a:p>
          <a:p>
            <a:pPr lvl="0"/>
            <a:r>
              <a:rPr lang="es-BO" dirty="0"/>
              <a:t>CVC subclavia derecha. </a:t>
            </a:r>
          </a:p>
          <a:p>
            <a:pPr lvl="0"/>
            <a:r>
              <a:rPr lang="es-BO" dirty="0"/>
              <a:t>Drenaje torácico bilateral debito </a:t>
            </a:r>
            <a:r>
              <a:rPr lang="es-BO" dirty="0" err="1"/>
              <a:t>sero</a:t>
            </a:r>
            <a:r>
              <a:rPr lang="es-BO" dirty="0"/>
              <a:t> hemático.</a:t>
            </a:r>
          </a:p>
          <a:p>
            <a:pPr lvl="0"/>
            <a:r>
              <a:rPr lang="es-BO" dirty="0"/>
              <a:t>Férula de yeso </a:t>
            </a:r>
            <a:r>
              <a:rPr lang="es-BO" dirty="0" err="1"/>
              <a:t>curvopedica</a:t>
            </a:r>
            <a:r>
              <a:rPr lang="es-BO" dirty="0"/>
              <a:t> cubierto con venda de gasa manchado con secreción </a:t>
            </a:r>
            <a:r>
              <a:rPr lang="es-BO" dirty="0" err="1"/>
              <a:t>serohematica</a:t>
            </a:r>
            <a:r>
              <a:rPr lang="es-BO" dirty="0"/>
              <a:t> en región del pie derecho, tono y </a:t>
            </a:r>
            <a:r>
              <a:rPr lang="es-BO" dirty="0" err="1"/>
              <a:t>trofismo</a:t>
            </a:r>
            <a:r>
              <a:rPr lang="es-BO" dirty="0"/>
              <a:t> disminuido en ambos miembros inferiores.</a:t>
            </a:r>
          </a:p>
          <a:p>
            <a:endParaRPr lang="es-BO" dirty="0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s-BO" dirty="0"/>
              <a:t>Dolor </a:t>
            </a:r>
          </a:p>
          <a:p>
            <a:r>
              <a:rPr lang="es-BO" dirty="0"/>
              <a:t>Decaimiento</a:t>
            </a:r>
          </a:p>
          <a:p>
            <a:r>
              <a:rPr lang="es-BO" dirty="0"/>
              <a:t>Debilidad</a:t>
            </a:r>
          </a:p>
          <a:p>
            <a:r>
              <a:rPr lang="es-BO" dirty="0"/>
              <a:t>Malestar general 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1"/>
          </p:nvPr>
        </p:nvSpPr>
        <p:spPr>
          <a:xfrm>
            <a:off x="457200" y="548680"/>
            <a:ext cx="3657600" cy="792088"/>
          </a:xfrm>
        </p:spPr>
        <p:txBody>
          <a:bodyPr/>
          <a:lstStyle/>
          <a:p>
            <a:r>
              <a:rPr lang="es-BO" dirty="0" smtClean="0"/>
              <a:t>SINTOMAS ACTUALES</a:t>
            </a:r>
            <a:endParaRPr lang="es-BO" dirty="0"/>
          </a:p>
        </p:txBody>
      </p:sp>
      <p:sp>
        <p:nvSpPr>
          <p:cNvPr id="7" name="6 Marcador de texto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BO" dirty="0" smtClean="0"/>
              <a:t>SIGNOS ACTUALES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653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s-BO" b="1" dirty="0"/>
              <a:t>DESCRIPCION CLINICA DEL DIAGNOSTICO </a:t>
            </a:r>
            <a:r>
              <a:rPr lang="es-BO" b="1" dirty="0" smtClean="0"/>
              <a:t>MEDICO</a:t>
            </a:r>
            <a:endParaRPr lang="es-BO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109336171"/>
              </p:ext>
            </p:extLst>
          </p:nvPr>
        </p:nvGraphicFramePr>
        <p:xfrm>
          <a:off x="457200" y="1651719"/>
          <a:ext cx="74676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163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LABORATORIOS: hemograma 18.11.14 </a:t>
            </a:r>
            <a:endParaRPr lang="es-BO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57720165"/>
              </p:ext>
            </p:extLst>
          </p:nvPr>
        </p:nvGraphicFramePr>
        <p:xfrm>
          <a:off x="683566" y="1628798"/>
          <a:ext cx="7488833" cy="49685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74461"/>
                <a:gridCol w="2555355"/>
                <a:gridCol w="3059017"/>
              </a:tblGrid>
              <a:tr h="40988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 dirty="0">
                          <a:effectLst/>
                        </a:rPr>
                        <a:t> </a:t>
                      </a:r>
                      <a:endParaRPr lang="es-BO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Resultados 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Valores de referencia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09886">
                <a:tc gridSpan="3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 dirty="0">
                          <a:effectLst/>
                        </a:rPr>
                        <a:t>SERIE ROJA</a:t>
                      </a:r>
                      <a:endParaRPr lang="es-BO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40988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GR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3.290.000/mm</a:t>
                      </a:r>
                      <a:r>
                        <a:rPr lang="es-BO" sz="1600" baseline="30000">
                          <a:effectLst/>
                        </a:rPr>
                        <a:t>3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4.000.000-5.500.000/m</a:t>
                      </a:r>
                      <a:r>
                        <a:rPr lang="es-BO" sz="1600" baseline="30000">
                          <a:effectLst/>
                        </a:rPr>
                        <a:t>3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0988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HB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9.9 g/dl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11,5-13,0 g/dl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0988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HTO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30%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35-41%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09886">
                <a:tc gridSpan="3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SERIE BLANCA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40988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GB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9.600/mm</a:t>
                      </a:r>
                      <a:r>
                        <a:rPr lang="es-BO" sz="1600" baseline="30000">
                          <a:effectLst/>
                        </a:rPr>
                        <a:t>3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5.000-12.000/mm</a:t>
                      </a:r>
                      <a:r>
                        <a:rPr lang="es-BO" sz="1600" baseline="30000">
                          <a:effectLst/>
                        </a:rPr>
                        <a:t>3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09886">
                <a:tc gridSpan="3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COAGULACION 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40988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Plaquetas 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175.000/mm</a:t>
                      </a:r>
                      <a:r>
                        <a:rPr lang="es-BO" sz="1600" baseline="30000">
                          <a:effectLst/>
                        </a:rPr>
                        <a:t>3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150.000-450.000/mm</a:t>
                      </a:r>
                      <a:r>
                        <a:rPr lang="es-BO" sz="1600" baseline="30000">
                          <a:effectLst/>
                        </a:rPr>
                        <a:t>3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86969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T. Protrombina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11.1seg.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 dirty="0">
                          <a:effectLst/>
                        </a:rPr>
                        <a:t>11.1 -13 </a:t>
                      </a:r>
                      <a:r>
                        <a:rPr lang="es-BO" sz="1600" dirty="0" err="1">
                          <a:effectLst/>
                        </a:rPr>
                        <a:t>seg</a:t>
                      </a:r>
                      <a:r>
                        <a:rPr lang="es-BO" sz="1600" dirty="0">
                          <a:effectLst/>
                        </a:rPr>
                        <a:t>.</a:t>
                      </a:r>
                      <a:endParaRPr lang="es-BO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0988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INR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1.0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 dirty="0">
                          <a:effectLst/>
                        </a:rPr>
                        <a:t>1.0- 1.16</a:t>
                      </a:r>
                      <a:endParaRPr lang="es-BO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5704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Laboratorios: </a:t>
            </a:r>
            <a:r>
              <a:rPr lang="es-BO" dirty="0" err="1" smtClean="0"/>
              <a:t>ionograma</a:t>
            </a:r>
            <a:endParaRPr lang="es-BO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218249442"/>
              </p:ext>
            </p:extLst>
          </p:nvPr>
        </p:nvGraphicFramePr>
        <p:xfrm>
          <a:off x="1619672" y="2060847"/>
          <a:ext cx="5904656" cy="33843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35858"/>
                <a:gridCol w="2162752"/>
                <a:gridCol w="2506046"/>
              </a:tblGrid>
              <a:tr h="96955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s-BO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Resultados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Valores de referencia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8175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Na </a:t>
                      </a:r>
                      <a:endParaRPr lang="es-BO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134 mmol/L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136-146mmol/L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8175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K </a:t>
                      </a:r>
                      <a:endParaRPr lang="es-BO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4.2 mmol/L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3.5-5.1mmol/L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8175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Cl</a:t>
                      </a:r>
                      <a:endParaRPr lang="es-BO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101 mmol/L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98-106mmol/L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96955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200" dirty="0">
                          <a:effectLst/>
                        </a:rPr>
                        <a:t>Ca iónico </a:t>
                      </a:r>
                      <a:endParaRPr lang="es-BO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0.99 mmol/L</a:t>
                      </a:r>
                      <a:endParaRPr lang="es-BO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 dirty="0">
                          <a:effectLst/>
                        </a:rPr>
                        <a:t>1.09-1.30mmol/L</a:t>
                      </a:r>
                      <a:endParaRPr lang="es-BO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9279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2650306"/>
          </a:xfrm>
        </p:spPr>
        <p:txBody>
          <a:bodyPr>
            <a:normAutofit fontScale="90000"/>
          </a:bodyPr>
          <a:lstStyle/>
          <a:p>
            <a:pPr algn="ctr"/>
            <a:r>
              <a:rPr lang="es-BO" dirty="0" smtClean="0">
                <a:solidFill>
                  <a:schemeClr val="tx1"/>
                </a:solidFill>
              </a:rPr>
              <a:t>LABORATORIOS</a:t>
            </a:r>
            <a:r>
              <a:rPr lang="es-BO" dirty="0" smtClean="0"/>
              <a:t/>
            </a:r>
            <a:br>
              <a:rPr lang="es-BO" dirty="0" smtClean="0"/>
            </a:br>
            <a:r>
              <a:rPr lang="es-BO" dirty="0" smtClean="0">
                <a:solidFill>
                  <a:schemeClr val="accent1">
                    <a:lumMod val="75000"/>
                  </a:schemeClr>
                </a:solidFill>
              </a:rPr>
              <a:t>química sanguínea</a:t>
            </a:r>
            <a:r>
              <a:rPr lang="es-BO" dirty="0" smtClean="0"/>
              <a:t/>
            </a:r>
            <a:br>
              <a:rPr lang="es-BO" dirty="0" smtClean="0"/>
            </a:br>
            <a:r>
              <a:rPr lang="es-BO" dirty="0" smtClean="0"/>
              <a:t>urea: 27 mg/dl</a:t>
            </a:r>
            <a:br>
              <a:rPr lang="es-BO" dirty="0" smtClean="0"/>
            </a:br>
            <a:r>
              <a:rPr lang="es-BO" dirty="0" smtClean="0"/>
              <a:t>creatinina:0.9 mg/dl</a:t>
            </a:r>
            <a:br>
              <a:rPr lang="es-BO" dirty="0" smtClean="0"/>
            </a:br>
            <a:r>
              <a:rPr lang="es-BO" dirty="0" smtClean="0"/>
              <a:t>glicemia:75 mg/dl.</a:t>
            </a:r>
            <a:br>
              <a:rPr lang="es-BO" dirty="0" smtClean="0"/>
            </a:br>
            <a:r>
              <a:rPr lang="es-BO" b="1" dirty="0" err="1" smtClean="0">
                <a:solidFill>
                  <a:schemeClr val="tx1"/>
                </a:solidFill>
              </a:rPr>
              <a:t>ionograma</a:t>
            </a:r>
            <a:endParaRPr lang="es-BO" b="1" dirty="0">
              <a:solidFill>
                <a:schemeClr val="tx1"/>
              </a:solidFill>
            </a:endParaRPr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50459773"/>
              </p:ext>
            </p:extLst>
          </p:nvPr>
        </p:nvGraphicFramePr>
        <p:xfrm>
          <a:off x="1619672" y="2924944"/>
          <a:ext cx="5544616" cy="32263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0501"/>
                <a:gridCol w="2030877"/>
                <a:gridCol w="2353238"/>
              </a:tblGrid>
              <a:tr h="63367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s-BO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Resultados</a:t>
                      </a:r>
                      <a:endParaRPr lang="es-BO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Valores de referencia</a:t>
                      </a:r>
                      <a:endParaRPr lang="es-BO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3367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Na </a:t>
                      </a:r>
                      <a:endParaRPr lang="es-BO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134 mmol/L</a:t>
                      </a:r>
                      <a:endParaRPr lang="es-BO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136-146mmol/L</a:t>
                      </a:r>
                      <a:endParaRPr lang="es-BO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3367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 dirty="0">
                          <a:effectLst/>
                        </a:rPr>
                        <a:t>K </a:t>
                      </a:r>
                      <a:endParaRPr lang="es-BO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4.2 mmol/L</a:t>
                      </a:r>
                      <a:endParaRPr lang="es-BO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 dirty="0">
                          <a:effectLst/>
                        </a:rPr>
                        <a:t>3.5-5.1mmol/L</a:t>
                      </a:r>
                      <a:endParaRPr lang="es-BO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3367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Cl</a:t>
                      </a:r>
                      <a:endParaRPr lang="es-BO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101 mmol/L</a:t>
                      </a:r>
                      <a:endParaRPr lang="es-BO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98-106mmol/L</a:t>
                      </a:r>
                      <a:endParaRPr lang="es-BO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3367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 dirty="0">
                          <a:effectLst/>
                        </a:rPr>
                        <a:t>Ca iónico </a:t>
                      </a:r>
                      <a:endParaRPr lang="es-BO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>
                          <a:effectLst/>
                        </a:rPr>
                        <a:t>0.99 mmol/L</a:t>
                      </a:r>
                      <a:endParaRPr lang="es-BO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600" dirty="0">
                          <a:effectLst/>
                        </a:rPr>
                        <a:t>1.09-1.30mmol/L</a:t>
                      </a:r>
                      <a:endParaRPr lang="es-BO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1299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General de orina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BO" b="1" u="sng" dirty="0"/>
              <a:t>Examen físico químico</a:t>
            </a:r>
            <a:endParaRPr lang="es-BO" dirty="0"/>
          </a:p>
          <a:p>
            <a:pPr marL="0" indent="0">
              <a:buNone/>
            </a:pPr>
            <a:endParaRPr lang="es-BO" dirty="0"/>
          </a:p>
          <a:p>
            <a:r>
              <a:rPr lang="es-BO" b="1" dirty="0"/>
              <a:t>Color: </a:t>
            </a:r>
            <a:r>
              <a:rPr lang="es-BO" dirty="0"/>
              <a:t>Amarillo</a:t>
            </a:r>
          </a:p>
          <a:p>
            <a:r>
              <a:rPr lang="es-BO" b="1" dirty="0"/>
              <a:t>Aspecto: </a:t>
            </a:r>
            <a:r>
              <a:rPr lang="es-BO" dirty="0" err="1"/>
              <a:t>Lígeramente</a:t>
            </a:r>
            <a:r>
              <a:rPr lang="es-BO" dirty="0"/>
              <a:t> </a:t>
            </a:r>
            <a:r>
              <a:rPr lang="es-BO" dirty="0" err="1"/>
              <a:t>opalecente</a:t>
            </a:r>
            <a:endParaRPr lang="es-BO" dirty="0"/>
          </a:p>
          <a:p>
            <a:r>
              <a:rPr lang="es-BO" b="1" dirty="0"/>
              <a:t>Densidad: </a:t>
            </a:r>
            <a:r>
              <a:rPr lang="es-BO" dirty="0"/>
              <a:t>1.020</a:t>
            </a:r>
          </a:p>
          <a:p>
            <a:r>
              <a:rPr lang="es-BO" b="1" dirty="0"/>
              <a:t>PH: </a:t>
            </a:r>
            <a:r>
              <a:rPr lang="es-BO" dirty="0"/>
              <a:t>6.0</a:t>
            </a:r>
          </a:p>
          <a:p>
            <a:r>
              <a:rPr lang="es-BO" b="1" dirty="0" err="1"/>
              <a:t>Reaccion</a:t>
            </a:r>
            <a:r>
              <a:rPr lang="es-BO" b="1" dirty="0"/>
              <a:t>:</a:t>
            </a:r>
            <a:r>
              <a:rPr lang="es-BO" dirty="0"/>
              <a:t> Acida </a:t>
            </a:r>
          </a:p>
          <a:p>
            <a:r>
              <a:rPr lang="es-BO" b="1" dirty="0"/>
              <a:t>Sangre: </a:t>
            </a:r>
            <a:r>
              <a:rPr lang="es-BO" dirty="0"/>
              <a:t>Trazas</a:t>
            </a:r>
          </a:p>
          <a:p>
            <a:r>
              <a:rPr lang="es-BO" b="1" dirty="0" err="1"/>
              <a:t>Urobilinogeno</a:t>
            </a:r>
            <a:r>
              <a:rPr lang="es-BO" b="1" dirty="0"/>
              <a:t>: </a:t>
            </a:r>
            <a:r>
              <a:rPr lang="es-BO" dirty="0"/>
              <a:t>Normal </a:t>
            </a:r>
          </a:p>
          <a:p>
            <a:r>
              <a:rPr lang="es-BO" b="1" dirty="0"/>
              <a:t>Proteínas: </a:t>
            </a:r>
            <a:r>
              <a:rPr lang="es-BO" dirty="0"/>
              <a:t>(+)</a:t>
            </a:r>
          </a:p>
          <a:p>
            <a:r>
              <a:rPr lang="es-BO" b="1" dirty="0"/>
              <a:t>Nitritos: </a:t>
            </a:r>
            <a:r>
              <a:rPr lang="es-BO" dirty="0"/>
              <a:t>no presenta.</a:t>
            </a:r>
          </a:p>
          <a:p>
            <a:r>
              <a:rPr lang="es-BO" b="1" dirty="0"/>
              <a:t>Glucosa: </a:t>
            </a:r>
            <a:r>
              <a:rPr lang="es-BO" dirty="0"/>
              <a:t>no presenta.</a:t>
            </a:r>
          </a:p>
          <a:p>
            <a:r>
              <a:rPr lang="es-BO" b="1" dirty="0"/>
              <a:t>Bilirrubina: </a:t>
            </a:r>
            <a:r>
              <a:rPr lang="es-BO" dirty="0"/>
              <a:t>no presenta.</a:t>
            </a:r>
          </a:p>
          <a:p>
            <a:r>
              <a:rPr lang="es-BO" b="1" dirty="0"/>
              <a:t>Cetona: </a:t>
            </a:r>
            <a:r>
              <a:rPr lang="es-BO" dirty="0"/>
              <a:t>no presenta</a:t>
            </a:r>
          </a:p>
          <a:p>
            <a:r>
              <a:rPr lang="es-BO" b="1" dirty="0"/>
              <a:t>Hemoglobina:</a:t>
            </a:r>
            <a:r>
              <a:rPr lang="es-BO" dirty="0"/>
              <a:t> Positivo +++</a:t>
            </a:r>
          </a:p>
          <a:p>
            <a:pPr marL="0" indent="0">
              <a:buNone/>
            </a:pPr>
            <a:endParaRPr lang="es-BO" dirty="0"/>
          </a:p>
          <a:p>
            <a:endParaRPr lang="es-BO" dirty="0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BO" b="1" u="sng" dirty="0"/>
              <a:t>Examen </a:t>
            </a:r>
            <a:r>
              <a:rPr lang="es-BO" b="1" u="sng" dirty="0" smtClean="0"/>
              <a:t>microscópico</a:t>
            </a:r>
          </a:p>
          <a:p>
            <a:pPr marL="0" indent="0">
              <a:buNone/>
            </a:pPr>
            <a:r>
              <a:rPr lang="es-BO" b="1" dirty="0"/>
              <a:t> </a:t>
            </a:r>
            <a:endParaRPr lang="es-BO" dirty="0"/>
          </a:p>
          <a:p>
            <a:r>
              <a:rPr lang="es-BO" b="1" dirty="0"/>
              <a:t>Células epiteliales: </a:t>
            </a:r>
            <a:r>
              <a:rPr lang="es-BO" dirty="0"/>
              <a:t>30 por campo</a:t>
            </a:r>
          </a:p>
          <a:p>
            <a:r>
              <a:rPr lang="es-BO" b="1" dirty="0"/>
              <a:t>Leucocitos: 6</a:t>
            </a:r>
            <a:r>
              <a:rPr lang="es-BO" dirty="0"/>
              <a:t> por campo</a:t>
            </a:r>
          </a:p>
          <a:p>
            <a:r>
              <a:rPr lang="es-BO" b="1" dirty="0"/>
              <a:t>Eritrocitos: </a:t>
            </a:r>
            <a:r>
              <a:rPr lang="es-BO" dirty="0"/>
              <a:t>+ 30 por campo	</a:t>
            </a:r>
          </a:p>
          <a:p>
            <a:r>
              <a:rPr lang="es-BO" b="1" dirty="0"/>
              <a:t>Flora bacteriana: </a:t>
            </a:r>
            <a:r>
              <a:rPr lang="es-BO" dirty="0"/>
              <a:t>Escaso</a:t>
            </a:r>
          </a:p>
          <a:p>
            <a:r>
              <a:rPr lang="es-BO" b="1" dirty="0"/>
              <a:t>Flora </a:t>
            </a:r>
            <a:r>
              <a:rPr lang="es-BO" b="1" dirty="0" err="1"/>
              <a:t>mucoide</a:t>
            </a:r>
            <a:r>
              <a:rPr lang="es-BO" b="1" dirty="0"/>
              <a:t>: </a:t>
            </a:r>
            <a:r>
              <a:rPr lang="es-BO" dirty="0"/>
              <a:t>Regular</a:t>
            </a:r>
          </a:p>
          <a:p>
            <a:r>
              <a:rPr lang="es-BO" b="1" dirty="0"/>
              <a:t>Cristales: </a:t>
            </a:r>
            <a:r>
              <a:rPr lang="es-BO" dirty="0"/>
              <a:t>uratos </a:t>
            </a:r>
            <a:r>
              <a:rPr lang="es-BO" dirty="0" err="1"/>
              <a:t>aformos</a:t>
            </a:r>
            <a:r>
              <a:rPr lang="es-BO" dirty="0"/>
              <a:t> escasos</a:t>
            </a:r>
          </a:p>
        </p:txBody>
      </p:sp>
    </p:spTree>
    <p:extLst>
      <p:ext uri="{BB962C8B-B14F-4D97-AF65-F5344CB8AC3E}">
        <p14:creationId xmlns:p14="http://schemas.microsoft.com/office/powerpoint/2010/main" val="4060197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Manejo por especialidades</a:t>
            </a:r>
            <a:endParaRPr lang="es-BO" dirty="0"/>
          </a:p>
        </p:txBody>
      </p:sp>
      <p:graphicFrame>
        <p:nvGraphicFramePr>
          <p:cNvPr id="7" name="6 Marcador de contenido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825512290"/>
              </p:ext>
            </p:extLst>
          </p:nvPr>
        </p:nvGraphicFramePr>
        <p:xfrm>
          <a:off x="457200" y="1600200"/>
          <a:ext cx="74676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6852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INDICACIONES MEDICAS 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BO" dirty="0"/>
              <a:t>1</a:t>
            </a:r>
            <a:r>
              <a:rPr lang="es-BO" dirty="0" smtClean="0"/>
              <a:t>.-Dieta </a:t>
            </a:r>
            <a:r>
              <a:rPr lang="es-BO" dirty="0"/>
              <a:t>blanda hasta hrs.22 pm luego NPO líquidos 1000 en 24 </a:t>
            </a:r>
            <a:r>
              <a:rPr lang="es-BO" dirty="0" err="1"/>
              <a:t>hrs</a:t>
            </a:r>
            <a:r>
              <a:rPr lang="es-BO" dirty="0"/>
              <a:t>.</a:t>
            </a:r>
          </a:p>
          <a:p>
            <a:r>
              <a:rPr lang="es-BO" dirty="0"/>
              <a:t>2.-CSV-CGE.	</a:t>
            </a:r>
          </a:p>
          <a:p>
            <a:r>
              <a:rPr lang="es-BO" dirty="0"/>
              <a:t>3.- </a:t>
            </a:r>
            <a:r>
              <a:rPr lang="es-BO" dirty="0" smtClean="0"/>
              <a:t>Ejercicios </a:t>
            </a:r>
            <a:r>
              <a:rPr lang="es-BO" dirty="0"/>
              <a:t>respiratorios 10 respiraciones profundas c­/2hrs.</a:t>
            </a:r>
          </a:p>
          <a:p>
            <a:r>
              <a:rPr lang="es-BO" dirty="0"/>
              <a:t>4</a:t>
            </a:r>
            <a:r>
              <a:rPr lang="es-BO" dirty="0" smtClean="0"/>
              <a:t>.-Control </a:t>
            </a:r>
            <a:r>
              <a:rPr lang="es-BO" dirty="0"/>
              <a:t>drenaje bajo sello de agua cuantificar cada 8 </a:t>
            </a:r>
            <a:r>
              <a:rPr lang="es-BO" dirty="0" err="1"/>
              <a:t>hrs</a:t>
            </a:r>
            <a:r>
              <a:rPr lang="es-BO" dirty="0"/>
              <a:t>.</a:t>
            </a:r>
          </a:p>
          <a:p>
            <a:r>
              <a:rPr lang="es-BO" dirty="0"/>
              <a:t>5</a:t>
            </a:r>
            <a:r>
              <a:rPr lang="es-BO" dirty="0" smtClean="0"/>
              <a:t>.-Nebulizacion </a:t>
            </a:r>
            <a:r>
              <a:rPr lang="es-BO" dirty="0"/>
              <a:t>c/ 10 gotas de salbutamol con 10cc sol. Fisiológico.</a:t>
            </a:r>
          </a:p>
          <a:p>
            <a:r>
              <a:rPr lang="es-BO" dirty="0"/>
              <a:t>6</a:t>
            </a:r>
            <a:r>
              <a:rPr lang="es-BO" dirty="0" smtClean="0"/>
              <a:t>.-Sol</a:t>
            </a:r>
            <a:r>
              <a:rPr lang="es-BO" dirty="0"/>
              <a:t>. Fisiológica 1000cc más 75 mg diclofenaco c/12 </a:t>
            </a:r>
            <a:r>
              <a:rPr lang="es-BO" dirty="0" err="1"/>
              <a:t>hrs</a:t>
            </a:r>
            <a:r>
              <a:rPr lang="es-BO" dirty="0"/>
              <a:t>.</a:t>
            </a:r>
          </a:p>
          <a:p>
            <a:r>
              <a:rPr lang="es-BO" dirty="0"/>
              <a:t>7</a:t>
            </a:r>
            <a:r>
              <a:rPr lang="es-BO" dirty="0" smtClean="0"/>
              <a:t>.-Ceftriaxona </a:t>
            </a:r>
            <a:r>
              <a:rPr lang="es-BO" dirty="0"/>
              <a:t>1gr c/ 12 </a:t>
            </a:r>
            <a:r>
              <a:rPr lang="es-BO" dirty="0" err="1"/>
              <a:t>hrs</a:t>
            </a:r>
            <a:r>
              <a:rPr lang="es-BO" dirty="0"/>
              <a:t>.</a:t>
            </a:r>
          </a:p>
          <a:p>
            <a:r>
              <a:rPr lang="es-BO" dirty="0"/>
              <a:t>8.- </a:t>
            </a:r>
            <a:r>
              <a:rPr lang="es-BO" dirty="0" err="1"/>
              <a:t>R</a:t>
            </a:r>
            <a:r>
              <a:rPr lang="es-BO" dirty="0" err="1" smtClean="0"/>
              <a:t>anitidina</a:t>
            </a:r>
            <a:r>
              <a:rPr lang="es-BO" dirty="0" smtClean="0"/>
              <a:t> </a:t>
            </a:r>
            <a:r>
              <a:rPr lang="es-BO" dirty="0"/>
              <a:t>50 mg c/ 8 </a:t>
            </a:r>
            <a:r>
              <a:rPr lang="es-BO" dirty="0" err="1"/>
              <a:t>hrs</a:t>
            </a:r>
            <a:r>
              <a:rPr lang="es-BO" dirty="0"/>
              <a:t>.</a:t>
            </a:r>
          </a:p>
          <a:p>
            <a:r>
              <a:rPr lang="es-BO" dirty="0"/>
              <a:t>9</a:t>
            </a:r>
            <a:r>
              <a:rPr lang="es-BO" dirty="0" smtClean="0"/>
              <a:t>.-Vitamina </a:t>
            </a:r>
            <a:r>
              <a:rPr lang="es-BO" dirty="0"/>
              <a:t>k 10 mg c/12 </a:t>
            </a:r>
            <a:r>
              <a:rPr lang="es-BO" dirty="0" err="1"/>
              <a:t>hrs</a:t>
            </a:r>
            <a:r>
              <a:rPr lang="es-BO" dirty="0"/>
              <a:t>.</a:t>
            </a:r>
          </a:p>
          <a:p>
            <a:r>
              <a:rPr lang="es-BO" dirty="0"/>
              <a:t>10.- </a:t>
            </a:r>
            <a:r>
              <a:rPr lang="es-BO" dirty="0" err="1"/>
              <a:t>T</a:t>
            </a:r>
            <a:r>
              <a:rPr lang="es-BO" dirty="0" err="1" smtClean="0"/>
              <a:t>ramadol</a:t>
            </a:r>
            <a:r>
              <a:rPr lang="es-BO" dirty="0" smtClean="0"/>
              <a:t> </a:t>
            </a:r>
            <a:r>
              <a:rPr lang="es-BO" dirty="0"/>
              <a:t>100 mg c/ 12 </a:t>
            </a:r>
            <a:r>
              <a:rPr lang="es-BO" dirty="0" err="1"/>
              <a:t>hrs</a:t>
            </a:r>
            <a:r>
              <a:rPr lang="es-BO" dirty="0"/>
              <a:t>. diluido en 100cc de solución fisiológica pasar en una hora.</a:t>
            </a:r>
          </a:p>
          <a:p>
            <a:r>
              <a:rPr lang="es-BO" dirty="0"/>
              <a:t>11.- comunicar cambios </a:t>
            </a:r>
          </a:p>
          <a:p>
            <a:r>
              <a:rPr lang="es-BO" dirty="0"/>
              <a:t>12.- programar cirugía.</a:t>
            </a:r>
            <a:endParaRPr lang="es-BO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1637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DESCRPCION DEL TRATAMIENTO</a:t>
            </a:r>
            <a:endParaRPr lang="es-BO" dirty="0"/>
          </a:p>
        </p:txBody>
      </p:sp>
      <p:graphicFrame>
        <p:nvGraphicFramePr>
          <p:cNvPr id="5" name="4 Marcador de contenido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75625368"/>
              </p:ext>
            </p:extLst>
          </p:nvPr>
        </p:nvGraphicFramePr>
        <p:xfrm>
          <a:off x="457200" y="1600200"/>
          <a:ext cx="74676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7430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78098"/>
          </a:xfrm>
        </p:spPr>
        <p:txBody>
          <a:bodyPr>
            <a:normAutofit fontScale="90000"/>
          </a:bodyPr>
          <a:lstStyle/>
          <a:p>
            <a:pPr algn="ctr"/>
            <a:r>
              <a:rPr lang="es-BO" dirty="0" smtClean="0"/>
              <a:t>Valoración de los patrones de Gordon 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67544" y="1124744"/>
            <a:ext cx="7457256" cy="5349208"/>
          </a:xfrm>
        </p:spPr>
        <p:txBody>
          <a:bodyPr/>
          <a:lstStyle/>
          <a:p>
            <a:r>
              <a:rPr lang="es-BO" dirty="0" smtClean="0"/>
              <a:t>1.- PATRON DE PERCEPCION Y MANEJO DE SALUD</a:t>
            </a:r>
          </a:p>
          <a:p>
            <a:endParaRPr lang="es-BO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518956"/>
              </p:ext>
            </p:extLst>
          </p:nvPr>
        </p:nvGraphicFramePr>
        <p:xfrm>
          <a:off x="611560" y="1916832"/>
          <a:ext cx="7992888" cy="4632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222"/>
                <a:gridCol w="3996444"/>
                <a:gridCol w="1998222"/>
              </a:tblGrid>
              <a:tr h="792088">
                <a:tc gridSpan="3">
                  <a:txBody>
                    <a:bodyPr/>
                    <a:lstStyle/>
                    <a:p>
                      <a:r>
                        <a:rPr lang="es-BO" dirty="0" smtClean="0"/>
                        <a:t>DX.- </a:t>
                      </a:r>
                      <a:r>
                        <a:rPr lang="es-BO" baseline="0" dirty="0" smtClean="0"/>
                        <a:t> </a:t>
                      </a:r>
                      <a:r>
                        <a:rPr lang="es-BO" baseline="0" dirty="0" smtClean="0">
                          <a:solidFill>
                            <a:schemeClr val="tx1"/>
                          </a:solidFill>
                        </a:rPr>
                        <a:t> Real </a:t>
                      </a:r>
                      <a:r>
                        <a:rPr lang="es-BO" baseline="0" dirty="0" err="1" smtClean="0">
                          <a:solidFill>
                            <a:schemeClr val="tx1"/>
                          </a:solidFill>
                        </a:rPr>
                        <a:t>alteracion</a:t>
                      </a:r>
                      <a:r>
                        <a:rPr lang="es-BO" baseline="0" dirty="0" smtClean="0">
                          <a:solidFill>
                            <a:schemeClr val="tx1"/>
                          </a:solidFill>
                        </a:rPr>
                        <a:t> del estado emocional evidenciado por la ansiedad relacionado con  el ambiente y  rutinas desconocidas.</a:t>
                      </a:r>
                      <a:endParaRPr lang="es-B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</a:tr>
              <a:tr h="632502">
                <a:tc>
                  <a:txBody>
                    <a:bodyPr/>
                    <a:lstStyle/>
                    <a:p>
                      <a:r>
                        <a:rPr lang="es-BO" dirty="0" smtClean="0"/>
                        <a:t>Objetivo</a:t>
                      </a:r>
                      <a:r>
                        <a:rPr lang="es-BO" baseline="0" dirty="0" smtClean="0"/>
                        <a:t> </a:t>
                      </a:r>
                      <a:r>
                        <a:rPr lang="es-BO" dirty="0" smtClean="0"/>
                        <a:t> </a:t>
                      </a:r>
                      <a:endParaRPr lang="es-BO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s-BO" dirty="0" smtClean="0"/>
                        <a:t>Intervenciones </a:t>
                      </a:r>
                    </a:p>
                    <a:p>
                      <a:pPr algn="ctr"/>
                      <a:endParaRPr lang="es-BO" dirty="0" smtClean="0"/>
                    </a:p>
                    <a:p>
                      <a:pPr marL="342900" indent="-342900" algn="just">
                        <a:buAutoNum type="arabicPeriod"/>
                      </a:pPr>
                      <a:r>
                        <a:rPr lang="es-BO" sz="1400" dirty="0" smtClean="0"/>
                        <a:t>Control de signos vitales </a:t>
                      </a:r>
                    </a:p>
                    <a:p>
                      <a:pPr marL="342900" indent="-342900" algn="just">
                        <a:buAutoNum type="arabicPeriod"/>
                      </a:pPr>
                      <a:r>
                        <a:rPr lang="es-BO" sz="1400" dirty="0" smtClean="0"/>
                        <a:t>Escuchar</a:t>
                      </a:r>
                      <a:r>
                        <a:rPr lang="es-BO" sz="1400" baseline="0" dirty="0" smtClean="0"/>
                        <a:t> al paciente</a:t>
                      </a:r>
                    </a:p>
                    <a:p>
                      <a:pPr marL="342900" indent="-342900" algn="just">
                        <a:buAutoNum type="arabicPeriod"/>
                      </a:pPr>
                      <a:r>
                        <a:rPr lang="es-BO" sz="1400" baseline="0" dirty="0" smtClean="0"/>
                        <a:t>Colaborar con actividades  que distraigan al paciente juegos didácticos</a:t>
                      </a:r>
                    </a:p>
                    <a:p>
                      <a:pPr marL="342900" indent="-342900" algn="just">
                        <a:buAutoNum type="arabicPeriod"/>
                      </a:pPr>
                      <a:r>
                        <a:rPr lang="es-BO" sz="1400" baseline="0" dirty="0" smtClean="0"/>
                        <a:t>En caso de dolor administración de analgésicos según prescripción </a:t>
                      </a:r>
                    </a:p>
                    <a:p>
                      <a:pPr marL="342900" indent="-342900" algn="just">
                        <a:buAutoNum type="arabicPeriod"/>
                      </a:pPr>
                      <a:r>
                        <a:rPr lang="es-BO" sz="1400" baseline="0" dirty="0" smtClean="0"/>
                        <a:t>Proporcionar información acerca de su enfermedad</a:t>
                      </a:r>
                    </a:p>
                    <a:p>
                      <a:pPr marL="342900" indent="-342900" algn="just">
                        <a:buAutoNum type="arabicPeriod"/>
                      </a:pPr>
                      <a:r>
                        <a:rPr lang="es-BO" sz="1400" baseline="0" dirty="0" smtClean="0"/>
                        <a:t>Permanecer con el paciente para fomentar seguridad y disminuir los miedos </a:t>
                      </a:r>
                    </a:p>
                    <a:p>
                      <a:pPr marL="342900" indent="-342900" algn="just">
                        <a:buAutoNum type="arabicPeriod"/>
                      </a:pPr>
                      <a:r>
                        <a:rPr lang="es-BO" sz="1400" dirty="0" smtClean="0"/>
                        <a:t>Escuchar las preocupaciones del paciente.</a:t>
                      </a:r>
                    </a:p>
                    <a:p>
                      <a:pPr marL="342900" indent="-342900" algn="just">
                        <a:buAutoNum type="arabicPeriod"/>
                      </a:pPr>
                      <a:r>
                        <a:rPr lang="es-BO" sz="1400" dirty="0" smtClean="0"/>
                        <a:t>Proporcionar</a:t>
                      </a:r>
                      <a:r>
                        <a:rPr lang="es-BO" sz="1400" baseline="0" dirty="0" smtClean="0"/>
                        <a:t> información sobre su diagnostico pruebas a realizarse.</a:t>
                      </a:r>
                      <a:endParaRPr lang="es-BO" sz="1400" dirty="0" smtClean="0"/>
                    </a:p>
                    <a:p>
                      <a:pPr marL="342900" indent="-342900" algn="just">
                        <a:buAutoNum type="arabicPeriod"/>
                      </a:pPr>
                      <a:endParaRPr lang="es-BO" sz="14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s-BO" dirty="0" smtClean="0"/>
                        <a:t>Evaluación </a:t>
                      </a:r>
                      <a:endParaRPr lang="es-BO" dirty="0"/>
                    </a:p>
                  </a:txBody>
                  <a:tcPr/>
                </a:tc>
              </a:tr>
              <a:tr h="150217">
                <a:tc row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BO" sz="14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capaz de : </a:t>
                      </a:r>
                      <a:endParaRPr lang="es-BO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342900" lvl="0" indent="-342900" algn="just">
                        <a:buFont typeface="Wingdings"/>
                        <a:buChar char=""/>
                      </a:pPr>
                      <a:r>
                        <a:rPr lang="es-BO" sz="1400" dirty="0">
                          <a:effectLst/>
                          <a:latin typeface="Times New Roman"/>
                          <a:ea typeface="Calibri"/>
                        </a:rPr>
                        <a:t>Control de la ansiedad</a:t>
                      </a:r>
                      <a:endParaRPr lang="es-BO" sz="2000" dirty="0">
                        <a:effectLst/>
                      </a:endParaRPr>
                    </a:p>
                    <a:p>
                      <a:pPr algn="just"/>
                      <a:r>
                        <a:rPr lang="es-BO" sz="1400" dirty="0">
                          <a:effectLst/>
                          <a:latin typeface="Times New Roman"/>
                          <a:ea typeface="Calibri"/>
                        </a:rPr>
                        <a:t> </a:t>
                      </a:r>
                      <a:endParaRPr lang="es-BO" sz="2000" dirty="0">
                        <a:effectLst/>
                      </a:endParaRPr>
                    </a:p>
                    <a:p>
                      <a:pPr marL="342900" lvl="0" indent="-342900" algn="just">
                        <a:buFont typeface="Wingdings"/>
                        <a:buChar char=""/>
                      </a:pPr>
                      <a:r>
                        <a:rPr lang="es-BO" sz="1400" dirty="0">
                          <a:effectLst/>
                          <a:latin typeface="Times New Roman"/>
                          <a:ea typeface="Calibri"/>
                        </a:rPr>
                        <a:t>Control del miedo, acciones personales para eliminar o reducir los sentimientos.</a:t>
                      </a:r>
                      <a:endParaRPr lang="es-BO" sz="2000" dirty="0">
                        <a:effectLst/>
                      </a:endParaRPr>
                    </a:p>
                    <a:p>
                      <a:pPr marL="342900" lvl="0" indent="-342900" algn="just">
                        <a:buFont typeface="Wingdings"/>
                        <a:buChar char=""/>
                      </a:pPr>
                      <a:r>
                        <a:rPr lang="es-BO" sz="1400" dirty="0">
                          <a:effectLst/>
                          <a:latin typeface="Times New Roman"/>
                          <a:ea typeface="Calibri"/>
                        </a:rPr>
                        <a:t>Toma de </a:t>
                      </a:r>
                      <a:r>
                        <a:rPr lang="es-BO" sz="1400" dirty="0" smtClean="0">
                          <a:effectLst/>
                          <a:latin typeface="Times New Roman"/>
                          <a:ea typeface="Calibri"/>
                        </a:rPr>
                        <a:t>decisiones durante</a:t>
                      </a:r>
                      <a:r>
                        <a:rPr lang="es-BO" sz="1400" baseline="0" dirty="0" smtClean="0">
                          <a:effectLst/>
                          <a:latin typeface="Times New Roman"/>
                          <a:ea typeface="Calibri"/>
                        </a:rPr>
                        <a:t> su hospitalización. </a:t>
                      </a:r>
                      <a:endParaRPr lang="es-BO" sz="2000" dirty="0">
                        <a:effectLst/>
                      </a:endParaRPr>
                    </a:p>
                  </a:txBody>
                  <a:tcPr marL="89535" marR="89535" marT="0" marB="0"/>
                </a:tc>
                <a:tc vMerge="1"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2790923">
                <a:tc vMerge="1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s-BO" dirty="0">
                        <a:effectLst/>
                      </a:endParaRPr>
                    </a:p>
                  </a:txBody>
                  <a:tcPr marL="89535" marR="89535" marT="0" marB="0"/>
                </a:tc>
                <a:tc v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400" dirty="0" smtClean="0"/>
                        <a:t>Paciente disminuye su ansiedad y se siente</a:t>
                      </a:r>
                      <a:r>
                        <a:rPr lang="es-BO" sz="1400" baseline="0" dirty="0" smtClean="0"/>
                        <a:t>  mas confianza hacia el personal de salud y ya no teme tanto a los procedimientos.</a:t>
                      </a:r>
                      <a:endParaRPr lang="es-BO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0507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67544" y="404664"/>
            <a:ext cx="8064896" cy="6069288"/>
          </a:xfrm>
        </p:spPr>
        <p:txBody>
          <a:bodyPr/>
          <a:lstStyle/>
          <a:p>
            <a:r>
              <a:rPr lang="es-BO" dirty="0"/>
              <a:t>2</a:t>
            </a:r>
            <a:r>
              <a:rPr lang="es-BO" dirty="0" smtClean="0"/>
              <a:t>.- PATRON DE NUTRICION Y METABOLISMO</a:t>
            </a:r>
          </a:p>
          <a:p>
            <a:endParaRPr lang="es-BO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926512"/>
              </p:ext>
            </p:extLst>
          </p:nvPr>
        </p:nvGraphicFramePr>
        <p:xfrm>
          <a:off x="539552" y="980729"/>
          <a:ext cx="8064896" cy="54860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/>
                <a:gridCol w="4032448"/>
                <a:gridCol w="2016224"/>
              </a:tblGrid>
              <a:tr h="792087">
                <a:tc gridSpan="3">
                  <a:txBody>
                    <a:bodyPr/>
                    <a:lstStyle/>
                    <a:p>
                      <a:r>
                        <a:rPr lang="es-BO" dirty="0" smtClean="0"/>
                        <a:t>DX.- </a:t>
                      </a:r>
                      <a:r>
                        <a:rPr lang="es-BO" baseline="0" dirty="0" smtClean="0"/>
                        <a:t> </a:t>
                      </a:r>
                      <a:r>
                        <a:rPr lang="es-BO" baseline="0" dirty="0" smtClean="0">
                          <a:solidFill>
                            <a:schemeClr val="tx1"/>
                          </a:solidFill>
                        </a:rPr>
                        <a:t> Real proceso infeccioso relacionado a perdida de </a:t>
                      </a:r>
                      <a:r>
                        <a:rPr lang="es-BO" baseline="0" dirty="0" err="1" smtClean="0">
                          <a:solidFill>
                            <a:schemeClr val="tx1"/>
                          </a:solidFill>
                        </a:rPr>
                        <a:t>solucion</a:t>
                      </a:r>
                      <a:r>
                        <a:rPr lang="es-BO" baseline="0" dirty="0" smtClean="0">
                          <a:solidFill>
                            <a:schemeClr val="tx1"/>
                          </a:solidFill>
                        </a:rPr>
                        <a:t> de la continuidad secundario a procedimientos invasivos.</a:t>
                      </a:r>
                      <a:endParaRPr lang="es-B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</a:tr>
              <a:tr h="504056">
                <a:tc>
                  <a:txBody>
                    <a:bodyPr/>
                    <a:lstStyle/>
                    <a:p>
                      <a:r>
                        <a:rPr lang="es-BO" dirty="0" smtClean="0"/>
                        <a:t>Objetivo</a:t>
                      </a:r>
                      <a:r>
                        <a:rPr lang="es-BO" baseline="0" dirty="0" smtClean="0"/>
                        <a:t> </a:t>
                      </a:r>
                      <a:r>
                        <a:rPr lang="es-BO" dirty="0" smtClean="0"/>
                        <a:t> </a:t>
                      </a:r>
                      <a:endParaRPr lang="es-BO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s-BO" dirty="0" smtClean="0"/>
                        <a:t>Intervenciones </a:t>
                      </a:r>
                    </a:p>
                    <a:p>
                      <a:pPr algn="ctr"/>
                      <a:endParaRPr lang="es-BO" dirty="0" smtClean="0"/>
                    </a:p>
                    <a:p>
                      <a:pPr marL="342900" indent="-342900" algn="just">
                        <a:buAutoNum type="arabicPeriod"/>
                      </a:pPr>
                      <a:r>
                        <a:rPr lang="es-BO" sz="1400" dirty="0" smtClean="0"/>
                        <a:t>Control de signos vitales </a:t>
                      </a:r>
                    </a:p>
                    <a:p>
                      <a:pPr marL="342900" indent="-342900" algn="just">
                        <a:buAutoNum type="arabicPeriod"/>
                      </a:pPr>
                      <a:r>
                        <a:rPr lang="es-BO" sz="1400" dirty="0" smtClean="0"/>
                        <a:t>Realizar control y curaciones</a:t>
                      </a:r>
                      <a:r>
                        <a:rPr lang="es-BO" sz="1400" baseline="0" dirty="0" smtClean="0"/>
                        <a:t> periódicas del CVC</a:t>
                      </a:r>
                    </a:p>
                    <a:p>
                      <a:pPr marL="342900" indent="-342900" algn="just">
                        <a:buAutoNum type="arabicPeriod"/>
                      </a:pPr>
                      <a:r>
                        <a:rPr lang="es-BO" sz="1400" baseline="0" dirty="0" smtClean="0"/>
                        <a:t>Vigilar signos de infección del CVC</a:t>
                      </a:r>
                    </a:p>
                    <a:p>
                      <a:pPr marL="342900" indent="-342900" algn="just">
                        <a:buAutoNum type="arabicPeriod"/>
                      </a:pPr>
                      <a:r>
                        <a:rPr lang="es-BO" sz="1400" baseline="0" dirty="0" smtClean="0"/>
                        <a:t>Garantizar una buena fluido terapia según  el goteo correcto e incentivar líquidos VO</a:t>
                      </a:r>
                    </a:p>
                    <a:p>
                      <a:pPr marL="342900" indent="-342900" algn="just">
                        <a:buAutoNum type="arabicPeriod"/>
                      </a:pPr>
                      <a:r>
                        <a:rPr lang="es-BO" sz="1400" baseline="0" dirty="0" smtClean="0"/>
                        <a:t>Realizar curaciones de la toracotomía </a:t>
                      </a:r>
                    </a:p>
                    <a:p>
                      <a:pPr marL="342900" indent="-342900" algn="just">
                        <a:buAutoNum type="arabicPeriod"/>
                      </a:pPr>
                      <a:r>
                        <a:rPr lang="es-BO" sz="1400" baseline="0" dirty="0" smtClean="0"/>
                        <a:t>Observar características del debito del drenaje bajo sello de agua</a:t>
                      </a:r>
                    </a:p>
                    <a:p>
                      <a:pPr marL="342900" indent="-342900" algn="just">
                        <a:buAutoNum type="arabicPeriod"/>
                      </a:pPr>
                      <a:r>
                        <a:rPr lang="es-BO" sz="1400" baseline="0" dirty="0" smtClean="0"/>
                        <a:t>Buscar signos de infección  en la sonda Foley </a:t>
                      </a:r>
                    </a:p>
                    <a:p>
                      <a:pPr marL="342900" indent="-342900" algn="just">
                        <a:buAutoNum type="arabicPeriod"/>
                      </a:pPr>
                      <a:r>
                        <a:rPr lang="es-BO" sz="1400" baseline="0" dirty="0" smtClean="0"/>
                        <a:t>En caso de fiebre administrar antipiréticos  o medios físicos</a:t>
                      </a:r>
                    </a:p>
                    <a:p>
                      <a:pPr marL="342900" indent="-342900" algn="just">
                        <a:buAutoNum type="arabicPeriod"/>
                      </a:pPr>
                      <a:r>
                        <a:rPr lang="es-BO" sz="1400" baseline="0" dirty="0" smtClean="0"/>
                        <a:t>Realizar aseos perineales</a:t>
                      </a:r>
                    </a:p>
                    <a:p>
                      <a:pPr marL="342900" indent="-342900" algn="just">
                        <a:buAutoNum type="arabicPeriod"/>
                      </a:pPr>
                      <a:r>
                        <a:rPr lang="es-BO" sz="1400" baseline="0" dirty="0" smtClean="0"/>
                        <a:t>Estar al pendiente de las fecha de colocación de sonda Foley,  CVC, drenaje</a:t>
                      </a:r>
                    </a:p>
                    <a:p>
                      <a:pPr marL="342900" indent="-342900" algn="just">
                        <a:buAutoNum type="arabicPeriod"/>
                      </a:pPr>
                      <a:r>
                        <a:rPr lang="es-BO" sz="1400" baseline="0" dirty="0" smtClean="0"/>
                        <a:t>Lavado de manos antes y después de los procedimientos.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s-BO" dirty="0" smtClean="0"/>
                        <a:t>Evaluación </a:t>
                      </a:r>
                      <a:endParaRPr lang="es-BO" dirty="0"/>
                    </a:p>
                  </a:txBody>
                  <a:tcPr/>
                </a:tc>
              </a:tr>
              <a:tr h="180572">
                <a:tc row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BO" sz="14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capaz de : </a:t>
                      </a:r>
                      <a:endParaRPr lang="es-BO" sz="1400" dirty="0" smtClean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BO" sz="14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Salir</a:t>
                      </a:r>
                      <a:r>
                        <a:rPr lang="es-BO" sz="1400" baseline="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 del proceso infeccioso y prevenir mayores complicaciones como una sepsis generalizada.</a:t>
                      </a:r>
                      <a:endParaRPr lang="es-BO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89535" marR="89535" marT="0" marB="0"/>
                </a:tc>
                <a:tc vMerge="1"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3675643">
                <a:tc vMerge="1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s-BO" dirty="0">
                        <a:effectLst/>
                      </a:endParaRPr>
                    </a:p>
                  </a:txBody>
                  <a:tcPr marL="89535" marR="89535" marT="0" marB="0"/>
                </a:tc>
                <a:tc v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400" dirty="0" smtClean="0"/>
                        <a:t>Paciente y</a:t>
                      </a:r>
                      <a:r>
                        <a:rPr lang="es-BO" sz="1400" baseline="0" dirty="0" smtClean="0"/>
                        <a:t>a no presenta picos febriles además de que no se observan signos de infección  en el CVC</a:t>
                      </a:r>
                      <a:endParaRPr lang="es-BO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3880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67544" y="404664"/>
            <a:ext cx="8064896" cy="6069288"/>
          </a:xfrm>
        </p:spPr>
        <p:txBody>
          <a:bodyPr/>
          <a:lstStyle/>
          <a:p>
            <a:r>
              <a:rPr lang="es-BO" dirty="0"/>
              <a:t>3</a:t>
            </a:r>
            <a:r>
              <a:rPr lang="es-BO" dirty="0" smtClean="0"/>
              <a:t>.- PATRON DE ELIMINACION </a:t>
            </a:r>
          </a:p>
          <a:p>
            <a:endParaRPr lang="es-BO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708701"/>
              </p:ext>
            </p:extLst>
          </p:nvPr>
        </p:nvGraphicFramePr>
        <p:xfrm>
          <a:off x="539552" y="980729"/>
          <a:ext cx="8064896" cy="5152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/>
                <a:gridCol w="4032448"/>
                <a:gridCol w="2016224"/>
              </a:tblGrid>
              <a:tr h="792087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600" dirty="0" smtClean="0"/>
                        <a:t>DX.-</a:t>
                      </a:r>
                      <a:r>
                        <a:rPr kumimoji="0" lang="es-BO" sz="16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Alteración del patrón de eliminación intestinal (estreñimiento) relacionado al reposo.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</a:tr>
              <a:tr h="504056">
                <a:tc>
                  <a:txBody>
                    <a:bodyPr/>
                    <a:lstStyle/>
                    <a:p>
                      <a:r>
                        <a:rPr lang="es-BO" dirty="0" smtClean="0"/>
                        <a:t>Objetivo</a:t>
                      </a:r>
                      <a:r>
                        <a:rPr lang="es-BO" baseline="0" dirty="0" smtClean="0"/>
                        <a:t> </a:t>
                      </a:r>
                      <a:r>
                        <a:rPr lang="es-BO" dirty="0" smtClean="0"/>
                        <a:t> </a:t>
                      </a:r>
                      <a:endParaRPr lang="es-BO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s-BO" sz="1600" dirty="0" smtClean="0"/>
                        <a:t>Intervenciones </a:t>
                      </a:r>
                    </a:p>
                    <a:p>
                      <a:pPr algn="ctr"/>
                      <a:endParaRPr lang="es-BO" sz="1600" dirty="0" smtClean="0"/>
                    </a:p>
                    <a:p>
                      <a:pPr marL="342900" indent="-342900" algn="just">
                        <a:buAutoNum type="arabicPeriod"/>
                      </a:pPr>
                      <a:r>
                        <a:rPr lang="es-BO" sz="1200" dirty="0" smtClean="0"/>
                        <a:t>Control de signos vitales </a:t>
                      </a:r>
                    </a:p>
                    <a:p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Explicar a los familiares que  no traigan alimentos pesados como ser: pan, comidas  con gasa. , etc.</a:t>
                      </a:r>
                    </a:p>
                    <a:p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3.-Sugerir  al médico tratante  el uso de  laxantes.</a:t>
                      </a:r>
                    </a:p>
                    <a:p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proporcionar más líquidos VÓ. </a:t>
                      </a:r>
                    </a:p>
                    <a:p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5.- Realizar masajes a nivel abdominal si  el paciente acepta.</a:t>
                      </a:r>
                    </a:p>
                    <a:p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6.- Vigilar estrechamente y preguntar  si el paciente elimina gases rectales.</a:t>
                      </a:r>
                    </a:p>
                    <a:p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7.-Vigilar distención abdominal.</a:t>
                      </a:r>
                    </a:p>
                    <a:p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8.-vigilar estrechamente la dieta del paciente sea la correcta</a:t>
                      </a:r>
                    </a:p>
                    <a:p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Vigilar  y escuchar  el peristaltismo</a:t>
                      </a:r>
                    </a:p>
                    <a:p>
                      <a:pPr marL="0" indent="0" algn="just">
                        <a:buNone/>
                      </a:pPr>
                      <a:endParaRPr lang="es-BO" sz="1200" baseline="0" dirty="0" smtClean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s-BO" dirty="0" smtClean="0"/>
                        <a:t>Evaluación </a:t>
                      </a:r>
                      <a:endParaRPr lang="es-BO" dirty="0"/>
                    </a:p>
                  </a:txBody>
                  <a:tcPr/>
                </a:tc>
              </a:tr>
              <a:tr h="180572">
                <a:tc row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kumimoji="0" lang="es-BO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 paciente   será capaz de restablecer el patrón intestinal con las intervenciones de enfermería realizadas a corto plazo.</a:t>
                      </a:r>
                      <a:endParaRPr lang="es-BO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89535" marR="89535" marT="0" marB="0"/>
                </a:tc>
                <a:tc vMerge="1"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3675643">
                <a:tc vMerge="1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s-BO" dirty="0">
                        <a:effectLst/>
                      </a:endParaRPr>
                    </a:p>
                  </a:txBody>
                  <a:tcPr marL="89535" marR="89535" marT="0" marB="0"/>
                </a:tc>
                <a:tc v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s-BO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 conversa con Lic. De piso modificar la dieta del paciente rica en fibra  y proporcionar  laxantes naturales. Esto como sugerencia.</a:t>
                      </a:r>
                    </a:p>
                    <a:p>
                      <a:r>
                        <a:rPr kumimoji="0" lang="es-BO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Posterior a estas intervenciones le paciente logro presentar deposiciones </a:t>
                      </a:r>
                      <a:endParaRPr lang="es-BO" sz="11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6621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67544" y="404664"/>
            <a:ext cx="8064896" cy="6069288"/>
          </a:xfrm>
        </p:spPr>
        <p:txBody>
          <a:bodyPr/>
          <a:lstStyle/>
          <a:p>
            <a:r>
              <a:rPr lang="es-BO" dirty="0" smtClean="0"/>
              <a:t>4.- PATRON DE ACTIVIDAD Y EJERCICIOS </a:t>
            </a:r>
          </a:p>
          <a:p>
            <a:endParaRPr lang="es-BO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930767"/>
              </p:ext>
            </p:extLst>
          </p:nvPr>
        </p:nvGraphicFramePr>
        <p:xfrm>
          <a:off x="539552" y="980729"/>
          <a:ext cx="8064896" cy="5307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/>
                <a:gridCol w="4032448"/>
                <a:gridCol w="2016224"/>
              </a:tblGrid>
              <a:tr h="792087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600" dirty="0" smtClean="0"/>
                        <a:t>DX.-</a:t>
                      </a:r>
                      <a:r>
                        <a:rPr kumimoji="0" lang="es-BO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 patrón   respiratorio   ineficaz   relacionado con el dolor, la deformidad de la pared torácica y manifestada por una disminución de la presión inspiratoria y espiratoria</a:t>
                      </a:r>
                      <a:endParaRPr kumimoji="0" lang="es-BO" sz="16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</a:tr>
              <a:tr h="504056">
                <a:tc>
                  <a:txBody>
                    <a:bodyPr/>
                    <a:lstStyle/>
                    <a:p>
                      <a:r>
                        <a:rPr lang="es-BO" dirty="0" smtClean="0"/>
                        <a:t>Objetivo</a:t>
                      </a:r>
                      <a:r>
                        <a:rPr lang="es-BO" baseline="0" dirty="0" smtClean="0"/>
                        <a:t> </a:t>
                      </a:r>
                      <a:r>
                        <a:rPr lang="es-BO" dirty="0" smtClean="0"/>
                        <a:t> 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es-BO" sz="2000" baseline="0" dirty="0" smtClean="0">
                          <a:effectLst/>
                          <a:latin typeface="Cambria"/>
                          <a:ea typeface="Calibri"/>
                          <a:cs typeface="Times New Roman"/>
                        </a:rPr>
                        <a:t> Intervenciones </a:t>
                      </a:r>
                      <a:endParaRPr lang="es-BO" sz="20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89535" marR="89535" marT="0" marB="0"/>
                </a:tc>
                <a:tc rowSpan="2">
                  <a:txBody>
                    <a:bodyPr/>
                    <a:lstStyle/>
                    <a:p>
                      <a:r>
                        <a:rPr lang="es-BO" dirty="0" smtClean="0"/>
                        <a:t>Evaluación </a:t>
                      </a:r>
                      <a:endParaRPr lang="es-BO" dirty="0"/>
                    </a:p>
                  </a:txBody>
                  <a:tcPr/>
                </a:tc>
              </a:tr>
              <a:tr h="180572">
                <a:tc row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kumimoji="0" lang="es-BO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 paciente lograra mejorar el patrón respiratorio eficaz durante su internación y las intervenciones de enfermería</a:t>
                      </a:r>
                      <a:endParaRPr lang="es-BO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89535" marR="89535" marT="0" marB="0"/>
                </a:tc>
                <a:tc>
                  <a:txBody>
                    <a:bodyPr/>
                    <a:lstStyle/>
                    <a:p>
                      <a:endParaRPr lang="es-BO" sz="1400" dirty="0"/>
                    </a:p>
                  </a:txBody>
                  <a:tcPr marL="89535" marR="89535" marT="0" marB="0"/>
                </a:tc>
                <a:tc v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3675643">
                <a:tc vMerge="1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s-BO" dirty="0">
                        <a:effectLst/>
                      </a:endParaRPr>
                    </a:p>
                  </a:txBody>
                  <a:tcPr marL="89535" marR="89535" marT="0" marB="0"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s-BO" sz="1400" dirty="0" smtClean="0"/>
                        <a:t>Control de signos vitales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BO" sz="1400" dirty="0" smtClean="0"/>
                        <a:t>Control estricto de la FR,</a:t>
                      </a:r>
                      <a:r>
                        <a:rPr lang="es-BO" sz="1400" baseline="0" dirty="0" smtClean="0"/>
                        <a:t> </a:t>
                      </a:r>
                      <a:r>
                        <a:rPr lang="es-BO" sz="1400" baseline="0" dirty="0" err="1" smtClean="0"/>
                        <a:t>sat</a:t>
                      </a:r>
                      <a:r>
                        <a:rPr lang="es-BO" sz="1400" baseline="0" dirty="0" smtClean="0"/>
                        <a:t>. De oxigeno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BO" sz="1400" baseline="0" dirty="0" smtClean="0"/>
                        <a:t>Administrar oxigeno según requerimiento previo control de saturación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BO" sz="1400" baseline="0" dirty="0" smtClean="0"/>
                        <a:t>Observar signos de dificultad respiratoria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BO" sz="1400" baseline="0" dirty="0" smtClean="0"/>
                        <a:t>Enseñar al paciente ejercicios respiratorios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BO" sz="1400" baseline="0" dirty="0" smtClean="0"/>
                        <a:t>Colocar al paciente  en posición semifowler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BO" sz="1400" baseline="0" dirty="0" smtClean="0"/>
                        <a:t>Observar el drenaje bajo sello de agua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BO" sz="1400" baseline="0" dirty="0" smtClean="0"/>
                        <a:t>Si hay o no burbujas en el sello de agua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BO" sz="1400" baseline="0" dirty="0" smtClean="0"/>
                        <a:t>Evitar la torsión para facilitar la salida del debito del drenaje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BO" sz="1400" baseline="0" dirty="0" smtClean="0"/>
                        <a:t>Vigilar conexiones que no estén sueltas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BO" sz="1400" baseline="0" dirty="0" smtClean="0"/>
                        <a:t>En caso de movilizar al paciente pinzar el drenaje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BO" sz="1400" baseline="0" dirty="0" smtClean="0"/>
                        <a:t>Ofrecer un ambiente ventilado.</a:t>
                      </a:r>
                    </a:p>
                  </a:txBody>
                  <a:tcPr marL="89535" marR="89535" marT="0" marB="0"/>
                </a:tc>
                <a:tc>
                  <a:txBody>
                    <a:bodyPr/>
                    <a:lstStyle/>
                    <a:p>
                      <a:r>
                        <a:rPr kumimoji="0" lang="es-BO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kumimoji="0" lang="es-BO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 logra realizar las actividades propuestas pero paciente continua con dolor a pesar de recibir su analgésico en horario y en infusión continua a momentos no realiza los ejercicios respiratorios, por lo que existe momentos en los cuales no hay un buen intercambio </a:t>
                      </a:r>
                      <a:endParaRPr lang="es-BO" sz="11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0632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67544" y="404664"/>
            <a:ext cx="8064896" cy="6069288"/>
          </a:xfrm>
        </p:spPr>
        <p:txBody>
          <a:bodyPr/>
          <a:lstStyle/>
          <a:p>
            <a:r>
              <a:rPr lang="es-BO" dirty="0" smtClean="0"/>
              <a:t>5.- PATRON DE DESCANSO Y SUEÑO </a:t>
            </a:r>
          </a:p>
          <a:p>
            <a:endParaRPr lang="es-BO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876107"/>
              </p:ext>
            </p:extLst>
          </p:nvPr>
        </p:nvGraphicFramePr>
        <p:xfrm>
          <a:off x="539552" y="980729"/>
          <a:ext cx="8064896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/>
                <a:gridCol w="4032448"/>
                <a:gridCol w="2016224"/>
              </a:tblGrid>
              <a:tr h="792087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600" dirty="0" smtClean="0"/>
                        <a:t>DX.-</a:t>
                      </a:r>
                      <a:r>
                        <a:rPr kumimoji="0" lang="es-BO" sz="16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es-BO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Real alteración  del patrón de sueño relacionados al dolor y factores del entorno  ambiental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BO" sz="16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</a:tr>
              <a:tr h="504056">
                <a:tc>
                  <a:txBody>
                    <a:bodyPr/>
                    <a:lstStyle/>
                    <a:p>
                      <a:r>
                        <a:rPr lang="es-BO" dirty="0" smtClean="0"/>
                        <a:t>Objetivo</a:t>
                      </a:r>
                      <a:r>
                        <a:rPr lang="es-BO" baseline="0" dirty="0" smtClean="0"/>
                        <a:t> </a:t>
                      </a:r>
                      <a:r>
                        <a:rPr lang="es-BO" dirty="0" smtClean="0"/>
                        <a:t> </a:t>
                      </a:r>
                      <a:endParaRPr lang="es-BO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s-BO" sz="1600" dirty="0" smtClean="0"/>
                        <a:t>Intervenciones </a:t>
                      </a:r>
                    </a:p>
                    <a:p>
                      <a:pPr algn="ctr"/>
                      <a:endParaRPr lang="es-BO" sz="1600" dirty="0" smtClean="0"/>
                    </a:p>
                    <a:p>
                      <a:pPr marL="342900" indent="-342900" algn="just">
                        <a:buAutoNum type="arabicPeriod"/>
                      </a:pPr>
                      <a:r>
                        <a:rPr lang="es-BO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de signos vitales </a:t>
                      </a:r>
                    </a:p>
                    <a:p>
                      <a:pPr lvl="0"/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kumimoji="0" lang="es-BO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Observar y registrar el número de horas de sueño.</a:t>
                      </a:r>
                      <a:endParaRPr lang="es-BO" sz="12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/>
                      <a:r>
                        <a:rPr kumimoji="0" lang="es-BO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 Explicar la importancia de mantener un sueño adecuado para una mejor y pronta recuperación.</a:t>
                      </a:r>
                      <a:endParaRPr kumimoji="0" lang="es-BO" sz="120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kumimoji="0" lang="es-BO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kumimoji="0" lang="es-BO" sz="12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</a:t>
                      </a:r>
                      <a:r>
                        <a:rPr kumimoji="0" lang="es-BO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Explicar a familiares los horarios más adecuados para las visitas.</a:t>
                      </a:r>
                      <a:endParaRPr kumimoji="0" lang="es-BO" sz="120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kumimoji="0" lang="es-BO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kumimoji="0" lang="es-BO" sz="12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5.</a:t>
                      </a:r>
                      <a:r>
                        <a:rPr kumimoji="0" lang="es-BO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Ventilar el ambiente</a:t>
                      </a:r>
                      <a:endParaRPr kumimoji="0" lang="es-BO" sz="120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kumimoji="0" lang="es-BO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kumimoji="0" lang="es-BO" sz="12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6.</a:t>
                      </a:r>
                      <a:r>
                        <a:rPr kumimoji="0" lang="es-BO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Administrar analgésico antes de dormir según prescripción médica.</a:t>
                      </a:r>
                    </a:p>
                    <a:p>
                      <a:r>
                        <a:rPr kumimoji="0" lang="es-BO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7.-</a:t>
                      </a:r>
                      <a:r>
                        <a:rPr kumimoji="0" lang="es-BO" sz="1800" kern="1200" baseline="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realizar actividades recreativas con el paciente, juegos didácticos, que lea.</a:t>
                      </a:r>
                      <a:endParaRPr kumimoji="0" lang="es-BO" sz="120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es-BO" sz="11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s-BO" sz="1100" baseline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s-BO" dirty="0" smtClean="0"/>
                        <a:t>Evaluación </a:t>
                      </a:r>
                      <a:endParaRPr lang="es-BO" dirty="0"/>
                    </a:p>
                  </a:txBody>
                  <a:tcPr/>
                </a:tc>
              </a:tr>
              <a:tr h="180572">
                <a:tc row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kumimoji="0" lang="es-BO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Será capaz de recuperar su patrón de sueño con las actividades de enfermería durante su internación</a:t>
                      </a:r>
                      <a:endParaRPr lang="es-BO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89535" marR="89535" marT="0" marB="0"/>
                </a:tc>
                <a:tc vMerge="1"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3675643">
                <a:tc vMerge="1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s-BO" dirty="0">
                        <a:effectLst/>
                      </a:endParaRPr>
                    </a:p>
                  </a:txBody>
                  <a:tcPr marL="89535" marR="89535" marT="0" marB="0"/>
                </a:tc>
                <a:tc v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s-BO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  paciente logra conciliar el sueño a través de las intervenciones de enfermería</a:t>
                      </a:r>
                      <a:endParaRPr lang="es-BO" sz="11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6848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67544" y="404664"/>
            <a:ext cx="8064896" cy="6069288"/>
          </a:xfrm>
        </p:spPr>
        <p:txBody>
          <a:bodyPr/>
          <a:lstStyle/>
          <a:p>
            <a:r>
              <a:rPr lang="es-BO" dirty="0" smtClean="0"/>
              <a:t>5.- PATRON V, VI VII </a:t>
            </a:r>
          </a:p>
          <a:p>
            <a:endParaRPr lang="es-BO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175317"/>
              </p:ext>
            </p:extLst>
          </p:nvPr>
        </p:nvGraphicFramePr>
        <p:xfrm>
          <a:off x="539552" y="980729"/>
          <a:ext cx="8064896" cy="5244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/>
                <a:gridCol w="4032448"/>
                <a:gridCol w="2016224"/>
              </a:tblGrid>
              <a:tr h="792087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600" dirty="0" smtClean="0"/>
                        <a:t>DX.-</a:t>
                      </a:r>
                      <a:r>
                        <a:rPr kumimoji="0" lang="es-BO" sz="16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es-BO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E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Estrés y preocupación relacionada a hospitalización e incertidumbre sobre cuidados posoperatorios en casa.</a:t>
                      </a:r>
                      <a:endParaRPr kumimoji="0" lang="es-BO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BO" sz="16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</a:tr>
              <a:tr h="504056">
                <a:tc>
                  <a:txBody>
                    <a:bodyPr/>
                    <a:lstStyle/>
                    <a:p>
                      <a:r>
                        <a:rPr lang="es-BO" dirty="0" smtClean="0"/>
                        <a:t>Objetivo</a:t>
                      </a:r>
                      <a:r>
                        <a:rPr lang="es-BO" baseline="0" dirty="0" smtClean="0"/>
                        <a:t> </a:t>
                      </a:r>
                      <a:r>
                        <a:rPr lang="es-BO" dirty="0" smtClean="0"/>
                        <a:t> </a:t>
                      </a:r>
                      <a:endParaRPr lang="es-BO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s-BO" sz="1600" dirty="0" smtClean="0"/>
                        <a:t>Intervenciones </a:t>
                      </a:r>
                    </a:p>
                    <a:p>
                      <a:pPr algn="ctr"/>
                      <a:endParaRPr lang="es-BO" sz="1600" dirty="0" smtClean="0"/>
                    </a:p>
                    <a:p>
                      <a:pPr marL="342900" indent="-342900" algn="just">
                        <a:buAutoNum type="arabicPeriod"/>
                      </a:pPr>
                      <a:r>
                        <a:rPr kumimoji="0" lang="es-E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control de estado neurológico</a:t>
                      </a:r>
                      <a:endParaRPr kumimoji="0" lang="es-BO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es-E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2.- Brindar orientación continua sobre su estado de salud.</a:t>
                      </a:r>
                      <a:endParaRPr kumimoji="0" lang="es-BO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es-E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3.- Explicar al paciente con palabras sencillas su tratamiento.</a:t>
                      </a:r>
                      <a:endParaRPr kumimoji="0" lang="es-BO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es-E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4.- Mantener informado sobre su estado de salud.</a:t>
                      </a:r>
                      <a:endParaRPr kumimoji="0" lang="es-BO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es-E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5.- Brindar un ambiente tranquilo.</a:t>
                      </a:r>
                      <a:endParaRPr kumimoji="0" lang="es-BO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es-E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6.- mantener bien informados a los familiares, sobre el estado de salud del paciente.</a:t>
                      </a:r>
                      <a:endParaRPr kumimoji="0" lang="es-BO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s-BO" sz="11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s-BO" sz="1100" baseline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s-BO" dirty="0" smtClean="0"/>
                        <a:t>Evaluación </a:t>
                      </a:r>
                      <a:endParaRPr lang="es-BO" dirty="0"/>
                    </a:p>
                  </a:txBody>
                  <a:tcPr/>
                </a:tc>
              </a:tr>
              <a:tr h="180572">
                <a:tc row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kumimoji="0" lang="es-E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 paciente será capaz de aliviar el estrés  y la preocupación mediante las intervenciones de enfermería durante los días de internación </a:t>
                      </a:r>
                      <a:endParaRPr lang="es-BO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89535" marR="89535" marT="0" marB="0"/>
                </a:tc>
                <a:tc vMerge="1"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3675643">
                <a:tc vMerge="1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s-BO" dirty="0">
                        <a:effectLst/>
                      </a:endParaRPr>
                    </a:p>
                  </a:txBody>
                  <a:tcPr marL="89535" marR="89535" marT="0" marB="0"/>
                </a:tc>
                <a:tc v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s-E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 paciente logro aliviar su preocupación mediante la comunicación e información continua.</a:t>
                      </a:r>
                      <a:endParaRPr lang="es-BO" sz="11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3815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67544" y="404664"/>
            <a:ext cx="8064896" cy="6069288"/>
          </a:xfrm>
        </p:spPr>
        <p:txBody>
          <a:bodyPr/>
          <a:lstStyle/>
          <a:p>
            <a:r>
              <a:rPr lang="es-BO" dirty="0"/>
              <a:t>8</a:t>
            </a:r>
            <a:r>
              <a:rPr lang="es-BO" dirty="0" smtClean="0"/>
              <a:t>- PATRON ENFRENTAMIENTO Y TOLRENCIA AL ESTRES </a:t>
            </a:r>
          </a:p>
          <a:p>
            <a:endParaRPr lang="es-BO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053460"/>
              </p:ext>
            </p:extLst>
          </p:nvPr>
        </p:nvGraphicFramePr>
        <p:xfrm>
          <a:off x="539552" y="1349320"/>
          <a:ext cx="8064896" cy="559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/>
                <a:gridCol w="4032448"/>
                <a:gridCol w="2016224"/>
              </a:tblGrid>
              <a:tr h="820464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600" dirty="0" smtClean="0"/>
                        <a:t>DX.-</a:t>
                      </a:r>
                      <a:r>
                        <a:rPr kumimoji="0" lang="es-BO" sz="16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es-BO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Ansiedad relacionado con ambiente y rutinas desconocidas, conocimiento insuficiente del problema, estudios diagnósticos, tratamientos y pérdida del control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</a:tr>
              <a:tr h="461446">
                <a:tc>
                  <a:txBody>
                    <a:bodyPr/>
                    <a:lstStyle/>
                    <a:p>
                      <a:r>
                        <a:rPr lang="es-BO" dirty="0" smtClean="0"/>
                        <a:t>Objetivo</a:t>
                      </a:r>
                      <a:r>
                        <a:rPr lang="es-BO" baseline="0" dirty="0" smtClean="0"/>
                        <a:t> </a:t>
                      </a:r>
                      <a:r>
                        <a:rPr lang="es-BO" dirty="0" smtClean="0"/>
                        <a:t> </a:t>
                      </a:r>
                      <a:endParaRPr lang="es-BO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s-BO" sz="1600" dirty="0" smtClean="0"/>
                        <a:t>Intervenciones </a:t>
                      </a:r>
                    </a:p>
                    <a:p>
                      <a:pPr algn="ctr"/>
                      <a:endParaRPr lang="es-BO" sz="1600" dirty="0" smtClean="0"/>
                    </a:p>
                    <a:p>
                      <a:pPr marL="342900" indent="-342900" algn="just">
                        <a:buAutoNum type="arabicPeriod"/>
                      </a:pPr>
                      <a:r>
                        <a:rPr kumimoji="0" lang="es-E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control de estado neurológico</a:t>
                      </a:r>
                      <a:endParaRPr kumimoji="0" lang="es-BO" sz="16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es-E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2.-</a:t>
                      </a:r>
                      <a:r>
                        <a:rPr kumimoji="0" lang="es-BO" sz="16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.-</a:t>
                      </a:r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Disminución de la ansiedad.</a:t>
                      </a:r>
                    </a:p>
                    <a:p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Proporcionar información objetiva respecto al diagnóstico, tratamiento.</a:t>
                      </a:r>
                    </a:p>
                    <a:p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-Reforzar la información suministrada por los otros miembros del equipo de cuidados, si procede.</a:t>
                      </a:r>
                    </a:p>
                    <a:p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-informar al paciente sobre todos los procedimientos a realizar.</a:t>
                      </a:r>
                    </a:p>
                    <a:p>
                      <a:r>
                        <a:rPr kumimoji="0" lang="es-BO" sz="16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2.-</a:t>
                      </a:r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Presencia del profesional de enfermería</a:t>
                      </a:r>
                    </a:p>
                    <a:p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Escuchar las preocupaciones de la paciente.</a:t>
                      </a:r>
                    </a:p>
                    <a:p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Permanecer con la paciente para fomentar seguridad y disminuir los </a:t>
                      </a:r>
                      <a:r>
                        <a:rPr kumimoji="0" lang="es-BO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miedos.</a:t>
                      </a:r>
                    </a:p>
                    <a:p>
                      <a:endParaRPr lang="es-BO" sz="1100" baseline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s-BO" dirty="0" smtClean="0"/>
                        <a:t>Evaluación </a:t>
                      </a:r>
                      <a:endParaRPr lang="es-BO" dirty="0"/>
                    </a:p>
                  </a:txBody>
                  <a:tcPr/>
                </a:tc>
              </a:tr>
              <a:tr h="165308">
                <a:tc rowSpan="2">
                  <a:txBody>
                    <a:bodyPr/>
                    <a:lstStyle/>
                    <a:p>
                      <a:r>
                        <a:rPr kumimoji="0" lang="es-BO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paciente será capaz de : </a:t>
                      </a:r>
                    </a:p>
                    <a:p>
                      <a:pPr lvl="0"/>
                      <a:r>
                        <a:rPr kumimoji="0" lang="es-BO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Control de la ansiedad</a:t>
                      </a:r>
                      <a:endParaRPr lang="es-BO" sz="1200" dirty="0" smtClean="0">
                        <a:effectLst/>
                      </a:endParaRPr>
                    </a:p>
                    <a:p>
                      <a:pPr lvl="0"/>
                      <a:r>
                        <a:rPr kumimoji="0" lang="es-BO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Buscar información para reducir la</a:t>
                      </a:r>
                      <a:endParaRPr lang="es-BO" sz="1200" dirty="0" smtClean="0">
                        <a:effectLst/>
                      </a:endParaRPr>
                    </a:p>
                    <a:p>
                      <a:r>
                        <a:rPr kumimoji="0" lang="es-BO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Ansiedad.</a:t>
                      </a:r>
                      <a:endParaRPr lang="es-BO" sz="1200" dirty="0" smtClean="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s-BO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89535" marR="89535" marT="0" marB="0"/>
                </a:tc>
                <a:tc vMerge="1"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3364926">
                <a:tc vMerge="1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s-BO" dirty="0">
                        <a:effectLst/>
                      </a:endParaRPr>
                    </a:p>
                  </a:txBody>
                  <a:tcPr marL="89535" marR="89535" marT="0" marB="0"/>
                </a:tc>
                <a:tc v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.-</a:t>
                      </a:r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 proporciona a paciente información  acerca de su diagnóstico, tratamiento, etc. Con ayuda de un afiche que se utilizó para  ayudar al paciente para captar la información con mayor facilidad. </a:t>
                      </a:r>
                      <a:endParaRPr lang="es-BO" sz="11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9567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67544" y="404664"/>
            <a:ext cx="8064896" cy="6069288"/>
          </a:xfrm>
        </p:spPr>
        <p:txBody>
          <a:bodyPr/>
          <a:lstStyle/>
          <a:p>
            <a:r>
              <a:rPr lang="es-BO" dirty="0" smtClean="0"/>
              <a:t>9- PATRON REPRODUCTIVO SEXUAL</a:t>
            </a:r>
            <a:endParaRPr lang="es-BO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024989"/>
              </p:ext>
            </p:extLst>
          </p:nvPr>
        </p:nvGraphicFramePr>
        <p:xfrm>
          <a:off x="755576" y="1007171"/>
          <a:ext cx="7848872" cy="5703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218"/>
                <a:gridCol w="3924436"/>
                <a:gridCol w="1962218"/>
              </a:tblGrid>
              <a:tr h="714469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600" dirty="0" smtClean="0"/>
                        <a:t>DX.-</a:t>
                      </a:r>
                      <a:r>
                        <a:rPr kumimoji="0" lang="es-BO" sz="16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es-BO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Déficit del autoexamen testicular  relacionado a la falta de conocimiento.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</a:tr>
              <a:tr h="401833">
                <a:tc>
                  <a:txBody>
                    <a:bodyPr/>
                    <a:lstStyle/>
                    <a:p>
                      <a:r>
                        <a:rPr lang="es-BO" dirty="0" smtClean="0"/>
                        <a:t>Objetivo</a:t>
                      </a:r>
                      <a:r>
                        <a:rPr lang="es-BO" baseline="0" dirty="0" smtClean="0"/>
                        <a:t> </a:t>
                      </a:r>
                      <a:r>
                        <a:rPr lang="es-BO" dirty="0" smtClean="0"/>
                        <a:t> </a:t>
                      </a:r>
                      <a:endParaRPr lang="es-BO" dirty="0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s-BO" sz="1600" dirty="0" smtClean="0"/>
                        <a:t>Intervenciones </a:t>
                      </a:r>
                    </a:p>
                    <a:p>
                      <a:pPr marL="342900" indent="-342900" algn="ctr">
                        <a:buFont typeface="+mj-lt"/>
                        <a:buAutoNum type="arabicPeriod"/>
                      </a:pPr>
                      <a:endParaRPr lang="es-BO" sz="1600" dirty="0" smtClean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kumimoji="0" lang="es-E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1.-Expplicar</a:t>
                      </a:r>
                      <a:r>
                        <a:rPr kumimoji="0" lang="es-ES" sz="16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la importancia del autoexamen testicular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kumimoji="0" lang="es-ES" sz="16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Proporcionar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kumimoji="0" lang="es-ES" sz="16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Cartillas, afiches, </a:t>
                      </a:r>
                      <a:r>
                        <a:rPr kumimoji="0" lang="es-ES" sz="1600" kern="1200" baseline="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tripticos</a:t>
                      </a:r>
                      <a:r>
                        <a:rPr kumimoji="0" lang="es-ES" sz="16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con el autoexamen testicular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kumimoji="0" lang="es-ES" sz="16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Explicar complicaciones a nivel testicular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kumimoji="0" lang="es-ES" sz="16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Evaluar los conocimientos adquiridos  sobre el autoexamen testicular.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kumimoji="0" lang="es-ES" sz="16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Retroalimentación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kumimoji="0" lang="es-ES" sz="16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Indicar la importancia de la vista al urología </a:t>
                      </a:r>
                      <a:endParaRPr lang="es-BO" sz="1100" baseline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s-BO" dirty="0" smtClean="0"/>
                        <a:t>Evaluación </a:t>
                      </a:r>
                      <a:endParaRPr lang="es-BO" dirty="0"/>
                    </a:p>
                  </a:txBody>
                  <a:tcPr/>
                </a:tc>
              </a:tr>
              <a:tr h="118995">
                <a:tc row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BO" sz="14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El paciente será capaz de </a:t>
                      </a:r>
                      <a:endParaRPr lang="es-BO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BO" sz="14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Realizarse el autoexamen testicular y conocer su importancia durante su hospitalización  a corto plazo.</a:t>
                      </a:r>
                      <a:endParaRPr lang="es-BO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89535" marR="89535" marT="0" marB="0"/>
                </a:tc>
                <a:tc vMerge="1"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1565312">
                <a:tc v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kumimoji="0" lang="es-BO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 paciente indico que una vez sea dado de alta se realizara el autoexamen testicular.</a:t>
                      </a:r>
                      <a:endParaRPr lang="es-BO" dirty="0"/>
                    </a:p>
                  </a:txBody>
                  <a:tcPr/>
                </a:tc>
              </a:tr>
              <a:tr h="249759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BO" sz="14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El paciente será capaz </a:t>
                      </a:r>
                      <a:r>
                        <a:rPr lang="es-BO" sz="1400" dirty="0" smtClean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de</a:t>
                      </a:r>
                      <a:endParaRPr lang="es-BO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BO" sz="14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Realizarse el autoexamen testicular y conocer su importancia durante su hospitalización  a corto plazo.</a:t>
                      </a:r>
                      <a:endParaRPr lang="es-BO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89535" marR="89535" marT="0" marB="0"/>
                </a:tc>
                <a:tc vMerge="1"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BO" sz="11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2968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67544" y="404664"/>
            <a:ext cx="8064896" cy="6069288"/>
          </a:xfrm>
        </p:spPr>
        <p:txBody>
          <a:bodyPr/>
          <a:lstStyle/>
          <a:p>
            <a:r>
              <a:rPr lang="es-BO" dirty="0" smtClean="0"/>
              <a:t>9- PATRON DE CREENCIAS Y VALORES</a:t>
            </a:r>
            <a:endParaRPr lang="es-BO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453705"/>
              </p:ext>
            </p:extLst>
          </p:nvPr>
        </p:nvGraphicFramePr>
        <p:xfrm>
          <a:off x="395536" y="980729"/>
          <a:ext cx="8280920" cy="5883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0230"/>
                <a:gridCol w="4140460"/>
                <a:gridCol w="2070230"/>
              </a:tblGrid>
              <a:tr h="933275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600" dirty="0" smtClean="0"/>
                        <a:t>DX.-</a:t>
                      </a:r>
                      <a:r>
                        <a:rPr kumimoji="0" lang="es-BO" sz="16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es-BO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Alteración de sus prácticas religiosas relacionada a limitación de movimiento, secundaria a la patología actual que cursa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</a:tr>
              <a:tr h="470971">
                <a:tc>
                  <a:txBody>
                    <a:bodyPr/>
                    <a:lstStyle/>
                    <a:p>
                      <a:r>
                        <a:rPr lang="es-BO" dirty="0" smtClean="0"/>
                        <a:t>Objetivo</a:t>
                      </a:r>
                      <a:r>
                        <a:rPr lang="es-BO" baseline="0" dirty="0" smtClean="0"/>
                        <a:t> </a:t>
                      </a:r>
                      <a:r>
                        <a:rPr lang="es-BO" dirty="0" smtClean="0"/>
                        <a:t> </a:t>
                      </a:r>
                      <a:endParaRPr lang="es-BO" dirty="0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s-BO" sz="1600" dirty="0" smtClean="0"/>
                        <a:t>Intervenciones </a:t>
                      </a:r>
                    </a:p>
                    <a:p>
                      <a:pPr lvl="0"/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Valorar el grado de afectación de sus prácticas religiosas.</a:t>
                      </a:r>
                      <a:endParaRPr lang="es-BO" sz="1400" dirty="0" smtClean="0">
                        <a:effectLst/>
                      </a:endParaRPr>
                    </a:p>
                    <a:p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s-BO" sz="1400" dirty="0" smtClean="0">
                        <a:effectLst/>
                      </a:endParaRPr>
                    </a:p>
                    <a:p>
                      <a:pPr lvl="0"/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Valorar la respuesta emocional a la incapacidad de practicar los rituales religiosos o espirituales o a la separación del sistema de apoyo emocional:</a:t>
                      </a:r>
                      <a:endParaRPr lang="es-BO" sz="1400" dirty="0" smtClean="0">
                        <a:effectLst/>
                      </a:endParaRPr>
                    </a:p>
                    <a:p>
                      <a:pPr lvl="0"/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Calma</a:t>
                      </a:r>
                      <a:endParaRPr lang="es-BO" sz="1400" dirty="0" smtClean="0">
                        <a:effectLst/>
                      </a:endParaRPr>
                    </a:p>
                    <a:p>
                      <a:pPr lvl="0"/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Enojo</a:t>
                      </a:r>
                      <a:endParaRPr lang="es-BO" sz="1400" dirty="0" smtClean="0">
                        <a:effectLst/>
                      </a:endParaRPr>
                    </a:p>
                    <a:p>
                      <a:pPr lvl="0"/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Tristeza</a:t>
                      </a:r>
                      <a:endParaRPr lang="es-BO" sz="1400" dirty="0" smtClean="0">
                        <a:effectLst/>
                      </a:endParaRPr>
                    </a:p>
                    <a:p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s-BO" sz="1400" dirty="0" smtClean="0">
                        <a:effectLst/>
                      </a:endParaRPr>
                    </a:p>
                    <a:p>
                      <a:pPr lvl="0"/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Reforzar las prácticas religiosas del paciente, una vez por día.</a:t>
                      </a:r>
                      <a:endParaRPr lang="es-BO" sz="1400" dirty="0" smtClean="0">
                        <a:effectLst/>
                      </a:endParaRPr>
                    </a:p>
                    <a:p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lvl="0"/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Brindar tranquilidad e intimidad para los ritos espirituales.</a:t>
                      </a:r>
                      <a:endParaRPr lang="es-BO" sz="1400" dirty="0" smtClean="0">
                        <a:effectLst/>
                      </a:endParaRPr>
                    </a:p>
                    <a:p>
                      <a:pPr marL="342900" indent="-342900" algn="ctr">
                        <a:buFont typeface="+mj-lt"/>
                        <a:buAutoNum type="arabicPeriod"/>
                      </a:pPr>
                      <a:endParaRPr lang="es-BO" sz="1600" dirty="0" smtClean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s-BO" dirty="0" smtClean="0"/>
                        <a:t>Evaluación </a:t>
                      </a:r>
                      <a:endParaRPr lang="es-BO" dirty="0"/>
                    </a:p>
                  </a:txBody>
                  <a:tcPr/>
                </a:tc>
              </a:tr>
              <a:tr h="164665">
                <a:tc rowSpan="2">
                  <a:txBody>
                    <a:bodyPr/>
                    <a:lstStyle/>
                    <a:p>
                      <a:endParaRPr lang="es-BO" dirty="0"/>
                    </a:p>
                  </a:txBody>
                  <a:tcPr marL="89535" marR="89535" marT="0" marB="0"/>
                </a:tc>
                <a:tc vMerge="1">
                  <a:txBody>
                    <a:bodyPr/>
                    <a:lstStyle/>
                    <a:p>
                      <a:endParaRPr lang="es-BO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  <a:tr h="115317">
                <a:tc v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Durante las prácticas religiosas si se logró brindar un ambiente tranquilo.</a:t>
                      </a:r>
                    </a:p>
                    <a:p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r>
                        <a:rPr kumimoji="0" lang="es-BO" sz="16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BO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 se leyó la biblia, con lo cual el paciente después de la lectura se quedó pensativo, reflexionando</a:t>
                      </a:r>
                      <a:r>
                        <a:rPr kumimoji="0" lang="es-BO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endParaRPr lang="es-BO" dirty="0"/>
                    </a:p>
                  </a:txBody>
                  <a:tcPr/>
                </a:tc>
              </a:tr>
              <a:tr h="4199740">
                <a:tc>
                  <a:txBody>
                    <a:bodyPr/>
                    <a:lstStyle/>
                    <a:p>
                      <a:r>
                        <a:rPr kumimoji="0" lang="es-BO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 paciente será capaz de:</a:t>
                      </a:r>
                    </a:p>
                    <a:p>
                      <a:r>
                        <a:rPr kumimoji="0" lang="es-BO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Mantener sus prácticas religiosas, mediante las intervenciones de enfermería, durante las visitas religiosas por las hermanas y el personal de enfermería, por turno.</a:t>
                      </a:r>
                      <a:endParaRPr lang="es-BO" dirty="0"/>
                    </a:p>
                  </a:txBody>
                  <a:tcPr marL="89535" marR="89535" marT="0" marB="0"/>
                </a:tc>
                <a:tc v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6364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2852936"/>
            <a:ext cx="1905000" cy="2400300"/>
          </a:xfrm>
          <a:prstGeom prst="rect">
            <a:avLst/>
          </a:prstGeom>
        </p:spPr>
      </p:pic>
      <p:sp>
        <p:nvSpPr>
          <p:cNvPr id="3" name="2 Rectángulo redondeado"/>
          <p:cNvSpPr/>
          <p:nvPr/>
        </p:nvSpPr>
        <p:spPr>
          <a:xfrm>
            <a:off x="1763688" y="3212976"/>
            <a:ext cx="3074640" cy="914400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3200" dirty="0" smtClean="0">
                <a:solidFill>
                  <a:schemeClr val="tx1"/>
                </a:solidFill>
              </a:rPr>
              <a:t>GRACIAS</a:t>
            </a:r>
            <a:r>
              <a:rPr lang="es-BO" dirty="0" smtClean="0"/>
              <a:t> 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1340930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irador">
  <a:themeElements>
    <a:clrScheme name="Mirador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Mirador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irador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666</TotalTime>
  <Words>2182</Words>
  <Application>Microsoft Office PowerPoint</Application>
  <PresentationFormat>Presentación en pantalla (4:3)</PresentationFormat>
  <Paragraphs>365</Paragraphs>
  <Slides>28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29" baseType="lpstr">
      <vt:lpstr>Mirador</vt:lpstr>
      <vt:lpstr>PROCESO DE ATENCION DE ENFERMERIA </vt:lpstr>
      <vt:lpstr>Datos generales</vt:lpstr>
      <vt:lpstr>Presentación de PowerPoint</vt:lpstr>
      <vt:lpstr>Presentación de PowerPoint</vt:lpstr>
      <vt:lpstr>Presentación de PowerPoint</vt:lpstr>
      <vt:lpstr>ANTECEDENTES PERSONALES PATOLÓGICOS.</vt:lpstr>
      <vt:lpstr>ANTECEDENTES PERSONALES NO PATOLÓGICOS.</vt:lpstr>
      <vt:lpstr>EXAMEN FÍSICO GENERAL. </vt:lpstr>
      <vt:lpstr>Examen físico general</vt:lpstr>
      <vt:lpstr>Presentación de PowerPoint</vt:lpstr>
      <vt:lpstr>DESCRIPCION CLINICA DEL DIAGNOSTICO MEDICO</vt:lpstr>
      <vt:lpstr>LABORATORIOS: hemograma 18.11.14 </vt:lpstr>
      <vt:lpstr>Laboratorios: ionograma</vt:lpstr>
      <vt:lpstr>LABORATORIOS química sanguínea urea: 27 mg/dl creatinina:0.9 mg/dl glicemia:75 mg/dl. ionograma</vt:lpstr>
      <vt:lpstr>General de orina</vt:lpstr>
      <vt:lpstr>Manejo por especialidades</vt:lpstr>
      <vt:lpstr>INDICACIONES MEDICAS </vt:lpstr>
      <vt:lpstr>DESCRPCION DEL TRATAMIENTO</vt:lpstr>
      <vt:lpstr>Valoración de los patrones de Gordon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PROCESO DE ATENCION DE ENFERMERIA</dc:title>
  <dc:creator>LILI</dc:creator>
  <cp:lastModifiedBy>LILI</cp:lastModifiedBy>
  <cp:revision>20</cp:revision>
  <dcterms:created xsi:type="dcterms:W3CDTF">2014-12-17T09:07:52Z</dcterms:created>
  <dcterms:modified xsi:type="dcterms:W3CDTF">2014-12-17T21:55:48Z</dcterms:modified>
</cp:coreProperties>
</file>