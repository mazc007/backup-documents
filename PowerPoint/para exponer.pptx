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s/slide56.xml" ContentType="application/vnd.openxmlformats-officedocument.presentationml.slide+xml"/>
  <Override PartName="/ppt/slides/slide58.xml" ContentType="application/vnd.openxmlformats-officedocument.presentationml.slide+xml"/>
  <Override PartName="/ppt/slideLayouts/slideLayout8.xml" ContentType="application/vnd.openxmlformats-officedocument.presentationml.slideLayout+xml"/>
  <Override PartName="/ppt/diagrams/colors1.xml" ContentType="application/vnd.openxmlformats-officedocument.drawingml.diagramColors+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diagrams/layout1.xml" ContentType="application/vnd.openxmlformats-officedocument.drawingml.diagramLayout+xml"/>
  <Override PartName="/ppt/slides/slide7.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s/slide66.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Layouts/slideLayout3.xml" ContentType="application/vnd.openxmlformats-officedocument.presentationml.slideLayout+xml"/>
  <Default Extension="jpeg" ContentType="image/jpeg"/>
  <Override PartName="/ppt/diagrams/quickStyle1.xml" ContentType="application/vnd.openxmlformats-officedocument.drawingml.diagramStyl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Override PartName="/ppt/slides/slide8.xml" ContentType="application/vnd.openxmlformats-officedocument.presentationml.slide+xml"/>
  <Override PartName="/ppt/slides/slide49.xml" ContentType="application/vnd.openxmlformats-officedocument.presentationml.slide+xml"/>
  <Override PartName="/ppt/diagrams/data1.xml" ContentType="application/vnd.openxmlformats-officedocument.drawingml.diagramData+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5" r:id="rId1"/>
  </p:sldMasterIdLst>
  <p:notesMasterIdLst>
    <p:notesMasterId r:id="rId68"/>
  </p:notesMasterIdLst>
  <p:sldIdLst>
    <p:sldId id="257" r:id="rId2"/>
    <p:sldId id="315" r:id="rId3"/>
    <p:sldId id="316" r:id="rId4"/>
    <p:sldId id="317" r:id="rId5"/>
    <p:sldId id="318" r:id="rId6"/>
    <p:sldId id="319" r:id="rId7"/>
    <p:sldId id="320" r:id="rId8"/>
    <p:sldId id="321" r:id="rId9"/>
    <p:sldId id="322" r:id="rId10"/>
    <p:sldId id="323" r:id="rId11"/>
    <p:sldId id="324" r:id="rId12"/>
    <p:sldId id="259" r:id="rId13"/>
    <p:sldId id="260" r:id="rId14"/>
    <p:sldId id="261" r:id="rId15"/>
    <p:sldId id="262" r:id="rId16"/>
    <p:sldId id="263" r:id="rId17"/>
    <p:sldId id="286" r:id="rId18"/>
    <p:sldId id="264" r:id="rId19"/>
    <p:sldId id="265" r:id="rId20"/>
    <p:sldId id="266" r:id="rId21"/>
    <p:sldId id="267" r:id="rId22"/>
    <p:sldId id="268" r:id="rId23"/>
    <p:sldId id="287" r:id="rId24"/>
    <p:sldId id="269" r:id="rId25"/>
    <p:sldId id="270" r:id="rId26"/>
    <p:sldId id="271" r:id="rId27"/>
    <p:sldId id="272" r:id="rId28"/>
    <p:sldId id="288" r:id="rId29"/>
    <p:sldId id="273" r:id="rId30"/>
    <p:sldId id="289" r:id="rId31"/>
    <p:sldId id="274" r:id="rId32"/>
    <p:sldId id="291" r:id="rId33"/>
    <p:sldId id="290" r:id="rId34"/>
    <p:sldId id="292" r:id="rId35"/>
    <p:sldId id="275" r:id="rId36"/>
    <p:sldId id="293" r:id="rId37"/>
    <p:sldId id="276" r:id="rId38"/>
    <p:sldId id="325" r:id="rId39"/>
    <p:sldId id="277" r:id="rId40"/>
    <p:sldId id="278" r:id="rId41"/>
    <p:sldId id="279" r:id="rId42"/>
    <p:sldId id="280" r:id="rId43"/>
    <p:sldId id="281" r:id="rId44"/>
    <p:sldId id="282" r:id="rId45"/>
    <p:sldId id="294" r:id="rId46"/>
    <p:sldId id="283" r:id="rId47"/>
    <p:sldId id="295" r:id="rId48"/>
    <p:sldId id="284" r:id="rId49"/>
    <p:sldId id="296" r:id="rId50"/>
    <p:sldId id="285" r:id="rId51"/>
    <p:sldId id="297" r:id="rId52"/>
    <p:sldId id="300" r:id="rId53"/>
    <p:sldId id="301" r:id="rId54"/>
    <p:sldId id="302" r:id="rId55"/>
    <p:sldId id="303" r:id="rId56"/>
    <p:sldId id="304" r:id="rId57"/>
    <p:sldId id="308" r:id="rId58"/>
    <p:sldId id="306" r:id="rId59"/>
    <p:sldId id="307" r:id="rId60"/>
    <p:sldId id="309" r:id="rId61"/>
    <p:sldId id="310" r:id="rId62"/>
    <p:sldId id="311" r:id="rId63"/>
    <p:sldId id="312" r:id="rId64"/>
    <p:sldId id="313" r:id="rId65"/>
    <p:sldId id="314" r:id="rId66"/>
    <p:sldId id="298" r:id="rId67"/>
  </p:sldIdLst>
  <p:sldSz cx="9144000" cy="6858000" type="screen4x3"/>
  <p:notesSz cx="6858000" cy="9144000"/>
  <p:defaultTextStyle>
    <a:defPPr>
      <a:defRPr lang="es-E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FF00"/>
    <a:srgbClr val="99CC00"/>
    <a:srgbClr val="FFFF00"/>
    <a:srgbClr val="0C0A00"/>
    <a:srgbClr val="008000"/>
    <a:srgbClr val="F6FD95"/>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19" autoAdjust="0"/>
    <p:restoredTop sz="83590" autoAdjust="0"/>
  </p:normalViewPr>
  <p:slideViewPr>
    <p:cSldViewPr>
      <p:cViewPr varScale="1">
        <p:scale>
          <a:sx n="36" d="100"/>
          <a:sy n="36" d="100"/>
        </p:scale>
        <p:origin x="-1476" y="-84"/>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62E20AF-B843-47C1-8F57-2B7CD26605C7}" type="doc">
      <dgm:prSet loTypeId="urn:microsoft.com/office/officeart/2005/8/layout/hList3" loCatId="list" qsTypeId="urn:microsoft.com/office/officeart/2005/8/quickstyle/simple1" qsCatId="simple" csTypeId="urn:microsoft.com/office/officeart/2005/8/colors/accent1_2" csCatId="accent1" phldr="1"/>
      <dgm:spPr/>
      <dgm:t>
        <a:bodyPr/>
        <a:lstStyle/>
        <a:p>
          <a:endParaRPr lang="es-ES"/>
        </a:p>
      </dgm:t>
    </dgm:pt>
    <dgm:pt modelId="{2C3C2060-A895-4DA9-A6E5-F9AEECBF9EA1}">
      <dgm:prSet phldrT="[Texto]" custT="1"/>
      <dgm:spPr>
        <a:solidFill>
          <a:schemeClr val="tx2">
            <a:lumMod val="60000"/>
            <a:lumOff val="40000"/>
          </a:schemeClr>
        </a:solidFill>
      </dgm:spPr>
      <dgm:t>
        <a:bodyPr/>
        <a:lstStyle/>
        <a:p>
          <a:pPr algn="ctr"/>
          <a:r>
            <a:rPr lang="es-ES" sz="3200" b="1" dirty="0" smtClean="0">
              <a:solidFill>
                <a:srgbClr val="0C0A00"/>
              </a:solidFill>
              <a:latin typeface="Monotype Corsiva" pitchFamily="66" charset="0"/>
            </a:rPr>
            <a:t>2.1.2 Efectos   de  fármacos  en  relación  con  el  periodo embrionario</a:t>
          </a:r>
          <a:endParaRPr lang="es-ES" sz="3200" b="1" dirty="0">
            <a:solidFill>
              <a:srgbClr val="0C0A00"/>
            </a:solidFill>
            <a:latin typeface="Monotype Corsiva" pitchFamily="66" charset="0"/>
          </a:endParaRPr>
        </a:p>
      </dgm:t>
    </dgm:pt>
    <dgm:pt modelId="{D6BAAFCF-716A-4EDD-A274-BE3803E7E659}" type="parTrans" cxnId="{E8CDA5BD-2396-4C31-926C-E56B73063CE6}">
      <dgm:prSet/>
      <dgm:spPr/>
      <dgm:t>
        <a:bodyPr/>
        <a:lstStyle/>
        <a:p>
          <a:endParaRPr lang="es-ES"/>
        </a:p>
      </dgm:t>
    </dgm:pt>
    <dgm:pt modelId="{D09645BF-B61F-4B56-B585-48EE8F5D177A}" type="sibTrans" cxnId="{E8CDA5BD-2396-4C31-926C-E56B73063CE6}">
      <dgm:prSet/>
      <dgm:spPr/>
      <dgm:t>
        <a:bodyPr/>
        <a:lstStyle/>
        <a:p>
          <a:endParaRPr lang="es-ES"/>
        </a:p>
      </dgm:t>
    </dgm:pt>
    <dgm:pt modelId="{60F8E13C-3A5F-44B3-897D-D76870FD6FBE}">
      <dgm:prSet phldrT="[Texto]" custT="1"/>
      <dgm:spPr>
        <a:solidFill>
          <a:schemeClr val="tx2">
            <a:lumMod val="20000"/>
            <a:lumOff val="80000"/>
          </a:schemeClr>
        </a:solidFill>
      </dgm:spPr>
      <dgm:t>
        <a:bodyPr/>
        <a:lstStyle/>
        <a:p>
          <a:pPr algn="l"/>
          <a:r>
            <a:rPr lang="es-ES" sz="2800" b="1" dirty="0" smtClean="0">
              <a:solidFill>
                <a:srgbClr val="0C0A00"/>
              </a:solidFill>
              <a:latin typeface="Monotype Corsiva" pitchFamily="66" charset="0"/>
            </a:rPr>
            <a:t>Gametogénesis :</a:t>
          </a:r>
        </a:p>
        <a:p>
          <a:pPr algn="l"/>
          <a:r>
            <a:rPr lang="es-ES" sz="2800" dirty="0" smtClean="0">
              <a:solidFill>
                <a:srgbClr val="0C0A00"/>
              </a:solidFill>
              <a:latin typeface="Monotype Corsiva" pitchFamily="66" charset="0"/>
            </a:rPr>
            <a:t>*</a:t>
          </a:r>
          <a:r>
            <a:rPr lang="es-ES" sz="2800" b="0" dirty="0" smtClean="0">
              <a:solidFill>
                <a:srgbClr val="0C0A00"/>
              </a:solidFill>
              <a:latin typeface="Monotype Corsiva" pitchFamily="66" charset="0"/>
            </a:rPr>
            <a:t>Los fármacos pueden producir  muerte espermática u ovular.</a:t>
          </a:r>
        </a:p>
        <a:p>
          <a:pPr algn="l"/>
          <a:r>
            <a:rPr lang="es-ES" sz="2800" b="0" dirty="0" smtClean="0">
              <a:solidFill>
                <a:srgbClr val="0C0A00"/>
              </a:solidFill>
              <a:latin typeface="Monotype Corsiva" pitchFamily="66" charset="0"/>
            </a:rPr>
            <a:t>*Alteraciones cromosómicas</a:t>
          </a:r>
        </a:p>
        <a:p>
          <a:pPr algn="l"/>
          <a:r>
            <a:rPr lang="es-ES" sz="2800" b="0" dirty="0" smtClean="0">
              <a:solidFill>
                <a:srgbClr val="0C0A00"/>
              </a:solidFill>
              <a:latin typeface="Monotype Corsiva" pitchFamily="66" charset="0"/>
            </a:rPr>
            <a:t>*Muerte embrionaria que lleva a un aborto precoz</a:t>
          </a:r>
        </a:p>
        <a:p>
          <a:pPr algn="l"/>
          <a:endParaRPr lang="es-ES" sz="2800" b="0" dirty="0" smtClean="0">
            <a:solidFill>
              <a:srgbClr val="0C0A00"/>
            </a:solidFill>
            <a:latin typeface="Monotype Corsiva" pitchFamily="66" charset="0"/>
          </a:endParaRPr>
        </a:p>
        <a:p>
          <a:pPr algn="l"/>
          <a:endParaRPr lang="es-ES" sz="2800" b="0" dirty="0">
            <a:solidFill>
              <a:srgbClr val="0C0A00"/>
            </a:solidFill>
            <a:latin typeface="Monotype Corsiva" pitchFamily="66" charset="0"/>
          </a:endParaRPr>
        </a:p>
      </dgm:t>
    </dgm:pt>
    <dgm:pt modelId="{3FE82B9B-41F7-41F8-B882-32E8BBDFD030}" type="parTrans" cxnId="{BC9E72FD-F26B-4FF7-9A46-B888ACDBDB65}">
      <dgm:prSet/>
      <dgm:spPr/>
      <dgm:t>
        <a:bodyPr/>
        <a:lstStyle/>
        <a:p>
          <a:endParaRPr lang="es-ES"/>
        </a:p>
      </dgm:t>
    </dgm:pt>
    <dgm:pt modelId="{8DC56E84-FCFA-42C4-9C75-59F0F833B7D8}" type="sibTrans" cxnId="{BC9E72FD-F26B-4FF7-9A46-B888ACDBDB65}">
      <dgm:prSet/>
      <dgm:spPr/>
      <dgm:t>
        <a:bodyPr/>
        <a:lstStyle/>
        <a:p>
          <a:endParaRPr lang="es-ES"/>
        </a:p>
      </dgm:t>
    </dgm:pt>
    <dgm:pt modelId="{236A3DE3-F1F5-448F-933A-C00B4400DB43}">
      <dgm:prSet phldrT="[Texto]" custT="1"/>
      <dgm:spPr>
        <a:solidFill>
          <a:schemeClr val="accent5">
            <a:lumMod val="40000"/>
            <a:lumOff val="60000"/>
          </a:schemeClr>
        </a:solidFill>
      </dgm:spPr>
      <dgm:t>
        <a:bodyPr/>
        <a:lstStyle/>
        <a:p>
          <a:pPr algn="l"/>
          <a:r>
            <a:rPr lang="es-ES" sz="2800" b="1" dirty="0" smtClean="0">
              <a:solidFill>
                <a:srgbClr val="0C0A00"/>
              </a:solidFill>
              <a:latin typeface="Monotype Corsiva" pitchFamily="66" charset="0"/>
            </a:rPr>
            <a:t>Periodo embrionario : </a:t>
          </a:r>
        </a:p>
        <a:p>
          <a:pPr algn="l"/>
          <a:r>
            <a:rPr lang="es-ES" sz="2000" dirty="0" smtClean="0">
              <a:solidFill>
                <a:srgbClr val="0C0A00"/>
              </a:solidFill>
              <a:latin typeface="Monotype Corsiva" pitchFamily="66" charset="0"/>
            </a:rPr>
            <a:t>3ra y 8va </a:t>
          </a:r>
          <a:r>
            <a:rPr lang="es-ES" sz="2000" dirty="0" err="1" smtClean="0">
              <a:solidFill>
                <a:srgbClr val="0C0A00"/>
              </a:solidFill>
              <a:latin typeface="Monotype Corsiva" pitchFamily="66" charset="0"/>
            </a:rPr>
            <a:t>sem</a:t>
          </a:r>
          <a:r>
            <a:rPr lang="es-ES" sz="2000" dirty="0" smtClean="0">
              <a:solidFill>
                <a:srgbClr val="0C0A00"/>
              </a:solidFill>
              <a:latin typeface="Monotype Corsiva" pitchFamily="66" charset="0"/>
            </a:rPr>
            <a:t>. es considerado como el mas susceptible a anomalías congénitas</a:t>
          </a:r>
        </a:p>
        <a:p>
          <a:pPr algn="l"/>
          <a:r>
            <a:rPr lang="es-ES" sz="2000" dirty="0" err="1" smtClean="0">
              <a:solidFill>
                <a:srgbClr val="0C0A00"/>
              </a:solidFill>
              <a:latin typeface="Monotype Corsiva" pitchFamily="66" charset="0"/>
            </a:rPr>
            <a:t>Talidomina</a:t>
          </a:r>
          <a:r>
            <a:rPr lang="es-ES" sz="2000" dirty="0" smtClean="0">
              <a:solidFill>
                <a:srgbClr val="0C0A00"/>
              </a:solidFill>
              <a:latin typeface="Monotype Corsiva" pitchFamily="66" charset="0"/>
            </a:rPr>
            <a:t>  que es </a:t>
          </a:r>
          <a:r>
            <a:rPr lang="es-ES" sz="2000" dirty="0" err="1" smtClean="0">
              <a:solidFill>
                <a:srgbClr val="0C0A00"/>
              </a:solidFill>
              <a:latin typeface="Monotype Corsiva" pitchFamily="66" charset="0"/>
            </a:rPr>
            <a:t>teratogeno</a:t>
          </a:r>
          <a:r>
            <a:rPr lang="es-ES" sz="2000" dirty="0" smtClean="0">
              <a:solidFill>
                <a:srgbClr val="0C0A00"/>
              </a:solidFill>
              <a:latin typeface="Monotype Corsiva" pitchFamily="66" charset="0"/>
            </a:rPr>
            <a:t> verdadero ya que afecta al 80% o 90% .de los embriones.</a:t>
          </a:r>
        </a:p>
        <a:p>
          <a:pPr algn="l"/>
          <a:r>
            <a:rPr lang="es-ES" sz="2000" dirty="0" err="1" smtClean="0">
              <a:solidFill>
                <a:srgbClr val="0C0A00"/>
              </a:solidFill>
              <a:latin typeface="Monotype Corsiva" pitchFamily="66" charset="0"/>
            </a:rPr>
            <a:t>Teratogenos</a:t>
          </a:r>
          <a:r>
            <a:rPr lang="es-ES" sz="2000" dirty="0" smtClean="0">
              <a:solidFill>
                <a:srgbClr val="0C0A00"/>
              </a:solidFill>
              <a:latin typeface="Monotype Corsiva" pitchFamily="66" charset="0"/>
            </a:rPr>
            <a:t>  potenciales que afecta aun menor porcentaje.</a:t>
          </a:r>
        </a:p>
        <a:p>
          <a:pPr algn="l"/>
          <a:r>
            <a:rPr lang="es-ES" sz="2000" dirty="0" err="1" smtClean="0">
              <a:solidFill>
                <a:srgbClr val="0C0A00"/>
              </a:solidFill>
              <a:latin typeface="Monotype Corsiva" pitchFamily="66" charset="0"/>
            </a:rPr>
            <a:t>Embriotoxicos</a:t>
          </a:r>
          <a:r>
            <a:rPr lang="es-ES" sz="2000" dirty="0" smtClean="0">
              <a:solidFill>
                <a:srgbClr val="0C0A00"/>
              </a:solidFill>
              <a:latin typeface="Monotype Corsiva" pitchFamily="66" charset="0"/>
            </a:rPr>
            <a:t>  que provocan un mayar aumento dudoso en el numero de muertes fetales</a:t>
          </a:r>
        </a:p>
        <a:p>
          <a:pPr algn="l"/>
          <a:endParaRPr lang="es-ES" sz="2000" dirty="0" smtClean="0">
            <a:solidFill>
              <a:srgbClr val="0C0A00"/>
            </a:solidFill>
            <a:latin typeface="Monotype Corsiva" pitchFamily="66" charset="0"/>
          </a:endParaRPr>
        </a:p>
        <a:p>
          <a:pPr algn="l"/>
          <a:endParaRPr lang="es-ES" sz="2000" dirty="0" smtClean="0">
            <a:solidFill>
              <a:srgbClr val="0C0A00"/>
            </a:solidFill>
            <a:latin typeface="Monotype Corsiva" pitchFamily="66" charset="0"/>
          </a:endParaRPr>
        </a:p>
        <a:p>
          <a:pPr algn="l"/>
          <a:endParaRPr lang="es-ES" sz="2000" dirty="0">
            <a:solidFill>
              <a:srgbClr val="0C0A00"/>
            </a:solidFill>
            <a:latin typeface="Monotype Corsiva" pitchFamily="66" charset="0"/>
          </a:endParaRPr>
        </a:p>
      </dgm:t>
    </dgm:pt>
    <dgm:pt modelId="{1F5A88FA-41A2-4C32-93DF-0D819F993B6E}" type="parTrans" cxnId="{3487ECF5-728C-4653-AA8A-1761E6443E25}">
      <dgm:prSet/>
      <dgm:spPr/>
      <dgm:t>
        <a:bodyPr/>
        <a:lstStyle/>
        <a:p>
          <a:endParaRPr lang="es-ES"/>
        </a:p>
      </dgm:t>
    </dgm:pt>
    <dgm:pt modelId="{E2F7CB57-9D10-4A3B-90F0-0053DE58BEC4}" type="sibTrans" cxnId="{3487ECF5-728C-4653-AA8A-1761E6443E25}">
      <dgm:prSet/>
      <dgm:spPr/>
      <dgm:t>
        <a:bodyPr/>
        <a:lstStyle/>
        <a:p>
          <a:endParaRPr lang="es-ES"/>
        </a:p>
      </dgm:t>
    </dgm:pt>
    <dgm:pt modelId="{6FDB5CD3-F016-4DF6-83BC-66D7D6B3D415}">
      <dgm:prSet phldrT="[Texto]" custT="1"/>
      <dgm:spPr>
        <a:solidFill>
          <a:srgbClr val="00B0F0"/>
        </a:solidFill>
      </dgm:spPr>
      <dgm:t>
        <a:bodyPr/>
        <a:lstStyle/>
        <a:p>
          <a:pPr algn="l"/>
          <a:endParaRPr lang="es-ES" sz="2800" b="1" dirty="0" smtClean="0">
            <a:solidFill>
              <a:srgbClr val="0C0A00"/>
            </a:solidFill>
            <a:latin typeface="Monotype Corsiva" pitchFamily="66" charset="0"/>
          </a:endParaRPr>
        </a:p>
        <a:p>
          <a:pPr algn="l"/>
          <a:endParaRPr lang="es-ES" sz="2800" b="1" dirty="0" smtClean="0">
            <a:solidFill>
              <a:srgbClr val="0C0A00"/>
            </a:solidFill>
            <a:latin typeface="Monotype Corsiva" pitchFamily="66" charset="0"/>
          </a:endParaRPr>
        </a:p>
        <a:p>
          <a:pPr algn="l"/>
          <a:r>
            <a:rPr lang="es-ES" sz="2800" b="1" dirty="0" smtClean="0">
              <a:solidFill>
                <a:srgbClr val="0C0A00"/>
              </a:solidFill>
              <a:latin typeface="Monotype Corsiva" pitchFamily="66" charset="0"/>
            </a:rPr>
            <a:t>Periodo de crecimiento fetal:</a:t>
          </a:r>
        </a:p>
        <a:p>
          <a:pPr algn="l"/>
          <a:r>
            <a:rPr lang="es-ES" sz="2000" b="0" dirty="0" smtClean="0">
              <a:solidFill>
                <a:srgbClr val="0C0A00"/>
              </a:solidFill>
              <a:latin typeface="Monotype Corsiva" pitchFamily="66" charset="0"/>
            </a:rPr>
            <a:t>9va  </a:t>
          </a:r>
          <a:r>
            <a:rPr lang="es-ES" sz="2000" b="0" dirty="0" err="1" smtClean="0">
              <a:solidFill>
                <a:srgbClr val="0C0A00"/>
              </a:solidFill>
              <a:latin typeface="Monotype Corsiva" pitchFamily="66" charset="0"/>
            </a:rPr>
            <a:t>sem</a:t>
          </a:r>
          <a:r>
            <a:rPr lang="es-ES" sz="2000" b="0" dirty="0" smtClean="0">
              <a:solidFill>
                <a:srgbClr val="0C0A00"/>
              </a:solidFill>
              <a:latin typeface="Monotype Corsiva" pitchFamily="66" charset="0"/>
            </a:rPr>
            <a:t>. Este periodo tiene que ver con la administración de fármacos en el momento previo del parto.</a:t>
          </a:r>
        </a:p>
        <a:p>
          <a:pPr algn="l"/>
          <a:endParaRPr lang="es-ES" sz="2000" b="0" dirty="0" smtClean="0">
            <a:solidFill>
              <a:srgbClr val="0C0A00"/>
            </a:solidFill>
            <a:latin typeface="Monotype Corsiva" pitchFamily="66" charset="0"/>
          </a:endParaRPr>
        </a:p>
        <a:p>
          <a:pPr algn="l"/>
          <a:r>
            <a:rPr lang="es-ES" sz="2000" b="0" dirty="0" smtClean="0">
              <a:solidFill>
                <a:srgbClr val="0C0A00"/>
              </a:solidFill>
              <a:latin typeface="Monotype Corsiva" pitchFamily="66" charset="0"/>
            </a:rPr>
            <a:t>El tipo de alteraciones por fármacos tóxicos durante este periodo pueden ser: parto prematuro, aborto, morbilidad fetal o del recién nacido y posiblemente anomalías.</a:t>
          </a:r>
        </a:p>
        <a:p>
          <a:pPr algn="l"/>
          <a:r>
            <a:rPr lang="es-ES" sz="2000" b="0" dirty="0" smtClean="0">
              <a:solidFill>
                <a:srgbClr val="0C0A00"/>
              </a:solidFill>
              <a:latin typeface="Monotype Corsiva" pitchFamily="66" charset="0"/>
            </a:rPr>
            <a:t>Que pueden alterar el crecimiento y las funciones </a:t>
          </a:r>
          <a:r>
            <a:rPr lang="es-ES" sz="2000" b="0" dirty="0" err="1" smtClean="0">
              <a:solidFill>
                <a:srgbClr val="0C0A00"/>
              </a:solidFill>
              <a:latin typeface="Monotype Corsiva" pitchFamily="66" charset="0"/>
            </a:rPr>
            <a:t>fisiologicas</a:t>
          </a:r>
          <a:r>
            <a:rPr lang="es-ES" sz="2000" b="0" dirty="0" smtClean="0">
              <a:solidFill>
                <a:srgbClr val="0C0A00"/>
              </a:solidFill>
              <a:latin typeface="Monotype Corsiva" pitchFamily="66" charset="0"/>
            </a:rPr>
            <a:t>.</a:t>
          </a:r>
        </a:p>
        <a:p>
          <a:pPr algn="l"/>
          <a:endParaRPr lang="es-ES" sz="2000" b="0" dirty="0" smtClean="0">
            <a:solidFill>
              <a:srgbClr val="0C0A00"/>
            </a:solidFill>
            <a:latin typeface="Monotype Corsiva" pitchFamily="66" charset="0"/>
          </a:endParaRPr>
        </a:p>
        <a:p>
          <a:pPr algn="l"/>
          <a:endParaRPr lang="es-ES" sz="2000" b="0" dirty="0" smtClean="0">
            <a:solidFill>
              <a:srgbClr val="0C0A00"/>
            </a:solidFill>
            <a:latin typeface="Monotype Corsiva" pitchFamily="66" charset="0"/>
          </a:endParaRPr>
        </a:p>
        <a:p>
          <a:pPr algn="l"/>
          <a:endParaRPr lang="es-ES" sz="2000" b="0" dirty="0" smtClean="0">
            <a:solidFill>
              <a:srgbClr val="0C0A00"/>
            </a:solidFill>
            <a:latin typeface="Monotype Corsiva" pitchFamily="66" charset="0"/>
          </a:endParaRPr>
        </a:p>
        <a:p>
          <a:pPr algn="l"/>
          <a:endParaRPr lang="es-ES" sz="2000" b="0" dirty="0">
            <a:solidFill>
              <a:srgbClr val="0C0A00"/>
            </a:solidFill>
            <a:latin typeface="Monotype Corsiva" pitchFamily="66" charset="0"/>
          </a:endParaRPr>
        </a:p>
      </dgm:t>
    </dgm:pt>
    <dgm:pt modelId="{3AEECC9A-5047-4D91-A70C-66A1E21EFF55}" type="sibTrans" cxnId="{B8C9F7F5-FA22-4AAD-B859-D4C491822271}">
      <dgm:prSet/>
      <dgm:spPr/>
      <dgm:t>
        <a:bodyPr/>
        <a:lstStyle/>
        <a:p>
          <a:endParaRPr lang="es-ES"/>
        </a:p>
      </dgm:t>
    </dgm:pt>
    <dgm:pt modelId="{CDF30EF7-D05B-4CC8-8B2F-7E2959458411}" type="parTrans" cxnId="{B8C9F7F5-FA22-4AAD-B859-D4C491822271}">
      <dgm:prSet/>
      <dgm:spPr/>
      <dgm:t>
        <a:bodyPr/>
        <a:lstStyle/>
        <a:p>
          <a:endParaRPr lang="es-ES"/>
        </a:p>
      </dgm:t>
    </dgm:pt>
    <dgm:pt modelId="{323CF909-AE4C-4383-9DE1-7F793C93C8C8}" type="pres">
      <dgm:prSet presAssocID="{762E20AF-B843-47C1-8F57-2B7CD26605C7}" presName="composite" presStyleCnt="0">
        <dgm:presLayoutVars>
          <dgm:chMax val="1"/>
          <dgm:dir/>
          <dgm:resizeHandles val="exact"/>
        </dgm:presLayoutVars>
      </dgm:prSet>
      <dgm:spPr/>
      <dgm:t>
        <a:bodyPr/>
        <a:lstStyle/>
        <a:p>
          <a:endParaRPr lang="es-ES"/>
        </a:p>
      </dgm:t>
    </dgm:pt>
    <dgm:pt modelId="{C319E59B-FBA9-4D19-89DF-442F94E5AAF6}" type="pres">
      <dgm:prSet presAssocID="{2C3C2060-A895-4DA9-A6E5-F9AEECBF9EA1}" presName="roof" presStyleLbl="dkBgShp" presStyleIdx="0" presStyleCnt="2" custScaleX="100000" custScaleY="53028" custLinFactNeighborY="-6231"/>
      <dgm:spPr/>
      <dgm:t>
        <a:bodyPr/>
        <a:lstStyle/>
        <a:p>
          <a:endParaRPr lang="es-ES"/>
        </a:p>
      </dgm:t>
    </dgm:pt>
    <dgm:pt modelId="{B4C3A582-737B-4A84-8BFD-1EA88A206A16}" type="pres">
      <dgm:prSet presAssocID="{2C3C2060-A895-4DA9-A6E5-F9AEECBF9EA1}" presName="pillars" presStyleCnt="0"/>
      <dgm:spPr/>
    </dgm:pt>
    <dgm:pt modelId="{D070EF09-2227-4E5C-9388-62F15BE01508}" type="pres">
      <dgm:prSet presAssocID="{2C3C2060-A895-4DA9-A6E5-F9AEECBF9EA1}" presName="pillar1" presStyleLbl="node1" presStyleIdx="0" presStyleCnt="3" custScaleY="132721" custLinFactNeighborX="-147" custLinFactNeighborY="2932">
        <dgm:presLayoutVars>
          <dgm:bulletEnabled val="1"/>
        </dgm:presLayoutVars>
      </dgm:prSet>
      <dgm:spPr/>
      <dgm:t>
        <a:bodyPr/>
        <a:lstStyle/>
        <a:p>
          <a:endParaRPr lang="es-ES"/>
        </a:p>
      </dgm:t>
    </dgm:pt>
    <dgm:pt modelId="{BB4AC340-A059-4772-96A9-687315028282}" type="pres">
      <dgm:prSet presAssocID="{236A3DE3-F1F5-448F-933A-C00B4400DB43}" presName="pillarX" presStyleLbl="node1" presStyleIdx="1" presStyleCnt="3" custScaleY="117784" custLinFactNeighborX="733" custLinFactNeighborY="-7423">
        <dgm:presLayoutVars>
          <dgm:bulletEnabled val="1"/>
        </dgm:presLayoutVars>
      </dgm:prSet>
      <dgm:spPr/>
      <dgm:t>
        <a:bodyPr/>
        <a:lstStyle/>
        <a:p>
          <a:endParaRPr lang="es-ES"/>
        </a:p>
      </dgm:t>
    </dgm:pt>
    <dgm:pt modelId="{EF9DD5E6-A717-46D2-A476-3934DBD4E53C}" type="pres">
      <dgm:prSet presAssocID="{6FDB5CD3-F016-4DF6-83BC-66D7D6B3D415}" presName="pillarX" presStyleLbl="node1" presStyleIdx="2" presStyleCnt="3" custScaleY="132467">
        <dgm:presLayoutVars>
          <dgm:bulletEnabled val="1"/>
        </dgm:presLayoutVars>
      </dgm:prSet>
      <dgm:spPr/>
      <dgm:t>
        <a:bodyPr/>
        <a:lstStyle/>
        <a:p>
          <a:endParaRPr lang="es-ES"/>
        </a:p>
      </dgm:t>
    </dgm:pt>
    <dgm:pt modelId="{D0C20C77-35A8-40A5-A568-42380FDEFBCF}" type="pres">
      <dgm:prSet presAssocID="{2C3C2060-A895-4DA9-A6E5-F9AEECBF9EA1}" presName="base" presStyleLbl="dkBgShp" presStyleIdx="1" presStyleCnt="2" custFlipVert="0" custScaleY="22407"/>
      <dgm:spPr/>
    </dgm:pt>
  </dgm:ptLst>
  <dgm:cxnLst>
    <dgm:cxn modelId="{E8CDA5BD-2396-4C31-926C-E56B73063CE6}" srcId="{762E20AF-B843-47C1-8F57-2B7CD26605C7}" destId="{2C3C2060-A895-4DA9-A6E5-F9AEECBF9EA1}" srcOrd="0" destOrd="0" parTransId="{D6BAAFCF-716A-4EDD-A274-BE3803E7E659}" sibTransId="{D09645BF-B61F-4B56-B585-48EE8F5D177A}"/>
    <dgm:cxn modelId="{3487ECF5-728C-4653-AA8A-1761E6443E25}" srcId="{2C3C2060-A895-4DA9-A6E5-F9AEECBF9EA1}" destId="{236A3DE3-F1F5-448F-933A-C00B4400DB43}" srcOrd="1" destOrd="0" parTransId="{1F5A88FA-41A2-4C32-93DF-0D819F993B6E}" sibTransId="{E2F7CB57-9D10-4A3B-90F0-0053DE58BEC4}"/>
    <dgm:cxn modelId="{BC9E72FD-F26B-4FF7-9A46-B888ACDBDB65}" srcId="{2C3C2060-A895-4DA9-A6E5-F9AEECBF9EA1}" destId="{60F8E13C-3A5F-44B3-897D-D76870FD6FBE}" srcOrd="0" destOrd="0" parTransId="{3FE82B9B-41F7-41F8-B882-32E8BBDFD030}" sibTransId="{8DC56E84-FCFA-42C4-9C75-59F0F833B7D8}"/>
    <dgm:cxn modelId="{7A1CAB88-FAD4-4A08-8F8C-41A76F61AF90}" type="presOf" srcId="{60F8E13C-3A5F-44B3-897D-D76870FD6FBE}" destId="{D070EF09-2227-4E5C-9388-62F15BE01508}" srcOrd="0" destOrd="0" presId="urn:microsoft.com/office/officeart/2005/8/layout/hList3"/>
    <dgm:cxn modelId="{C2077F64-88FF-476E-BB0C-C3676C7D4F20}" type="presOf" srcId="{762E20AF-B843-47C1-8F57-2B7CD26605C7}" destId="{323CF909-AE4C-4383-9DE1-7F793C93C8C8}" srcOrd="0" destOrd="0" presId="urn:microsoft.com/office/officeart/2005/8/layout/hList3"/>
    <dgm:cxn modelId="{B8C9F7F5-FA22-4AAD-B859-D4C491822271}" srcId="{2C3C2060-A895-4DA9-A6E5-F9AEECBF9EA1}" destId="{6FDB5CD3-F016-4DF6-83BC-66D7D6B3D415}" srcOrd="2" destOrd="0" parTransId="{CDF30EF7-D05B-4CC8-8B2F-7E2959458411}" sibTransId="{3AEECC9A-5047-4D91-A70C-66A1E21EFF55}"/>
    <dgm:cxn modelId="{4C1BB633-F4A9-4059-89FD-3CFD5301FE99}" type="presOf" srcId="{6FDB5CD3-F016-4DF6-83BC-66D7D6B3D415}" destId="{EF9DD5E6-A717-46D2-A476-3934DBD4E53C}" srcOrd="0" destOrd="0" presId="urn:microsoft.com/office/officeart/2005/8/layout/hList3"/>
    <dgm:cxn modelId="{404603FC-CD47-4EAC-887E-11E038C0DFB8}" type="presOf" srcId="{2C3C2060-A895-4DA9-A6E5-F9AEECBF9EA1}" destId="{C319E59B-FBA9-4D19-89DF-442F94E5AAF6}" srcOrd="0" destOrd="0" presId="urn:microsoft.com/office/officeart/2005/8/layout/hList3"/>
    <dgm:cxn modelId="{A688BCED-3E43-4AE3-9036-01F90B60A243}" type="presOf" srcId="{236A3DE3-F1F5-448F-933A-C00B4400DB43}" destId="{BB4AC340-A059-4772-96A9-687315028282}" srcOrd="0" destOrd="0" presId="urn:microsoft.com/office/officeart/2005/8/layout/hList3"/>
    <dgm:cxn modelId="{D7339D47-5C3E-4BF1-B1FB-CD157D814B7B}" type="presParOf" srcId="{323CF909-AE4C-4383-9DE1-7F793C93C8C8}" destId="{C319E59B-FBA9-4D19-89DF-442F94E5AAF6}" srcOrd="0" destOrd="0" presId="urn:microsoft.com/office/officeart/2005/8/layout/hList3"/>
    <dgm:cxn modelId="{3EFD121A-2C08-4C75-9D53-48542FFD51D6}" type="presParOf" srcId="{323CF909-AE4C-4383-9DE1-7F793C93C8C8}" destId="{B4C3A582-737B-4A84-8BFD-1EA88A206A16}" srcOrd="1" destOrd="0" presId="urn:microsoft.com/office/officeart/2005/8/layout/hList3"/>
    <dgm:cxn modelId="{28942995-51E4-4F41-826D-EE725C8C6417}" type="presParOf" srcId="{B4C3A582-737B-4A84-8BFD-1EA88A206A16}" destId="{D070EF09-2227-4E5C-9388-62F15BE01508}" srcOrd="0" destOrd="0" presId="urn:microsoft.com/office/officeart/2005/8/layout/hList3"/>
    <dgm:cxn modelId="{E2E0BCDC-6C6B-4581-B483-7274FE0EF102}" type="presParOf" srcId="{B4C3A582-737B-4A84-8BFD-1EA88A206A16}" destId="{BB4AC340-A059-4772-96A9-687315028282}" srcOrd="1" destOrd="0" presId="urn:microsoft.com/office/officeart/2005/8/layout/hList3"/>
    <dgm:cxn modelId="{A71DCE42-FCF8-4C67-8B54-9942F085CEBA}" type="presParOf" srcId="{B4C3A582-737B-4A84-8BFD-1EA88A206A16}" destId="{EF9DD5E6-A717-46D2-A476-3934DBD4E53C}" srcOrd="2" destOrd="0" presId="urn:microsoft.com/office/officeart/2005/8/layout/hList3"/>
    <dgm:cxn modelId="{A30BF565-904F-4318-ACCF-B1EB94DC98F5}" type="presParOf" srcId="{323CF909-AE4C-4383-9DE1-7F793C93C8C8}" destId="{D0C20C77-35A8-40A5-A568-42380FDEFBCF}" srcOrd="2" destOrd="0" presId="urn:microsoft.com/office/officeart/2005/8/layout/hList3"/>
  </dgm:cxnLst>
  <dgm:bg/>
  <dgm:whole/>
</dgm:dataModel>
</file>

<file path=ppt/diagrams/layout1.xml><?xml version="1.0" encoding="utf-8"?>
<dgm:layoutDef xmlns:dgm="http://schemas.openxmlformats.org/drawingml/2006/diagram" xmlns:a="http://schemas.openxmlformats.org/drawingml/2006/main" uniqueId="urn:microsoft.com/office/officeart/2005/8/layout/hList3">
  <dgm:title val=""/>
  <dgm:desc val=""/>
  <dgm:catLst>
    <dgm:cat type="list" pri="1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1" destId="2" srcOrd="0" destOrd="0"/>
        <dgm:cxn modelId="7" srcId="1" destId="3" srcOrd="1" destOrd="0"/>
        <dgm:cxn modelId="8" srcId="1" destId="4" srcOrd="2" destOrd="0"/>
      </dgm:cxnLst>
      <dgm:bg/>
      <dgm:whole/>
    </dgm:dataModel>
  </dgm:sampData>
  <dgm:styleData>
    <dgm:dataModel>
      <dgm:ptLst>
        <dgm:pt modelId="0" type="doc"/>
        <dgm:pt modelId="1"/>
        <dgm:pt modelId="2"/>
        <dgm:pt modelId="3"/>
      </dgm:ptLst>
      <dgm:cxnLst>
        <dgm:cxn modelId="5" srcId="0" destId="1" srcOrd="0" destOrd="0"/>
        <dgm:cxn modelId="6" srcId="1" destId="2" srcOrd="0" destOrd="0"/>
        <dgm:cxn modelId="7" srcId="1" destId="3" srcOrd="1" destOrd="0"/>
      </dgm:cxnLst>
      <dgm:bg/>
      <dgm:whole/>
    </dgm:dataModel>
  </dgm:styleData>
  <dgm:clrData>
    <dgm:dataModel>
      <dgm:ptLst>
        <dgm:pt modelId="0" type="doc"/>
        <dgm:pt modelId="1"/>
        <dgm:pt modelId="2"/>
        <dgm:pt modelId="3"/>
        <dgm:pt modelId="4"/>
        <dgm:pt modelId="5"/>
      </dgm:ptLst>
      <dgm:cxnLst>
        <dgm:cxn modelId="6" srcId="0" destId="1" srcOrd="0" destOrd="0"/>
        <dgm:cxn modelId="7" srcId="1" destId="2" srcOrd="0" destOrd="0"/>
        <dgm:cxn modelId="8" srcId="1" destId="3" srcOrd="1" destOrd="0"/>
        <dgm:cxn modelId="9" srcId="1" destId="4" srcOrd="2" destOrd="0"/>
        <dgm:cxn modelId="10" srcId="1" destId="5" srcOrd="3" destOrd="0"/>
      </dgm:cxnLst>
      <dgm:bg/>
      <dgm:whole/>
    </dgm:dataModel>
  </dgm:clrData>
  <dgm:layoutNode name="composite">
    <dgm:varLst>
      <dgm:chMax val="1"/>
      <dgm:dir/>
      <dgm:resizeHandles val="exact"/>
    </dgm:varLst>
    <dgm:alg type="composite"/>
    <dgm:shape xmlns:r="http://schemas.openxmlformats.org/officeDocument/2006/relationships" r:blip="">
      <dgm:adjLst/>
    </dgm:shape>
    <dgm:presOf/>
    <dgm:constrLst>
      <dgm:constr type="w" for="ch" forName="roof" refType="w"/>
      <dgm:constr type="h" for="ch" forName="roof" refType="h" fact="0.3"/>
      <dgm:constr type="primFontSz" for="ch" forName="roof" val="65"/>
      <dgm:constr type="w" for="ch" forName="pillars" refType="w"/>
      <dgm:constr type="h" for="ch" forName="pillars" refType="h" fact="0.63"/>
      <dgm:constr type="t" for="ch" forName="pillars" refType="h" fact="0.3"/>
      <dgm:constr type="primFontSz" for="des" forName="pillar1" val="65"/>
      <dgm:constr type="primFontSz" for="des" forName="pillarX" refType="primFontSz" refFor="des" refForName="pillar1" op="equ"/>
      <dgm:constr type="w" for="ch" forName="base" refType="w"/>
      <dgm:constr type="h" for="ch" forName="base" refType="h" fact="0.07"/>
      <dgm:constr type="t" for="ch" forName="base" refType="h" fact="0.93"/>
    </dgm:constrLst>
    <dgm:ruleLst/>
    <dgm:forEach name="Name0" axis="ch" ptType="node" cnt="1">
      <dgm:layoutNode name="roof" styleLbl="dkBgShp">
        <dgm:alg type="tx"/>
        <dgm:shape xmlns:r="http://schemas.openxmlformats.org/officeDocument/2006/relationships" type="rect" r:blip="">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illars" styleLbl="node1">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pillar1" refType="w"/>
          <dgm:constr type="h" for="ch" forName="pillar1" refType="h"/>
          <dgm:constr type="w" for="ch" forName="pillarX" refType="w"/>
          <dgm:constr type="h" for="ch" forName="pillarX" refType="h"/>
        </dgm:constrLst>
        <dgm:ruleLst/>
        <dgm:layoutNode name="pillar1" styleLbl="node1">
          <dgm:varLst>
            <dgm:bulletEnabled val="1"/>
          </dgm:varLst>
          <dgm:alg type="tx"/>
          <dgm:shape xmlns:r="http://schemas.openxmlformats.org/officeDocument/2006/relationships" type="rect" r:blip="">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ch" ptType="node" st="2">
          <dgm:layoutNode name="pillarX" styleLbl="node1">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dgm:layoutNode>
      <dgm:layoutNode name="base" styleLbl="dkBgShp">
        <dgm:alg type="sp"/>
        <dgm:shape xmlns:r="http://schemas.openxmlformats.org/officeDocument/2006/relationships" type="rect" r:blip="">
          <dgm:adjLst/>
        </dgm:shape>
        <dgm:presOf/>
        <dgm:constrLst/>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BO"/>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E82A24C-9285-4BAD-9FD5-136715A311CC}" type="datetimeFigureOut">
              <a:rPr lang="es-BO" smtClean="0"/>
              <a:pPr/>
              <a:t>28/08/2010</a:t>
            </a:fld>
            <a:endParaRPr lang="es-BO"/>
          </a:p>
        </p:txBody>
      </p:sp>
      <p:sp>
        <p:nvSpPr>
          <p:cNvPr id="4" name="3 Marcador de imagen de diapositiva"/>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s-BO"/>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BO"/>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BO"/>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D21C236-E5DB-4B9B-B10A-A0C967B86429}" type="slidenum">
              <a:rPr lang="es-BO" smtClean="0"/>
              <a:pPr/>
              <a:t>‹Nº›</a:t>
            </a:fld>
            <a:endParaRPr lang="es-BO"/>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BO" dirty="0"/>
          </a:p>
        </p:txBody>
      </p:sp>
      <p:sp>
        <p:nvSpPr>
          <p:cNvPr id="4" name="3 Marcador de número de diapositiva"/>
          <p:cNvSpPr>
            <a:spLocks noGrp="1"/>
          </p:cNvSpPr>
          <p:nvPr>
            <p:ph type="sldNum" sz="quarter" idx="10"/>
          </p:nvPr>
        </p:nvSpPr>
        <p:spPr/>
        <p:txBody>
          <a:bodyPr/>
          <a:lstStyle/>
          <a:p>
            <a:fld id="{305D1BC4-4FFF-4E10-850C-489516ADC3E5}" type="slidenum">
              <a:rPr lang="es-BO" smtClean="0"/>
              <a:pPr/>
              <a:t>58</a:t>
            </a:fld>
            <a:endParaRPr lang="es-BO"/>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grpSp>
        <p:nvGrpSpPr>
          <p:cNvPr id="115714" name="Group 2"/>
          <p:cNvGrpSpPr>
            <a:grpSpLocks/>
          </p:cNvGrpSpPr>
          <p:nvPr/>
        </p:nvGrpSpPr>
        <p:grpSpPr bwMode="auto">
          <a:xfrm>
            <a:off x="0" y="0"/>
            <a:ext cx="9144000" cy="6934200"/>
            <a:chOff x="0" y="0"/>
            <a:chExt cx="5760" cy="4368"/>
          </a:xfrm>
        </p:grpSpPr>
        <p:sp>
          <p:nvSpPr>
            <p:cNvPr id="115715" name="Freeform 3"/>
            <p:cNvSpPr>
              <a:spLocks/>
            </p:cNvSpPr>
            <p:nvPr/>
          </p:nvSpPr>
          <p:spPr bwMode="hidden">
            <a:xfrm>
              <a:off x="0" y="2208"/>
              <a:ext cx="2515" cy="1970"/>
            </a:xfrm>
            <a:custGeom>
              <a:avLst/>
              <a:gdLst/>
              <a:ahLst/>
              <a:cxnLst>
                <a:cxn ang="0">
                  <a:pos x="744" y="1669"/>
                </a:cxn>
                <a:cxn ang="0">
                  <a:pos x="852" y="1400"/>
                </a:cxn>
                <a:cxn ang="0">
                  <a:pos x="876" y="1171"/>
                </a:cxn>
                <a:cxn ang="0">
                  <a:pos x="979" y="1370"/>
                </a:cxn>
                <a:cxn ang="0">
                  <a:pos x="1231" y="1621"/>
                </a:cxn>
                <a:cxn ang="0">
                  <a:pos x="1471" y="1693"/>
                </a:cxn>
                <a:cxn ang="0">
                  <a:pos x="1819" y="1678"/>
                </a:cxn>
                <a:cxn ang="0">
                  <a:pos x="1893" y="1513"/>
                </a:cxn>
                <a:cxn ang="0">
                  <a:pos x="1874" y="1285"/>
                </a:cxn>
                <a:cxn ang="0">
                  <a:pos x="1783" y="967"/>
                </a:cxn>
                <a:cxn ang="0">
                  <a:pos x="1289" y="873"/>
                </a:cxn>
                <a:cxn ang="0">
                  <a:pos x="1549" y="745"/>
                </a:cxn>
                <a:cxn ang="0">
                  <a:pos x="1753" y="732"/>
                </a:cxn>
                <a:cxn ang="0">
                  <a:pos x="2107" y="618"/>
                </a:cxn>
                <a:cxn ang="0">
                  <a:pos x="2377" y="438"/>
                </a:cxn>
                <a:cxn ang="0">
                  <a:pos x="2420" y="343"/>
                </a:cxn>
                <a:cxn ang="0">
                  <a:pos x="2077" y="331"/>
                </a:cxn>
                <a:cxn ang="0">
                  <a:pos x="1951" y="301"/>
                </a:cxn>
                <a:cxn ang="0">
                  <a:pos x="1645" y="289"/>
                </a:cxn>
                <a:cxn ang="0">
                  <a:pos x="1297" y="408"/>
                </a:cxn>
                <a:cxn ang="0">
                  <a:pos x="1308" y="337"/>
                </a:cxn>
                <a:cxn ang="0">
                  <a:pos x="1453" y="168"/>
                </a:cxn>
                <a:cxn ang="0">
                  <a:pos x="1477" y="36"/>
                </a:cxn>
                <a:cxn ang="0">
                  <a:pos x="1417" y="24"/>
                </a:cxn>
                <a:cxn ang="0">
                  <a:pos x="1189" y="102"/>
                </a:cxn>
                <a:cxn ang="0">
                  <a:pos x="1026" y="144"/>
                </a:cxn>
                <a:cxn ang="0">
                  <a:pos x="889" y="331"/>
                </a:cxn>
                <a:cxn ang="0">
                  <a:pos x="726" y="480"/>
                </a:cxn>
                <a:cxn ang="0">
                  <a:pos x="643" y="540"/>
                </a:cxn>
                <a:cxn ang="0">
                  <a:pos x="600" y="516"/>
                </a:cxn>
                <a:cxn ang="0">
                  <a:pos x="552" y="486"/>
                </a:cxn>
                <a:cxn ang="0">
                  <a:pos x="528" y="462"/>
                </a:cxn>
                <a:cxn ang="0">
                  <a:pos x="474" y="426"/>
                </a:cxn>
                <a:cxn ang="0">
                  <a:pos x="415" y="390"/>
                </a:cxn>
                <a:cxn ang="0">
                  <a:pos x="366" y="366"/>
                </a:cxn>
                <a:cxn ang="0">
                  <a:pos x="192" y="234"/>
                </a:cxn>
                <a:cxn ang="0">
                  <a:pos x="570" y="564"/>
                </a:cxn>
                <a:cxn ang="0">
                  <a:pos x="444" y="732"/>
                </a:cxn>
                <a:cxn ang="0">
                  <a:pos x="318" y="787"/>
                </a:cxn>
                <a:cxn ang="0">
                  <a:pos x="127" y="853"/>
                </a:cxn>
                <a:cxn ang="0">
                  <a:pos x="0" y="1165"/>
                </a:cxn>
                <a:cxn ang="0">
                  <a:pos x="372" y="1015"/>
                </a:cxn>
                <a:cxn ang="0">
                  <a:pos x="222" y="1262"/>
                </a:cxn>
                <a:cxn ang="0">
                  <a:pos x="139" y="1459"/>
                </a:cxn>
                <a:cxn ang="0">
                  <a:pos x="102" y="1495"/>
                </a:cxn>
                <a:cxn ang="0">
                  <a:pos x="84" y="1519"/>
                </a:cxn>
                <a:cxn ang="0">
                  <a:pos x="96" y="1537"/>
                </a:cxn>
                <a:cxn ang="0">
                  <a:pos x="127" y="1567"/>
                </a:cxn>
                <a:cxn ang="0">
                  <a:pos x="145" y="1633"/>
                </a:cxn>
                <a:cxn ang="0">
                  <a:pos x="156" y="1693"/>
                </a:cxn>
                <a:cxn ang="0">
                  <a:pos x="162" y="1723"/>
                </a:cxn>
                <a:cxn ang="0">
                  <a:pos x="216" y="1802"/>
                </a:cxn>
                <a:cxn ang="0">
                  <a:pos x="228" y="1850"/>
                </a:cxn>
                <a:cxn ang="0">
                  <a:pos x="240" y="1904"/>
                </a:cxn>
                <a:cxn ang="0">
                  <a:pos x="246" y="1922"/>
                </a:cxn>
                <a:cxn ang="0">
                  <a:pos x="258" y="1970"/>
                </a:cxn>
                <a:cxn ang="0">
                  <a:pos x="462" y="1922"/>
                </a:cxn>
                <a:cxn ang="0">
                  <a:pos x="624" y="1778"/>
                </a:cxn>
              </a:cxnLst>
              <a:rect l="0" t="0" r="r" b="b"/>
              <a:pathLst>
                <a:path w="2515" h="1970">
                  <a:moveTo>
                    <a:pt x="624" y="1778"/>
                  </a:moveTo>
                  <a:lnTo>
                    <a:pt x="744" y="1669"/>
                  </a:lnTo>
                  <a:lnTo>
                    <a:pt x="834" y="1627"/>
                  </a:lnTo>
                  <a:lnTo>
                    <a:pt x="852" y="1400"/>
                  </a:lnTo>
                  <a:lnTo>
                    <a:pt x="834" y="1225"/>
                  </a:lnTo>
                  <a:lnTo>
                    <a:pt x="876" y="1171"/>
                  </a:lnTo>
                  <a:lnTo>
                    <a:pt x="901" y="1268"/>
                  </a:lnTo>
                  <a:lnTo>
                    <a:pt x="979" y="1370"/>
                  </a:lnTo>
                  <a:lnTo>
                    <a:pt x="1116" y="1519"/>
                  </a:lnTo>
                  <a:lnTo>
                    <a:pt x="1231" y="1621"/>
                  </a:lnTo>
                  <a:lnTo>
                    <a:pt x="1353" y="1632"/>
                  </a:lnTo>
                  <a:lnTo>
                    <a:pt x="1471" y="1693"/>
                  </a:lnTo>
                  <a:lnTo>
                    <a:pt x="1664" y="1659"/>
                  </a:lnTo>
                  <a:lnTo>
                    <a:pt x="1819" y="1678"/>
                  </a:lnTo>
                  <a:lnTo>
                    <a:pt x="1975" y="1632"/>
                  </a:lnTo>
                  <a:lnTo>
                    <a:pt x="1893" y="1513"/>
                  </a:lnTo>
                  <a:lnTo>
                    <a:pt x="1920" y="1385"/>
                  </a:lnTo>
                  <a:lnTo>
                    <a:pt x="1874" y="1285"/>
                  </a:lnTo>
                  <a:lnTo>
                    <a:pt x="1865" y="1129"/>
                  </a:lnTo>
                  <a:lnTo>
                    <a:pt x="1783" y="967"/>
                  </a:lnTo>
                  <a:lnTo>
                    <a:pt x="1527" y="891"/>
                  </a:lnTo>
                  <a:lnTo>
                    <a:pt x="1289" y="873"/>
                  </a:lnTo>
                  <a:lnTo>
                    <a:pt x="1393" y="781"/>
                  </a:lnTo>
                  <a:lnTo>
                    <a:pt x="1549" y="745"/>
                  </a:lnTo>
                  <a:lnTo>
                    <a:pt x="1620" y="738"/>
                  </a:lnTo>
                  <a:lnTo>
                    <a:pt x="1753" y="732"/>
                  </a:lnTo>
                  <a:lnTo>
                    <a:pt x="1933" y="720"/>
                  </a:lnTo>
                  <a:lnTo>
                    <a:pt x="2107" y="618"/>
                  </a:lnTo>
                  <a:lnTo>
                    <a:pt x="2227" y="516"/>
                  </a:lnTo>
                  <a:lnTo>
                    <a:pt x="2377" y="438"/>
                  </a:lnTo>
                  <a:lnTo>
                    <a:pt x="2515" y="337"/>
                  </a:lnTo>
                  <a:lnTo>
                    <a:pt x="2420" y="343"/>
                  </a:lnTo>
                  <a:lnTo>
                    <a:pt x="2191" y="343"/>
                  </a:lnTo>
                  <a:lnTo>
                    <a:pt x="2077" y="331"/>
                  </a:lnTo>
                  <a:lnTo>
                    <a:pt x="2053" y="301"/>
                  </a:lnTo>
                  <a:lnTo>
                    <a:pt x="1951" y="301"/>
                  </a:lnTo>
                  <a:lnTo>
                    <a:pt x="1795" y="259"/>
                  </a:lnTo>
                  <a:lnTo>
                    <a:pt x="1645" y="289"/>
                  </a:lnTo>
                  <a:lnTo>
                    <a:pt x="1447" y="372"/>
                  </a:lnTo>
                  <a:lnTo>
                    <a:pt x="1297" y="408"/>
                  </a:lnTo>
                  <a:lnTo>
                    <a:pt x="1153" y="414"/>
                  </a:lnTo>
                  <a:lnTo>
                    <a:pt x="1308" y="337"/>
                  </a:lnTo>
                  <a:lnTo>
                    <a:pt x="1465" y="198"/>
                  </a:lnTo>
                  <a:lnTo>
                    <a:pt x="1453" y="168"/>
                  </a:lnTo>
                  <a:lnTo>
                    <a:pt x="1465" y="102"/>
                  </a:lnTo>
                  <a:lnTo>
                    <a:pt x="1477" y="36"/>
                  </a:lnTo>
                  <a:lnTo>
                    <a:pt x="1453" y="0"/>
                  </a:lnTo>
                  <a:lnTo>
                    <a:pt x="1417" y="24"/>
                  </a:lnTo>
                  <a:lnTo>
                    <a:pt x="1356" y="42"/>
                  </a:lnTo>
                  <a:lnTo>
                    <a:pt x="1189" y="102"/>
                  </a:lnTo>
                  <a:lnTo>
                    <a:pt x="1098" y="144"/>
                  </a:lnTo>
                  <a:lnTo>
                    <a:pt x="1026" y="144"/>
                  </a:lnTo>
                  <a:lnTo>
                    <a:pt x="991" y="168"/>
                  </a:lnTo>
                  <a:lnTo>
                    <a:pt x="889" y="331"/>
                  </a:lnTo>
                  <a:lnTo>
                    <a:pt x="852" y="408"/>
                  </a:lnTo>
                  <a:lnTo>
                    <a:pt x="726" y="480"/>
                  </a:lnTo>
                  <a:lnTo>
                    <a:pt x="649" y="540"/>
                  </a:lnTo>
                  <a:lnTo>
                    <a:pt x="643" y="540"/>
                  </a:lnTo>
                  <a:lnTo>
                    <a:pt x="637" y="534"/>
                  </a:lnTo>
                  <a:lnTo>
                    <a:pt x="600" y="516"/>
                  </a:lnTo>
                  <a:lnTo>
                    <a:pt x="564" y="492"/>
                  </a:lnTo>
                  <a:lnTo>
                    <a:pt x="552" y="486"/>
                  </a:lnTo>
                  <a:lnTo>
                    <a:pt x="540" y="474"/>
                  </a:lnTo>
                  <a:lnTo>
                    <a:pt x="528" y="462"/>
                  </a:lnTo>
                  <a:lnTo>
                    <a:pt x="504" y="444"/>
                  </a:lnTo>
                  <a:lnTo>
                    <a:pt x="474" y="426"/>
                  </a:lnTo>
                  <a:lnTo>
                    <a:pt x="444" y="408"/>
                  </a:lnTo>
                  <a:lnTo>
                    <a:pt x="415" y="390"/>
                  </a:lnTo>
                  <a:lnTo>
                    <a:pt x="385" y="372"/>
                  </a:lnTo>
                  <a:lnTo>
                    <a:pt x="366" y="366"/>
                  </a:lnTo>
                  <a:lnTo>
                    <a:pt x="360" y="360"/>
                  </a:lnTo>
                  <a:lnTo>
                    <a:pt x="192" y="234"/>
                  </a:lnTo>
                  <a:lnTo>
                    <a:pt x="210" y="307"/>
                  </a:lnTo>
                  <a:lnTo>
                    <a:pt x="570" y="564"/>
                  </a:lnTo>
                  <a:lnTo>
                    <a:pt x="558" y="618"/>
                  </a:lnTo>
                  <a:lnTo>
                    <a:pt x="444" y="732"/>
                  </a:lnTo>
                  <a:lnTo>
                    <a:pt x="324" y="787"/>
                  </a:lnTo>
                  <a:lnTo>
                    <a:pt x="318" y="787"/>
                  </a:lnTo>
                  <a:lnTo>
                    <a:pt x="258" y="811"/>
                  </a:lnTo>
                  <a:lnTo>
                    <a:pt x="127" y="853"/>
                  </a:lnTo>
                  <a:lnTo>
                    <a:pt x="0" y="901"/>
                  </a:lnTo>
                  <a:lnTo>
                    <a:pt x="0" y="1165"/>
                  </a:lnTo>
                  <a:lnTo>
                    <a:pt x="78" y="1147"/>
                  </a:lnTo>
                  <a:lnTo>
                    <a:pt x="372" y="1015"/>
                  </a:lnTo>
                  <a:lnTo>
                    <a:pt x="336" y="1117"/>
                  </a:lnTo>
                  <a:lnTo>
                    <a:pt x="222" y="1262"/>
                  </a:lnTo>
                  <a:lnTo>
                    <a:pt x="145" y="1453"/>
                  </a:lnTo>
                  <a:lnTo>
                    <a:pt x="139" y="1459"/>
                  </a:lnTo>
                  <a:lnTo>
                    <a:pt x="133" y="1465"/>
                  </a:lnTo>
                  <a:lnTo>
                    <a:pt x="102" y="1495"/>
                  </a:lnTo>
                  <a:lnTo>
                    <a:pt x="90" y="1507"/>
                  </a:lnTo>
                  <a:lnTo>
                    <a:pt x="84" y="1519"/>
                  </a:lnTo>
                  <a:lnTo>
                    <a:pt x="84" y="1531"/>
                  </a:lnTo>
                  <a:lnTo>
                    <a:pt x="96" y="1537"/>
                  </a:lnTo>
                  <a:lnTo>
                    <a:pt x="114" y="1549"/>
                  </a:lnTo>
                  <a:lnTo>
                    <a:pt x="127" y="1567"/>
                  </a:lnTo>
                  <a:lnTo>
                    <a:pt x="139" y="1597"/>
                  </a:lnTo>
                  <a:lnTo>
                    <a:pt x="145" y="1633"/>
                  </a:lnTo>
                  <a:lnTo>
                    <a:pt x="150" y="1663"/>
                  </a:lnTo>
                  <a:lnTo>
                    <a:pt x="156" y="1693"/>
                  </a:lnTo>
                  <a:lnTo>
                    <a:pt x="162" y="1717"/>
                  </a:lnTo>
                  <a:lnTo>
                    <a:pt x="162" y="1723"/>
                  </a:lnTo>
                  <a:lnTo>
                    <a:pt x="216" y="1796"/>
                  </a:lnTo>
                  <a:lnTo>
                    <a:pt x="216" y="1802"/>
                  </a:lnTo>
                  <a:lnTo>
                    <a:pt x="222" y="1814"/>
                  </a:lnTo>
                  <a:lnTo>
                    <a:pt x="228" y="1850"/>
                  </a:lnTo>
                  <a:lnTo>
                    <a:pt x="234" y="1886"/>
                  </a:lnTo>
                  <a:lnTo>
                    <a:pt x="240" y="1904"/>
                  </a:lnTo>
                  <a:lnTo>
                    <a:pt x="240" y="1916"/>
                  </a:lnTo>
                  <a:lnTo>
                    <a:pt x="246" y="1922"/>
                  </a:lnTo>
                  <a:lnTo>
                    <a:pt x="252" y="1934"/>
                  </a:lnTo>
                  <a:lnTo>
                    <a:pt x="258" y="1970"/>
                  </a:lnTo>
                  <a:lnTo>
                    <a:pt x="438" y="1970"/>
                  </a:lnTo>
                  <a:lnTo>
                    <a:pt x="462" y="1922"/>
                  </a:lnTo>
                  <a:lnTo>
                    <a:pt x="624" y="1778"/>
                  </a:lnTo>
                  <a:lnTo>
                    <a:pt x="624" y="1778"/>
                  </a:lnTo>
                  <a:close/>
                </a:path>
              </a:pathLst>
            </a:custGeom>
            <a:gradFill rotWithShape="0">
              <a:gsLst>
                <a:gs pos="0">
                  <a:schemeClr val="bg2"/>
                </a:gs>
                <a:gs pos="50000">
                  <a:schemeClr val="bg1"/>
                </a:gs>
                <a:gs pos="100000">
                  <a:schemeClr val="bg2"/>
                </a:gs>
              </a:gsLst>
              <a:lin ang="2700000" scaled="1"/>
            </a:gradFill>
            <a:ln w="9525">
              <a:noFill/>
              <a:round/>
              <a:headEnd/>
              <a:tailEnd/>
            </a:ln>
          </p:spPr>
          <p:txBody>
            <a:bodyPr/>
            <a:lstStyle/>
            <a:p>
              <a:endParaRPr lang="es-BO"/>
            </a:p>
          </p:txBody>
        </p:sp>
        <p:sp>
          <p:nvSpPr>
            <p:cNvPr id="115716" name="Freeform 4"/>
            <p:cNvSpPr>
              <a:spLocks/>
            </p:cNvSpPr>
            <p:nvPr/>
          </p:nvSpPr>
          <p:spPr bwMode="hidden">
            <a:xfrm>
              <a:off x="0" y="2496"/>
              <a:ext cx="2112" cy="1604"/>
            </a:xfrm>
            <a:custGeom>
              <a:avLst/>
              <a:gdLst/>
              <a:ahLst/>
              <a:cxnLst>
                <a:cxn ang="0">
                  <a:pos x="580" y="1043"/>
                </a:cxn>
                <a:cxn ang="0">
                  <a:pos x="544" y="683"/>
                </a:cxn>
                <a:cxn ang="0">
                  <a:pos x="670" y="395"/>
                </a:cxn>
                <a:cxn ang="0">
                  <a:pos x="927" y="587"/>
                </a:cxn>
                <a:cxn ang="0">
                  <a:pos x="1214" y="869"/>
                </a:cxn>
                <a:cxn ang="0">
                  <a:pos x="1483" y="1109"/>
                </a:cxn>
                <a:cxn ang="0">
                  <a:pos x="1800" y="1360"/>
                </a:cxn>
                <a:cxn ang="0">
                  <a:pos x="1883" y="1414"/>
                </a:cxn>
                <a:cxn ang="0">
                  <a:pos x="1836" y="1354"/>
                </a:cxn>
                <a:cxn ang="0">
                  <a:pos x="1411" y="1001"/>
                </a:cxn>
                <a:cxn ang="0">
                  <a:pos x="1088" y="683"/>
                </a:cxn>
                <a:cxn ang="0">
                  <a:pos x="723" y="329"/>
                </a:cxn>
                <a:cxn ang="0">
                  <a:pos x="999" y="311"/>
                </a:cxn>
                <a:cxn ang="0">
                  <a:pos x="1286" y="317"/>
                </a:cxn>
                <a:cxn ang="0">
                  <a:pos x="1614" y="269"/>
                </a:cxn>
                <a:cxn ang="0">
                  <a:pos x="2123" y="197"/>
                </a:cxn>
                <a:cxn ang="0">
                  <a:pos x="2075" y="173"/>
                </a:cxn>
                <a:cxn ang="0">
                  <a:pos x="1543" y="257"/>
                </a:cxn>
                <a:cxn ang="0">
                  <a:pos x="1208" y="275"/>
                </a:cxn>
                <a:cxn ang="0">
                  <a:pos x="759" y="257"/>
                </a:cxn>
                <a:cxn ang="0">
                  <a:pos x="819" y="227"/>
                </a:cxn>
                <a:cxn ang="0">
                  <a:pos x="1142" y="0"/>
                </a:cxn>
                <a:cxn ang="0">
                  <a:pos x="1088" y="30"/>
                </a:cxn>
                <a:cxn ang="0">
                  <a:pos x="1010" y="84"/>
                </a:cxn>
                <a:cxn ang="0">
                  <a:pos x="855" y="191"/>
                </a:cxn>
                <a:cxn ang="0">
                  <a:pos x="670" y="281"/>
                </a:cxn>
                <a:cxn ang="0">
                  <a:pos x="634" y="359"/>
                </a:cxn>
                <a:cxn ang="0">
                  <a:pos x="305" y="587"/>
                </a:cxn>
                <a:cxn ang="0">
                  <a:pos x="0" y="725"/>
                </a:cxn>
                <a:cxn ang="0">
                  <a:pos x="0" y="731"/>
                </a:cxn>
                <a:cxn ang="0">
                  <a:pos x="0" y="767"/>
                </a:cxn>
                <a:cxn ang="0">
                  <a:pos x="299" y="635"/>
                </a:cxn>
                <a:cxn ang="0">
                  <a:pos x="592" y="431"/>
                </a:cxn>
                <a:cxn ang="0">
                  <a:pos x="508" y="671"/>
                </a:cxn>
                <a:cxn ang="0">
                  <a:pos x="526" y="995"/>
                </a:cxn>
                <a:cxn ang="0">
                  <a:pos x="460" y="1168"/>
                </a:cxn>
                <a:cxn ang="0">
                  <a:pos x="329" y="1480"/>
                </a:cxn>
                <a:cxn ang="0">
                  <a:pos x="323" y="1696"/>
                </a:cxn>
                <a:cxn ang="0">
                  <a:pos x="329" y="1696"/>
                </a:cxn>
                <a:cxn ang="0">
                  <a:pos x="347" y="1552"/>
                </a:cxn>
                <a:cxn ang="0">
                  <a:pos x="580" y="1043"/>
                </a:cxn>
                <a:cxn ang="0">
                  <a:pos x="580" y="1043"/>
                </a:cxn>
              </a:cxnLst>
              <a:rect l="0" t="0" r="r" b="b"/>
              <a:pathLst>
                <a:path w="2123" h="1696">
                  <a:moveTo>
                    <a:pt x="580" y="1043"/>
                  </a:moveTo>
                  <a:lnTo>
                    <a:pt x="544" y="683"/>
                  </a:lnTo>
                  <a:lnTo>
                    <a:pt x="670" y="395"/>
                  </a:lnTo>
                  <a:lnTo>
                    <a:pt x="927" y="587"/>
                  </a:lnTo>
                  <a:lnTo>
                    <a:pt x="1214" y="869"/>
                  </a:lnTo>
                  <a:lnTo>
                    <a:pt x="1483" y="1109"/>
                  </a:lnTo>
                  <a:lnTo>
                    <a:pt x="1800" y="1360"/>
                  </a:lnTo>
                  <a:lnTo>
                    <a:pt x="1883" y="1414"/>
                  </a:lnTo>
                  <a:lnTo>
                    <a:pt x="1836" y="1354"/>
                  </a:lnTo>
                  <a:lnTo>
                    <a:pt x="1411" y="1001"/>
                  </a:lnTo>
                  <a:lnTo>
                    <a:pt x="1088" y="683"/>
                  </a:lnTo>
                  <a:lnTo>
                    <a:pt x="723" y="329"/>
                  </a:lnTo>
                  <a:lnTo>
                    <a:pt x="999" y="311"/>
                  </a:lnTo>
                  <a:lnTo>
                    <a:pt x="1286" y="317"/>
                  </a:lnTo>
                  <a:lnTo>
                    <a:pt x="1614" y="269"/>
                  </a:lnTo>
                  <a:lnTo>
                    <a:pt x="2123" y="197"/>
                  </a:lnTo>
                  <a:lnTo>
                    <a:pt x="2075" y="173"/>
                  </a:lnTo>
                  <a:lnTo>
                    <a:pt x="1543" y="257"/>
                  </a:lnTo>
                  <a:lnTo>
                    <a:pt x="1208" y="275"/>
                  </a:lnTo>
                  <a:lnTo>
                    <a:pt x="759" y="257"/>
                  </a:lnTo>
                  <a:lnTo>
                    <a:pt x="819" y="227"/>
                  </a:lnTo>
                  <a:lnTo>
                    <a:pt x="1142" y="0"/>
                  </a:lnTo>
                  <a:lnTo>
                    <a:pt x="1088" y="30"/>
                  </a:lnTo>
                  <a:lnTo>
                    <a:pt x="1010" y="84"/>
                  </a:lnTo>
                  <a:lnTo>
                    <a:pt x="855" y="191"/>
                  </a:lnTo>
                  <a:lnTo>
                    <a:pt x="670" y="281"/>
                  </a:lnTo>
                  <a:lnTo>
                    <a:pt x="634" y="359"/>
                  </a:lnTo>
                  <a:lnTo>
                    <a:pt x="305" y="587"/>
                  </a:lnTo>
                  <a:lnTo>
                    <a:pt x="0" y="725"/>
                  </a:lnTo>
                  <a:lnTo>
                    <a:pt x="0" y="731"/>
                  </a:lnTo>
                  <a:lnTo>
                    <a:pt x="0" y="767"/>
                  </a:lnTo>
                  <a:lnTo>
                    <a:pt x="299" y="635"/>
                  </a:lnTo>
                  <a:lnTo>
                    <a:pt x="592" y="431"/>
                  </a:lnTo>
                  <a:lnTo>
                    <a:pt x="508" y="671"/>
                  </a:lnTo>
                  <a:lnTo>
                    <a:pt x="526" y="995"/>
                  </a:lnTo>
                  <a:lnTo>
                    <a:pt x="460" y="1168"/>
                  </a:lnTo>
                  <a:lnTo>
                    <a:pt x="329" y="1480"/>
                  </a:lnTo>
                  <a:lnTo>
                    <a:pt x="323" y="1696"/>
                  </a:lnTo>
                  <a:lnTo>
                    <a:pt x="329" y="1696"/>
                  </a:lnTo>
                  <a:lnTo>
                    <a:pt x="347" y="1552"/>
                  </a:lnTo>
                  <a:lnTo>
                    <a:pt x="580" y="1043"/>
                  </a:lnTo>
                  <a:lnTo>
                    <a:pt x="580" y="1043"/>
                  </a:lnTo>
                  <a:close/>
                </a:path>
              </a:pathLst>
            </a:custGeom>
            <a:gradFill rotWithShape="0">
              <a:gsLst>
                <a:gs pos="0">
                  <a:schemeClr val="accent2"/>
                </a:gs>
                <a:gs pos="100000">
                  <a:schemeClr val="bg1"/>
                </a:gs>
              </a:gsLst>
              <a:lin ang="5400000" scaled="1"/>
            </a:gradFill>
            <a:ln w="9525">
              <a:noFill/>
              <a:round/>
              <a:headEnd/>
              <a:tailEnd/>
            </a:ln>
          </p:spPr>
          <p:txBody>
            <a:bodyPr/>
            <a:lstStyle/>
            <a:p>
              <a:endParaRPr lang="es-BO"/>
            </a:p>
          </p:txBody>
        </p:sp>
        <p:sp>
          <p:nvSpPr>
            <p:cNvPr id="115717" name="Freeform 5"/>
            <p:cNvSpPr>
              <a:spLocks/>
            </p:cNvSpPr>
            <p:nvPr/>
          </p:nvSpPr>
          <p:spPr bwMode="hidden">
            <a:xfrm>
              <a:off x="2092" y="3233"/>
              <a:ext cx="3668" cy="943"/>
            </a:xfrm>
            <a:custGeom>
              <a:avLst/>
              <a:gdLst/>
              <a:ahLst/>
              <a:cxnLst>
                <a:cxn ang="0">
                  <a:pos x="3338" y="288"/>
                </a:cxn>
                <a:cxn ang="0">
                  <a:pos x="3194" y="258"/>
                </a:cxn>
                <a:cxn ang="0">
                  <a:pos x="2816" y="234"/>
                </a:cxn>
                <a:cxn ang="0">
                  <a:pos x="2330" y="306"/>
                </a:cxn>
                <a:cxn ang="0">
                  <a:pos x="2372" y="258"/>
                </a:cxn>
                <a:cxn ang="0">
                  <a:pos x="2624" y="132"/>
                </a:cxn>
                <a:cxn ang="0">
                  <a:pos x="2707" y="24"/>
                </a:cxn>
                <a:cxn ang="0">
                  <a:pos x="2642" y="12"/>
                </a:cxn>
                <a:cxn ang="0">
                  <a:pos x="2515" y="54"/>
                </a:cxn>
                <a:cxn ang="0">
                  <a:pos x="2324" y="66"/>
                </a:cxn>
                <a:cxn ang="0">
                  <a:pos x="2101" y="90"/>
                </a:cxn>
                <a:cxn ang="0">
                  <a:pos x="1855" y="228"/>
                </a:cxn>
                <a:cxn ang="0">
                  <a:pos x="1591" y="337"/>
                </a:cxn>
                <a:cxn ang="0">
                  <a:pos x="1459" y="379"/>
                </a:cxn>
                <a:cxn ang="0">
                  <a:pos x="1417" y="361"/>
                </a:cxn>
                <a:cxn ang="0">
                  <a:pos x="1363" y="331"/>
                </a:cxn>
                <a:cxn ang="0">
                  <a:pos x="1344" y="312"/>
                </a:cxn>
                <a:cxn ang="0">
                  <a:pos x="1290" y="288"/>
                </a:cxn>
                <a:cxn ang="0">
                  <a:pos x="1230" y="252"/>
                </a:cxn>
                <a:cxn ang="0">
                  <a:pos x="1119" y="227"/>
                </a:cxn>
                <a:cxn ang="0">
                  <a:pos x="1320" y="438"/>
                </a:cxn>
                <a:cxn ang="0">
                  <a:pos x="960" y="558"/>
                </a:cxn>
                <a:cxn ang="0">
                  <a:pos x="474" y="630"/>
                </a:cxn>
                <a:cxn ang="0">
                  <a:pos x="132" y="781"/>
                </a:cxn>
                <a:cxn ang="0">
                  <a:pos x="234" y="847"/>
                </a:cxn>
                <a:cxn ang="0">
                  <a:pos x="925" y="739"/>
                </a:cxn>
                <a:cxn ang="0">
                  <a:pos x="637" y="925"/>
                </a:cxn>
                <a:cxn ang="0">
                  <a:pos x="1405" y="943"/>
                </a:cxn>
                <a:cxn ang="0">
                  <a:pos x="1447" y="943"/>
                </a:cxn>
                <a:cxn ang="0">
                  <a:pos x="2888" y="859"/>
                </a:cxn>
                <a:cxn ang="0">
                  <a:pos x="2582" y="708"/>
                </a:cxn>
                <a:cxn ang="0">
                  <a:pos x="2299" y="606"/>
                </a:cxn>
                <a:cxn ang="0">
                  <a:pos x="2606" y="588"/>
                </a:cxn>
                <a:cxn ang="0">
                  <a:pos x="3001" y="582"/>
                </a:cxn>
                <a:cxn ang="0">
                  <a:pos x="3452" y="438"/>
                </a:cxn>
                <a:cxn ang="0">
                  <a:pos x="3668" y="312"/>
                </a:cxn>
                <a:cxn ang="0">
                  <a:pos x="3482" y="300"/>
                </a:cxn>
              </a:cxnLst>
              <a:rect l="0" t="0" r="r" b="b"/>
              <a:pathLst>
                <a:path w="3668" h="943">
                  <a:moveTo>
                    <a:pt x="3482" y="300"/>
                  </a:moveTo>
                  <a:lnTo>
                    <a:pt x="3338" y="288"/>
                  </a:lnTo>
                  <a:lnTo>
                    <a:pt x="3320" y="264"/>
                  </a:lnTo>
                  <a:lnTo>
                    <a:pt x="3194" y="258"/>
                  </a:lnTo>
                  <a:lnTo>
                    <a:pt x="3019" y="216"/>
                  </a:lnTo>
                  <a:lnTo>
                    <a:pt x="2816" y="234"/>
                  </a:lnTo>
                  <a:lnTo>
                    <a:pt x="2533" y="288"/>
                  </a:lnTo>
                  <a:lnTo>
                    <a:pt x="2330" y="306"/>
                  </a:lnTo>
                  <a:lnTo>
                    <a:pt x="2149" y="312"/>
                  </a:lnTo>
                  <a:lnTo>
                    <a:pt x="2372" y="258"/>
                  </a:lnTo>
                  <a:lnTo>
                    <a:pt x="2624" y="156"/>
                  </a:lnTo>
                  <a:lnTo>
                    <a:pt x="2624" y="132"/>
                  </a:lnTo>
                  <a:lnTo>
                    <a:pt x="2666" y="78"/>
                  </a:lnTo>
                  <a:lnTo>
                    <a:pt x="2707" y="24"/>
                  </a:lnTo>
                  <a:lnTo>
                    <a:pt x="2695" y="0"/>
                  </a:lnTo>
                  <a:lnTo>
                    <a:pt x="2642" y="12"/>
                  </a:lnTo>
                  <a:lnTo>
                    <a:pt x="2557" y="30"/>
                  </a:lnTo>
                  <a:lnTo>
                    <a:pt x="2515" y="54"/>
                  </a:lnTo>
                  <a:lnTo>
                    <a:pt x="2425" y="84"/>
                  </a:lnTo>
                  <a:lnTo>
                    <a:pt x="2324" y="66"/>
                  </a:lnTo>
                  <a:lnTo>
                    <a:pt x="2191" y="90"/>
                  </a:lnTo>
                  <a:lnTo>
                    <a:pt x="2101" y="90"/>
                  </a:lnTo>
                  <a:lnTo>
                    <a:pt x="2047" y="108"/>
                  </a:lnTo>
                  <a:lnTo>
                    <a:pt x="1855" y="228"/>
                  </a:lnTo>
                  <a:lnTo>
                    <a:pt x="1771" y="288"/>
                  </a:lnTo>
                  <a:lnTo>
                    <a:pt x="1591" y="337"/>
                  </a:lnTo>
                  <a:lnTo>
                    <a:pt x="1465" y="379"/>
                  </a:lnTo>
                  <a:lnTo>
                    <a:pt x="1459" y="379"/>
                  </a:lnTo>
                  <a:lnTo>
                    <a:pt x="1453" y="373"/>
                  </a:lnTo>
                  <a:lnTo>
                    <a:pt x="1417" y="361"/>
                  </a:lnTo>
                  <a:lnTo>
                    <a:pt x="1381" y="343"/>
                  </a:lnTo>
                  <a:lnTo>
                    <a:pt x="1363" y="331"/>
                  </a:lnTo>
                  <a:lnTo>
                    <a:pt x="1357" y="324"/>
                  </a:lnTo>
                  <a:lnTo>
                    <a:pt x="1344" y="312"/>
                  </a:lnTo>
                  <a:lnTo>
                    <a:pt x="1320" y="300"/>
                  </a:lnTo>
                  <a:lnTo>
                    <a:pt x="1290" y="288"/>
                  </a:lnTo>
                  <a:lnTo>
                    <a:pt x="1260" y="270"/>
                  </a:lnTo>
                  <a:lnTo>
                    <a:pt x="1230" y="252"/>
                  </a:lnTo>
                  <a:lnTo>
                    <a:pt x="1187" y="227"/>
                  </a:lnTo>
                  <a:lnTo>
                    <a:pt x="1119" y="227"/>
                  </a:lnTo>
                  <a:lnTo>
                    <a:pt x="1357" y="397"/>
                  </a:lnTo>
                  <a:lnTo>
                    <a:pt x="1320" y="438"/>
                  </a:lnTo>
                  <a:lnTo>
                    <a:pt x="1135" y="522"/>
                  </a:lnTo>
                  <a:lnTo>
                    <a:pt x="960" y="558"/>
                  </a:lnTo>
                  <a:lnTo>
                    <a:pt x="684" y="600"/>
                  </a:lnTo>
                  <a:lnTo>
                    <a:pt x="474" y="630"/>
                  </a:lnTo>
                  <a:lnTo>
                    <a:pt x="390" y="684"/>
                  </a:lnTo>
                  <a:lnTo>
                    <a:pt x="132" y="781"/>
                  </a:lnTo>
                  <a:lnTo>
                    <a:pt x="0" y="829"/>
                  </a:lnTo>
                  <a:lnTo>
                    <a:pt x="234" y="847"/>
                  </a:lnTo>
                  <a:lnTo>
                    <a:pt x="498" y="829"/>
                  </a:lnTo>
                  <a:lnTo>
                    <a:pt x="925" y="739"/>
                  </a:lnTo>
                  <a:lnTo>
                    <a:pt x="840" y="817"/>
                  </a:lnTo>
                  <a:lnTo>
                    <a:pt x="637" y="925"/>
                  </a:lnTo>
                  <a:lnTo>
                    <a:pt x="613" y="943"/>
                  </a:lnTo>
                  <a:lnTo>
                    <a:pt x="1405" y="943"/>
                  </a:lnTo>
                  <a:lnTo>
                    <a:pt x="1411" y="925"/>
                  </a:lnTo>
                  <a:lnTo>
                    <a:pt x="1447" y="943"/>
                  </a:lnTo>
                  <a:lnTo>
                    <a:pt x="2924" y="943"/>
                  </a:lnTo>
                  <a:lnTo>
                    <a:pt x="2888" y="859"/>
                  </a:lnTo>
                  <a:lnTo>
                    <a:pt x="2713" y="775"/>
                  </a:lnTo>
                  <a:lnTo>
                    <a:pt x="2582" y="708"/>
                  </a:lnTo>
                  <a:lnTo>
                    <a:pt x="2336" y="636"/>
                  </a:lnTo>
                  <a:lnTo>
                    <a:pt x="2299" y="606"/>
                  </a:lnTo>
                  <a:lnTo>
                    <a:pt x="2509" y="582"/>
                  </a:lnTo>
                  <a:lnTo>
                    <a:pt x="2606" y="588"/>
                  </a:lnTo>
                  <a:lnTo>
                    <a:pt x="2773" y="588"/>
                  </a:lnTo>
                  <a:lnTo>
                    <a:pt x="3001" y="582"/>
                  </a:lnTo>
                  <a:lnTo>
                    <a:pt x="3259" y="516"/>
                  </a:lnTo>
                  <a:lnTo>
                    <a:pt x="3452" y="438"/>
                  </a:lnTo>
                  <a:lnTo>
                    <a:pt x="3668" y="391"/>
                  </a:lnTo>
                  <a:lnTo>
                    <a:pt x="3668" y="312"/>
                  </a:lnTo>
                  <a:lnTo>
                    <a:pt x="3482" y="300"/>
                  </a:lnTo>
                  <a:lnTo>
                    <a:pt x="3482" y="300"/>
                  </a:lnTo>
                  <a:close/>
                </a:path>
              </a:pathLst>
            </a:custGeom>
            <a:gradFill rotWithShape="0">
              <a:gsLst>
                <a:gs pos="0">
                  <a:schemeClr val="bg2"/>
                </a:gs>
                <a:gs pos="100000">
                  <a:schemeClr val="bg1"/>
                </a:gs>
              </a:gsLst>
              <a:lin ang="5400000" scaled="1"/>
            </a:gradFill>
            <a:ln w="9525">
              <a:noFill/>
              <a:round/>
              <a:headEnd/>
              <a:tailEnd/>
            </a:ln>
          </p:spPr>
          <p:txBody>
            <a:bodyPr/>
            <a:lstStyle/>
            <a:p>
              <a:endParaRPr lang="es-BO"/>
            </a:p>
          </p:txBody>
        </p:sp>
        <p:sp>
          <p:nvSpPr>
            <p:cNvPr id="115718" name="Freeform 6"/>
            <p:cNvSpPr>
              <a:spLocks/>
            </p:cNvSpPr>
            <p:nvPr/>
          </p:nvSpPr>
          <p:spPr bwMode="hidden">
            <a:xfrm>
              <a:off x="0" y="524"/>
              <a:ext cx="973" cy="1195"/>
            </a:xfrm>
            <a:custGeom>
              <a:avLst/>
              <a:gdLst/>
              <a:ahLst/>
              <a:cxnLst>
                <a:cxn ang="0">
                  <a:pos x="323" y="1186"/>
                </a:cxn>
                <a:cxn ang="0">
                  <a:pos x="490" y="1192"/>
                </a:cxn>
                <a:cxn ang="0">
                  <a:pos x="580" y="1150"/>
                </a:cxn>
                <a:cxn ang="0">
                  <a:pos x="813" y="1085"/>
                </a:cxn>
                <a:cxn ang="0">
                  <a:pos x="933" y="1055"/>
                </a:cxn>
                <a:cxn ang="0">
                  <a:pos x="759" y="989"/>
                </a:cxn>
                <a:cxn ang="0">
                  <a:pos x="556" y="953"/>
                </a:cxn>
                <a:cxn ang="0">
                  <a:pos x="197" y="971"/>
                </a:cxn>
                <a:cxn ang="0">
                  <a:pos x="299" y="893"/>
                </a:cxn>
                <a:cxn ang="0">
                  <a:pos x="496" y="803"/>
                </a:cxn>
                <a:cxn ang="0">
                  <a:pos x="694" y="671"/>
                </a:cxn>
                <a:cxn ang="0">
                  <a:pos x="700" y="671"/>
                </a:cxn>
                <a:cxn ang="0">
                  <a:pos x="712" y="665"/>
                </a:cxn>
                <a:cxn ang="0">
                  <a:pos x="753" y="647"/>
                </a:cxn>
                <a:cxn ang="0">
                  <a:pos x="777" y="641"/>
                </a:cxn>
                <a:cxn ang="0">
                  <a:pos x="789" y="629"/>
                </a:cxn>
                <a:cxn ang="0">
                  <a:pos x="795" y="617"/>
                </a:cxn>
                <a:cxn ang="0">
                  <a:pos x="789" y="611"/>
                </a:cxn>
                <a:cxn ang="0">
                  <a:pos x="783" y="599"/>
                </a:cxn>
                <a:cxn ang="0">
                  <a:pos x="783" y="575"/>
                </a:cxn>
                <a:cxn ang="0">
                  <a:pos x="795" y="545"/>
                </a:cxn>
                <a:cxn ang="0">
                  <a:pos x="807" y="515"/>
                </a:cxn>
                <a:cxn ang="0">
                  <a:pos x="825" y="485"/>
                </a:cxn>
                <a:cxn ang="0">
                  <a:pos x="837" y="455"/>
                </a:cxn>
                <a:cxn ang="0">
                  <a:pos x="843" y="437"/>
                </a:cxn>
                <a:cxn ang="0">
                  <a:pos x="849" y="431"/>
                </a:cxn>
                <a:cxn ang="0">
                  <a:pos x="849" y="347"/>
                </a:cxn>
                <a:cxn ang="0">
                  <a:pos x="849" y="341"/>
                </a:cxn>
                <a:cxn ang="0">
                  <a:pos x="855" y="335"/>
                </a:cxn>
                <a:cxn ang="0">
                  <a:pos x="873" y="305"/>
                </a:cxn>
                <a:cxn ang="0">
                  <a:pos x="885" y="269"/>
                </a:cxn>
                <a:cxn ang="0">
                  <a:pos x="897" y="239"/>
                </a:cxn>
                <a:cxn ang="0">
                  <a:pos x="903" y="227"/>
                </a:cxn>
                <a:cxn ang="0">
                  <a:pos x="909" y="215"/>
                </a:cxn>
                <a:cxn ang="0">
                  <a:pos x="927" y="173"/>
                </a:cxn>
                <a:cxn ang="0">
                  <a:pos x="945" y="137"/>
                </a:cxn>
                <a:cxn ang="0">
                  <a:pos x="951" y="125"/>
                </a:cxn>
                <a:cxn ang="0">
                  <a:pos x="951" y="119"/>
                </a:cxn>
                <a:cxn ang="0">
                  <a:pos x="969" y="0"/>
                </a:cxn>
                <a:cxn ang="0">
                  <a:pos x="945" y="47"/>
                </a:cxn>
                <a:cxn ang="0">
                  <a:pos x="783" y="113"/>
                </a:cxn>
                <a:cxn ang="0">
                  <a:pos x="706" y="161"/>
                </a:cxn>
                <a:cxn ang="0">
                  <a:pos x="460" y="233"/>
                </a:cxn>
                <a:cxn ang="0">
                  <a:pos x="281" y="287"/>
                </a:cxn>
                <a:cxn ang="0">
                  <a:pos x="173" y="293"/>
                </a:cxn>
                <a:cxn ang="0">
                  <a:pos x="12" y="485"/>
                </a:cxn>
                <a:cxn ang="0">
                  <a:pos x="0" y="509"/>
                </a:cxn>
                <a:cxn ang="0">
                  <a:pos x="0" y="1186"/>
                </a:cxn>
                <a:cxn ang="0">
                  <a:pos x="96" y="1180"/>
                </a:cxn>
                <a:cxn ang="0">
                  <a:pos x="323" y="1186"/>
                </a:cxn>
                <a:cxn ang="0">
                  <a:pos x="323" y="1186"/>
                </a:cxn>
              </a:cxnLst>
              <a:rect l="0" t="0" r="r" b="b"/>
              <a:pathLst>
                <a:path w="969" h="1192">
                  <a:moveTo>
                    <a:pt x="323" y="1186"/>
                  </a:moveTo>
                  <a:lnTo>
                    <a:pt x="490" y="1192"/>
                  </a:lnTo>
                  <a:lnTo>
                    <a:pt x="580" y="1150"/>
                  </a:lnTo>
                  <a:lnTo>
                    <a:pt x="813" y="1085"/>
                  </a:lnTo>
                  <a:lnTo>
                    <a:pt x="933" y="1055"/>
                  </a:lnTo>
                  <a:lnTo>
                    <a:pt x="759" y="989"/>
                  </a:lnTo>
                  <a:lnTo>
                    <a:pt x="556" y="953"/>
                  </a:lnTo>
                  <a:lnTo>
                    <a:pt x="197" y="971"/>
                  </a:lnTo>
                  <a:lnTo>
                    <a:pt x="299" y="893"/>
                  </a:lnTo>
                  <a:lnTo>
                    <a:pt x="496" y="803"/>
                  </a:lnTo>
                  <a:lnTo>
                    <a:pt x="694" y="671"/>
                  </a:lnTo>
                  <a:lnTo>
                    <a:pt x="700" y="671"/>
                  </a:lnTo>
                  <a:lnTo>
                    <a:pt x="712" y="665"/>
                  </a:lnTo>
                  <a:lnTo>
                    <a:pt x="753" y="647"/>
                  </a:lnTo>
                  <a:lnTo>
                    <a:pt x="777" y="641"/>
                  </a:lnTo>
                  <a:lnTo>
                    <a:pt x="789" y="629"/>
                  </a:lnTo>
                  <a:lnTo>
                    <a:pt x="795" y="617"/>
                  </a:lnTo>
                  <a:lnTo>
                    <a:pt x="789" y="611"/>
                  </a:lnTo>
                  <a:lnTo>
                    <a:pt x="783" y="599"/>
                  </a:lnTo>
                  <a:lnTo>
                    <a:pt x="783" y="575"/>
                  </a:lnTo>
                  <a:lnTo>
                    <a:pt x="795" y="545"/>
                  </a:lnTo>
                  <a:lnTo>
                    <a:pt x="807" y="515"/>
                  </a:lnTo>
                  <a:lnTo>
                    <a:pt x="825" y="485"/>
                  </a:lnTo>
                  <a:lnTo>
                    <a:pt x="837" y="455"/>
                  </a:lnTo>
                  <a:lnTo>
                    <a:pt x="843" y="437"/>
                  </a:lnTo>
                  <a:lnTo>
                    <a:pt x="849" y="431"/>
                  </a:lnTo>
                  <a:lnTo>
                    <a:pt x="849" y="347"/>
                  </a:lnTo>
                  <a:lnTo>
                    <a:pt x="849" y="341"/>
                  </a:lnTo>
                  <a:lnTo>
                    <a:pt x="855" y="335"/>
                  </a:lnTo>
                  <a:lnTo>
                    <a:pt x="873" y="305"/>
                  </a:lnTo>
                  <a:lnTo>
                    <a:pt x="885" y="269"/>
                  </a:lnTo>
                  <a:lnTo>
                    <a:pt x="897" y="239"/>
                  </a:lnTo>
                  <a:lnTo>
                    <a:pt x="903" y="227"/>
                  </a:lnTo>
                  <a:lnTo>
                    <a:pt x="909" y="215"/>
                  </a:lnTo>
                  <a:lnTo>
                    <a:pt x="927" y="173"/>
                  </a:lnTo>
                  <a:lnTo>
                    <a:pt x="945" y="137"/>
                  </a:lnTo>
                  <a:lnTo>
                    <a:pt x="951" y="125"/>
                  </a:lnTo>
                  <a:lnTo>
                    <a:pt x="951" y="119"/>
                  </a:lnTo>
                  <a:lnTo>
                    <a:pt x="969" y="0"/>
                  </a:lnTo>
                  <a:lnTo>
                    <a:pt x="945" y="47"/>
                  </a:lnTo>
                  <a:lnTo>
                    <a:pt x="783" y="113"/>
                  </a:lnTo>
                  <a:lnTo>
                    <a:pt x="706" y="161"/>
                  </a:lnTo>
                  <a:lnTo>
                    <a:pt x="460" y="233"/>
                  </a:lnTo>
                  <a:lnTo>
                    <a:pt x="281" y="287"/>
                  </a:lnTo>
                  <a:lnTo>
                    <a:pt x="173" y="293"/>
                  </a:lnTo>
                  <a:lnTo>
                    <a:pt x="12" y="485"/>
                  </a:lnTo>
                  <a:lnTo>
                    <a:pt x="0" y="509"/>
                  </a:lnTo>
                  <a:lnTo>
                    <a:pt x="0" y="1186"/>
                  </a:lnTo>
                  <a:lnTo>
                    <a:pt x="96" y="1180"/>
                  </a:lnTo>
                  <a:lnTo>
                    <a:pt x="323" y="1186"/>
                  </a:lnTo>
                  <a:lnTo>
                    <a:pt x="323" y="1186"/>
                  </a:lnTo>
                  <a:close/>
                </a:path>
              </a:pathLst>
            </a:custGeom>
            <a:gradFill rotWithShape="0">
              <a:gsLst>
                <a:gs pos="0">
                  <a:schemeClr val="bg2"/>
                </a:gs>
                <a:gs pos="100000">
                  <a:schemeClr val="bg1"/>
                </a:gs>
              </a:gsLst>
              <a:lin ang="5400000" scaled="1"/>
            </a:gradFill>
            <a:ln w="9525">
              <a:noFill/>
              <a:round/>
              <a:headEnd/>
              <a:tailEnd/>
            </a:ln>
          </p:spPr>
          <p:txBody>
            <a:bodyPr/>
            <a:lstStyle/>
            <a:p>
              <a:endParaRPr lang="es-BO"/>
            </a:p>
          </p:txBody>
        </p:sp>
        <p:sp>
          <p:nvSpPr>
            <p:cNvPr id="115719" name="Freeform 7"/>
            <p:cNvSpPr>
              <a:spLocks/>
            </p:cNvSpPr>
            <p:nvPr/>
          </p:nvSpPr>
          <p:spPr bwMode="hidden">
            <a:xfrm>
              <a:off x="3188" y="1"/>
              <a:ext cx="2570" cy="2266"/>
            </a:xfrm>
            <a:custGeom>
              <a:avLst/>
              <a:gdLst/>
              <a:ahLst/>
              <a:cxnLst>
                <a:cxn ang="0">
                  <a:pos x="859" y="612"/>
                </a:cxn>
                <a:cxn ang="0">
                  <a:pos x="1087" y="853"/>
                </a:cxn>
                <a:cxn ang="0">
                  <a:pos x="961" y="913"/>
                </a:cxn>
                <a:cxn ang="0">
                  <a:pos x="786" y="883"/>
                </a:cxn>
                <a:cxn ang="0">
                  <a:pos x="450" y="931"/>
                </a:cxn>
                <a:cxn ang="0">
                  <a:pos x="150" y="1075"/>
                </a:cxn>
                <a:cxn ang="0">
                  <a:pos x="78" y="1165"/>
                </a:cxn>
                <a:cxn ang="0">
                  <a:pos x="361" y="1256"/>
                </a:cxn>
                <a:cxn ang="0">
                  <a:pos x="444" y="1316"/>
                </a:cxn>
                <a:cxn ang="0">
                  <a:pos x="697" y="1400"/>
                </a:cxn>
                <a:cxn ang="0">
                  <a:pos x="1026" y="1346"/>
                </a:cxn>
                <a:cxn ang="0">
                  <a:pos x="991" y="1412"/>
                </a:cxn>
                <a:cxn ang="0">
                  <a:pos x="804" y="1574"/>
                </a:cxn>
                <a:cxn ang="0">
                  <a:pos x="726" y="1718"/>
                </a:cxn>
                <a:cxn ang="0">
                  <a:pos x="768" y="1742"/>
                </a:cxn>
                <a:cxn ang="0">
                  <a:pos x="865" y="1693"/>
                </a:cxn>
                <a:cxn ang="0">
                  <a:pos x="991" y="1699"/>
                </a:cxn>
                <a:cxn ang="0">
                  <a:pos x="1135" y="1627"/>
                </a:cxn>
                <a:cxn ang="0">
                  <a:pos x="1183" y="1669"/>
                </a:cxn>
                <a:cxn ang="0">
                  <a:pos x="1399" y="1436"/>
                </a:cxn>
                <a:cxn ang="0">
                  <a:pos x="1615" y="1334"/>
                </a:cxn>
                <a:cxn ang="0">
                  <a:pos x="1645" y="1370"/>
                </a:cxn>
                <a:cxn ang="0">
                  <a:pos x="1681" y="1430"/>
                </a:cxn>
                <a:cxn ang="0">
                  <a:pos x="1699" y="1466"/>
                </a:cxn>
                <a:cxn ang="0">
                  <a:pos x="1747" y="1550"/>
                </a:cxn>
                <a:cxn ang="0">
                  <a:pos x="1772" y="1586"/>
                </a:cxn>
                <a:cxn ang="0">
                  <a:pos x="2124" y="2248"/>
                </a:cxn>
                <a:cxn ang="0">
                  <a:pos x="1693" y="1322"/>
                </a:cxn>
                <a:cxn ang="0">
                  <a:pos x="1861" y="1165"/>
                </a:cxn>
                <a:cxn ang="0">
                  <a:pos x="2173" y="1099"/>
                </a:cxn>
                <a:cxn ang="0">
                  <a:pos x="2390" y="1009"/>
                </a:cxn>
                <a:cxn ang="0">
                  <a:pos x="2570" y="805"/>
                </a:cxn>
                <a:cxn ang="0">
                  <a:pos x="2342" y="781"/>
                </a:cxn>
                <a:cxn ang="0">
                  <a:pos x="2114" y="763"/>
                </a:cxn>
                <a:cxn ang="0">
                  <a:pos x="2408" y="433"/>
                </a:cxn>
                <a:cxn ang="0">
                  <a:pos x="2426" y="421"/>
                </a:cxn>
                <a:cxn ang="0">
                  <a:pos x="2474" y="379"/>
                </a:cxn>
                <a:cxn ang="0">
                  <a:pos x="2492" y="355"/>
                </a:cxn>
                <a:cxn ang="0">
                  <a:pos x="2474" y="337"/>
                </a:cxn>
                <a:cxn ang="0">
                  <a:pos x="2474" y="271"/>
                </a:cxn>
                <a:cxn ang="0">
                  <a:pos x="2492" y="192"/>
                </a:cxn>
                <a:cxn ang="0">
                  <a:pos x="2504" y="132"/>
                </a:cxn>
                <a:cxn ang="0">
                  <a:pos x="2492" y="36"/>
                </a:cxn>
                <a:cxn ang="0">
                  <a:pos x="2492" y="24"/>
                </a:cxn>
                <a:cxn ang="0">
                  <a:pos x="2102" y="0"/>
                </a:cxn>
                <a:cxn ang="0">
                  <a:pos x="1909" y="90"/>
                </a:cxn>
                <a:cxn ang="0">
                  <a:pos x="1747" y="535"/>
                </a:cxn>
                <a:cxn ang="0">
                  <a:pos x="1711" y="469"/>
                </a:cxn>
                <a:cxn ang="0">
                  <a:pos x="1633" y="144"/>
                </a:cxn>
                <a:cxn ang="0">
                  <a:pos x="1579" y="0"/>
                </a:cxn>
                <a:cxn ang="0">
                  <a:pos x="738" y="186"/>
                </a:cxn>
                <a:cxn ang="0">
                  <a:pos x="756" y="463"/>
                </a:cxn>
              </a:cxnLst>
              <a:rect l="0" t="0" r="r" b="b"/>
              <a:pathLst>
                <a:path w="2570" h="2266">
                  <a:moveTo>
                    <a:pt x="756" y="463"/>
                  </a:moveTo>
                  <a:lnTo>
                    <a:pt x="859" y="612"/>
                  </a:lnTo>
                  <a:lnTo>
                    <a:pt x="937" y="720"/>
                  </a:lnTo>
                  <a:lnTo>
                    <a:pt x="1087" y="853"/>
                  </a:lnTo>
                  <a:lnTo>
                    <a:pt x="1105" y="907"/>
                  </a:lnTo>
                  <a:lnTo>
                    <a:pt x="961" y="913"/>
                  </a:lnTo>
                  <a:lnTo>
                    <a:pt x="895" y="901"/>
                  </a:lnTo>
                  <a:lnTo>
                    <a:pt x="786" y="883"/>
                  </a:lnTo>
                  <a:lnTo>
                    <a:pt x="637" y="859"/>
                  </a:lnTo>
                  <a:lnTo>
                    <a:pt x="450" y="931"/>
                  </a:lnTo>
                  <a:lnTo>
                    <a:pt x="306" y="1021"/>
                  </a:lnTo>
                  <a:lnTo>
                    <a:pt x="150" y="1075"/>
                  </a:lnTo>
                  <a:lnTo>
                    <a:pt x="0" y="1153"/>
                  </a:lnTo>
                  <a:lnTo>
                    <a:pt x="78" y="1165"/>
                  </a:lnTo>
                  <a:lnTo>
                    <a:pt x="264" y="1220"/>
                  </a:lnTo>
                  <a:lnTo>
                    <a:pt x="361" y="1256"/>
                  </a:lnTo>
                  <a:lnTo>
                    <a:pt x="367" y="1298"/>
                  </a:lnTo>
                  <a:lnTo>
                    <a:pt x="444" y="1316"/>
                  </a:lnTo>
                  <a:lnTo>
                    <a:pt x="558" y="1400"/>
                  </a:lnTo>
                  <a:lnTo>
                    <a:pt x="697" y="1400"/>
                  </a:lnTo>
                  <a:lnTo>
                    <a:pt x="895" y="1346"/>
                  </a:lnTo>
                  <a:lnTo>
                    <a:pt x="1026" y="1346"/>
                  </a:lnTo>
                  <a:lnTo>
                    <a:pt x="1147" y="1358"/>
                  </a:lnTo>
                  <a:lnTo>
                    <a:pt x="991" y="1412"/>
                  </a:lnTo>
                  <a:lnTo>
                    <a:pt x="804" y="1538"/>
                  </a:lnTo>
                  <a:lnTo>
                    <a:pt x="804" y="1574"/>
                  </a:lnTo>
                  <a:lnTo>
                    <a:pt x="762" y="1645"/>
                  </a:lnTo>
                  <a:lnTo>
                    <a:pt x="726" y="1718"/>
                  </a:lnTo>
                  <a:lnTo>
                    <a:pt x="732" y="1754"/>
                  </a:lnTo>
                  <a:lnTo>
                    <a:pt x="768" y="1742"/>
                  </a:lnTo>
                  <a:lnTo>
                    <a:pt x="829" y="1730"/>
                  </a:lnTo>
                  <a:lnTo>
                    <a:pt x="865" y="1693"/>
                  </a:lnTo>
                  <a:lnTo>
                    <a:pt x="925" y="1663"/>
                  </a:lnTo>
                  <a:lnTo>
                    <a:pt x="991" y="1699"/>
                  </a:lnTo>
                  <a:lnTo>
                    <a:pt x="1087" y="1675"/>
                  </a:lnTo>
                  <a:lnTo>
                    <a:pt x="1135" y="1627"/>
                  </a:lnTo>
                  <a:lnTo>
                    <a:pt x="1147" y="1687"/>
                  </a:lnTo>
                  <a:lnTo>
                    <a:pt x="1183" y="1669"/>
                  </a:lnTo>
                  <a:lnTo>
                    <a:pt x="1333" y="1514"/>
                  </a:lnTo>
                  <a:lnTo>
                    <a:pt x="1399" y="1436"/>
                  </a:lnTo>
                  <a:lnTo>
                    <a:pt x="1526" y="1382"/>
                  </a:lnTo>
                  <a:lnTo>
                    <a:pt x="1615" y="1334"/>
                  </a:lnTo>
                  <a:lnTo>
                    <a:pt x="1627" y="1346"/>
                  </a:lnTo>
                  <a:lnTo>
                    <a:pt x="1645" y="1370"/>
                  </a:lnTo>
                  <a:lnTo>
                    <a:pt x="1669" y="1400"/>
                  </a:lnTo>
                  <a:lnTo>
                    <a:pt x="1681" y="1430"/>
                  </a:lnTo>
                  <a:lnTo>
                    <a:pt x="1687" y="1448"/>
                  </a:lnTo>
                  <a:lnTo>
                    <a:pt x="1699" y="1466"/>
                  </a:lnTo>
                  <a:lnTo>
                    <a:pt x="1729" y="1520"/>
                  </a:lnTo>
                  <a:lnTo>
                    <a:pt x="1747" y="1550"/>
                  </a:lnTo>
                  <a:lnTo>
                    <a:pt x="1766" y="1574"/>
                  </a:lnTo>
                  <a:lnTo>
                    <a:pt x="1772" y="1586"/>
                  </a:lnTo>
                  <a:lnTo>
                    <a:pt x="1778" y="1592"/>
                  </a:lnTo>
                  <a:lnTo>
                    <a:pt x="2124" y="2248"/>
                  </a:lnTo>
                  <a:lnTo>
                    <a:pt x="2215" y="2266"/>
                  </a:lnTo>
                  <a:lnTo>
                    <a:pt x="1693" y="1322"/>
                  </a:lnTo>
                  <a:lnTo>
                    <a:pt x="1723" y="1262"/>
                  </a:lnTo>
                  <a:lnTo>
                    <a:pt x="1861" y="1165"/>
                  </a:lnTo>
                  <a:lnTo>
                    <a:pt x="1988" y="1129"/>
                  </a:lnTo>
                  <a:lnTo>
                    <a:pt x="2173" y="1099"/>
                  </a:lnTo>
                  <a:lnTo>
                    <a:pt x="2318" y="1075"/>
                  </a:lnTo>
                  <a:lnTo>
                    <a:pt x="2390" y="1009"/>
                  </a:lnTo>
                  <a:lnTo>
                    <a:pt x="2570" y="895"/>
                  </a:lnTo>
                  <a:lnTo>
                    <a:pt x="2570" y="805"/>
                  </a:lnTo>
                  <a:lnTo>
                    <a:pt x="2516" y="787"/>
                  </a:lnTo>
                  <a:lnTo>
                    <a:pt x="2342" y="781"/>
                  </a:lnTo>
                  <a:lnTo>
                    <a:pt x="2042" y="871"/>
                  </a:lnTo>
                  <a:lnTo>
                    <a:pt x="2114" y="763"/>
                  </a:lnTo>
                  <a:lnTo>
                    <a:pt x="2264" y="624"/>
                  </a:lnTo>
                  <a:lnTo>
                    <a:pt x="2408" y="433"/>
                  </a:lnTo>
                  <a:lnTo>
                    <a:pt x="2414" y="433"/>
                  </a:lnTo>
                  <a:lnTo>
                    <a:pt x="2426" y="421"/>
                  </a:lnTo>
                  <a:lnTo>
                    <a:pt x="2456" y="397"/>
                  </a:lnTo>
                  <a:lnTo>
                    <a:pt x="2474" y="379"/>
                  </a:lnTo>
                  <a:lnTo>
                    <a:pt x="2486" y="367"/>
                  </a:lnTo>
                  <a:lnTo>
                    <a:pt x="2492" y="355"/>
                  </a:lnTo>
                  <a:lnTo>
                    <a:pt x="2486" y="349"/>
                  </a:lnTo>
                  <a:lnTo>
                    <a:pt x="2474" y="337"/>
                  </a:lnTo>
                  <a:lnTo>
                    <a:pt x="2474" y="307"/>
                  </a:lnTo>
                  <a:lnTo>
                    <a:pt x="2474" y="271"/>
                  </a:lnTo>
                  <a:lnTo>
                    <a:pt x="2480" y="228"/>
                  </a:lnTo>
                  <a:lnTo>
                    <a:pt x="2492" y="192"/>
                  </a:lnTo>
                  <a:lnTo>
                    <a:pt x="2498" y="156"/>
                  </a:lnTo>
                  <a:lnTo>
                    <a:pt x="2504" y="132"/>
                  </a:lnTo>
                  <a:lnTo>
                    <a:pt x="2504" y="126"/>
                  </a:lnTo>
                  <a:lnTo>
                    <a:pt x="2492" y="36"/>
                  </a:lnTo>
                  <a:lnTo>
                    <a:pt x="2492" y="36"/>
                  </a:lnTo>
                  <a:lnTo>
                    <a:pt x="2492" y="24"/>
                  </a:lnTo>
                  <a:lnTo>
                    <a:pt x="2498" y="0"/>
                  </a:lnTo>
                  <a:lnTo>
                    <a:pt x="2102" y="0"/>
                  </a:lnTo>
                  <a:lnTo>
                    <a:pt x="2006" y="60"/>
                  </a:lnTo>
                  <a:lnTo>
                    <a:pt x="1909" y="90"/>
                  </a:lnTo>
                  <a:lnTo>
                    <a:pt x="1808" y="337"/>
                  </a:lnTo>
                  <a:lnTo>
                    <a:pt x="1747" y="535"/>
                  </a:lnTo>
                  <a:lnTo>
                    <a:pt x="1687" y="588"/>
                  </a:lnTo>
                  <a:lnTo>
                    <a:pt x="1711" y="469"/>
                  </a:lnTo>
                  <a:lnTo>
                    <a:pt x="1687" y="343"/>
                  </a:lnTo>
                  <a:lnTo>
                    <a:pt x="1633" y="144"/>
                  </a:lnTo>
                  <a:lnTo>
                    <a:pt x="1585" y="12"/>
                  </a:lnTo>
                  <a:lnTo>
                    <a:pt x="1579" y="0"/>
                  </a:lnTo>
                  <a:lnTo>
                    <a:pt x="786" y="0"/>
                  </a:lnTo>
                  <a:lnTo>
                    <a:pt x="738" y="186"/>
                  </a:lnTo>
                  <a:lnTo>
                    <a:pt x="756" y="463"/>
                  </a:lnTo>
                  <a:lnTo>
                    <a:pt x="756" y="463"/>
                  </a:lnTo>
                  <a:close/>
                </a:path>
              </a:pathLst>
            </a:custGeom>
            <a:gradFill rotWithShape="0">
              <a:gsLst>
                <a:gs pos="0">
                  <a:schemeClr val="bg2"/>
                </a:gs>
                <a:gs pos="100000">
                  <a:schemeClr val="bg1"/>
                </a:gs>
              </a:gsLst>
              <a:lin ang="5400000" scaled="1"/>
            </a:gradFill>
            <a:ln w="9525">
              <a:noFill/>
              <a:round/>
              <a:headEnd/>
              <a:tailEnd/>
            </a:ln>
          </p:spPr>
          <p:txBody>
            <a:bodyPr/>
            <a:lstStyle/>
            <a:p>
              <a:endParaRPr lang="es-BO"/>
            </a:p>
          </p:txBody>
        </p:sp>
        <p:sp>
          <p:nvSpPr>
            <p:cNvPr id="115720" name="Freeform 8"/>
            <p:cNvSpPr>
              <a:spLocks/>
            </p:cNvSpPr>
            <p:nvPr/>
          </p:nvSpPr>
          <p:spPr bwMode="hidden">
            <a:xfrm>
              <a:off x="3525" y="1"/>
              <a:ext cx="2185" cy="1508"/>
            </a:xfrm>
            <a:custGeom>
              <a:avLst/>
              <a:gdLst/>
              <a:ahLst/>
              <a:cxnLst>
                <a:cxn ang="0">
                  <a:pos x="1034" y="767"/>
                </a:cxn>
                <a:cxn ang="0">
                  <a:pos x="1190" y="1235"/>
                </a:cxn>
                <a:cxn ang="0">
                  <a:pos x="956" y="1193"/>
                </a:cxn>
                <a:cxn ang="0">
                  <a:pos x="723" y="1127"/>
                </a:cxn>
                <a:cxn ang="0">
                  <a:pos x="442" y="1109"/>
                </a:cxn>
                <a:cxn ang="0">
                  <a:pos x="0" y="1079"/>
                </a:cxn>
                <a:cxn ang="0">
                  <a:pos x="30" y="1115"/>
                </a:cxn>
                <a:cxn ang="0">
                  <a:pos x="496" y="1133"/>
                </a:cxn>
                <a:cxn ang="0">
                  <a:pos x="777" y="1187"/>
                </a:cxn>
                <a:cxn ang="0">
                  <a:pos x="1130" y="1301"/>
                </a:cxn>
                <a:cxn ang="0">
                  <a:pos x="1070" y="1319"/>
                </a:cxn>
                <a:cxn ang="0">
                  <a:pos x="711" y="1505"/>
                </a:cxn>
                <a:cxn ang="0">
                  <a:pos x="765" y="1481"/>
                </a:cxn>
                <a:cxn ang="0">
                  <a:pos x="861" y="1439"/>
                </a:cxn>
                <a:cxn ang="0">
                  <a:pos x="1022" y="1355"/>
                </a:cxn>
                <a:cxn ang="0">
                  <a:pos x="1214" y="1295"/>
                </a:cxn>
                <a:cxn ang="0">
                  <a:pos x="1267" y="1223"/>
                </a:cxn>
                <a:cxn ang="0">
                  <a:pos x="1632" y="1043"/>
                </a:cxn>
                <a:cxn ang="0">
                  <a:pos x="1931" y="953"/>
                </a:cxn>
                <a:cxn ang="0">
                  <a:pos x="2176" y="821"/>
                </a:cxn>
                <a:cxn ang="0">
                  <a:pos x="1961" y="911"/>
                </a:cxn>
                <a:cxn ang="0">
                  <a:pos x="1656" y="989"/>
                </a:cxn>
                <a:cxn ang="0">
                  <a:pos x="1339" y="1151"/>
                </a:cxn>
                <a:cxn ang="0">
                  <a:pos x="1501" y="905"/>
                </a:cxn>
                <a:cxn ang="0">
                  <a:pos x="1620" y="545"/>
                </a:cxn>
                <a:cxn ang="0">
                  <a:pos x="1740" y="372"/>
                </a:cxn>
                <a:cxn ang="0">
                  <a:pos x="1979" y="60"/>
                </a:cxn>
                <a:cxn ang="0">
                  <a:pos x="2003" y="0"/>
                </a:cxn>
                <a:cxn ang="0">
                  <a:pos x="1973" y="0"/>
                </a:cxn>
                <a:cxn ang="0">
                  <a:pos x="1596" y="480"/>
                </a:cxn>
                <a:cxn ang="0">
                  <a:pos x="1477" y="887"/>
                </a:cxn>
                <a:cxn ang="0">
                  <a:pos x="1255" y="1175"/>
                </a:cxn>
                <a:cxn ang="0">
                  <a:pos x="1130" y="905"/>
                </a:cxn>
                <a:cxn ang="0">
                  <a:pos x="1010" y="540"/>
                </a:cxn>
                <a:cxn ang="0">
                  <a:pos x="885" y="222"/>
                </a:cxn>
                <a:cxn ang="0">
                  <a:pos x="789" y="0"/>
                </a:cxn>
                <a:cxn ang="0">
                  <a:pos x="753" y="0"/>
                </a:cxn>
                <a:cxn ang="0">
                  <a:pos x="903" y="354"/>
                </a:cxn>
                <a:cxn ang="0">
                  <a:pos x="1034" y="767"/>
                </a:cxn>
                <a:cxn ang="0">
                  <a:pos x="1034" y="767"/>
                </a:cxn>
              </a:cxnLst>
              <a:rect l="0" t="0" r="r" b="b"/>
              <a:pathLst>
                <a:path w="2176" h="1505">
                  <a:moveTo>
                    <a:pt x="1034" y="767"/>
                  </a:moveTo>
                  <a:lnTo>
                    <a:pt x="1190" y="1235"/>
                  </a:lnTo>
                  <a:lnTo>
                    <a:pt x="956" y="1193"/>
                  </a:lnTo>
                  <a:lnTo>
                    <a:pt x="723" y="1127"/>
                  </a:lnTo>
                  <a:lnTo>
                    <a:pt x="442" y="1109"/>
                  </a:lnTo>
                  <a:lnTo>
                    <a:pt x="0" y="1079"/>
                  </a:lnTo>
                  <a:lnTo>
                    <a:pt x="30" y="1115"/>
                  </a:lnTo>
                  <a:lnTo>
                    <a:pt x="496" y="1133"/>
                  </a:lnTo>
                  <a:lnTo>
                    <a:pt x="777" y="1187"/>
                  </a:lnTo>
                  <a:lnTo>
                    <a:pt x="1130" y="1301"/>
                  </a:lnTo>
                  <a:lnTo>
                    <a:pt x="1070" y="1319"/>
                  </a:lnTo>
                  <a:lnTo>
                    <a:pt x="711" y="1505"/>
                  </a:lnTo>
                  <a:lnTo>
                    <a:pt x="765" y="1481"/>
                  </a:lnTo>
                  <a:lnTo>
                    <a:pt x="861" y="1439"/>
                  </a:lnTo>
                  <a:lnTo>
                    <a:pt x="1022" y="1355"/>
                  </a:lnTo>
                  <a:lnTo>
                    <a:pt x="1214" y="1295"/>
                  </a:lnTo>
                  <a:lnTo>
                    <a:pt x="1267" y="1223"/>
                  </a:lnTo>
                  <a:lnTo>
                    <a:pt x="1632" y="1043"/>
                  </a:lnTo>
                  <a:lnTo>
                    <a:pt x="1931" y="953"/>
                  </a:lnTo>
                  <a:lnTo>
                    <a:pt x="2176" y="821"/>
                  </a:lnTo>
                  <a:lnTo>
                    <a:pt x="1961" y="911"/>
                  </a:lnTo>
                  <a:lnTo>
                    <a:pt x="1656" y="989"/>
                  </a:lnTo>
                  <a:lnTo>
                    <a:pt x="1339" y="1151"/>
                  </a:lnTo>
                  <a:lnTo>
                    <a:pt x="1501" y="905"/>
                  </a:lnTo>
                  <a:lnTo>
                    <a:pt x="1620" y="545"/>
                  </a:lnTo>
                  <a:lnTo>
                    <a:pt x="1740" y="372"/>
                  </a:lnTo>
                  <a:lnTo>
                    <a:pt x="1979" y="60"/>
                  </a:lnTo>
                  <a:lnTo>
                    <a:pt x="2003" y="0"/>
                  </a:lnTo>
                  <a:lnTo>
                    <a:pt x="1973" y="0"/>
                  </a:lnTo>
                  <a:lnTo>
                    <a:pt x="1596" y="480"/>
                  </a:lnTo>
                  <a:lnTo>
                    <a:pt x="1477" y="887"/>
                  </a:lnTo>
                  <a:lnTo>
                    <a:pt x="1255" y="1175"/>
                  </a:lnTo>
                  <a:lnTo>
                    <a:pt x="1130" y="905"/>
                  </a:lnTo>
                  <a:lnTo>
                    <a:pt x="1010" y="540"/>
                  </a:lnTo>
                  <a:lnTo>
                    <a:pt x="885" y="222"/>
                  </a:lnTo>
                  <a:lnTo>
                    <a:pt x="789" y="0"/>
                  </a:lnTo>
                  <a:lnTo>
                    <a:pt x="753" y="0"/>
                  </a:lnTo>
                  <a:lnTo>
                    <a:pt x="903" y="354"/>
                  </a:lnTo>
                  <a:lnTo>
                    <a:pt x="1034" y="767"/>
                  </a:lnTo>
                  <a:lnTo>
                    <a:pt x="1034" y="767"/>
                  </a:lnTo>
                  <a:close/>
                </a:path>
              </a:pathLst>
            </a:custGeom>
            <a:gradFill rotWithShape="0">
              <a:gsLst>
                <a:gs pos="0">
                  <a:schemeClr val="accent2"/>
                </a:gs>
                <a:gs pos="100000">
                  <a:schemeClr val="bg1"/>
                </a:gs>
              </a:gsLst>
              <a:lin ang="5400000" scaled="1"/>
            </a:gradFill>
            <a:ln w="9525">
              <a:noFill/>
              <a:round/>
              <a:headEnd/>
              <a:tailEnd/>
            </a:ln>
          </p:spPr>
          <p:txBody>
            <a:bodyPr/>
            <a:lstStyle/>
            <a:p>
              <a:endParaRPr lang="es-BO"/>
            </a:p>
          </p:txBody>
        </p:sp>
        <p:sp>
          <p:nvSpPr>
            <p:cNvPr id="115721" name="Freeform 9"/>
            <p:cNvSpPr>
              <a:spLocks/>
            </p:cNvSpPr>
            <p:nvPr/>
          </p:nvSpPr>
          <p:spPr bwMode="hidden">
            <a:xfrm>
              <a:off x="0" y="649"/>
              <a:ext cx="816" cy="806"/>
            </a:xfrm>
            <a:custGeom>
              <a:avLst/>
              <a:gdLst/>
              <a:ahLst/>
              <a:cxnLst>
                <a:cxn ang="0">
                  <a:pos x="161" y="564"/>
                </a:cxn>
                <a:cxn ang="0">
                  <a:pos x="329" y="438"/>
                </a:cxn>
                <a:cxn ang="0">
                  <a:pos x="646" y="216"/>
                </a:cxn>
                <a:cxn ang="0">
                  <a:pos x="813" y="0"/>
                </a:cxn>
                <a:cxn ang="0">
                  <a:pos x="676" y="150"/>
                </a:cxn>
                <a:cxn ang="0">
                  <a:pos x="144" y="504"/>
                </a:cxn>
                <a:cxn ang="0">
                  <a:pos x="0" y="732"/>
                </a:cxn>
                <a:cxn ang="0">
                  <a:pos x="0" y="804"/>
                </a:cxn>
                <a:cxn ang="0">
                  <a:pos x="161" y="564"/>
                </a:cxn>
                <a:cxn ang="0">
                  <a:pos x="161" y="564"/>
                </a:cxn>
              </a:cxnLst>
              <a:rect l="0" t="0" r="r" b="b"/>
              <a:pathLst>
                <a:path w="813" h="804">
                  <a:moveTo>
                    <a:pt x="161" y="564"/>
                  </a:moveTo>
                  <a:lnTo>
                    <a:pt x="329" y="438"/>
                  </a:lnTo>
                  <a:lnTo>
                    <a:pt x="646" y="216"/>
                  </a:lnTo>
                  <a:lnTo>
                    <a:pt x="813" y="0"/>
                  </a:lnTo>
                  <a:lnTo>
                    <a:pt x="676" y="150"/>
                  </a:lnTo>
                  <a:lnTo>
                    <a:pt x="144" y="504"/>
                  </a:lnTo>
                  <a:lnTo>
                    <a:pt x="0" y="732"/>
                  </a:lnTo>
                  <a:lnTo>
                    <a:pt x="0" y="804"/>
                  </a:lnTo>
                  <a:lnTo>
                    <a:pt x="161" y="564"/>
                  </a:lnTo>
                  <a:lnTo>
                    <a:pt x="161" y="564"/>
                  </a:lnTo>
                  <a:close/>
                </a:path>
              </a:pathLst>
            </a:custGeom>
            <a:gradFill rotWithShape="0">
              <a:gsLst>
                <a:gs pos="0">
                  <a:schemeClr val="accent2"/>
                </a:gs>
                <a:gs pos="100000">
                  <a:schemeClr val="bg1"/>
                </a:gs>
              </a:gsLst>
              <a:lin ang="5400000" scaled="1"/>
            </a:gradFill>
            <a:ln w="9525">
              <a:noFill/>
              <a:round/>
              <a:headEnd/>
              <a:tailEnd/>
            </a:ln>
          </p:spPr>
          <p:txBody>
            <a:bodyPr/>
            <a:lstStyle/>
            <a:p>
              <a:endParaRPr lang="es-BO"/>
            </a:p>
          </p:txBody>
        </p:sp>
        <p:sp>
          <p:nvSpPr>
            <p:cNvPr id="115722" name="Freeform 10"/>
            <p:cNvSpPr>
              <a:spLocks/>
            </p:cNvSpPr>
            <p:nvPr/>
          </p:nvSpPr>
          <p:spPr bwMode="hidden">
            <a:xfrm>
              <a:off x="0" y="1545"/>
              <a:ext cx="762" cy="107"/>
            </a:xfrm>
            <a:custGeom>
              <a:avLst/>
              <a:gdLst/>
              <a:ahLst/>
              <a:cxnLst>
                <a:cxn ang="0">
                  <a:pos x="460" y="66"/>
                </a:cxn>
                <a:cxn ang="0">
                  <a:pos x="759" y="0"/>
                </a:cxn>
                <a:cxn ang="0">
                  <a:pos x="496" y="36"/>
                </a:cxn>
                <a:cxn ang="0">
                  <a:pos x="138" y="48"/>
                </a:cxn>
                <a:cxn ang="0">
                  <a:pos x="0" y="78"/>
                </a:cxn>
                <a:cxn ang="0">
                  <a:pos x="0" y="107"/>
                </a:cxn>
                <a:cxn ang="0">
                  <a:pos x="96" y="89"/>
                </a:cxn>
                <a:cxn ang="0">
                  <a:pos x="460" y="66"/>
                </a:cxn>
                <a:cxn ang="0">
                  <a:pos x="460" y="66"/>
                </a:cxn>
              </a:cxnLst>
              <a:rect l="0" t="0" r="r" b="b"/>
              <a:pathLst>
                <a:path w="759" h="107">
                  <a:moveTo>
                    <a:pt x="460" y="66"/>
                  </a:moveTo>
                  <a:lnTo>
                    <a:pt x="759" y="0"/>
                  </a:lnTo>
                  <a:lnTo>
                    <a:pt x="496" y="36"/>
                  </a:lnTo>
                  <a:lnTo>
                    <a:pt x="138" y="48"/>
                  </a:lnTo>
                  <a:lnTo>
                    <a:pt x="0" y="78"/>
                  </a:lnTo>
                  <a:lnTo>
                    <a:pt x="0" y="107"/>
                  </a:lnTo>
                  <a:lnTo>
                    <a:pt x="96" y="89"/>
                  </a:lnTo>
                  <a:lnTo>
                    <a:pt x="460" y="66"/>
                  </a:lnTo>
                  <a:lnTo>
                    <a:pt x="460" y="66"/>
                  </a:lnTo>
                  <a:close/>
                </a:path>
              </a:pathLst>
            </a:custGeom>
            <a:gradFill rotWithShape="0">
              <a:gsLst>
                <a:gs pos="0">
                  <a:schemeClr val="accent2"/>
                </a:gs>
                <a:gs pos="100000">
                  <a:schemeClr val="bg1"/>
                </a:gs>
              </a:gsLst>
              <a:lin ang="5400000" scaled="1"/>
            </a:gradFill>
            <a:ln w="9525">
              <a:noFill/>
              <a:round/>
              <a:headEnd/>
              <a:tailEnd/>
            </a:ln>
          </p:spPr>
          <p:txBody>
            <a:bodyPr/>
            <a:lstStyle/>
            <a:p>
              <a:endParaRPr lang="es-BO"/>
            </a:p>
          </p:txBody>
        </p:sp>
        <p:sp>
          <p:nvSpPr>
            <p:cNvPr id="115723" name="Freeform 11"/>
            <p:cNvSpPr>
              <a:spLocks/>
            </p:cNvSpPr>
            <p:nvPr/>
          </p:nvSpPr>
          <p:spPr bwMode="hidden">
            <a:xfrm>
              <a:off x="2314" y="3431"/>
              <a:ext cx="3182" cy="745"/>
            </a:xfrm>
            <a:custGeom>
              <a:avLst/>
              <a:gdLst/>
              <a:ahLst/>
              <a:cxnLst>
                <a:cxn ang="0">
                  <a:pos x="1387" y="239"/>
                </a:cxn>
                <a:cxn ang="0">
                  <a:pos x="1734" y="233"/>
                </a:cxn>
                <a:cxn ang="0">
                  <a:pos x="2087" y="251"/>
                </a:cxn>
                <a:cxn ang="0">
                  <a:pos x="2505" y="233"/>
                </a:cxn>
                <a:cxn ang="0">
                  <a:pos x="3169" y="204"/>
                </a:cxn>
                <a:cxn ang="0">
                  <a:pos x="3115" y="186"/>
                </a:cxn>
                <a:cxn ang="0">
                  <a:pos x="2422" y="221"/>
                </a:cxn>
                <a:cxn ang="0">
                  <a:pos x="2003" y="221"/>
                </a:cxn>
                <a:cxn ang="0">
                  <a:pos x="1459" y="186"/>
                </a:cxn>
                <a:cxn ang="0">
                  <a:pos x="1543" y="168"/>
                </a:cxn>
                <a:cxn ang="0">
                  <a:pos x="2039" y="0"/>
                </a:cxn>
                <a:cxn ang="0">
                  <a:pos x="1961" y="24"/>
                </a:cxn>
                <a:cxn ang="0">
                  <a:pos x="1836" y="66"/>
                </a:cxn>
                <a:cxn ang="0">
                  <a:pos x="1602" y="138"/>
                </a:cxn>
                <a:cxn ang="0">
                  <a:pos x="1339" y="198"/>
                </a:cxn>
                <a:cxn ang="0">
                  <a:pos x="1268" y="251"/>
                </a:cxn>
                <a:cxn ang="0">
                  <a:pos x="765" y="413"/>
                </a:cxn>
                <a:cxn ang="0">
                  <a:pos x="335" y="503"/>
                </a:cxn>
                <a:cxn ang="0">
                  <a:pos x="0" y="617"/>
                </a:cxn>
                <a:cxn ang="0">
                  <a:pos x="299" y="539"/>
                </a:cxn>
                <a:cxn ang="0">
                  <a:pos x="735" y="449"/>
                </a:cxn>
                <a:cxn ang="0">
                  <a:pos x="1178" y="311"/>
                </a:cxn>
                <a:cxn ang="0">
                  <a:pos x="981" y="491"/>
                </a:cxn>
                <a:cxn ang="0">
                  <a:pos x="867" y="743"/>
                </a:cxn>
                <a:cxn ang="0">
                  <a:pos x="861" y="743"/>
                </a:cxn>
                <a:cxn ang="0">
                  <a:pos x="933" y="743"/>
                </a:cxn>
                <a:cxn ang="0">
                  <a:pos x="1022" y="497"/>
                </a:cxn>
                <a:cxn ang="0">
                  <a:pos x="1297" y="281"/>
                </a:cxn>
                <a:cxn ang="0">
                  <a:pos x="1531" y="449"/>
                </a:cxn>
                <a:cxn ang="0">
                  <a:pos x="1770" y="677"/>
                </a:cxn>
                <a:cxn ang="0">
                  <a:pos x="1854" y="743"/>
                </a:cxn>
                <a:cxn ang="0">
                  <a:pos x="1919" y="743"/>
                </a:cxn>
                <a:cxn ang="0">
                  <a:pos x="1692" y="527"/>
                </a:cxn>
                <a:cxn ang="0">
                  <a:pos x="1387" y="239"/>
                </a:cxn>
                <a:cxn ang="0">
                  <a:pos x="1387" y="239"/>
                </a:cxn>
              </a:cxnLst>
              <a:rect l="0" t="0" r="r" b="b"/>
              <a:pathLst>
                <a:path w="3169" h="743">
                  <a:moveTo>
                    <a:pt x="1387" y="239"/>
                  </a:moveTo>
                  <a:lnTo>
                    <a:pt x="1734" y="233"/>
                  </a:lnTo>
                  <a:lnTo>
                    <a:pt x="2087" y="251"/>
                  </a:lnTo>
                  <a:lnTo>
                    <a:pt x="2505" y="233"/>
                  </a:lnTo>
                  <a:lnTo>
                    <a:pt x="3169" y="204"/>
                  </a:lnTo>
                  <a:lnTo>
                    <a:pt x="3115" y="186"/>
                  </a:lnTo>
                  <a:lnTo>
                    <a:pt x="2422" y="221"/>
                  </a:lnTo>
                  <a:lnTo>
                    <a:pt x="2003" y="221"/>
                  </a:lnTo>
                  <a:lnTo>
                    <a:pt x="1459" y="186"/>
                  </a:lnTo>
                  <a:lnTo>
                    <a:pt x="1543" y="168"/>
                  </a:lnTo>
                  <a:lnTo>
                    <a:pt x="2039" y="0"/>
                  </a:lnTo>
                  <a:lnTo>
                    <a:pt x="1961" y="24"/>
                  </a:lnTo>
                  <a:lnTo>
                    <a:pt x="1836" y="66"/>
                  </a:lnTo>
                  <a:lnTo>
                    <a:pt x="1602" y="138"/>
                  </a:lnTo>
                  <a:lnTo>
                    <a:pt x="1339" y="198"/>
                  </a:lnTo>
                  <a:lnTo>
                    <a:pt x="1268" y="251"/>
                  </a:lnTo>
                  <a:lnTo>
                    <a:pt x="765" y="413"/>
                  </a:lnTo>
                  <a:lnTo>
                    <a:pt x="335" y="503"/>
                  </a:lnTo>
                  <a:lnTo>
                    <a:pt x="0" y="617"/>
                  </a:lnTo>
                  <a:lnTo>
                    <a:pt x="299" y="539"/>
                  </a:lnTo>
                  <a:lnTo>
                    <a:pt x="735" y="449"/>
                  </a:lnTo>
                  <a:lnTo>
                    <a:pt x="1178" y="311"/>
                  </a:lnTo>
                  <a:lnTo>
                    <a:pt x="981" y="491"/>
                  </a:lnTo>
                  <a:lnTo>
                    <a:pt x="867" y="743"/>
                  </a:lnTo>
                  <a:lnTo>
                    <a:pt x="861" y="743"/>
                  </a:lnTo>
                  <a:lnTo>
                    <a:pt x="933" y="743"/>
                  </a:lnTo>
                  <a:lnTo>
                    <a:pt x="1022" y="497"/>
                  </a:lnTo>
                  <a:lnTo>
                    <a:pt x="1297" y="281"/>
                  </a:lnTo>
                  <a:lnTo>
                    <a:pt x="1531" y="449"/>
                  </a:lnTo>
                  <a:lnTo>
                    <a:pt x="1770" y="677"/>
                  </a:lnTo>
                  <a:lnTo>
                    <a:pt x="1854" y="743"/>
                  </a:lnTo>
                  <a:lnTo>
                    <a:pt x="1919" y="743"/>
                  </a:lnTo>
                  <a:lnTo>
                    <a:pt x="1692" y="527"/>
                  </a:lnTo>
                  <a:lnTo>
                    <a:pt x="1387" y="239"/>
                  </a:lnTo>
                  <a:lnTo>
                    <a:pt x="1387" y="239"/>
                  </a:lnTo>
                  <a:close/>
                </a:path>
              </a:pathLst>
            </a:custGeom>
            <a:gradFill rotWithShape="0">
              <a:gsLst>
                <a:gs pos="0">
                  <a:schemeClr val="accent2"/>
                </a:gs>
                <a:gs pos="100000">
                  <a:schemeClr val="bg1"/>
                </a:gs>
              </a:gsLst>
              <a:lin ang="2700000" scaled="1"/>
            </a:gradFill>
            <a:ln w="9525">
              <a:noFill/>
              <a:round/>
              <a:headEnd/>
              <a:tailEnd/>
            </a:ln>
          </p:spPr>
          <p:txBody>
            <a:bodyPr/>
            <a:lstStyle/>
            <a:p>
              <a:endParaRPr lang="es-BO"/>
            </a:p>
          </p:txBody>
        </p:sp>
        <p:sp>
          <p:nvSpPr>
            <p:cNvPr id="115724" name="Rectangle 12"/>
            <p:cNvSpPr>
              <a:spLocks noChangeArrowheads="1"/>
            </p:cNvSpPr>
            <p:nvPr/>
          </p:nvSpPr>
          <p:spPr bwMode="hidden">
            <a:xfrm>
              <a:off x="192" y="127"/>
              <a:ext cx="1" cy="1"/>
            </a:xfrm>
            <a:prstGeom prst="rect">
              <a:avLst/>
            </a:prstGeom>
            <a:solidFill>
              <a:srgbClr val="9A1E8D"/>
            </a:solidFill>
            <a:ln w="9525">
              <a:noFill/>
              <a:miter lim="800000"/>
              <a:headEnd/>
              <a:tailEnd/>
            </a:ln>
          </p:spPr>
          <p:txBody>
            <a:bodyPr/>
            <a:lstStyle/>
            <a:p>
              <a:endParaRPr lang="es-BO"/>
            </a:p>
          </p:txBody>
        </p:sp>
        <p:sp>
          <p:nvSpPr>
            <p:cNvPr id="115725" name="Rectangle 13"/>
            <p:cNvSpPr>
              <a:spLocks noChangeArrowheads="1"/>
            </p:cNvSpPr>
            <p:nvPr/>
          </p:nvSpPr>
          <p:spPr bwMode="hidden">
            <a:xfrm>
              <a:off x="204" y="131"/>
              <a:ext cx="1" cy="1"/>
            </a:xfrm>
            <a:prstGeom prst="rect">
              <a:avLst/>
            </a:prstGeom>
            <a:solidFill>
              <a:srgbClr val="9A1E8D"/>
            </a:solidFill>
            <a:ln w="9525">
              <a:noFill/>
              <a:miter lim="800000"/>
              <a:headEnd/>
              <a:tailEnd/>
            </a:ln>
          </p:spPr>
          <p:txBody>
            <a:bodyPr/>
            <a:lstStyle/>
            <a:p>
              <a:endParaRPr lang="es-BO"/>
            </a:p>
          </p:txBody>
        </p:sp>
        <p:sp>
          <p:nvSpPr>
            <p:cNvPr id="115726" name="Freeform 14"/>
            <p:cNvSpPr>
              <a:spLocks/>
            </p:cNvSpPr>
            <p:nvPr/>
          </p:nvSpPr>
          <p:spPr bwMode="hidden">
            <a:xfrm>
              <a:off x="0" y="4032"/>
              <a:ext cx="5760" cy="288"/>
            </a:xfrm>
            <a:custGeom>
              <a:avLst/>
              <a:gdLst/>
              <a:ahLst/>
              <a:cxnLst>
                <a:cxn ang="0">
                  <a:pos x="5740" y="288"/>
                </a:cxn>
                <a:cxn ang="0">
                  <a:pos x="0" y="288"/>
                </a:cxn>
                <a:cxn ang="0">
                  <a:pos x="0" y="0"/>
                </a:cxn>
                <a:cxn ang="0">
                  <a:pos x="5740" y="0"/>
                </a:cxn>
                <a:cxn ang="0">
                  <a:pos x="5740" y="288"/>
                </a:cxn>
                <a:cxn ang="0">
                  <a:pos x="5740" y="288"/>
                </a:cxn>
              </a:cxnLst>
              <a:rect l="0" t="0" r="r" b="b"/>
              <a:pathLst>
                <a:path w="5740" h="288">
                  <a:moveTo>
                    <a:pt x="5740" y="288"/>
                  </a:moveTo>
                  <a:lnTo>
                    <a:pt x="0" y="288"/>
                  </a:lnTo>
                  <a:lnTo>
                    <a:pt x="0" y="0"/>
                  </a:lnTo>
                  <a:lnTo>
                    <a:pt x="5740" y="0"/>
                  </a:lnTo>
                  <a:lnTo>
                    <a:pt x="5740" y="288"/>
                  </a:lnTo>
                  <a:lnTo>
                    <a:pt x="5740" y="288"/>
                  </a:lnTo>
                  <a:close/>
                </a:path>
              </a:pathLst>
            </a:custGeom>
            <a:gradFill rotWithShape="0">
              <a:gsLst>
                <a:gs pos="0">
                  <a:schemeClr val="bg1"/>
                </a:gs>
                <a:gs pos="100000">
                  <a:schemeClr val="bg1">
                    <a:gamma/>
                    <a:shade val="46275"/>
                    <a:invGamma/>
                  </a:schemeClr>
                </a:gs>
              </a:gsLst>
              <a:lin ang="5400000" scaled="1"/>
            </a:gradFill>
            <a:ln w="9525">
              <a:noFill/>
              <a:round/>
              <a:headEnd/>
              <a:tailEnd/>
            </a:ln>
          </p:spPr>
          <p:txBody>
            <a:bodyPr/>
            <a:lstStyle/>
            <a:p>
              <a:endParaRPr lang="es-BO"/>
            </a:p>
          </p:txBody>
        </p:sp>
        <p:sp>
          <p:nvSpPr>
            <p:cNvPr id="115727" name="Freeform 15"/>
            <p:cNvSpPr>
              <a:spLocks/>
            </p:cNvSpPr>
            <p:nvPr/>
          </p:nvSpPr>
          <p:spPr bwMode="hidden">
            <a:xfrm>
              <a:off x="0" y="4032"/>
              <a:ext cx="5760" cy="336"/>
            </a:xfrm>
            <a:custGeom>
              <a:avLst/>
              <a:gdLst/>
              <a:ahLst/>
              <a:cxnLst>
                <a:cxn ang="0">
                  <a:pos x="5740" y="288"/>
                </a:cxn>
                <a:cxn ang="0">
                  <a:pos x="0" y="288"/>
                </a:cxn>
                <a:cxn ang="0">
                  <a:pos x="0" y="0"/>
                </a:cxn>
                <a:cxn ang="0">
                  <a:pos x="5740" y="0"/>
                </a:cxn>
                <a:cxn ang="0">
                  <a:pos x="5740" y="288"/>
                </a:cxn>
                <a:cxn ang="0">
                  <a:pos x="5740" y="288"/>
                </a:cxn>
              </a:cxnLst>
              <a:rect l="0" t="0" r="r" b="b"/>
              <a:pathLst>
                <a:path w="5740" h="288">
                  <a:moveTo>
                    <a:pt x="5740" y="288"/>
                  </a:moveTo>
                  <a:lnTo>
                    <a:pt x="0" y="288"/>
                  </a:lnTo>
                  <a:lnTo>
                    <a:pt x="0" y="0"/>
                  </a:lnTo>
                  <a:lnTo>
                    <a:pt x="5740" y="0"/>
                  </a:lnTo>
                  <a:lnTo>
                    <a:pt x="5740" y="288"/>
                  </a:lnTo>
                  <a:lnTo>
                    <a:pt x="5740" y="288"/>
                  </a:lnTo>
                  <a:close/>
                </a:path>
              </a:pathLst>
            </a:custGeom>
            <a:gradFill rotWithShape="0">
              <a:gsLst>
                <a:gs pos="0">
                  <a:schemeClr val="bg1"/>
                </a:gs>
                <a:gs pos="100000">
                  <a:schemeClr val="bg1">
                    <a:gamma/>
                    <a:shade val="46275"/>
                    <a:invGamma/>
                  </a:schemeClr>
                </a:gs>
              </a:gsLst>
              <a:lin ang="5400000" scaled="1"/>
            </a:gradFill>
            <a:ln w="9525">
              <a:noFill/>
              <a:round/>
              <a:headEnd/>
              <a:tailEnd/>
            </a:ln>
          </p:spPr>
          <p:txBody>
            <a:bodyPr/>
            <a:lstStyle/>
            <a:p>
              <a:endParaRPr lang="es-BO"/>
            </a:p>
          </p:txBody>
        </p:sp>
        <p:sp>
          <p:nvSpPr>
            <p:cNvPr id="115728" name="Freeform 16"/>
            <p:cNvSpPr>
              <a:spLocks/>
            </p:cNvSpPr>
            <p:nvPr/>
          </p:nvSpPr>
          <p:spPr bwMode="hidden">
            <a:xfrm>
              <a:off x="0" y="0"/>
              <a:ext cx="5760" cy="288"/>
            </a:xfrm>
            <a:custGeom>
              <a:avLst/>
              <a:gdLst/>
              <a:ahLst/>
              <a:cxnLst>
                <a:cxn ang="0">
                  <a:pos x="5740" y="288"/>
                </a:cxn>
                <a:cxn ang="0">
                  <a:pos x="0" y="288"/>
                </a:cxn>
                <a:cxn ang="0">
                  <a:pos x="0" y="0"/>
                </a:cxn>
                <a:cxn ang="0">
                  <a:pos x="5740" y="0"/>
                </a:cxn>
                <a:cxn ang="0">
                  <a:pos x="5740" y="288"/>
                </a:cxn>
                <a:cxn ang="0">
                  <a:pos x="5740" y="288"/>
                </a:cxn>
              </a:cxnLst>
              <a:rect l="0" t="0" r="r" b="b"/>
              <a:pathLst>
                <a:path w="5740" h="288">
                  <a:moveTo>
                    <a:pt x="5740" y="288"/>
                  </a:moveTo>
                  <a:lnTo>
                    <a:pt x="0" y="288"/>
                  </a:lnTo>
                  <a:lnTo>
                    <a:pt x="0" y="0"/>
                  </a:lnTo>
                  <a:lnTo>
                    <a:pt x="5740" y="0"/>
                  </a:lnTo>
                  <a:lnTo>
                    <a:pt x="5740" y="288"/>
                  </a:lnTo>
                  <a:lnTo>
                    <a:pt x="5740" y="288"/>
                  </a:lnTo>
                  <a:close/>
                </a:path>
              </a:pathLst>
            </a:custGeom>
            <a:gradFill rotWithShape="0">
              <a:gsLst>
                <a:gs pos="0">
                  <a:schemeClr val="bg2">
                    <a:gamma/>
                    <a:shade val="56078"/>
                    <a:invGamma/>
                  </a:schemeClr>
                </a:gs>
                <a:gs pos="100000">
                  <a:schemeClr val="bg2"/>
                </a:gs>
              </a:gsLst>
              <a:lin ang="5400000" scaled="1"/>
            </a:gradFill>
            <a:ln w="9525">
              <a:noFill/>
              <a:round/>
              <a:headEnd/>
              <a:tailEnd/>
            </a:ln>
          </p:spPr>
          <p:txBody>
            <a:bodyPr/>
            <a:lstStyle/>
            <a:p>
              <a:endParaRPr lang="es-BO"/>
            </a:p>
          </p:txBody>
        </p:sp>
        <p:sp>
          <p:nvSpPr>
            <p:cNvPr id="115729" name="Freeform 17"/>
            <p:cNvSpPr>
              <a:spLocks/>
            </p:cNvSpPr>
            <p:nvPr/>
          </p:nvSpPr>
          <p:spPr bwMode="hidden">
            <a:xfrm>
              <a:off x="509" y="229"/>
              <a:ext cx="3188" cy="2024"/>
            </a:xfrm>
            <a:custGeom>
              <a:avLst/>
              <a:gdLst/>
              <a:ahLst/>
              <a:cxnLst>
                <a:cxn ang="0">
                  <a:pos x="871" y="1423"/>
                </a:cxn>
                <a:cxn ang="0">
                  <a:pos x="907" y="1393"/>
                </a:cxn>
                <a:cxn ang="0">
                  <a:pos x="991" y="1320"/>
                </a:cxn>
                <a:cxn ang="0">
                  <a:pos x="1033" y="1297"/>
                </a:cxn>
                <a:cxn ang="0">
                  <a:pos x="1086" y="1249"/>
                </a:cxn>
                <a:cxn ang="0">
                  <a:pos x="1123" y="1219"/>
                </a:cxn>
                <a:cxn ang="0">
                  <a:pos x="1057" y="1153"/>
                </a:cxn>
                <a:cxn ang="0">
                  <a:pos x="877" y="1021"/>
                </a:cxn>
                <a:cxn ang="0">
                  <a:pos x="655" y="907"/>
                </a:cxn>
                <a:cxn ang="0">
                  <a:pos x="655" y="846"/>
                </a:cxn>
                <a:cxn ang="0">
                  <a:pos x="643" y="708"/>
                </a:cxn>
                <a:cxn ang="0">
                  <a:pos x="552" y="642"/>
                </a:cxn>
                <a:cxn ang="0">
                  <a:pos x="510" y="570"/>
                </a:cxn>
                <a:cxn ang="0">
                  <a:pos x="637" y="564"/>
                </a:cxn>
                <a:cxn ang="0">
                  <a:pos x="763" y="570"/>
                </a:cxn>
                <a:cxn ang="0">
                  <a:pos x="1091" y="850"/>
                </a:cxn>
                <a:cxn ang="0">
                  <a:pos x="1009" y="566"/>
                </a:cxn>
                <a:cxn ang="0">
                  <a:pos x="1054" y="265"/>
                </a:cxn>
                <a:cxn ang="0">
                  <a:pos x="1249" y="0"/>
                </a:cxn>
                <a:cxn ang="0">
                  <a:pos x="1466" y="292"/>
                </a:cxn>
                <a:cxn ang="0">
                  <a:pos x="1475" y="548"/>
                </a:cxn>
                <a:cxn ang="0">
                  <a:pos x="1567" y="630"/>
                </a:cxn>
                <a:cxn ang="0">
                  <a:pos x="1795" y="365"/>
                </a:cxn>
                <a:cxn ang="0">
                  <a:pos x="2245" y="150"/>
                </a:cxn>
                <a:cxn ang="0">
                  <a:pos x="2618" y="180"/>
                </a:cxn>
                <a:cxn ang="0">
                  <a:pos x="3050" y="150"/>
                </a:cxn>
                <a:cxn ang="0">
                  <a:pos x="3140" y="210"/>
                </a:cxn>
                <a:cxn ang="0">
                  <a:pos x="2990" y="210"/>
                </a:cxn>
                <a:cxn ang="0">
                  <a:pos x="2834" y="377"/>
                </a:cxn>
                <a:cxn ang="0">
                  <a:pos x="2702" y="648"/>
                </a:cxn>
                <a:cxn ang="0">
                  <a:pos x="2582" y="828"/>
                </a:cxn>
                <a:cxn ang="0">
                  <a:pos x="2234" y="1009"/>
                </a:cxn>
                <a:cxn ang="0">
                  <a:pos x="1963" y="1075"/>
                </a:cxn>
                <a:cxn ang="0">
                  <a:pos x="2257" y="1111"/>
                </a:cxn>
                <a:cxn ang="0">
                  <a:pos x="2600" y="1207"/>
                </a:cxn>
                <a:cxn ang="0">
                  <a:pos x="2894" y="1441"/>
                </a:cxn>
                <a:cxn ang="0">
                  <a:pos x="3122" y="1555"/>
                </a:cxn>
                <a:cxn ang="0">
                  <a:pos x="3032" y="1585"/>
                </a:cxn>
                <a:cxn ang="0">
                  <a:pos x="3008" y="1591"/>
                </a:cxn>
                <a:cxn ang="0">
                  <a:pos x="2960" y="1597"/>
                </a:cxn>
                <a:cxn ang="0">
                  <a:pos x="2882" y="1609"/>
                </a:cxn>
                <a:cxn ang="0">
                  <a:pos x="2846" y="1609"/>
                </a:cxn>
                <a:cxn ang="0">
                  <a:pos x="2774" y="1615"/>
                </a:cxn>
                <a:cxn ang="0">
                  <a:pos x="2726" y="1621"/>
                </a:cxn>
                <a:cxn ang="0">
                  <a:pos x="2708" y="1621"/>
                </a:cxn>
                <a:cxn ang="0">
                  <a:pos x="2594" y="1657"/>
                </a:cxn>
                <a:cxn ang="0">
                  <a:pos x="2533" y="1663"/>
                </a:cxn>
                <a:cxn ang="0">
                  <a:pos x="2444" y="1675"/>
                </a:cxn>
                <a:cxn ang="0">
                  <a:pos x="2378" y="1687"/>
                </a:cxn>
                <a:cxn ang="0">
                  <a:pos x="2360" y="1705"/>
                </a:cxn>
                <a:cxn ang="0">
                  <a:pos x="2305" y="1687"/>
                </a:cxn>
                <a:cxn ang="0">
                  <a:pos x="2263" y="1663"/>
                </a:cxn>
                <a:cxn ang="0">
                  <a:pos x="2017" y="1585"/>
                </a:cxn>
                <a:cxn ang="0">
                  <a:pos x="1711" y="1453"/>
                </a:cxn>
                <a:cxn ang="0">
                  <a:pos x="1880" y="1844"/>
                </a:cxn>
                <a:cxn ang="0">
                  <a:pos x="1771" y="1922"/>
                </a:cxn>
                <a:cxn ang="0">
                  <a:pos x="1531" y="1753"/>
                </a:cxn>
                <a:cxn ang="0">
                  <a:pos x="1411" y="1477"/>
                </a:cxn>
                <a:cxn ang="0">
                  <a:pos x="1219" y="1291"/>
                </a:cxn>
                <a:cxn ang="0">
                  <a:pos x="127" y="2006"/>
                </a:cxn>
                <a:cxn ang="0">
                  <a:pos x="865" y="1429"/>
                </a:cxn>
              </a:cxnLst>
              <a:rect l="0" t="0" r="r" b="b"/>
              <a:pathLst>
                <a:path w="3188" h="2024">
                  <a:moveTo>
                    <a:pt x="865" y="1429"/>
                  </a:moveTo>
                  <a:lnTo>
                    <a:pt x="871" y="1423"/>
                  </a:lnTo>
                  <a:lnTo>
                    <a:pt x="889" y="1411"/>
                  </a:lnTo>
                  <a:lnTo>
                    <a:pt x="907" y="1393"/>
                  </a:lnTo>
                  <a:lnTo>
                    <a:pt x="937" y="1369"/>
                  </a:lnTo>
                  <a:lnTo>
                    <a:pt x="991" y="1320"/>
                  </a:lnTo>
                  <a:lnTo>
                    <a:pt x="1015" y="1309"/>
                  </a:lnTo>
                  <a:lnTo>
                    <a:pt x="1033" y="1297"/>
                  </a:lnTo>
                  <a:lnTo>
                    <a:pt x="1057" y="1279"/>
                  </a:lnTo>
                  <a:lnTo>
                    <a:pt x="1086" y="1249"/>
                  </a:lnTo>
                  <a:lnTo>
                    <a:pt x="1111" y="1225"/>
                  </a:lnTo>
                  <a:lnTo>
                    <a:pt x="1123" y="1219"/>
                  </a:lnTo>
                  <a:lnTo>
                    <a:pt x="1123" y="1213"/>
                  </a:lnTo>
                  <a:lnTo>
                    <a:pt x="1057" y="1153"/>
                  </a:lnTo>
                  <a:lnTo>
                    <a:pt x="979" y="1051"/>
                  </a:lnTo>
                  <a:lnTo>
                    <a:pt x="877" y="1021"/>
                  </a:lnTo>
                  <a:lnTo>
                    <a:pt x="685" y="931"/>
                  </a:lnTo>
                  <a:lnTo>
                    <a:pt x="655" y="907"/>
                  </a:lnTo>
                  <a:lnTo>
                    <a:pt x="721" y="876"/>
                  </a:lnTo>
                  <a:lnTo>
                    <a:pt x="655" y="846"/>
                  </a:lnTo>
                  <a:lnTo>
                    <a:pt x="612" y="774"/>
                  </a:lnTo>
                  <a:lnTo>
                    <a:pt x="643" y="708"/>
                  </a:lnTo>
                  <a:lnTo>
                    <a:pt x="600" y="660"/>
                  </a:lnTo>
                  <a:lnTo>
                    <a:pt x="552" y="642"/>
                  </a:lnTo>
                  <a:lnTo>
                    <a:pt x="528" y="594"/>
                  </a:lnTo>
                  <a:lnTo>
                    <a:pt x="510" y="570"/>
                  </a:lnTo>
                  <a:lnTo>
                    <a:pt x="552" y="552"/>
                  </a:lnTo>
                  <a:lnTo>
                    <a:pt x="637" y="564"/>
                  </a:lnTo>
                  <a:lnTo>
                    <a:pt x="721" y="576"/>
                  </a:lnTo>
                  <a:lnTo>
                    <a:pt x="763" y="570"/>
                  </a:lnTo>
                  <a:lnTo>
                    <a:pt x="931" y="696"/>
                  </a:lnTo>
                  <a:lnTo>
                    <a:pt x="1091" y="850"/>
                  </a:lnTo>
                  <a:lnTo>
                    <a:pt x="1073" y="685"/>
                  </a:lnTo>
                  <a:lnTo>
                    <a:pt x="1009" y="566"/>
                  </a:lnTo>
                  <a:lnTo>
                    <a:pt x="945" y="393"/>
                  </a:lnTo>
                  <a:lnTo>
                    <a:pt x="1054" y="265"/>
                  </a:lnTo>
                  <a:lnTo>
                    <a:pt x="1137" y="45"/>
                  </a:lnTo>
                  <a:lnTo>
                    <a:pt x="1249" y="0"/>
                  </a:lnTo>
                  <a:lnTo>
                    <a:pt x="1338" y="137"/>
                  </a:lnTo>
                  <a:lnTo>
                    <a:pt x="1466" y="292"/>
                  </a:lnTo>
                  <a:lnTo>
                    <a:pt x="1502" y="411"/>
                  </a:lnTo>
                  <a:lnTo>
                    <a:pt x="1475" y="548"/>
                  </a:lnTo>
                  <a:lnTo>
                    <a:pt x="1347" y="768"/>
                  </a:lnTo>
                  <a:lnTo>
                    <a:pt x="1567" y="630"/>
                  </a:lnTo>
                  <a:lnTo>
                    <a:pt x="1687" y="462"/>
                  </a:lnTo>
                  <a:lnTo>
                    <a:pt x="1795" y="365"/>
                  </a:lnTo>
                  <a:lnTo>
                    <a:pt x="1940" y="239"/>
                  </a:lnTo>
                  <a:lnTo>
                    <a:pt x="2245" y="150"/>
                  </a:lnTo>
                  <a:lnTo>
                    <a:pt x="2498" y="138"/>
                  </a:lnTo>
                  <a:lnTo>
                    <a:pt x="2618" y="180"/>
                  </a:lnTo>
                  <a:lnTo>
                    <a:pt x="2815" y="138"/>
                  </a:lnTo>
                  <a:lnTo>
                    <a:pt x="3050" y="150"/>
                  </a:lnTo>
                  <a:lnTo>
                    <a:pt x="3176" y="168"/>
                  </a:lnTo>
                  <a:lnTo>
                    <a:pt x="3140" y="210"/>
                  </a:lnTo>
                  <a:lnTo>
                    <a:pt x="3116" y="192"/>
                  </a:lnTo>
                  <a:lnTo>
                    <a:pt x="2990" y="210"/>
                  </a:lnTo>
                  <a:lnTo>
                    <a:pt x="2906" y="263"/>
                  </a:lnTo>
                  <a:lnTo>
                    <a:pt x="2834" y="377"/>
                  </a:lnTo>
                  <a:lnTo>
                    <a:pt x="2768" y="534"/>
                  </a:lnTo>
                  <a:lnTo>
                    <a:pt x="2702" y="648"/>
                  </a:lnTo>
                  <a:lnTo>
                    <a:pt x="2738" y="726"/>
                  </a:lnTo>
                  <a:lnTo>
                    <a:pt x="2582" y="828"/>
                  </a:lnTo>
                  <a:lnTo>
                    <a:pt x="2444" y="913"/>
                  </a:lnTo>
                  <a:lnTo>
                    <a:pt x="2234" y="1009"/>
                  </a:lnTo>
                  <a:lnTo>
                    <a:pt x="2096" y="1063"/>
                  </a:lnTo>
                  <a:lnTo>
                    <a:pt x="1963" y="1075"/>
                  </a:lnTo>
                  <a:lnTo>
                    <a:pt x="2035" y="1117"/>
                  </a:lnTo>
                  <a:lnTo>
                    <a:pt x="2257" y="1111"/>
                  </a:lnTo>
                  <a:lnTo>
                    <a:pt x="2545" y="1135"/>
                  </a:lnTo>
                  <a:lnTo>
                    <a:pt x="2600" y="1207"/>
                  </a:lnTo>
                  <a:lnTo>
                    <a:pt x="2726" y="1303"/>
                  </a:lnTo>
                  <a:lnTo>
                    <a:pt x="2894" y="1441"/>
                  </a:lnTo>
                  <a:lnTo>
                    <a:pt x="2984" y="1471"/>
                  </a:lnTo>
                  <a:lnTo>
                    <a:pt x="3122" y="1555"/>
                  </a:lnTo>
                  <a:lnTo>
                    <a:pt x="3188" y="1543"/>
                  </a:lnTo>
                  <a:lnTo>
                    <a:pt x="3032" y="1585"/>
                  </a:lnTo>
                  <a:lnTo>
                    <a:pt x="3026" y="1585"/>
                  </a:lnTo>
                  <a:lnTo>
                    <a:pt x="3008" y="1591"/>
                  </a:lnTo>
                  <a:lnTo>
                    <a:pt x="2984" y="1591"/>
                  </a:lnTo>
                  <a:lnTo>
                    <a:pt x="2960" y="1597"/>
                  </a:lnTo>
                  <a:lnTo>
                    <a:pt x="2906" y="1603"/>
                  </a:lnTo>
                  <a:lnTo>
                    <a:pt x="2882" y="1609"/>
                  </a:lnTo>
                  <a:lnTo>
                    <a:pt x="2864" y="1609"/>
                  </a:lnTo>
                  <a:lnTo>
                    <a:pt x="2846" y="1609"/>
                  </a:lnTo>
                  <a:lnTo>
                    <a:pt x="2828" y="1609"/>
                  </a:lnTo>
                  <a:lnTo>
                    <a:pt x="2774" y="1615"/>
                  </a:lnTo>
                  <a:lnTo>
                    <a:pt x="2750" y="1615"/>
                  </a:lnTo>
                  <a:lnTo>
                    <a:pt x="2726" y="1621"/>
                  </a:lnTo>
                  <a:lnTo>
                    <a:pt x="2714" y="1621"/>
                  </a:lnTo>
                  <a:lnTo>
                    <a:pt x="2708" y="1621"/>
                  </a:lnTo>
                  <a:lnTo>
                    <a:pt x="2606" y="1657"/>
                  </a:lnTo>
                  <a:lnTo>
                    <a:pt x="2594" y="1657"/>
                  </a:lnTo>
                  <a:lnTo>
                    <a:pt x="2569" y="1657"/>
                  </a:lnTo>
                  <a:lnTo>
                    <a:pt x="2533" y="1663"/>
                  </a:lnTo>
                  <a:lnTo>
                    <a:pt x="2486" y="1669"/>
                  </a:lnTo>
                  <a:lnTo>
                    <a:pt x="2444" y="1675"/>
                  </a:lnTo>
                  <a:lnTo>
                    <a:pt x="2408" y="1681"/>
                  </a:lnTo>
                  <a:lnTo>
                    <a:pt x="2378" y="1687"/>
                  </a:lnTo>
                  <a:lnTo>
                    <a:pt x="2366" y="1699"/>
                  </a:lnTo>
                  <a:lnTo>
                    <a:pt x="2360" y="1705"/>
                  </a:lnTo>
                  <a:lnTo>
                    <a:pt x="2342" y="1705"/>
                  </a:lnTo>
                  <a:lnTo>
                    <a:pt x="2305" y="1687"/>
                  </a:lnTo>
                  <a:lnTo>
                    <a:pt x="2275" y="1669"/>
                  </a:lnTo>
                  <a:lnTo>
                    <a:pt x="2263" y="1663"/>
                  </a:lnTo>
                  <a:lnTo>
                    <a:pt x="2257" y="1657"/>
                  </a:lnTo>
                  <a:lnTo>
                    <a:pt x="2017" y="1585"/>
                  </a:lnTo>
                  <a:lnTo>
                    <a:pt x="1844" y="1489"/>
                  </a:lnTo>
                  <a:lnTo>
                    <a:pt x="1711" y="1453"/>
                  </a:lnTo>
                  <a:lnTo>
                    <a:pt x="1856" y="1693"/>
                  </a:lnTo>
                  <a:lnTo>
                    <a:pt x="1880" y="1844"/>
                  </a:lnTo>
                  <a:lnTo>
                    <a:pt x="1856" y="1994"/>
                  </a:lnTo>
                  <a:lnTo>
                    <a:pt x="1771" y="1922"/>
                  </a:lnTo>
                  <a:lnTo>
                    <a:pt x="1616" y="1795"/>
                  </a:lnTo>
                  <a:lnTo>
                    <a:pt x="1531" y="1753"/>
                  </a:lnTo>
                  <a:lnTo>
                    <a:pt x="1483" y="1633"/>
                  </a:lnTo>
                  <a:lnTo>
                    <a:pt x="1411" y="1477"/>
                  </a:lnTo>
                  <a:lnTo>
                    <a:pt x="1358" y="1381"/>
                  </a:lnTo>
                  <a:lnTo>
                    <a:pt x="1219" y="1291"/>
                  </a:lnTo>
                  <a:lnTo>
                    <a:pt x="1147" y="1279"/>
                  </a:lnTo>
                  <a:lnTo>
                    <a:pt x="127" y="2006"/>
                  </a:lnTo>
                  <a:lnTo>
                    <a:pt x="0" y="2024"/>
                  </a:lnTo>
                  <a:lnTo>
                    <a:pt x="865" y="1429"/>
                  </a:lnTo>
                  <a:lnTo>
                    <a:pt x="865" y="1429"/>
                  </a:lnTo>
                  <a:close/>
                </a:path>
              </a:pathLst>
            </a:custGeom>
            <a:gradFill rotWithShape="0">
              <a:gsLst>
                <a:gs pos="0">
                  <a:schemeClr val="bg2"/>
                </a:gs>
                <a:gs pos="100000">
                  <a:schemeClr val="bg1"/>
                </a:gs>
              </a:gsLst>
              <a:lin ang="2700000" scaled="1"/>
            </a:gradFill>
            <a:ln w="9525">
              <a:noFill/>
              <a:round/>
              <a:headEnd/>
              <a:tailEnd/>
            </a:ln>
          </p:spPr>
          <p:txBody>
            <a:bodyPr/>
            <a:lstStyle/>
            <a:p>
              <a:endParaRPr lang="es-BO"/>
            </a:p>
          </p:txBody>
        </p:sp>
        <p:sp>
          <p:nvSpPr>
            <p:cNvPr id="115730" name="Freeform 18"/>
            <p:cNvSpPr>
              <a:spLocks/>
            </p:cNvSpPr>
            <p:nvPr/>
          </p:nvSpPr>
          <p:spPr bwMode="hidden">
            <a:xfrm>
              <a:off x="1344" y="293"/>
              <a:ext cx="2144" cy="1787"/>
            </a:xfrm>
            <a:custGeom>
              <a:avLst/>
              <a:gdLst/>
              <a:ahLst/>
              <a:cxnLst>
                <a:cxn ang="0">
                  <a:pos x="318" y="1078"/>
                </a:cxn>
                <a:cxn ang="0">
                  <a:pos x="217" y="928"/>
                </a:cxn>
                <a:cxn ang="0">
                  <a:pos x="102" y="808"/>
                </a:cxn>
                <a:cxn ang="0">
                  <a:pos x="36" y="742"/>
                </a:cxn>
                <a:cxn ang="0">
                  <a:pos x="0" y="700"/>
                </a:cxn>
                <a:cxn ang="0">
                  <a:pos x="270" y="958"/>
                </a:cxn>
                <a:cxn ang="0">
                  <a:pos x="294" y="1006"/>
                </a:cxn>
                <a:cxn ang="0">
                  <a:pos x="367" y="670"/>
                </a:cxn>
                <a:cxn ang="0">
                  <a:pos x="379" y="411"/>
                </a:cxn>
                <a:cxn ang="0">
                  <a:pos x="347" y="118"/>
                </a:cxn>
                <a:cxn ang="0">
                  <a:pos x="393" y="0"/>
                </a:cxn>
                <a:cxn ang="0">
                  <a:pos x="397" y="357"/>
                </a:cxn>
                <a:cxn ang="0">
                  <a:pos x="421" y="609"/>
                </a:cxn>
                <a:cxn ang="0">
                  <a:pos x="385" y="826"/>
                </a:cxn>
                <a:cxn ang="0">
                  <a:pos x="385" y="1036"/>
                </a:cxn>
                <a:cxn ang="0">
                  <a:pos x="877" y="784"/>
                </a:cxn>
                <a:cxn ang="0">
                  <a:pos x="1309" y="555"/>
                </a:cxn>
                <a:cxn ang="0">
                  <a:pos x="1802" y="249"/>
                </a:cxn>
                <a:cxn ang="0">
                  <a:pos x="2096" y="69"/>
                </a:cxn>
                <a:cxn ang="0">
                  <a:pos x="1814" y="279"/>
                </a:cxn>
                <a:cxn ang="0">
                  <a:pos x="1453" y="501"/>
                </a:cxn>
                <a:cxn ang="0">
                  <a:pos x="1123" y="700"/>
                </a:cxn>
                <a:cxn ang="0">
                  <a:pos x="739" y="898"/>
                </a:cxn>
                <a:cxn ang="0">
                  <a:pos x="463" y="1084"/>
                </a:cxn>
                <a:cxn ang="0">
                  <a:pos x="817" y="1193"/>
                </a:cxn>
                <a:cxn ang="0">
                  <a:pos x="1285" y="1187"/>
                </a:cxn>
                <a:cxn ang="0">
                  <a:pos x="1916" y="1396"/>
                </a:cxn>
                <a:cxn ang="0">
                  <a:pos x="2144" y="1420"/>
                </a:cxn>
                <a:cxn ang="0">
                  <a:pos x="1814" y="1408"/>
                </a:cxn>
                <a:cxn ang="0">
                  <a:pos x="1435" y="1288"/>
                </a:cxn>
                <a:cxn ang="0">
                  <a:pos x="1219" y="1229"/>
                </a:cxn>
                <a:cxn ang="0">
                  <a:pos x="799" y="1223"/>
                </a:cxn>
                <a:cxn ang="0">
                  <a:pos x="505" y="1145"/>
                </a:cxn>
                <a:cxn ang="0">
                  <a:pos x="733" y="1378"/>
                </a:cxn>
                <a:cxn ang="0">
                  <a:pos x="877" y="1619"/>
                </a:cxn>
                <a:cxn ang="0">
                  <a:pos x="1009" y="1787"/>
                </a:cxn>
                <a:cxn ang="0">
                  <a:pos x="817" y="1607"/>
                </a:cxn>
                <a:cxn ang="0">
                  <a:pos x="673" y="1372"/>
                </a:cxn>
                <a:cxn ang="0">
                  <a:pos x="415" y="1109"/>
                </a:cxn>
                <a:cxn ang="0">
                  <a:pos x="318" y="1078"/>
                </a:cxn>
                <a:cxn ang="0">
                  <a:pos x="318" y="1078"/>
                </a:cxn>
              </a:cxnLst>
              <a:rect l="0" t="0" r="r" b="b"/>
              <a:pathLst>
                <a:path w="2144" h="1787">
                  <a:moveTo>
                    <a:pt x="318" y="1078"/>
                  </a:moveTo>
                  <a:lnTo>
                    <a:pt x="217" y="928"/>
                  </a:lnTo>
                  <a:lnTo>
                    <a:pt x="102" y="808"/>
                  </a:lnTo>
                  <a:lnTo>
                    <a:pt x="36" y="742"/>
                  </a:lnTo>
                  <a:lnTo>
                    <a:pt x="0" y="700"/>
                  </a:lnTo>
                  <a:lnTo>
                    <a:pt x="270" y="958"/>
                  </a:lnTo>
                  <a:lnTo>
                    <a:pt x="294" y="1006"/>
                  </a:lnTo>
                  <a:lnTo>
                    <a:pt x="367" y="670"/>
                  </a:lnTo>
                  <a:lnTo>
                    <a:pt x="379" y="411"/>
                  </a:lnTo>
                  <a:lnTo>
                    <a:pt x="347" y="118"/>
                  </a:lnTo>
                  <a:lnTo>
                    <a:pt x="393" y="0"/>
                  </a:lnTo>
                  <a:lnTo>
                    <a:pt x="397" y="357"/>
                  </a:lnTo>
                  <a:lnTo>
                    <a:pt x="421" y="609"/>
                  </a:lnTo>
                  <a:lnTo>
                    <a:pt x="385" y="826"/>
                  </a:lnTo>
                  <a:lnTo>
                    <a:pt x="385" y="1036"/>
                  </a:lnTo>
                  <a:lnTo>
                    <a:pt x="877" y="784"/>
                  </a:lnTo>
                  <a:lnTo>
                    <a:pt x="1309" y="555"/>
                  </a:lnTo>
                  <a:lnTo>
                    <a:pt x="1802" y="249"/>
                  </a:lnTo>
                  <a:lnTo>
                    <a:pt x="2096" y="69"/>
                  </a:lnTo>
                  <a:lnTo>
                    <a:pt x="1814" y="279"/>
                  </a:lnTo>
                  <a:lnTo>
                    <a:pt x="1453" y="501"/>
                  </a:lnTo>
                  <a:lnTo>
                    <a:pt x="1123" y="700"/>
                  </a:lnTo>
                  <a:lnTo>
                    <a:pt x="739" y="898"/>
                  </a:lnTo>
                  <a:lnTo>
                    <a:pt x="463" y="1084"/>
                  </a:lnTo>
                  <a:lnTo>
                    <a:pt x="817" y="1193"/>
                  </a:lnTo>
                  <a:lnTo>
                    <a:pt x="1285" y="1187"/>
                  </a:lnTo>
                  <a:lnTo>
                    <a:pt x="1916" y="1396"/>
                  </a:lnTo>
                  <a:lnTo>
                    <a:pt x="2144" y="1420"/>
                  </a:lnTo>
                  <a:lnTo>
                    <a:pt x="1814" y="1408"/>
                  </a:lnTo>
                  <a:lnTo>
                    <a:pt x="1435" y="1288"/>
                  </a:lnTo>
                  <a:lnTo>
                    <a:pt x="1219" y="1229"/>
                  </a:lnTo>
                  <a:lnTo>
                    <a:pt x="799" y="1223"/>
                  </a:lnTo>
                  <a:lnTo>
                    <a:pt x="505" y="1145"/>
                  </a:lnTo>
                  <a:lnTo>
                    <a:pt x="733" y="1378"/>
                  </a:lnTo>
                  <a:lnTo>
                    <a:pt x="877" y="1619"/>
                  </a:lnTo>
                  <a:lnTo>
                    <a:pt x="1009" y="1787"/>
                  </a:lnTo>
                  <a:lnTo>
                    <a:pt x="817" y="1607"/>
                  </a:lnTo>
                  <a:lnTo>
                    <a:pt x="673" y="1372"/>
                  </a:lnTo>
                  <a:lnTo>
                    <a:pt x="415" y="1109"/>
                  </a:lnTo>
                  <a:lnTo>
                    <a:pt x="318" y="1078"/>
                  </a:lnTo>
                  <a:lnTo>
                    <a:pt x="318" y="1078"/>
                  </a:lnTo>
                  <a:close/>
                </a:path>
              </a:pathLst>
            </a:custGeom>
            <a:gradFill rotWithShape="0">
              <a:gsLst>
                <a:gs pos="0">
                  <a:schemeClr val="accent2"/>
                </a:gs>
                <a:gs pos="100000">
                  <a:schemeClr val="bg1"/>
                </a:gs>
              </a:gsLst>
              <a:lin ang="5400000" scaled="1"/>
            </a:gradFill>
            <a:ln w="9525">
              <a:noFill/>
              <a:round/>
              <a:headEnd/>
              <a:tailEnd/>
            </a:ln>
          </p:spPr>
          <p:txBody>
            <a:bodyPr/>
            <a:lstStyle/>
            <a:p>
              <a:endParaRPr lang="es-BO"/>
            </a:p>
          </p:txBody>
        </p:sp>
        <p:sp>
          <p:nvSpPr>
            <p:cNvPr id="115731" name="Freeform 19"/>
            <p:cNvSpPr>
              <a:spLocks/>
            </p:cNvSpPr>
            <p:nvPr/>
          </p:nvSpPr>
          <p:spPr bwMode="hidden">
            <a:xfrm>
              <a:off x="2932" y="1728"/>
              <a:ext cx="2828" cy="2366"/>
            </a:xfrm>
            <a:custGeom>
              <a:avLst/>
              <a:gdLst/>
              <a:ahLst/>
              <a:cxnLst>
                <a:cxn ang="0">
                  <a:pos x="1814" y="606"/>
                </a:cxn>
                <a:cxn ang="0">
                  <a:pos x="1615" y="252"/>
                </a:cxn>
                <a:cxn ang="0">
                  <a:pos x="1345" y="132"/>
                </a:cxn>
                <a:cxn ang="0">
                  <a:pos x="1381" y="492"/>
                </a:cxn>
                <a:cxn ang="0">
                  <a:pos x="955" y="221"/>
                </a:cxn>
                <a:cxn ang="0">
                  <a:pos x="877" y="161"/>
                </a:cxn>
                <a:cxn ang="0">
                  <a:pos x="841" y="167"/>
                </a:cxn>
                <a:cxn ang="0">
                  <a:pos x="720" y="161"/>
                </a:cxn>
                <a:cxn ang="0">
                  <a:pos x="613" y="144"/>
                </a:cxn>
                <a:cxn ang="0">
                  <a:pos x="492" y="161"/>
                </a:cxn>
                <a:cxn ang="0">
                  <a:pos x="432" y="150"/>
                </a:cxn>
                <a:cxn ang="0">
                  <a:pos x="342" y="138"/>
                </a:cxn>
                <a:cxn ang="0">
                  <a:pos x="246" y="126"/>
                </a:cxn>
                <a:cxn ang="0">
                  <a:pos x="174" y="114"/>
                </a:cxn>
                <a:cxn ang="0">
                  <a:pos x="216" y="240"/>
                </a:cxn>
                <a:cxn ang="0">
                  <a:pos x="607" y="588"/>
                </a:cxn>
                <a:cxn ang="0">
                  <a:pos x="1177" y="817"/>
                </a:cxn>
                <a:cxn ang="0">
                  <a:pos x="972" y="871"/>
                </a:cxn>
                <a:cxn ang="0">
                  <a:pos x="492" y="1111"/>
                </a:cxn>
                <a:cxn ang="0">
                  <a:pos x="276" y="1441"/>
                </a:cxn>
                <a:cxn ang="0">
                  <a:pos x="42" y="1441"/>
                </a:cxn>
                <a:cxn ang="0">
                  <a:pos x="367" y="1585"/>
                </a:cxn>
                <a:cxn ang="0">
                  <a:pos x="949" y="1712"/>
                </a:cxn>
                <a:cxn ang="0">
                  <a:pos x="1519" y="1537"/>
                </a:cxn>
                <a:cxn ang="0">
                  <a:pos x="1735" y="1513"/>
                </a:cxn>
                <a:cxn ang="0">
                  <a:pos x="1723" y="1802"/>
                </a:cxn>
                <a:cxn ang="0">
                  <a:pos x="2042" y="2229"/>
                </a:cxn>
                <a:cxn ang="0">
                  <a:pos x="2191" y="2133"/>
                </a:cxn>
                <a:cxn ang="0">
                  <a:pos x="2270" y="1970"/>
                </a:cxn>
                <a:cxn ang="0">
                  <a:pos x="2233" y="1573"/>
                </a:cxn>
                <a:cxn ang="0">
                  <a:pos x="2294" y="1483"/>
                </a:cxn>
                <a:cxn ang="0">
                  <a:pos x="2588" y="1688"/>
                </a:cxn>
                <a:cxn ang="0">
                  <a:pos x="2695" y="1682"/>
                </a:cxn>
                <a:cxn ang="0">
                  <a:pos x="2588" y="1543"/>
                </a:cxn>
                <a:cxn ang="0">
                  <a:pos x="2510" y="1357"/>
                </a:cxn>
                <a:cxn ang="0">
                  <a:pos x="2354" y="1184"/>
                </a:cxn>
                <a:cxn ang="0">
                  <a:pos x="2102" y="931"/>
                </a:cxn>
                <a:cxn ang="0">
                  <a:pos x="2137" y="907"/>
                </a:cxn>
                <a:cxn ang="0">
                  <a:pos x="2215" y="871"/>
                </a:cxn>
                <a:cxn ang="0">
                  <a:pos x="2324" y="817"/>
                </a:cxn>
                <a:cxn ang="0">
                  <a:pos x="2372" y="787"/>
                </a:cxn>
                <a:cxn ang="0">
                  <a:pos x="2078" y="865"/>
                </a:cxn>
              </a:cxnLst>
              <a:rect l="0" t="0" r="r" b="b"/>
              <a:pathLst>
                <a:path w="2828" h="2366">
                  <a:moveTo>
                    <a:pt x="2006" y="835"/>
                  </a:moveTo>
                  <a:lnTo>
                    <a:pt x="1873" y="715"/>
                  </a:lnTo>
                  <a:lnTo>
                    <a:pt x="1814" y="606"/>
                  </a:lnTo>
                  <a:lnTo>
                    <a:pt x="1747" y="438"/>
                  </a:lnTo>
                  <a:lnTo>
                    <a:pt x="1699" y="312"/>
                  </a:lnTo>
                  <a:lnTo>
                    <a:pt x="1615" y="252"/>
                  </a:lnTo>
                  <a:lnTo>
                    <a:pt x="1453" y="84"/>
                  </a:lnTo>
                  <a:lnTo>
                    <a:pt x="1375" y="0"/>
                  </a:lnTo>
                  <a:lnTo>
                    <a:pt x="1345" y="132"/>
                  </a:lnTo>
                  <a:lnTo>
                    <a:pt x="1369" y="294"/>
                  </a:lnTo>
                  <a:lnTo>
                    <a:pt x="1513" y="558"/>
                  </a:lnTo>
                  <a:lnTo>
                    <a:pt x="1381" y="492"/>
                  </a:lnTo>
                  <a:lnTo>
                    <a:pt x="1201" y="360"/>
                  </a:lnTo>
                  <a:lnTo>
                    <a:pt x="961" y="227"/>
                  </a:lnTo>
                  <a:lnTo>
                    <a:pt x="955" y="221"/>
                  </a:lnTo>
                  <a:lnTo>
                    <a:pt x="949" y="215"/>
                  </a:lnTo>
                  <a:lnTo>
                    <a:pt x="913" y="185"/>
                  </a:lnTo>
                  <a:lnTo>
                    <a:pt x="877" y="161"/>
                  </a:lnTo>
                  <a:lnTo>
                    <a:pt x="859" y="156"/>
                  </a:lnTo>
                  <a:lnTo>
                    <a:pt x="853" y="161"/>
                  </a:lnTo>
                  <a:lnTo>
                    <a:pt x="841" y="167"/>
                  </a:lnTo>
                  <a:lnTo>
                    <a:pt x="810" y="173"/>
                  </a:lnTo>
                  <a:lnTo>
                    <a:pt x="768" y="167"/>
                  </a:lnTo>
                  <a:lnTo>
                    <a:pt x="720" y="161"/>
                  </a:lnTo>
                  <a:lnTo>
                    <a:pt x="678" y="156"/>
                  </a:lnTo>
                  <a:lnTo>
                    <a:pt x="637" y="150"/>
                  </a:lnTo>
                  <a:lnTo>
                    <a:pt x="613" y="144"/>
                  </a:lnTo>
                  <a:lnTo>
                    <a:pt x="601" y="144"/>
                  </a:lnTo>
                  <a:lnTo>
                    <a:pt x="498" y="161"/>
                  </a:lnTo>
                  <a:lnTo>
                    <a:pt x="492" y="161"/>
                  </a:lnTo>
                  <a:lnTo>
                    <a:pt x="480" y="156"/>
                  </a:lnTo>
                  <a:lnTo>
                    <a:pt x="456" y="156"/>
                  </a:lnTo>
                  <a:lnTo>
                    <a:pt x="432" y="150"/>
                  </a:lnTo>
                  <a:lnTo>
                    <a:pt x="379" y="144"/>
                  </a:lnTo>
                  <a:lnTo>
                    <a:pt x="361" y="138"/>
                  </a:lnTo>
                  <a:lnTo>
                    <a:pt x="342" y="138"/>
                  </a:lnTo>
                  <a:lnTo>
                    <a:pt x="324" y="138"/>
                  </a:lnTo>
                  <a:lnTo>
                    <a:pt x="300" y="132"/>
                  </a:lnTo>
                  <a:lnTo>
                    <a:pt x="246" y="126"/>
                  </a:lnTo>
                  <a:lnTo>
                    <a:pt x="216" y="120"/>
                  </a:lnTo>
                  <a:lnTo>
                    <a:pt x="192" y="120"/>
                  </a:lnTo>
                  <a:lnTo>
                    <a:pt x="174" y="114"/>
                  </a:lnTo>
                  <a:lnTo>
                    <a:pt x="168" y="114"/>
                  </a:lnTo>
                  <a:lnTo>
                    <a:pt x="6" y="120"/>
                  </a:lnTo>
                  <a:lnTo>
                    <a:pt x="216" y="240"/>
                  </a:lnTo>
                  <a:lnTo>
                    <a:pt x="306" y="294"/>
                  </a:lnTo>
                  <a:lnTo>
                    <a:pt x="480" y="462"/>
                  </a:lnTo>
                  <a:lnTo>
                    <a:pt x="607" y="588"/>
                  </a:lnTo>
                  <a:lnTo>
                    <a:pt x="655" y="672"/>
                  </a:lnTo>
                  <a:lnTo>
                    <a:pt x="949" y="769"/>
                  </a:lnTo>
                  <a:lnTo>
                    <a:pt x="1177" y="817"/>
                  </a:lnTo>
                  <a:lnTo>
                    <a:pt x="1249" y="871"/>
                  </a:lnTo>
                  <a:lnTo>
                    <a:pt x="1117" y="853"/>
                  </a:lnTo>
                  <a:lnTo>
                    <a:pt x="972" y="871"/>
                  </a:lnTo>
                  <a:lnTo>
                    <a:pt x="756" y="919"/>
                  </a:lnTo>
                  <a:lnTo>
                    <a:pt x="619" y="961"/>
                  </a:lnTo>
                  <a:lnTo>
                    <a:pt x="492" y="1111"/>
                  </a:lnTo>
                  <a:lnTo>
                    <a:pt x="420" y="1214"/>
                  </a:lnTo>
                  <a:lnTo>
                    <a:pt x="348" y="1345"/>
                  </a:lnTo>
                  <a:lnTo>
                    <a:pt x="276" y="1441"/>
                  </a:lnTo>
                  <a:lnTo>
                    <a:pt x="192" y="1471"/>
                  </a:lnTo>
                  <a:lnTo>
                    <a:pt x="66" y="1465"/>
                  </a:lnTo>
                  <a:lnTo>
                    <a:pt x="42" y="1441"/>
                  </a:lnTo>
                  <a:lnTo>
                    <a:pt x="0" y="1471"/>
                  </a:lnTo>
                  <a:lnTo>
                    <a:pt x="126" y="1519"/>
                  </a:lnTo>
                  <a:lnTo>
                    <a:pt x="367" y="1585"/>
                  </a:lnTo>
                  <a:lnTo>
                    <a:pt x="570" y="1591"/>
                  </a:lnTo>
                  <a:lnTo>
                    <a:pt x="690" y="1664"/>
                  </a:lnTo>
                  <a:lnTo>
                    <a:pt x="949" y="1712"/>
                  </a:lnTo>
                  <a:lnTo>
                    <a:pt x="1260" y="1694"/>
                  </a:lnTo>
                  <a:lnTo>
                    <a:pt x="1411" y="1603"/>
                  </a:lnTo>
                  <a:lnTo>
                    <a:pt x="1519" y="1537"/>
                  </a:lnTo>
                  <a:lnTo>
                    <a:pt x="1645" y="1399"/>
                  </a:lnTo>
                  <a:lnTo>
                    <a:pt x="1699" y="1387"/>
                  </a:lnTo>
                  <a:lnTo>
                    <a:pt x="1735" y="1513"/>
                  </a:lnTo>
                  <a:lnTo>
                    <a:pt x="1729" y="1567"/>
                  </a:lnTo>
                  <a:lnTo>
                    <a:pt x="1723" y="1670"/>
                  </a:lnTo>
                  <a:lnTo>
                    <a:pt x="1723" y="1802"/>
                  </a:lnTo>
                  <a:lnTo>
                    <a:pt x="1831" y="1964"/>
                  </a:lnTo>
                  <a:lnTo>
                    <a:pt x="1957" y="2090"/>
                  </a:lnTo>
                  <a:lnTo>
                    <a:pt x="2042" y="2229"/>
                  </a:lnTo>
                  <a:lnTo>
                    <a:pt x="2155" y="2366"/>
                  </a:lnTo>
                  <a:lnTo>
                    <a:pt x="2161" y="2295"/>
                  </a:lnTo>
                  <a:lnTo>
                    <a:pt x="2191" y="2133"/>
                  </a:lnTo>
                  <a:lnTo>
                    <a:pt x="2215" y="2048"/>
                  </a:lnTo>
                  <a:lnTo>
                    <a:pt x="2258" y="2042"/>
                  </a:lnTo>
                  <a:lnTo>
                    <a:pt x="2270" y="1970"/>
                  </a:lnTo>
                  <a:lnTo>
                    <a:pt x="2342" y="1868"/>
                  </a:lnTo>
                  <a:lnTo>
                    <a:pt x="2324" y="1748"/>
                  </a:lnTo>
                  <a:lnTo>
                    <a:pt x="2233" y="1573"/>
                  </a:lnTo>
                  <a:lnTo>
                    <a:pt x="2209" y="1453"/>
                  </a:lnTo>
                  <a:lnTo>
                    <a:pt x="2209" y="1345"/>
                  </a:lnTo>
                  <a:lnTo>
                    <a:pt x="2294" y="1483"/>
                  </a:lnTo>
                  <a:lnTo>
                    <a:pt x="2461" y="1651"/>
                  </a:lnTo>
                  <a:lnTo>
                    <a:pt x="2504" y="1651"/>
                  </a:lnTo>
                  <a:lnTo>
                    <a:pt x="2588" y="1688"/>
                  </a:lnTo>
                  <a:lnTo>
                    <a:pt x="2678" y="1718"/>
                  </a:lnTo>
                  <a:lnTo>
                    <a:pt x="2720" y="1712"/>
                  </a:lnTo>
                  <a:lnTo>
                    <a:pt x="2695" y="1682"/>
                  </a:lnTo>
                  <a:lnTo>
                    <a:pt x="2678" y="1627"/>
                  </a:lnTo>
                  <a:lnTo>
                    <a:pt x="2630" y="1597"/>
                  </a:lnTo>
                  <a:lnTo>
                    <a:pt x="2588" y="1543"/>
                  </a:lnTo>
                  <a:lnTo>
                    <a:pt x="2618" y="1483"/>
                  </a:lnTo>
                  <a:lnTo>
                    <a:pt x="2576" y="1399"/>
                  </a:lnTo>
                  <a:lnTo>
                    <a:pt x="2510" y="1357"/>
                  </a:lnTo>
                  <a:lnTo>
                    <a:pt x="2576" y="1351"/>
                  </a:lnTo>
                  <a:lnTo>
                    <a:pt x="2552" y="1315"/>
                  </a:lnTo>
                  <a:lnTo>
                    <a:pt x="2354" y="1184"/>
                  </a:lnTo>
                  <a:lnTo>
                    <a:pt x="2252" y="1123"/>
                  </a:lnTo>
                  <a:lnTo>
                    <a:pt x="2173" y="1009"/>
                  </a:lnTo>
                  <a:lnTo>
                    <a:pt x="2102" y="931"/>
                  </a:lnTo>
                  <a:lnTo>
                    <a:pt x="2108" y="931"/>
                  </a:lnTo>
                  <a:lnTo>
                    <a:pt x="2114" y="925"/>
                  </a:lnTo>
                  <a:lnTo>
                    <a:pt x="2137" y="907"/>
                  </a:lnTo>
                  <a:lnTo>
                    <a:pt x="2167" y="883"/>
                  </a:lnTo>
                  <a:lnTo>
                    <a:pt x="2197" y="877"/>
                  </a:lnTo>
                  <a:lnTo>
                    <a:pt x="2215" y="871"/>
                  </a:lnTo>
                  <a:lnTo>
                    <a:pt x="2240" y="859"/>
                  </a:lnTo>
                  <a:lnTo>
                    <a:pt x="2300" y="829"/>
                  </a:lnTo>
                  <a:lnTo>
                    <a:pt x="2324" y="817"/>
                  </a:lnTo>
                  <a:lnTo>
                    <a:pt x="2348" y="799"/>
                  </a:lnTo>
                  <a:lnTo>
                    <a:pt x="2366" y="793"/>
                  </a:lnTo>
                  <a:lnTo>
                    <a:pt x="2372" y="787"/>
                  </a:lnTo>
                  <a:lnTo>
                    <a:pt x="2828" y="588"/>
                  </a:lnTo>
                  <a:lnTo>
                    <a:pt x="2828" y="528"/>
                  </a:lnTo>
                  <a:lnTo>
                    <a:pt x="2078" y="865"/>
                  </a:lnTo>
                  <a:lnTo>
                    <a:pt x="2006" y="835"/>
                  </a:lnTo>
                  <a:lnTo>
                    <a:pt x="2006" y="835"/>
                  </a:lnTo>
                  <a:close/>
                </a:path>
              </a:pathLst>
            </a:custGeom>
            <a:gradFill rotWithShape="0">
              <a:gsLst>
                <a:gs pos="0">
                  <a:schemeClr val="bg2"/>
                </a:gs>
                <a:gs pos="50000">
                  <a:schemeClr val="bg1"/>
                </a:gs>
                <a:gs pos="100000">
                  <a:schemeClr val="bg2"/>
                </a:gs>
              </a:gsLst>
              <a:lin ang="2700000" scaled="1"/>
            </a:gradFill>
            <a:ln w="9525">
              <a:noFill/>
              <a:round/>
              <a:headEnd/>
              <a:tailEnd/>
            </a:ln>
          </p:spPr>
          <p:txBody>
            <a:bodyPr/>
            <a:lstStyle/>
            <a:p>
              <a:endParaRPr lang="es-BO"/>
            </a:p>
          </p:txBody>
        </p:sp>
        <p:sp>
          <p:nvSpPr>
            <p:cNvPr id="115732" name="Freeform 20"/>
            <p:cNvSpPr>
              <a:spLocks/>
            </p:cNvSpPr>
            <p:nvPr/>
          </p:nvSpPr>
          <p:spPr bwMode="hidden">
            <a:xfrm>
              <a:off x="3160" y="1860"/>
              <a:ext cx="2162" cy="1934"/>
            </a:xfrm>
            <a:custGeom>
              <a:avLst/>
              <a:gdLst/>
              <a:ahLst/>
              <a:cxnLst>
                <a:cxn ang="0">
                  <a:pos x="1842" y="851"/>
                </a:cxn>
                <a:cxn ang="0">
                  <a:pos x="1937" y="1019"/>
                </a:cxn>
                <a:cxn ang="0">
                  <a:pos x="2051" y="1168"/>
                </a:cxn>
                <a:cxn ang="0">
                  <a:pos x="2117" y="1246"/>
                </a:cxn>
                <a:cxn ang="0">
                  <a:pos x="2153" y="1294"/>
                </a:cxn>
                <a:cxn ang="0">
                  <a:pos x="1889" y="977"/>
                </a:cxn>
                <a:cxn ang="0">
                  <a:pos x="1860" y="929"/>
                </a:cxn>
                <a:cxn ang="0">
                  <a:pos x="1782" y="1240"/>
                </a:cxn>
                <a:cxn ang="0">
                  <a:pos x="1770" y="1486"/>
                </a:cxn>
                <a:cxn ang="0">
                  <a:pos x="1818" y="1906"/>
                </a:cxn>
                <a:cxn ang="0">
                  <a:pos x="1788" y="1930"/>
                </a:cxn>
                <a:cxn ang="0">
                  <a:pos x="1746" y="1534"/>
                </a:cxn>
                <a:cxn ang="0">
                  <a:pos x="1728" y="1288"/>
                </a:cxn>
                <a:cxn ang="0">
                  <a:pos x="1764" y="1085"/>
                </a:cxn>
                <a:cxn ang="0">
                  <a:pos x="1770" y="875"/>
                </a:cxn>
                <a:cxn ang="0">
                  <a:pos x="1268" y="1007"/>
                </a:cxn>
                <a:cxn ang="0">
                  <a:pos x="825" y="1132"/>
                </a:cxn>
                <a:cxn ang="0">
                  <a:pos x="323" y="1312"/>
                </a:cxn>
                <a:cxn ang="0">
                  <a:pos x="18" y="1420"/>
                </a:cxn>
                <a:cxn ang="0">
                  <a:pos x="311" y="1282"/>
                </a:cxn>
                <a:cxn ang="0">
                  <a:pos x="682" y="1144"/>
                </a:cxn>
                <a:cxn ang="0">
                  <a:pos x="1022" y="1037"/>
                </a:cxn>
                <a:cxn ang="0">
                  <a:pos x="1411" y="929"/>
                </a:cxn>
                <a:cxn ang="0">
                  <a:pos x="1692" y="815"/>
                </a:cxn>
                <a:cxn ang="0">
                  <a:pos x="1333" y="623"/>
                </a:cxn>
                <a:cxn ang="0">
                  <a:pos x="861" y="515"/>
                </a:cxn>
                <a:cxn ang="0">
                  <a:pos x="227" y="161"/>
                </a:cxn>
                <a:cxn ang="0">
                  <a:pos x="0" y="83"/>
                </a:cxn>
                <a:cxn ang="0">
                  <a:pos x="329" y="179"/>
                </a:cxn>
                <a:cxn ang="0">
                  <a:pos x="712" y="383"/>
                </a:cxn>
                <a:cxn ang="0">
                  <a:pos x="933" y="491"/>
                </a:cxn>
                <a:cxn ang="0">
                  <a:pos x="1351" y="593"/>
                </a:cxn>
                <a:cxn ang="0">
                  <a:pos x="1650" y="743"/>
                </a:cxn>
                <a:cxn ang="0">
                  <a:pos x="1423" y="461"/>
                </a:cxn>
                <a:cxn ang="0">
                  <a:pos x="1286" y="191"/>
                </a:cxn>
                <a:cxn ang="0">
                  <a:pos x="1154" y="0"/>
                </a:cxn>
                <a:cxn ang="0">
                  <a:pos x="1339" y="215"/>
                </a:cxn>
                <a:cxn ang="0">
                  <a:pos x="1489" y="485"/>
                </a:cxn>
                <a:cxn ang="0">
                  <a:pos x="1746" y="803"/>
                </a:cxn>
                <a:cxn ang="0">
                  <a:pos x="1842" y="851"/>
                </a:cxn>
                <a:cxn ang="0">
                  <a:pos x="1842" y="851"/>
                </a:cxn>
              </a:cxnLst>
              <a:rect l="0" t="0" r="r" b="b"/>
              <a:pathLst>
                <a:path w="2153" h="1930">
                  <a:moveTo>
                    <a:pt x="1842" y="851"/>
                  </a:moveTo>
                  <a:lnTo>
                    <a:pt x="1937" y="1019"/>
                  </a:lnTo>
                  <a:lnTo>
                    <a:pt x="2051" y="1168"/>
                  </a:lnTo>
                  <a:lnTo>
                    <a:pt x="2117" y="1246"/>
                  </a:lnTo>
                  <a:lnTo>
                    <a:pt x="2153" y="1294"/>
                  </a:lnTo>
                  <a:lnTo>
                    <a:pt x="1889" y="977"/>
                  </a:lnTo>
                  <a:lnTo>
                    <a:pt x="1860" y="929"/>
                  </a:lnTo>
                  <a:lnTo>
                    <a:pt x="1782" y="1240"/>
                  </a:lnTo>
                  <a:lnTo>
                    <a:pt x="1770" y="1486"/>
                  </a:lnTo>
                  <a:lnTo>
                    <a:pt x="1818" y="1906"/>
                  </a:lnTo>
                  <a:lnTo>
                    <a:pt x="1788" y="1930"/>
                  </a:lnTo>
                  <a:lnTo>
                    <a:pt x="1746" y="1534"/>
                  </a:lnTo>
                  <a:lnTo>
                    <a:pt x="1728" y="1288"/>
                  </a:lnTo>
                  <a:lnTo>
                    <a:pt x="1764" y="1085"/>
                  </a:lnTo>
                  <a:lnTo>
                    <a:pt x="1770" y="875"/>
                  </a:lnTo>
                  <a:lnTo>
                    <a:pt x="1268" y="1007"/>
                  </a:lnTo>
                  <a:lnTo>
                    <a:pt x="825" y="1132"/>
                  </a:lnTo>
                  <a:lnTo>
                    <a:pt x="323" y="1312"/>
                  </a:lnTo>
                  <a:lnTo>
                    <a:pt x="18" y="1420"/>
                  </a:lnTo>
                  <a:lnTo>
                    <a:pt x="311" y="1282"/>
                  </a:lnTo>
                  <a:lnTo>
                    <a:pt x="682" y="1144"/>
                  </a:lnTo>
                  <a:lnTo>
                    <a:pt x="1022" y="1037"/>
                  </a:lnTo>
                  <a:lnTo>
                    <a:pt x="1411" y="929"/>
                  </a:lnTo>
                  <a:lnTo>
                    <a:pt x="1692" y="815"/>
                  </a:lnTo>
                  <a:lnTo>
                    <a:pt x="1333" y="623"/>
                  </a:lnTo>
                  <a:lnTo>
                    <a:pt x="861" y="515"/>
                  </a:lnTo>
                  <a:lnTo>
                    <a:pt x="227" y="161"/>
                  </a:lnTo>
                  <a:lnTo>
                    <a:pt x="0" y="83"/>
                  </a:lnTo>
                  <a:lnTo>
                    <a:pt x="329" y="179"/>
                  </a:lnTo>
                  <a:lnTo>
                    <a:pt x="712" y="383"/>
                  </a:lnTo>
                  <a:lnTo>
                    <a:pt x="933" y="491"/>
                  </a:lnTo>
                  <a:lnTo>
                    <a:pt x="1351" y="593"/>
                  </a:lnTo>
                  <a:lnTo>
                    <a:pt x="1650" y="743"/>
                  </a:lnTo>
                  <a:lnTo>
                    <a:pt x="1423" y="461"/>
                  </a:lnTo>
                  <a:lnTo>
                    <a:pt x="1286" y="191"/>
                  </a:lnTo>
                  <a:lnTo>
                    <a:pt x="1154" y="0"/>
                  </a:lnTo>
                  <a:lnTo>
                    <a:pt x="1339" y="215"/>
                  </a:lnTo>
                  <a:lnTo>
                    <a:pt x="1489" y="485"/>
                  </a:lnTo>
                  <a:lnTo>
                    <a:pt x="1746" y="803"/>
                  </a:lnTo>
                  <a:lnTo>
                    <a:pt x="1842" y="851"/>
                  </a:lnTo>
                  <a:lnTo>
                    <a:pt x="1842" y="851"/>
                  </a:lnTo>
                  <a:close/>
                </a:path>
              </a:pathLst>
            </a:custGeom>
            <a:gradFill rotWithShape="0">
              <a:gsLst>
                <a:gs pos="0">
                  <a:schemeClr val="accent2"/>
                </a:gs>
                <a:gs pos="100000">
                  <a:schemeClr val="bg1"/>
                </a:gs>
              </a:gsLst>
              <a:lin ang="5400000" scaled="1"/>
            </a:gradFill>
            <a:ln w="9525">
              <a:noFill/>
              <a:round/>
              <a:headEnd/>
              <a:tailEnd/>
            </a:ln>
          </p:spPr>
          <p:txBody>
            <a:bodyPr/>
            <a:lstStyle/>
            <a:p>
              <a:endParaRPr lang="es-BO"/>
            </a:p>
          </p:txBody>
        </p:sp>
      </p:grpSp>
      <p:sp>
        <p:nvSpPr>
          <p:cNvPr id="115733" name="Rectangle 21"/>
          <p:cNvSpPr>
            <a:spLocks noGrp="1" noChangeArrowheads="1"/>
          </p:cNvSpPr>
          <p:nvPr>
            <p:ph type="ctrTitle" sz="quarter"/>
          </p:nvPr>
        </p:nvSpPr>
        <p:spPr>
          <a:xfrm>
            <a:off x="685800" y="1828800"/>
            <a:ext cx="7772400" cy="1736725"/>
          </a:xfrm>
        </p:spPr>
        <p:txBody>
          <a:bodyPr/>
          <a:lstStyle>
            <a:lvl1pPr>
              <a:defRPr sz="5400"/>
            </a:lvl1pPr>
          </a:lstStyle>
          <a:p>
            <a:r>
              <a:rPr lang="es-ES"/>
              <a:t>Haga clic para cambiar el estilo de título	</a:t>
            </a:r>
          </a:p>
        </p:txBody>
      </p:sp>
      <p:sp>
        <p:nvSpPr>
          <p:cNvPr id="115734" name="Rectangle 22"/>
          <p:cNvSpPr>
            <a:spLocks noGrp="1" noChangeArrowheads="1"/>
          </p:cNvSpPr>
          <p:nvPr>
            <p:ph type="subTitle" sz="quarter" idx="1"/>
          </p:nvPr>
        </p:nvSpPr>
        <p:spPr>
          <a:xfrm>
            <a:off x="1371600" y="3886200"/>
            <a:ext cx="6400800" cy="1752600"/>
          </a:xfrm>
        </p:spPr>
        <p:txBody>
          <a:bodyPr/>
          <a:lstStyle>
            <a:lvl1pPr marL="0" indent="0" algn="ctr">
              <a:buFont typeface="Wingdings" pitchFamily="2" charset="2"/>
              <a:buNone/>
              <a:defRPr/>
            </a:lvl1pPr>
          </a:lstStyle>
          <a:p>
            <a:r>
              <a:rPr lang="es-ES"/>
              <a:t>Haga clic para modificar el estilo de subtítulo del patrón</a:t>
            </a:r>
          </a:p>
        </p:txBody>
      </p:sp>
      <p:sp>
        <p:nvSpPr>
          <p:cNvPr id="115735" name="Rectangle 23"/>
          <p:cNvSpPr>
            <a:spLocks noGrp="1" noChangeArrowheads="1"/>
          </p:cNvSpPr>
          <p:nvPr>
            <p:ph type="dt" sz="quarter" idx="2"/>
          </p:nvPr>
        </p:nvSpPr>
        <p:spPr/>
        <p:txBody>
          <a:bodyPr/>
          <a:lstStyle>
            <a:lvl1pPr>
              <a:defRPr/>
            </a:lvl1pPr>
          </a:lstStyle>
          <a:p>
            <a:endParaRPr lang="es-ES"/>
          </a:p>
        </p:txBody>
      </p:sp>
      <p:sp>
        <p:nvSpPr>
          <p:cNvPr id="115736" name="Rectangle 24"/>
          <p:cNvSpPr>
            <a:spLocks noGrp="1" noChangeArrowheads="1"/>
          </p:cNvSpPr>
          <p:nvPr>
            <p:ph type="ftr" sz="quarter" idx="3"/>
          </p:nvPr>
        </p:nvSpPr>
        <p:spPr/>
        <p:txBody>
          <a:bodyPr/>
          <a:lstStyle>
            <a:lvl1pPr>
              <a:defRPr/>
            </a:lvl1pPr>
          </a:lstStyle>
          <a:p>
            <a:endParaRPr lang="es-ES"/>
          </a:p>
        </p:txBody>
      </p:sp>
      <p:sp>
        <p:nvSpPr>
          <p:cNvPr id="115737" name="Rectangle 25"/>
          <p:cNvSpPr>
            <a:spLocks noGrp="1" noChangeArrowheads="1"/>
          </p:cNvSpPr>
          <p:nvPr>
            <p:ph type="sldNum" sz="quarter" idx="4"/>
          </p:nvPr>
        </p:nvSpPr>
        <p:spPr/>
        <p:txBody>
          <a:bodyPr/>
          <a:lstStyle>
            <a:lvl1pPr>
              <a:defRPr/>
            </a:lvl1pPr>
          </a:lstStyle>
          <a:p>
            <a:fld id="{E0C1A08B-9152-439F-BFAC-2A282F605937}" type="slidenum">
              <a:rPr lang="es-ES"/>
              <a:pPr/>
              <a:t>‹Nº›</a:t>
            </a:fld>
            <a:endParaRPr lang="es-ES"/>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BO"/>
          </a:p>
        </p:txBody>
      </p:sp>
      <p:sp>
        <p:nvSpPr>
          <p:cNvPr id="3" name="2 Marcador de contenido"/>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BO"/>
          </a:p>
        </p:txBody>
      </p:sp>
      <p:sp>
        <p:nvSpPr>
          <p:cNvPr id="4" name="3 Marcador de fecha"/>
          <p:cNvSpPr>
            <a:spLocks noGrp="1"/>
          </p:cNvSpPr>
          <p:nvPr>
            <p:ph type="dt" sz="half" idx="10"/>
          </p:nvPr>
        </p:nvSpPr>
        <p:spPr/>
        <p:txBody>
          <a:bodyPr/>
          <a:lstStyle>
            <a:lvl1pPr>
              <a:defRPr/>
            </a:lvl1pPr>
          </a:lstStyle>
          <a:p>
            <a:endParaRPr lang="es-ES"/>
          </a:p>
        </p:txBody>
      </p:sp>
      <p:sp>
        <p:nvSpPr>
          <p:cNvPr id="5" name="4 Marcador de pie de página"/>
          <p:cNvSpPr>
            <a:spLocks noGrp="1"/>
          </p:cNvSpPr>
          <p:nvPr>
            <p:ph type="ftr" sz="quarter" idx="11"/>
          </p:nvPr>
        </p:nvSpPr>
        <p:spPr/>
        <p:txBody>
          <a:bodyPr/>
          <a:lstStyle>
            <a:lvl1pPr>
              <a:defRPr/>
            </a:lvl1pPr>
          </a:lstStyle>
          <a:p>
            <a:endParaRPr lang="es-ES"/>
          </a:p>
        </p:txBody>
      </p:sp>
      <p:sp>
        <p:nvSpPr>
          <p:cNvPr id="6" name="5 Marcador de número de diapositiva"/>
          <p:cNvSpPr>
            <a:spLocks noGrp="1"/>
          </p:cNvSpPr>
          <p:nvPr>
            <p:ph type="sldNum" sz="quarter" idx="12"/>
          </p:nvPr>
        </p:nvSpPr>
        <p:spPr/>
        <p:txBody>
          <a:bodyPr/>
          <a:lstStyle>
            <a:lvl1pPr>
              <a:defRPr/>
            </a:lvl1pPr>
          </a:lstStyle>
          <a:p>
            <a:fld id="{6892A80F-9B4C-4AA1-88B3-10AC0AB8C607}" type="slidenum">
              <a:rPr lang="es-ES"/>
              <a:pPr/>
              <a:t>‹Nº›</a:t>
            </a:fld>
            <a:endParaRPr lang="es-E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nchor="t"/>
          <a:lstStyle>
            <a:lvl1pPr algn="l">
              <a:defRPr sz="4000" b="1" cap="all"/>
            </a:lvl1pPr>
          </a:lstStyle>
          <a:p>
            <a:r>
              <a:rPr lang="es-ES" smtClean="0"/>
              <a:t>Haga clic para modificar el estilo de título del patrón</a:t>
            </a:r>
            <a:endParaRPr lang="es-BO"/>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s-ES" smtClean="0"/>
              <a:t>Haga clic para modificar el estilo de texto del patrón</a:t>
            </a:r>
          </a:p>
        </p:txBody>
      </p:sp>
      <p:sp>
        <p:nvSpPr>
          <p:cNvPr id="4" name="3 Marcador de fecha"/>
          <p:cNvSpPr>
            <a:spLocks noGrp="1"/>
          </p:cNvSpPr>
          <p:nvPr>
            <p:ph type="dt" sz="half" idx="10"/>
          </p:nvPr>
        </p:nvSpPr>
        <p:spPr/>
        <p:txBody>
          <a:bodyPr/>
          <a:lstStyle>
            <a:lvl1pPr>
              <a:defRPr/>
            </a:lvl1pPr>
          </a:lstStyle>
          <a:p>
            <a:endParaRPr lang="es-ES"/>
          </a:p>
        </p:txBody>
      </p:sp>
      <p:sp>
        <p:nvSpPr>
          <p:cNvPr id="5" name="4 Marcador de pie de página"/>
          <p:cNvSpPr>
            <a:spLocks noGrp="1"/>
          </p:cNvSpPr>
          <p:nvPr>
            <p:ph type="ftr" sz="quarter" idx="11"/>
          </p:nvPr>
        </p:nvSpPr>
        <p:spPr/>
        <p:txBody>
          <a:bodyPr/>
          <a:lstStyle>
            <a:lvl1pPr>
              <a:defRPr/>
            </a:lvl1pPr>
          </a:lstStyle>
          <a:p>
            <a:endParaRPr lang="es-ES"/>
          </a:p>
        </p:txBody>
      </p:sp>
      <p:sp>
        <p:nvSpPr>
          <p:cNvPr id="6" name="5 Marcador de número de diapositiva"/>
          <p:cNvSpPr>
            <a:spLocks noGrp="1"/>
          </p:cNvSpPr>
          <p:nvPr>
            <p:ph type="sldNum" sz="quarter" idx="12"/>
          </p:nvPr>
        </p:nvSpPr>
        <p:spPr/>
        <p:txBody>
          <a:bodyPr/>
          <a:lstStyle>
            <a:lvl1pPr>
              <a:defRPr/>
            </a:lvl1pPr>
          </a:lstStyle>
          <a:p>
            <a:fld id="{A2247B5F-CC61-44E6-BE99-3290E2959A20}" type="slidenum">
              <a:rPr lang="es-ES"/>
              <a:pPr/>
              <a:t>‹Nº›</a:t>
            </a:fld>
            <a:endParaRPr lang="es-E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BO"/>
          </a:p>
        </p:txBody>
      </p:sp>
      <p:sp>
        <p:nvSpPr>
          <p:cNvPr id="3" name="2 Marcador de contenido"/>
          <p:cNvSpPr>
            <a:spLocks noGrp="1"/>
          </p:cNvSpPr>
          <p:nvPr>
            <p:ph sz="half" idx="1"/>
          </p:nvPr>
        </p:nvSpPr>
        <p:spPr>
          <a:xfrm>
            <a:off x="457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BO"/>
          </a:p>
        </p:txBody>
      </p:sp>
      <p:sp>
        <p:nvSpPr>
          <p:cNvPr id="4" name="3 Marcador de contenido"/>
          <p:cNvSpPr>
            <a:spLocks noGrp="1"/>
          </p:cNvSpPr>
          <p:nvPr>
            <p:ph sz="half" idx="2"/>
          </p:nvPr>
        </p:nvSpPr>
        <p:spPr>
          <a:xfrm>
            <a:off x="4648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BO"/>
          </a:p>
        </p:txBody>
      </p:sp>
      <p:sp>
        <p:nvSpPr>
          <p:cNvPr id="5" name="4 Marcador de fecha"/>
          <p:cNvSpPr>
            <a:spLocks noGrp="1"/>
          </p:cNvSpPr>
          <p:nvPr>
            <p:ph type="dt" sz="half" idx="10"/>
          </p:nvPr>
        </p:nvSpPr>
        <p:spPr/>
        <p:txBody>
          <a:bodyPr/>
          <a:lstStyle>
            <a:lvl1pPr>
              <a:defRPr/>
            </a:lvl1pPr>
          </a:lstStyle>
          <a:p>
            <a:endParaRPr lang="es-ES"/>
          </a:p>
        </p:txBody>
      </p:sp>
      <p:sp>
        <p:nvSpPr>
          <p:cNvPr id="6" name="5 Marcador de pie de página"/>
          <p:cNvSpPr>
            <a:spLocks noGrp="1"/>
          </p:cNvSpPr>
          <p:nvPr>
            <p:ph type="ftr" sz="quarter" idx="11"/>
          </p:nvPr>
        </p:nvSpPr>
        <p:spPr/>
        <p:txBody>
          <a:bodyPr/>
          <a:lstStyle>
            <a:lvl1pPr>
              <a:defRPr/>
            </a:lvl1pPr>
          </a:lstStyle>
          <a:p>
            <a:endParaRPr lang="es-ES"/>
          </a:p>
        </p:txBody>
      </p:sp>
      <p:sp>
        <p:nvSpPr>
          <p:cNvPr id="7" name="6 Marcador de número de diapositiva"/>
          <p:cNvSpPr>
            <a:spLocks noGrp="1"/>
          </p:cNvSpPr>
          <p:nvPr>
            <p:ph type="sldNum" sz="quarter" idx="12"/>
          </p:nvPr>
        </p:nvSpPr>
        <p:spPr/>
        <p:txBody>
          <a:bodyPr/>
          <a:lstStyle>
            <a:lvl1pPr>
              <a:defRPr/>
            </a:lvl1pPr>
          </a:lstStyle>
          <a:p>
            <a:fld id="{DD9693E2-78A6-47FD-8BF7-8EDE041C2C73}" type="slidenum">
              <a:rPr lang="es-ES"/>
              <a:pPr/>
              <a:t>‹Nº›</a:t>
            </a:fld>
            <a:endParaRPr lang="es-E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1143000"/>
          </a:xfrm>
        </p:spPr>
        <p:txBody>
          <a:bodyPr/>
          <a:lstStyle>
            <a:lvl1pPr>
              <a:defRPr/>
            </a:lvl1pPr>
          </a:lstStyle>
          <a:p>
            <a:r>
              <a:rPr lang="es-ES" smtClean="0"/>
              <a:t>Haga clic para modificar el estilo de título del patrón</a:t>
            </a:r>
            <a:endParaRPr lang="es-BO"/>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BO"/>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BO"/>
          </a:p>
        </p:txBody>
      </p:sp>
      <p:sp>
        <p:nvSpPr>
          <p:cNvPr id="7" name="6 Marcador de fecha"/>
          <p:cNvSpPr>
            <a:spLocks noGrp="1"/>
          </p:cNvSpPr>
          <p:nvPr>
            <p:ph type="dt" sz="half" idx="10"/>
          </p:nvPr>
        </p:nvSpPr>
        <p:spPr/>
        <p:txBody>
          <a:bodyPr/>
          <a:lstStyle>
            <a:lvl1pPr>
              <a:defRPr/>
            </a:lvl1pPr>
          </a:lstStyle>
          <a:p>
            <a:endParaRPr lang="es-ES"/>
          </a:p>
        </p:txBody>
      </p:sp>
      <p:sp>
        <p:nvSpPr>
          <p:cNvPr id="8" name="7 Marcador de pie de página"/>
          <p:cNvSpPr>
            <a:spLocks noGrp="1"/>
          </p:cNvSpPr>
          <p:nvPr>
            <p:ph type="ftr" sz="quarter" idx="11"/>
          </p:nvPr>
        </p:nvSpPr>
        <p:spPr/>
        <p:txBody>
          <a:bodyPr/>
          <a:lstStyle>
            <a:lvl1pPr>
              <a:defRPr/>
            </a:lvl1pPr>
          </a:lstStyle>
          <a:p>
            <a:endParaRPr lang="es-ES"/>
          </a:p>
        </p:txBody>
      </p:sp>
      <p:sp>
        <p:nvSpPr>
          <p:cNvPr id="9" name="8 Marcador de número de diapositiva"/>
          <p:cNvSpPr>
            <a:spLocks noGrp="1"/>
          </p:cNvSpPr>
          <p:nvPr>
            <p:ph type="sldNum" sz="quarter" idx="12"/>
          </p:nvPr>
        </p:nvSpPr>
        <p:spPr/>
        <p:txBody>
          <a:bodyPr/>
          <a:lstStyle>
            <a:lvl1pPr>
              <a:defRPr/>
            </a:lvl1pPr>
          </a:lstStyle>
          <a:p>
            <a:fld id="{E7C59D62-B916-4B54-85E9-7E535500BF29}" type="slidenum">
              <a:rPr lang="es-ES"/>
              <a:pPr/>
              <a:t>‹Nº›</a:t>
            </a:fld>
            <a:endParaRPr lang="es-E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BO"/>
          </a:p>
        </p:txBody>
      </p:sp>
      <p:sp>
        <p:nvSpPr>
          <p:cNvPr id="3" name="2 Marcador de fecha"/>
          <p:cNvSpPr>
            <a:spLocks noGrp="1"/>
          </p:cNvSpPr>
          <p:nvPr>
            <p:ph type="dt" sz="half" idx="10"/>
          </p:nvPr>
        </p:nvSpPr>
        <p:spPr/>
        <p:txBody>
          <a:bodyPr/>
          <a:lstStyle>
            <a:lvl1pPr>
              <a:defRPr/>
            </a:lvl1pPr>
          </a:lstStyle>
          <a:p>
            <a:endParaRPr lang="es-ES"/>
          </a:p>
        </p:txBody>
      </p:sp>
      <p:sp>
        <p:nvSpPr>
          <p:cNvPr id="4" name="3 Marcador de pie de página"/>
          <p:cNvSpPr>
            <a:spLocks noGrp="1"/>
          </p:cNvSpPr>
          <p:nvPr>
            <p:ph type="ftr" sz="quarter" idx="11"/>
          </p:nvPr>
        </p:nvSpPr>
        <p:spPr/>
        <p:txBody>
          <a:bodyPr/>
          <a:lstStyle>
            <a:lvl1pPr>
              <a:defRPr/>
            </a:lvl1pPr>
          </a:lstStyle>
          <a:p>
            <a:endParaRPr lang="es-ES"/>
          </a:p>
        </p:txBody>
      </p:sp>
      <p:sp>
        <p:nvSpPr>
          <p:cNvPr id="5" name="4 Marcador de número de diapositiva"/>
          <p:cNvSpPr>
            <a:spLocks noGrp="1"/>
          </p:cNvSpPr>
          <p:nvPr>
            <p:ph type="sldNum" sz="quarter" idx="12"/>
          </p:nvPr>
        </p:nvSpPr>
        <p:spPr/>
        <p:txBody>
          <a:bodyPr/>
          <a:lstStyle>
            <a:lvl1pPr>
              <a:defRPr/>
            </a:lvl1pPr>
          </a:lstStyle>
          <a:p>
            <a:fld id="{8EF048D2-8FFF-4743-A0C8-1CCF08C18F6F}" type="slidenum">
              <a:rPr lang="es-ES"/>
              <a:pPr/>
              <a:t>‹Nº›</a:t>
            </a:fld>
            <a:endParaRPr lang="es-E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lvl1pPr>
              <a:defRPr/>
            </a:lvl1pPr>
          </a:lstStyle>
          <a:p>
            <a:endParaRPr lang="es-ES"/>
          </a:p>
        </p:txBody>
      </p:sp>
      <p:sp>
        <p:nvSpPr>
          <p:cNvPr id="3" name="2 Marcador de pie de página"/>
          <p:cNvSpPr>
            <a:spLocks noGrp="1"/>
          </p:cNvSpPr>
          <p:nvPr>
            <p:ph type="ftr" sz="quarter" idx="11"/>
          </p:nvPr>
        </p:nvSpPr>
        <p:spPr/>
        <p:txBody>
          <a:bodyPr/>
          <a:lstStyle>
            <a:lvl1pPr>
              <a:defRPr/>
            </a:lvl1pPr>
          </a:lstStyle>
          <a:p>
            <a:endParaRPr lang="es-ES"/>
          </a:p>
        </p:txBody>
      </p:sp>
      <p:sp>
        <p:nvSpPr>
          <p:cNvPr id="4" name="3 Marcador de número de diapositiva"/>
          <p:cNvSpPr>
            <a:spLocks noGrp="1"/>
          </p:cNvSpPr>
          <p:nvPr>
            <p:ph type="sldNum" sz="quarter" idx="12"/>
          </p:nvPr>
        </p:nvSpPr>
        <p:spPr/>
        <p:txBody>
          <a:bodyPr/>
          <a:lstStyle>
            <a:lvl1pPr>
              <a:defRPr/>
            </a:lvl1pPr>
          </a:lstStyle>
          <a:p>
            <a:fld id="{60BDF92C-285E-43ED-BFF7-09D7AB2927AB}" type="slidenum">
              <a:rPr lang="es-ES"/>
              <a:pPr/>
              <a:t>‹Nº›</a:t>
            </a:fld>
            <a:endParaRPr lang="es-E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nchor="b"/>
          <a:lstStyle>
            <a:lvl1pPr algn="l">
              <a:defRPr sz="2000" b="1"/>
            </a:lvl1pPr>
          </a:lstStyle>
          <a:p>
            <a:r>
              <a:rPr lang="es-ES" smtClean="0"/>
              <a:t>Haga clic para modificar el estilo de título del patrón</a:t>
            </a:r>
            <a:endParaRPr lang="es-BO"/>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BO"/>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lvl1pPr>
              <a:defRPr/>
            </a:lvl1pPr>
          </a:lstStyle>
          <a:p>
            <a:endParaRPr lang="es-ES"/>
          </a:p>
        </p:txBody>
      </p:sp>
      <p:sp>
        <p:nvSpPr>
          <p:cNvPr id="6" name="5 Marcador de pie de página"/>
          <p:cNvSpPr>
            <a:spLocks noGrp="1"/>
          </p:cNvSpPr>
          <p:nvPr>
            <p:ph type="ftr" sz="quarter" idx="11"/>
          </p:nvPr>
        </p:nvSpPr>
        <p:spPr/>
        <p:txBody>
          <a:bodyPr/>
          <a:lstStyle>
            <a:lvl1pPr>
              <a:defRPr/>
            </a:lvl1pPr>
          </a:lstStyle>
          <a:p>
            <a:endParaRPr lang="es-ES"/>
          </a:p>
        </p:txBody>
      </p:sp>
      <p:sp>
        <p:nvSpPr>
          <p:cNvPr id="7" name="6 Marcador de número de diapositiva"/>
          <p:cNvSpPr>
            <a:spLocks noGrp="1"/>
          </p:cNvSpPr>
          <p:nvPr>
            <p:ph type="sldNum" sz="quarter" idx="12"/>
          </p:nvPr>
        </p:nvSpPr>
        <p:spPr/>
        <p:txBody>
          <a:bodyPr/>
          <a:lstStyle>
            <a:lvl1pPr>
              <a:defRPr/>
            </a:lvl1pPr>
          </a:lstStyle>
          <a:p>
            <a:fld id="{41FEA777-6C21-4473-90B1-1C750788E850}" type="slidenum">
              <a:rPr lang="es-ES"/>
              <a:pPr/>
              <a:t>‹Nº›</a:t>
            </a:fld>
            <a:endParaRPr lang="es-E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ES" smtClean="0"/>
              <a:t>Haga clic para modificar el estilo de título del patrón</a:t>
            </a:r>
            <a:endParaRPr lang="es-BO"/>
          </a:p>
        </p:txBody>
      </p:sp>
      <p:sp>
        <p:nvSpPr>
          <p:cNvPr id="3" name="2 Marcador de posición de imagen"/>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BO"/>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lvl1pPr>
              <a:defRPr/>
            </a:lvl1pPr>
          </a:lstStyle>
          <a:p>
            <a:endParaRPr lang="es-ES"/>
          </a:p>
        </p:txBody>
      </p:sp>
      <p:sp>
        <p:nvSpPr>
          <p:cNvPr id="6" name="5 Marcador de pie de página"/>
          <p:cNvSpPr>
            <a:spLocks noGrp="1"/>
          </p:cNvSpPr>
          <p:nvPr>
            <p:ph type="ftr" sz="quarter" idx="11"/>
          </p:nvPr>
        </p:nvSpPr>
        <p:spPr/>
        <p:txBody>
          <a:bodyPr/>
          <a:lstStyle>
            <a:lvl1pPr>
              <a:defRPr/>
            </a:lvl1pPr>
          </a:lstStyle>
          <a:p>
            <a:endParaRPr lang="es-ES"/>
          </a:p>
        </p:txBody>
      </p:sp>
      <p:sp>
        <p:nvSpPr>
          <p:cNvPr id="7" name="6 Marcador de número de diapositiva"/>
          <p:cNvSpPr>
            <a:spLocks noGrp="1"/>
          </p:cNvSpPr>
          <p:nvPr>
            <p:ph type="sldNum" sz="quarter" idx="12"/>
          </p:nvPr>
        </p:nvSpPr>
        <p:spPr/>
        <p:txBody>
          <a:bodyPr/>
          <a:lstStyle>
            <a:lvl1pPr>
              <a:defRPr/>
            </a:lvl1pPr>
          </a:lstStyle>
          <a:p>
            <a:fld id="{5ED64CB5-0260-46E4-BE53-FC00C3DA5285}" type="slidenum">
              <a:rPr lang="es-ES"/>
              <a:pPr/>
              <a:t>‹Nº›</a:t>
            </a:fld>
            <a:endParaRPr lang="es-E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BO"/>
          </a:p>
        </p:txBody>
      </p:sp>
      <p:sp>
        <p:nvSpPr>
          <p:cNvPr id="3" name="2 Marcador de texto vertical"/>
          <p:cNvSpPr>
            <a:spLocks noGrp="1"/>
          </p:cNvSpPr>
          <p:nvPr>
            <p:ph type="body" orient="vert" idx="1"/>
          </p:nvPr>
        </p:nvSpPr>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BO"/>
          </a:p>
        </p:txBody>
      </p:sp>
      <p:sp>
        <p:nvSpPr>
          <p:cNvPr id="4" name="3 Marcador de fecha"/>
          <p:cNvSpPr>
            <a:spLocks noGrp="1"/>
          </p:cNvSpPr>
          <p:nvPr>
            <p:ph type="dt" sz="half" idx="10"/>
          </p:nvPr>
        </p:nvSpPr>
        <p:spPr/>
        <p:txBody>
          <a:bodyPr/>
          <a:lstStyle>
            <a:lvl1pPr>
              <a:defRPr/>
            </a:lvl1pPr>
          </a:lstStyle>
          <a:p>
            <a:endParaRPr lang="es-ES"/>
          </a:p>
        </p:txBody>
      </p:sp>
      <p:sp>
        <p:nvSpPr>
          <p:cNvPr id="5" name="4 Marcador de pie de página"/>
          <p:cNvSpPr>
            <a:spLocks noGrp="1"/>
          </p:cNvSpPr>
          <p:nvPr>
            <p:ph type="ftr" sz="quarter" idx="11"/>
          </p:nvPr>
        </p:nvSpPr>
        <p:spPr/>
        <p:txBody>
          <a:bodyPr/>
          <a:lstStyle>
            <a:lvl1pPr>
              <a:defRPr/>
            </a:lvl1pPr>
          </a:lstStyle>
          <a:p>
            <a:endParaRPr lang="es-ES"/>
          </a:p>
        </p:txBody>
      </p:sp>
      <p:sp>
        <p:nvSpPr>
          <p:cNvPr id="6" name="5 Marcador de número de diapositiva"/>
          <p:cNvSpPr>
            <a:spLocks noGrp="1"/>
          </p:cNvSpPr>
          <p:nvPr>
            <p:ph type="sldNum" sz="quarter" idx="12"/>
          </p:nvPr>
        </p:nvSpPr>
        <p:spPr/>
        <p:txBody>
          <a:bodyPr/>
          <a:lstStyle>
            <a:lvl1pPr>
              <a:defRPr/>
            </a:lvl1pPr>
          </a:lstStyle>
          <a:p>
            <a:fld id="{C866693E-4586-455D-88F5-DA6B6A83E9A7}" type="slidenum">
              <a:rPr lang="es-ES"/>
              <a:pPr/>
              <a:t>‹Nº›</a:t>
            </a:fld>
            <a:endParaRPr lang="es-E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7813"/>
            <a:ext cx="2057400" cy="5853112"/>
          </a:xfrm>
        </p:spPr>
        <p:txBody>
          <a:bodyPr vert="eaVert"/>
          <a:lstStyle/>
          <a:p>
            <a:r>
              <a:rPr lang="es-ES" smtClean="0"/>
              <a:t>Haga clic para modificar el estilo de título del patrón</a:t>
            </a:r>
            <a:endParaRPr lang="es-BO"/>
          </a:p>
        </p:txBody>
      </p:sp>
      <p:sp>
        <p:nvSpPr>
          <p:cNvPr id="3" name="2 Marcador de texto vertical"/>
          <p:cNvSpPr>
            <a:spLocks noGrp="1"/>
          </p:cNvSpPr>
          <p:nvPr>
            <p:ph type="body" orient="vert" idx="1"/>
          </p:nvPr>
        </p:nvSpPr>
        <p:spPr>
          <a:xfrm>
            <a:off x="457200" y="277813"/>
            <a:ext cx="6019800" cy="5853112"/>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BO"/>
          </a:p>
        </p:txBody>
      </p:sp>
      <p:sp>
        <p:nvSpPr>
          <p:cNvPr id="4" name="3 Marcador de fecha"/>
          <p:cNvSpPr>
            <a:spLocks noGrp="1"/>
          </p:cNvSpPr>
          <p:nvPr>
            <p:ph type="dt" sz="half" idx="10"/>
          </p:nvPr>
        </p:nvSpPr>
        <p:spPr/>
        <p:txBody>
          <a:bodyPr/>
          <a:lstStyle>
            <a:lvl1pPr>
              <a:defRPr/>
            </a:lvl1pPr>
          </a:lstStyle>
          <a:p>
            <a:endParaRPr lang="es-ES"/>
          </a:p>
        </p:txBody>
      </p:sp>
      <p:sp>
        <p:nvSpPr>
          <p:cNvPr id="5" name="4 Marcador de pie de página"/>
          <p:cNvSpPr>
            <a:spLocks noGrp="1"/>
          </p:cNvSpPr>
          <p:nvPr>
            <p:ph type="ftr" sz="quarter" idx="11"/>
          </p:nvPr>
        </p:nvSpPr>
        <p:spPr/>
        <p:txBody>
          <a:bodyPr/>
          <a:lstStyle>
            <a:lvl1pPr>
              <a:defRPr/>
            </a:lvl1pPr>
          </a:lstStyle>
          <a:p>
            <a:endParaRPr lang="es-ES"/>
          </a:p>
        </p:txBody>
      </p:sp>
      <p:sp>
        <p:nvSpPr>
          <p:cNvPr id="6" name="5 Marcador de número de diapositiva"/>
          <p:cNvSpPr>
            <a:spLocks noGrp="1"/>
          </p:cNvSpPr>
          <p:nvPr>
            <p:ph type="sldNum" sz="quarter" idx="12"/>
          </p:nvPr>
        </p:nvSpPr>
        <p:spPr/>
        <p:txBody>
          <a:bodyPr/>
          <a:lstStyle>
            <a:lvl1pPr>
              <a:defRPr/>
            </a:lvl1pPr>
          </a:lstStyle>
          <a:p>
            <a:fld id="{F51A7B75-60B0-4EDB-86E4-50E503FBC210}" type="slidenum">
              <a:rPr lang="es-ES"/>
              <a:pPr/>
              <a:t>‹Nº›</a:t>
            </a:fld>
            <a:endParaRPr lang="es-E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2"/>
            </a:gs>
            <a:gs pos="100000">
              <a:schemeClr val="bg1"/>
            </a:gs>
          </a:gsLst>
          <a:lin ang="5400000" scaled="1"/>
        </a:gradFill>
        <a:effectLst/>
      </p:bgPr>
    </p:bg>
    <p:spTree>
      <p:nvGrpSpPr>
        <p:cNvPr id="1" name=""/>
        <p:cNvGrpSpPr/>
        <p:nvPr/>
      </p:nvGrpSpPr>
      <p:grpSpPr>
        <a:xfrm>
          <a:off x="0" y="0"/>
          <a:ext cx="0" cy="0"/>
          <a:chOff x="0" y="0"/>
          <a:chExt cx="0" cy="0"/>
        </a:xfrm>
      </p:grpSpPr>
      <p:grpSp>
        <p:nvGrpSpPr>
          <p:cNvPr id="114690" name="Group 2"/>
          <p:cNvGrpSpPr>
            <a:grpSpLocks/>
          </p:cNvGrpSpPr>
          <p:nvPr/>
        </p:nvGrpSpPr>
        <p:grpSpPr bwMode="auto">
          <a:xfrm>
            <a:off x="0" y="0"/>
            <a:ext cx="9144000" cy="6934200"/>
            <a:chOff x="0" y="0"/>
            <a:chExt cx="5760" cy="4368"/>
          </a:xfrm>
        </p:grpSpPr>
        <p:sp>
          <p:nvSpPr>
            <p:cNvPr id="114691" name="Freeform 3"/>
            <p:cNvSpPr>
              <a:spLocks/>
            </p:cNvSpPr>
            <p:nvPr/>
          </p:nvSpPr>
          <p:spPr bwMode="hidden">
            <a:xfrm>
              <a:off x="0" y="2208"/>
              <a:ext cx="2515" cy="1970"/>
            </a:xfrm>
            <a:custGeom>
              <a:avLst/>
              <a:gdLst/>
              <a:ahLst/>
              <a:cxnLst>
                <a:cxn ang="0">
                  <a:pos x="744" y="1669"/>
                </a:cxn>
                <a:cxn ang="0">
                  <a:pos x="852" y="1400"/>
                </a:cxn>
                <a:cxn ang="0">
                  <a:pos x="876" y="1171"/>
                </a:cxn>
                <a:cxn ang="0">
                  <a:pos x="979" y="1370"/>
                </a:cxn>
                <a:cxn ang="0">
                  <a:pos x="1231" y="1621"/>
                </a:cxn>
                <a:cxn ang="0">
                  <a:pos x="1471" y="1693"/>
                </a:cxn>
                <a:cxn ang="0">
                  <a:pos x="1819" y="1678"/>
                </a:cxn>
                <a:cxn ang="0">
                  <a:pos x="1893" y="1513"/>
                </a:cxn>
                <a:cxn ang="0">
                  <a:pos x="1874" y="1285"/>
                </a:cxn>
                <a:cxn ang="0">
                  <a:pos x="1783" y="967"/>
                </a:cxn>
                <a:cxn ang="0">
                  <a:pos x="1289" y="873"/>
                </a:cxn>
                <a:cxn ang="0">
                  <a:pos x="1549" y="745"/>
                </a:cxn>
                <a:cxn ang="0">
                  <a:pos x="1753" y="732"/>
                </a:cxn>
                <a:cxn ang="0">
                  <a:pos x="2107" y="618"/>
                </a:cxn>
                <a:cxn ang="0">
                  <a:pos x="2377" y="438"/>
                </a:cxn>
                <a:cxn ang="0">
                  <a:pos x="2420" y="343"/>
                </a:cxn>
                <a:cxn ang="0">
                  <a:pos x="2077" y="331"/>
                </a:cxn>
                <a:cxn ang="0">
                  <a:pos x="1951" y="301"/>
                </a:cxn>
                <a:cxn ang="0">
                  <a:pos x="1645" y="289"/>
                </a:cxn>
                <a:cxn ang="0">
                  <a:pos x="1297" y="408"/>
                </a:cxn>
                <a:cxn ang="0">
                  <a:pos x="1308" y="337"/>
                </a:cxn>
                <a:cxn ang="0">
                  <a:pos x="1453" y="168"/>
                </a:cxn>
                <a:cxn ang="0">
                  <a:pos x="1477" y="36"/>
                </a:cxn>
                <a:cxn ang="0">
                  <a:pos x="1417" y="24"/>
                </a:cxn>
                <a:cxn ang="0">
                  <a:pos x="1189" y="102"/>
                </a:cxn>
                <a:cxn ang="0">
                  <a:pos x="1026" y="144"/>
                </a:cxn>
                <a:cxn ang="0">
                  <a:pos x="889" y="331"/>
                </a:cxn>
                <a:cxn ang="0">
                  <a:pos x="726" y="480"/>
                </a:cxn>
                <a:cxn ang="0">
                  <a:pos x="643" y="540"/>
                </a:cxn>
                <a:cxn ang="0">
                  <a:pos x="600" y="516"/>
                </a:cxn>
                <a:cxn ang="0">
                  <a:pos x="552" y="486"/>
                </a:cxn>
                <a:cxn ang="0">
                  <a:pos x="528" y="462"/>
                </a:cxn>
                <a:cxn ang="0">
                  <a:pos x="474" y="426"/>
                </a:cxn>
                <a:cxn ang="0">
                  <a:pos x="415" y="390"/>
                </a:cxn>
                <a:cxn ang="0">
                  <a:pos x="366" y="366"/>
                </a:cxn>
                <a:cxn ang="0">
                  <a:pos x="192" y="234"/>
                </a:cxn>
                <a:cxn ang="0">
                  <a:pos x="570" y="564"/>
                </a:cxn>
                <a:cxn ang="0">
                  <a:pos x="444" y="732"/>
                </a:cxn>
                <a:cxn ang="0">
                  <a:pos x="318" y="787"/>
                </a:cxn>
                <a:cxn ang="0">
                  <a:pos x="127" y="853"/>
                </a:cxn>
                <a:cxn ang="0">
                  <a:pos x="0" y="1165"/>
                </a:cxn>
                <a:cxn ang="0">
                  <a:pos x="372" y="1015"/>
                </a:cxn>
                <a:cxn ang="0">
                  <a:pos x="222" y="1262"/>
                </a:cxn>
                <a:cxn ang="0">
                  <a:pos x="139" y="1459"/>
                </a:cxn>
                <a:cxn ang="0">
                  <a:pos x="102" y="1495"/>
                </a:cxn>
                <a:cxn ang="0">
                  <a:pos x="84" y="1519"/>
                </a:cxn>
                <a:cxn ang="0">
                  <a:pos x="96" y="1537"/>
                </a:cxn>
                <a:cxn ang="0">
                  <a:pos x="127" y="1567"/>
                </a:cxn>
                <a:cxn ang="0">
                  <a:pos x="145" y="1633"/>
                </a:cxn>
                <a:cxn ang="0">
                  <a:pos x="156" y="1693"/>
                </a:cxn>
                <a:cxn ang="0">
                  <a:pos x="162" y="1723"/>
                </a:cxn>
                <a:cxn ang="0">
                  <a:pos x="216" y="1802"/>
                </a:cxn>
                <a:cxn ang="0">
                  <a:pos x="228" y="1850"/>
                </a:cxn>
                <a:cxn ang="0">
                  <a:pos x="240" y="1904"/>
                </a:cxn>
                <a:cxn ang="0">
                  <a:pos x="246" y="1922"/>
                </a:cxn>
                <a:cxn ang="0">
                  <a:pos x="258" y="1970"/>
                </a:cxn>
                <a:cxn ang="0">
                  <a:pos x="462" y="1922"/>
                </a:cxn>
                <a:cxn ang="0">
                  <a:pos x="624" y="1778"/>
                </a:cxn>
              </a:cxnLst>
              <a:rect l="0" t="0" r="r" b="b"/>
              <a:pathLst>
                <a:path w="2515" h="1970">
                  <a:moveTo>
                    <a:pt x="624" y="1778"/>
                  </a:moveTo>
                  <a:lnTo>
                    <a:pt x="744" y="1669"/>
                  </a:lnTo>
                  <a:lnTo>
                    <a:pt x="834" y="1627"/>
                  </a:lnTo>
                  <a:lnTo>
                    <a:pt x="852" y="1400"/>
                  </a:lnTo>
                  <a:lnTo>
                    <a:pt x="834" y="1225"/>
                  </a:lnTo>
                  <a:lnTo>
                    <a:pt x="876" y="1171"/>
                  </a:lnTo>
                  <a:lnTo>
                    <a:pt x="901" y="1268"/>
                  </a:lnTo>
                  <a:lnTo>
                    <a:pt x="979" y="1370"/>
                  </a:lnTo>
                  <a:lnTo>
                    <a:pt x="1116" y="1519"/>
                  </a:lnTo>
                  <a:lnTo>
                    <a:pt x="1231" y="1621"/>
                  </a:lnTo>
                  <a:lnTo>
                    <a:pt x="1353" y="1632"/>
                  </a:lnTo>
                  <a:lnTo>
                    <a:pt x="1471" y="1693"/>
                  </a:lnTo>
                  <a:lnTo>
                    <a:pt x="1664" y="1659"/>
                  </a:lnTo>
                  <a:lnTo>
                    <a:pt x="1819" y="1678"/>
                  </a:lnTo>
                  <a:lnTo>
                    <a:pt x="1975" y="1632"/>
                  </a:lnTo>
                  <a:lnTo>
                    <a:pt x="1893" y="1513"/>
                  </a:lnTo>
                  <a:lnTo>
                    <a:pt x="1920" y="1385"/>
                  </a:lnTo>
                  <a:lnTo>
                    <a:pt x="1874" y="1285"/>
                  </a:lnTo>
                  <a:lnTo>
                    <a:pt x="1865" y="1129"/>
                  </a:lnTo>
                  <a:lnTo>
                    <a:pt x="1783" y="967"/>
                  </a:lnTo>
                  <a:lnTo>
                    <a:pt x="1527" y="891"/>
                  </a:lnTo>
                  <a:lnTo>
                    <a:pt x="1289" y="873"/>
                  </a:lnTo>
                  <a:lnTo>
                    <a:pt x="1393" y="781"/>
                  </a:lnTo>
                  <a:lnTo>
                    <a:pt x="1549" y="745"/>
                  </a:lnTo>
                  <a:lnTo>
                    <a:pt x="1620" y="738"/>
                  </a:lnTo>
                  <a:lnTo>
                    <a:pt x="1753" y="732"/>
                  </a:lnTo>
                  <a:lnTo>
                    <a:pt x="1933" y="720"/>
                  </a:lnTo>
                  <a:lnTo>
                    <a:pt x="2107" y="618"/>
                  </a:lnTo>
                  <a:lnTo>
                    <a:pt x="2227" y="516"/>
                  </a:lnTo>
                  <a:lnTo>
                    <a:pt x="2377" y="438"/>
                  </a:lnTo>
                  <a:lnTo>
                    <a:pt x="2515" y="337"/>
                  </a:lnTo>
                  <a:lnTo>
                    <a:pt x="2420" y="343"/>
                  </a:lnTo>
                  <a:lnTo>
                    <a:pt x="2191" y="343"/>
                  </a:lnTo>
                  <a:lnTo>
                    <a:pt x="2077" y="331"/>
                  </a:lnTo>
                  <a:lnTo>
                    <a:pt x="2053" y="301"/>
                  </a:lnTo>
                  <a:lnTo>
                    <a:pt x="1951" y="301"/>
                  </a:lnTo>
                  <a:lnTo>
                    <a:pt x="1795" y="259"/>
                  </a:lnTo>
                  <a:lnTo>
                    <a:pt x="1645" y="289"/>
                  </a:lnTo>
                  <a:lnTo>
                    <a:pt x="1447" y="372"/>
                  </a:lnTo>
                  <a:lnTo>
                    <a:pt x="1297" y="408"/>
                  </a:lnTo>
                  <a:lnTo>
                    <a:pt x="1153" y="414"/>
                  </a:lnTo>
                  <a:lnTo>
                    <a:pt x="1308" y="337"/>
                  </a:lnTo>
                  <a:lnTo>
                    <a:pt x="1465" y="198"/>
                  </a:lnTo>
                  <a:lnTo>
                    <a:pt x="1453" y="168"/>
                  </a:lnTo>
                  <a:lnTo>
                    <a:pt x="1465" y="102"/>
                  </a:lnTo>
                  <a:lnTo>
                    <a:pt x="1477" y="36"/>
                  </a:lnTo>
                  <a:lnTo>
                    <a:pt x="1453" y="0"/>
                  </a:lnTo>
                  <a:lnTo>
                    <a:pt x="1417" y="24"/>
                  </a:lnTo>
                  <a:lnTo>
                    <a:pt x="1356" y="42"/>
                  </a:lnTo>
                  <a:lnTo>
                    <a:pt x="1189" y="102"/>
                  </a:lnTo>
                  <a:lnTo>
                    <a:pt x="1098" y="144"/>
                  </a:lnTo>
                  <a:lnTo>
                    <a:pt x="1026" y="144"/>
                  </a:lnTo>
                  <a:lnTo>
                    <a:pt x="991" y="168"/>
                  </a:lnTo>
                  <a:lnTo>
                    <a:pt x="889" y="331"/>
                  </a:lnTo>
                  <a:lnTo>
                    <a:pt x="852" y="408"/>
                  </a:lnTo>
                  <a:lnTo>
                    <a:pt x="726" y="480"/>
                  </a:lnTo>
                  <a:lnTo>
                    <a:pt x="649" y="540"/>
                  </a:lnTo>
                  <a:lnTo>
                    <a:pt x="643" y="540"/>
                  </a:lnTo>
                  <a:lnTo>
                    <a:pt x="637" y="534"/>
                  </a:lnTo>
                  <a:lnTo>
                    <a:pt x="600" y="516"/>
                  </a:lnTo>
                  <a:lnTo>
                    <a:pt x="564" y="492"/>
                  </a:lnTo>
                  <a:lnTo>
                    <a:pt x="552" y="486"/>
                  </a:lnTo>
                  <a:lnTo>
                    <a:pt x="540" y="474"/>
                  </a:lnTo>
                  <a:lnTo>
                    <a:pt x="528" y="462"/>
                  </a:lnTo>
                  <a:lnTo>
                    <a:pt x="504" y="444"/>
                  </a:lnTo>
                  <a:lnTo>
                    <a:pt x="474" y="426"/>
                  </a:lnTo>
                  <a:lnTo>
                    <a:pt x="444" y="408"/>
                  </a:lnTo>
                  <a:lnTo>
                    <a:pt x="415" y="390"/>
                  </a:lnTo>
                  <a:lnTo>
                    <a:pt x="385" y="372"/>
                  </a:lnTo>
                  <a:lnTo>
                    <a:pt x="366" y="366"/>
                  </a:lnTo>
                  <a:lnTo>
                    <a:pt x="360" y="360"/>
                  </a:lnTo>
                  <a:lnTo>
                    <a:pt x="192" y="234"/>
                  </a:lnTo>
                  <a:lnTo>
                    <a:pt x="210" y="307"/>
                  </a:lnTo>
                  <a:lnTo>
                    <a:pt x="570" y="564"/>
                  </a:lnTo>
                  <a:lnTo>
                    <a:pt x="558" y="618"/>
                  </a:lnTo>
                  <a:lnTo>
                    <a:pt x="444" y="732"/>
                  </a:lnTo>
                  <a:lnTo>
                    <a:pt x="324" y="787"/>
                  </a:lnTo>
                  <a:lnTo>
                    <a:pt x="318" y="787"/>
                  </a:lnTo>
                  <a:lnTo>
                    <a:pt x="258" y="811"/>
                  </a:lnTo>
                  <a:lnTo>
                    <a:pt x="127" y="853"/>
                  </a:lnTo>
                  <a:lnTo>
                    <a:pt x="0" y="901"/>
                  </a:lnTo>
                  <a:lnTo>
                    <a:pt x="0" y="1165"/>
                  </a:lnTo>
                  <a:lnTo>
                    <a:pt x="78" y="1147"/>
                  </a:lnTo>
                  <a:lnTo>
                    <a:pt x="372" y="1015"/>
                  </a:lnTo>
                  <a:lnTo>
                    <a:pt x="336" y="1117"/>
                  </a:lnTo>
                  <a:lnTo>
                    <a:pt x="222" y="1262"/>
                  </a:lnTo>
                  <a:lnTo>
                    <a:pt x="145" y="1453"/>
                  </a:lnTo>
                  <a:lnTo>
                    <a:pt x="139" y="1459"/>
                  </a:lnTo>
                  <a:lnTo>
                    <a:pt x="133" y="1465"/>
                  </a:lnTo>
                  <a:lnTo>
                    <a:pt x="102" y="1495"/>
                  </a:lnTo>
                  <a:lnTo>
                    <a:pt x="90" y="1507"/>
                  </a:lnTo>
                  <a:lnTo>
                    <a:pt x="84" y="1519"/>
                  </a:lnTo>
                  <a:lnTo>
                    <a:pt x="84" y="1531"/>
                  </a:lnTo>
                  <a:lnTo>
                    <a:pt x="96" y="1537"/>
                  </a:lnTo>
                  <a:lnTo>
                    <a:pt x="114" y="1549"/>
                  </a:lnTo>
                  <a:lnTo>
                    <a:pt x="127" y="1567"/>
                  </a:lnTo>
                  <a:lnTo>
                    <a:pt x="139" y="1597"/>
                  </a:lnTo>
                  <a:lnTo>
                    <a:pt x="145" y="1633"/>
                  </a:lnTo>
                  <a:lnTo>
                    <a:pt x="150" y="1663"/>
                  </a:lnTo>
                  <a:lnTo>
                    <a:pt x="156" y="1693"/>
                  </a:lnTo>
                  <a:lnTo>
                    <a:pt x="162" y="1717"/>
                  </a:lnTo>
                  <a:lnTo>
                    <a:pt x="162" y="1723"/>
                  </a:lnTo>
                  <a:lnTo>
                    <a:pt x="216" y="1796"/>
                  </a:lnTo>
                  <a:lnTo>
                    <a:pt x="216" y="1802"/>
                  </a:lnTo>
                  <a:lnTo>
                    <a:pt x="222" y="1814"/>
                  </a:lnTo>
                  <a:lnTo>
                    <a:pt x="228" y="1850"/>
                  </a:lnTo>
                  <a:lnTo>
                    <a:pt x="234" y="1886"/>
                  </a:lnTo>
                  <a:lnTo>
                    <a:pt x="240" y="1904"/>
                  </a:lnTo>
                  <a:lnTo>
                    <a:pt x="240" y="1916"/>
                  </a:lnTo>
                  <a:lnTo>
                    <a:pt x="246" y="1922"/>
                  </a:lnTo>
                  <a:lnTo>
                    <a:pt x="252" y="1934"/>
                  </a:lnTo>
                  <a:lnTo>
                    <a:pt x="258" y="1970"/>
                  </a:lnTo>
                  <a:lnTo>
                    <a:pt x="438" y="1970"/>
                  </a:lnTo>
                  <a:lnTo>
                    <a:pt x="462" y="1922"/>
                  </a:lnTo>
                  <a:lnTo>
                    <a:pt x="624" y="1778"/>
                  </a:lnTo>
                  <a:lnTo>
                    <a:pt x="624" y="1778"/>
                  </a:lnTo>
                  <a:close/>
                </a:path>
              </a:pathLst>
            </a:custGeom>
            <a:gradFill rotWithShape="0">
              <a:gsLst>
                <a:gs pos="0">
                  <a:schemeClr val="bg2"/>
                </a:gs>
                <a:gs pos="50000">
                  <a:schemeClr val="bg1"/>
                </a:gs>
                <a:gs pos="100000">
                  <a:schemeClr val="bg2"/>
                </a:gs>
              </a:gsLst>
              <a:lin ang="2700000" scaled="1"/>
            </a:gradFill>
            <a:ln w="9525">
              <a:noFill/>
              <a:round/>
              <a:headEnd/>
              <a:tailEnd/>
            </a:ln>
          </p:spPr>
          <p:txBody>
            <a:bodyPr/>
            <a:lstStyle/>
            <a:p>
              <a:endParaRPr lang="es-BO"/>
            </a:p>
          </p:txBody>
        </p:sp>
        <p:sp>
          <p:nvSpPr>
            <p:cNvPr id="114692" name="Freeform 4"/>
            <p:cNvSpPr>
              <a:spLocks/>
            </p:cNvSpPr>
            <p:nvPr/>
          </p:nvSpPr>
          <p:spPr bwMode="hidden">
            <a:xfrm>
              <a:off x="0" y="2496"/>
              <a:ext cx="2112" cy="1604"/>
            </a:xfrm>
            <a:custGeom>
              <a:avLst/>
              <a:gdLst/>
              <a:ahLst/>
              <a:cxnLst>
                <a:cxn ang="0">
                  <a:pos x="580" y="1043"/>
                </a:cxn>
                <a:cxn ang="0">
                  <a:pos x="544" y="683"/>
                </a:cxn>
                <a:cxn ang="0">
                  <a:pos x="670" y="395"/>
                </a:cxn>
                <a:cxn ang="0">
                  <a:pos x="927" y="587"/>
                </a:cxn>
                <a:cxn ang="0">
                  <a:pos x="1214" y="869"/>
                </a:cxn>
                <a:cxn ang="0">
                  <a:pos x="1483" y="1109"/>
                </a:cxn>
                <a:cxn ang="0">
                  <a:pos x="1800" y="1360"/>
                </a:cxn>
                <a:cxn ang="0">
                  <a:pos x="1883" y="1414"/>
                </a:cxn>
                <a:cxn ang="0">
                  <a:pos x="1836" y="1354"/>
                </a:cxn>
                <a:cxn ang="0">
                  <a:pos x="1411" y="1001"/>
                </a:cxn>
                <a:cxn ang="0">
                  <a:pos x="1088" y="683"/>
                </a:cxn>
                <a:cxn ang="0">
                  <a:pos x="723" y="329"/>
                </a:cxn>
                <a:cxn ang="0">
                  <a:pos x="999" y="311"/>
                </a:cxn>
                <a:cxn ang="0">
                  <a:pos x="1286" y="317"/>
                </a:cxn>
                <a:cxn ang="0">
                  <a:pos x="1614" y="269"/>
                </a:cxn>
                <a:cxn ang="0">
                  <a:pos x="2123" y="197"/>
                </a:cxn>
                <a:cxn ang="0">
                  <a:pos x="2075" y="173"/>
                </a:cxn>
                <a:cxn ang="0">
                  <a:pos x="1543" y="257"/>
                </a:cxn>
                <a:cxn ang="0">
                  <a:pos x="1208" y="275"/>
                </a:cxn>
                <a:cxn ang="0">
                  <a:pos x="759" y="257"/>
                </a:cxn>
                <a:cxn ang="0">
                  <a:pos x="819" y="227"/>
                </a:cxn>
                <a:cxn ang="0">
                  <a:pos x="1142" y="0"/>
                </a:cxn>
                <a:cxn ang="0">
                  <a:pos x="1088" y="30"/>
                </a:cxn>
                <a:cxn ang="0">
                  <a:pos x="1010" y="84"/>
                </a:cxn>
                <a:cxn ang="0">
                  <a:pos x="855" y="191"/>
                </a:cxn>
                <a:cxn ang="0">
                  <a:pos x="670" y="281"/>
                </a:cxn>
                <a:cxn ang="0">
                  <a:pos x="634" y="359"/>
                </a:cxn>
                <a:cxn ang="0">
                  <a:pos x="305" y="587"/>
                </a:cxn>
                <a:cxn ang="0">
                  <a:pos x="0" y="725"/>
                </a:cxn>
                <a:cxn ang="0">
                  <a:pos x="0" y="731"/>
                </a:cxn>
                <a:cxn ang="0">
                  <a:pos x="0" y="767"/>
                </a:cxn>
                <a:cxn ang="0">
                  <a:pos x="299" y="635"/>
                </a:cxn>
                <a:cxn ang="0">
                  <a:pos x="592" y="431"/>
                </a:cxn>
                <a:cxn ang="0">
                  <a:pos x="508" y="671"/>
                </a:cxn>
                <a:cxn ang="0">
                  <a:pos x="526" y="995"/>
                </a:cxn>
                <a:cxn ang="0">
                  <a:pos x="460" y="1168"/>
                </a:cxn>
                <a:cxn ang="0">
                  <a:pos x="329" y="1480"/>
                </a:cxn>
                <a:cxn ang="0">
                  <a:pos x="323" y="1696"/>
                </a:cxn>
                <a:cxn ang="0">
                  <a:pos x="329" y="1696"/>
                </a:cxn>
                <a:cxn ang="0">
                  <a:pos x="347" y="1552"/>
                </a:cxn>
                <a:cxn ang="0">
                  <a:pos x="580" y="1043"/>
                </a:cxn>
                <a:cxn ang="0">
                  <a:pos x="580" y="1043"/>
                </a:cxn>
              </a:cxnLst>
              <a:rect l="0" t="0" r="r" b="b"/>
              <a:pathLst>
                <a:path w="2123" h="1696">
                  <a:moveTo>
                    <a:pt x="580" y="1043"/>
                  </a:moveTo>
                  <a:lnTo>
                    <a:pt x="544" y="683"/>
                  </a:lnTo>
                  <a:lnTo>
                    <a:pt x="670" y="395"/>
                  </a:lnTo>
                  <a:lnTo>
                    <a:pt x="927" y="587"/>
                  </a:lnTo>
                  <a:lnTo>
                    <a:pt x="1214" y="869"/>
                  </a:lnTo>
                  <a:lnTo>
                    <a:pt x="1483" y="1109"/>
                  </a:lnTo>
                  <a:lnTo>
                    <a:pt x="1800" y="1360"/>
                  </a:lnTo>
                  <a:lnTo>
                    <a:pt x="1883" y="1414"/>
                  </a:lnTo>
                  <a:lnTo>
                    <a:pt x="1836" y="1354"/>
                  </a:lnTo>
                  <a:lnTo>
                    <a:pt x="1411" y="1001"/>
                  </a:lnTo>
                  <a:lnTo>
                    <a:pt x="1088" y="683"/>
                  </a:lnTo>
                  <a:lnTo>
                    <a:pt x="723" y="329"/>
                  </a:lnTo>
                  <a:lnTo>
                    <a:pt x="999" y="311"/>
                  </a:lnTo>
                  <a:lnTo>
                    <a:pt x="1286" y="317"/>
                  </a:lnTo>
                  <a:lnTo>
                    <a:pt x="1614" y="269"/>
                  </a:lnTo>
                  <a:lnTo>
                    <a:pt x="2123" y="197"/>
                  </a:lnTo>
                  <a:lnTo>
                    <a:pt x="2075" y="173"/>
                  </a:lnTo>
                  <a:lnTo>
                    <a:pt x="1543" y="257"/>
                  </a:lnTo>
                  <a:lnTo>
                    <a:pt x="1208" y="275"/>
                  </a:lnTo>
                  <a:lnTo>
                    <a:pt x="759" y="257"/>
                  </a:lnTo>
                  <a:lnTo>
                    <a:pt x="819" y="227"/>
                  </a:lnTo>
                  <a:lnTo>
                    <a:pt x="1142" y="0"/>
                  </a:lnTo>
                  <a:lnTo>
                    <a:pt x="1088" y="30"/>
                  </a:lnTo>
                  <a:lnTo>
                    <a:pt x="1010" y="84"/>
                  </a:lnTo>
                  <a:lnTo>
                    <a:pt x="855" y="191"/>
                  </a:lnTo>
                  <a:lnTo>
                    <a:pt x="670" y="281"/>
                  </a:lnTo>
                  <a:lnTo>
                    <a:pt x="634" y="359"/>
                  </a:lnTo>
                  <a:lnTo>
                    <a:pt x="305" y="587"/>
                  </a:lnTo>
                  <a:lnTo>
                    <a:pt x="0" y="725"/>
                  </a:lnTo>
                  <a:lnTo>
                    <a:pt x="0" y="731"/>
                  </a:lnTo>
                  <a:lnTo>
                    <a:pt x="0" y="767"/>
                  </a:lnTo>
                  <a:lnTo>
                    <a:pt x="299" y="635"/>
                  </a:lnTo>
                  <a:lnTo>
                    <a:pt x="592" y="431"/>
                  </a:lnTo>
                  <a:lnTo>
                    <a:pt x="508" y="671"/>
                  </a:lnTo>
                  <a:lnTo>
                    <a:pt x="526" y="995"/>
                  </a:lnTo>
                  <a:lnTo>
                    <a:pt x="460" y="1168"/>
                  </a:lnTo>
                  <a:lnTo>
                    <a:pt x="329" y="1480"/>
                  </a:lnTo>
                  <a:lnTo>
                    <a:pt x="323" y="1696"/>
                  </a:lnTo>
                  <a:lnTo>
                    <a:pt x="329" y="1696"/>
                  </a:lnTo>
                  <a:lnTo>
                    <a:pt x="347" y="1552"/>
                  </a:lnTo>
                  <a:lnTo>
                    <a:pt x="580" y="1043"/>
                  </a:lnTo>
                  <a:lnTo>
                    <a:pt x="580" y="1043"/>
                  </a:lnTo>
                  <a:close/>
                </a:path>
              </a:pathLst>
            </a:custGeom>
            <a:gradFill rotWithShape="0">
              <a:gsLst>
                <a:gs pos="0">
                  <a:schemeClr val="accent2"/>
                </a:gs>
                <a:gs pos="100000">
                  <a:schemeClr val="bg1"/>
                </a:gs>
              </a:gsLst>
              <a:lin ang="5400000" scaled="1"/>
            </a:gradFill>
            <a:ln w="9525">
              <a:noFill/>
              <a:round/>
              <a:headEnd/>
              <a:tailEnd/>
            </a:ln>
          </p:spPr>
          <p:txBody>
            <a:bodyPr/>
            <a:lstStyle/>
            <a:p>
              <a:endParaRPr lang="es-BO"/>
            </a:p>
          </p:txBody>
        </p:sp>
        <p:sp>
          <p:nvSpPr>
            <p:cNvPr id="114693" name="Freeform 5"/>
            <p:cNvSpPr>
              <a:spLocks/>
            </p:cNvSpPr>
            <p:nvPr/>
          </p:nvSpPr>
          <p:spPr bwMode="hidden">
            <a:xfrm>
              <a:off x="2092" y="3233"/>
              <a:ext cx="3668" cy="943"/>
            </a:xfrm>
            <a:custGeom>
              <a:avLst/>
              <a:gdLst/>
              <a:ahLst/>
              <a:cxnLst>
                <a:cxn ang="0">
                  <a:pos x="3338" y="288"/>
                </a:cxn>
                <a:cxn ang="0">
                  <a:pos x="3194" y="258"/>
                </a:cxn>
                <a:cxn ang="0">
                  <a:pos x="2816" y="234"/>
                </a:cxn>
                <a:cxn ang="0">
                  <a:pos x="2330" y="306"/>
                </a:cxn>
                <a:cxn ang="0">
                  <a:pos x="2372" y="258"/>
                </a:cxn>
                <a:cxn ang="0">
                  <a:pos x="2624" y="132"/>
                </a:cxn>
                <a:cxn ang="0">
                  <a:pos x="2707" y="24"/>
                </a:cxn>
                <a:cxn ang="0">
                  <a:pos x="2642" y="12"/>
                </a:cxn>
                <a:cxn ang="0">
                  <a:pos x="2515" y="54"/>
                </a:cxn>
                <a:cxn ang="0">
                  <a:pos x="2324" y="66"/>
                </a:cxn>
                <a:cxn ang="0">
                  <a:pos x="2101" y="90"/>
                </a:cxn>
                <a:cxn ang="0">
                  <a:pos x="1855" y="228"/>
                </a:cxn>
                <a:cxn ang="0">
                  <a:pos x="1591" y="337"/>
                </a:cxn>
                <a:cxn ang="0">
                  <a:pos x="1459" y="379"/>
                </a:cxn>
                <a:cxn ang="0">
                  <a:pos x="1417" y="361"/>
                </a:cxn>
                <a:cxn ang="0">
                  <a:pos x="1363" y="331"/>
                </a:cxn>
                <a:cxn ang="0">
                  <a:pos x="1344" y="312"/>
                </a:cxn>
                <a:cxn ang="0">
                  <a:pos x="1290" y="288"/>
                </a:cxn>
                <a:cxn ang="0">
                  <a:pos x="1230" y="252"/>
                </a:cxn>
                <a:cxn ang="0">
                  <a:pos x="1119" y="227"/>
                </a:cxn>
                <a:cxn ang="0">
                  <a:pos x="1320" y="438"/>
                </a:cxn>
                <a:cxn ang="0">
                  <a:pos x="960" y="558"/>
                </a:cxn>
                <a:cxn ang="0">
                  <a:pos x="474" y="630"/>
                </a:cxn>
                <a:cxn ang="0">
                  <a:pos x="132" y="781"/>
                </a:cxn>
                <a:cxn ang="0">
                  <a:pos x="234" y="847"/>
                </a:cxn>
                <a:cxn ang="0">
                  <a:pos x="925" y="739"/>
                </a:cxn>
                <a:cxn ang="0">
                  <a:pos x="637" y="925"/>
                </a:cxn>
                <a:cxn ang="0">
                  <a:pos x="1405" y="943"/>
                </a:cxn>
                <a:cxn ang="0">
                  <a:pos x="1447" y="943"/>
                </a:cxn>
                <a:cxn ang="0">
                  <a:pos x="2888" y="859"/>
                </a:cxn>
                <a:cxn ang="0">
                  <a:pos x="2582" y="708"/>
                </a:cxn>
                <a:cxn ang="0">
                  <a:pos x="2299" y="606"/>
                </a:cxn>
                <a:cxn ang="0">
                  <a:pos x="2606" y="588"/>
                </a:cxn>
                <a:cxn ang="0">
                  <a:pos x="3001" y="582"/>
                </a:cxn>
                <a:cxn ang="0">
                  <a:pos x="3452" y="438"/>
                </a:cxn>
                <a:cxn ang="0">
                  <a:pos x="3668" y="312"/>
                </a:cxn>
                <a:cxn ang="0">
                  <a:pos x="3482" y="300"/>
                </a:cxn>
              </a:cxnLst>
              <a:rect l="0" t="0" r="r" b="b"/>
              <a:pathLst>
                <a:path w="3668" h="943">
                  <a:moveTo>
                    <a:pt x="3482" y="300"/>
                  </a:moveTo>
                  <a:lnTo>
                    <a:pt x="3338" y="288"/>
                  </a:lnTo>
                  <a:lnTo>
                    <a:pt x="3320" y="264"/>
                  </a:lnTo>
                  <a:lnTo>
                    <a:pt x="3194" y="258"/>
                  </a:lnTo>
                  <a:lnTo>
                    <a:pt x="3019" y="216"/>
                  </a:lnTo>
                  <a:lnTo>
                    <a:pt x="2816" y="234"/>
                  </a:lnTo>
                  <a:lnTo>
                    <a:pt x="2533" y="288"/>
                  </a:lnTo>
                  <a:lnTo>
                    <a:pt x="2330" y="306"/>
                  </a:lnTo>
                  <a:lnTo>
                    <a:pt x="2149" y="312"/>
                  </a:lnTo>
                  <a:lnTo>
                    <a:pt x="2372" y="258"/>
                  </a:lnTo>
                  <a:lnTo>
                    <a:pt x="2624" y="156"/>
                  </a:lnTo>
                  <a:lnTo>
                    <a:pt x="2624" y="132"/>
                  </a:lnTo>
                  <a:lnTo>
                    <a:pt x="2666" y="78"/>
                  </a:lnTo>
                  <a:lnTo>
                    <a:pt x="2707" y="24"/>
                  </a:lnTo>
                  <a:lnTo>
                    <a:pt x="2695" y="0"/>
                  </a:lnTo>
                  <a:lnTo>
                    <a:pt x="2642" y="12"/>
                  </a:lnTo>
                  <a:lnTo>
                    <a:pt x="2557" y="30"/>
                  </a:lnTo>
                  <a:lnTo>
                    <a:pt x="2515" y="54"/>
                  </a:lnTo>
                  <a:lnTo>
                    <a:pt x="2425" y="84"/>
                  </a:lnTo>
                  <a:lnTo>
                    <a:pt x="2324" y="66"/>
                  </a:lnTo>
                  <a:lnTo>
                    <a:pt x="2191" y="90"/>
                  </a:lnTo>
                  <a:lnTo>
                    <a:pt x="2101" y="90"/>
                  </a:lnTo>
                  <a:lnTo>
                    <a:pt x="2047" y="108"/>
                  </a:lnTo>
                  <a:lnTo>
                    <a:pt x="1855" y="228"/>
                  </a:lnTo>
                  <a:lnTo>
                    <a:pt x="1771" y="288"/>
                  </a:lnTo>
                  <a:lnTo>
                    <a:pt x="1591" y="337"/>
                  </a:lnTo>
                  <a:lnTo>
                    <a:pt x="1465" y="379"/>
                  </a:lnTo>
                  <a:lnTo>
                    <a:pt x="1459" y="379"/>
                  </a:lnTo>
                  <a:lnTo>
                    <a:pt x="1453" y="373"/>
                  </a:lnTo>
                  <a:lnTo>
                    <a:pt x="1417" y="361"/>
                  </a:lnTo>
                  <a:lnTo>
                    <a:pt x="1381" y="343"/>
                  </a:lnTo>
                  <a:lnTo>
                    <a:pt x="1363" y="331"/>
                  </a:lnTo>
                  <a:lnTo>
                    <a:pt x="1357" y="324"/>
                  </a:lnTo>
                  <a:lnTo>
                    <a:pt x="1344" y="312"/>
                  </a:lnTo>
                  <a:lnTo>
                    <a:pt x="1320" y="300"/>
                  </a:lnTo>
                  <a:lnTo>
                    <a:pt x="1290" y="288"/>
                  </a:lnTo>
                  <a:lnTo>
                    <a:pt x="1260" y="270"/>
                  </a:lnTo>
                  <a:lnTo>
                    <a:pt x="1230" y="252"/>
                  </a:lnTo>
                  <a:lnTo>
                    <a:pt x="1187" y="227"/>
                  </a:lnTo>
                  <a:lnTo>
                    <a:pt x="1119" y="227"/>
                  </a:lnTo>
                  <a:lnTo>
                    <a:pt x="1357" y="397"/>
                  </a:lnTo>
                  <a:lnTo>
                    <a:pt x="1320" y="438"/>
                  </a:lnTo>
                  <a:lnTo>
                    <a:pt x="1135" y="522"/>
                  </a:lnTo>
                  <a:lnTo>
                    <a:pt x="960" y="558"/>
                  </a:lnTo>
                  <a:lnTo>
                    <a:pt x="684" y="600"/>
                  </a:lnTo>
                  <a:lnTo>
                    <a:pt x="474" y="630"/>
                  </a:lnTo>
                  <a:lnTo>
                    <a:pt x="390" y="684"/>
                  </a:lnTo>
                  <a:lnTo>
                    <a:pt x="132" y="781"/>
                  </a:lnTo>
                  <a:lnTo>
                    <a:pt x="0" y="829"/>
                  </a:lnTo>
                  <a:lnTo>
                    <a:pt x="234" y="847"/>
                  </a:lnTo>
                  <a:lnTo>
                    <a:pt x="498" y="829"/>
                  </a:lnTo>
                  <a:lnTo>
                    <a:pt x="925" y="739"/>
                  </a:lnTo>
                  <a:lnTo>
                    <a:pt x="840" y="817"/>
                  </a:lnTo>
                  <a:lnTo>
                    <a:pt x="637" y="925"/>
                  </a:lnTo>
                  <a:lnTo>
                    <a:pt x="613" y="943"/>
                  </a:lnTo>
                  <a:lnTo>
                    <a:pt x="1405" y="943"/>
                  </a:lnTo>
                  <a:lnTo>
                    <a:pt x="1411" y="925"/>
                  </a:lnTo>
                  <a:lnTo>
                    <a:pt x="1447" y="943"/>
                  </a:lnTo>
                  <a:lnTo>
                    <a:pt x="2924" y="943"/>
                  </a:lnTo>
                  <a:lnTo>
                    <a:pt x="2888" y="859"/>
                  </a:lnTo>
                  <a:lnTo>
                    <a:pt x="2713" y="775"/>
                  </a:lnTo>
                  <a:lnTo>
                    <a:pt x="2582" y="708"/>
                  </a:lnTo>
                  <a:lnTo>
                    <a:pt x="2336" y="636"/>
                  </a:lnTo>
                  <a:lnTo>
                    <a:pt x="2299" y="606"/>
                  </a:lnTo>
                  <a:lnTo>
                    <a:pt x="2509" y="582"/>
                  </a:lnTo>
                  <a:lnTo>
                    <a:pt x="2606" y="588"/>
                  </a:lnTo>
                  <a:lnTo>
                    <a:pt x="2773" y="588"/>
                  </a:lnTo>
                  <a:lnTo>
                    <a:pt x="3001" y="582"/>
                  </a:lnTo>
                  <a:lnTo>
                    <a:pt x="3259" y="516"/>
                  </a:lnTo>
                  <a:lnTo>
                    <a:pt x="3452" y="438"/>
                  </a:lnTo>
                  <a:lnTo>
                    <a:pt x="3668" y="391"/>
                  </a:lnTo>
                  <a:lnTo>
                    <a:pt x="3668" y="312"/>
                  </a:lnTo>
                  <a:lnTo>
                    <a:pt x="3482" y="300"/>
                  </a:lnTo>
                  <a:lnTo>
                    <a:pt x="3482" y="300"/>
                  </a:lnTo>
                  <a:close/>
                </a:path>
              </a:pathLst>
            </a:custGeom>
            <a:gradFill rotWithShape="0">
              <a:gsLst>
                <a:gs pos="0">
                  <a:schemeClr val="bg2"/>
                </a:gs>
                <a:gs pos="100000">
                  <a:schemeClr val="bg1"/>
                </a:gs>
              </a:gsLst>
              <a:lin ang="5400000" scaled="1"/>
            </a:gradFill>
            <a:ln w="9525">
              <a:noFill/>
              <a:round/>
              <a:headEnd/>
              <a:tailEnd/>
            </a:ln>
          </p:spPr>
          <p:txBody>
            <a:bodyPr/>
            <a:lstStyle/>
            <a:p>
              <a:endParaRPr lang="es-BO"/>
            </a:p>
          </p:txBody>
        </p:sp>
        <p:sp>
          <p:nvSpPr>
            <p:cNvPr id="114694" name="Freeform 6"/>
            <p:cNvSpPr>
              <a:spLocks/>
            </p:cNvSpPr>
            <p:nvPr/>
          </p:nvSpPr>
          <p:spPr bwMode="hidden">
            <a:xfrm>
              <a:off x="0" y="524"/>
              <a:ext cx="973" cy="1195"/>
            </a:xfrm>
            <a:custGeom>
              <a:avLst/>
              <a:gdLst/>
              <a:ahLst/>
              <a:cxnLst>
                <a:cxn ang="0">
                  <a:pos x="323" y="1186"/>
                </a:cxn>
                <a:cxn ang="0">
                  <a:pos x="490" y="1192"/>
                </a:cxn>
                <a:cxn ang="0">
                  <a:pos x="580" y="1150"/>
                </a:cxn>
                <a:cxn ang="0">
                  <a:pos x="813" y="1085"/>
                </a:cxn>
                <a:cxn ang="0">
                  <a:pos x="933" y="1055"/>
                </a:cxn>
                <a:cxn ang="0">
                  <a:pos x="759" y="989"/>
                </a:cxn>
                <a:cxn ang="0">
                  <a:pos x="556" y="953"/>
                </a:cxn>
                <a:cxn ang="0">
                  <a:pos x="197" y="971"/>
                </a:cxn>
                <a:cxn ang="0">
                  <a:pos x="299" y="893"/>
                </a:cxn>
                <a:cxn ang="0">
                  <a:pos x="496" y="803"/>
                </a:cxn>
                <a:cxn ang="0">
                  <a:pos x="694" y="671"/>
                </a:cxn>
                <a:cxn ang="0">
                  <a:pos x="700" y="671"/>
                </a:cxn>
                <a:cxn ang="0">
                  <a:pos x="712" y="665"/>
                </a:cxn>
                <a:cxn ang="0">
                  <a:pos x="753" y="647"/>
                </a:cxn>
                <a:cxn ang="0">
                  <a:pos x="777" y="641"/>
                </a:cxn>
                <a:cxn ang="0">
                  <a:pos x="789" y="629"/>
                </a:cxn>
                <a:cxn ang="0">
                  <a:pos x="795" y="617"/>
                </a:cxn>
                <a:cxn ang="0">
                  <a:pos x="789" y="611"/>
                </a:cxn>
                <a:cxn ang="0">
                  <a:pos x="783" y="599"/>
                </a:cxn>
                <a:cxn ang="0">
                  <a:pos x="783" y="575"/>
                </a:cxn>
                <a:cxn ang="0">
                  <a:pos x="795" y="545"/>
                </a:cxn>
                <a:cxn ang="0">
                  <a:pos x="807" y="515"/>
                </a:cxn>
                <a:cxn ang="0">
                  <a:pos x="825" y="485"/>
                </a:cxn>
                <a:cxn ang="0">
                  <a:pos x="837" y="455"/>
                </a:cxn>
                <a:cxn ang="0">
                  <a:pos x="843" y="437"/>
                </a:cxn>
                <a:cxn ang="0">
                  <a:pos x="849" y="431"/>
                </a:cxn>
                <a:cxn ang="0">
                  <a:pos x="849" y="347"/>
                </a:cxn>
                <a:cxn ang="0">
                  <a:pos x="849" y="341"/>
                </a:cxn>
                <a:cxn ang="0">
                  <a:pos x="855" y="335"/>
                </a:cxn>
                <a:cxn ang="0">
                  <a:pos x="873" y="305"/>
                </a:cxn>
                <a:cxn ang="0">
                  <a:pos x="885" y="269"/>
                </a:cxn>
                <a:cxn ang="0">
                  <a:pos x="897" y="239"/>
                </a:cxn>
                <a:cxn ang="0">
                  <a:pos x="903" y="227"/>
                </a:cxn>
                <a:cxn ang="0">
                  <a:pos x="909" y="215"/>
                </a:cxn>
                <a:cxn ang="0">
                  <a:pos x="927" y="173"/>
                </a:cxn>
                <a:cxn ang="0">
                  <a:pos x="945" y="137"/>
                </a:cxn>
                <a:cxn ang="0">
                  <a:pos x="951" y="125"/>
                </a:cxn>
                <a:cxn ang="0">
                  <a:pos x="951" y="119"/>
                </a:cxn>
                <a:cxn ang="0">
                  <a:pos x="969" y="0"/>
                </a:cxn>
                <a:cxn ang="0">
                  <a:pos x="945" y="47"/>
                </a:cxn>
                <a:cxn ang="0">
                  <a:pos x="783" y="113"/>
                </a:cxn>
                <a:cxn ang="0">
                  <a:pos x="706" y="161"/>
                </a:cxn>
                <a:cxn ang="0">
                  <a:pos x="460" y="233"/>
                </a:cxn>
                <a:cxn ang="0">
                  <a:pos x="281" y="287"/>
                </a:cxn>
                <a:cxn ang="0">
                  <a:pos x="173" y="293"/>
                </a:cxn>
                <a:cxn ang="0">
                  <a:pos x="12" y="485"/>
                </a:cxn>
                <a:cxn ang="0">
                  <a:pos x="0" y="509"/>
                </a:cxn>
                <a:cxn ang="0">
                  <a:pos x="0" y="1186"/>
                </a:cxn>
                <a:cxn ang="0">
                  <a:pos x="96" y="1180"/>
                </a:cxn>
                <a:cxn ang="0">
                  <a:pos x="323" y="1186"/>
                </a:cxn>
                <a:cxn ang="0">
                  <a:pos x="323" y="1186"/>
                </a:cxn>
              </a:cxnLst>
              <a:rect l="0" t="0" r="r" b="b"/>
              <a:pathLst>
                <a:path w="969" h="1192">
                  <a:moveTo>
                    <a:pt x="323" y="1186"/>
                  </a:moveTo>
                  <a:lnTo>
                    <a:pt x="490" y="1192"/>
                  </a:lnTo>
                  <a:lnTo>
                    <a:pt x="580" y="1150"/>
                  </a:lnTo>
                  <a:lnTo>
                    <a:pt x="813" y="1085"/>
                  </a:lnTo>
                  <a:lnTo>
                    <a:pt x="933" y="1055"/>
                  </a:lnTo>
                  <a:lnTo>
                    <a:pt x="759" y="989"/>
                  </a:lnTo>
                  <a:lnTo>
                    <a:pt x="556" y="953"/>
                  </a:lnTo>
                  <a:lnTo>
                    <a:pt x="197" y="971"/>
                  </a:lnTo>
                  <a:lnTo>
                    <a:pt x="299" y="893"/>
                  </a:lnTo>
                  <a:lnTo>
                    <a:pt x="496" y="803"/>
                  </a:lnTo>
                  <a:lnTo>
                    <a:pt x="694" y="671"/>
                  </a:lnTo>
                  <a:lnTo>
                    <a:pt x="700" y="671"/>
                  </a:lnTo>
                  <a:lnTo>
                    <a:pt x="712" y="665"/>
                  </a:lnTo>
                  <a:lnTo>
                    <a:pt x="753" y="647"/>
                  </a:lnTo>
                  <a:lnTo>
                    <a:pt x="777" y="641"/>
                  </a:lnTo>
                  <a:lnTo>
                    <a:pt x="789" y="629"/>
                  </a:lnTo>
                  <a:lnTo>
                    <a:pt x="795" y="617"/>
                  </a:lnTo>
                  <a:lnTo>
                    <a:pt x="789" y="611"/>
                  </a:lnTo>
                  <a:lnTo>
                    <a:pt x="783" y="599"/>
                  </a:lnTo>
                  <a:lnTo>
                    <a:pt x="783" y="575"/>
                  </a:lnTo>
                  <a:lnTo>
                    <a:pt x="795" y="545"/>
                  </a:lnTo>
                  <a:lnTo>
                    <a:pt x="807" y="515"/>
                  </a:lnTo>
                  <a:lnTo>
                    <a:pt x="825" y="485"/>
                  </a:lnTo>
                  <a:lnTo>
                    <a:pt x="837" y="455"/>
                  </a:lnTo>
                  <a:lnTo>
                    <a:pt x="843" y="437"/>
                  </a:lnTo>
                  <a:lnTo>
                    <a:pt x="849" y="431"/>
                  </a:lnTo>
                  <a:lnTo>
                    <a:pt x="849" y="347"/>
                  </a:lnTo>
                  <a:lnTo>
                    <a:pt x="849" y="341"/>
                  </a:lnTo>
                  <a:lnTo>
                    <a:pt x="855" y="335"/>
                  </a:lnTo>
                  <a:lnTo>
                    <a:pt x="873" y="305"/>
                  </a:lnTo>
                  <a:lnTo>
                    <a:pt x="885" y="269"/>
                  </a:lnTo>
                  <a:lnTo>
                    <a:pt x="897" y="239"/>
                  </a:lnTo>
                  <a:lnTo>
                    <a:pt x="903" y="227"/>
                  </a:lnTo>
                  <a:lnTo>
                    <a:pt x="909" y="215"/>
                  </a:lnTo>
                  <a:lnTo>
                    <a:pt x="927" y="173"/>
                  </a:lnTo>
                  <a:lnTo>
                    <a:pt x="945" y="137"/>
                  </a:lnTo>
                  <a:lnTo>
                    <a:pt x="951" y="125"/>
                  </a:lnTo>
                  <a:lnTo>
                    <a:pt x="951" y="119"/>
                  </a:lnTo>
                  <a:lnTo>
                    <a:pt x="969" y="0"/>
                  </a:lnTo>
                  <a:lnTo>
                    <a:pt x="945" y="47"/>
                  </a:lnTo>
                  <a:lnTo>
                    <a:pt x="783" y="113"/>
                  </a:lnTo>
                  <a:lnTo>
                    <a:pt x="706" y="161"/>
                  </a:lnTo>
                  <a:lnTo>
                    <a:pt x="460" y="233"/>
                  </a:lnTo>
                  <a:lnTo>
                    <a:pt x="281" y="287"/>
                  </a:lnTo>
                  <a:lnTo>
                    <a:pt x="173" y="293"/>
                  </a:lnTo>
                  <a:lnTo>
                    <a:pt x="12" y="485"/>
                  </a:lnTo>
                  <a:lnTo>
                    <a:pt x="0" y="509"/>
                  </a:lnTo>
                  <a:lnTo>
                    <a:pt x="0" y="1186"/>
                  </a:lnTo>
                  <a:lnTo>
                    <a:pt x="96" y="1180"/>
                  </a:lnTo>
                  <a:lnTo>
                    <a:pt x="323" y="1186"/>
                  </a:lnTo>
                  <a:lnTo>
                    <a:pt x="323" y="1186"/>
                  </a:lnTo>
                  <a:close/>
                </a:path>
              </a:pathLst>
            </a:custGeom>
            <a:gradFill rotWithShape="0">
              <a:gsLst>
                <a:gs pos="0">
                  <a:schemeClr val="bg2"/>
                </a:gs>
                <a:gs pos="100000">
                  <a:schemeClr val="bg1"/>
                </a:gs>
              </a:gsLst>
              <a:lin ang="5400000" scaled="1"/>
            </a:gradFill>
            <a:ln w="9525">
              <a:noFill/>
              <a:round/>
              <a:headEnd/>
              <a:tailEnd/>
            </a:ln>
          </p:spPr>
          <p:txBody>
            <a:bodyPr/>
            <a:lstStyle/>
            <a:p>
              <a:endParaRPr lang="es-BO"/>
            </a:p>
          </p:txBody>
        </p:sp>
        <p:sp>
          <p:nvSpPr>
            <p:cNvPr id="114695" name="Freeform 7"/>
            <p:cNvSpPr>
              <a:spLocks/>
            </p:cNvSpPr>
            <p:nvPr/>
          </p:nvSpPr>
          <p:spPr bwMode="hidden">
            <a:xfrm>
              <a:off x="3188" y="1"/>
              <a:ext cx="2570" cy="2266"/>
            </a:xfrm>
            <a:custGeom>
              <a:avLst/>
              <a:gdLst/>
              <a:ahLst/>
              <a:cxnLst>
                <a:cxn ang="0">
                  <a:pos x="859" y="612"/>
                </a:cxn>
                <a:cxn ang="0">
                  <a:pos x="1087" y="853"/>
                </a:cxn>
                <a:cxn ang="0">
                  <a:pos x="961" y="913"/>
                </a:cxn>
                <a:cxn ang="0">
                  <a:pos x="786" y="883"/>
                </a:cxn>
                <a:cxn ang="0">
                  <a:pos x="450" y="931"/>
                </a:cxn>
                <a:cxn ang="0">
                  <a:pos x="150" y="1075"/>
                </a:cxn>
                <a:cxn ang="0">
                  <a:pos x="78" y="1165"/>
                </a:cxn>
                <a:cxn ang="0">
                  <a:pos x="361" y="1256"/>
                </a:cxn>
                <a:cxn ang="0">
                  <a:pos x="444" y="1316"/>
                </a:cxn>
                <a:cxn ang="0">
                  <a:pos x="697" y="1400"/>
                </a:cxn>
                <a:cxn ang="0">
                  <a:pos x="1026" y="1346"/>
                </a:cxn>
                <a:cxn ang="0">
                  <a:pos x="991" y="1412"/>
                </a:cxn>
                <a:cxn ang="0">
                  <a:pos x="804" y="1574"/>
                </a:cxn>
                <a:cxn ang="0">
                  <a:pos x="726" y="1718"/>
                </a:cxn>
                <a:cxn ang="0">
                  <a:pos x="768" y="1742"/>
                </a:cxn>
                <a:cxn ang="0">
                  <a:pos x="865" y="1693"/>
                </a:cxn>
                <a:cxn ang="0">
                  <a:pos x="991" y="1699"/>
                </a:cxn>
                <a:cxn ang="0">
                  <a:pos x="1135" y="1627"/>
                </a:cxn>
                <a:cxn ang="0">
                  <a:pos x="1183" y="1669"/>
                </a:cxn>
                <a:cxn ang="0">
                  <a:pos x="1399" y="1436"/>
                </a:cxn>
                <a:cxn ang="0">
                  <a:pos x="1615" y="1334"/>
                </a:cxn>
                <a:cxn ang="0">
                  <a:pos x="1645" y="1370"/>
                </a:cxn>
                <a:cxn ang="0">
                  <a:pos x="1681" y="1430"/>
                </a:cxn>
                <a:cxn ang="0">
                  <a:pos x="1699" y="1466"/>
                </a:cxn>
                <a:cxn ang="0">
                  <a:pos x="1747" y="1550"/>
                </a:cxn>
                <a:cxn ang="0">
                  <a:pos x="1772" y="1586"/>
                </a:cxn>
                <a:cxn ang="0">
                  <a:pos x="2124" y="2248"/>
                </a:cxn>
                <a:cxn ang="0">
                  <a:pos x="1693" y="1322"/>
                </a:cxn>
                <a:cxn ang="0">
                  <a:pos x="1861" y="1165"/>
                </a:cxn>
                <a:cxn ang="0">
                  <a:pos x="2173" y="1099"/>
                </a:cxn>
                <a:cxn ang="0">
                  <a:pos x="2390" y="1009"/>
                </a:cxn>
                <a:cxn ang="0">
                  <a:pos x="2570" y="805"/>
                </a:cxn>
                <a:cxn ang="0">
                  <a:pos x="2342" y="781"/>
                </a:cxn>
                <a:cxn ang="0">
                  <a:pos x="2114" y="763"/>
                </a:cxn>
                <a:cxn ang="0">
                  <a:pos x="2408" y="433"/>
                </a:cxn>
                <a:cxn ang="0">
                  <a:pos x="2426" y="421"/>
                </a:cxn>
                <a:cxn ang="0">
                  <a:pos x="2474" y="379"/>
                </a:cxn>
                <a:cxn ang="0">
                  <a:pos x="2492" y="355"/>
                </a:cxn>
                <a:cxn ang="0">
                  <a:pos x="2474" y="337"/>
                </a:cxn>
                <a:cxn ang="0">
                  <a:pos x="2474" y="271"/>
                </a:cxn>
                <a:cxn ang="0">
                  <a:pos x="2492" y="192"/>
                </a:cxn>
                <a:cxn ang="0">
                  <a:pos x="2504" y="132"/>
                </a:cxn>
                <a:cxn ang="0">
                  <a:pos x="2492" y="36"/>
                </a:cxn>
                <a:cxn ang="0">
                  <a:pos x="2492" y="24"/>
                </a:cxn>
                <a:cxn ang="0">
                  <a:pos x="2102" y="0"/>
                </a:cxn>
                <a:cxn ang="0">
                  <a:pos x="1909" y="90"/>
                </a:cxn>
                <a:cxn ang="0">
                  <a:pos x="1747" y="535"/>
                </a:cxn>
                <a:cxn ang="0">
                  <a:pos x="1711" y="469"/>
                </a:cxn>
                <a:cxn ang="0">
                  <a:pos x="1633" y="144"/>
                </a:cxn>
                <a:cxn ang="0">
                  <a:pos x="1579" y="0"/>
                </a:cxn>
                <a:cxn ang="0">
                  <a:pos x="738" y="186"/>
                </a:cxn>
                <a:cxn ang="0">
                  <a:pos x="756" y="463"/>
                </a:cxn>
              </a:cxnLst>
              <a:rect l="0" t="0" r="r" b="b"/>
              <a:pathLst>
                <a:path w="2570" h="2266">
                  <a:moveTo>
                    <a:pt x="756" y="463"/>
                  </a:moveTo>
                  <a:lnTo>
                    <a:pt x="859" y="612"/>
                  </a:lnTo>
                  <a:lnTo>
                    <a:pt x="937" y="720"/>
                  </a:lnTo>
                  <a:lnTo>
                    <a:pt x="1087" y="853"/>
                  </a:lnTo>
                  <a:lnTo>
                    <a:pt x="1105" y="907"/>
                  </a:lnTo>
                  <a:lnTo>
                    <a:pt x="961" y="913"/>
                  </a:lnTo>
                  <a:lnTo>
                    <a:pt x="895" y="901"/>
                  </a:lnTo>
                  <a:lnTo>
                    <a:pt x="786" y="883"/>
                  </a:lnTo>
                  <a:lnTo>
                    <a:pt x="637" y="859"/>
                  </a:lnTo>
                  <a:lnTo>
                    <a:pt x="450" y="931"/>
                  </a:lnTo>
                  <a:lnTo>
                    <a:pt x="306" y="1021"/>
                  </a:lnTo>
                  <a:lnTo>
                    <a:pt x="150" y="1075"/>
                  </a:lnTo>
                  <a:lnTo>
                    <a:pt x="0" y="1153"/>
                  </a:lnTo>
                  <a:lnTo>
                    <a:pt x="78" y="1165"/>
                  </a:lnTo>
                  <a:lnTo>
                    <a:pt x="264" y="1220"/>
                  </a:lnTo>
                  <a:lnTo>
                    <a:pt x="361" y="1256"/>
                  </a:lnTo>
                  <a:lnTo>
                    <a:pt x="367" y="1298"/>
                  </a:lnTo>
                  <a:lnTo>
                    <a:pt x="444" y="1316"/>
                  </a:lnTo>
                  <a:lnTo>
                    <a:pt x="558" y="1400"/>
                  </a:lnTo>
                  <a:lnTo>
                    <a:pt x="697" y="1400"/>
                  </a:lnTo>
                  <a:lnTo>
                    <a:pt x="895" y="1346"/>
                  </a:lnTo>
                  <a:lnTo>
                    <a:pt x="1026" y="1346"/>
                  </a:lnTo>
                  <a:lnTo>
                    <a:pt x="1147" y="1358"/>
                  </a:lnTo>
                  <a:lnTo>
                    <a:pt x="991" y="1412"/>
                  </a:lnTo>
                  <a:lnTo>
                    <a:pt x="804" y="1538"/>
                  </a:lnTo>
                  <a:lnTo>
                    <a:pt x="804" y="1574"/>
                  </a:lnTo>
                  <a:lnTo>
                    <a:pt x="762" y="1645"/>
                  </a:lnTo>
                  <a:lnTo>
                    <a:pt x="726" y="1718"/>
                  </a:lnTo>
                  <a:lnTo>
                    <a:pt x="732" y="1754"/>
                  </a:lnTo>
                  <a:lnTo>
                    <a:pt x="768" y="1742"/>
                  </a:lnTo>
                  <a:lnTo>
                    <a:pt x="829" y="1730"/>
                  </a:lnTo>
                  <a:lnTo>
                    <a:pt x="865" y="1693"/>
                  </a:lnTo>
                  <a:lnTo>
                    <a:pt x="925" y="1663"/>
                  </a:lnTo>
                  <a:lnTo>
                    <a:pt x="991" y="1699"/>
                  </a:lnTo>
                  <a:lnTo>
                    <a:pt x="1087" y="1675"/>
                  </a:lnTo>
                  <a:lnTo>
                    <a:pt x="1135" y="1627"/>
                  </a:lnTo>
                  <a:lnTo>
                    <a:pt x="1147" y="1687"/>
                  </a:lnTo>
                  <a:lnTo>
                    <a:pt x="1183" y="1669"/>
                  </a:lnTo>
                  <a:lnTo>
                    <a:pt x="1333" y="1514"/>
                  </a:lnTo>
                  <a:lnTo>
                    <a:pt x="1399" y="1436"/>
                  </a:lnTo>
                  <a:lnTo>
                    <a:pt x="1526" y="1382"/>
                  </a:lnTo>
                  <a:lnTo>
                    <a:pt x="1615" y="1334"/>
                  </a:lnTo>
                  <a:lnTo>
                    <a:pt x="1627" y="1346"/>
                  </a:lnTo>
                  <a:lnTo>
                    <a:pt x="1645" y="1370"/>
                  </a:lnTo>
                  <a:lnTo>
                    <a:pt x="1669" y="1400"/>
                  </a:lnTo>
                  <a:lnTo>
                    <a:pt x="1681" y="1430"/>
                  </a:lnTo>
                  <a:lnTo>
                    <a:pt x="1687" y="1448"/>
                  </a:lnTo>
                  <a:lnTo>
                    <a:pt x="1699" y="1466"/>
                  </a:lnTo>
                  <a:lnTo>
                    <a:pt x="1729" y="1520"/>
                  </a:lnTo>
                  <a:lnTo>
                    <a:pt x="1747" y="1550"/>
                  </a:lnTo>
                  <a:lnTo>
                    <a:pt x="1766" y="1574"/>
                  </a:lnTo>
                  <a:lnTo>
                    <a:pt x="1772" y="1586"/>
                  </a:lnTo>
                  <a:lnTo>
                    <a:pt x="1778" y="1592"/>
                  </a:lnTo>
                  <a:lnTo>
                    <a:pt x="2124" y="2248"/>
                  </a:lnTo>
                  <a:lnTo>
                    <a:pt x="2215" y="2266"/>
                  </a:lnTo>
                  <a:lnTo>
                    <a:pt x="1693" y="1322"/>
                  </a:lnTo>
                  <a:lnTo>
                    <a:pt x="1723" y="1262"/>
                  </a:lnTo>
                  <a:lnTo>
                    <a:pt x="1861" y="1165"/>
                  </a:lnTo>
                  <a:lnTo>
                    <a:pt x="1988" y="1129"/>
                  </a:lnTo>
                  <a:lnTo>
                    <a:pt x="2173" y="1099"/>
                  </a:lnTo>
                  <a:lnTo>
                    <a:pt x="2318" y="1075"/>
                  </a:lnTo>
                  <a:lnTo>
                    <a:pt x="2390" y="1009"/>
                  </a:lnTo>
                  <a:lnTo>
                    <a:pt x="2570" y="895"/>
                  </a:lnTo>
                  <a:lnTo>
                    <a:pt x="2570" y="805"/>
                  </a:lnTo>
                  <a:lnTo>
                    <a:pt x="2516" y="787"/>
                  </a:lnTo>
                  <a:lnTo>
                    <a:pt x="2342" y="781"/>
                  </a:lnTo>
                  <a:lnTo>
                    <a:pt x="2042" y="871"/>
                  </a:lnTo>
                  <a:lnTo>
                    <a:pt x="2114" y="763"/>
                  </a:lnTo>
                  <a:lnTo>
                    <a:pt x="2264" y="624"/>
                  </a:lnTo>
                  <a:lnTo>
                    <a:pt x="2408" y="433"/>
                  </a:lnTo>
                  <a:lnTo>
                    <a:pt x="2414" y="433"/>
                  </a:lnTo>
                  <a:lnTo>
                    <a:pt x="2426" y="421"/>
                  </a:lnTo>
                  <a:lnTo>
                    <a:pt x="2456" y="397"/>
                  </a:lnTo>
                  <a:lnTo>
                    <a:pt x="2474" y="379"/>
                  </a:lnTo>
                  <a:lnTo>
                    <a:pt x="2486" y="367"/>
                  </a:lnTo>
                  <a:lnTo>
                    <a:pt x="2492" y="355"/>
                  </a:lnTo>
                  <a:lnTo>
                    <a:pt x="2486" y="349"/>
                  </a:lnTo>
                  <a:lnTo>
                    <a:pt x="2474" y="337"/>
                  </a:lnTo>
                  <a:lnTo>
                    <a:pt x="2474" y="307"/>
                  </a:lnTo>
                  <a:lnTo>
                    <a:pt x="2474" y="271"/>
                  </a:lnTo>
                  <a:lnTo>
                    <a:pt x="2480" y="228"/>
                  </a:lnTo>
                  <a:lnTo>
                    <a:pt x="2492" y="192"/>
                  </a:lnTo>
                  <a:lnTo>
                    <a:pt x="2498" y="156"/>
                  </a:lnTo>
                  <a:lnTo>
                    <a:pt x="2504" y="132"/>
                  </a:lnTo>
                  <a:lnTo>
                    <a:pt x="2504" y="126"/>
                  </a:lnTo>
                  <a:lnTo>
                    <a:pt x="2492" y="36"/>
                  </a:lnTo>
                  <a:lnTo>
                    <a:pt x="2492" y="36"/>
                  </a:lnTo>
                  <a:lnTo>
                    <a:pt x="2492" y="24"/>
                  </a:lnTo>
                  <a:lnTo>
                    <a:pt x="2498" y="0"/>
                  </a:lnTo>
                  <a:lnTo>
                    <a:pt x="2102" y="0"/>
                  </a:lnTo>
                  <a:lnTo>
                    <a:pt x="2006" y="60"/>
                  </a:lnTo>
                  <a:lnTo>
                    <a:pt x="1909" y="90"/>
                  </a:lnTo>
                  <a:lnTo>
                    <a:pt x="1808" y="337"/>
                  </a:lnTo>
                  <a:lnTo>
                    <a:pt x="1747" y="535"/>
                  </a:lnTo>
                  <a:lnTo>
                    <a:pt x="1687" y="588"/>
                  </a:lnTo>
                  <a:lnTo>
                    <a:pt x="1711" y="469"/>
                  </a:lnTo>
                  <a:lnTo>
                    <a:pt x="1687" y="343"/>
                  </a:lnTo>
                  <a:lnTo>
                    <a:pt x="1633" y="144"/>
                  </a:lnTo>
                  <a:lnTo>
                    <a:pt x="1585" y="12"/>
                  </a:lnTo>
                  <a:lnTo>
                    <a:pt x="1579" y="0"/>
                  </a:lnTo>
                  <a:lnTo>
                    <a:pt x="786" y="0"/>
                  </a:lnTo>
                  <a:lnTo>
                    <a:pt x="738" y="186"/>
                  </a:lnTo>
                  <a:lnTo>
                    <a:pt x="756" y="463"/>
                  </a:lnTo>
                  <a:lnTo>
                    <a:pt x="756" y="463"/>
                  </a:lnTo>
                  <a:close/>
                </a:path>
              </a:pathLst>
            </a:custGeom>
            <a:gradFill rotWithShape="0">
              <a:gsLst>
                <a:gs pos="0">
                  <a:schemeClr val="bg2"/>
                </a:gs>
                <a:gs pos="100000">
                  <a:schemeClr val="bg1"/>
                </a:gs>
              </a:gsLst>
              <a:lin ang="5400000" scaled="1"/>
            </a:gradFill>
            <a:ln w="9525">
              <a:noFill/>
              <a:round/>
              <a:headEnd/>
              <a:tailEnd/>
            </a:ln>
          </p:spPr>
          <p:txBody>
            <a:bodyPr/>
            <a:lstStyle/>
            <a:p>
              <a:endParaRPr lang="es-BO"/>
            </a:p>
          </p:txBody>
        </p:sp>
        <p:sp>
          <p:nvSpPr>
            <p:cNvPr id="114696" name="Freeform 8"/>
            <p:cNvSpPr>
              <a:spLocks/>
            </p:cNvSpPr>
            <p:nvPr/>
          </p:nvSpPr>
          <p:spPr bwMode="hidden">
            <a:xfrm>
              <a:off x="3525" y="1"/>
              <a:ext cx="2185" cy="1508"/>
            </a:xfrm>
            <a:custGeom>
              <a:avLst/>
              <a:gdLst/>
              <a:ahLst/>
              <a:cxnLst>
                <a:cxn ang="0">
                  <a:pos x="1034" y="767"/>
                </a:cxn>
                <a:cxn ang="0">
                  <a:pos x="1190" y="1235"/>
                </a:cxn>
                <a:cxn ang="0">
                  <a:pos x="956" y="1193"/>
                </a:cxn>
                <a:cxn ang="0">
                  <a:pos x="723" y="1127"/>
                </a:cxn>
                <a:cxn ang="0">
                  <a:pos x="442" y="1109"/>
                </a:cxn>
                <a:cxn ang="0">
                  <a:pos x="0" y="1079"/>
                </a:cxn>
                <a:cxn ang="0">
                  <a:pos x="30" y="1115"/>
                </a:cxn>
                <a:cxn ang="0">
                  <a:pos x="496" y="1133"/>
                </a:cxn>
                <a:cxn ang="0">
                  <a:pos x="777" y="1187"/>
                </a:cxn>
                <a:cxn ang="0">
                  <a:pos x="1130" y="1301"/>
                </a:cxn>
                <a:cxn ang="0">
                  <a:pos x="1070" y="1319"/>
                </a:cxn>
                <a:cxn ang="0">
                  <a:pos x="711" y="1505"/>
                </a:cxn>
                <a:cxn ang="0">
                  <a:pos x="765" y="1481"/>
                </a:cxn>
                <a:cxn ang="0">
                  <a:pos x="861" y="1439"/>
                </a:cxn>
                <a:cxn ang="0">
                  <a:pos x="1022" y="1355"/>
                </a:cxn>
                <a:cxn ang="0">
                  <a:pos x="1214" y="1295"/>
                </a:cxn>
                <a:cxn ang="0">
                  <a:pos x="1267" y="1223"/>
                </a:cxn>
                <a:cxn ang="0">
                  <a:pos x="1632" y="1043"/>
                </a:cxn>
                <a:cxn ang="0">
                  <a:pos x="1931" y="953"/>
                </a:cxn>
                <a:cxn ang="0">
                  <a:pos x="2176" y="821"/>
                </a:cxn>
                <a:cxn ang="0">
                  <a:pos x="1961" y="911"/>
                </a:cxn>
                <a:cxn ang="0">
                  <a:pos x="1656" y="989"/>
                </a:cxn>
                <a:cxn ang="0">
                  <a:pos x="1339" y="1151"/>
                </a:cxn>
                <a:cxn ang="0">
                  <a:pos x="1501" y="905"/>
                </a:cxn>
                <a:cxn ang="0">
                  <a:pos x="1620" y="545"/>
                </a:cxn>
                <a:cxn ang="0">
                  <a:pos x="1740" y="372"/>
                </a:cxn>
                <a:cxn ang="0">
                  <a:pos x="1979" y="60"/>
                </a:cxn>
                <a:cxn ang="0">
                  <a:pos x="2003" y="0"/>
                </a:cxn>
                <a:cxn ang="0">
                  <a:pos x="1973" y="0"/>
                </a:cxn>
                <a:cxn ang="0">
                  <a:pos x="1596" y="480"/>
                </a:cxn>
                <a:cxn ang="0">
                  <a:pos x="1477" y="887"/>
                </a:cxn>
                <a:cxn ang="0">
                  <a:pos x="1255" y="1175"/>
                </a:cxn>
                <a:cxn ang="0">
                  <a:pos x="1130" y="905"/>
                </a:cxn>
                <a:cxn ang="0">
                  <a:pos x="1010" y="540"/>
                </a:cxn>
                <a:cxn ang="0">
                  <a:pos x="885" y="222"/>
                </a:cxn>
                <a:cxn ang="0">
                  <a:pos x="789" y="0"/>
                </a:cxn>
                <a:cxn ang="0">
                  <a:pos x="753" y="0"/>
                </a:cxn>
                <a:cxn ang="0">
                  <a:pos x="903" y="354"/>
                </a:cxn>
                <a:cxn ang="0">
                  <a:pos x="1034" y="767"/>
                </a:cxn>
                <a:cxn ang="0">
                  <a:pos x="1034" y="767"/>
                </a:cxn>
              </a:cxnLst>
              <a:rect l="0" t="0" r="r" b="b"/>
              <a:pathLst>
                <a:path w="2176" h="1505">
                  <a:moveTo>
                    <a:pt x="1034" y="767"/>
                  </a:moveTo>
                  <a:lnTo>
                    <a:pt x="1190" y="1235"/>
                  </a:lnTo>
                  <a:lnTo>
                    <a:pt x="956" y="1193"/>
                  </a:lnTo>
                  <a:lnTo>
                    <a:pt x="723" y="1127"/>
                  </a:lnTo>
                  <a:lnTo>
                    <a:pt x="442" y="1109"/>
                  </a:lnTo>
                  <a:lnTo>
                    <a:pt x="0" y="1079"/>
                  </a:lnTo>
                  <a:lnTo>
                    <a:pt x="30" y="1115"/>
                  </a:lnTo>
                  <a:lnTo>
                    <a:pt x="496" y="1133"/>
                  </a:lnTo>
                  <a:lnTo>
                    <a:pt x="777" y="1187"/>
                  </a:lnTo>
                  <a:lnTo>
                    <a:pt x="1130" y="1301"/>
                  </a:lnTo>
                  <a:lnTo>
                    <a:pt x="1070" y="1319"/>
                  </a:lnTo>
                  <a:lnTo>
                    <a:pt x="711" y="1505"/>
                  </a:lnTo>
                  <a:lnTo>
                    <a:pt x="765" y="1481"/>
                  </a:lnTo>
                  <a:lnTo>
                    <a:pt x="861" y="1439"/>
                  </a:lnTo>
                  <a:lnTo>
                    <a:pt x="1022" y="1355"/>
                  </a:lnTo>
                  <a:lnTo>
                    <a:pt x="1214" y="1295"/>
                  </a:lnTo>
                  <a:lnTo>
                    <a:pt x="1267" y="1223"/>
                  </a:lnTo>
                  <a:lnTo>
                    <a:pt x="1632" y="1043"/>
                  </a:lnTo>
                  <a:lnTo>
                    <a:pt x="1931" y="953"/>
                  </a:lnTo>
                  <a:lnTo>
                    <a:pt x="2176" y="821"/>
                  </a:lnTo>
                  <a:lnTo>
                    <a:pt x="1961" y="911"/>
                  </a:lnTo>
                  <a:lnTo>
                    <a:pt x="1656" y="989"/>
                  </a:lnTo>
                  <a:lnTo>
                    <a:pt x="1339" y="1151"/>
                  </a:lnTo>
                  <a:lnTo>
                    <a:pt x="1501" y="905"/>
                  </a:lnTo>
                  <a:lnTo>
                    <a:pt x="1620" y="545"/>
                  </a:lnTo>
                  <a:lnTo>
                    <a:pt x="1740" y="372"/>
                  </a:lnTo>
                  <a:lnTo>
                    <a:pt x="1979" y="60"/>
                  </a:lnTo>
                  <a:lnTo>
                    <a:pt x="2003" y="0"/>
                  </a:lnTo>
                  <a:lnTo>
                    <a:pt x="1973" y="0"/>
                  </a:lnTo>
                  <a:lnTo>
                    <a:pt x="1596" y="480"/>
                  </a:lnTo>
                  <a:lnTo>
                    <a:pt x="1477" y="887"/>
                  </a:lnTo>
                  <a:lnTo>
                    <a:pt x="1255" y="1175"/>
                  </a:lnTo>
                  <a:lnTo>
                    <a:pt x="1130" y="905"/>
                  </a:lnTo>
                  <a:lnTo>
                    <a:pt x="1010" y="540"/>
                  </a:lnTo>
                  <a:lnTo>
                    <a:pt x="885" y="222"/>
                  </a:lnTo>
                  <a:lnTo>
                    <a:pt x="789" y="0"/>
                  </a:lnTo>
                  <a:lnTo>
                    <a:pt x="753" y="0"/>
                  </a:lnTo>
                  <a:lnTo>
                    <a:pt x="903" y="354"/>
                  </a:lnTo>
                  <a:lnTo>
                    <a:pt x="1034" y="767"/>
                  </a:lnTo>
                  <a:lnTo>
                    <a:pt x="1034" y="767"/>
                  </a:lnTo>
                  <a:close/>
                </a:path>
              </a:pathLst>
            </a:custGeom>
            <a:gradFill rotWithShape="0">
              <a:gsLst>
                <a:gs pos="0">
                  <a:schemeClr val="accent2"/>
                </a:gs>
                <a:gs pos="100000">
                  <a:schemeClr val="bg1"/>
                </a:gs>
              </a:gsLst>
              <a:lin ang="5400000" scaled="1"/>
            </a:gradFill>
            <a:ln w="9525">
              <a:noFill/>
              <a:round/>
              <a:headEnd/>
              <a:tailEnd/>
            </a:ln>
          </p:spPr>
          <p:txBody>
            <a:bodyPr/>
            <a:lstStyle/>
            <a:p>
              <a:endParaRPr lang="es-BO"/>
            </a:p>
          </p:txBody>
        </p:sp>
        <p:sp>
          <p:nvSpPr>
            <p:cNvPr id="114697" name="Freeform 9"/>
            <p:cNvSpPr>
              <a:spLocks/>
            </p:cNvSpPr>
            <p:nvPr/>
          </p:nvSpPr>
          <p:spPr bwMode="hidden">
            <a:xfrm>
              <a:off x="0" y="649"/>
              <a:ext cx="816" cy="806"/>
            </a:xfrm>
            <a:custGeom>
              <a:avLst/>
              <a:gdLst/>
              <a:ahLst/>
              <a:cxnLst>
                <a:cxn ang="0">
                  <a:pos x="161" y="564"/>
                </a:cxn>
                <a:cxn ang="0">
                  <a:pos x="329" y="438"/>
                </a:cxn>
                <a:cxn ang="0">
                  <a:pos x="646" y="216"/>
                </a:cxn>
                <a:cxn ang="0">
                  <a:pos x="813" y="0"/>
                </a:cxn>
                <a:cxn ang="0">
                  <a:pos x="676" y="150"/>
                </a:cxn>
                <a:cxn ang="0">
                  <a:pos x="144" y="504"/>
                </a:cxn>
                <a:cxn ang="0">
                  <a:pos x="0" y="732"/>
                </a:cxn>
                <a:cxn ang="0">
                  <a:pos x="0" y="804"/>
                </a:cxn>
                <a:cxn ang="0">
                  <a:pos x="161" y="564"/>
                </a:cxn>
                <a:cxn ang="0">
                  <a:pos x="161" y="564"/>
                </a:cxn>
              </a:cxnLst>
              <a:rect l="0" t="0" r="r" b="b"/>
              <a:pathLst>
                <a:path w="813" h="804">
                  <a:moveTo>
                    <a:pt x="161" y="564"/>
                  </a:moveTo>
                  <a:lnTo>
                    <a:pt x="329" y="438"/>
                  </a:lnTo>
                  <a:lnTo>
                    <a:pt x="646" y="216"/>
                  </a:lnTo>
                  <a:lnTo>
                    <a:pt x="813" y="0"/>
                  </a:lnTo>
                  <a:lnTo>
                    <a:pt x="676" y="150"/>
                  </a:lnTo>
                  <a:lnTo>
                    <a:pt x="144" y="504"/>
                  </a:lnTo>
                  <a:lnTo>
                    <a:pt x="0" y="732"/>
                  </a:lnTo>
                  <a:lnTo>
                    <a:pt x="0" y="804"/>
                  </a:lnTo>
                  <a:lnTo>
                    <a:pt x="161" y="564"/>
                  </a:lnTo>
                  <a:lnTo>
                    <a:pt x="161" y="564"/>
                  </a:lnTo>
                  <a:close/>
                </a:path>
              </a:pathLst>
            </a:custGeom>
            <a:gradFill rotWithShape="0">
              <a:gsLst>
                <a:gs pos="0">
                  <a:schemeClr val="accent2"/>
                </a:gs>
                <a:gs pos="100000">
                  <a:schemeClr val="bg1"/>
                </a:gs>
              </a:gsLst>
              <a:lin ang="5400000" scaled="1"/>
            </a:gradFill>
            <a:ln w="9525">
              <a:noFill/>
              <a:round/>
              <a:headEnd/>
              <a:tailEnd/>
            </a:ln>
          </p:spPr>
          <p:txBody>
            <a:bodyPr/>
            <a:lstStyle/>
            <a:p>
              <a:endParaRPr lang="es-BO"/>
            </a:p>
          </p:txBody>
        </p:sp>
        <p:sp>
          <p:nvSpPr>
            <p:cNvPr id="114698" name="Freeform 10"/>
            <p:cNvSpPr>
              <a:spLocks/>
            </p:cNvSpPr>
            <p:nvPr/>
          </p:nvSpPr>
          <p:spPr bwMode="hidden">
            <a:xfrm>
              <a:off x="0" y="1545"/>
              <a:ext cx="762" cy="107"/>
            </a:xfrm>
            <a:custGeom>
              <a:avLst/>
              <a:gdLst/>
              <a:ahLst/>
              <a:cxnLst>
                <a:cxn ang="0">
                  <a:pos x="460" y="66"/>
                </a:cxn>
                <a:cxn ang="0">
                  <a:pos x="759" y="0"/>
                </a:cxn>
                <a:cxn ang="0">
                  <a:pos x="496" y="36"/>
                </a:cxn>
                <a:cxn ang="0">
                  <a:pos x="138" y="48"/>
                </a:cxn>
                <a:cxn ang="0">
                  <a:pos x="0" y="78"/>
                </a:cxn>
                <a:cxn ang="0">
                  <a:pos x="0" y="107"/>
                </a:cxn>
                <a:cxn ang="0">
                  <a:pos x="96" y="89"/>
                </a:cxn>
                <a:cxn ang="0">
                  <a:pos x="460" y="66"/>
                </a:cxn>
                <a:cxn ang="0">
                  <a:pos x="460" y="66"/>
                </a:cxn>
              </a:cxnLst>
              <a:rect l="0" t="0" r="r" b="b"/>
              <a:pathLst>
                <a:path w="759" h="107">
                  <a:moveTo>
                    <a:pt x="460" y="66"/>
                  </a:moveTo>
                  <a:lnTo>
                    <a:pt x="759" y="0"/>
                  </a:lnTo>
                  <a:lnTo>
                    <a:pt x="496" y="36"/>
                  </a:lnTo>
                  <a:lnTo>
                    <a:pt x="138" y="48"/>
                  </a:lnTo>
                  <a:lnTo>
                    <a:pt x="0" y="78"/>
                  </a:lnTo>
                  <a:lnTo>
                    <a:pt x="0" y="107"/>
                  </a:lnTo>
                  <a:lnTo>
                    <a:pt x="96" y="89"/>
                  </a:lnTo>
                  <a:lnTo>
                    <a:pt x="460" y="66"/>
                  </a:lnTo>
                  <a:lnTo>
                    <a:pt x="460" y="66"/>
                  </a:lnTo>
                  <a:close/>
                </a:path>
              </a:pathLst>
            </a:custGeom>
            <a:gradFill rotWithShape="0">
              <a:gsLst>
                <a:gs pos="0">
                  <a:schemeClr val="accent2"/>
                </a:gs>
                <a:gs pos="100000">
                  <a:schemeClr val="bg1"/>
                </a:gs>
              </a:gsLst>
              <a:lin ang="5400000" scaled="1"/>
            </a:gradFill>
            <a:ln w="9525">
              <a:noFill/>
              <a:round/>
              <a:headEnd/>
              <a:tailEnd/>
            </a:ln>
          </p:spPr>
          <p:txBody>
            <a:bodyPr/>
            <a:lstStyle/>
            <a:p>
              <a:endParaRPr lang="es-BO"/>
            </a:p>
          </p:txBody>
        </p:sp>
        <p:sp>
          <p:nvSpPr>
            <p:cNvPr id="114699" name="Freeform 11"/>
            <p:cNvSpPr>
              <a:spLocks/>
            </p:cNvSpPr>
            <p:nvPr/>
          </p:nvSpPr>
          <p:spPr bwMode="hidden">
            <a:xfrm>
              <a:off x="2314" y="3431"/>
              <a:ext cx="3182" cy="745"/>
            </a:xfrm>
            <a:custGeom>
              <a:avLst/>
              <a:gdLst/>
              <a:ahLst/>
              <a:cxnLst>
                <a:cxn ang="0">
                  <a:pos x="1387" y="239"/>
                </a:cxn>
                <a:cxn ang="0">
                  <a:pos x="1734" y="233"/>
                </a:cxn>
                <a:cxn ang="0">
                  <a:pos x="2087" y="251"/>
                </a:cxn>
                <a:cxn ang="0">
                  <a:pos x="2505" y="233"/>
                </a:cxn>
                <a:cxn ang="0">
                  <a:pos x="3169" y="204"/>
                </a:cxn>
                <a:cxn ang="0">
                  <a:pos x="3115" y="186"/>
                </a:cxn>
                <a:cxn ang="0">
                  <a:pos x="2422" y="221"/>
                </a:cxn>
                <a:cxn ang="0">
                  <a:pos x="2003" y="221"/>
                </a:cxn>
                <a:cxn ang="0">
                  <a:pos x="1459" y="186"/>
                </a:cxn>
                <a:cxn ang="0">
                  <a:pos x="1543" y="168"/>
                </a:cxn>
                <a:cxn ang="0">
                  <a:pos x="2039" y="0"/>
                </a:cxn>
                <a:cxn ang="0">
                  <a:pos x="1961" y="24"/>
                </a:cxn>
                <a:cxn ang="0">
                  <a:pos x="1836" y="66"/>
                </a:cxn>
                <a:cxn ang="0">
                  <a:pos x="1602" y="138"/>
                </a:cxn>
                <a:cxn ang="0">
                  <a:pos x="1339" y="198"/>
                </a:cxn>
                <a:cxn ang="0">
                  <a:pos x="1268" y="251"/>
                </a:cxn>
                <a:cxn ang="0">
                  <a:pos x="765" y="413"/>
                </a:cxn>
                <a:cxn ang="0">
                  <a:pos x="335" y="503"/>
                </a:cxn>
                <a:cxn ang="0">
                  <a:pos x="0" y="617"/>
                </a:cxn>
                <a:cxn ang="0">
                  <a:pos x="299" y="539"/>
                </a:cxn>
                <a:cxn ang="0">
                  <a:pos x="735" y="449"/>
                </a:cxn>
                <a:cxn ang="0">
                  <a:pos x="1178" y="311"/>
                </a:cxn>
                <a:cxn ang="0">
                  <a:pos x="981" y="491"/>
                </a:cxn>
                <a:cxn ang="0">
                  <a:pos x="867" y="743"/>
                </a:cxn>
                <a:cxn ang="0">
                  <a:pos x="861" y="743"/>
                </a:cxn>
                <a:cxn ang="0">
                  <a:pos x="933" y="743"/>
                </a:cxn>
                <a:cxn ang="0">
                  <a:pos x="1022" y="497"/>
                </a:cxn>
                <a:cxn ang="0">
                  <a:pos x="1297" y="281"/>
                </a:cxn>
                <a:cxn ang="0">
                  <a:pos x="1531" y="449"/>
                </a:cxn>
                <a:cxn ang="0">
                  <a:pos x="1770" y="677"/>
                </a:cxn>
                <a:cxn ang="0">
                  <a:pos x="1854" y="743"/>
                </a:cxn>
                <a:cxn ang="0">
                  <a:pos x="1919" y="743"/>
                </a:cxn>
                <a:cxn ang="0">
                  <a:pos x="1692" y="527"/>
                </a:cxn>
                <a:cxn ang="0">
                  <a:pos x="1387" y="239"/>
                </a:cxn>
                <a:cxn ang="0">
                  <a:pos x="1387" y="239"/>
                </a:cxn>
              </a:cxnLst>
              <a:rect l="0" t="0" r="r" b="b"/>
              <a:pathLst>
                <a:path w="3169" h="743">
                  <a:moveTo>
                    <a:pt x="1387" y="239"/>
                  </a:moveTo>
                  <a:lnTo>
                    <a:pt x="1734" y="233"/>
                  </a:lnTo>
                  <a:lnTo>
                    <a:pt x="2087" y="251"/>
                  </a:lnTo>
                  <a:lnTo>
                    <a:pt x="2505" y="233"/>
                  </a:lnTo>
                  <a:lnTo>
                    <a:pt x="3169" y="204"/>
                  </a:lnTo>
                  <a:lnTo>
                    <a:pt x="3115" y="186"/>
                  </a:lnTo>
                  <a:lnTo>
                    <a:pt x="2422" y="221"/>
                  </a:lnTo>
                  <a:lnTo>
                    <a:pt x="2003" y="221"/>
                  </a:lnTo>
                  <a:lnTo>
                    <a:pt x="1459" y="186"/>
                  </a:lnTo>
                  <a:lnTo>
                    <a:pt x="1543" y="168"/>
                  </a:lnTo>
                  <a:lnTo>
                    <a:pt x="2039" y="0"/>
                  </a:lnTo>
                  <a:lnTo>
                    <a:pt x="1961" y="24"/>
                  </a:lnTo>
                  <a:lnTo>
                    <a:pt x="1836" y="66"/>
                  </a:lnTo>
                  <a:lnTo>
                    <a:pt x="1602" y="138"/>
                  </a:lnTo>
                  <a:lnTo>
                    <a:pt x="1339" y="198"/>
                  </a:lnTo>
                  <a:lnTo>
                    <a:pt x="1268" y="251"/>
                  </a:lnTo>
                  <a:lnTo>
                    <a:pt x="765" y="413"/>
                  </a:lnTo>
                  <a:lnTo>
                    <a:pt x="335" y="503"/>
                  </a:lnTo>
                  <a:lnTo>
                    <a:pt x="0" y="617"/>
                  </a:lnTo>
                  <a:lnTo>
                    <a:pt x="299" y="539"/>
                  </a:lnTo>
                  <a:lnTo>
                    <a:pt x="735" y="449"/>
                  </a:lnTo>
                  <a:lnTo>
                    <a:pt x="1178" y="311"/>
                  </a:lnTo>
                  <a:lnTo>
                    <a:pt x="981" y="491"/>
                  </a:lnTo>
                  <a:lnTo>
                    <a:pt x="867" y="743"/>
                  </a:lnTo>
                  <a:lnTo>
                    <a:pt x="861" y="743"/>
                  </a:lnTo>
                  <a:lnTo>
                    <a:pt x="933" y="743"/>
                  </a:lnTo>
                  <a:lnTo>
                    <a:pt x="1022" y="497"/>
                  </a:lnTo>
                  <a:lnTo>
                    <a:pt x="1297" y="281"/>
                  </a:lnTo>
                  <a:lnTo>
                    <a:pt x="1531" y="449"/>
                  </a:lnTo>
                  <a:lnTo>
                    <a:pt x="1770" y="677"/>
                  </a:lnTo>
                  <a:lnTo>
                    <a:pt x="1854" y="743"/>
                  </a:lnTo>
                  <a:lnTo>
                    <a:pt x="1919" y="743"/>
                  </a:lnTo>
                  <a:lnTo>
                    <a:pt x="1692" y="527"/>
                  </a:lnTo>
                  <a:lnTo>
                    <a:pt x="1387" y="239"/>
                  </a:lnTo>
                  <a:lnTo>
                    <a:pt x="1387" y="239"/>
                  </a:lnTo>
                  <a:close/>
                </a:path>
              </a:pathLst>
            </a:custGeom>
            <a:gradFill rotWithShape="0">
              <a:gsLst>
                <a:gs pos="0">
                  <a:schemeClr val="accent2"/>
                </a:gs>
                <a:gs pos="100000">
                  <a:schemeClr val="bg1"/>
                </a:gs>
              </a:gsLst>
              <a:lin ang="2700000" scaled="1"/>
            </a:gradFill>
            <a:ln w="9525">
              <a:noFill/>
              <a:round/>
              <a:headEnd/>
              <a:tailEnd/>
            </a:ln>
          </p:spPr>
          <p:txBody>
            <a:bodyPr/>
            <a:lstStyle/>
            <a:p>
              <a:endParaRPr lang="es-BO"/>
            </a:p>
          </p:txBody>
        </p:sp>
        <p:sp>
          <p:nvSpPr>
            <p:cNvPr id="114700" name="Rectangle 12"/>
            <p:cNvSpPr>
              <a:spLocks noChangeArrowheads="1"/>
            </p:cNvSpPr>
            <p:nvPr/>
          </p:nvSpPr>
          <p:spPr bwMode="hidden">
            <a:xfrm>
              <a:off x="192" y="127"/>
              <a:ext cx="1" cy="1"/>
            </a:xfrm>
            <a:prstGeom prst="rect">
              <a:avLst/>
            </a:prstGeom>
            <a:solidFill>
              <a:srgbClr val="9A1E8D"/>
            </a:solidFill>
            <a:ln w="9525">
              <a:noFill/>
              <a:miter lim="800000"/>
              <a:headEnd/>
              <a:tailEnd/>
            </a:ln>
          </p:spPr>
          <p:txBody>
            <a:bodyPr/>
            <a:lstStyle/>
            <a:p>
              <a:endParaRPr lang="es-BO"/>
            </a:p>
          </p:txBody>
        </p:sp>
        <p:sp>
          <p:nvSpPr>
            <p:cNvPr id="114701" name="Rectangle 13"/>
            <p:cNvSpPr>
              <a:spLocks noChangeArrowheads="1"/>
            </p:cNvSpPr>
            <p:nvPr/>
          </p:nvSpPr>
          <p:spPr bwMode="hidden">
            <a:xfrm>
              <a:off x="204" y="131"/>
              <a:ext cx="1" cy="1"/>
            </a:xfrm>
            <a:prstGeom prst="rect">
              <a:avLst/>
            </a:prstGeom>
            <a:solidFill>
              <a:srgbClr val="9A1E8D"/>
            </a:solidFill>
            <a:ln w="9525">
              <a:noFill/>
              <a:miter lim="800000"/>
              <a:headEnd/>
              <a:tailEnd/>
            </a:ln>
          </p:spPr>
          <p:txBody>
            <a:bodyPr/>
            <a:lstStyle/>
            <a:p>
              <a:endParaRPr lang="es-BO"/>
            </a:p>
          </p:txBody>
        </p:sp>
        <p:sp>
          <p:nvSpPr>
            <p:cNvPr id="114702" name="Freeform 14"/>
            <p:cNvSpPr>
              <a:spLocks/>
            </p:cNvSpPr>
            <p:nvPr/>
          </p:nvSpPr>
          <p:spPr bwMode="hidden">
            <a:xfrm>
              <a:off x="0" y="4032"/>
              <a:ext cx="5760" cy="288"/>
            </a:xfrm>
            <a:custGeom>
              <a:avLst/>
              <a:gdLst/>
              <a:ahLst/>
              <a:cxnLst>
                <a:cxn ang="0">
                  <a:pos x="5740" y="288"/>
                </a:cxn>
                <a:cxn ang="0">
                  <a:pos x="0" y="288"/>
                </a:cxn>
                <a:cxn ang="0">
                  <a:pos x="0" y="0"/>
                </a:cxn>
                <a:cxn ang="0">
                  <a:pos x="5740" y="0"/>
                </a:cxn>
                <a:cxn ang="0">
                  <a:pos x="5740" y="288"/>
                </a:cxn>
                <a:cxn ang="0">
                  <a:pos x="5740" y="288"/>
                </a:cxn>
              </a:cxnLst>
              <a:rect l="0" t="0" r="r" b="b"/>
              <a:pathLst>
                <a:path w="5740" h="288">
                  <a:moveTo>
                    <a:pt x="5740" y="288"/>
                  </a:moveTo>
                  <a:lnTo>
                    <a:pt x="0" y="288"/>
                  </a:lnTo>
                  <a:lnTo>
                    <a:pt x="0" y="0"/>
                  </a:lnTo>
                  <a:lnTo>
                    <a:pt x="5740" y="0"/>
                  </a:lnTo>
                  <a:lnTo>
                    <a:pt x="5740" y="288"/>
                  </a:lnTo>
                  <a:lnTo>
                    <a:pt x="5740" y="288"/>
                  </a:lnTo>
                  <a:close/>
                </a:path>
              </a:pathLst>
            </a:custGeom>
            <a:gradFill rotWithShape="0">
              <a:gsLst>
                <a:gs pos="0">
                  <a:schemeClr val="bg1"/>
                </a:gs>
                <a:gs pos="100000">
                  <a:schemeClr val="bg1">
                    <a:gamma/>
                    <a:shade val="46275"/>
                    <a:invGamma/>
                  </a:schemeClr>
                </a:gs>
              </a:gsLst>
              <a:lin ang="5400000" scaled="1"/>
            </a:gradFill>
            <a:ln w="9525">
              <a:noFill/>
              <a:round/>
              <a:headEnd/>
              <a:tailEnd/>
            </a:ln>
          </p:spPr>
          <p:txBody>
            <a:bodyPr/>
            <a:lstStyle/>
            <a:p>
              <a:endParaRPr lang="es-BO"/>
            </a:p>
          </p:txBody>
        </p:sp>
        <p:sp>
          <p:nvSpPr>
            <p:cNvPr id="114703" name="Freeform 15"/>
            <p:cNvSpPr>
              <a:spLocks/>
            </p:cNvSpPr>
            <p:nvPr/>
          </p:nvSpPr>
          <p:spPr bwMode="hidden">
            <a:xfrm>
              <a:off x="0" y="4032"/>
              <a:ext cx="5760" cy="336"/>
            </a:xfrm>
            <a:custGeom>
              <a:avLst/>
              <a:gdLst/>
              <a:ahLst/>
              <a:cxnLst>
                <a:cxn ang="0">
                  <a:pos x="5740" y="288"/>
                </a:cxn>
                <a:cxn ang="0">
                  <a:pos x="0" y="288"/>
                </a:cxn>
                <a:cxn ang="0">
                  <a:pos x="0" y="0"/>
                </a:cxn>
                <a:cxn ang="0">
                  <a:pos x="5740" y="0"/>
                </a:cxn>
                <a:cxn ang="0">
                  <a:pos x="5740" y="288"/>
                </a:cxn>
                <a:cxn ang="0">
                  <a:pos x="5740" y="288"/>
                </a:cxn>
              </a:cxnLst>
              <a:rect l="0" t="0" r="r" b="b"/>
              <a:pathLst>
                <a:path w="5740" h="288">
                  <a:moveTo>
                    <a:pt x="5740" y="288"/>
                  </a:moveTo>
                  <a:lnTo>
                    <a:pt x="0" y="288"/>
                  </a:lnTo>
                  <a:lnTo>
                    <a:pt x="0" y="0"/>
                  </a:lnTo>
                  <a:lnTo>
                    <a:pt x="5740" y="0"/>
                  </a:lnTo>
                  <a:lnTo>
                    <a:pt x="5740" y="288"/>
                  </a:lnTo>
                  <a:lnTo>
                    <a:pt x="5740" y="288"/>
                  </a:lnTo>
                  <a:close/>
                </a:path>
              </a:pathLst>
            </a:custGeom>
            <a:gradFill rotWithShape="0">
              <a:gsLst>
                <a:gs pos="0">
                  <a:schemeClr val="bg1"/>
                </a:gs>
                <a:gs pos="100000">
                  <a:schemeClr val="bg1">
                    <a:gamma/>
                    <a:shade val="46275"/>
                    <a:invGamma/>
                  </a:schemeClr>
                </a:gs>
              </a:gsLst>
              <a:lin ang="5400000" scaled="1"/>
            </a:gradFill>
            <a:ln w="9525">
              <a:noFill/>
              <a:round/>
              <a:headEnd/>
              <a:tailEnd/>
            </a:ln>
          </p:spPr>
          <p:txBody>
            <a:bodyPr/>
            <a:lstStyle/>
            <a:p>
              <a:endParaRPr lang="es-BO"/>
            </a:p>
          </p:txBody>
        </p:sp>
        <p:sp>
          <p:nvSpPr>
            <p:cNvPr id="114704" name="Freeform 16"/>
            <p:cNvSpPr>
              <a:spLocks/>
            </p:cNvSpPr>
            <p:nvPr/>
          </p:nvSpPr>
          <p:spPr bwMode="hidden">
            <a:xfrm>
              <a:off x="0" y="0"/>
              <a:ext cx="5760" cy="288"/>
            </a:xfrm>
            <a:custGeom>
              <a:avLst/>
              <a:gdLst/>
              <a:ahLst/>
              <a:cxnLst>
                <a:cxn ang="0">
                  <a:pos x="5740" y="288"/>
                </a:cxn>
                <a:cxn ang="0">
                  <a:pos x="0" y="288"/>
                </a:cxn>
                <a:cxn ang="0">
                  <a:pos x="0" y="0"/>
                </a:cxn>
                <a:cxn ang="0">
                  <a:pos x="5740" y="0"/>
                </a:cxn>
                <a:cxn ang="0">
                  <a:pos x="5740" y="288"/>
                </a:cxn>
                <a:cxn ang="0">
                  <a:pos x="5740" y="288"/>
                </a:cxn>
              </a:cxnLst>
              <a:rect l="0" t="0" r="r" b="b"/>
              <a:pathLst>
                <a:path w="5740" h="288">
                  <a:moveTo>
                    <a:pt x="5740" y="288"/>
                  </a:moveTo>
                  <a:lnTo>
                    <a:pt x="0" y="288"/>
                  </a:lnTo>
                  <a:lnTo>
                    <a:pt x="0" y="0"/>
                  </a:lnTo>
                  <a:lnTo>
                    <a:pt x="5740" y="0"/>
                  </a:lnTo>
                  <a:lnTo>
                    <a:pt x="5740" y="288"/>
                  </a:lnTo>
                  <a:lnTo>
                    <a:pt x="5740" y="288"/>
                  </a:lnTo>
                  <a:close/>
                </a:path>
              </a:pathLst>
            </a:custGeom>
            <a:gradFill rotWithShape="0">
              <a:gsLst>
                <a:gs pos="0">
                  <a:schemeClr val="bg2">
                    <a:gamma/>
                    <a:shade val="56078"/>
                    <a:invGamma/>
                  </a:schemeClr>
                </a:gs>
                <a:gs pos="100000">
                  <a:schemeClr val="bg2"/>
                </a:gs>
              </a:gsLst>
              <a:lin ang="5400000" scaled="1"/>
            </a:gradFill>
            <a:ln w="9525">
              <a:noFill/>
              <a:round/>
              <a:headEnd/>
              <a:tailEnd/>
            </a:ln>
          </p:spPr>
          <p:txBody>
            <a:bodyPr/>
            <a:lstStyle/>
            <a:p>
              <a:endParaRPr lang="es-BO"/>
            </a:p>
          </p:txBody>
        </p:sp>
        <p:sp>
          <p:nvSpPr>
            <p:cNvPr id="114705" name="Freeform 17"/>
            <p:cNvSpPr>
              <a:spLocks/>
            </p:cNvSpPr>
            <p:nvPr/>
          </p:nvSpPr>
          <p:spPr bwMode="hidden">
            <a:xfrm>
              <a:off x="509" y="229"/>
              <a:ext cx="3188" cy="2024"/>
            </a:xfrm>
            <a:custGeom>
              <a:avLst/>
              <a:gdLst/>
              <a:ahLst/>
              <a:cxnLst>
                <a:cxn ang="0">
                  <a:pos x="871" y="1423"/>
                </a:cxn>
                <a:cxn ang="0">
                  <a:pos x="907" y="1393"/>
                </a:cxn>
                <a:cxn ang="0">
                  <a:pos x="991" y="1320"/>
                </a:cxn>
                <a:cxn ang="0">
                  <a:pos x="1033" y="1297"/>
                </a:cxn>
                <a:cxn ang="0">
                  <a:pos x="1086" y="1249"/>
                </a:cxn>
                <a:cxn ang="0">
                  <a:pos x="1123" y="1219"/>
                </a:cxn>
                <a:cxn ang="0">
                  <a:pos x="1057" y="1153"/>
                </a:cxn>
                <a:cxn ang="0">
                  <a:pos x="877" y="1021"/>
                </a:cxn>
                <a:cxn ang="0">
                  <a:pos x="655" y="907"/>
                </a:cxn>
                <a:cxn ang="0">
                  <a:pos x="655" y="846"/>
                </a:cxn>
                <a:cxn ang="0">
                  <a:pos x="643" y="708"/>
                </a:cxn>
                <a:cxn ang="0">
                  <a:pos x="552" y="642"/>
                </a:cxn>
                <a:cxn ang="0">
                  <a:pos x="510" y="570"/>
                </a:cxn>
                <a:cxn ang="0">
                  <a:pos x="637" y="564"/>
                </a:cxn>
                <a:cxn ang="0">
                  <a:pos x="763" y="570"/>
                </a:cxn>
                <a:cxn ang="0">
                  <a:pos x="1091" y="850"/>
                </a:cxn>
                <a:cxn ang="0">
                  <a:pos x="1009" y="566"/>
                </a:cxn>
                <a:cxn ang="0">
                  <a:pos x="1054" y="265"/>
                </a:cxn>
                <a:cxn ang="0">
                  <a:pos x="1249" y="0"/>
                </a:cxn>
                <a:cxn ang="0">
                  <a:pos x="1466" y="292"/>
                </a:cxn>
                <a:cxn ang="0">
                  <a:pos x="1475" y="548"/>
                </a:cxn>
                <a:cxn ang="0">
                  <a:pos x="1567" y="630"/>
                </a:cxn>
                <a:cxn ang="0">
                  <a:pos x="1795" y="365"/>
                </a:cxn>
                <a:cxn ang="0">
                  <a:pos x="2245" y="150"/>
                </a:cxn>
                <a:cxn ang="0">
                  <a:pos x="2618" y="180"/>
                </a:cxn>
                <a:cxn ang="0">
                  <a:pos x="3050" y="150"/>
                </a:cxn>
                <a:cxn ang="0">
                  <a:pos x="3140" y="210"/>
                </a:cxn>
                <a:cxn ang="0">
                  <a:pos x="2990" y="210"/>
                </a:cxn>
                <a:cxn ang="0">
                  <a:pos x="2834" y="377"/>
                </a:cxn>
                <a:cxn ang="0">
                  <a:pos x="2702" y="648"/>
                </a:cxn>
                <a:cxn ang="0">
                  <a:pos x="2582" y="828"/>
                </a:cxn>
                <a:cxn ang="0">
                  <a:pos x="2234" y="1009"/>
                </a:cxn>
                <a:cxn ang="0">
                  <a:pos x="1963" y="1075"/>
                </a:cxn>
                <a:cxn ang="0">
                  <a:pos x="2257" y="1111"/>
                </a:cxn>
                <a:cxn ang="0">
                  <a:pos x="2600" y="1207"/>
                </a:cxn>
                <a:cxn ang="0">
                  <a:pos x="2894" y="1441"/>
                </a:cxn>
                <a:cxn ang="0">
                  <a:pos x="3122" y="1555"/>
                </a:cxn>
                <a:cxn ang="0">
                  <a:pos x="3032" y="1585"/>
                </a:cxn>
                <a:cxn ang="0">
                  <a:pos x="3008" y="1591"/>
                </a:cxn>
                <a:cxn ang="0">
                  <a:pos x="2960" y="1597"/>
                </a:cxn>
                <a:cxn ang="0">
                  <a:pos x="2882" y="1609"/>
                </a:cxn>
                <a:cxn ang="0">
                  <a:pos x="2846" y="1609"/>
                </a:cxn>
                <a:cxn ang="0">
                  <a:pos x="2774" y="1615"/>
                </a:cxn>
                <a:cxn ang="0">
                  <a:pos x="2726" y="1621"/>
                </a:cxn>
                <a:cxn ang="0">
                  <a:pos x="2708" y="1621"/>
                </a:cxn>
                <a:cxn ang="0">
                  <a:pos x="2594" y="1657"/>
                </a:cxn>
                <a:cxn ang="0">
                  <a:pos x="2533" y="1663"/>
                </a:cxn>
                <a:cxn ang="0">
                  <a:pos x="2444" y="1675"/>
                </a:cxn>
                <a:cxn ang="0">
                  <a:pos x="2378" y="1687"/>
                </a:cxn>
                <a:cxn ang="0">
                  <a:pos x="2360" y="1705"/>
                </a:cxn>
                <a:cxn ang="0">
                  <a:pos x="2305" y="1687"/>
                </a:cxn>
                <a:cxn ang="0">
                  <a:pos x="2263" y="1663"/>
                </a:cxn>
                <a:cxn ang="0">
                  <a:pos x="2017" y="1585"/>
                </a:cxn>
                <a:cxn ang="0">
                  <a:pos x="1711" y="1453"/>
                </a:cxn>
                <a:cxn ang="0">
                  <a:pos x="1880" y="1844"/>
                </a:cxn>
                <a:cxn ang="0">
                  <a:pos x="1771" y="1922"/>
                </a:cxn>
                <a:cxn ang="0">
                  <a:pos x="1531" y="1753"/>
                </a:cxn>
                <a:cxn ang="0">
                  <a:pos x="1411" y="1477"/>
                </a:cxn>
                <a:cxn ang="0">
                  <a:pos x="1219" y="1291"/>
                </a:cxn>
                <a:cxn ang="0">
                  <a:pos x="127" y="2006"/>
                </a:cxn>
                <a:cxn ang="0">
                  <a:pos x="865" y="1429"/>
                </a:cxn>
              </a:cxnLst>
              <a:rect l="0" t="0" r="r" b="b"/>
              <a:pathLst>
                <a:path w="3188" h="2024">
                  <a:moveTo>
                    <a:pt x="865" y="1429"/>
                  </a:moveTo>
                  <a:lnTo>
                    <a:pt x="871" y="1423"/>
                  </a:lnTo>
                  <a:lnTo>
                    <a:pt x="889" y="1411"/>
                  </a:lnTo>
                  <a:lnTo>
                    <a:pt x="907" y="1393"/>
                  </a:lnTo>
                  <a:lnTo>
                    <a:pt x="937" y="1369"/>
                  </a:lnTo>
                  <a:lnTo>
                    <a:pt x="991" y="1320"/>
                  </a:lnTo>
                  <a:lnTo>
                    <a:pt x="1015" y="1309"/>
                  </a:lnTo>
                  <a:lnTo>
                    <a:pt x="1033" y="1297"/>
                  </a:lnTo>
                  <a:lnTo>
                    <a:pt x="1057" y="1279"/>
                  </a:lnTo>
                  <a:lnTo>
                    <a:pt x="1086" y="1249"/>
                  </a:lnTo>
                  <a:lnTo>
                    <a:pt x="1111" y="1225"/>
                  </a:lnTo>
                  <a:lnTo>
                    <a:pt x="1123" y="1219"/>
                  </a:lnTo>
                  <a:lnTo>
                    <a:pt x="1123" y="1213"/>
                  </a:lnTo>
                  <a:lnTo>
                    <a:pt x="1057" y="1153"/>
                  </a:lnTo>
                  <a:lnTo>
                    <a:pt x="979" y="1051"/>
                  </a:lnTo>
                  <a:lnTo>
                    <a:pt x="877" y="1021"/>
                  </a:lnTo>
                  <a:lnTo>
                    <a:pt x="685" y="931"/>
                  </a:lnTo>
                  <a:lnTo>
                    <a:pt x="655" y="907"/>
                  </a:lnTo>
                  <a:lnTo>
                    <a:pt x="721" y="876"/>
                  </a:lnTo>
                  <a:lnTo>
                    <a:pt x="655" y="846"/>
                  </a:lnTo>
                  <a:lnTo>
                    <a:pt x="612" y="774"/>
                  </a:lnTo>
                  <a:lnTo>
                    <a:pt x="643" y="708"/>
                  </a:lnTo>
                  <a:lnTo>
                    <a:pt x="600" y="660"/>
                  </a:lnTo>
                  <a:lnTo>
                    <a:pt x="552" y="642"/>
                  </a:lnTo>
                  <a:lnTo>
                    <a:pt x="528" y="594"/>
                  </a:lnTo>
                  <a:lnTo>
                    <a:pt x="510" y="570"/>
                  </a:lnTo>
                  <a:lnTo>
                    <a:pt x="552" y="552"/>
                  </a:lnTo>
                  <a:lnTo>
                    <a:pt x="637" y="564"/>
                  </a:lnTo>
                  <a:lnTo>
                    <a:pt x="721" y="576"/>
                  </a:lnTo>
                  <a:lnTo>
                    <a:pt x="763" y="570"/>
                  </a:lnTo>
                  <a:lnTo>
                    <a:pt x="931" y="696"/>
                  </a:lnTo>
                  <a:lnTo>
                    <a:pt x="1091" y="850"/>
                  </a:lnTo>
                  <a:lnTo>
                    <a:pt x="1073" y="685"/>
                  </a:lnTo>
                  <a:lnTo>
                    <a:pt x="1009" y="566"/>
                  </a:lnTo>
                  <a:lnTo>
                    <a:pt x="945" y="393"/>
                  </a:lnTo>
                  <a:lnTo>
                    <a:pt x="1054" y="265"/>
                  </a:lnTo>
                  <a:lnTo>
                    <a:pt x="1137" y="45"/>
                  </a:lnTo>
                  <a:lnTo>
                    <a:pt x="1249" y="0"/>
                  </a:lnTo>
                  <a:lnTo>
                    <a:pt x="1338" y="137"/>
                  </a:lnTo>
                  <a:lnTo>
                    <a:pt x="1466" y="292"/>
                  </a:lnTo>
                  <a:lnTo>
                    <a:pt x="1502" y="411"/>
                  </a:lnTo>
                  <a:lnTo>
                    <a:pt x="1475" y="548"/>
                  </a:lnTo>
                  <a:lnTo>
                    <a:pt x="1347" y="768"/>
                  </a:lnTo>
                  <a:lnTo>
                    <a:pt x="1567" y="630"/>
                  </a:lnTo>
                  <a:lnTo>
                    <a:pt x="1687" y="462"/>
                  </a:lnTo>
                  <a:lnTo>
                    <a:pt x="1795" y="365"/>
                  </a:lnTo>
                  <a:lnTo>
                    <a:pt x="1940" y="239"/>
                  </a:lnTo>
                  <a:lnTo>
                    <a:pt x="2245" y="150"/>
                  </a:lnTo>
                  <a:lnTo>
                    <a:pt x="2498" y="138"/>
                  </a:lnTo>
                  <a:lnTo>
                    <a:pt x="2618" y="180"/>
                  </a:lnTo>
                  <a:lnTo>
                    <a:pt x="2815" y="138"/>
                  </a:lnTo>
                  <a:lnTo>
                    <a:pt x="3050" y="150"/>
                  </a:lnTo>
                  <a:lnTo>
                    <a:pt x="3176" y="168"/>
                  </a:lnTo>
                  <a:lnTo>
                    <a:pt x="3140" y="210"/>
                  </a:lnTo>
                  <a:lnTo>
                    <a:pt x="3116" y="192"/>
                  </a:lnTo>
                  <a:lnTo>
                    <a:pt x="2990" y="210"/>
                  </a:lnTo>
                  <a:lnTo>
                    <a:pt x="2906" y="263"/>
                  </a:lnTo>
                  <a:lnTo>
                    <a:pt x="2834" y="377"/>
                  </a:lnTo>
                  <a:lnTo>
                    <a:pt x="2768" y="534"/>
                  </a:lnTo>
                  <a:lnTo>
                    <a:pt x="2702" y="648"/>
                  </a:lnTo>
                  <a:lnTo>
                    <a:pt x="2738" y="726"/>
                  </a:lnTo>
                  <a:lnTo>
                    <a:pt x="2582" y="828"/>
                  </a:lnTo>
                  <a:lnTo>
                    <a:pt x="2444" y="913"/>
                  </a:lnTo>
                  <a:lnTo>
                    <a:pt x="2234" y="1009"/>
                  </a:lnTo>
                  <a:lnTo>
                    <a:pt x="2096" y="1063"/>
                  </a:lnTo>
                  <a:lnTo>
                    <a:pt x="1963" y="1075"/>
                  </a:lnTo>
                  <a:lnTo>
                    <a:pt x="2035" y="1117"/>
                  </a:lnTo>
                  <a:lnTo>
                    <a:pt x="2257" y="1111"/>
                  </a:lnTo>
                  <a:lnTo>
                    <a:pt x="2545" y="1135"/>
                  </a:lnTo>
                  <a:lnTo>
                    <a:pt x="2600" y="1207"/>
                  </a:lnTo>
                  <a:lnTo>
                    <a:pt x="2726" y="1303"/>
                  </a:lnTo>
                  <a:lnTo>
                    <a:pt x="2894" y="1441"/>
                  </a:lnTo>
                  <a:lnTo>
                    <a:pt x="2984" y="1471"/>
                  </a:lnTo>
                  <a:lnTo>
                    <a:pt x="3122" y="1555"/>
                  </a:lnTo>
                  <a:lnTo>
                    <a:pt x="3188" y="1543"/>
                  </a:lnTo>
                  <a:lnTo>
                    <a:pt x="3032" y="1585"/>
                  </a:lnTo>
                  <a:lnTo>
                    <a:pt x="3026" y="1585"/>
                  </a:lnTo>
                  <a:lnTo>
                    <a:pt x="3008" y="1591"/>
                  </a:lnTo>
                  <a:lnTo>
                    <a:pt x="2984" y="1591"/>
                  </a:lnTo>
                  <a:lnTo>
                    <a:pt x="2960" y="1597"/>
                  </a:lnTo>
                  <a:lnTo>
                    <a:pt x="2906" y="1603"/>
                  </a:lnTo>
                  <a:lnTo>
                    <a:pt x="2882" y="1609"/>
                  </a:lnTo>
                  <a:lnTo>
                    <a:pt x="2864" y="1609"/>
                  </a:lnTo>
                  <a:lnTo>
                    <a:pt x="2846" y="1609"/>
                  </a:lnTo>
                  <a:lnTo>
                    <a:pt x="2828" y="1609"/>
                  </a:lnTo>
                  <a:lnTo>
                    <a:pt x="2774" y="1615"/>
                  </a:lnTo>
                  <a:lnTo>
                    <a:pt x="2750" y="1615"/>
                  </a:lnTo>
                  <a:lnTo>
                    <a:pt x="2726" y="1621"/>
                  </a:lnTo>
                  <a:lnTo>
                    <a:pt x="2714" y="1621"/>
                  </a:lnTo>
                  <a:lnTo>
                    <a:pt x="2708" y="1621"/>
                  </a:lnTo>
                  <a:lnTo>
                    <a:pt x="2606" y="1657"/>
                  </a:lnTo>
                  <a:lnTo>
                    <a:pt x="2594" y="1657"/>
                  </a:lnTo>
                  <a:lnTo>
                    <a:pt x="2569" y="1657"/>
                  </a:lnTo>
                  <a:lnTo>
                    <a:pt x="2533" y="1663"/>
                  </a:lnTo>
                  <a:lnTo>
                    <a:pt x="2486" y="1669"/>
                  </a:lnTo>
                  <a:lnTo>
                    <a:pt x="2444" y="1675"/>
                  </a:lnTo>
                  <a:lnTo>
                    <a:pt x="2408" y="1681"/>
                  </a:lnTo>
                  <a:lnTo>
                    <a:pt x="2378" y="1687"/>
                  </a:lnTo>
                  <a:lnTo>
                    <a:pt x="2366" y="1699"/>
                  </a:lnTo>
                  <a:lnTo>
                    <a:pt x="2360" y="1705"/>
                  </a:lnTo>
                  <a:lnTo>
                    <a:pt x="2342" y="1705"/>
                  </a:lnTo>
                  <a:lnTo>
                    <a:pt x="2305" y="1687"/>
                  </a:lnTo>
                  <a:lnTo>
                    <a:pt x="2275" y="1669"/>
                  </a:lnTo>
                  <a:lnTo>
                    <a:pt x="2263" y="1663"/>
                  </a:lnTo>
                  <a:lnTo>
                    <a:pt x="2257" y="1657"/>
                  </a:lnTo>
                  <a:lnTo>
                    <a:pt x="2017" y="1585"/>
                  </a:lnTo>
                  <a:lnTo>
                    <a:pt x="1844" y="1489"/>
                  </a:lnTo>
                  <a:lnTo>
                    <a:pt x="1711" y="1453"/>
                  </a:lnTo>
                  <a:lnTo>
                    <a:pt x="1856" y="1693"/>
                  </a:lnTo>
                  <a:lnTo>
                    <a:pt x="1880" y="1844"/>
                  </a:lnTo>
                  <a:lnTo>
                    <a:pt x="1856" y="1994"/>
                  </a:lnTo>
                  <a:lnTo>
                    <a:pt x="1771" y="1922"/>
                  </a:lnTo>
                  <a:lnTo>
                    <a:pt x="1616" y="1795"/>
                  </a:lnTo>
                  <a:lnTo>
                    <a:pt x="1531" y="1753"/>
                  </a:lnTo>
                  <a:lnTo>
                    <a:pt x="1483" y="1633"/>
                  </a:lnTo>
                  <a:lnTo>
                    <a:pt x="1411" y="1477"/>
                  </a:lnTo>
                  <a:lnTo>
                    <a:pt x="1358" y="1381"/>
                  </a:lnTo>
                  <a:lnTo>
                    <a:pt x="1219" y="1291"/>
                  </a:lnTo>
                  <a:lnTo>
                    <a:pt x="1147" y="1279"/>
                  </a:lnTo>
                  <a:lnTo>
                    <a:pt x="127" y="2006"/>
                  </a:lnTo>
                  <a:lnTo>
                    <a:pt x="0" y="2024"/>
                  </a:lnTo>
                  <a:lnTo>
                    <a:pt x="865" y="1429"/>
                  </a:lnTo>
                  <a:lnTo>
                    <a:pt x="865" y="1429"/>
                  </a:lnTo>
                  <a:close/>
                </a:path>
              </a:pathLst>
            </a:custGeom>
            <a:gradFill rotWithShape="0">
              <a:gsLst>
                <a:gs pos="0">
                  <a:schemeClr val="bg2"/>
                </a:gs>
                <a:gs pos="100000">
                  <a:schemeClr val="bg1"/>
                </a:gs>
              </a:gsLst>
              <a:lin ang="2700000" scaled="1"/>
            </a:gradFill>
            <a:ln w="9525">
              <a:noFill/>
              <a:round/>
              <a:headEnd/>
              <a:tailEnd/>
            </a:ln>
          </p:spPr>
          <p:txBody>
            <a:bodyPr/>
            <a:lstStyle/>
            <a:p>
              <a:endParaRPr lang="es-BO"/>
            </a:p>
          </p:txBody>
        </p:sp>
        <p:sp>
          <p:nvSpPr>
            <p:cNvPr id="114706" name="Freeform 18"/>
            <p:cNvSpPr>
              <a:spLocks/>
            </p:cNvSpPr>
            <p:nvPr/>
          </p:nvSpPr>
          <p:spPr bwMode="hidden">
            <a:xfrm>
              <a:off x="1344" y="293"/>
              <a:ext cx="2144" cy="1787"/>
            </a:xfrm>
            <a:custGeom>
              <a:avLst/>
              <a:gdLst/>
              <a:ahLst/>
              <a:cxnLst>
                <a:cxn ang="0">
                  <a:pos x="318" y="1078"/>
                </a:cxn>
                <a:cxn ang="0">
                  <a:pos x="217" y="928"/>
                </a:cxn>
                <a:cxn ang="0">
                  <a:pos x="102" y="808"/>
                </a:cxn>
                <a:cxn ang="0">
                  <a:pos x="36" y="742"/>
                </a:cxn>
                <a:cxn ang="0">
                  <a:pos x="0" y="700"/>
                </a:cxn>
                <a:cxn ang="0">
                  <a:pos x="270" y="958"/>
                </a:cxn>
                <a:cxn ang="0">
                  <a:pos x="294" y="1006"/>
                </a:cxn>
                <a:cxn ang="0">
                  <a:pos x="367" y="670"/>
                </a:cxn>
                <a:cxn ang="0">
                  <a:pos x="379" y="411"/>
                </a:cxn>
                <a:cxn ang="0">
                  <a:pos x="347" y="118"/>
                </a:cxn>
                <a:cxn ang="0">
                  <a:pos x="393" y="0"/>
                </a:cxn>
                <a:cxn ang="0">
                  <a:pos x="397" y="357"/>
                </a:cxn>
                <a:cxn ang="0">
                  <a:pos x="421" y="609"/>
                </a:cxn>
                <a:cxn ang="0">
                  <a:pos x="385" y="826"/>
                </a:cxn>
                <a:cxn ang="0">
                  <a:pos x="385" y="1036"/>
                </a:cxn>
                <a:cxn ang="0">
                  <a:pos x="877" y="784"/>
                </a:cxn>
                <a:cxn ang="0">
                  <a:pos x="1309" y="555"/>
                </a:cxn>
                <a:cxn ang="0">
                  <a:pos x="1802" y="249"/>
                </a:cxn>
                <a:cxn ang="0">
                  <a:pos x="2096" y="69"/>
                </a:cxn>
                <a:cxn ang="0">
                  <a:pos x="1814" y="279"/>
                </a:cxn>
                <a:cxn ang="0">
                  <a:pos x="1453" y="501"/>
                </a:cxn>
                <a:cxn ang="0">
                  <a:pos x="1123" y="700"/>
                </a:cxn>
                <a:cxn ang="0">
                  <a:pos x="739" y="898"/>
                </a:cxn>
                <a:cxn ang="0">
                  <a:pos x="463" y="1084"/>
                </a:cxn>
                <a:cxn ang="0">
                  <a:pos x="817" y="1193"/>
                </a:cxn>
                <a:cxn ang="0">
                  <a:pos x="1285" y="1187"/>
                </a:cxn>
                <a:cxn ang="0">
                  <a:pos x="1916" y="1396"/>
                </a:cxn>
                <a:cxn ang="0">
                  <a:pos x="2144" y="1420"/>
                </a:cxn>
                <a:cxn ang="0">
                  <a:pos x="1814" y="1408"/>
                </a:cxn>
                <a:cxn ang="0">
                  <a:pos x="1435" y="1288"/>
                </a:cxn>
                <a:cxn ang="0">
                  <a:pos x="1219" y="1229"/>
                </a:cxn>
                <a:cxn ang="0">
                  <a:pos x="799" y="1223"/>
                </a:cxn>
                <a:cxn ang="0">
                  <a:pos x="505" y="1145"/>
                </a:cxn>
                <a:cxn ang="0">
                  <a:pos x="733" y="1378"/>
                </a:cxn>
                <a:cxn ang="0">
                  <a:pos x="877" y="1619"/>
                </a:cxn>
                <a:cxn ang="0">
                  <a:pos x="1009" y="1787"/>
                </a:cxn>
                <a:cxn ang="0">
                  <a:pos x="817" y="1607"/>
                </a:cxn>
                <a:cxn ang="0">
                  <a:pos x="673" y="1372"/>
                </a:cxn>
                <a:cxn ang="0">
                  <a:pos x="415" y="1109"/>
                </a:cxn>
                <a:cxn ang="0">
                  <a:pos x="318" y="1078"/>
                </a:cxn>
                <a:cxn ang="0">
                  <a:pos x="318" y="1078"/>
                </a:cxn>
              </a:cxnLst>
              <a:rect l="0" t="0" r="r" b="b"/>
              <a:pathLst>
                <a:path w="2144" h="1787">
                  <a:moveTo>
                    <a:pt x="318" y="1078"/>
                  </a:moveTo>
                  <a:lnTo>
                    <a:pt x="217" y="928"/>
                  </a:lnTo>
                  <a:lnTo>
                    <a:pt x="102" y="808"/>
                  </a:lnTo>
                  <a:lnTo>
                    <a:pt x="36" y="742"/>
                  </a:lnTo>
                  <a:lnTo>
                    <a:pt x="0" y="700"/>
                  </a:lnTo>
                  <a:lnTo>
                    <a:pt x="270" y="958"/>
                  </a:lnTo>
                  <a:lnTo>
                    <a:pt x="294" y="1006"/>
                  </a:lnTo>
                  <a:lnTo>
                    <a:pt x="367" y="670"/>
                  </a:lnTo>
                  <a:lnTo>
                    <a:pt x="379" y="411"/>
                  </a:lnTo>
                  <a:lnTo>
                    <a:pt x="347" y="118"/>
                  </a:lnTo>
                  <a:lnTo>
                    <a:pt x="393" y="0"/>
                  </a:lnTo>
                  <a:lnTo>
                    <a:pt x="397" y="357"/>
                  </a:lnTo>
                  <a:lnTo>
                    <a:pt x="421" y="609"/>
                  </a:lnTo>
                  <a:lnTo>
                    <a:pt x="385" y="826"/>
                  </a:lnTo>
                  <a:lnTo>
                    <a:pt x="385" y="1036"/>
                  </a:lnTo>
                  <a:lnTo>
                    <a:pt x="877" y="784"/>
                  </a:lnTo>
                  <a:lnTo>
                    <a:pt x="1309" y="555"/>
                  </a:lnTo>
                  <a:lnTo>
                    <a:pt x="1802" y="249"/>
                  </a:lnTo>
                  <a:lnTo>
                    <a:pt x="2096" y="69"/>
                  </a:lnTo>
                  <a:lnTo>
                    <a:pt x="1814" y="279"/>
                  </a:lnTo>
                  <a:lnTo>
                    <a:pt x="1453" y="501"/>
                  </a:lnTo>
                  <a:lnTo>
                    <a:pt x="1123" y="700"/>
                  </a:lnTo>
                  <a:lnTo>
                    <a:pt x="739" y="898"/>
                  </a:lnTo>
                  <a:lnTo>
                    <a:pt x="463" y="1084"/>
                  </a:lnTo>
                  <a:lnTo>
                    <a:pt x="817" y="1193"/>
                  </a:lnTo>
                  <a:lnTo>
                    <a:pt x="1285" y="1187"/>
                  </a:lnTo>
                  <a:lnTo>
                    <a:pt x="1916" y="1396"/>
                  </a:lnTo>
                  <a:lnTo>
                    <a:pt x="2144" y="1420"/>
                  </a:lnTo>
                  <a:lnTo>
                    <a:pt x="1814" y="1408"/>
                  </a:lnTo>
                  <a:lnTo>
                    <a:pt x="1435" y="1288"/>
                  </a:lnTo>
                  <a:lnTo>
                    <a:pt x="1219" y="1229"/>
                  </a:lnTo>
                  <a:lnTo>
                    <a:pt x="799" y="1223"/>
                  </a:lnTo>
                  <a:lnTo>
                    <a:pt x="505" y="1145"/>
                  </a:lnTo>
                  <a:lnTo>
                    <a:pt x="733" y="1378"/>
                  </a:lnTo>
                  <a:lnTo>
                    <a:pt x="877" y="1619"/>
                  </a:lnTo>
                  <a:lnTo>
                    <a:pt x="1009" y="1787"/>
                  </a:lnTo>
                  <a:lnTo>
                    <a:pt x="817" y="1607"/>
                  </a:lnTo>
                  <a:lnTo>
                    <a:pt x="673" y="1372"/>
                  </a:lnTo>
                  <a:lnTo>
                    <a:pt x="415" y="1109"/>
                  </a:lnTo>
                  <a:lnTo>
                    <a:pt x="318" y="1078"/>
                  </a:lnTo>
                  <a:lnTo>
                    <a:pt x="318" y="1078"/>
                  </a:lnTo>
                  <a:close/>
                </a:path>
              </a:pathLst>
            </a:custGeom>
            <a:gradFill rotWithShape="0">
              <a:gsLst>
                <a:gs pos="0">
                  <a:schemeClr val="accent2"/>
                </a:gs>
                <a:gs pos="100000">
                  <a:schemeClr val="bg1"/>
                </a:gs>
              </a:gsLst>
              <a:lin ang="5400000" scaled="1"/>
            </a:gradFill>
            <a:ln w="9525">
              <a:noFill/>
              <a:round/>
              <a:headEnd/>
              <a:tailEnd/>
            </a:ln>
          </p:spPr>
          <p:txBody>
            <a:bodyPr/>
            <a:lstStyle/>
            <a:p>
              <a:endParaRPr lang="es-BO"/>
            </a:p>
          </p:txBody>
        </p:sp>
        <p:sp>
          <p:nvSpPr>
            <p:cNvPr id="114707" name="Freeform 19"/>
            <p:cNvSpPr>
              <a:spLocks/>
            </p:cNvSpPr>
            <p:nvPr/>
          </p:nvSpPr>
          <p:spPr bwMode="hidden">
            <a:xfrm>
              <a:off x="2932" y="1728"/>
              <a:ext cx="2828" cy="2366"/>
            </a:xfrm>
            <a:custGeom>
              <a:avLst/>
              <a:gdLst/>
              <a:ahLst/>
              <a:cxnLst>
                <a:cxn ang="0">
                  <a:pos x="1814" y="606"/>
                </a:cxn>
                <a:cxn ang="0">
                  <a:pos x="1615" y="252"/>
                </a:cxn>
                <a:cxn ang="0">
                  <a:pos x="1345" y="132"/>
                </a:cxn>
                <a:cxn ang="0">
                  <a:pos x="1381" y="492"/>
                </a:cxn>
                <a:cxn ang="0">
                  <a:pos x="955" y="221"/>
                </a:cxn>
                <a:cxn ang="0">
                  <a:pos x="877" y="161"/>
                </a:cxn>
                <a:cxn ang="0">
                  <a:pos x="841" y="167"/>
                </a:cxn>
                <a:cxn ang="0">
                  <a:pos x="720" y="161"/>
                </a:cxn>
                <a:cxn ang="0">
                  <a:pos x="613" y="144"/>
                </a:cxn>
                <a:cxn ang="0">
                  <a:pos x="492" y="161"/>
                </a:cxn>
                <a:cxn ang="0">
                  <a:pos x="432" y="150"/>
                </a:cxn>
                <a:cxn ang="0">
                  <a:pos x="342" y="138"/>
                </a:cxn>
                <a:cxn ang="0">
                  <a:pos x="246" y="126"/>
                </a:cxn>
                <a:cxn ang="0">
                  <a:pos x="174" y="114"/>
                </a:cxn>
                <a:cxn ang="0">
                  <a:pos x="216" y="240"/>
                </a:cxn>
                <a:cxn ang="0">
                  <a:pos x="607" y="588"/>
                </a:cxn>
                <a:cxn ang="0">
                  <a:pos x="1177" y="817"/>
                </a:cxn>
                <a:cxn ang="0">
                  <a:pos x="972" y="871"/>
                </a:cxn>
                <a:cxn ang="0">
                  <a:pos x="492" y="1111"/>
                </a:cxn>
                <a:cxn ang="0">
                  <a:pos x="276" y="1441"/>
                </a:cxn>
                <a:cxn ang="0">
                  <a:pos x="42" y="1441"/>
                </a:cxn>
                <a:cxn ang="0">
                  <a:pos x="367" y="1585"/>
                </a:cxn>
                <a:cxn ang="0">
                  <a:pos x="949" y="1712"/>
                </a:cxn>
                <a:cxn ang="0">
                  <a:pos x="1519" y="1537"/>
                </a:cxn>
                <a:cxn ang="0">
                  <a:pos x="1735" y="1513"/>
                </a:cxn>
                <a:cxn ang="0">
                  <a:pos x="1723" y="1802"/>
                </a:cxn>
                <a:cxn ang="0">
                  <a:pos x="2042" y="2229"/>
                </a:cxn>
                <a:cxn ang="0">
                  <a:pos x="2191" y="2133"/>
                </a:cxn>
                <a:cxn ang="0">
                  <a:pos x="2270" y="1970"/>
                </a:cxn>
                <a:cxn ang="0">
                  <a:pos x="2233" y="1573"/>
                </a:cxn>
                <a:cxn ang="0">
                  <a:pos x="2294" y="1483"/>
                </a:cxn>
                <a:cxn ang="0">
                  <a:pos x="2588" y="1688"/>
                </a:cxn>
                <a:cxn ang="0">
                  <a:pos x="2695" y="1682"/>
                </a:cxn>
                <a:cxn ang="0">
                  <a:pos x="2588" y="1543"/>
                </a:cxn>
                <a:cxn ang="0">
                  <a:pos x="2510" y="1357"/>
                </a:cxn>
                <a:cxn ang="0">
                  <a:pos x="2354" y="1184"/>
                </a:cxn>
                <a:cxn ang="0">
                  <a:pos x="2102" y="931"/>
                </a:cxn>
                <a:cxn ang="0">
                  <a:pos x="2137" y="907"/>
                </a:cxn>
                <a:cxn ang="0">
                  <a:pos x="2215" y="871"/>
                </a:cxn>
                <a:cxn ang="0">
                  <a:pos x="2324" y="817"/>
                </a:cxn>
                <a:cxn ang="0">
                  <a:pos x="2372" y="787"/>
                </a:cxn>
                <a:cxn ang="0">
                  <a:pos x="2078" y="865"/>
                </a:cxn>
              </a:cxnLst>
              <a:rect l="0" t="0" r="r" b="b"/>
              <a:pathLst>
                <a:path w="2828" h="2366">
                  <a:moveTo>
                    <a:pt x="2006" y="835"/>
                  </a:moveTo>
                  <a:lnTo>
                    <a:pt x="1873" y="715"/>
                  </a:lnTo>
                  <a:lnTo>
                    <a:pt x="1814" y="606"/>
                  </a:lnTo>
                  <a:lnTo>
                    <a:pt x="1747" y="438"/>
                  </a:lnTo>
                  <a:lnTo>
                    <a:pt x="1699" y="312"/>
                  </a:lnTo>
                  <a:lnTo>
                    <a:pt x="1615" y="252"/>
                  </a:lnTo>
                  <a:lnTo>
                    <a:pt x="1453" y="84"/>
                  </a:lnTo>
                  <a:lnTo>
                    <a:pt x="1375" y="0"/>
                  </a:lnTo>
                  <a:lnTo>
                    <a:pt x="1345" y="132"/>
                  </a:lnTo>
                  <a:lnTo>
                    <a:pt x="1369" y="294"/>
                  </a:lnTo>
                  <a:lnTo>
                    <a:pt x="1513" y="558"/>
                  </a:lnTo>
                  <a:lnTo>
                    <a:pt x="1381" y="492"/>
                  </a:lnTo>
                  <a:lnTo>
                    <a:pt x="1201" y="360"/>
                  </a:lnTo>
                  <a:lnTo>
                    <a:pt x="961" y="227"/>
                  </a:lnTo>
                  <a:lnTo>
                    <a:pt x="955" y="221"/>
                  </a:lnTo>
                  <a:lnTo>
                    <a:pt x="949" y="215"/>
                  </a:lnTo>
                  <a:lnTo>
                    <a:pt x="913" y="185"/>
                  </a:lnTo>
                  <a:lnTo>
                    <a:pt x="877" y="161"/>
                  </a:lnTo>
                  <a:lnTo>
                    <a:pt x="859" y="156"/>
                  </a:lnTo>
                  <a:lnTo>
                    <a:pt x="853" y="161"/>
                  </a:lnTo>
                  <a:lnTo>
                    <a:pt x="841" y="167"/>
                  </a:lnTo>
                  <a:lnTo>
                    <a:pt x="810" y="173"/>
                  </a:lnTo>
                  <a:lnTo>
                    <a:pt x="768" y="167"/>
                  </a:lnTo>
                  <a:lnTo>
                    <a:pt x="720" y="161"/>
                  </a:lnTo>
                  <a:lnTo>
                    <a:pt x="678" y="156"/>
                  </a:lnTo>
                  <a:lnTo>
                    <a:pt x="637" y="150"/>
                  </a:lnTo>
                  <a:lnTo>
                    <a:pt x="613" y="144"/>
                  </a:lnTo>
                  <a:lnTo>
                    <a:pt x="601" y="144"/>
                  </a:lnTo>
                  <a:lnTo>
                    <a:pt x="498" y="161"/>
                  </a:lnTo>
                  <a:lnTo>
                    <a:pt x="492" y="161"/>
                  </a:lnTo>
                  <a:lnTo>
                    <a:pt x="480" y="156"/>
                  </a:lnTo>
                  <a:lnTo>
                    <a:pt x="456" y="156"/>
                  </a:lnTo>
                  <a:lnTo>
                    <a:pt x="432" y="150"/>
                  </a:lnTo>
                  <a:lnTo>
                    <a:pt x="379" y="144"/>
                  </a:lnTo>
                  <a:lnTo>
                    <a:pt x="361" y="138"/>
                  </a:lnTo>
                  <a:lnTo>
                    <a:pt x="342" y="138"/>
                  </a:lnTo>
                  <a:lnTo>
                    <a:pt x="324" y="138"/>
                  </a:lnTo>
                  <a:lnTo>
                    <a:pt x="300" y="132"/>
                  </a:lnTo>
                  <a:lnTo>
                    <a:pt x="246" y="126"/>
                  </a:lnTo>
                  <a:lnTo>
                    <a:pt x="216" y="120"/>
                  </a:lnTo>
                  <a:lnTo>
                    <a:pt x="192" y="120"/>
                  </a:lnTo>
                  <a:lnTo>
                    <a:pt x="174" y="114"/>
                  </a:lnTo>
                  <a:lnTo>
                    <a:pt x="168" y="114"/>
                  </a:lnTo>
                  <a:lnTo>
                    <a:pt x="6" y="120"/>
                  </a:lnTo>
                  <a:lnTo>
                    <a:pt x="216" y="240"/>
                  </a:lnTo>
                  <a:lnTo>
                    <a:pt x="306" y="294"/>
                  </a:lnTo>
                  <a:lnTo>
                    <a:pt x="480" y="462"/>
                  </a:lnTo>
                  <a:lnTo>
                    <a:pt x="607" y="588"/>
                  </a:lnTo>
                  <a:lnTo>
                    <a:pt x="655" y="672"/>
                  </a:lnTo>
                  <a:lnTo>
                    <a:pt x="949" y="769"/>
                  </a:lnTo>
                  <a:lnTo>
                    <a:pt x="1177" y="817"/>
                  </a:lnTo>
                  <a:lnTo>
                    <a:pt x="1249" y="871"/>
                  </a:lnTo>
                  <a:lnTo>
                    <a:pt x="1117" y="853"/>
                  </a:lnTo>
                  <a:lnTo>
                    <a:pt x="972" y="871"/>
                  </a:lnTo>
                  <a:lnTo>
                    <a:pt x="756" y="919"/>
                  </a:lnTo>
                  <a:lnTo>
                    <a:pt x="619" y="961"/>
                  </a:lnTo>
                  <a:lnTo>
                    <a:pt x="492" y="1111"/>
                  </a:lnTo>
                  <a:lnTo>
                    <a:pt x="420" y="1214"/>
                  </a:lnTo>
                  <a:lnTo>
                    <a:pt x="348" y="1345"/>
                  </a:lnTo>
                  <a:lnTo>
                    <a:pt x="276" y="1441"/>
                  </a:lnTo>
                  <a:lnTo>
                    <a:pt x="192" y="1471"/>
                  </a:lnTo>
                  <a:lnTo>
                    <a:pt x="66" y="1465"/>
                  </a:lnTo>
                  <a:lnTo>
                    <a:pt x="42" y="1441"/>
                  </a:lnTo>
                  <a:lnTo>
                    <a:pt x="0" y="1471"/>
                  </a:lnTo>
                  <a:lnTo>
                    <a:pt x="126" y="1519"/>
                  </a:lnTo>
                  <a:lnTo>
                    <a:pt x="367" y="1585"/>
                  </a:lnTo>
                  <a:lnTo>
                    <a:pt x="570" y="1591"/>
                  </a:lnTo>
                  <a:lnTo>
                    <a:pt x="690" y="1664"/>
                  </a:lnTo>
                  <a:lnTo>
                    <a:pt x="949" y="1712"/>
                  </a:lnTo>
                  <a:lnTo>
                    <a:pt x="1260" y="1694"/>
                  </a:lnTo>
                  <a:lnTo>
                    <a:pt x="1411" y="1603"/>
                  </a:lnTo>
                  <a:lnTo>
                    <a:pt x="1519" y="1537"/>
                  </a:lnTo>
                  <a:lnTo>
                    <a:pt x="1645" y="1399"/>
                  </a:lnTo>
                  <a:lnTo>
                    <a:pt x="1699" y="1387"/>
                  </a:lnTo>
                  <a:lnTo>
                    <a:pt x="1735" y="1513"/>
                  </a:lnTo>
                  <a:lnTo>
                    <a:pt x="1729" y="1567"/>
                  </a:lnTo>
                  <a:lnTo>
                    <a:pt x="1723" y="1670"/>
                  </a:lnTo>
                  <a:lnTo>
                    <a:pt x="1723" y="1802"/>
                  </a:lnTo>
                  <a:lnTo>
                    <a:pt x="1831" y="1964"/>
                  </a:lnTo>
                  <a:lnTo>
                    <a:pt x="1957" y="2090"/>
                  </a:lnTo>
                  <a:lnTo>
                    <a:pt x="2042" y="2229"/>
                  </a:lnTo>
                  <a:lnTo>
                    <a:pt x="2155" y="2366"/>
                  </a:lnTo>
                  <a:lnTo>
                    <a:pt x="2161" y="2295"/>
                  </a:lnTo>
                  <a:lnTo>
                    <a:pt x="2191" y="2133"/>
                  </a:lnTo>
                  <a:lnTo>
                    <a:pt x="2215" y="2048"/>
                  </a:lnTo>
                  <a:lnTo>
                    <a:pt x="2258" y="2042"/>
                  </a:lnTo>
                  <a:lnTo>
                    <a:pt x="2270" y="1970"/>
                  </a:lnTo>
                  <a:lnTo>
                    <a:pt x="2342" y="1868"/>
                  </a:lnTo>
                  <a:lnTo>
                    <a:pt x="2324" y="1748"/>
                  </a:lnTo>
                  <a:lnTo>
                    <a:pt x="2233" y="1573"/>
                  </a:lnTo>
                  <a:lnTo>
                    <a:pt x="2209" y="1453"/>
                  </a:lnTo>
                  <a:lnTo>
                    <a:pt x="2209" y="1345"/>
                  </a:lnTo>
                  <a:lnTo>
                    <a:pt x="2294" y="1483"/>
                  </a:lnTo>
                  <a:lnTo>
                    <a:pt x="2461" y="1651"/>
                  </a:lnTo>
                  <a:lnTo>
                    <a:pt x="2504" y="1651"/>
                  </a:lnTo>
                  <a:lnTo>
                    <a:pt x="2588" y="1688"/>
                  </a:lnTo>
                  <a:lnTo>
                    <a:pt x="2678" y="1718"/>
                  </a:lnTo>
                  <a:lnTo>
                    <a:pt x="2720" y="1712"/>
                  </a:lnTo>
                  <a:lnTo>
                    <a:pt x="2695" y="1682"/>
                  </a:lnTo>
                  <a:lnTo>
                    <a:pt x="2678" y="1627"/>
                  </a:lnTo>
                  <a:lnTo>
                    <a:pt x="2630" y="1597"/>
                  </a:lnTo>
                  <a:lnTo>
                    <a:pt x="2588" y="1543"/>
                  </a:lnTo>
                  <a:lnTo>
                    <a:pt x="2618" y="1483"/>
                  </a:lnTo>
                  <a:lnTo>
                    <a:pt x="2576" y="1399"/>
                  </a:lnTo>
                  <a:lnTo>
                    <a:pt x="2510" y="1357"/>
                  </a:lnTo>
                  <a:lnTo>
                    <a:pt x="2576" y="1351"/>
                  </a:lnTo>
                  <a:lnTo>
                    <a:pt x="2552" y="1315"/>
                  </a:lnTo>
                  <a:lnTo>
                    <a:pt x="2354" y="1184"/>
                  </a:lnTo>
                  <a:lnTo>
                    <a:pt x="2252" y="1123"/>
                  </a:lnTo>
                  <a:lnTo>
                    <a:pt x="2173" y="1009"/>
                  </a:lnTo>
                  <a:lnTo>
                    <a:pt x="2102" y="931"/>
                  </a:lnTo>
                  <a:lnTo>
                    <a:pt x="2108" y="931"/>
                  </a:lnTo>
                  <a:lnTo>
                    <a:pt x="2114" y="925"/>
                  </a:lnTo>
                  <a:lnTo>
                    <a:pt x="2137" y="907"/>
                  </a:lnTo>
                  <a:lnTo>
                    <a:pt x="2167" y="883"/>
                  </a:lnTo>
                  <a:lnTo>
                    <a:pt x="2197" y="877"/>
                  </a:lnTo>
                  <a:lnTo>
                    <a:pt x="2215" y="871"/>
                  </a:lnTo>
                  <a:lnTo>
                    <a:pt x="2240" y="859"/>
                  </a:lnTo>
                  <a:lnTo>
                    <a:pt x="2300" y="829"/>
                  </a:lnTo>
                  <a:lnTo>
                    <a:pt x="2324" y="817"/>
                  </a:lnTo>
                  <a:lnTo>
                    <a:pt x="2348" y="799"/>
                  </a:lnTo>
                  <a:lnTo>
                    <a:pt x="2366" y="793"/>
                  </a:lnTo>
                  <a:lnTo>
                    <a:pt x="2372" y="787"/>
                  </a:lnTo>
                  <a:lnTo>
                    <a:pt x="2828" y="588"/>
                  </a:lnTo>
                  <a:lnTo>
                    <a:pt x="2828" y="528"/>
                  </a:lnTo>
                  <a:lnTo>
                    <a:pt x="2078" y="865"/>
                  </a:lnTo>
                  <a:lnTo>
                    <a:pt x="2006" y="835"/>
                  </a:lnTo>
                  <a:lnTo>
                    <a:pt x="2006" y="835"/>
                  </a:lnTo>
                  <a:close/>
                </a:path>
              </a:pathLst>
            </a:custGeom>
            <a:gradFill rotWithShape="0">
              <a:gsLst>
                <a:gs pos="0">
                  <a:schemeClr val="bg2"/>
                </a:gs>
                <a:gs pos="50000">
                  <a:schemeClr val="bg1"/>
                </a:gs>
                <a:gs pos="100000">
                  <a:schemeClr val="bg2"/>
                </a:gs>
              </a:gsLst>
              <a:lin ang="2700000" scaled="1"/>
            </a:gradFill>
            <a:ln w="9525">
              <a:noFill/>
              <a:round/>
              <a:headEnd/>
              <a:tailEnd/>
            </a:ln>
          </p:spPr>
          <p:txBody>
            <a:bodyPr/>
            <a:lstStyle/>
            <a:p>
              <a:endParaRPr lang="es-BO"/>
            </a:p>
          </p:txBody>
        </p:sp>
        <p:sp>
          <p:nvSpPr>
            <p:cNvPr id="114708" name="Freeform 20"/>
            <p:cNvSpPr>
              <a:spLocks/>
            </p:cNvSpPr>
            <p:nvPr/>
          </p:nvSpPr>
          <p:spPr bwMode="hidden">
            <a:xfrm>
              <a:off x="3160" y="1860"/>
              <a:ext cx="2162" cy="1934"/>
            </a:xfrm>
            <a:custGeom>
              <a:avLst/>
              <a:gdLst/>
              <a:ahLst/>
              <a:cxnLst>
                <a:cxn ang="0">
                  <a:pos x="1842" y="851"/>
                </a:cxn>
                <a:cxn ang="0">
                  <a:pos x="1937" y="1019"/>
                </a:cxn>
                <a:cxn ang="0">
                  <a:pos x="2051" y="1168"/>
                </a:cxn>
                <a:cxn ang="0">
                  <a:pos x="2117" y="1246"/>
                </a:cxn>
                <a:cxn ang="0">
                  <a:pos x="2153" y="1294"/>
                </a:cxn>
                <a:cxn ang="0">
                  <a:pos x="1889" y="977"/>
                </a:cxn>
                <a:cxn ang="0">
                  <a:pos x="1860" y="929"/>
                </a:cxn>
                <a:cxn ang="0">
                  <a:pos x="1782" y="1240"/>
                </a:cxn>
                <a:cxn ang="0">
                  <a:pos x="1770" y="1486"/>
                </a:cxn>
                <a:cxn ang="0">
                  <a:pos x="1818" y="1906"/>
                </a:cxn>
                <a:cxn ang="0">
                  <a:pos x="1788" y="1930"/>
                </a:cxn>
                <a:cxn ang="0">
                  <a:pos x="1746" y="1534"/>
                </a:cxn>
                <a:cxn ang="0">
                  <a:pos x="1728" y="1288"/>
                </a:cxn>
                <a:cxn ang="0">
                  <a:pos x="1764" y="1085"/>
                </a:cxn>
                <a:cxn ang="0">
                  <a:pos x="1770" y="875"/>
                </a:cxn>
                <a:cxn ang="0">
                  <a:pos x="1268" y="1007"/>
                </a:cxn>
                <a:cxn ang="0">
                  <a:pos x="825" y="1132"/>
                </a:cxn>
                <a:cxn ang="0">
                  <a:pos x="323" y="1312"/>
                </a:cxn>
                <a:cxn ang="0">
                  <a:pos x="18" y="1420"/>
                </a:cxn>
                <a:cxn ang="0">
                  <a:pos x="311" y="1282"/>
                </a:cxn>
                <a:cxn ang="0">
                  <a:pos x="682" y="1144"/>
                </a:cxn>
                <a:cxn ang="0">
                  <a:pos x="1022" y="1037"/>
                </a:cxn>
                <a:cxn ang="0">
                  <a:pos x="1411" y="929"/>
                </a:cxn>
                <a:cxn ang="0">
                  <a:pos x="1692" y="815"/>
                </a:cxn>
                <a:cxn ang="0">
                  <a:pos x="1333" y="623"/>
                </a:cxn>
                <a:cxn ang="0">
                  <a:pos x="861" y="515"/>
                </a:cxn>
                <a:cxn ang="0">
                  <a:pos x="227" y="161"/>
                </a:cxn>
                <a:cxn ang="0">
                  <a:pos x="0" y="83"/>
                </a:cxn>
                <a:cxn ang="0">
                  <a:pos x="329" y="179"/>
                </a:cxn>
                <a:cxn ang="0">
                  <a:pos x="712" y="383"/>
                </a:cxn>
                <a:cxn ang="0">
                  <a:pos x="933" y="491"/>
                </a:cxn>
                <a:cxn ang="0">
                  <a:pos x="1351" y="593"/>
                </a:cxn>
                <a:cxn ang="0">
                  <a:pos x="1650" y="743"/>
                </a:cxn>
                <a:cxn ang="0">
                  <a:pos x="1423" y="461"/>
                </a:cxn>
                <a:cxn ang="0">
                  <a:pos x="1286" y="191"/>
                </a:cxn>
                <a:cxn ang="0">
                  <a:pos x="1154" y="0"/>
                </a:cxn>
                <a:cxn ang="0">
                  <a:pos x="1339" y="215"/>
                </a:cxn>
                <a:cxn ang="0">
                  <a:pos x="1489" y="485"/>
                </a:cxn>
                <a:cxn ang="0">
                  <a:pos x="1746" y="803"/>
                </a:cxn>
                <a:cxn ang="0">
                  <a:pos x="1842" y="851"/>
                </a:cxn>
                <a:cxn ang="0">
                  <a:pos x="1842" y="851"/>
                </a:cxn>
              </a:cxnLst>
              <a:rect l="0" t="0" r="r" b="b"/>
              <a:pathLst>
                <a:path w="2153" h="1930">
                  <a:moveTo>
                    <a:pt x="1842" y="851"/>
                  </a:moveTo>
                  <a:lnTo>
                    <a:pt x="1937" y="1019"/>
                  </a:lnTo>
                  <a:lnTo>
                    <a:pt x="2051" y="1168"/>
                  </a:lnTo>
                  <a:lnTo>
                    <a:pt x="2117" y="1246"/>
                  </a:lnTo>
                  <a:lnTo>
                    <a:pt x="2153" y="1294"/>
                  </a:lnTo>
                  <a:lnTo>
                    <a:pt x="1889" y="977"/>
                  </a:lnTo>
                  <a:lnTo>
                    <a:pt x="1860" y="929"/>
                  </a:lnTo>
                  <a:lnTo>
                    <a:pt x="1782" y="1240"/>
                  </a:lnTo>
                  <a:lnTo>
                    <a:pt x="1770" y="1486"/>
                  </a:lnTo>
                  <a:lnTo>
                    <a:pt x="1818" y="1906"/>
                  </a:lnTo>
                  <a:lnTo>
                    <a:pt x="1788" y="1930"/>
                  </a:lnTo>
                  <a:lnTo>
                    <a:pt x="1746" y="1534"/>
                  </a:lnTo>
                  <a:lnTo>
                    <a:pt x="1728" y="1288"/>
                  </a:lnTo>
                  <a:lnTo>
                    <a:pt x="1764" y="1085"/>
                  </a:lnTo>
                  <a:lnTo>
                    <a:pt x="1770" y="875"/>
                  </a:lnTo>
                  <a:lnTo>
                    <a:pt x="1268" y="1007"/>
                  </a:lnTo>
                  <a:lnTo>
                    <a:pt x="825" y="1132"/>
                  </a:lnTo>
                  <a:lnTo>
                    <a:pt x="323" y="1312"/>
                  </a:lnTo>
                  <a:lnTo>
                    <a:pt x="18" y="1420"/>
                  </a:lnTo>
                  <a:lnTo>
                    <a:pt x="311" y="1282"/>
                  </a:lnTo>
                  <a:lnTo>
                    <a:pt x="682" y="1144"/>
                  </a:lnTo>
                  <a:lnTo>
                    <a:pt x="1022" y="1037"/>
                  </a:lnTo>
                  <a:lnTo>
                    <a:pt x="1411" y="929"/>
                  </a:lnTo>
                  <a:lnTo>
                    <a:pt x="1692" y="815"/>
                  </a:lnTo>
                  <a:lnTo>
                    <a:pt x="1333" y="623"/>
                  </a:lnTo>
                  <a:lnTo>
                    <a:pt x="861" y="515"/>
                  </a:lnTo>
                  <a:lnTo>
                    <a:pt x="227" y="161"/>
                  </a:lnTo>
                  <a:lnTo>
                    <a:pt x="0" y="83"/>
                  </a:lnTo>
                  <a:lnTo>
                    <a:pt x="329" y="179"/>
                  </a:lnTo>
                  <a:lnTo>
                    <a:pt x="712" y="383"/>
                  </a:lnTo>
                  <a:lnTo>
                    <a:pt x="933" y="491"/>
                  </a:lnTo>
                  <a:lnTo>
                    <a:pt x="1351" y="593"/>
                  </a:lnTo>
                  <a:lnTo>
                    <a:pt x="1650" y="743"/>
                  </a:lnTo>
                  <a:lnTo>
                    <a:pt x="1423" y="461"/>
                  </a:lnTo>
                  <a:lnTo>
                    <a:pt x="1286" y="191"/>
                  </a:lnTo>
                  <a:lnTo>
                    <a:pt x="1154" y="0"/>
                  </a:lnTo>
                  <a:lnTo>
                    <a:pt x="1339" y="215"/>
                  </a:lnTo>
                  <a:lnTo>
                    <a:pt x="1489" y="485"/>
                  </a:lnTo>
                  <a:lnTo>
                    <a:pt x="1746" y="803"/>
                  </a:lnTo>
                  <a:lnTo>
                    <a:pt x="1842" y="851"/>
                  </a:lnTo>
                  <a:lnTo>
                    <a:pt x="1842" y="851"/>
                  </a:lnTo>
                  <a:close/>
                </a:path>
              </a:pathLst>
            </a:custGeom>
            <a:gradFill rotWithShape="0">
              <a:gsLst>
                <a:gs pos="0">
                  <a:schemeClr val="accent2"/>
                </a:gs>
                <a:gs pos="100000">
                  <a:schemeClr val="bg1"/>
                </a:gs>
              </a:gsLst>
              <a:lin ang="5400000" scaled="1"/>
            </a:gradFill>
            <a:ln w="9525">
              <a:noFill/>
              <a:round/>
              <a:headEnd/>
              <a:tailEnd/>
            </a:ln>
          </p:spPr>
          <p:txBody>
            <a:bodyPr/>
            <a:lstStyle/>
            <a:p>
              <a:endParaRPr lang="es-BO"/>
            </a:p>
          </p:txBody>
        </p:sp>
      </p:grpSp>
      <p:sp>
        <p:nvSpPr>
          <p:cNvPr id="114709" name="Rectangle 21"/>
          <p:cNvSpPr>
            <a:spLocks noGrp="1" noChangeArrowheads="1"/>
          </p:cNvSpPr>
          <p:nvPr>
            <p:ph type="title"/>
          </p:nvPr>
        </p:nvSpPr>
        <p:spPr bwMode="auto">
          <a:xfrm>
            <a:off x="457200" y="277813"/>
            <a:ext cx="8229600" cy="11430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s-ES" smtClean="0"/>
              <a:t>Haga clic para cambiar el estilo de título	</a:t>
            </a:r>
          </a:p>
        </p:txBody>
      </p:sp>
      <p:sp>
        <p:nvSpPr>
          <p:cNvPr id="114710" name="Rectangle 22"/>
          <p:cNvSpPr>
            <a:spLocks noGrp="1" noChangeArrowheads="1"/>
          </p:cNvSpPr>
          <p:nvPr>
            <p:ph type="body" idx="1"/>
          </p:nvPr>
        </p:nvSpPr>
        <p:spPr bwMode="auto">
          <a:xfrm>
            <a:off x="457200" y="1600200"/>
            <a:ext cx="8229600" cy="45307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p>
        </p:txBody>
      </p:sp>
      <p:sp>
        <p:nvSpPr>
          <p:cNvPr id="114711" name="Rectangle 23"/>
          <p:cNvSpPr>
            <a:spLocks noGrp="1" noChangeArrowheads="1"/>
          </p:cNvSpPr>
          <p:nvPr>
            <p:ph type="dt" sz="half" idx="2"/>
          </p:nvPr>
        </p:nvSpPr>
        <p:spPr bwMode="auto">
          <a:xfrm>
            <a:off x="457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effectLst>
                  <a:outerShdw blurRad="38100" dist="38100" dir="2700000" algn="tl">
                    <a:srgbClr val="000000"/>
                  </a:outerShdw>
                </a:effectLst>
                <a:latin typeface="+mn-lt"/>
              </a:defRPr>
            </a:lvl1pPr>
          </a:lstStyle>
          <a:p>
            <a:endParaRPr lang="es-ES"/>
          </a:p>
        </p:txBody>
      </p:sp>
      <p:sp>
        <p:nvSpPr>
          <p:cNvPr id="114712" name="Rectangle 24"/>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effectLst>
                  <a:outerShdw blurRad="38100" dist="38100" dir="2700000" algn="tl">
                    <a:srgbClr val="000000"/>
                  </a:outerShdw>
                </a:effectLst>
                <a:latin typeface="+mn-lt"/>
              </a:defRPr>
            </a:lvl1pPr>
          </a:lstStyle>
          <a:p>
            <a:endParaRPr lang="es-ES"/>
          </a:p>
        </p:txBody>
      </p:sp>
      <p:sp>
        <p:nvSpPr>
          <p:cNvPr id="114713" name="Rectangle 25"/>
          <p:cNvSpPr>
            <a:spLocks noGrp="1" noChangeArrowheads="1"/>
          </p:cNvSpPr>
          <p:nvPr>
            <p:ph type="sldNum" sz="quarter" idx="4"/>
          </p:nvPr>
        </p:nvSpPr>
        <p:spPr bwMode="auto">
          <a:xfrm>
            <a:off x="6553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effectLst>
                  <a:outerShdw blurRad="38100" dist="38100" dir="2700000" algn="tl">
                    <a:srgbClr val="000000"/>
                  </a:outerShdw>
                </a:effectLst>
                <a:latin typeface="+mn-lt"/>
              </a:defRPr>
            </a:lvl1pPr>
          </a:lstStyle>
          <a:p>
            <a:fld id="{87F55A24-E286-4FAD-9A02-A57E27640103}" type="slidenum">
              <a:rPr lang="es-ES"/>
              <a:pPr/>
              <a:t>‹Nº›</a:t>
            </a:fld>
            <a:endParaRPr lang="es-ES"/>
          </a:p>
        </p:txBody>
      </p:sp>
    </p:spTree>
  </p:cSld>
  <p:clrMap bg1="dk2" tx1="lt1" bg2="dk1" tx2="lt2" accent1="accent1" accent2="accent2" accent3="accent3" accent4="accent4" accent5="accent5" accent6="accent6" hlink="hlink" folHlink="folHlink"/>
  <p:sldLayoutIdLst>
    <p:sldLayoutId id="2147483726"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Lst>
  <p:timing>
    <p:tnLst>
      <p:par>
        <p:cTn id="1" dur="indefinite" restart="never" nodeType="tmRoot"/>
      </p:par>
    </p:tnLst>
  </p:timing>
  <p:txStyles>
    <p:titleStyle>
      <a:lvl1pPr algn="ctr" rtl="0" fontAlgn="base">
        <a:spcBef>
          <a:spcPct val="0"/>
        </a:spcBef>
        <a:spcAft>
          <a:spcPct val="0"/>
        </a:spcAft>
        <a:defRPr sz="4400" b="1">
          <a:solidFill>
            <a:schemeClr val="tx2"/>
          </a:solidFill>
          <a:effectLst>
            <a:outerShdw blurRad="38100" dist="38100" dir="2700000" algn="tl">
              <a:srgbClr val="000000"/>
            </a:outerShdw>
          </a:effectLst>
          <a:latin typeface="+mj-lt"/>
          <a:ea typeface="+mj-ea"/>
          <a:cs typeface="+mj-cs"/>
        </a:defRPr>
      </a:lvl1pPr>
      <a:lvl2pPr algn="ctr" rtl="0" fontAlgn="base">
        <a:spcBef>
          <a:spcPct val="0"/>
        </a:spcBef>
        <a:spcAft>
          <a:spcPct val="0"/>
        </a:spcAft>
        <a:defRPr sz="4400" b="1">
          <a:solidFill>
            <a:schemeClr val="tx2"/>
          </a:solidFill>
          <a:effectLst>
            <a:outerShdw blurRad="38100" dist="38100" dir="2700000" algn="tl">
              <a:srgbClr val="000000"/>
            </a:outerShdw>
          </a:effectLst>
          <a:latin typeface="Times New Roman" pitchFamily="18" charset="0"/>
        </a:defRPr>
      </a:lvl2pPr>
      <a:lvl3pPr algn="ctr" rtl="0" fontAlgn="base">
        <a:spcBef>
          <a:spcPct val="0"/>
        </a:spcBef>
        <a:spcAft>
          <a:spcPct val="0"/>
        </a:spcAft>
        <a:defRPr sz="4400" b="1">
          <a:solidFill>
            <a:schemeClr val="tx2"/>
          </a:solidFill>
          <a:effectLst>
            <a:outerShdw blurRad="38100" dist="38100" dir="2700000" algn="tl">
              <a:srgbClr val="000000"/>
            </a:outerShdw>
          </a:effectLst>
          <a:latin typeface="Times New Roman" pitchFamily="18" charset="0"/>
        </a:defRPr>
      </a:lvl3pPr>
      <a:lvl4pPr algn="ctr" rtl="0" fontAlgn="base">
        <a:spcBef>
          <a:spcPct val="0"/>
        </a:spcBef>
        <a:spcAft>
          <a:spcPct val="0"/>
        </a:spcAft>
        <a:defRPr sz="4400" b="1">
          <a:solidFill>
            <a:schemeClr val="tx2"/>
          </a:solidFill>
          <a:effectLst>
            <a:outerShdw blurRad="38100" dist="38100" dir="2700000" algn="tl">
              <a:srgbClr val="000000"/>
            </a:outerShdw>
          </a:effectLst>
          <a:latin typeface="Times New Roman" pitchFamily="18" charset="0"/>
        </a:defRPr>
      </a:lvl4pPr>
      <a:lvl5pPr algn="ctr" rtl="0" fontAlgn="base">
        <a:spcBef>
          <a:spcPct val="0"/>
        </a:spcBef>
        <a:spcAft>
          <a:spcPct val="0"/>
        </a:spcAft>
        <a:defRPr sz="4400" b="1">
          <a:solidFill>
            <a:schemeClr val="tx2"/>
          </a:solidFill>
          <a:effectLst>
            <a:outerShdw blurRad="38100" dist="38100" dir="2700000" algn="tl">
              <a:srgbClr val="000000"/>
            </a:outerShdw>
          </a:effectLst>
          <a:latin typeface="Times New Roman" pitchFamily="18" charset="0"/>
        </a:defRPr>
      </a:lvl5pPr>
      <a:lvl6pPr marL="457200" algn="ctr" rtl="0" fontAlgn="base">
        <a:spcBef>
          <a:spcPct val="0"/>
        </a:spcBef>
        <a:spcAft>
          <a:spcPct val="0"/>
        </a:spcAft>
        <a:defRPr sz="4400" b="1">
          <a:solidFill>
            <a:schemeClr val="tx2"/>
          </a:solidFill>
          <a:effectLst>
            <a:outerShdw blurRad="38100" dist="38100" dir="2700000" algn="tl">
              <a:srgbClr val="000000"/>
            </a:outerShdw>
          </a:effectLst>
          <a:latin typeface="Times New Roman" pitchFamily="18" charset="0"/>
        </a:defRPr>
      </a:lvl6pPr>
      <a:lvl7pPr marL="914400" algn="ctr" rtl="0" fontAlgn="base">
        <a:spcBef>
          <a:spcPct val="0"/>
        </a:spcBef>
        <a:spcAft>
          <a:spcPct val="0"/>
        </a:spcAft>
        <a:defRPr sz="4400" b="1">
          <a:solidFill>
            <a:schemeClr val="tx2"/>
          </a:solidFill>
          <a:effectLst>
            <a:outerShdw blurRad="38100" dist="38100" dir="2700000" algn="tl">
              <a:srgbClr val="000000"/>
            </a:outerShdw>
          </a:effectLst>
          <a:latin typeface="Times New Roman" pitchFamily="18" charset="0"/>
        </a:defRPr>
      </a:lvl7pPr>
      <a:lvl8pPr marL="1371600" algn="ctr" rtl="0" fontAlgn="base">
        <a:spcBef>
          <a:spcPct val="0"/>
        </a:spcBef>
        <a:spcAft>
          <a:spcPct val="0"/>
        </a:spcAft>
        <a:defRPr sz="4400" b="1">
          <a:solidFill>
            <a:schemeClr val="tx2"/>
          </a:solidFill>
          <a:effectLst>
            <a:outerShdw blurRad="38100" dist="38100" dir="2700000" algn="tl">
              <a:srgbClr val="000000"/>
            </a:outerShdw>
          </a:effectLst>
          <a:latin typeface="Times New Roman" pitchFamily="18" charset="0"/>
        </a:defRPr>
      </a:lvl8pPr>
      <a:lvl9pPr marL="1828800" algn="ctr" rtl="0" fontAlgn="base">
        <a:spcBef>
          <a:spcPct val="0"/>
        </a:spcBef>
        <a:spcAft>
          <a:spcPct val="0"/>
        </a:spcAft>
        <a:defRPr sz="4400" b="1">
          <a:solidFill>
            <a:schemeClr val="tx2"/>
          </a:solidFill>
          <a:effectLst>
            <a:outerShdw blurRad="38100" dist="38100" dir="2700000" algn="tl">
              <a:srgbClr val="000000"/>
            </a:outerShdw>
          </a:effectLst>
          <a:latin typeface="Times New Roman" pitchFamily="18" charset="0"/>
        </a:defRPr>
      </a:lvl9pPr>
    </p:titleStyle>
    <p:bodyStyle>
      <a:lvl1pPr marL="342900" indent="-342900" algn="l" rtl="0" fontAlgn="base">
        <a:spcBef>
          <a:spcPct val="20000"/>
        </a:spcBef>
        <a:spcAft>
          <a:spcPct val="0"/>
        </a:spcAft>
        <a:buClr>
          <a:schemeClr val="hlink"/>
        </a:buClr>
        <a:buSzPct val="60000"/>
        <a:buFont typeface="Wingdings" pitchFamily="2" charset="2"/>
        <a:buChar char="n"/>
        <a:defRPr sz="3200">
          <a:solidFill>
            <a:schemeClr val="tx1"/>
          </a:solidFill>
          <a:effectLst>
            <a:outerShdw blurRad="38100" dist="38100" dir="2700000" algn="tl">
              <a:srgbClr val="000000"/>
            </a:outerShdw>
          </a:effectLst>
          <a:latin typeface="+mn-lt"/>
          <a:ea typeface="+mn-ea"/>
          <a:cs typeface="+mn-cs"/>
        </a:defRPr>
      </a:lvl1pPr>
      <a:lvl2pPr marL="742950" indent="-285750" algn="l" rtl="0" fontAlgn="base">
        <a:spcBef>
          <a:spcPct val="20000"/>
        </a:spcBef>
        <a:spcAft>
          <a:spcPct val="0"/>
        </a:spcAft>
        <a:buClr>
          <a:schemeClr val="tx2"/>
        </a:buClr>
        <a:buSzPct val="60000"/>
        <a:buFont typeface="Wingdings" pitchFamily="2" charset="2"/>
        <a:buChar char="n"/>
        <a:defRPr sz="2800">
          <a:solidFill>
            <a:schemeClr val="tx1"/>
          </a:solidFill>
          <a:effectLst>
            <a:outerShdw blurRad="38100" dist="38100" dir="2700000" algn="tl">
              <a:srgbClr val="000000"/>
            </a:outerShdw>
          </a:effectLst>
          <a:latin typeface="+mn-lt"/>
        </a:defRPr>
      </a:lvl2pPr>
      <a:lvl3pPr marL="1143000" indent="-228600" algn="l" rtl="0" fontAlgn="base">
        <a:spcBef>
          <a:spcPct val="20000"/>
        </a:spcBef>
        <a:spcAft>
          <a:spcPct val="0"/>
        </a:spcAft>
        <a:buClr>
          <a:schemeClr val="folHlink"/>
        </a:buClr>
        <a:buSzPct val="60000"/>
        <a:buFont typeface="Wingdings" pitchFamily="2" charset="2"/>
        <a:buChar char="n"/>
        <a:defRPr sz="2400">
          <a:solidFill>
            <a:schemeClr val="tx1"/>
          </a:solidFill>
          <a:effectLst>
            <a:outerShdw blurRad="38100" dist="38100" dir="2700000" algn="tl">
              <a:srgbClr val="000000"/>
            </a:outerShdw>
          </a:effectLst>
          <a:latin typeface="+mn-lt"/>
        </a:defRPr>
      </a:lvl3pPr>
      <a:lvl4pPr marL="1600200" indent="-228600" algn="l" rtl="0" fontAlgn="base">
        <a:spcBef>
          <a:spcPct val="20000"/>
        </a:spcBef>
        <a:spcAft>
          <a:spcPct val="0"/>
        </a:spcAft>
        <a:buClr>
          <a:schemeClr val="tx1"/>
        </a:buClr>
        <a:buSzPct val="60000"/>
        <a:buFont typeface="Wingdings" pitchFamily="2" charset="2"/>
        <a:buChar char="n"/>
        <a:defRPr sz="2000">
          <a:solidFill>
            <a:schemeClr val="tx1"/>
          </a:solidFill>
          <a:effectLst>
            <a:outerShdw blurRad="38100" dist="38100" dir="2700000" algn="tl">
              <a:srgbClr val="000000"/>
            </a:outerShdw>
          </a:effectLst>
          <a:latin typeface="+mn-lt"/>
        </a:defRPr>
      </a:lvl4pPr>
      <a:lvl5pPr marL="2057400" indent="-228600" algn="l" rtl="0" fontAlgn="base">
        <a:spcBef>
          <a:spcPct val="20000"/>
        </a:spcBef>
        <a:spcAft>
          <a:spcPct val="0"/>
        </a:spcAft>
        <a:buClr>
          <a:schemeClr val="hlink"/>
        </a:buClr>
        <a:buSzPct val="60000"/>
        <a:buFont typeface="Wingdings" pitchFamily="2" charset="2"/>
        <a:buChar char="n"/>
        <a:defRPr sz="2000">
          <a:solidFill>
            <a:schemeClr val="tx1"/>
          </a:solidFill>
          <a:effectLst>
            <a:outerShdw blurRad="38100" dist="38100" dir="2700000" algn="tl">
              <a:srgbClr val="000000"/>
            </a:outerShdw>
          </a:effectLst>
          <a:latin typeface="+mn-lt"/>
        </a:defRPr>
      </a:lvl5pPr>
      <a:lvl6pPr marL="2514600" indent="-228600" algn="l" rtl="0" fontAlgn="base">
        <a:spcBef>
          <a:spcPct val="20000"/>
        </a:spcBef>
        <a:spcAft>
          <a:spcPct val="0"/>
        </a:spcAft>
        <a:buClr>
          <a:schemeClr val="hlink"/>
        </a:buClr>
        <a:buSzPct val="60000"/>
        <a:buFont typeface="Wingdings" pitchFamily="2" charset="2"/>
        <a:buChar char="n"/>
        <a:defRPr sz="2000">
          <a:solidFill>
            <a:schemeClr val="tx1"/>
          </a:solidFill>
          <a:effectLst>
            <a:outerShdw blurRad="38100" dist="38100" dir="2700000" algn="tl">
              <a:srgbClr val="000000"/>
            </a:outerShdw>
          </a:effectLst>
          <a:latin typeface="+mn-lt"/>
        </a:defRPr>
      </a:lvl6pPr>
      <a:lvl7pPr marL="2971800" indent="-228600" algn="l" rtl="0" fontAlgn="base">
        <a:spcBef>
          <a:spcPct val="20000"/>
        </a:spcBef>
        <a:spcAft>
          <a:spcPct val="0"/>
        </a:spcAft>
        <a:buClr>
          <a:schemeClr val="hlink"/>
        </a:buClr>
        <a:buSzPct val="60000"/>
        <a:buFont typeface="Wingdings" pitchFamily="2" charset="2"/>
        <a:buChar char="n"/>
        <a:defRPr sz="2000">
          <a:solidFill>
            <a:schemeClr val="tx1"/>
          </a:solidFill>
          <a:effectLst>
            <a:outerShdw blurRad="38100" dist="38100" dir="2700000" algn="tl">
              <a:srgbClr val="000000"/>
            </a:outerShdw>
          </a:effectLst>
          <a:latin typeface="+mn-lt"/>
        </a:defRPr>
      </a:lvl7pPr>
      <a:lvl8pPr marL="3429000" indent="-228600" algn="l" rtl="0" fontAlgn="base">
        <a:spcBef>
          <a:spcPct val="20000"/>
        </a:spcBef>
        <a:spcAft>
          <a:spcPct val="0"/>
        </a:spcAft>
        <a:buClr>
          <a:schemeClr val="hlink"/>
        </a:buClr>
        <a:buSzPct val="60000"/>
        <a:buFont typeface="Wingdings" pitchFamily="2" charset="2"/>
        <a:buChar char="n"/>
        <a:defRPr sz="2000">
          <a:solidFill>
            <a:schemeClr val="tx1"/>
          </a:solidFill>
          <a:effectLst>
            <a:outerShdw blurRad="38100" dist="38100" dir="2700000" algn="tl">
              <a:srgbClr val="000000"/>
            </a:outerShdw>
          </a:effectLst>
          <a:latin typeface="+mn-lt"/>
        </a:defRPr>
      </a:lvl8pPr>
      <a:lvl9pPr marL="3886200" indent="-228600" algn="l" rtl="0" fontAlgn="base">
        <a:spcBef>
          <a:spcPct val="20000"/>
        </a:spcBef>
        <a:spcAft>
          <a:spcPct val="0"/>
        </a:spcAft>
        <a:buClr>
          <a:schemeClr val="hlink"/>
        </a:buClr>
        <a:buSzPct val="60000"/>
        <a:buFont typeface="Wingdings" pitchFamily="2" charset="2"/>
        <a:buChar char="n"/>
        <a:defRPr sz="2000">
          <a:solidFill>
            <a:schemeClr val="tx1"/>
          </a:solidFill>
          <a:effectLst>
            <a:outerShdw blurRad="38100" dist="38100" dir="2700000" algn="tl">
              <a:srgbClr val="000000"/>
            </a:outerShdw>
          </a:effectLst>
          <a:latin typeface="+mn-lt"/>
        </a:defRPr>
      </a:lvl9pPr>
    </p:bodyStyle>
    <p:otherStyle>
      <a:defPPr>
        <a:defRPr lang="es-B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Layout" Target="../slideLayouts/slideLayout2.xml"/><Relationship Id="rId4" Type="http://schemas.openxmlformats.org/officeDocument/2006/relationships/image" Target="../media/image19.jpeg"/></Relationships>
</file>

<file path=ppt/slides/_rels/slide17.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29.jpeg"/><Relationship Id="rId1" Type="http://schemas.openxmlformats.org/officeDocument/2006/relationships/slideLayout" Target="../slideLayouts/slideLayout2.xml"/><Relationship Id="rId4" Type="http://schemas.openxmlformats.org/officeDocument/2006/relationships/image" Target="../media/image31.jpe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image" Target="../media/image36.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image" Target="../media/image39.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http://t3.gstatic.com/images?q=tbn:joLPr7layBkxbM:http://www.soberania.org/Images/contaminacion_automovil_1.jpg" TargetMode="External"/><Relationship Id="rId2" Type="http://schemas.openxmlformats.org/officeDocument/2006/relationships/image" Target="../media/image41.jpeg"/><Relationship Id="rId1" Type="http://schemas.openxmlformats.org/officeDocument/2006/relationships/slideLayout" Target="../slideLayouts/slideLayout2.xml"/><Relationship Id="rId4" Type="http://schemas.openxmlformats.org/officeDocument/2006/relationships/image" Target="../media/image42.jpeg"/></Relationships>
</file>

<file path=ppt/slides/_rels/slide36.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44.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45.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7.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image" Target="../media/image48.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image" Target="../media/image50.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image" Target="../media/image52.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image" Target="../media/image54.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56.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image" Target="../media/image57.jpeg"/><Relationship Id="rId1" Type="http://schemas.openxmlformats.org/officeDocument/2006/relationships/slideLayout" Target="../slideLayouts/slideLayout2.xml"/><Relationship Id="rId4" Type="http://schemas.openxmlformats.org/officeDocument/2006/relationships/image" Target="../media/image59.jpeg"/></Relationships>
</file>

<file path=ppt/slides/_rels/slide51.xml.rels><?xml version="1.0" encoding="UTF-8" standalone="yes"?>
<Relationships xmlns="http://schemas.openxmlformats.org/package/2006/relationships"><Relationship Id="rId3" Type="http://schemas.openxmlformats.org/officeDocument/2006/relationships/image" Target="../media/image61.jpeg"/><Relationship Id="rId7" Type="http://schemas.openxmlformats.org/officeDocument/2006/relationships/image" Target="../media/image65.jpeg"/><Relationship Id="rId2" Type="http://schemas.openxmlformats.org/officeDocument/2006/relationships/image" Target="../media/image60.jpeg"/><Relationship Id="rId1" Type="http://schemas.openxmlformats.org/officeDocument/2006/relationships/slideLayout" Target="../slideLayouts/slideLayout2.xml"/><Relationship Id="rId6" Type="http://schemas.openxmlformats.org/officeDocument/2006/relationships/image" Target="../media/image64.jpeg"/><Relationship Id="rId5" Type="http://schemas.openxmlformats.org/officeDocument/2006/relationships/image" Target="../media/image63.jpeg"/><Relationship Id="rId4" Type="http://schemas.openxmlformats.org/officeDocument/2006/relationships/image" Target="../media/image62.jpeg"/></Relationships>
</file>

<file path=ppt/slides/_rels/slide52.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67.jpe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2" Type="http://schemas.openxmlformats.org/officeDocument/2006/relationships/image" Target="../media/image68.jpe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69.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70.jpe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73.jpe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74.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8" name="Picture 6" descr="2402187012591034"/>
          <p:cNvPicPr>
            <a:picLocks noChangeAspect="1" noChangeArrowheads="1"/>
          </p:cNvPicPr>
          <p:nvPr/>
        </p:nvPicPr>
        <p:blipFill>
          <a:blip r:embed="rId2"/>
          <a:srcRect/>
          <a:stretch>
            <a:fillRect/>
          </a:stretch>
        </p:blipFill>
        <p:spPr bwMode="auto">
          <a:xfrm>
            <a:off x="0" y="0"/>
            <a:ext cx="9144000" cy="6858000"/>
          </a:xfrm>
          <a:prstGeom prst="rect">
            <a:avLst/>
          </a:prstGeom>
          <a:noFill/>
          <a:ln w="9525">
            <a:noFill/>
            <a:miter lim="800000"/>
            <a:headEnd/>
            <a:tailEnd/>
          </a:ln>
        </p:spPr>
      </p:pic>
      <p:sp>
        <p:nvSpPr>
          <p:cNvPr id="3076" name="Rectangle 4"/>
          <p:cNvSpPr>
            <a:spLocks noGrp="1" noChangeArrowheads="1"/>
          </p:cNvSpPr>
          <p:nvPr>
            <p:ph type="ctrTitle"/>
          </p:nvPr>
        </p:nvSpPr>
        <p:spPr>
          <a:xfrm>
            <a:off x="395288" y="1989138"/>
            <a:ext cx="8569325" cy="3960812"/>
          </a:xfrm>
        </p:spPr>
        <p:txBody>
          <a:bodyPr/>
          <a:lstStyle/>
          <a:p>
            <a:r>
              <a:rPr lang="es-BO" sz="4800" b="0" dirty="0">
                <a:solidFill>
                  <a:srgbClr val="0C0A00"/>
                </a:solidFill>
                <a:effectLst>
                  <a:outerShdw blurRad="38100" dist="38100" dir="2700000" algn="tl">
                    <a:srgbClr val="FFFFFF"/>
                  </a:outerShdw>
                </a:effectLst>
                <a:latin typeface="Algerian" pitchFamily="82" charset="0"/>
              </a:rPr>
              <a:t>AGRESIONES QUIMICAS POR SUSTANCIAS LABORALES Y POR FACTORES FISICOS</a:t>
            </a:r>
            <a:r>
              <a:rPr lang="es-BO" sz="4800" b="0" dirty="0">
                <a:solidFill>
                  <a:srgbClr val="0C0A00"/>
                </a:solidFill>
                <a:effectLst>
                  <a:outerShdw blurRad="38100" dist="38100" dir="2700000" algn="tl">
                    <a:srgbClr val="FFFFFF"/>
                  </a:outerShdw>
                </a:effectLst>
                <a:latin typeface="Bernard MT Condensed" pitchFamily="18" charset="0"/>
              </a:rPr>
              <a:t/>
            </a:r>
            <a:br>
              <a:rPr lang="es-BO" sz="4800" b="0" dirty="0">
                <a:solidFill>
                  <a:srgbClr val="0C0A00"/>
                </a:solidFill>
                <a:effectLst>
                  <a:outerShdw blurRad="38100" dist="38100" dir="2700000" algn="tl">
                    <a:srgbClr val="FFFFFF"/>
                  </a:outerShdw>
                </a:effectLst>
                <a:latin typeface="Bernard MT Condensed" pitchFamily="18" charset="0"/>
              </a:rPr>
            </a:br>
            <a:r>
              <a:rPr lang="es-BO" sz="4800" dirty="0">
                <a:solidFill>
                  <a:srgbClr val="0C0A00"/>
                </a:solidFill>
                <a:effectLst>
                  <a:outerShdw blurRad="38100" dist="38100" dir="2700000" algn="tl">
                    <a:srgbClr val="FFFFFF"/>
                  </a:outerShdw>
                </a:effectLst>
                <a:latin typeface="Bernard MT Condensed" pitchFamily="18" charset="0"/>
              </a:rPr>
              <a:t/>
            </a:r>
            <a:br>
              <a:rPr lang="es-BO" sz="4800" dirty="0">
                <a:solidFill>
                  <a:srgbClr val="0C0A00"/>
                </a:solidFill>
                <a:effectLst>
                  <a:outerShdw blurRad="38100" dist="38100" dir="2700000" algn="tl">
                    <a:srgbClr val="FFFFFF"/>
                  </a:outerShdw>
                </a:effectLst>
                <a:latin typeface="Bernard MT Condensed" pitchFamily="18" charset="0"/>
              </a:rPr>
            </a:br>
            <a:r>
              <a:rPr lang="es-BO" sz="4800" dirty="0" smtClean="0">
                <a:solidFill>
                  <a:srgbClr val="0C0A00"/>
                </a:solidFill>
                <a:effectLst>
                  <a:outerShdw blurRad="38100" dist="38100" dir="2700000" algn="tl">
                    <a:srgbClr val="FFFFFF"/>
                  </a:outerShdw>
                </a:effectLst>
                <a:latin typeface="Bernard MT Condensed" pitchFamily="18" charset="0"/>
              </a:rPr>
              <a:t>             </a:t>
            </a:r>
            <a:r>
              <a:rPr lang="es-BO" sz="4800" dirty="0" smtClean="0">
                <a:solidFill>
                  <a:srgbClr val="0C0A00"/>
                </a:solidFill>
                <a:effectLst>
                  <a:outerShdw blurRad="38100" dist="38100" dir="2700000" algn="tl">
                    <a:srgbClr val="FFFFFF"/>
                  </a:outerShdw>
                </a:effectLst>
                <a:latin typeface="Algerian" pitchFamily="82" charset="0"/>
              </a:rPr>
              <a:t>E</a:t>
            </a:r>
            <a:r>
              <a:rPr lang="es-BO" sz="3600" dirty="0" smtClean="0">
                <a:solidFill>
                  <a:srgbClr val="0C0A00"/>
                </a:solidFill>
                <a:effectLst>
                  <a:outerShdw blurRad="38100" dist="38100" dir="2700000" algn="tl">
                    <a:srgbClr val="FFFFFF"/>
                  </a:outerShdw>
                </a:effectLst>
                <a:latin typeface="Algerian" pitchFamily="82" charset="0"/>
              </a:rPr>
              <a:t>xpositoras</a:t>
            </a:r>
            <a:r>
              <a:rPr lang="es-BO" sz="3600" dirty="0">
                <a:solidFill>
                  <a:srgbClr val="0C0A00"/>
                </a:solidFill>
                <a:effectLst>
                  <a:outerShdw blurRad="38100" dist="38100" dir="2700000" algn="tl">
                    <a:srgbClr val="FFFFFF"/>
                  </a:outerShdw>
                </a:effectLst>
                <a:latin typeface="Algerian" pitchFamily="82" charset="0"/>
              </a:rPr>
              <a:t>:</a:t>
            </a:r>
            <a:r>
              <a:rPr lang="es-BO" sz="3600" dirty="0">
                <a:solidFill>
                  <a:srgbClr val="0C0A00"/>
                </a:solidFill>
                <a:effectLst>
                  <a:outerShdw blurRad="38100" dist="38100" dir="2700000" algn="tl">
                    <a:srgbClr val="FFFFFF"/>
                  </a:outerShdw>
                </a:effectLst>
              </a:rPr>
              <a:t> </a:t>
            </a:r>
            <a:r>
              <a:rPr lang="es-BO" sz="3600" dirty="0" smtClean="0">
                <a:solidFill>
                  <a:srgbClr val="0C0A00"/>
                </a:solidFill>
                <a:effectLst>
                  <a:outerShdw blurRad="38100" dist="38100" dir="2700000" algn="tl">
                    <a:srgbClr val="FFFFFF"/>
                  </a:outerShdw>
                </a:effectLst>
              </a:rPr>
              <a:t>Cecilia Rafael</a:t>
            </a:r>
            <a:r>
              <a:rPr lang="es-BO" sz="3600" dirty="0">
                <a:solidFill>
                  <a:srgbClr val="0C0A00"/>
                </a:solidFill>
                <a:effectLst>
                  <a:outerShdw blurRad="38100" dist="38100" dir="2700000" algn="tl">
                    <a:srgbClr val="FFFFFF"/>
                  </a:outerShdw>
                </a:effectLst>
              </a:rPr>
              <a:t/>
            </a:r>
            <a:br>
              <a:rPr lang="es-BO" sz="3600" dirty="0">
                <a:solidFill>
                  <a:srgbClr val="0C0A00"/>
                </a:solidFill>
                <a:effectLst>
                  <a:outerShdw blurRad="38100" dist="38100" dir="2700000" algn="tl">
                    <a:srgbClr val="FFFFFF"/>
                  </a:outerShdw>
                </a:effectLst>
              </a:rPr>
            </a:br>
            <a:r>
              <a:rPr lang="es-BO" sz="3600" dirty="0">
                <a:solidFill>
                  <a:srgbClr val="0C0A00"/>
                </a:solidFill>
                <a:effectLst>
                  <a:outerShdw blurRad="38100" dist="38100" dir="2700000" algn="tl">
                    <a:srgbClr val="FFFFFF"/>
                  </a:outerShdw>
                </a:effectLst>
              </a:rPr>
              <a:t>                                             Lourdes Rosales</a:t>
            </a:r>
            <a:br>
              <a:rPr lang="es-BO" sz="3600" dirty="0">
                <a:solidFill>
                  <a:srgbClr val="0C0A00"/>
                </a:solidFill>
                <a:effectLst>
                  <a:outerShdw blurRad="38100" dist="38100" dir="2700000" algn="tl">
                    <a:srgbClr val="FFFFFF"/>
                  </a:outerShdw>
                </a:effectLst>
              </a:rPr>
            </a:br>
            <a:r>
              <a:rPr lang="es-BO" sz="3600" dirty="0">
                <a:solidFill>
                  <a:srgbClr val="0C0A00"/>
                </a:solidFill>
                <a:effectLst>
                  <a:outerShdw blurRad="38100" dist="38100" dir="2700000" algn="tl">
                    <a:srgbClr val="FFFFFF"/>
                  </a:outerShdw>
                </a:effectLst>
              </a:rPr>
              <a:t>                                        </a:t>
            </a:r>
            <a:r>
              <a:rPr lang="es-BO" sz="3600" dirty="0" smtClean="0">
                <a:solidFill>
                  <a:srgbClr val="0C0A00"/>
                </a:solidFill>
                <a:effectLst>
                  <a:outerShdw blurRad="38100" dist="38100" dir="2700000" algn="tl">
                    <a:srgbClr val="FFFFFF"/>
                  </a:outerShdw>
                </a:effectLst>
              </a:rPr>
              <a:t> Karla </a:t>
            </a:r>
            <a:r>
              <a:rPr lang="es-BO" sz="3600" dirty="0">
                <a:solidFill>
                  <a:srgbClr val="0C0A00"/>
                </a:solidFill>
                <a:effectLst>
                  <a:outerShdw blurRad="38100" dist="38100" dir="2700000" algn="tl">
                    <a:srgbClr val="FFFFFF"/>
                  </a:outerShdw>
                </a:effectLst>
              </a:rPr>
              <a:t>Sánchez</a:t>
            </a:r>
            <a:br>
              <a:rPr lang="es-BO" sz="3600" dirty="0">
                <a:solidFill>
                  <a:srgbClr val="0C0A00"/>
                </a:solidFill>
                <a:effectLst>
                  <a:outerShdw blurRad="38100" dist="38100" dir="2700000" algn="tl">
                    <a:srgbClr val="FFFFFF"/>
                  </a:outerShdw>
                </a:effectLst>
              </a:rPr>
            </a:br>
            <a:r>
              <a:rPr lang="es-BO" sz="3600" dirty="0">
                <a:solidFill>
                  <a:srgbClr val="0C0A00"/>
                </a:solidFill>
                <a:effectLst>
                  <a:outerShdw blurRad="38100" dist="38100" dir="2700000" algn="tl">
                    <a:srgbClr val="FFFFFF"/>
                  </a:outerShdw>
                </a:effectLst>
              </a:rPr>
              <a:t>                          </a:t>
            </a:r>
            <a:r>
              <a:rPr lang="es-BO" sz="3600" dirty="0" smtClean="0">
                <a:solidFill>
                  <a:srgbClr val="0C0A00"/>
                </a:solidFill>
                <a:effectLst>
                  <a:outerShdw blurRad="38100" dist="38100" dir="2700000" algn="tl">
                    <a:srgbClr val="FFFFFF"/>
                  </a:outerShdw>
                </a:effectLst>
              </a:rPr>
              <a:t>               </a:t>
            </a:r>
            <a:r>
              <a:rPr lang="es-BO" sz="3600" dirty="0" err="1" smtClean="0">
                <a:solidFill>
                  <a:srgbClr val="0C0A00"/>
                </a:solidFill>
                <a:effectLst>
                  <a:outerShdw blurRad="38100" dist="38100" dir="2700000" algn="tl">
                    <a:srgbClr val="FFFFFF"/>
                  </a:outerShdw>
                </a:effectLst>
              </a:rPr>
              <a:t>Lilian</a:t>
            </a:r>
            <a:r>
              <a:rPr lang="es-BO" sz="3600" dirty="0" smtClean="0"/>
              <a:t> </a:t>
            </a:r>
            <a:r>
              <a:rPr lang="es-BO" sz="3600" dirty="0" smtClean="0">
                <a:solidFill>
                  <a:srgbClr val="0C0A00"/>
                </a:solidFill>
              </a:rPr>
              <a:t> Zapata</a:t>
            </a:r>
            <a:endParaRPr lang="es-ES" sz="3600" dirty="0">
              <a:solidFill>
                <a:srgbClr val="0C0A00"/>
              </a:solidFill>
            </a:endParaRPr>
          </a:p>
        </p:txBody>
      </p:sp>
    </p:spTree>
  </p:cSld>
  <p:clrMapOvr>
    <a:masterClrMapping/>
  </p:clrMapOvr>
  <p:transition>
    <p:dissolv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Imagen 7"/>
          <p:cNvPicPr>
            <a:picLocks noChangeAspect="1" noChangeArrowheads="1"/>
          </p:cNvPicPr>
          <p:nvPr/>
        </p:nvPicPr>
        <p:blipFill>
          <a:blip r:embed="rId2"/>
          <a:srcRect/>
          <a:stretch>
            <a:fillRect/>
          </a:stretch>
        </p:blipFill>
        <p:spPr bwMode="auto">
          <a:xfrm>
            <a:off x="0" y="0"/>
            <a:ext cx="9144000" cy="6858000"/>
          </a:xfrm>
          <a:prstGeom prst="rect">
            <a:avLst/>
          </a:prstGeom>
          <a:noFill/>
          <a:ln w="9525">
            <a:noFill/>
            <a:miter lim="800000"/>
            <a:headEnd/>
            <a:tailEnd/>
          </a:ln>
        </p:spPr>
      </p:pic>
      <p:sp>
        <p:nvSpPr>
          <p:cNvPr id="3075" name="1 Título"/>
          <p:cNvSpPr>
            <a:spLocks noGrp="1"/>
          </p:cNvSpPr>
          <p:nvPr>
            <p:ph type="title"/>
          </p:nvPr>
        </p:nvSpPr>
        <p:spPr>
          <a:xfrm>
            <a:off x="642910" y="0"/>
            <a:ext cx="8229600" cy="1643050"/>
          </a:xfrm>
        </p:spPr>
        <p:txBody>
          <a:bodyPr/>
          <a:lstStyle/>
          <a:p>
            <a:pPr eaLnBrk="1" hangingPunct="1"/>
            <a:r>
              <a:rPr lang="es-ES" b="1" dirty="0" smtClean="0">
                <a:solidFill>
                  <a:srgbClr val="FFFF00"/>
                </a:solidFill>
                <a:latin typeface="Monotype Corsiva" pitchFamily="66" charset="0"/>
              </a:rPr>
              <a:t>Objetivos</a:t>
            </a:r>
          </a:p>
        </p:txBody>
      </p:sp>
      <p:sp>
        <p:nvSpPr>
          <p:cNvPr id="3076" name="2 Marcador de contenido"/>
          <p:cNvSpPr>
            <a:spLocks noGrp="1"/>
          </p:cNvSpPr>
          <p:nvPr>
            <p:ph idx="1"/>
          </p:nvPr>
        </p:nvSpPr>
        <p:spPr>
          <a:xfrm>
            <a:off x="285750" y="1600200"/>
            <a:ext cx="8858250" cy="4972050"/>
          </a:xfrm>
        </p:spPr>
        <p:txBody>
          <a:bodyPr/>
          <a:lstStyle/>
          <a:p>
            <a:pPr eaLnBrk="1" hangingPunct="1">
              <a:buFont typeface="Arial" charset="0"/>
              <a:buNone/>
            </a:pPr>
            <a:r>
              <a:rPr lang="es-ES" sz="2800" smtClean="0"/>
              <a:t>  </a:t>
            </a:r>
          </a:p>
          <a:p>
            <a:pPr eaLnBrk="1" hangingPunct="1">
              <a:buFont typeface="Wingdings" pitchFamily="2" charset="2"/>
              <a:buChar char="ü"/>
            </a:pPr>
            <a:endParaRPr lang="es-ES" sz="2800" smtClean="0"/>
          </a:p>
          <a:p>
            <a:pPr eaLnBrk="1" hangingPunct="1">
              <a:buFont typeface="Wingdings" pitchFamily="2" charset="2"/>
              <a:buChar char="ü"/>
            </a:pPr>
            <a:r>
              <a:rPr lang="es-ES" sz="2800" smtClean="0"/>
              <a:t> </a:t>
            </a:r>
            <a:r>
              <a:rPr lang="es-ES" sz="2800" smtClean="0">
                <a:latin typeface="Monotype Corsiva" pitchFamily="66" charset="0"/>
              </a:rPr>
              <a:t>Conocer las consecuencias del consumo de fármacos que constituyen teratógenos para el bebe durante su gestación.</a:t>
            </a:r>
          </a:p>
          <a:p>
            <a:pPr eaLnBrk="1" hangingPunct="1">
              <a:buFont typeface="Wingdings" pitchFamily="2" charset="2"/>
              <a:buChar char="ü"/>
            </a:pPr>
            <a:r>
              <a:rPr lang="es-ES" sz="2800" smtClean="0">
                <a:latin typeface="Monotype Corsiva" pitchFamily="66" charset="0"/>
              </a:rPr>
              <a:t>    Comprender que muchas discapacidades son causas por sustancias químicas, cuyos efectos son prevenibles, mediante información.</a:t>
            </a:r>
          </a:p>
          <a:p>
            <a:pPr eaLnBrk="1" hangingPunct="1">
              <a:buFont typeface="Wingdings" pitchFamily="2" charset="2"/>
              <a:buChar char="ü"/>
            </a:pPr>
            <a:r>
              <a:rPr lang="es-ES" sz="2800" smtClean="0">
                <a:latin typeface="Monotype Corsiva" pitchFamily="66" charset="0"/>
              </a:rPr>
              <a:t>    Identificar los agentes físicos y tecnológicos que causan discapacidad en bebes por nacer y su prevención.</a:t>
            </a:r>
          </a:p>
          <a:p>
            <a:pPr eaLnBrk="1" hangingPunct="1"/>
            <a:endParaRPr lang="es-ES" smtClean="0">
              <a:latin typeface="Monotype Corsiva" pitchFamily="66" charset="0"/>
            </a:endParaRPr>
          </a:p>
        </p:txBody>
      </p:sp>
    </p:spTree>
  </p:cSld>
  <p:clrMapOvr>
    <a:masterClrMapping/>
  </p:clrMapOvr>
  <p:transition>
    <p:dissolv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ctrTitle"/>
          </p:nvPr>
        </p:nvSpPr>
        <p:spPr>
          <a:xfrm>
            <a:off x="685800" y="0"/>
            <a:ext cx="7772400" cy="1571612"/>
          </a:xfrm>
        </p:spPr>
        <p:txBody>
          <a:bodyPr rtlCol="0">
            <a:normAutofit/>
          </a:bodyPr>
          <a:lstStyle/>
          <a:p>
            <a:pPr eaLnBrk="1" fontAlgn="auto" hangingPunct="1">
              <a:spcAft>
                <a:spcPts val="0"/>
              </a:spcAft>
              <a:defRPr/>
            </a:pPr>
            <a:r>
              <a:rPr lang="es-ES" b="1" dirty="0" smtClean="0">
                <a:solidFill>
                  <a:srgbClr val="FFFF00"/>
                </a:solidFill>
                <a:latin typeface="Monotype Corsiva" pitchFamily="66" charset="0"/>
              </a:rPr>
              <a:t>2.1 Agresiones químicas</a:t>
            </a:r>
            <a:endParaRPr lang="es-ES" b="1" dirty="0">
              <a:solidFill>
                <a:srgbClr val="FFFF00"/>
              </a:solidFill>
              <a:latin typeface="Monotype Corsiva" pitchFamily="66" charset="0"/>
            </a:endParaRPr>
          </a:p>
        </p:txBody>
      </p:sp>
      <p:sp>
        <p:nvSpPr>
          <p:cNvPr id="4099" name="4 Subtítulo"/>
          <p:cNvSpPr>
            <a:spLocks noGrp="1"/>
          </p:cNvSpPr>
          <p:nvPr>
            <p:ph type="subTitle" idx="1"/>
          </p:nvPr>
        </p:nvSpPr>
        <p:spPr>
          <a:xfrm>
            <a:off x="428625" y="1143000"/>
            <a:ext cx="8001000" cy="5286375"/>
          </a:xfrm>
        </p:spPr>
        <p:txBody>
          <a:bodyPr/>
          <a:lstStyle/>
          <a:p>
            <a:pPr algn="l" eaLnBrk="1" hangingPunct="1"/>
            <a:endParaRPr lang="es-ES" sz="3600" b="1" dirty="0" smtClean="0">
              <a:solidFill>
                <a:schemeClr val="tx1"/>
              </a:solidFill>
              <a:latin typeface="Monotype Corsiva" pitchFamily="66" charset="0"/>
              <a:cs typeface="Times New Roman" pitchFamily="18" charset="0"/>
            </a:endParaRPr>
          </a:p>
          <a:p>
            <a:pPr algn="l" eaLnBrk="1" hangingPunct="1"/>
            <a:r>
              <a:rPr lang="es-ES" sz="3600" b="1" dirty="0" smtClean="0">
                <a:solidFill>
                  <a:schemeClr val="tx1"/>
                </a:solidFill>
                <a:latin typeface="Monotype Corsiva" pitchFamily="66" charset="0"/>
                <a:cs typeface="Times New Roman" pitchFamily="18" charset="0"/>
              </a:rPr>
              <a:t>2.1.1 Agresiones por fármacos</a:t>
            </a:r>
          </a:p>
          <a:p>
            <a:pPr algn="l" eaLnBrk="1" hangingPunct="1"/>
            <a:r>
              <a:rPr lang="es-ES" sz="3600" dirty="0" smtClean="0">
                <a:solidFill>
                  <a:schemeClr val="tx1"/>
                </a:solidFill>
                <a:latin typeface="Monotype Corsiva" pitchFamily="66" charset="0"/>
                <a:cs typeface="Times New Roman" pitchFamily="18" charset="0"/>
              </a:rPr>
              <a:t> Actualmente se sabe que cualquier medicamento que se le administre ala madre  puede alterar  el medio interno del embrión llegar la circulación fetal atreves de la placenta.</a:t>
            </a:r>
          </a:p>
          <a:p>
            <a:pPr algn="l" eaLnBrk="1" hangingPunct="1"/>
            <a:r>
              <a:rPr lang="es-ES" sz="3600" dirty="0" smtClean="0">
                <a:solidFill>
                  <a:schemeClr val="tx1"/>
                </a:solidFill>
                <a:latin typeface="Monotype Corsiva" pitchFamily="66" charset="0"/>
                <a:cs typeface="Times New Roman" pitchFamily="18" charset="0"/>
              </a:rPr>
              <a:t>  </a:t>
            </a:r>
          </a:p>
          <a:p>
            <a:pPr algn="l" eaLnBrk="1" hangingPunct="1"/>
            <a:endParaRPr lang="es-ES" sz="3600" dirty="0" smtClean="0">
              <a:solidFill>
                <a:schemeClr val="tx1"/>
              </a:solidFill>
              <a:latin typeface="Monotype Corsiva" pitchFamily="66" charset="0"/>
              <a:cs typeface="Times New Roman" pitchFamily="18" charset="0"/>
            </a:endParaRPr>
          </a:p>
          <a:p>
            <a:pPr algn="l" eaLnBrk="1" hangingPunct="1"/>
            <a:endParaRPr lang="es-ES" sz="3600" dirty="0" smtClean="0">
              <a:solidFill>
                <a:schemeClr val="tx1"/>
              </a:solidFill>
              <a:latin typeface="Monotype Corsiva" pitchFamily="66" charset="0"/>
              <a:cs typeface="Times New Roman" pitchFamily="18" charset="0"/>
            </a:endParaRPr>
          </a:p>
          <a:p>
            <a:pPr algn="l" eaLnBrk="1" hangingPunct="1"/>
            <a:endParaRPr lang="es-ES" sz="3600" dirty="0" smtClean="0">
              <a:solidFill>
                <a:schemeClr val="tx1"/>
              </a:solidFill>
              <a:latin typeface="Monotype Corsiva" pitchFamily="66" charset="0"/>
              <a:cs typeface="Times New Roman" pitchFamily="18" charset="0"/>
            </a:endParaRPr>
          </a:p>
          <a:p>
            <a:pPr algn="l" eaLnBrk="1" hangingPunct="1"/>
            <a:endParaRPr lang="es-ES" sz="3600" dirty="0" smtClean="0">
              <a:solidFill>
                <a:schemeClr val="tx1"/>
              </a:solidFill>
              <a:latin typeface="Monotype Corsiva" pitchFamily="66" charset="0"/>
              <a:cs typeface="Times New Roman" pitchFamily="18" charset="0"/>
            </a:endParaRPr>
          </a:p>
        </p:txBody>
      </p:sp>
      <p:pic>
        <p:nvPicPr>
          <p:cNvPr id="4100" name="Imagen 1"/>
          <p:cNvPicPr>
            <a:picLocks noChangeAspect="1" noChangeArrowheads="1"/>
          </p:cNvPicPr>
          <p:nvPr/>
        </p:nvPicPr>
        <p:blipFill>
          <a:blip r:embed="rId2"/>
          <a:srcRect/>
          <a:stretch>
            <a:fillRect/>
          </a:stretch>
        </p:blipFill>
        <p:spPr bwMode="auto">
          <a:xfrm>
            <a:off x="5572125" y="4071938"/>
            <a:ext cx="2857500" cy="2500312"/>
          </a:xfrm>
          <a:prstGeom prst="rect">
            <a:avLst/>
          </a:prstGeom>
          <a:noFill/>
          <a:ln w="9525">
            <a:noFill/>
            <a:miter lim="800000"/>
            <a:headEnd/>
            <a:tailEnd/>
          </a:ln>
        </p:spPr>
      </p:pic>
    </p:spTree>
  </p:cSld>
  <p:clrMapOvr>
    <a:masterClrMapping/>
  </p:clrMapOvr>
  <p:transition>
    <p:dissolv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Imagen 9" descr="http://www.prenatal.tv/imagenes1/evite_peligrosas.gif"/>
          <p:cNvPicPr>
            <a:picLocks noChangeAspect="1" noChangeArrowheads="1"/>
          </p:cNvPicPr>
          <p:nvPr/>
        </p:nvPicPr>
        <p:blipFill>
          <a:blip r:embed="rId2"/>
          <a:srcRect/>
          <a:stretch>
            <a:fillRect/>
          </a:stretch>
        </p:blipFill>
        <p:spPr bwMode="auto">
          <a:xfrm>
            <a:off x="-214313" y="-142875"/>
            <a:ext cx="1928813" cy="2286000"/>
          </a:xfrm>
          <a:prstGeom prst="rect">
            <a:avLst/>
          </a:prstGeom>
          <a:noFill/>
          <a:ln w="9525">
            <a:noFill/>
            <a:miter lim="800000"/>
            <a:headEnd/>
            <a:tailEnd/>
          </a:ln>
        </p:spPr>
      </p:pic>
      <p:pic>
        <p:nvPicPr>
          <p:cNvPr id="5123" name="Picture 6"/>
          <p:cNvPicPr>
            <a:picLocks noChangeAspect="1" noChangeArrowheads="1"/>
          </p:cNvPicPr>
          <p:nvPr/>
        </p:nvPicPr>
        <p:blipFill>
          <a:blip r:embed="rId3"/>
          <a:srcRect/>
          <a:stretch>
            <a:fillRect/>
          </a:stretch>
        </p:blipFill>
        <p:spPr bwMode="auto">
          <a:xfrm>
            <a:off x="6715125" y="3786188"/>
            <a:ext cx="2428875" cy="3071812"/>
          </a:xfrm>
          <a:prstGeom prst="rect">
            <a:avLst/>
          </a:prstGeom>
          <a:noFill/>
          <a:ln w="9525">
            <a:noFill/>
            <a:miter lim="800000"/>
            <a:headEnd/>
            <a:tailEnd/>
          </a:ln>
        </p:spPr>
      </p:pic>
      <p:sp>
        <p:nvSpPr>
          <p:cNvPr id="2" name="1 Título"/>
          <p:cNvSpPr>
            <a:spLocks noGrp="1"/>
          </p:cNvSpPr>
          <p:nvPr>
            <p:ph type="title"/>
          </p:nvPr>
        </p:nvSpPr>
        <p:spPr>
          <a:xfrm>
            <a:off x="457200" y="274638"/>
            <a:ext cx="8229600" cy="225425"/>
          </a:xfrm>
        </p:spPr>
        <p:txBody>
          <a:bodyPr rtlCol="0">
            <a:normAutofit fontScale="90000"/>
          </a:bodyPr>
          <a:lstStyle/>
          <a:p>
            <a:pPr eaLnBrk="1" fontAlgn="auto" hangingPunct="1">
              <a:spcAft>
                <a:spcPts val="0"/>
              </a:spcAft>
              <a:defRPr/>
            </a:pPr>
            <a:endParaRPr lang="es-ES" dirty="0"/>
          </a:p>
        </p:txBody>
      </p:sp>
      <p:sp>
        <p:nvSpPr>
          <p:cNvPr id="5125" name="2 Marcador de contenido"/>
          <p:cNvSpPr>
            <a:spLocks noGrp="1"/>
          </p:cNvSpPr>
          <p:nvPr>
            <p:ph idx="1"/>
          </p:nvPr>
        </p:nvSpPr>
        <p:spPr>
          <a:xfrm>
            <a:off x="285750" y="428625"/>
            <a:ext cx="8572500" cy="6000750"/>
          </a:xfrm>
        </p:spPr>
        <p:txBody>
          <a:bodyPr/>
          <a:lstStyle/>
          <a:p>
            <a:pPr eaLnBrk="1" hangingPunct="1">
              <a:buFont typeface="Wingdings" pitchFamily="2" charset="2"/>
              <a:buChar char="Ø"/>
            </a:pPr>
            <a:r>
              <a:rPr lang="es-ES" dirty="0" smtClean="0">
                <a:latin typeface="Monotype Corsiva" pitchFamily="66" charset="0"/>
                <a:cs typeface="Times New Roman" pitchFamily="18" charset="0"/>
              </a:rPr>
              <a:t>          </a:t>
            </a:r>
            <a:r>
              <a:rPr lang="es-ES" sz="2800" dirty="0" smtClean="0">
                <a:latin typeface="Monotype Corsiva" pitchFamily="66" charset="0"/>
                <a:cs typeface="Times New Roman" pitchFamily="18" charset="0"/>
              </a:rPr>
              <a:t>se calcula que alrededor del 35% delas mujeres gestantes (     para otros hasta el 80% ) han tomado </a:t>
            </a:r>
          </a:p>
          <a:p>
            <a:pPr eaLnBrk="1" hangingPunct="1">
              <a:buFont typeface="Arial" charset="0"/>
              <a:buNone/>
            </a:pPr>
            <a:r>
              <a:rPr lang="es-ES" sz="2800" dirty="0" smtClean="0">
                <a:latin typeface="Monotype Corsiva" pitchFamily="66" charset="0"/>
                <a:cs typeface="Times New Roman" pitchFamily="18" charset="0"/>
              </a:rPr>
              <a:t>             cualquier tipo de fármaco durante este periodo  bien por       prescripción facultativa o por automedicación.</a:t>
            </a:r>
          </a:p>
          <a:p>
            <a:pPr eaLnBrk="1" hangingPunct="1">
              <a:buFont typeface="Wingdings" pitchFamily="2" charset="2"/>
              <a:buChar char="Ø"/>
            </a:pPr>
            <a:r>
              <a:rPr lang="es-ES" dirty="0" smtClean="0">
                <a:latin typeface="Monotype Corsiva" pitchFamily="66" charset="0"/>
                <a:cs typeface="Times New Roman" pitchFamily="18" charset="0"/>
              </a:rPr>
              <a:t> menos del 2%  de las anomalías congénitas depende de drogas y fármacos. </a:t>
            </a:r>
          </a:p>
          <a:p>
            <a:pPr eaLnBrk="1" hangingPunct="1">
              <a:buFont typeface="Wingdings" pitchFamily="2" charset="2"/>
              <a:buChar char="q"/>
            </a:pPr>
            <a:r>
              <a:rPr lang="es-ES" dirty="0" smtClean="0">
                <a:latin typeface="Monotype Corsiva" pitchFamily="66" charset="0"/>
                <a:cs typeface="Times New Roman" pitchFamily="18" charset="0"/>
              </a:rPr>
              <a:t> La </a:t>
            </a:r>
            <a:r>
              <a:rPr lang="es-ES" dirty="0" err="1" smtClean="0">
                <a:latin typeface="Monotype Corsiva" pitchFamily="66" charset="0"/>
                <a:cs typeface="Times New Roman" pitchFamily="18" charset="0"/>
              </a:rPr>
              <a:t>Fda</a:t>
            </a:r>
            <a:r>
              <a:rPr lang="es-ES" dirty="0" smtClean="0">
                <a:latin typeface="Monotype Corsiva" pitchFamily="66" charset="0"/>
                <a:cs typeface="Times New Roman" pitchFamily="18" charset="0"/>
              </a:rPr>
              <a:t> (Administradora de alimentos y Drogas  en EE.UU.) Clasifica a los medicamentos en los siguientes categorías de riesgo:</a:t>
            </a:r>
          </a:p>
          <a:p>
            <a:pPr eaLnBrk="1" hangingPunct="1">
              <a:buFont typeface="Arial" charset="0"/>
              <a:buNone/>
            </a:pPr>
            <a:r>
              <a:rPr lang="es-ES" dirty="0" smtClean="0">
                <a:latin typeface="Monotype Corsiva" pitchFamily="66" charset="0"/>
                <a:cs typeface="Times New Roman" pitchFamily="18" charset="0"/>
              </a:rPr>
              <a:t>               </a:t>
            </a:r>
            <a:r>
              <a:rPr lang="es-ES" dirty="0" smtClean="0">
                <a:solidFill>
                  <a:srgbClr val="0000FF"/>
                </a:solidFill>
                <a:latin typeface="Monotype Corsiva" pitchFamily="66" charset="0"/>
                <a:cs typeface="Times New Roman" pitchFamily="18" charset="0"/>
              </a:rPr>
              <a:t>Clase  A          Clase C           Clase  X</a:t>
            </a:r>
          </a:p>
          <a:p>
            <a:pPr eaLnBrk="1" hangingPunct="1">
              <a:buFont typeface="Arial" charset="0"/>
              <a:buNone/>
            </a:pPr>
            <a:r>
              <a:rPr lang="es-ES" dirty="0" smtClean="0">
                <a:solidFill>
                  <a:srgbClr val="0000FF"/>
                </a:solidFill>
                <a:latin typeface="Monotype Corsiva" pitchFamily="66" charset="0"/>
                <a:cs typeface="Times New Roman" pitchFamily="18" charset="0"/>
              </a:rPr>
              <a:t>               Clase  B           Clase D</a:t>
            </a:r>
          </a:p>
          <a:p>
            <a:pPr eaLnBrk="1" hangingPunct="1">
              <a:buFont typeface="Arial" charset="0"/>
              <a:buNone/>
            </a:pPr>
            <a:endParaRPr lang="es-ES" dirty="0" smtClean="0"/>
          </a:p>
        </p:txBody>
      </p:sp>
    </p:spTree>
  </p:cSld>
  <p:clrMapOvr>
    <a:masterClrMapping/>
  </p:clrMapOvr>
  <p:transition>
    <p:dissolv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296862"/>
          </a:xfrm>
        </p:spPr>
        <p:txBody>
          <a:bodyPr rtlCol="0">
            <a:normAutofit fontScale="90000"/>
          </a:bodyPr>
          <a:lstStyle/>
          <a:p>
            <a:pPr eaLnBrk="1" fontAlgn="auto" hangingPunct="1">
              <a:spcAft>
                <a:spcPts val="0"/>
              </a:spcAft>
              <a:defRPr/>
            </a:pPr>
            <a:endParaRPr lang="es-ES" dirty="0"/>
          </a:p>
        </p:txBody>
      </p:sp>
      <p:sp>
        <p:nvSpPr>
          <p:cNvPr id="6147" name="2 Marcador de contenido"/>
          <p:cNvSpPr>
            <a:spLocks noGrp="1"/>
          </p:cNvSpPr>
          <p:nvPr>
            <p:ph idx="1"/>
          </p:nvPr>
        </p:nvSpPr>
        <p:spPr>
          <a:xfrm>
            <a:off x="457200" y="642938"/>
            <a:ext cx="8229600" cy="6215062"/>
          </a:xfrm>
        </p:spPr>
        <p:txBody>
          <a:bodyPr/>
          <a:lstStyle/>
          <a:p>
            <a:pPr eaLnBrk="1" hangingPunct="1"/>
            <a:r>
              <a:rPr lang="es-ES" sz="2800" smtClean="0">
                <a:solidFill>
                  <a:srgbClr val="0000FF"/>
                </a:solidFill>
                <a:latin typeface="Monotype Corsiva" pitchFamily="66" charset="0"/>
              </a:rPr>
              <a:t>Clase  A : </a:t>
            </a:r>
            <a:r>
              <a:rPr lang="es-ES" sz="2800" smtClean="0">
                <a:latin typeface="Monotype Corsiva" pitchFamily="66" charset="0"/>
              </a:rPr>
              <a:t> </a:t>
            </a:r>
            <a:r>
              <a:rPr lang="es-ES_tradnl" sz="2800" smtClean="0"/>
              <a:t> </a:t>
            </a:r>
            <a:r>
              <a:rPr lang="es-ES_tradnl" sz="2800" smtClean="0">
                <a:latin typeface="Monotype Corsiva" pitchFamily="66" charset="0"/>
              </a:rPr>
              <a:t>Hay estudios controlados en humanos que demuestran que no</a:t>
            </a:r>
            <a:r>
              <a:rPr lang="es-ES" sz="2800" smtClean="0">
                <a:latin typeface="Monotype Corsiva" pitchFamily="66" charset="0"/>
              </a:rPr>
              <a:t>  </a:t>
            </a:r>
            <a:r>
              <a:rPr lang="es-ES_tradnl" sz="2800" smtClean="0">
                <a:latin typeface="Monotype Corsiva" pitchFamily="66" charset="0"/>
              </a:rPr>
              <a:t>existen riesgos, durante la gestación.</a:t>
            </a:r>
          </a:p>
          <a:p>
            <a:pPr eaLnBrk="1" hangingPunct="1"/>
            <a:r>
              <a:rPr lang="es-ES_tradnl" sz="2800" smtClean="0">
                <a:latin typeface="Monotype Corsiva" pitchFamily="66" charset="0"/>
              </a:rPr>
              <a:t>Pueden ser utilizados cuando sean necesarios : </a:t>
            </a:r>
          </a:p>
          <a:p>
            <a:pPr eaLnBrk="1" hangingPunct="1"/>
            <a:r>
              <a:rPr lang="es-ES_tradnl" sz="2800" smtClean="0">
                <a:latin typeface="Monotype Corsiva" pitchFamily="66" charset="0"/>
              </a:rPr>
              <a:t>ejemplo poli vitaminas o </a:t>
            </a:r>
          </a:p>
          <a:p>
            <a:pPr eaLnBrk="1" hangingPunct="1"/>
            <a:r>
              <a:rPr lang="es-ES_tradnl" sz="2800" smtClean="0">
                <a:latin typeface="Monotype Corsiva" pitchFamily="66" charset="0"/>
              </a:rPr>
              <a:t>vitaminas prenatales</a:t>
            </a:r>
          </a:p>
          <a:p>
            <a:pPr eaLnBrk="1" hangingPunct="1"/>
            <a:endParaRPr lang="es-ES_tradnl" sz="2800" smtClean="0">
              <a:latin typeface="Monotype Corsiva" pitchFamily="66" charset="0"/>
            </a:endParaRPr>
          </a:p>
          <a:p>
            <a:pPr eaLnBrk="1" hangingPunct="1"/>
            <a:endParaRPr lang="es-ES" sz="2800" smtClean="0">
              <a:latin typeface="Monotype Corsiva" pitchFamily="66" charset="0"/>
            </a:endParaRPr>
          </a:p>
          <a:p>
            <a:pPr eaLnBrk="1" hangingPunct="1">
              <a:buFont typeface="Arial" charset="0"/>
              <a:buNone/>
            </a:pPr>
            <a:r>
              <a:rPr lang="es-ES_tradnl" sz="2800" smtClean="0">
                <a:solidFill>
                  <a:srgbClr val="0000FF"/>
                </a:solidFill>
                <a:latin typeface="Monotype Corsiva" pitchFamily="66" charset="0"/>
              </a:rPr>
              <a:t>Categoría B: </a:t>
            </a:r>
            <a:r>
              <a:rPr lang="es-ES_tradnl" sz="2800" smtClean="0">
                <a:latin typeface="Monotype Corsiva" pitchFamily="66" charset="0"/>
              </a:rPr>
              <a:t>Hay estudios controlados en animales, que no muestran</a:t>
            </a:r>
            <a:r>
              <a:rPr lang="es-ES" sz="2800" smtClean="0">
                <a:latin typeface="Monotype Corsiva" pitchFamily="66" charset="0"/>
              </a:rPr>
              <a:t> </a:t>
            </a:r>
            <a:r>
              <a:rPr lang="es-ES_tradnl" sz="2800" smtClean="0">
                <a:latin typeface="Monotype Corsiva" pitchFamily="66" charset="0"/>
              </a:rPr>
              <a:t>efectos adversos, pero no existen estudios humanos  controlados.</a:t>
            </a:r>
          </a:p>
          <a:p>
            <a:pPr eaLnBrk="1" hangingPunct="1"/>
            <a:r>
              <a:rPr lang="es-ES_tradnl" sz="2800" smtClean="0">
                <a:latin typeface="Monotype Corsiva" pitchFamily="66" charset="0"/>
              </a:rPr>
              <a:t>Se pueden usar cuando es necesario. Ejemplo: penicilina, eritromicina.</a:t>
            </a:r>
            <a:endParaRPr lang="es-ES" sz="2800" smtClean="0">
              <a:latin typeface="Monotype Corsiva" pitchFamily="66" charset="0"/>
            </a:endParaRPr>
          </a:p>
        </p:txBody>
      </p:sp>
      <p:pic>
        <p:nvPicPr>
          <p:cNvPr id="6148" name="Picture 2"/>
          <p:cNvPicPr>
            <a:picLocks noChangeAspect="1" noChangeArrowheads="1"/>
          </p:cNvPicPr>
          <p:nvPr/>
        </p:nvPicPr>
        <p:blipFill>
          <a:blip r:embed="rId2"/>
          <a:srcRect/>
          <a:stretch>
            <a:fillRect/>
          </a:stretch>
        </p:blipFill>
        <p:spPr bwMode="auto">
          <a:xfrm>
            <a:off x="4643438" y="2071688"/>
            <a:ext cx="3643312" cy="1785937"/>
          </a:xfrm>
          <a:prstGeom prst="rect">
            <a:avLst/>
          </a:prstGeom>
          <a:noFill/>
          <a:ln w="9525">
            <a:noFill/>
            <a:miter lim="800000"/>
            <a:headEnd/>
            <a:tailEnd/>
          </a:ln>
        </p:spPr>
      </p:pic>
    </p:spTree>
  </p:cSld>
  <p:clrMapOvr>
    <a:masterClrMapping/>
  </p:clrMapOvr>
  <p:transition>
    <p:dissolv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3 Imagen"/>
          <p:cNvPicPr>
            <a:picLocks noChangeAspect="1" noChangeArrowheads="1"/>
          </p:cNvPicPr>
          <p:nvPr/>
        </p:nvPicPr>
        <p:blipFill>
          <a:blip r:embed="rId2"/>
          <a:srcRect/>
          <a:stretch>
            <a:fillRect/>
          </a:stretch>
        </p:blipFill>
        <p:spPr bwMode="auto">
          <a:xfrm>
            <a:off x="5857875" y="4429125"/>
            <a:ext cx="3286125" cy="2428875"/>
          </a:xfrm>
          <a:prstGeom prst="rect">
            <a:avLst/>
          </a:prstGeom>
          <a:noFill/>
          <a:ln w="9525">
            <a:noFill/>
            <a:miter lim="800000"/>
            <a:headEnd/>
            <a:tailEnd/>
          </a:ln>
        </p:spPr>
      </p:pic>
      <p:sp>
        <p:nvSpPr>
          <p:cNvPr id="2" name="1 Título"/>
          <p:cNvSpPr>
            <a:spLocks noGrp="1"/>
          </p:cNvSpPr>
          <p:nvPr>
            <p:ph type="title"/>
          </p:nvPr>
        </p:nvSpPr>
        <p:spPr>
          <a:xfrm>
            <a:off x="457200" y="-46038"/>
            <a:ext cx="8229600" cy="46038"/>
          </a:xfrm>
        </p:spPr>
        <p:txBody>
          <a:bodyPr rtlCol="0">
            <a:normAutofit fontScale="90000"/>
          </a:bodyPr>
          <a:lstStyle/>
          <a:p>
            <a:pPr eaLnBrk="1" fontAlgn="auto" hangingPunct="1">
              <a:spcAft>
                <a:spcPts val="0"/>
              </a:spcAft>
              <a:defRPr/>
            </a:pPr>
            <a:endParaRPr lang="es-ES" dirty="0"/>
          </a:p>
        </p:txBody>
      </p:sp>
      <p:sp>
        <p:nvSpPr>
          <p:cNvPr id="7172" name="2 Marcador de contenido"/>
          <p:cNvSpPr>
            <a:spLocks noGrp="1"/>
          </p:cNvSpPr>
          <p:nvPr>
            <p:ph idx="1"/>
          </p:nvPr>
        </p:nvSpPr>
        <p:spPr>
          <a:xfrm>
            <a:off x="0" y="642938"/>
            <a:ext cx="9144000" cy="6215062"/>
          </a:xfrm>
        </p:spPr>
        <p:txBody>
          <a:bodyPr/>
          <a:lstStyle/>
          <a:p>
            <a:pPr eaLnBrk="1" hangingPunct="1">
              <a:buFont typeface="Arial" charset="0"/>
              <a:buNone/>
            </a:pPr>
            <a:r>
              <a:rPr lang="es-ES_tradnl" smtClean="0">
                <a:solidFill>
                  <a:srgbClr val="0000FF"/>
                </a:solidFill>
                <a:latin typeface="Monotype Corsiva" pitchFamily="66" charset="0"/>
              </a:rPr>
              <a:t>Categoría C: </a:t>
            </a:r>
            <a:r>
              <a:rPr lang="es-ES_tradnl" smtClean="0">
                <a:latin typeface="Monotype Corsiva" pitchFamily="66" charset="0"/>
              </a:rPr>
              <a:t>No hay estudios controlados ni en animales ni en humanos, o</a:t>
            </a:r>
            <a:r>
              <a:rPr lang="es-ES" smtClean="0">
                <a:latin typeface="Monotype Corsiva" pitchFamily="66" charset="0"/>
              </a:rPr>
              <a:t> </a:t>
            </a:r>
            <a:r>
              <a:rPr lang="es-ES_tradnl" smtClean="0">
                <a:latin typeface="Monotype Corsiva" pitchFamily="66" charset="0"/>
              </a:rPr>
              <a:t>bien producen efectos en animales pero no en humanos.</a:t>
            </a:r>
          </a:p>
          <a:p>
            <a:pPr eaLnBrk="1" hangingPunct="1"/>
            <a:r>
              <a:rPr lang="es-ES_tradnl" smtClean="0">
                <a:latin typeface="Monotype Corsiva" pitchFamily="66" charset="0"/>
              </a:rPr>
              <a:t>Solo deben utilizarse si el beneficio supera el riesgo.</a:t>
            </a:r>
          </a:p>
          <a:p>
            <a:pPr eaLnBrk="1" hangingPunct="1">
              <a:buFont typeface="Arial" charset="0"/>
              <a:buNone/>
            </a:pPr>
            <a:r>
              <a:rPr lang="es-ES_tradnl" smtClean="0">
                <a:latin typeface="Monotype Corsiva" pitchFamily="66" charset="0"/>
              </a:rPr>
              <a:t>  Ejemplo : adrenalina, teofilina , furosemida.</a:t>
            </a:r>
            <a:endParaRPr lang="es-ES" smtClean="0">
              <a:latin typeface="Monotype Corsiva" pitchFamily="66" charset="0"/>
            </a:endParaRPr>
          </a:p>
          <a:p>
            <a:pPr eaLnBrk="1" hangingPunct="1">
              <a:buFont typeface="Arial" charset="0"/>
              <a:buNone/>
            </a:pPr>
            <a:r>
              <a:rPr lang="es-ES_tradnl" smtClean="0">
                <a:solidFill>
                  <a:srgbClr val="0000FF"/>
                </a:solidFill>
                <a:latin typeface="Monotype Corsiva" pitchFamily="66" charset="0"/>
              </a:rPr>
              <a:t> Categoría D: </a:t>
            </a:r>
            <a:r>
              <a:rPr lang="es-ES_tradnl" smtClean="0">
                <a:latin typeface="Monotype Corsiva" pitchFamily="66" charset="0"/>
              </a:rPr>
              <a:t>Hay evidencias de riesgo para el feto humano de enfermedades graves en los que no hay tratamiento eficaz. </a:t>
            </a:r>
          </a:p>
          <a:p>
            <a:pPr eaLnBrk="1" hangingPunct="1">
              <a:buFont typeface="Arial" charset="0"/>
              <a:buNone/>
            </a:pPr>
            <a:r>
              <a:rPr lang="es-ES_tradnl" smtClean="0">
                <a:latin typeface="Monotype Corsiva" pitchFamily="66" charset="0"/>
              </a:rPr>
              <a:t>Solo deben utilizarse si el beneficio </a:t>
            </a:r>
          </a:p>
          <a:p>
            <a:pPr eaLnBrk="1" hangingPunct="1">
              <a:buFont typeface="Arial" charset="0"/>
              <a:buNone/>
            </a:pPr>
            <a:r>
              <a:rPr lang="es-ES_tradnl" smtClean="0">
                <a:latin typeface="Monotype Corsiva" pitchFamily="66" charset="0"/>
              </a:rPr>
              <a:t>supera el riesgo. </a:t>
            </a:r>
          </a:p>
          <a:p>
            <a:pPr eaLnBrk="1" hangingPunct="1">
              <a:buFont typeface="Arial" charset="0"/>
              <a:buNone/>
            </a:pPr>
            <a:r>
              <a:rPr lang="es-ES_tradnl" smtClean="0">
                <a:latin typeface="Monotype Corsiva" pitchFamily="66" charset="0"/>
              </a:rPr>
              <a:t>Ejemplo: carbamazepina y fenitoina.</a:t>
            </a:r>
          </a:p>
          <a:p>
            <a:pPr eaLnBrk="1" hangingPunct="1">
              <a:buFont typeface="Arial" charset="0"/>
              <a:buNone/>
            </a:pPr>
            <a:endParaRPr lang="es-ES" smtClean="0">
              <a:latin typeface="Monotype Corsiva" pitchFamily="66" charset="0"/>
            </a:endParaRPr>
          </a:p>
        </p:txBody>
      </p:sp>
    </p:spTree>
  </p:cSld>
  <p:clrMapOvr>
    <a:masterClrMapping/>
  </p:clrMapOvr>
  <p:transition>
    <p:dissolv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p:nvPr>
        </p:nvSpPr>
        <p:spPr>
          <a:xfrm>
            <a:off x="457200" y="274638"/>
            <a:ext cx="8229600" cy="82550"/>
          </a:xfrm>
        </p:spPr>
        <p:txBody>
          <a:bodyPr rtlCol="0">
            <a:normAutofit fontScale="90000"/>
          </a:bodyPr>
          <a:lstStyle/>
          <a:p>
            <a:pPr eaLnBrk="1" fontAlgn="auto" hangingPunct="1">
              <a:spcAft>
                <a:spcPts val="0"/>
              </a:spcAft>
              <a:defRPr/>
            </a:pPr>
            <a:endParaRPr lang="es-ES" dirty="0"/>
          </a:p>
        </p:txBody>
      </p:sp>
      <p:sp>
        <p:nvSpPr>
          <p:cNvPr id="8195" name="4 Marcador de contenido"/>
          <p:cNvSpPr>
            <a:spLocks noGrp="1"/>
          </p:cNvSpPr>
          <p:nvPr>
            <p:ph idx="1"/>
          </p:nvPr>
        </p:nvSpPr>
        <p:spPr>
          <a:xfrm>
            <a:off x="457200" y="500063"/>
            <a:ext cx="8229600" cy="5626100"/>
          </a:xfrm>
        </p:spPr>
        <p:txBody>
          <a:bodyPr/>
          <a:lstStyle/>
          <a:p>
            <a:pPr eaLnBrk="1" hangingPunct="1"/>
            <a:r>
              <a:rPr lang="es-ES_tradnl" smtClean="0">
                <a:solidFill>
                  <a:srgbClr val="0000FF"/>
                </a:solidFill>
                <a:latin typeface="Monotype Corsiva" pitchFamily="66" charset="0"/>
              </a:rPr>
              <a:t>Categoría X: </a:t>
            </a:r>
            <a:r>
              <a:rPr lang="es-ES_tradnl" smtClean="0">
                <a:latin typeface="Monotype Corsiva" pitchFamily="66" charset="0"/>
              </a:rPr>
              <a:t>El riesgo para el feto supera los beneficios, de su utilización en la embarazada.</a:t>
            </a:r>
            <a:endParaRPr lang="es-ES" smtClean="0">
              <a:solidFill>
                <a:srgbClr val="0000FF"/>
              </a:solidFill>
              <a:latin typeface="Monotype Corsiva" pitchFamily="66" charset="0"/>
            </a:endParaRPr>
          </a:p>
          <a:p>
            <a:pPr eaLnBrk="1" hangingPunct="1">
              <a:buFont typeface="Arial" charset="0"/>
              <a:buNone/>
            </a:pPr>
            <a:r>
              <a:rPr lang="es-ES" smtClean="0">
                <a:latin typeface="Monotype Corsiva" pitchFamily="66" charset="0"/>
              </a:rPr>
              <a:t>                                       No  deben utilizarse en mujeres </a:t>
            </a:r>
          </a:p>
          <a:p>
            <a:pPr eaLnBrk="1" hangingPunct="1">
              <a:buFont typeface="Arial" charset="0"/>
              <a:buNone/>
            </a:pPr>
            <a:r>
              <a:rPr lang="es-ES" smtClean="0">
                <a:latin typeface="Monotype Corsiva" pitchFamily="66" charset="0"/>
              </a:rPr>
              <a:t>                                          en gestación ni en   mujeres </a:t>
            </a:r>
          </a:p>
          <a:p>
            <a:pPr eaLnBrk="1" hangingPunct="1">
              <a:buFont typeface="Arial" charset="0"/>
              <a:buNone/>
            </a:pPr>
            <a:r>
              <a:rPr lang="es-ES" smtClean="0">
                <a:latin typeface="Monotype Corsiva" pitchFamily="66" charset="0"/>
              </a:rPr>
              <a:t>                                               que puedan estarlo.</a:t>
            </a:r>
          </a:p>
          <a:p>
            <a:pPr eaLnBrk="1" hangingPunct="1">
              <a:buFont typeface="Arial" charset="0"/>
              <a:buNone/>
            </a:pPr>
            <a:r>
              <a:rPr lang="es-ES" smtClean="0">
                <a:latin typeface="Monotype Corsiva" pitchFamily="66" charset="0"/>
              </a:rPr>
              <a:t>                                             Ejemplo: isotretnoina</a:t>
            </a:r>
          </a:p>
          <a:p>
            <a:pPr eaLnBrk="1" hangingPunct="1"/>
            <a:endParaRPr lang="es-ES" smtClean="0"/>
          </a:p>
        </p:txBody>
      </p:sp>
      <p:pic>
        <p:nvPicPr>
          <p:cNvPr id="8196" name="5 Imagen"/>
          <p:cNvPicPr>
            <a:picLocks noChangeAspect="1" noChangeArrowheads="1"/>
          </p:cNvPicPr>
          <p:nvPr/>
        </p:nvPicPr>
        <p:blipFill>
          <a:blip r:embed="rId2"/>
          <a:srcRect/>
          <a:stretch>
            <a:fillRect/>
          </a:stretch>
        </p:blipFill>
        <p:spPr bwMode="auto">
          <a:xfrm>
            <a:off x="571500" y="1857375"/>
            <a:ext cx="3357563" cy="4714875"/>
          </a:xfrm>
          <a:prstGeom prst="rect">
            <a:avLst/>
          </a:prstGeom>
          <a:noFill/>
          <a:ln w="9525">
            <a:noFill/>
            <a:miter lim="800000"/>
            <a:headEnd/>
            <a:tailEnd/>
          </a:ln>
        </p:spPr>
      </p:pic>
    </p:spTree>
  </p:cSld>
  <p:clrMapOvr>
    <a:masterClrMapping/>
  </p:clrMapOvr>
  <p:transition>
    <p:dissolv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82550"/>
          </a:xfrm>
        </p:spPr>
        <p:txBody>
          <a:bodyPr rtlCol="0">
            <a:normAutofit fontScale="90000"/>
          </a:bodyPr>
          <a:lstStyle/>
          <a:p>
            <a:pPr eaLnBrk="1" fontAlgn="auto" hangingPunct="1">
              <a:spcAft>
                <a:spcPts val="0"/>
              </a:spcAft>
              <a:defRPr/>
            </a:pPr>
            <a:endParaRPr lang="es-ES" dirty="0"/>
          </a:p>
        </p:txBody>
      </p:sp>
      <p:graphicFrame>
        <p:nvGraphicFramePr>
          <p:cNvPr id="4" name="3 Marcador de contenido"/>
          <p:cNvGraphicFramePr>
            <a:graphicFrameLocks noGrp="1"/>
          </p:cNvGraphicFramePr>
          <p:nvPr>
            <p:ph idx="1"/>
          </p:nvPr>
        </p:nvGraphicFramePr>
        <p:xfrm>
          <a:off x="0" y="0"/>
          <a:ext cx="9144000" cy="785815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ransition>
    <p:dissolv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Imagen 1"/>
          <p:cNvPicPr>
            <a:picLocks noChangeAspect="1" noChangeArrowheads="1"/>
          </p:cNvPicPr>
          <p:nvPr/>
        </p:nvPicPr>
        <p:blipFill>
          <a:blip r:embed="rId2"/>
          <a:srcRect/>
          <a:stretch>
            <a:fillRect/>
          </a:stretch>
        </p:blipFill>
        <p:spPr bwMode="auto">
          <a:xfrm>
            <a:off x="5500688" y="571500"/>
            <a:ext cx="3643312" cy="6000750"/>
          </a:xfrm>
          <a:prstGeom prst="rect">
            <a:avLst/>
          </a:prstGeom>
          <a:noFill/>
          <a:ln w="9525">
            <a:noFill/>
            <a:miter lim="800000"/>
            <a:headEnd/>
            <a:tailEnd/>
          </a:ln>
        </p:spPr>
      </p:pic>
      <p:sp>
        <p:nvSpPr>
          <p:cNvPr id="2" name="1 Título"/>
          <p:cNvSpPr>
            <a:spLocks noGrp="1"/>
          </p:cNvSpPr>
          <p:nvPr>
            <p:ph type="title"/>
          </p:nvPr>
        </p:nvSpPr>
        <p:spPr>
          <a:xfrm>
            <a:off x="457200" y="274638"/>
            <a:ext cx="8229600" cy="725487"/>
          </a:xfrm>
        </p:spPr>
        <p:txBody>
          <a:bodyPr rtlCol="0">
            <a:normAutofit fontScale="90000"/>
          </a:bodyPr>
          <a:lstStyle/>
          <a:p>
            <a:pPr algn="l" eaLnBrk="1" fontAlgn="auto" hangingPunct="1">
              <a:spcAft>
                <a:spcPts val="0"/>
              </a:spcAft>
              <a:defRPr/>
            </a:pPr>
            <a:r>
              <a:rPr lang="es-ES" sz="3200" b="1" dirty="0" smtClean="0">
                <a:solidFill>
                  <a:srgbClr val="FFFF00"/>
                </a:solidFill>
                <a:latin typeface="Monotype Corsiva" pitchFamily="66" charset="0"/>
              </a:rPr>
              <a:t>2.1.3 Precauciones y reglas de administración de un fármaco </a:t>
            </a:r>
            <a:br>
              <a:rPr lang="es-ES" sz="3200" b="1" dirty="0" smtClean="0">
                <a:solidFill>
                  <a:srgbClr val="FFFF00"/>
                </a:solidFill>
                <a:latin typeface="Monotype Corsiva" pitchFamily="66" charset="0"/>
              </a:rPr>
            </a:br>
            <a:r>
              <a:rPr lang="es-ES" sz="3200" b="1" dirty="0" smtClean="0">
                <a:solidFill>
                  <a:srgbClr val="FFFF00"/>
                </a:solidFill>
                <a:latin typeface="Monotype Corsiva" pitchFamily="66" charset="0"/>
              </a:rPr>
              <a:t>            de alto riesgo </a:t>
            </a:r>
            <a:endParaRPr lang="es-ES" sz="3200" b="1" dirty="0">
              <a:solidFill>
                <a:srgbClr val="FFFF00"/>
              </a:solidFill>
              <a:latin typeface="Monotype Corsiva" pitchFamily="66" charset="0"/>
            </a:endParaRPr>
          </a:p>
        </p:txBody>
      </p:sp>
      <p:sp>
        <p:nvSpPr>
          <p:cNvPr id="10244" name="2 Marcador de contenido"/>
          <p:cNvSpPr>
            <a:spLocks noGrp="1"/>
          </p:cNvSpPr>
          <p:nvPr>
            <p:ph idx="1"/>
          </p:nvPr>
        </p:nvSpPr>
        <p:spPr>
          <a:xfrm>
            <a:off x="457200" y="1214438"/>
            <a:ext cx="8229600" cy="5643562"/>
          </a:xfrm>
        </p:spPr>
        <p:txBody>
          <a:bodyPr/>
          <a:lstStyle/>
          <a:p>
            <a:pPr eaLnBrk="1" hangingPunct="1">
              <a:buFont typeface="Arial" charset="0"/>
              <a:buBlip>
                <a:blip r:embed="rId3"/>
              </a:buBlip>
            </a:pPr>
            <a:r>
              <a:rPr lang="es-ES" sz="2800" smtClean="0"/>
              <a:t> </a:t>
            </a:r>
            <a:r>
              <a:rPr lang="es-ES" sz="2800" smtClean="0">
                <a:latin typeface="Monotype Corsiva" pitchFamily="66" charset="0"/>
              </a:rPr>
              <a:t>Evitar todas medicación que no sea absolutamente imprescindible.</a:t>
            </a:r>
          </a:p>
          <a:p>
            <a:pPr eaLnBrk="1" hangingPunct="1">
              <a:buFont typeface="Arial" charset="0"/>
              <a:buBlip>
                <a:blip r:embed="rId3"/>
              </a:buBlip>
            </a:pPr>
            <a:r>
              <a:rPr lang="es-ES" sz="2800" smtClean="0">
                <a:latin typeface="Monotype Corsiva" pitchFamily="66" charset="0"/>
              </a:rPr>
              <a:t>Si bien durante los tres primeros meses el embrión es mas vulnerable a los agentes terotógenos es evitar dicha medicación todo el embarazo.</a:t>
            </a:r>
          </a:p>
          <a:p>
            <a:pPr eaLnBrk="1" hangingPunct="1">
              <a:buFont typeface="Arial" charset="0"/>
              <a:buBlip>
                <a:blip r:embed="rId3"/>
              </a:buBlip>
            </a:pPr>
            <a:r>
              <a:rPr lang="es-ES" sz="2800" smtClean="0">
                <a:latin typeface="Monotype Corsiva" pitchFamily="66" charset="0"/>
              </a:rPr>
              <a:t>El medico debe llevar un registro minucioso  de los medicamentos prescriptos </a:t>
            </a:r>
          </a:p>
          <a:p>
            <a:pPr eaLnBrk="1" hangingPunct="1">
              <a:buFont typeface="Arial" charset="0"/>
              <a:buBlip>
                <a:blip r:embed="rId3"/>
              </a:buBlip>
            </a:pPr>
            <a:r>
              <a:rPr lang="es-ES" sz="2800" smtClean="0">
                <a:latin typeface="Monotype Corsiva" pitchFamily="66" charset="0"/>
              </a:rPr>
              <a:t>Se debe instruir ampliamente y claramente sobre los peligros </a:t>
            </a:r>
          </a:p>
          <a:p>
            <a:pPr eaLnBrk="1" hangingPunct="1">
              <a:buFont typeface="Arial" charset="0"/>
              <a:buNone/>
            </a:pPr>
            <a:r>
              <a:rPr lang="es-ES" sz="2800" smtClean="0">
                <a:latin typeface="Monotype Corsiva" pitchFamily="66" charset="0"/>
              </a:rPr>
              <a:t>     de la automedicación.</a:t>
            </a:r>
          </a:p>
          <a:p>
            <a:pPr eaLnBrk="1" hangingPunct="1">
              <a:buFont typeface="Arial" charset="0"/>
              <a:buBlip>
                <a:blip r:embed="rId3"/>
              </a:buBlip>
            </a:pPr>
            <a:r>
              <a:rPr lang="es-ES" sz="2800" smtClean="0">
                <a:latin typeface="Monotype Corsiva" pitchFamily="66" charset="0"/>
              </a:rPr>
              <a:t>En casos que sea imprescindible su administración, se usara , que estos hayan sido ensayados en animales de laboratorio.</a:t>
            </a:r>
          </a:p>
          <a:p>
            <a:pPr eaLnBrk="1" hangingPunct="1">
              <a:buFont typeface="Arial" charset="0"/>
              <a:buBlip>
                <a:blip r:embed="rId3"/>
              </a:buBlip>
            </a:pPr>
            <a:endParaRPr lang="es-ES" sz="2800" smtClean="0">
              <a:latin typeface="Monotype Corsiva" pitchFamily="66" charset="0"/>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5"/>
          <p:cNvPicPr>
            <a:picLocks noChangeAspect="1" noChangeArrowheads="1"/>
          </p:cNvPicPr>
          <p:nvPr/>
        </p:nvPicPr>
        <p:blipFill>
          <a:blip r:embed="rId2"/>
          <a:srcRect/>
          <a:stretch>
            <a:fillRect/>
          </a:stretch>
        </p:blipFill>
        <p:spPr bwMode="auto">
          <a:xfrm>
            <a:off x="5143500" y="3500438"/>
            <a:ext cx="4000500" cy="3357562"/>
          </a:xfrm>
          <a:prstGeom prst="rect">
            <a:avLst/>
          </a:prstGeom>
          <a:noFill/>
          <a:ln w="9525">
            <a:noFill/>
            <a:miter lim="800000"/>
            <a:headEnd/>
            <a:tailEnd/>
          </a:ln>
        </p:spPr>
      </p:pic>
      <p:sp>
        <p:nvSpPr>
          <p:cNvPr id="11267" name="1 Título"/>
          <p:cNvSpPr>
            <a:spLocks noGrp="1"/>
          </p:cNvSpPr>
          <p:nvPr>
            <p:ph type="title"/>
          </p:nvPr>
        </p:nvSpPr>
        <p:spPr>
          <a:xfrm>
            <a:off x="457200" y="274638"/>
            <a:ext cx="8229600" cy="725487"/>
          </a:xfrm>
        </p:spPr>
        <p:txBody>
          <a:bodyPr/>
          <a:lstStyle/>
          <a:p>
            <a:pPr algn="l" eaLnBrk="1" hangingPunct="1"/>
            <a:r>
              <a:rPr lang="es-ES" sz="2800" b="1" dirty="0" smtClean="0">
                <a:solidFill>
                  <a:srgbClr val="FFFF00"/>
                </a:solidFill>
                <a:latin typeface="Monotype Corsiva" pitchFamily="66" charset="0"/>
              </a:rPr>
              <a:t>2</a:t>
            </a:r>
            <a:r>
              <a:rPr lang="es-ES" sz="3600" b="1" dirty="0" smtClean="0">
                <a:solidFill>
                  <a:srgbClr val="FFFF00"/>
                </a:solidFill>
                <a:latin typeface="Monotype Corsiva" pitchFamily="66" charset="0"/>
              </a:rPr>
              <a:t>..1.4 Peligros  de  vitaminas</a:t>
            </a:r>
          </a:p>
        </p:txBody>
      </p:sp>
      <p:sp>
        <p:nvSpPr>
          <p:cNvPr id="11268" name="2 Marcador de contenido"/>
          <p:cNvSpPr>
            <a:spLocks noGrp="1"/>
          </p:cNvSpPr>
          <p:nvPr>
            <p:ph idx="1"/>
          </p:nvPr>
        </p:nvSpPr>
        <p:spPr>
          <a:xfrm>
            <a:off x="0" y="857250"/>
            <a:ext cx="8572500" cy="6000750"/>
          </a:xfrm>
        </p:spPr>
        <p:txBody>
          <a:bodyPr/>
          <a:lstStyle/>
          <a:p>
            <a:pPr eaLnBrk="1" hangingPunct="1">
              <a:buFont typeface="Arial" charset="0"/>
              <a:buNone/>
            </a:pPr>
            <a:r>
              <a:rPr lang="es-ES" smtClean="0">
                <a:latin typeface="Monotype Corsiva" pitchFamily="66" charset="0"/>
              </a:rPr>
              <a:t>Muchos médicos  y obstetras en su practica diaria han establecido como norma prescribir vitaminas a las mujeres gestantes que asisten  a su consulta, o bien ellas se automedican ante la creencia generalizad de que estas promueven la fortaleza fetal y neonatal.</a:t>
            </a:r>
          </a:p>
          <a:p>
            <a:pPr eaLnBrk="1" hangingPunct="1"/>
            <a:r>
              <a:rPr lang="es-ES" smtClean="0">
                <a:latin typeface="Monotype Corsiva" pitchFamily="66" charset="0"/>
              </a:rPr>
              <a:t>Si bien la suplementacion de algunas vitaminas  en especial es necesaria durante el embarazo, asimismo es </a:t>
            </a:r>
            <a:r>
              <a:rPr lang="es-ES" u="sng" smtClean="0">
                <a:latin typeface="Monotype Corsiva" pitchFamily="66" charset="0"/>
              </a:rPr>
              <a:t>oportuna la restricción en el abuso de estas sustancias</a:t>
            </a:r>
          </a:p>
          <a:p>
            <a:pPr eaLnBrk="1" hangingPunct="1">
              <a:buFont typeface="Arial" charset="0"/>
              <a:buNone/>
            </a:pPr>
            <a:r>
              <a:rPr lang="es-ES" smtClean="0">
                <a:solidFill>
                  <a:srgbClr val="FF0000"/>
                </a:solidFill>
                <a:latin typeface="Monotype Corsiva" pitchFamily="66" charset="0"/>
              </a:rPr>
              <a:t>Toda ves que la carencia o </a:t>
            </a:r>
          </a:p>
          <a:p>
            <a:pPr eaLnBrk="1" hangingPunct="1">
              <a:buFont typeface="Arial" charset="0"/>
              <a:buNone/>
            </a:pPr>
            <a:r>
              <a:rPr lang="es-ES" smtClean="0">
                <a:solidFill>
                  <a:srgbClr val="FF0000"/>
                </a:solidFill>
                <a:latin typeface="Monotype Corsiva" pitchFamily="66" charset="0"/>
              </a:rPr>
              <a:t>el exceso son susceptibles </a:t>
            </a:r>
          </a:p>
          <a:p>
            <a:pPr eaLnBrk="1" hangingPunct="1">
              <a:buFont typeface="Arial" charset="0"/>
              <a:buNone/>
            </a:pPr>
            <a:r>
              <a:rPr lang="es-ES" smtClean="0">
                <a:solidFill>
                  <a:srgbClr val="FF0000"/>
                </a:solidFill>
                <a:latin typeface="Monotype Corsiva" pitchFamily="66" charset="0"/>
              </a:rPr>
              <a:t>de provocar trastornos . </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BO" dirty="0" smtClean="0">
                <a:solidFill>
                  <a:srgbClr val="FFFF00"/>
                </a:solidFill>
              </a:rPr>
              <a:t>La automedicación</a:t>
            </a:r>
            <a:endParaRPr lang="es-BO" dirty="0">
              <a:solidFill>
                <a:srgbClr val="FFFF00"/>
              </a:solidFill>
            </a:endParaRPr>
          </a:p>
        </p:txBody>
      </p:sp>
      <p:sp>
        <p:nvSpPr>
          <p:cNvPr id="3" name="2 Marcador de contenido"/>
          <p:cNvSpPr>
            <a:spLocks noGrp="1"/>
          </p:cNvSpPr>
          <p:nvPr>
            <p:ph idx="1"/>
          </p:nvPr>
        </p:nvSpPr>
        <p:spPr/>
        <p:txBody>
          <a:bodyPr/>
          <a:lstStyle/>
          <a:p>
            <a:r>
              <a:rPr lang="es-BO" dirty="0" smtClean="0"/>
              <a:t>Muchas personas recurren a la farmacia para comprar alguna medicina.</a:t>
            </a:r>
          </a:p>
          <a:p>
            <a:r>
              <a:rPr lang="es-BO" dirty="0" smtClean="0"/>
              <a:t>Esta costumbre es perjudicial </a:t>
            </a:r>
          </a:p>
          <a:p>
            <a:r>
              <a:rPr lang="es-BO" dirty="0" smtClean="0"/>
              <a:t>Prenatal propone:</a:t>
            </a:r>
          </a:p>
          <a:p>
            <a:pPr>
              <a:buNone/>
            </a:pPr>
            <a:endParaRPr lang="es-BO" dirty="0" smtClean="0"/>
          </a:p>
          <a:p>
            <a:pPr algn="ctr"/>
            <a:r>
              <a:rPr lang="es-BO" dirty="0" smtClean="0"/>
              <a:t>NO AUTOMEDICARSE</a:t>
            </a:r>
            <a:endParaRPr lang="es-BO"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r>
              <a:rPr lang="es-BO" smtClean="0"/>
              <a:t>VACUNACIONES</a:t>
            </a:r>
            <a:endParaRPr lang="es-ES"/>
          </a:p>
        </p:txBody>
      </p:sp>
      <p:sp>
        <p:nvSpPr>
          <p:cNvPr id="6147" name="Rectangle 3"/>
          <p:cNvSpPr>
            <a:spLocks noGrp="1" noChangeArrowheads="1"/>
          </p:cNvSpPr>
          <p:nvPr>
            <p:ph type="body" idx="1"/>
          </p:nvPr>
        </p:nvSpPr>
        <p:spPr/>
        <p:txBody>
          <a:bodyPr/>
          <a:lstStyle/>
          <a:p>
            <a:r>
              <a:rPr lang="es-BO" smtClean="0"/>
              <a:t>I.- Concepto.- Las vacunas son particulas virales  o bacterias ( antigenos), administradas al ser vivo capaz de activar el sistema inmunitario ( anticuerpos)</a:t>
            </a:r>
            <a:r>
              <a:rPr lang="es-ES" smtClean="0"/>
              <a:t>. Esta respuesta de ataque permite el desarrollo de una memoria inmunológica, que por lo general producirá inmunidad permanente frente a la enfermedad. </a:t>
            </a:r>
            <a:endParaRPr lang="es-ES"/>
          </a:p>
        </p:txBody>
      </p:sp>
      <p:pic>
        <p:nvPicPr>
          <p:cNvPr id="6148" name="Picture 4" descr="vacunas2"/>
          <p:cNvPicPr>
            <a:picLocks noChangeAspect="1" noChangeArrowheads="1"/>
          </p:cNvPicPr>
          <p:nvPr/>
        </p:nvPicPr>
        <p:blipFill>
          <a:blip r:embed="rId2"/>
          <a:srcRect/>
          <a:stretch>
            <a:fillRect/>
          </a:stretch>
        </p:blipFill>
        <p:spPr bwMode="auto">
          <a:xfrm>
            <a:off x="7380288" y="260350"/>
            <a:ext cx="1439862" cy="1368425"/>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3"/>
          <p:cNvSpPr>
            <a:spLocks noGrp="1" noChangeArrowheads="1"/>
          </p:cNvSpPr>
          <p:nvPr>
            <p:ph type="body" idx="1"/>
          </p:nvPr>
        </p:nvSpPr>
        <p:spPr>
          <a:xfrm>
            <a:off x="457200" y="620713"/>
            <a:ext cx="8229600" cy="5505450"/>
          </a:xfrm>
        </p:spPr>
        <p:txBody>
          <a:bodyPr/>
          <a:lstStyle/>
          <a:p>
            <a:pPr>
              <a:buFont typeface="Wingdings" pitchFamily="2" charset="2"/>
              <a:buNone/>
            </a:pPr>
            <a:r>
              <a:rPr lang="es-ES" b="1">
                <a:solidFill>
                  <a:srgbClr val="99CC00"/>
                </a:solidFill>
              </a:rPr>
              <a:t>Existen tres tipos principales de vacunas:</a:t>
            </a:r>
          </a:p>
          <a:p>
            <a:pPr>
              <a:buClr>
                <a:srgbClr val="99CC00"/>
              </a:buClr>
              <a:buFont typeface="Wingdings" pitchFamily="2" charset="2"/>
              <a:buChar char="§"/>
            </a:pPr>
            <a:r>
              <a:rPr lang="es-ES"/>
              <a:t>organismo vivo, pero debilitado </a:t>
            </a:r>
          </a:p>
          <a:p>
            <a:pPr>
              <a:buClr>
                <a:srgbClr val="99CC00"/>
              </a:buClr>
              <a:buFont typeface="Wingdings" pitchFamily="2" charset="2"/>
              <a:buChar char="§"/>
            </a:pPr>
            <a:r>
              <a:rPr lang="es-ES"/>
              <a:t>Organismo inactivado </a:t>
            </a:r>
          </a:p>
          <a:p>
            <a:pPr>
              <a:buClr>
                <a:srgbClr val="99CC00"/>
              </a:buClr>
              <a:buFont typeface="Wingdings" pitchFamily="2" charset="2"/>
              <a:buChar char="§"/>
            </a:pPr>
            <a:r>
              <a:rPr lang="es-ES"/>
              <a:t>toxoides (proteínas químicamente modificadas que vienen de bacterias)</a:t>
            </a:r>
          </a:p>
          <a:p>
            <a:pPr>
              <a:buClr>
                <a:srgbClr val="99CC00"/>
              </a:buClr>
              <a:buFont typeface="Wingdings" pitchFamily="2" charset="2"/>
              <a:buNone/>
            </a:pPr>
            <a:r>
              <a:rPr lang="es-ES"/>
              <a:t>   Generalmente, las vacunas con virus activos no son recomendadas para las mujeres embarazadas.</a:t>
            </a:r>
          </a:p>
        </p:txBody>
      </p:sp>
      <p:pic>
        <p:nvPicPr>
          <p:cNvPr id="7172" name="Picture 4" descr="vaccine"/>
          <p:cNvPicPr>
            <a:picLocks noChangeAspect="1" noChangeArrowheads="1"/>
          </p:cNvPicPr>
          <p:nvPr/>
        </p:nvPicPr>
        <p:blipFill>
          <a:blip r:embed="rId2"/>
          <a:srcRect/>
          <a:stretch>
            <a:fillRect/>
          </a:stretch>
        </p:blipFill>
        <p:spPr bwMode="auto">
          <a:xfrm>
            <a:off x="6156325" y="4581525"/>
            <a:ext cx="2736850" cy="2016125"/>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type="body" idx="1"/>
          </p:nvPr>
        </p:nvSpPr>
        <p:spPr>
          <a:xfrm>
            <a:off x="457200" y="333375"/>
            <a:ext cx="8229600" cy="6264275"/>
          </a:xfrm>
        </p:spPr>
        <p:txBody>
          <a:bodyPr/>
          <a:lstStyle/>
          <a:p>
            <a:pPr>
              <a:buFont typeface="Wingdings" pitchFamily="2" charset="2"/>
              <a:buNone/>
            </a:pPr>
            <a:r>
              <a:rPr lang="es-BO"/>
              <a:t> </a:t>
            </a:r>
            <a:r>
              <a:rPr lang="es-BO" b="1">
                <a:solidFill>
                  <a:srgbClr val="99CC00"/>
                </a:solidFill>
              </a:rPr>
              <a:t>Condiciones.-</a:t>
            </a:r>
          </a:p>
          <a:p>
            <a:r>
              <a:rPr lang="es-BO"/>
              <a:t>Si es verdaderamente útil la vacuna para la embarazada.</a:t>
            </a:r>
          </a:p>
          <a:p>
            <a:endParaRPr lang="es-BO"/>
          </a:p>
          <a:p>
            <a:r>
              <a:rPr lang="es-BO"/>
              <a:t>Si el vacunar a la embarazada es un riesgo para ella.</a:t>
            </a:r>
          </a:p>
          <a:p>
            <a:endParaRPr lang="es-BO"/>
          </a:p>
          <a:p>
            <a:r>
              <a:rPr lang="es-BO"/>
              <a:t>Si es útil la vacuna para el feto.</a:t>
            </a:r>
          </a:p>
          <a:p>
            <a:endParaRPr lang="es-BO"/>
          </a:p>
          <a:p>
            <a:r>
              <a:rPr lang="es-BO"/>
              <a:t>Si el vacunar a la mujer embarazada, no podría implicar un riesgo para el feto.</a:t>
            </a:r>
            <a:endParaRPr lang="es-ES"/>
          </a:p>
        </p:txBody>
      </p:sp>
      <p:pic>
        <p:nvPicPr>
          <p:cNvPr id="8198" name="Picture 6" descr="espa%C3%B1a-probara-400-vacunas-contra-la-gripe-ah1n1-en-ni%C3%B1os"/>
          <p:cNvPicPr>
            <a:picLocks noChangeAspect="1" noChangeArrowheads="1"/>
          </p:cNvPicPr>
          <p:nvPr/>
        </p:nvPicPr>
        <p:blipFill>
          <a:blip r:embed="rId2"/>
          <a:srcRect/>
          <a:stretch>
            <a:fillRect/>
          </a:stretch>
        </p:blipFill>
        <p:spPr bwMode="auto">
          <a:xfrm>
            <a:off x="6659563" y="3573463"/>
            <a:ext cx="1512887" cy="1584325"/>
          </a:xfrm>
          <a:prstGeom prst="rect">
            <a:avLst/>
          </a:prstGeom>
          <a:noFill/>
          <a:ln w="9525">
            <a:noFill/>
            <a:miter lim="800000"/>
            <a:headEnd/>
            <a:tailEnd/>
          </a:ln>
        </p:spPr>
      </p:pic>
      <p:pic>
        <p:nvPicPr>
          <p:cNvPr id="8199" name="Picture 7" descr="vacunas%2Ben%2Bel%2Bembarazo"/>
          <p:cNvPicPr>
            <a:picLocks noChangeAspect="1" noChangeArrowheads="1"/>
          </p:cNvPicPr>
          <p:nvPr/>
        </p:nvPicPr>
        <p:blipFill>
          <a:blip r:embed="rId3"/>
          <a:srcRect/>
          <a:stretch>
            <a:fillRect/>
          </a:stretch>
        </p:blipFill>
        <p:spPr bwMode="auto">
          <a:xfrm>
            <a:off x="6732588" y="1484313"/>
            <a:ext cx="1439862" cy="1223962"/>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3"/>
          <p:cNvSpPr>
            <a:spLocks noGrp="1" noChangeArrowheads="1"/>
          </p:cNvSpPr>
          <p:nvPr>
            <p:ph type="body" idx="1"/>
          </p:nvPr>
        </p:nvSpPr>
        <p:spPr>
          <a:xfrm>
            <a:off x="457200" y="1843088"/>
            <a:ext cx="8229600" cy="2093912"/>
          </a:xfrm>
        </p:spPr>
        <p:txBody>
          <a:bodyPr/>
          <a:lstStyle/>
          <a:p>
            <a:endParaRPr lang="es-BO" b="1"/>
          </a:p>
          <a:p>
            <a:pPr>
              <a:buFont typeface="Wingdings" pitchFamily="2" charset="2"/>
              <a:buNone/>
            </a:pPr>
            <a:r>
              <a:rPr lang="es-BO" b="1"/>
              <a:t>     </a:t>
            </a:r>
            <a:endParaRPr lang="es-ES"/>
          </a:p>
        </p:txBody>
      </p:sp>
      <p:sp>
        <p:nvSpPr>
          <p:cNvPr id="9220" name="Rectangle 4"/>
          <p:cNvSpPr>
            <a:spLocks noGrp="1" noChangeArrowheads="1"/>
          </p:cNvSpPr>
          <p:nvPr>
            <p:ph type="title"/>
          </p:nvPr>
        </p:nvSpPr>
        <p:spPr>
          <a:xfrm>
            <a:off x="395288" y="1268413"/>
            <a:ext cx="8229600" cy="3816350"/>
          </a:xfrm>
          <a:noFill/>
          <a:ln/>
        </p:spPr>
        <p:txBody>
          <a:bodyPr/>
          <a:lstStyle/>
          <a:p>
            <a:r>
              <a:rPr lang="es-BO"/>
              <a:t>  </a:t>
            </a:r>
            <a:r>
              <a:rPr lang="es-BO" sz="6000">
                <a:solidFill>
                  <a:srgbClr val="FFFF00"/>
                </a:solidFill>
                <a:latin typeface="Algerian" pitchFamily="82" charset="0"/>
              </a:rPr>
              <a:t>CATEGORIAS DE VACUNAS.</a:t>
            </a:r>
            <a:r>
              <a:rPr lang="es-BO" sz="6000" b="0">
                <a:solidFill>
                  <a:srgbClr val="FFFF00"/>
                </a:solidFill>
                <a:latin typeface="Algerian" pitchFamily="82" charset="0"/>
              </a:rPr>
              <a:t/>
            </a:r>
            <a:br>
              <a:rPr lang="es-BO" sz="6000" b="0">
                <a:solidFill>
                  <a:srgbClr val="FFFF00"/>
                </a:solidFill>
                <a:latin typeface="Algerian" pitchFamily="82" charset="0"/>
              </a:rPr>
            </a:br>
            <a:endParaRPr lang="es-ES" sz="6000">
              <a:solidFill>
                <a:srgbClr val="FFFF00"/>
              </a:solidFill>
              <a:latin typeface="Algerian" pitchFamily="82" charset="0"/>
            </a:endParaRPr>
          </a:p>
        </p:txBody>
      </p:sp>
      <p:pic>
        <p:nvPicPr>
          <p:cNvPr id="9221" name="Picture 5" descr="embarazada-vacuna"/>
          <p:cNvPicPr>
            <a:picLocks noChangeAspect="1" noChangeArrowheads="1"/>
          </p:cNvPicPr>
          <p:nvPr/>
        </p:nvPicPr>
        <p:blipFill>
          <a:blip r:embed="rId2"/>
          <a:srcRect/>
          <a:stretch>
            <a:fillRect/>
          </a:stretch>
        </p:blipFill>
        <p:spPr bwMode="auto">
          <a:xfrm>
            <a:off x="2916238" y="3860800"/>
            <a:ext cx="3600450" cy="2592388"/>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3"/>
          <p:cNvSpPr>
            <a:spLocks noGrp="1" noChangeArrowheads="1"/>
          </p:cNvSpPr>
          <p:nvPr>
            <p:ph type="body" idx="1"/>
          </p:nvPr>
        </p:nvSpPr>
        <p:spPr>
          <a:xfrm>
            <a:off x="457200" y="333375"/>
            <a:ext cx="8229600" cy="6119813"/>
          </a:xfrm>
        </p:spPr>
        <p:txBody>
          <a:bodyPr/>
          <a:lstStyle/>
          <a:p>
            <a:pPr>
              <a:buFont typeface="Wingdings" pitchFamily="2" charset="2"/>
              <a:buNone/>
            </a:pPr>
            <a:r>
              <a:rPr lang="es-BO" sz="3600" b="1">
                <a:solidFill>
                  <a:srgbClr val="FFFF00"/>
                </a:solidFill>
              </a:rPr>
              <a:t>Vacunas sin peligro en la mujer embarazada:</a:t>
            </a:r>
          </a:p>
          <a:p>
            <a:pPr>
              <a:buClr>
                <a:srgbClr val="99CC00"/>
              </a:buClr>
              <a:buSzPct val="70000"/>
              <a:buFont typeface="Wingdings" pitchFamily="2" charset="2"/>
              <a:buChar char="§"/>
            </a:pPr>
            <a:r>
              <a:rPr lang="es-BO">
                <a:solidFill>
                  <a:srgbClr val="99CC00"/>
                </a:solidFill>
              </a:rPr>
              <a:t>Vacuna antitetánica.-</a:t>
            </a:r>
            <a:r>
              <a:rPr lang="es-BO"/>
              <a:t>  Virus vivo atenuado. Evitar tétanos obstétrico y tétanos    umbilical. </a:t>
            </a:r>
          </a:p>
          <a:p>
            <a:pPr>
              <a:buClr>
                <a:srgbClr val="99CC00"/>
              </a:buClr>
              <a:buSzPct val="70000"/>
              <a:buFont typeface="Wingdings" pitchFamily="2" charset="2"/>
              <a:buChar char="§"/>
            </a:pPr>
            <a:endParaRPr lang="es-BO"/>
          </a:p>
          <a:p>
            <a:pPr>
              <a:buClr>
                <a:srgbClr val="99CC00"/>
              </a:buClr>
              <a:buSzPct val="70000"/>
              <a:buFont typeface="Wingdings" pitchFamily="2" charset="2"/>
              <a:buChar char="§"/>
            </a:pPr>
            <a:r>
              <a:rPr lang="es-BO">
                <a:solidFill>
                  <a:srgbClr val="99CC00"/>
                </a:solidFill>
              </a:rPr>
              <a:t>Antigripal.</a:t>
            </a:r>
          </a:p>
          <a:p>
            <a:pPr>
              <a:buClr>
                <a:srgbClr val="99CC00"/>
              </a:buClr>
              <a:buSzPct val="70000"/>
              <a:buFont typeface="Wingdings" pitchFamily="2" charset="2"/>
              <a:buChar char="§"/>
            </a:pPr>
            <a:endParaRPr lang="es-BO">
              <a:solidFill>
                <a:srgbClr val="99CC00"/>
              </a:solidFill>
            </a:endParaRPr>
          </a:p>
          <a:p>
            <a:pPr>
              <a:buClr>
                <a:srgbClr val="99CC00"/>
              </a:buClr>
              <a:buSzPct val="70000"/>
              <a:buFont typeface="Wingdings" pitchFamily="2" charset="2"/>
              <a:buChar char="§"/>
            </a:pPr>
            <a:r>
              <a:rPr lang="es-BO">
                <a:solidFill>
                  <a:srgbClr val="99CC00"/>
                </a:solidFill>
              </a:rPr>
              <a:t>Antipoliomelitica.</a:t>
            </a:r>
            <a:r>
              <a:rPr lang="es-BO"/>
              <a:t> Virus  muerto o vacuna inactivada de Salk.</a:t>
            </a:r>
          </a:p>
          <a:p>
            <a:pPr>
              <a:buClr>
                <a:srgbClr val="99CC00"/>
              </a:buClr>
              <a:buSzPct val="70000"/>
              <a:buFont typeface="Wingdings" pitchFamily="2" charset="2"/>
              <a:buChar char="§"/>
            </a:pPr>
            <a:endParaRPr lang="es-BO"/>
          </a:p>
        </p:txBody>
      </p:sp>
      <p:pic>
        <p:nvPicPr>
          <p:cNvPr id="10245" name="Picture 5" descr="tet2.jpg (31041 bytes)"/>
          <p:cNvPicPr>
            <a:picLocks noChangeAspect="1" noChangeArrowheads="1"/>
          </p:cNvPicPr>
          <p:nvPr/>
        </p:nvPicPr>
        <p:blipFill>
          <a:blip r:embed="rId2"/>
          <a:srcRect/>
          <a:stretch>
            <a:fillRect/>
          </a:stretch>
        </p:blipFill>
        <p:spPr bwMode="auto">
          <a:xfrm>
            <a:off x="3779838" y="2997200"/>
            <a:ext cx="1944687" cy="1368425"/>
          </a:xfrm>
          <a:prstGeom prst="rect">
            <a:avLst/>
          </a:prstGeom>
          <a:noFill/>
          <a:ln w="9525">
            <a:noFill/>
            <a:miter lim="800000"/>
            <a:headEnd/>
            <a:tailEnd/>
          </a:ln>
        </p:spPr>
      </p:pic>
      <p:pic>
        <p:nvPicPr>
          <p:cNvPr id="10246" name="Picture 6" descr="vacuna"/>
          <p:cNvPicPr>
            <a:picLocks noChangeAspect="1" noChangeArrowheads="1"/>
          </p:cNvPicPr>
          <p:nvPr/>
        </p:nvPicPr>
        <p:blipFill>
          <a:blip r:embed="rId3"/>
          <a:srcRect/>
          <a:stretch>
            <a:fillRect/>
          </a:stretch>
        </p:blipFill>
        <p:spPr bwMode="auto">
          <a:xfrm>
            <a:off x="5651500" y="5084763"/>
            <a:ext cx="1871663" cy="1466850"/>
          </a:xfrm>
          <a:prstGeom prst="rect">
            <a:avLst/>
          </a:prstGeom>
          <a:noFill/>
          <a:ln w="9525">
            <a:noFill/>
            <a:miter lim="800000"/>
            <a:headEnd/>
            <a:tailEnd/>
          </a:ln>
        </p:spPr>
      </p:pic>
      <p:pic>
        <p:nvPicPr>
          <p:cNvPr id="10247" name="Picture 7" descr="Ver imagen en tamaño completo"/>
          <p:cNvPicPr>
            <a:picLocks noChangeAspect="1" noChangeArrowheads="1"/>
          </p:cNvPicPr>
          <p:nvPr/>
        </p:nvPicPr>
        <p:blipFill>
          <a:blip r:embed="rId4"/>
          <a:srcRect/>
          <a:stretch>
            <a:fillRect/>
          </a:stretch>
        </p:blipFill>
        <p:spPr bwMode="auto">
          <a:xfrm>
            <a:off x="6300788" y="2997200"/>
            <a:ext cx="2016125" cy="1409700"/>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9" name="Rectangle 3"/>
          <p:cNvSpPr>
            <a:spLocks noGrp="1" noChangeArrowheads="1"/>
          </p:cNvSpPr>
          <p:nvPr>
            <p:ph type="body" idx="1"/>
          </p:nvPr>
        </p:nvSpPr>
        <p:spPr>
          <a:xfrm>
            <a:off x="457200" y="476250"/>
            <a:ext cx="8229600" cy="5654675"/>
          </a:xfrm>
        </p:spPr>
        <p:txBody>
          <a:bodyPr/>
          <a:lstStyle/>
          <a:p>
            <a:pPr>
              <a:buClr>
                <a:srgbClr val="99CC00"/>
              </a:buClr>
              <a:buSzPct val="70000"/>
              <a:buFont typeface="Wingdings" pitchFamily="2" charset="2"/>
              <a:buChar char="§"/>
            </a:pPr>
            <a:r>
              <a:rPr lang="es-BO">
                <a:solidFill>
                  <a:srgbClr val="99CC00"/>
                </a:solidFill>
              </a:rPr>
              <a:t>Hepatitis B</a:t>
            </a:r>
            <a:r>
              <a:rPr lang="es-BO"/>
              <a:t> es excepcional, valorar riesgo beneficio.</a:t>
            </a:r>
          </a:p>
          <a:p>
            <a:pPr>
              <a:buClr>
                <a:srgbClr val="99CC00"/>
              </a:buClr>
              <a:buSzPct val="70000"/>
              <a:buFont typeface="Wingdings" pitchFamily="2" charset="2"/>
              <a:buChar char="§"/>
            </a:pPr>
            <a:endParaRPr lang="es-BO"/>
          </a:p>
          <a:p>
            <a:pPr>
              <a:buClr>
                <a:srgbClr val="99CC00"/>
              </a:buClr>
              <a:buSzPct val="70000"/>
              <a:buFont typeface="Wingdings" pitchFamily="2" charset="2"/>
              <a:buChar char="§"/>
            </a:pPr>
            <a:r>
              <a:rPr lang="es-BO">
                <a:solidFill>
                  <a:srgbClr val="99CC00"/>
                </a:solidFill>
              </a:rPr>
              <a:t>Antirrábica</a:t>
            </a:r>
            <a:r>
              <a:rPr lang="es-BO"/>
              <a:t> tras la exposición deberá administrarse sin restricción durante el embarazo.</a:t>
            </a:r>
          </a:p>
          <a:p>
            <a:pPr>
              <a:buClr>
                <a:srgbClr val="99CC00"/>
              </a:buClr>
              <a:buSzPct val="70000"/>
              <a:buFont typeface="Wingdings" pitchFamily="2" charset="2"/>
              <a:buChar char="§"/>
            </a:pPr>
            <a:endParaRPr lang="es-BO"/>
          </a:p>
          <a:p>
            <a:pPr>
              <a:buClr>
                <a:srgbClr val="99CC00"/>
              </a:buClr>
              <a:buSzPct val="70000"/>
              <a:buFont typeface="Wingdings" pitchFamily="2" charset="2"/>
              <a:buChar char="§"/>
            </a:pPr>
            <a:r>
              <a:rPr lang="es-BO">
                <a:solidFill>
                  <a:srgbClr val="99CC00"/>
                </a:solidFill>
              </a:rPr>
              <a:t>Antimeningococica de tipo B</a:t>
            </a:r>
            <a:r>
              <a:rPr lang="es-BO"/>
              <a:t> , virus inactivado</a:t>
            </a:r>
            <a:endParaRPr lang="es-ES"/>
          </a:p>
        </p:txBody>
      </p:sp>
      <p:pic>
        <p:nvPicPr>
          <p:cNvPr id="116740" name="Picture 4" descr="vacuna-influenza"/>
          <p:cNvPicPr>
            <a:picLocks noChangeAspect="1" noChangeArrowheads="1"/>
          </p:cNvPicPr>
          <p:nvPr/>
        </p:nvPicPr>
        <p:blipFill>
          <a:blip r:embed="rId2"/>
          <a:srcRect/>
          <a:stretch>
            <a:fillRect/>
          </a:stretch>
        </p:blipFill>
        <p:spPr bwMode="auto">
          <a:xfrm>
            <a:off x="7308850" y="1916113"/>
            <a:ext cx="1511300" cy="2160587"/>
          </a:xfrm>
          <a:prstGeom prst="rect">
            <a:avLst/>
          </a:prstGeom>
          <a:noFill/>
          <a:ln w="9525">
            <a:noFill/>
            <a:miter lim="800000"/>
            <a:headEnd/>
            <a:tailEnd/>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3"/>
          <p:cNvSpPr>
            <a:spLocks noGrp="1" noChangeArrowheads="1"/>
          </p:cNvSpPr>
          <p:nvPr>
            <p:ph type="body" idx="1"/>
          </p:nvPr>
        </p:nvSpPr>
        <p:spPr>
          <a:xfrm>
            <a:off x="250825" y="333375"/>
            <a:ext cx="8642350" cy="6191250"/>
          </a:xfrm>
        </p:spPr>
        <p:txBody>
          <a:bodyPr/>
          <a:lstStyle/>
          <a:p>
            <a:pPr>
              <a:lnSpc>
                <a:spcPct val="90000"/>
              </a:lnSpc>
              <a:buFont typeface="Wingdings" pitchFamily="2" charset="2"/>
              <a:buNone/>
            </a:pPr>
            <a:r>
              <a:rPr lang="es-BO" b="1">
                <a:solidFill>
                  <a:srgbClr val="FFFF00"/>
                </a:solidFill>
              </a:rPr>
              <a:t>Vacunas contraindicadas o que deben evitarse en el transcurso del embarazo:</a:t>
            </a:r>
            <a:endParaRPr lang="es-BO">
              <a:solidFill>
                <a:srgbClr val="FFFF00"/>
              </a:solidFill>
            </a:endParaRPr>
          </a:p>
          <a:p>
            <a:pPr>
              <a:lnSpc>
                <a:spcPct val="90000"/>
              </a:lnSpc>
              <a:buClr>
                <a:srgbClr val="99CC00"/>
              </a:buClr>
              <a:buSzPct val="55000"/>
              <a:buFont typeface="Wingdings" pitchFamily="2" charset="2"/>
              <a:buNone/>
            </a:pPr>
            <a:r>
              <a:rPr lang="es-BO"/>
              <a:t>   Son generalmente virus vivos.</a:t>
            </a:r>
          </a:p>
          <a:p>
            <a:pPr>
              <a:lnSpc>
                <a:spcPct val="90000"/>
              </a:lnSpc>
              <a:buClr>
                <a:srgbClr val="99CC00"/>
              </a:buClr>
              <a:buSzPct val="55000"/>
            </a:pPr>
            <a:r>
              <a:rPr lang="es-BO"/>
              <a:t> Vacuna de la RUBEOLA.</a:t>
            </a:r>
          </a:p>
          <a:p>
            <a:pPr>
              <a:lnSpc>
                <a:spcPct val="90000"/>
              </a:lnSpc>
              <a:buClr>
                <a:srgbClr val="99CC00"/>
              </a:buClr>
              <a:buSzPct val="55000"/>
            </a:pPr>
            <a:r>
              <a:rPr lang="es-BO"/>
              <a:t> Vacuna para la tos ferina.</a:t>
            </a:r>
          </a:p>
          <a:p>
            <a:pPr>
              <a:lnSpc>
                <a:spcPct val="90000"/>
              </a:lnSpc>
              <a:buClr>
                <a:srgbClr val="99CC00"/>
              </a:buClr>
              <a:buSzPct val="55000"/>
            </a:pPr>
            <a:r>
              <a:rPr lang="es-BO"/>
              <a:t> BCG.</a:t>
            </a:r>
          </a:p>
          <a:p>
            <a:pPr>
              <a:lnSpc>
                <a:spcPct val="90000"/>
              </a:lnSpc>
              <a:buClr>
                <a:srgbClr val="99CC00"/>
              </a:buClr>
              <a:buSzPct val="55000"/>
            </a:pPr>
            <a:r>
              <a:rPr lang="es-BO"/>
              <a:t> Antisarampionosa.</a:t>
            </a:r>
          </a:p>
          <a:p>
            <a:pPr>
              <a:lnSpc>
                <a:spcPct val="90000"/>
              </a:lnSpc>
              <a:buClr>
                <a:srgbClr val="99CC00"/>
              </a:buClr>
              <a:buSzPct val="55000"/>
            </a:pPr>
            <a:r>
              <a:rPr lang="es-BO"/>
              <a:t> Parotiditis.</a:t>
            </a:r>
          </a:p>
          <a:p>
            <a:pPr>
              <a:lnSpc>
                <a:spcPct val="90000"/>
              </a:lnSpc>
              <a:buClr>
                <a:srgbClr val="99CC00"/>
              </a:buClr>
              <a:buSzPct val="55000"/>
            </a:pPr>
            <a:r>
              <a:rPr lang="es-BO"/>
              <a:t> Difteria ( Patología rara.) </a:t>
            </a:r>
          </a:p>
          <a:p>
            <a:pPr>
              <a:lnSpc>
                <a:spcPct val="90000"/>
              </a:lnSpc>
              <a:buClr>
                <a:srgbClr val="99CC00"/>
              </a:buClr>
              <a:buSzPct val="55000"/>
            </a:pPr>
            <a:r>
              <a:rPr lang="es-BO"/>
              <a:t> Fiebre amarilla.- Riesgo beneficio y                                             Varicela.</a:t>
            </a:r>
            <a:endParaRPr lang="es-ES"/>
          </a:p>
        </p:txBody>
      </p:sp>
      <p:pic>
        <p:nvPicPr>
          <p:cNvPr id="11268" name="Picture 4" descr="no-vacuna"/>
          <p:cNvPicPr>
            <a:picLocks noChangeAspect="1" noChangeArrowheads="1"/>
          </p:cNvPicPr>
          <p:nvPr/>
        </p:nvPicPr>
        <p:blipFill>
          <a:blip r:embed="rId2"/>
          <a:srcRect/>
          <a:stretch>
            <a:fillRect/>
          </a:stretch>
        </p:blipFill>
        <p:spPr bwMode="auto">
          <a:xfrm>
            <a:off x="7092950" y="981075"/>
            <a:ext cx="1655763" cy="1379538"/>
          </a:xfrm>
          <a:prstGeom prst="rect">
            <a:avLst/>
          </a:prstGeom>
          <a:noFill/>
          <a:ln w="9525">
            <a:noFill/>
            <a:miter lim="800000"/>
            <a:headEnd/>
            <a:tailEnd/>
          </a:ln>
        </p:spPr>
      </p:pic>
      <p:pic>
        <p:nvPicPr>
          <p:cNvPr id="11269" name="Picture 5" descr="vacunas"/>
          <p:cNvPicPr>
            <a:picLocks noChangeAspect="1" noChangeArrowheads="1"/>
          </p:cNvPicPr>
          <p:nvPr/>
        </p:nvPicPr>
        <p:blipFill>
          <a:blip r:embed="rId3"/>
          <a:srcRect/>
          <a:stretch>
            <a:fillRect/>
          </a:stretch>
        </p:blipFill>
        <p:spPr bwMode="auto">
          <a:xfrm>
            <a:off x="6227763" y="3141663"/>
            <a:ext cx="2592387" cy="2016125"/>
          </a:xfrm>
          <a:prstGeom prst="rect">
            <a:avLst/>
          </a:prstGeom>
          <a:noFill/>
          <a:ln w="9525">
            <a:noFill/>
            <a:miter lim="800000"/>
            <a:headEnd/>
            <a:tailEnd/>
          </a:ln>
        </p:spPr>
      </p:pic>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3"/>
          <p:cNvSpPr>
            <a:spLocks noGrp="1" noChangeArrowheads="1"/>
          </p:cNvSpPr>
          <p:nvPr>
            <p:ph type="body" idx="1"/>
          </p:nvPr>
        </p:nvSpPr>
        <p:spPr>
          <a:xfrm>
            <a:off x="468313" y="1989138"/>
            <a:ext cx="8229600" cy="4868862"/>
          </a:xfrm>
        </p:spPr>
        <p:txBody>
          <a:bodyPr/>
          <a:lstStyle/>
          <a:p>
            <a:pPr algn="ctr">
              <a:buFont typeface="Wingdings" pitchFamily="2" charset="2"/>
              <a:buNone/>
            </a:pPr>
            <a:r>
              <a:rPr lang="es-BO"/>
              <a:t> </a:t>
            </a:r>
            <a:r>
              <a:rPr lang="es-BO" sz="4800">
                <a:solidFill>
                  <a:srgbClr val="FFFF00"/>
                </a:solidFill>
                <a:latin typeface="Algerian" pitchFamily="82" charset="0"/>
              </a:rPr>
              <a:t>SUSTANCIAS QUIMICAS DE            USO LABORAL</a:t>
            </a:r>
            <a:endParaRPr lang="es-ES" sz="4800">
              <a:solidFill>
                <a:srgbClr val="FFFF00"/>
              </a:solidFill>
              <a:latin typeface="Algerian" pitchFamily="82" charset="0"/>
            </a:endParaRPr>
          </a:p>
        </p:txBody>
      </p:sp>
      <p:pic>
        <p:nvPicPr>
          <p:cNvPr id="12292" name="Picture 4" descr="embarazada_vacuna"/>
          <p:cNvPicPr>
            <a:picLocks noChangeAspect="1" noChangeArrowheads="1"/>
          </p:cNvPicPr>
          <p:nvPr/>
        </p:nvPicPr>
        <p:blipFill>
          <a:blip r:embed="rId2"/>
          <a:srcRect/>
          <a:stretch>
            <a:fillRect/>
          </a:stretch>
        </p:blipFill>
        <p:spPr bwMode="auto">
          <a:xfrm>
            <a:off x="3203575" y="3716338"/>
            <a:ext cx="3168650" cy="2736850"/>
          </a:xfrm>
          <a:prstGeom prst="rect">
            <a:avLst/>
          </a:prstGeom>
          <a:noFill/>
          <a:ln w="9525">
            <a:noFill/>
            <a:miter lim="800000"/>
            <a:headEnd/>
            <a:tailEnd/>
          </a:ln>
        </p:spPr>
      </p:pic>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3"/>
          <p:cNvSpPr>
            <a:spLocks noGrp="1" noChangeArrowheads="1"/>
          </p:cNvSpPr>
          <p:nvPr>
            <p:ph type="body" idx="1"/>
          </p:nvPr>
        </p:nvSpPr>
        <p:spPr>
          <a:xfrm>
            <a:off x="2124075" y="1484313"/>
            <a:ext cx="6491288" cy="4530725"/>
          </a:xfrm>
        </p:spPr>
        <p:txBody>
          <a:bodyPr/>
          <a:lstStyle/>
          <a:p>
            <a:pPr>
              <a:buClr>
                <a:srgbClr val="99CC00"/>
              </a:buClr>
              <a:buFontTx/>
              <a:buChar char="o"/>
            </a:pPr>
            <a:r>
              <a:rPr lang="es-BO" sz="3600"/>
              <a:t>-METILMECURIO</a:t>
            </a:r>
          </a:p>
          <a:p>
            <a:pPr>
              <a:buClr>
                <a:srgbClr val="99CC00"/>
              </a:buClr>
              <a:buFontTx/>
              <a:buChar char="o"/>
            </a:pPr>
            <a:r>
              <a:rPr lang="es-BO" sz="3600"/>
              <a:t>-PLOMO.</a:t>
            </a:r>
          </a:p>
          <a:p>
            <a:pPr>
              <a:buClr>
                <a:srgbClr val="99CC00"/>
              </a:buClr>
              <a:buFontTx/>
              <a:buChar char="o"/>
            </a:pPr>
            <a:r>
              <a:rPr lang="es-BO" sz="3600"/>
              <a:t>-PLAGUICIDAS.</a:t>
            </a:r>
          </a:p>
          <a:p>
            <a:pPr>
              <a:buClr>
                <a:srgbClr val="99CC00"/>
              </a:buClr>
              <a:buFontTx/>
              <a:buChar char="o"/>
            </a:pPr>
            <a:r>
              <a:rPr lang="es-BO" sz="3600"/>
              <a:t>-OTRAS.</a:t>
            </a:r>
            <a:endParaRPr lang="es-ES" sz="3600"/>
          </a:p>
        </p:txBody>
      </p:sp>
      <p:pic>
        <p:nvPicPr>
          <p:cNvPr id="13317" name="Picture 5" descr="plaguicida"/>
          <p:cNvPicPr>
            <a:picLocks noChangeAspect="1" noChangeArrowheads="1"/>
          </p:cNvPicPr>
          <p:nvPr/>
        </p:nvPicPr>
        <p:blipFill>
          <a:blip r:embed="rId2"/>
          <a:srcRect/>
          <a:stretch>
            <a:fillRect/>
          </a:stretch>
        </p:blipFill>
        <p:spPr bwMode="auto">
          <a:xfrm>
            <a:off x="4859338" y="4076700"/>
            <a:ext cx="3168650" cy="1944688"/>
          </a:xfrm>
          <a:prstGeom prst="rect">
            <a:avLst/>
          </a:prstGeom>
          <a:noFill/>
          <a:ln w="9525">
            <a:noFill/>
            <a:miter lim="800000"/>
            <a:headEnd/>
            <a:tailEnd/>
          </a:ln>
        </p:spPr>
      </p:pic>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r>
              <a:rPr lang="es-BO" sz="4000">
                <a:solidFill>
                  <a:srgbClr val="FFFF00"/>
                </a:solidFill>
              </a:rPr>
              <a:t>METILMECURIO</a:t>
            </a:r>
            <a:br>
              <a:rPr lang="es-BO" sz="4000">
                <a:solidFill>
                  <a:srgbClr val="FFFF00"/>
                </a:solidFill>
              </a:rPr>
            </a:br>
            <a:endParaRPr lang="es-ES" sz="4000">
              <a:solidFill>
                <a:srgbClr val="FFFF00"/>
              </a:solidFill>
            </a:endParaRPr>
          </a:p>
        </p:txBody>
      </p:sp>
      <p:sp>
        <p:nvSpPr>
          <p:cNvPr id="14339" name="Rectangle 3"/>
          <p:cNvSpPr>
            <a:spLocks noGrp="1" noChangeArrowheads="1"/>
          </p:cNvSpPr>
          <p:nvPr>
            <p:ph type="body" idx="1"/>
          </p:nvPr>
        </p:nvSpPr>
        <p:spPr>
          <a:xfrm>
            <a:off x="250825" y="1268413"/>
            <a:ext cx="8569325" cy="5329237"/>
          </a:xfrm>
        </p:spPr>
        <p:txBody>
          <a:bodyPr/>
          <a:lstStyle/>
          <a:p>
            <a:pPr>
              <a:buClr>
                <a:srgbClr val="99CC00"/>
              </a:buClr>
              <a:buFont typeface="Wingdings" pitchFamily="2" charset="2"/>
              <a:buChar char="§"/>
            </a:pPr>
            <a:r>
              <a:rPr lang="es-BO"/>
              <a:t>El mercurio es un metal volátil, esta en el medio ambiente como un vapor incoloro e inodoro, cuando hace contacto con el agua se transforma en el compuesto orgánico más importante, el metilmercurio  que es la forma más toxica para el ser humano (6). </a:t>
            </a:r>
            <a:endParaRPr lang="es-ES"/>
          </a:p>
        </p:txBody>
      </p:sp>
      <p:pic>
        <p:nvPicPr>
          <p:cNvPr id="14340" name="Picture 4" descr="toxic"/>
          <p:cNvPicPr>
            <a:picLocks noChangeAspect="1" noChangeArrowheads="1"/>
          </p:cNvPicPr>
          <p:nvPr/>
        </p:nvPicPr>
        <p:blipFill>
          <a:blip r:embed="rId2"/>
          <a:srcRect/>
          <a:stretch>
            <a:fillRect/>
          </a:stretch>
        </p:blipFill>
        <p:spPr bwMode="auto">
          <a:xfrm>
            <a:off x="6804025" y="4797425"/>
            <a:ext cx="1468438" cy="1439863"/>
          </a:xfrm>
          <a:prstGeom prst="rect">
            <a:avLst/>
          </a:prstGeom>
          <a:noFill/>
          <a:ln w="9525">
            <a:noFill/>
            <a:miter lim="800000"/>
            <a:headEnd/>
            <a:tailEnd/>
          </a:ln>
        </p:spPr>
      </p:pic>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3"/>
          <p:cNvSpPr>
            <a:spLocks noGrp="1" noChangeArrowheads="1"/>
          </p:cNvSpPr>
          <p:nvPr>
            <p:ph type="body" idx="1"/>
          </p:nvPr>
        </p:nvSpPr>
        <p:spPr>
          <a:xfrm>
            <a:off x="457200" y="620713"/>
            <a:ext cx="8229600" cy="5903912"/>
          </a:xfrm>
        </p:spPr>
        <p:txBody>
          <a:bodyPr/>
          <a:lstStyle/>
          <a:p>
            <a:pPr>
              <a:buFont typeface="Wingdings" pitchFamily="2" charset="2"/>
              <a:buNone/>
            </a:pPr>
            <a:r>
              <a:rPr lang="es-BO"/>
              <a:t>   Este se deposita en el sedimento de las aguas y es absorbido por las plantas marinas, cadena alimenticia, este fenómeno se llama bromagnificación.</a:t>
            </a:r>
          </a:p>
          <a:p>
            <a:pPr>
              <a:buFont typeface="Wingdings" pitchFamily="2" charset="2"/>
              <a:buNone/>
            </a:pPr>
            <a:endParaRPr lang="es-BO"/>
          </a:p>
          <a:p>
            <a:pPr>
              <a:buFont typeface="Wingdings" pitchFamily="2" charset="2"/>
              <a:buNone/>
            </a:pPr>
            <a:r>
              <a:rPr lang="es-BO"/>
              <a:t>   Este metal se utiliza en la fabricación de equipos eléctricos, pesticidas, cosméticos, pintura látex, amalgamas dentales pasta de maderas y papeles.</a:t>
            </a:r>
            <a:endParaRPr lang="es-ES"/>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7764" name="Picture 4" descr="Image7514"/>
          <p:cNvPicPr>
            <a:picLocks noGrp="1" noChangeAspect="1" noChangeArrowheads="1"/>
          </p:cNvPicPr>
          <p:nvPr>
            <p:ph type="body" idx="1"/>
          </p:nvPr>
        </p:nvPicPr>
        <p:blipFill>
          <a:blip r:embed="rId2"/>
          <a:srcRect/>
          <a:stretch>
            <a:fillRect/>
          </a:stretch>
        </p:blipFill>
        <p:spPr>
          <a:xfrm>
            <a:off x="468313" y="404813"/>
            <a:ext cx="8135937" cy="6192837"/>
          </a:xfrm>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3"/>
          <p:cNvSpPr>
            <a:spLocks noGrp="1" noChangeArrowheads="1"/>
          </p:cNvSpPr>
          <p:nvPr>
            <p:ph type="body" idx="1"/>
          </p:nvPr>
        </p:nvSpPr>
        <p:spPr/>
        <p:txBody>
          <a:bodyPr/>
          <a:lstStyle/>
          <a:p>
            <a:pPr>
              <a:buFont typeface="Wingdings" pitchFamily="2" charset="2"/>
              <a:buNone/>
            </a:pPr>
            <a:r>
              <a:rPr lang="es-BO"/>
              <a:t>  </a:t>
            </a:r>
          </a:p>
          <a:p>
            <a:pPr>
              <a:buFont typeface="Wingdings" pitchFamily="2" charset="2"/>
              <a:buNone/>
            </a:pPr>
            <a:r>
              <a:rPr lang="es-BO"/>
              <a:t> </a:t>
            </a:r>
            <a:r>
              <a:rPr lang="es-BO" sz="3600" b="1">
                <a:solidFill>
                  <a:srgbClr val="FFFF00"/>
                </a:solidFill>
              </a:rPr>
              <a:t>Incidencia</a:t>
            </a:r>
          </a:p>
          <a:p>
            <a:pPr>
              <a:buClr>
                <a:srgbClr val="99CC00"/>
              </a:buClr>
              <a:buSzPct val="65000"/>
              <a:buFont typeface="Wingdings" pitchFamily="2" charset="2"/>
              <a:buChar char="§"/>
            </a:pPr>
            <a:r>
              <a:rPr lang="es-BO"/>
              <a:t>El consumo de pescado contaminado y consumido por una mujer embarazada puede producir déficit neurológico severo en el feto,</a:t>
            </a:r>
            <a:endParaRPr lang="es-ES"/>
          </a:p>
        </p:txBody>
      </p:sp>
      <p:pic>
        <p:nvPicPr>
          <p:cNvPr id="16388" name="Picture 4" descr="Nuevo método para detectar el metilmercurio en pescados y mariscos"/>
          <p:cNvPicPr>
            <a:picLocks noChangeAspect="1" noChangeArrowheads="1"/>
          </p:cNvPicPr>
          <p:nvPr/>
        </p:nvPicPr>
        <p:blipFill>
          <a:blip r:embed="rId2"/>
          <a:srcRect/>
          <a:stretch>
            <a:fillRect/>
          </a:stretch>
        </p:blipFill>
        <p:spPr bwMode="auto">
          <a:xfrm>
            <a:off x="5148263" y="260350"/>
            <a:ext cx="3454400" cy="2565400"/>
          </a:xfrm>
          <a:prstGeom prst="rect">
            <a:avLst/>
          </a:prstGeom>
          <a:noFill/>
          <a:ln w="9525">
            <a:noFill/>
            <a:miter lim="800000"/>
            <a:headEnd/>
            <a:tailEnd/>
          </a:ln>
        </p:spPr>
      </p:pic>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3"/>
          <p:cNvSpPr>
            <a:spLocks noGrp="1" noChangeArrowheads="1"/>
          </p:cNvSpPr>
          <p:nvPr>
            <p:ph type="body" idx="1"/>
          </p:nvPr>
        </p:nvSpPr>
        <p:spPr>
          <a:xfrm>
            <a:off x="457200" y="333375"/>
            <a:ext cx="8229600" cy="6191250"/>
          </a:xfrm>
        </p:spPr>
        <p:txBody>
          <a:bodyPr/>
          <a:lstStyle/>
          <a:p>
            <a:pPr>
              <a:buFont typeface="Wingdings" pitchFamily="2" charset="2"/>
              <a:buNone/>
            </a:pPr>
            <a:r>
              <a:rPr lang="es-BO"/>
              <a:t>   </a:t>
            </a:r>
            <a:r>
              <a:rPr lang="es-BO" sz="3600" b="1">
                <a:solidFill>
                  <a:srgbClr val="FFFF00"/>
                </a:solidFill>
              </a:rPr>
              <a:t>Consecuencias:</a:t>
            </a:r>
          </a:p>
          <a:p>
            <a:pPr>
              <a:buClr>
                <a:srgbClr val="99CC00"/>
              </a:buClr>
              <a:buFont typeface="Wingdings" pitchFamily="2" charset="2"/>
              <a:buChar char="§"/>
            </a:pPr>
            <a:r>
              <a:rPr lang="es-BO"/>
              <a:t>Microcefalia, retardo psíquico, ceguera, retraso en desarrollo del habla, ambulación, escuchar, cuadros convulsivos.  Este metal tiene una alta capacidad para atravesar las membranas celulares, acumulandose en el cerebro humano, provocando daños sensoriales y visuales, debilidad muscular, etc.</a:t>
            </a:r>
            <a:endParaRPr lang="es-ES"/>
          </a:p>
        </p:txBody>
      </p:sp>
      <p:pic>
        <p:nvPicPr>
          <p:cNvPr id="17412" name="Picture 4" descr="feto_14"/>
          <p:cNvPicPr>
            <a:picLocks noChangeAspect="1" noChangeArrowheads="1"/>
          </p:cNvPicPr>
          <p:nvPr/>
        </p:nvPicPr>
        <p:blipFill>
          <a:blip r:embed="rId2"/>
          <a:srcRect/>
          <a:stretch>
            <a:fillRect/>
          </a:stretch>
        </p:blipFill>
        <p:spPr bwMode="auto">
          <a:xfrm>
            <a:off x="5148263" y="4221163"/>
            <a:ext cx="3024187" cy="2087562"/>
          </a:xfrm>
          <a:prstGeom prst="rect">
            <a:avLst/>
          </a:prstGeom>
          <a:noFill/>
          <a:ln w="9525">
            <a:noFill/>
            <a:miter lim="800000"/>
            <a:headEnd/>
            <a:tailEnd/>
          </a:ln>
        </p:spPr>
      </p:pic>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p:cNvSpPr>
            <a:spLocks noGrp="1" noChangeArrowheads="1"/>
          </p:cNvSpPr>
          <p:nvPr>
            <p:ph type="body" idx="1"/>
          </p:nvPr>
        </p:nvSpPr>
        <p:spPr>
          <a:xfrm>
            <a:off x="395288" y="333375"/>
            <a:ext cx="8497887" cy="6151563"/>
          </a:xfrm>
        </p:spPr>
        <p:txBody>
          <a:bodyPr/>
          <a:lstStyle/>
          <a:p>
            <a:pPr>
              <a:buFont typeface="Wingdings" pitchFamily="2" charset="2"/>
              <a:buNone/>
            </a:pPr>
            <a:r>
              <a:rPr lang="es-BO" b="1">
                <a:solidFill>
                  <a:srgbClr val="FFFF00"/>
                </a:solidFill>
              </a:rPr>
              <a:t>¿COMO PREVENIR?</a:t>
            </a:r>
          </a:p>
          <a:p>
            <a:pPr>
              <a:buClr>
                <a:srgbClr val="99CC00"/>
              </a:buClr>
              <a:buFont typeface="Wingdings" pitchFamily="2" charset="2"/>
              <a:buChar char="§"/>
            </a:pPr>
            <a:r>
              <a:rPr lang="es-BO"/>
              <a:t>La mujer embarazada no debe consumir pescado de aguas locales o en sitias con alta descarga de desechos vertidos por las fabricas.</a:t>
            </a:r>
          </a:p>
          <a:p>
            <a:pPr>
              <a:buClr>
                <a:srgbClr val="99CC00"/>
              </a:buClr>
              <a:buFont typeface="Wingdings" pitchFamily="2" charset="2"/>
              <a:buChar char="§"/>
            </a:pPr>
            <a:r>
              <a:rPr lang="es-BO"/>
              <a:t>Evitas la extracción y manipuleo artesanal del oro, en donde el mercurio es usado a mano abierta.</a:t>
            </a:r>
          </a:p>
          <a:p>
            <a:pPr>
              <a:buClr>
                <a:srgbClr val="99CC00"/>
              </a:buClr>
              <a:buFont typeface="Wingdings" pitchFamily="2" charset="2"/>
              <a:buChar char="§"/>
            </a:pPr>
            <a:r>
              <a:rPr lang="es-BO"/>
              <a:t>Aparentemente en odontología no conlleva un mayor riesgo contaminante en la reproducción.</a:t>
            </a:r>
            <a:endParaRPr lang="es-ES"/>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457200" y="407988"/>
            <a:ext cx="8229600" cy="1012825"/>
          </a:xfrm>
        </p:spPr>
        <p:txBody>
          <a:bodyPr/>
          <a:lstStyle/>
          <a:p>
            <a:r>
              <a:rPr lang="es-BO">
                <a:solidFill>
                  <a:srgbClr val="FFFF00"/>
                </a:solidFill>
              </a:rPr>
              <a:t>PLOMO</a:t>
            </a:r>
            <a:r>
              <a:rPr lang="es-BO" sz="4000">
                <a:solidFill>
                  <a:srgbClr val="FFFF00"/>
                </a:solidFill>
              </a:rPr>
              <a:t/>
            </a:r>
            <a:br>
              <a:rPr lang="es-BO" sz="4000">
                <a:solidFill>
                  <a:srgbClr val="FFFF00"/>
                </a:solidFill>
              </a:rPr>
            </a:br>
            <a:endParaRPr lang="es-ES" sz="4000">
              <a:solidFill>
                <a:srgbClr val="FFFF00"/>
              </a:solidFill>
            </a:endParaRPr>
          </a:p>
        </p:txBody>
      </p:sp>
      <p:sp>
        <p:nvSpPr>
          <p:cNvPr id="19459" name="Rectangle 3"/>
          <p:cNvSpPr>
            <a:spLocks noGrp="1" noChangeArrowheads="1"/>
          </p:cNvSpPr>
          <p:nvPr>
            <p:ph type="body" idx="1"/>
          </p:nvPr>
        </p:nvSpPr>
        <p:spPr>
          <a:xfrm>
            <a:off x="468313" y="765175"/>
            <a:ext cx="8229600" cy="5759450"/>
          </a:xfrm>
        </p:spPr>
        <p:txBody>
          <a:bodyPr/>
          <a:lstStyle/>
          <a:p>
            <a:pPr>
              <a:lnSpc>
                <a:spcPct val="90000"/>
              </a:lnSpc>
              <a:buFont typeface="Wingdings" pitchFamily="2" charset="2"/>
              <a:buNone/>
            </a:pPr>
            <a:endParaRPr lang="es-BO"/>
          </a:p>
          <a:p>
            <a:pPr>
              <a:lnSpc>
                <a:spcPct val="90000"/>
              </a:lnSpc>
              <a:buClr>
                <a:srgbClr val="99CC00"/>
              </a:buClr>
              <a:buFont typeface="Wingdings" pitchFamily="2" charset="2"/>
              <a:buChar char="§"/>
            </a:pPr>
            <a:r>
              <a:rPr lang="es-BO"/>
              <a:t>El plomo es un metal  pesado, denso, maleable, es muy utilizado en la producción de gasolina (antes),  pintura de interiores, en muebles antiguos, soldaduras, en talleres de mecánica y recipientes de barro.</a:t>
            </a:r>
          </a:p>
          <a:p>
            <a:pPr>
              <a:lnSpc>
                <a:spcPct val="90000"/>
              </a:lnSpc>
              <a:buClr>
                <a:srgbClr val="99CC00"/>
              </a:buClr>
              <a:buFont typeface="Wingdings" pitchFamily="2" charset="2"/>
              <a:buChar char="§"/>
            </a:pPr>
            <a:endParaRPr lang="es-BO"/>
          </a:p>
          <a:p>
            <a:pPr>
              <a:lnSpc>
                <a:spcPct val="90000"/>
              </a:lnSpc>
              <a:buClr>
                <a:srgbClr val="99CC00"/>
              </a:buClr>
              <a:buFont typeface="Wingdings" pitchFamily="2" charset="2"/>
              <a:buChar char="§"/>
            </a:pPr>
            <a:endParaRPr lang="es-BO"/>
          </a:p>
          <a:p>
            <a:pPr>
              <a:lnSpc>
                <a:spcPct val="90000"/>
              </a:lnSpc>
              <a:buClr>
                <a:srgbClr val="99CC00"/>
              </a:buClr>
              <a:buFont typeface="Wingdings" pitchFamily="2" charset="2"/>
              <a:buChar char="§"/>
            </a:pPr>
            <a:r>
              <a:rPr lang="es-BO"/>
              <a:t>El plomo llega contamina al ser humano por la inhalación de este, por la ingesta y a través de la piel.</a:t>
            </a:r>
          </a:p>
        </p:txBody>
      </p:sp>
      <p:pic>
        <p:nvPicPr>
          <p:cNvPr id="19460" name="Picture 4" descr="Plomo-300x285"/>
          <p:cNvPicPr>
            <a:picLocks noChangeAspect="1" noChangeArrowheads="1"/>
          </p:cNvPicPr>
          <p:nvPr/>
        </p:nvPicPr>
        <p:blipFill>
          <a:blip r:embed="rId2"/>
          <a:srcRect/>
          <a:stretch>
            <a:fillRect/>
          </a:stretch>
        </p:blipFill>
        <p:spPr bwMode="auto">
          <a:xfrm>
            <a:off x="3203575" y="188913"/>
            <a:ext cx="2808288" cy="1223962"/>
          </a:xfrm>
          <a:prstGeom prst="rect">
            <a:avLst/>
          </a:prstGeom>
          <a:noFill/>
          <a:ln w="9525">
            <a:noFill/>
            <a:miter lim="800000"/>
            <a:headEnd/>
            <a:tailEnd/>
          </a:ln>
        </p:spPr>
      </p:pic>
      <p:pic>
        <p:nvPicPr>
          <p:cNvPr id="19461" name="Picture 5" descr="http://www.opver.com.mx/opv/images/stories/nacional/abril/alfa.jpg"/>
          <p:cNvPicPr>
            <a:picLocks noChangeAspect="1" noChangeArrowheads="1"/>
          </p:cNvPicPr>
          <p:nvPr/>
        </p:nvPicPr>
        <p:blipFill>
          <a:blip r:embed="rId3"/>
          <a:srcRect/>
          <a:stretch>
            <a:fillRect/>
          </a:stretch>
        </p:blipFill>
        <p:spPr bwMode="auto">
          <a:xfrm>
            <a:off x="6372225" y="3284538"/>
            <a:ext cx="2160588" cy="1368425"/>
          </a:xfrm>
          <a:prstGeom prst="rect">
            <a:avLst/>
          </a:prstGeom>
          <a:noFill/>
          <a:ln w="9525">
            <a:noFill/>
            <a:miter lim="800000"/>
            <a:headEnd/>
            <a:tailEnd/>
          </a:ln>
        </p:spPr>
      </p:pic>
      <p:pic>
        <p:nvPicPr>
          <p:cNvPr id="19462" name="Picture 6" descr="1%2520plomo"/>
          <p:cNvPicPr>
            <a:picLocks noChangeAspect="1" noChangeArrowheads="1"/>
          </p:cNvPicPr>
          <p:nvPr/>
        </p:nvPicPr>
        <p:blipFill>
          <a:blip r:embed="rId4"/>
          <a:srcRect/>
          <a:stretch>
            <a:fillRect/>
          </a:stretch>
        </p:blipFill>
        <p:spPr bwMode="auto">
          <a:xfrm>
            <a:off x="395288" y="3500438"/>
            <a:ext cx="1296987" cy="1079500"/>
          </a:xfrm>
          <a:prstGeom prst="rect">
            <a:avLst/>
          </a:prstGeom>
          <a:noFill/>
          <a:ln w="9525">
            <a:noFill/>
            <a:miter lim="800000"/>
            <a:headEnd/>
            <a:tailEnd/>
          </a:ln>
        </p:spPr>
      </p:pic>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7" name="Rectangle 3"/>
          <p:cNvSpPr>
            <a:spLocks noGrp="1" noChangeArrowheads="1"/>
          </p:cNvSpPr>
          <p:nvPr>
            <p:ph type="body" idx="1"/>
          </p:nvPr>
        </p:nvSpPr>
        <p:spPr/>
        <p:txBody>
          <a:bodyPr/>
          <a:lstStyle/>
          <a:p>
            <a:pPr>
              <a:buClr>
                <a:srgbClr val="99CC00"/>
              </a:buClr>
              <a:buFont typeface="Wingdings" pitchFamily="2" charset="2"/>
              <a:buChar char="§"/>
            </a:pPr>
            <a:r>
              <a:rPr lang="es-BO"/>
              <a:t>El reporte de laboratorio demuestra que 40mg o más de 80 ml en la sangre se considera presencia excesiva de este metal en sangre, y un nivel de 80mg.o más de 100 ml. se considera intoxicación</a:t>
            </a:r>
            <a:r>
              <a:rPr lang="es-ES"/>
              <a:t> .</a:t>
            </a:r>
          </a:p>
          <a:p>
            <a:endParaRPr lang="es-E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p:cNvSpPr>
            <a:spLocks noGrp="1" noChangeArrowheads="1"/>
          </p:cNvSpPr>
          <p:nvPr>
            <p:ph type="body" idx="1"/>
          </p:nvPr>
        </p:nvSpPr>
        <p:spPr>
          <a:xfrm>
            <a:off x="179388" y="404813"/>
            <a:ext cx="8964612" cy="6119812"/>
          </a:xfrm>
        </p:spPr>
        <p:txBody>
          <a:bodyPr/>
          <a:lstStyle/>
          <a:p>
            <a:pPr>
              <a:buClr>
                <a:srgbClr val="99CC00"/>
              </a:buClr>
              <a:buFont typeface="Wingdings" pitchFamily="2" charset="2"/>
              <a:buChar char="§"/>
            </a:pPr>
            <a:r>
              <a:rPr lang="es-BO"/>
              <a:t>Los síntomas generales por plomo en el ser humano son: estreñimiento, falta de apetito, nauseas, debilidad general. En intoxicación severa se produce cefalea, acucia e hipoacusia, cambios de conducta, temblor, incoordinación de los movimientos, y trastornos neurológicos en general.</a:t>
            </a:r>
          </a:p>
        </p:txBody>
      </p:sp>
      <p:pic>
        <p:nvPicPr>
          <p:cNvPr id="20484" name="BLOGGER_PHOTO_ID_5124565950534231618" descr="aaaa"/>
          <p:cNvPicPr>
            <a:picLocks noChangeAspect="1" noChangeArrowheads="1"/>
          </p:cNvPicPr>
          <p:nvPr/>
        </p:nvPicPr>
        <p:blipFill>
          <a:blip r:embed="rId2"/>
          <a:srcRect/>
          <a:stretch>
            <a:fillRect/>
          </a:stretch>
        </p:blipFill>
        <p:spPr bwMode="auto">
          <a:xfrm>
            <a:off x="2700338" y="3860800"/>
            <a:ext cx="3816350" cy="2232025"/>
          </a:xfrm>
          <a:prstGeom prst="rect">
            <a:avLst/>
          </a:prstGeom>
          <a:noFill/>
          <a:ln w="9525">
            <a:noFill/>
            <a:miter lim="800000"/>
            <a:headEnd/>
            <a:tailEnd/>
          </a:ln>
        </p:spPr>
      </p:pic>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1" name="Rectangle 3"/>
          <p:cNvSpPr>
            <a:spLocks noGrp="1" noChangeArrowheads="1"/>
          </p:cNvSpPr>
          <p:nvPr>
            <p:ph type="body" idx="1"/>
          </p:nvPr>
        </p:nvSpPr>
        <p:spPr>
          <a:xfrm>
            <a:off x="457200" y="620713"/>
            <a:ext cx="8229600" cy="4895850"/>
          </a:xfrm>
        </p:spPr>
        <p:txBody>
          <a:bodyPr/>
          <a:lstStyle/>
          <a:p>
            <a:r>
              <a:rPr lang="es-BO"/>
              <a:t>En la mujer embarazada además de estos síntomas puede producir una hipertensión, múltiples trastornos en diferentes órganos incluso llevarle a la muerte. El plomo atraviesa la placenta y se acumula los en los tejidos fetales en el útero, también se secreta por la leche.</a:t>
            </a:r>
            <a:endParaRPr lang="es-ES"/>
          </a:p>
        </p:txBody>
      </p:sp>
      <p:pic>
        <p:nvPicPr>
          <p:cNvPr id="119812" name="image25542" descr="mamando"/>
          <p:cNvPicPr>
            <a:picLocks noChangeAspect="1" noChangeArrowheads="1"/>
          </p:cNvPicPr>
          <p:nvPr/>
        </p:nvPicPr>
        <p:blipFill>
          <a:blip r:embed="rId2"/>
          <a:srcRect/>
          <a:stretch>
            <a:fillRect/>
          </a:stretch>
        </p:blipFill>
        <p:spPr bwMode="auto">
          <a:xfrm>
            <a:off x="2771775" y="3573463"/>
            <a:ext cx="4321175" cy="2951162"/>
          </a:xfrm>
          <a:prstGeom prst="rect">
            <a:avLst/>
          </a:prstGeom>
          <a:noFill/>
          <a:ln w="9525">
            <a:noFill/>
            <a:miter lim="800000"/>
            <a:headEnd/>
            <a:tailEnd/>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3"/>
          <p:cNvSpPr>
            <a:spLocks noGrp="1" noChangeArrowheads="1"/>
          </p:cNvSpPr>
          <p:nvPr>
            <p:ph type="body" idx="1"/>
          </p:nvPr>
        </p:nvSpPr>
        <p:spPr>
          <a:xfrm>
            <a:off x="457200" y="333375"/>
            <a:ext cx="8435975" cy="6264275"/>
          </a:xfrm>
        </p:spPr>
        <p:txBody>
          <a:bodyPr/>
          <a:lstStyle/>
          <a:p>
            <a:pPr>
              <a:buFont typeface="Wingdings" pitchFamily="2" charset="2"/>
              <a:buNone/>
            </a:pPr>
            <a:r>
              <a:rPr lang="es-BO" b="1"/>
              <a:t>    </a:t>
            </a:r>
            <a:r>
              <a:rPr lang="es-BO" b="1">
                <a:solidFill>
                  <a:srgbClr val="FFFF00"/>
                </a:solidFill>
              </a:rPr>
              <a:t>La exposición al metal durante el embarazo puede  producir</a:t>
            </a:r>
            <a:r>
              <a:rPr lang="es-BO">
                <a:solidFill>
                  <a:srgbClr val="FFFF00"/>
                </a:solidFill>
              </a:rPr>
              <a:t>.</a:t>
            </a:r>
          </a:p>
          <a:p>
            <a:pPr>
              <a:buClr>
                <a:srgbClr val="99CC00"/>
              </a:buClr>
              <a:buFont typeface="Wingdings" pitchFamily="2" charset="2"/>
              <a:buChar char="§"/>
            </a:pPr>
            <a:r>
              <a:rPr lang="es-BO"/>
              <a:t>En la fase de nidación produce abortos tempranos.</a:t>
            </a:r>
          </a:p>
          <a:p>
            <a:pPr>
              <a:buClr>
                <a:srgbClr val="99CC00"/>
              </a:buClr>
              <a:buFont typeface="Wingdings" pitchFamily="2" charset="2"/>
              <a:buChar char="§"/>
            </a:pPr>
            <a:endParaRPr lang="es-BO"/>
          </a:p>
          <a:p>
            <a:pPr>
              <a:buClr>
                <a:srgbClr val="99CC00"/>
              </a:buClr>
              <a:buFont typeface="Wingdings" pitchFamily="2" charset="2"/>
              <a:buChar char="§"/>
            </a:pPr>
            <a:endParaRPr lang="es-BO"/>
          </a:p>
          <a:p>
            <a:pPr>
              <a:buClr>
                <a:srgbClr val="99CC00"/>
              </a:buClr>
              <a:buFont typeface="Wingdings" pitchFamily="2" charset="2"/>
              <a:buChar char="§"/>
            </a:pPr>
            <a:endParaRPr lang="es-BO"/>
          </a:p>
          <a:p>
            <a:pPr>
              <a:buClr>
                <a:srgbClr val="99CC00"/>
              </a:buClr>
              <a:buFont typeface="Wingdings" pitchFamily="2" charset="2"/>
              <a:buChar char="§"/>
            </a:pPr>
            <a:r>
              <a:rPr lang="es-BO"/>
              <a:t>Anormalidades fetales.</a:t>
            </a:r>
          </a:p>
          <a:p>
            <a:pPr>
              <a:buClr>
                <a:srgbClr val="99CC00"/>
              </a:buClr>
              <a:buFont typeface="Wingdings" pitchFamily="2" charset="2"/>
              <a:buChar char="§"/>
            </a:pPr>
            <a:endParaRPr lang="es-BO"/>
          </a:p>
        </p:txBody>
      </p:sp>
      <p:pic>
        <p:nvPicPr>
          <p:cNvPr id="21508" name="Picture 4" descr="17197"/>
          <p:cNvPicPr>
            <a:picLocks noChangeAspect="1" noChangeArrowheads="1"/>
          </p:cNvPicPr>
          <p:nvPr/>
        </p:nvPicPr>
        <p:blipFill>
          <a:blip r:embed="rId2"/>
          <a:srcRect/>
          <a:stretch>
            <a:fillRect/>
          </a:stretch>
        </p:blipFill>
        <p:spPr bwMode="auto">
          <a:xfrm>
            <a:off x="3059113" y="2133600"/>
            <a:ext cx="2520950" cy="2016125"/>
          </a:xfrm>
          <a:prstGeom prst="rect">
            <a:avLst/>
          </a:prstGeom>
          <a:noFill/>
          <a:ln w="9525">
            <a:noFill/>
            <a:miter lim="800000"/>
            <a:headEnd/>
            <a:tailEnd/>
          </a:ln>
        </p:spPr>
      </p:pic>
      <p:pic>
        <p:nvPicPr>
          <p:cNvPr id="21510" name="Picture 6" descr="prenatal-f61"/>
          <p:cNvPicPr>
            <a:picLocks noChangeAspect="1" noChangeArrowheads="1"/>
          </p:cNvPicPr>
          <p:nvPr/>
        </p:nvPicPr>
        <p:blipFill>
          <a:blip r:embed="rId3"/>
          <a:srcRect/>
          <a:stretch>
            <a:fillRect/>
          </a:stretch>
        </p:blipFill>
        <p:spPr bwMode="auto">
          <a:xfrm>
            <a:off x="5795963" y="4221163"/>
            <a:ext cx="2857500" cy="2336800"/>
          </a:xfrm>
          <a:prstGeom prst="rect">
            <a:avLst/>
          </a:prstGeom>
          <a:noFill/>
          <a:ln w="9525">
            <a:noFill/>
            <a:miter lim="800000"/>
            <a:headEnd/>
            <a:tailEnd/>
          </a:ln>
        </p:spPr>
      </p:pic>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9" name="Rectangle 3"/>
          <p:cNvSpPr>
            <a:spLocks noGrp="1" noChangeArrowheads="1"/>
          </p:cNvSpPr>
          <p:nvPr>
            <p:ph type="body" idx="1"/>
          </p:nvPr>
        </p:nvSpPr>
        <p:spPr>
          <a:xfrm>
            <a:off x="457200" y="765175"/>
            <a:ext cx="8229600" cy="5365750"/>
          </a:xfrm>
        </p:spPr>
        <p:txBody>
          <a:bodyPr/>
          <a:lstStyle/>
          <a:p>
            <a:pPr>
              <a:buClr>
                <a:srgbClr val="99CC00"/>
              </a:buClr>
              <a:buFont typeface="Wingdings" pitchFamily="2" charset="2"/>
              <a:buChar char="§"/>
            </a:pPr>
            <a:r>
              <a:rPr lang="es-BO"/>
              <a:t>Nacimientos prematuros.</a:t>
            </a:r>
          </a:p>
          <a:p>
            <a:pPr>
              <a:buClr>
                <a:srgbClr val="99CC00"/>
              </a:buClr>
              <a:buFont typeface="Wingdings" pitchFamily="2" charset="2"/>
              <a:buChar char="§"/>
            </a:pPr>
            <a:endParaRPr lang="es-BO"/>
          </a:p>
          <a:p>
            <a:pPr>
              <a:buClr>
                <a:srgbClr val="99CC00"/>
              </a:buClr>
              <a:buFont typeface="Wingdings" pitchFamily="2" charset="2"/>
              <a:buChar char="§"/>
            </a:pPr>
            <a:endParaRPr lang="es-BO"/>
          </a:p>
          <a:p>
            <a:pPr>
              <a:buClr>
                <a:srgbClr val="99CC00"/>
              </a:buClr>
              <a:buFont typeface="Wingdings" pitchFamily="2" charset="2"/>
              <a:buChar char="§"/>
            </a:pPr>
            <a:endParaRPr lang="es-BO"/>
          </a:p>
          <a:p>
            <a:pPr>
              <a:buClr>
                <a:srgbClr val="99CC00"/>
              </a:buClr>
              <a:buFont typeface="Wingdings" pitchFamily="2" charset="2"/>
              <a:buChar char="§"/>
            </a:pPr>
            <a:endParaRPr lang="es-BO"/>
          </a:p>
          <a:p>
            <a:pPr>
              <a:buClr>
                <a:srgbClr val="99CC00"/>
              </a:buClr>
              <a:buFont typeface="Wingdings" pitchFamily="2" charset="2"/>
              <a:buChar char="§"/>
            </a:pPr>
            <a:r>
              <a:rPr lang="es-BO"/>
              <a:t>Muerte neonatal.</a:t>
            </a:r>
          </a:p>
          <a:p>
            <a:endParaRPr lang="es-ES"/>
          </a:p>
        </p:txBody>
      </p:sp>
      <p:pic>
        <p:nvPicPr>
          <p:cNvPr id="121860" name="Picture 4" descr="incubadoraNYT"/>
          <p:cNvPicPr>
            <a:picLocks noChangeAspect="1" noChangeArrowheads="1"/>
          </p:cNvPicPr>
          <p:nvPr/>
        </p:nvPicPr>
        <p:blipFill>
          <a:blip r:embed="rId2"/>
          <a:srcRect/>
          <a:stretch>
            <a:fillRect/>
          </a:stretch>
        </p:blipFill>
        <p:spPr bwMode="auto">
          <a:xfrm>
            <a:off x="2555875" y="1412875"/>
            <a:ext cx="3567113" cy="2160588"/>
          </a:xfrm>
          <a:prstGeom prst="rect">
            <a:avLst/>
          </a:prstGeom>
          <a:noFill/>
          <a:ln w="9525">
            <a:noFill/>
            <a:miter lim="800000"/>
            <a:headEnd/>
            <a:tailEnd/>
          </a:ln>
        </p:spPr>
      </p:pic>
      <p:pic>
        <p:nvPicPr>
          <p:cNvPr id="121861" name="Picture 5" descr="neonato"/>
          <p:cNvPicPr>
            <a:picLocks noChangeAspect="1" noChangeArrowheads="1"/>
          </p:cNvPicPr>
          <p:nvPr/>
        </p:nvPicPr>
        <p:blipFill>
          <a:blip r:embed="rId3"/>
          <a:srcRect/>
          <a:stretch>
            <a:fillRect/>
          </a:stretch>
        </p:blipFill>
        <p:spPr bwMode="auto">
          <a:xfrm>
            <a:off x="3779838" y="4149725"/>
            <a:ext cx="2087562" cy="2303463"/>
          </a:xfrm>
          <a:prstGeom prst="rect">
            <a:avLst/>
          </a:prstGeom>
          <a:noFill/>
          <a:ln w="9525">
            <a:noFill/>
            <a:miter lim="800000"/>
            <a:headEnd/>
            <a:tailEnd/>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5" name="Rectangle 3"/>
          <p:cNvSpPr>
            <a:spLocks noGrp="1" noChangeArrowheads="1"/>
          </p:cNvSpPr>
          <p:nvPr>
            <p:ph type="body" idx="1"/>
          </p:nvPr>
        </p:nvSpPr>
        <p:spPr>
          <a:xfrm>
            <a:off x="457200" y="620713"/>
            <a:ext cx="8229600" cy="5510212"/>
          </a:xfrm>
        </p:spPr>
        <p:txBody>
          <a:bodyPr/>
          <a:lstStyle/>
          <a:p>
            <a:pPr>
              <a:buClr>
                <a:srgbClr val="99CC00"/>
              </a:buClr>
              <a:buFont typeface="Wingdings" pitchFamily="2" charset="2"/>
              <a:buChar char="§"/>
            </a:pPr>
            <a:r>
              <a:rPr lang="es-BO"/>
              <a:t>Déficit funcionales.</a:t>
            </a:r>
          </a:p>
          <a:p>
            <a:pPr>
              <a:buClr>
                <a:srgbClr val="99CC00"/>
              </a:buClr>
              <a:buFont typeface="Wingdings" pitchFamily="2" charset="2"/>
              <a:buChar char="§"/>
            </a:pPr>
            <a:endParaRPr lang="es-BO"/>
          </a:p>
          <a:p>
            <a:pPr>
              <a:buClr>
                <a:srgbClr val="99CC00"/>
              </a:buClr>
              <a:buFont typeface="Wingdings" pitchFamily="2" charset="2"/>
              <a:buChar char="§"/>
            </a:pPr>
            <a:r>
              <a:rPr lang="es-BO"/>
              <a:t>Disminución de la inteligencia de intensidad variable.</a:t>
            </a:r>
          </a:p>
          <a:p>
            <a:pPr>
              <a:buClr>
                <a:srgbClr val="99CC00"/>
              </a:buClr>
              <a:buFont typeface="Wingdings" pitchFamily="2" charset="2"/>
              <a:buChar char="§"/>
            </a:pPr>
            <a:endParaRPr lang="es-BO"/>
          </a:p>
          <a:p>
            <a:pPr>
              <a:buClr>
                <a:srgbClr val="99CC00"/>
              </a:buClr>
              <a:buFont typeface="Wingdings" pitchFamily="2" charset="2"/>
              <a:buChar char="§"/>
            </a:pPr>
            <a:r>
              <a:rPr lang="es-BO"/>
              <a:t>Trastornos auditivos.</a:t>
            </a:r>
          </a:p>
        </p:txBody>
      </p:sp>
      <p:pic>
        <p:nvPicPr>
          <p:cNvPr id="120836" name="Picture 4" descr="sorderaconsumeres"/>
          <p:cNvPicPr>
            <a:picLocks noChangeAspect="1" noChangeArrowheads="1"/>
          </p:cNvPicPr>
          <p:nvPr/>
        </p:nvPicPr>
        <p:blipFill>
          <a:blip r:embed="rId2"/>
          <a:srcRect/>
          <a:stretch>
            <a:fillRect/>
          </a:stretch>
        </p:blipFill>
        <p:spPr bwMode="auto">
          <a:xfrm>
            <a:off x="4932363" y="3141663"/>
            <a:ext cx="3240087" cy="2519362"/>
          </a:xfrm>
          <a:prstGeom prst="rect">
            <a:avLst/>
          </a:prstGeom>
          <a:noFill/>
          <a:ln w="9525">
            <a:noFill/>
            <a:miter lim="800000"/>
            <a:headEnd/>
            <a:tailEnd/>
          </a:ln>
        </p:spPr>
      </p:pic>
    </p:spTree>
  </p:cSld>
  <p:clrMapOvr>
    <a:masterClrMapping/>
  </p:clrMapOvr>
  <p:transition>
    <p:dissolv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3" name="Rectangle 3"/>
          <p:cNvSpPr>
            <a:spLocks noGrp="1" noChangeArrowheads="1"/>
          </p:cNvSpPr>
          <p:nvPr>
            <p:ph type="body" idx="1"/>
          </p:nvPr>
        </p:nvSpPr>
        <p:spPr>
          <a:xfrm>
            <a:off x="457200" y="692150"/>
            <a:ext cx="8229600" cy="5400675"/>
          </a:xfrm>
        </p:spPr>
        <p:txBody>
          <a:bodyPr/>
          <a:lstStyle/>
          <a:p>
            <a:pPr>
              <a:lnSpc>
                <a:spcPct val="90000"/>
              </a:lnSpc>
              <a:buClr>
                <a:srgbClr val="99CC00"/>
              </a:buClr>
              <a:buFont typeface="Wingdings" pitchFamily="2" charset="2"/>
              <a:buChar char="§"/>
            </a:pPr>
            <a:r>
              <a:rPr lang="es-BO"/>
              <a:t>Alteraciones neuroconductuales y psicomotoras.</a:t>
            </a:r>
          </a:p>
          <a:p>
            <a:pPr>
              <a:lnSpc>
                <a:spcPct val="90000"/>
              </a:lnSpc>
              <a:buClr>
                <a:srgbClr val="99CC00"/>
              </a:buClr>
              <a:buFont typeface="Wingdings" pitchFamily="2" charset="2"/>
              <a:buChar char="§"/>
            </a:pPr>
            <a:endParaRPr lang="es-BO"/>
          </a:p>
          <a:p>
            <a:pPr>
              <a:lnSpc>
                <a:spcPct val="90000"/>
              </a:lnSpc>
              <a:buClr>
                <a:srgbClr val="99CC00"/>
              </a:buClr>
              <a:buFont typeface="Wingdings" pitchFamily="2" charset="2"/>
              <a:buChar char="§"/>
            </a:pPr>
            <a:endParaRPr lang="es-BO"/>
          </a:p>
          <a:p>
            <a:pPr>
              <a:lnSpc>
                <a:spcPct val="90000"/>
              </a:lnSpc>
              <a:buClr>
                <a:srgbClr val="99CC00"/>
              </a:buClr>
              <a:buFont typeface="Wingdings" pitchFamily="2" charset="2"/>
              <a:buChar char="§"/>
            </a:pPr>
            <a:endParaRPr lang="es-BO"/>
          </a:p>
          <a:p>
            <a:pPr>
              <a:lnSpc>
                <a:spcPct val="90000"/>
              </a:lnSpc>
              <a:buClr>
                <a:srgbClr val="99CC00"/>
              </a:buClr>
              <a:buFont typeface="Wingdings" pitchFamily="2" charset="2"/>
              <a:buChar char="§"/>
            </a:pPr>
            <a:endParaRPr lang="es-BO"/>
          </a:p>
          <a:p>
            <a:pPr>
              <a:lnSpc>
                <a:spcPct val="90000"/>
              </a:lnSpc>
              <a:buClr>
                <a:srgbClr val="99CC00"/>
              </a:buClr>
              <a:buFont typeface="Wingdings" pitchFamily="2" charset="2"/>
              <a:buChar char="§"/>
            </a:pPr>
            <a:endParaRPr lang="es-BO"/>
          </a:p>
          <a:p>
            <a:pPr>
              <a:lnSpc>
                <a:spcPct val="90000"/>
              </a:lnSpc>
              <a:buClr>
                <a:srgbClr val="99CC00"/>
              </a:buClr>
              <a:buFont typeface="Wingdings" pitchFamily="2" charset="2"/>
              <a:buChar char="§"/>
            </a:pPr>
            <a:endParaRPr lang="es-BO"/>
          </a:p>
          <a:p>
            <a:pPr>
              <a:lnSpc>
                <a:spcPct val="90000"/>
              </a:lnSpc>
              <a:buClr>
                <a:srgbClr val="99CC00"/>
              </a:buClr>
              <a:buFont typeface="Wingdings" pitchFamily="2" charset="2"/>
              <a:buChar char="§"/>
            </a:pPr>
            <a:r>
              <a:rPr lang="es-BO"/>
              <a:t>Hiperactividad y reducción de aprendizaje en niños, (acumulándose en huesos y tejidos).</a:t>
            </a:r>
            <a:endParaRPr lang="es-ES"/>
          </a:p>
          <a:p>
            <a:pPr>
              <a:lnSpc>
                <a:spcPct val="90000"/>
              </a:lnSpc>
            </a:pPr>
            <a:endParaRPr lang="es-ES"/>
          </a:p>
          <a:p>
            <a:pPr>
              <a:lnSpc>
                <a:spcPct val="90000"/>
              </a:lnSpc>
            </a:pPr>
            <a:endParaRPr lang="es-ES"/>
          </a:p>
        </p:txBody>
      </p:sp>
      <p:pic>
        <p:nvPicPr>
          <p:cNvPr id="122884" name="Picture 4" descr="Déficit de Atención e Hiperactividad"/>
          <p:cNvPicPr>
            <a:picLocks noChangeAspect="1" noChangeArrowheads="1"/>
          </p:cNvPicPr>
          <p:nvPr/>
        </p:nvPicPr>
        <p:blipFill>
          <a:blip r:embed="rId2"/>
          <a:srcRect/>
          <a:stretch>
            <a:fillRect/>
          </a:stretch>
        </p:blipFill>
        <p:spPr bwMode="auto">
          <a:xfrm>
            <a:off x="971550" y="1700213"/>
            <a:ext cx="3097213" cy="2376487"/>
          </a:xfrm>
          <a:prstGeom prst="rect">
            <a:avLst/>
          </a:prstGeom>
          <a:noFill/>
          <a:ln w="9525">
            <a:noFill/>
            <a:miter lim="800000"/>
            <a:headEnd/>
            <a:tailEnd/>
          </a:ln>
        </p:spPr>
      </p:pic>
      <p:pic>
        <p:nvPicPr>
          <p:cNvPr id="122886" name="Picture 6" descr="a11fig08a"/>
          <p:cNvPicPr>
            <a:picLocks noChangeAspect="1" noChangeArrowheads="1"/>
          </p:cNvPicPr>
          <p:nvPr/>
        </p:nvPicPr>
        <p:blipFill>
          <a:blip r:embed="rId3"/>
          <a:srcRect/>
          <a:stretch>
            <a:fillRect/>
          </a:stretch>
        </p:blipFill>
        <p:spPr bwMode="auto">
          <a:xfrm>
            <a:off x="4787900" y="2276475"/>
            <a:ext cx="3319463" cy="2735263"/>
          </a:xfrm>
          <a:prstGeom prst="rect">
            <a:avLst/>
          </a:prstGeom>
          <a:noFill/>
          <a:ln w="9525">
            <a:noFill/>
            <a:miter lim="800000"/>
            <a:headEnd/>
            <a:tailEnd/>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3"/>
          <p:cNvSpPr>
            <a:spLocks noGrp="1" noChangeArrowheads="1"/>
          </p:cNvSpPr>
          <p:nvPr>
            <p:ph type="body" idx="1"/>
          </p:nvPr>
        </p:nvSpPr>
        <p:spPr>
          <a:xfrm>
            <a:off x="457200" y="404813"/>
            <a:ext cx="8229600" cy="6192837"/>
          </a:xfrm>
        </p:spPr>
        <p:txBody>
          <a:bodyPr/>
          <a:lstStyle/>
          <a:p>
            <a:pPr>
              <a:buFont typeface="Wingdings" pitchFamily="2" charset="2"/>
              <a:buNone/>
            </a:pPr>
            <a:r>
              <a:rPr lang="es-BO" b="1"/>
              <a:t>  </a:t>
            </a:r>
            <a:r>
              <a:rPr lang="es-BO" sz="3600" b="1">
                <a:solidFill>
                  <a:srgbClr val="FFFF00"/>
                </a:solidFill>
              </a:rPr>
              <a:t>Como prevenir?</a:t>
            </a:r>
          </a:p>
          <a:p>
            <a:pPr>
              <a:buClr>
                <a:srgbClr val="99CC00"/>
              </a:buClr>
              <a:buFont typeface="Wingdings" pitchFamily="2" charset="2"/>
              <a:buChar char="§"/>
            </a:pPr>
            <a:r>
              <a:rPr lang="es-BO"/>
              <a:t>Evitar sitios congestionados de trafico vehicular, parques industriales.</a:t>
            </a:r>
          </a:p>
          <a:p>
            <a:pPr>
              <a:buClr>
                <a:srgbClr val="99CC00"/>
              </a:buClr>
              <a:buFont typeface="Wingdings" pitchFamily="2" charset="2"/>
              <a:buChar char="§"/>
            </a:pPr>
            <a:endParaRPr lang="es-BO"/>
          </a:p>
          <a:p>
            <a:pPr>
              <a:buClr>
                <a:srgbClr val="99CC00"/>
              </a:buClr>
              <a:buFont typeface="Wingdings" pitchFamily="2" charset="2"/>
              <a:buChar char="§"/>
            </a:pPr>
            <a:endParaRPr lang="es-BO"/>
          </a:p>
          <a:p>
            <a:pPr>
              <a:buClr>
                <a:srgbClr val="99CC00"/>
              </a:buClr>
              <a:buFont typeface="Wingdings" pitchFamily="2" charset="2"/>
              <a:buChar char="§"/>
            </a:pPr>
            <a:endParaRPr lang="es-BO"/>
          </a:p>
          <a:p>
            <a:pPr>
              <a:buClr>
                <a:srgbClr val="99CC00"/>
              </a:buClr>
              <a:buFont typeface="Wingdings" pitchFamily="2" charset="2"/>
              <a:buChar char="§"/>
            </a:pPr>
            <a:r>
              <a:rPr lang="es-BO"/>
              <a:t>No conservar artesanías, soldaduras y pinturas con plomo dentro del dormitorio.</a:t>
            </a:r>
          </a:p>
          <a:p>
            <a:pPr>
              <a:buClr>
                <a:srgbClr val="99CC00"/>
              </a:buClr>
              <a:buFont typeface="Wingdings" pitchFamily="2" charset="2"/>
              <a:buChar char="§"/>
            </a:pPr>
            <a:r>
              <a:rPr lang="es-BO"/>
              <a:t>	</a:t>
            </a:r>
            <a:endParaRPr lang="es-ES"/>
          </a:p>
        </p:txBody>
      </p:sp>
      <p:pic>
        <p:nvPicPr>
          <p:cNvPr id="22532" name="Picture 4" descr="http://t3.gstatic.com/images?q=tbn:joLPr7layBkxbM:http://www.soberania.org/Images/contaminacion_automovil_1.jpg"/>
          <p:cNvPicPr>
            <a:picLocks noChangeAspect="1" noChangeArrowheads="1"/>
          </p:cNvPicPr>
          <p:nvPr/>
        </p:nvPicPr>
        <p:blipFill>
          <a:blip r:embed="rId2" r:link="rId3"/>
          <a:srcRect/>
          <a:stretch>
            <a:fillRect/>
          </a:stretch>
        </p:blipFill>
        <p:spPr bwMode="auto">
          <a:xfrm>
            <a:off x="4787900" y="2133600"/>
            <a:ext cx="2520950" cy="1800225"/>
          </a:xfrm>
          <a:prstGeom prst="rect">
            <a:avLst/>
          </a:prstGeom>
          <a:noFill/>
        </p:spPr>
      </p:pic>
      <p:sp>
        <p:nvSpPr>
          <p:cNvPr id="22534" name="Rectangle 6"/>
          <p:cNvSpPr>
            <a:spLocks noChangeArrowheads="1"/>
          </p:cNvSpPr>
          <p:nvPr/>
        </p:nvSpPr>
        <p:spPr bwMode="auto">
          <a:xfrm>
            <a:off x="0" y="0"/>
            <a:ext cx="227013" cy="274638"/>
          </a:xfrm>
          <a:prstGeom prst="rect">
            <a:avLst/>
          </a:prstGeom>
          <a:noFill/>
          <a:ln w="9525">
            <a:noFill/>
            <a:miter lim="800000"/>
            <a:headEnd/>
            <a:tailEnd/>
          </a:ln>
          <a:effectLst/>
        </p:spPr>
        <p:txBody>
          <a:bodyPr wrap="none" anchor="ctr">
            <a:spAutoFit/>
          </a:bodyPr>
          <a:lstStyle/>
          <a:p>
            <a:r>
              <a:rPr lang="es-ES" sz="1200">
                <a:solidFill>
                  <a:srgbClr val="000000"/>
                </a:solidFill>
                <a:ea typeface="Times New Roman" pitchFamily="18" charset="0"/>
                <a:cs typeface="Arial" charset="0"/>
              </a:rPr>
              <a:t> </a:t>
            </a:r>
            <a:endParaRPr lang="es-ES">
              <a:ea typeface="Times New Roman" pitchFamily="18" charset="0"/>
              <a:cs typeface="Arial" charset="0"/>
            </a:endParaRPr>
          </a:p>
        </p:txBody>
      </p:sp>
      <p:sp>
        <p:nvSpPr>
          <p:cNvPr id="22535" name="Rectangle 7"/>
          <p:cNvSpPr>
            <a:spLocks noChangeArrowheads="1"/>
          </p:cNvSpPr>
          <p:nvPr/>
        </p:nvSpPr>
        <p:spPr bwMode="auto">
          <a:xfrm>
            <a:off x="0" y="1255713"/>
            <a:ext cx="227013" cy="274637"/>
          </a:xfrm>
          <a:prstGeom prst="rect">
            <a:avLst/>
          </a:prstGeom>
          <a:noFill/>
          <a:ln w="9525">
            <a:noFill/>
            <a:miter lim="800000"/>
            <a:headEnd/>
            <a:tailEnd/>
          </a:ln>
          <a:effectLst/>
        </p:spPr>
        <p:txBody>
          <a:bodyPr wrap="none" anchor="ctr">
            <a:spAutoFit/>
          </a:bodyPr>
          <a:lstStyle/>
          <a:p>
            <a:r>
              <a:rPr lang="es-ES" sz="1200">
                <a:solidFill>
                  <a:srgbClr val="000000"/>
                </a:solidFill>
                <a:ea typeface="Times New Roman" pitchFamily="18" charset="0"/>
                <a:cs typeface="Arial" charset="0"/>
              </a:rPr>
              <a:t> </a:t>
            </a:r>
            <a:endParaRPr lang="es-ES">
              <a:ea typeface="Times New Roman" pitchFamily="18" charset="0"/>
              <a:cs typeface="Arial" charset="0"/>
            </a:endParaRPr>
          </a:p>
        </p:txBody>
      </p:sp>
      <p:sp>
        <p:nvSpPr>
          <p:cNvPr id="22536" name="Rectangle 8"/>
          <p:cNvSpPr>
            <a:spLocks noChangeArrowheads="1"/>
          </p:cNvSpPr>
          <p:nvPr/>
        </p:nvSpPr>
        <p:spPr bwMode="auto">
          <a:xfrm>
            <a:off x="0" y="2597150"/>
            <a:ext cx="228600" cy="304800"/>
          </a:xfrm>
          <a:prstGeom prst="rect">
            <a:avLst/>
          </a:prstGeom>
          <a:noFill/>
          <a:ln w="9525">
            <a:noFill/>
            <a:miter lim="800000"/>
            <a:headEnd/>
            <a:tailEnd/>
          </a:ln>
          <a:effectLst/>
        </p:spPr>
        <p:txBody>
          <a:bodyPr wrap="none" anchor="ctr">
            <a:spAutoFit/>
          </a:bodyPr>
          <a:lstStyle/>
          <a:p>
            <a:r>
              <a:rPr lang="es-ES" sz="1400">
                <a:latin typeface="Times New Roman" pitchFamily="18" charset="0"/>
              </a:rPr>
              <a:t> </a:t>
            </a:r>
            <a:endParaRPr lang="es-ES"/>
          </a:p>
        </p:txBody>
      </p:sp>
      <p:pic>
        <p:nvPicPr>
          <p:cNvPr id="22537" name="Picture 9" descr="img%3Fs%3DMLM%26f%3D30548084_9969"/>
          <p:cNvPicPr>
            <a:picLocks noChangeAspect="1" noChangeArrowheads="1"/>
          </p:cNvPicPr>
          <p:nvPr/>
        </p:nvPicPr>
        <p:blipFill>
          <a:blip r:embed="rId4"/>
          <a:srcRect/>
          <a:stretch>
            <a:fillRect/>
          </a:stretch>
        </p:blipFill>
        <p:spPr bwMode="auto">
          <a:xfrm>
            <a:off x="1835150" y="4941888"/>
            <a:ext cx="2376488" cy="1916112"/>
          </a:xfrm>
          <a:prstGeom prst="rect">
            <a:avLst/>
          </a:prstGeom>
          <a:noFill/>
          <a:ln w="9525">
            <a:noFill/>
            <a:miter lim="800000"/>
            <a:headEnd/>
            <a:tailEnd/>
          </a:ln>
        </p:spPr>
      </p:pic>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7" name="Rectangle 3"/>
          <p:cNvSpPr>
            <a:spLocks noGrp="1" noChangeArrowheads="1"/>
          </p:cNvSpPr>
          <p:nvPr>
            <p:ph type="body" idx="1"/>
          </p:nvPr>
        </p:nvSpPr>
        <p:spPr>
          <a:xfrm>
            <a:off x="457200" y="476250"/>
            <a:ext cx="8229600" cy="5654675"/>
          </a:xfrm>
        </p:spPr>
        <p:txBody>
          <a:bodyPr/>
          <a:lstStyle/>
          <a:p>
            <a:pPr>
              <a:buClr>
                <a:srgbClr val="99CC00"/>
              </a:buClr>
              <a:buFont typeface="Wingdings" pitchFamily="2" charset="2"/>
              <a:buChar char="§"/>
            </a:pPr>
            <a:r>
              <a:rPr lang="es-BO"/>
              <a:t>Limpiar en forma continua con pañuelo húmedo los muebles que contienen plomo.</a:t>
            </a:r>
          </a:p>
          <a:p>
            <a:pPr>
              <a:buClr>
                <a:srgbClr val="99CC00"/>
              </a:buClr>
              <a:buFont typeface="Wingdings" pitchFamily="2" charset="2"/>
              <a:buChar char="§"/>
            </a:pPr>
            <a:endParaRPr lang="es-BO"/>
          </a:p>
          <a:p>
            <a:pPr>
              <a:buClr>
                <a:srgbClr val="99CC00"/>
              </a:buClr>
              <a:buFont typeface="Wingdings" pitchFamily="2" charset="2"/>
              <a:buChar char="§"/>
            </a:pPr>
            <a:r>
              <a:rPr lang="es-BO"/>
              <a:t>Realizar ejercicios físicos en áreas con poco trafico.</a:t>
            </a:r>
          </a:p>
          <a:p>
            <a:pPr>
              <a:buClr>
                <a:srgbClr val="99CC00"/>
              </a:buClr>
              <a:buFont typeface="Wingdings" pitchFamily="2" charset="2"/>
              <a:buChar char="§"/>
            </a:pPr>
            <a:endParaRPr lang="es-BO"/>
          </a:p>
          <a:p>
            <a:pPr>
              <a:buClr>
                <a:srgbClr val="99CC00"/>
              </a:buClr>
              <a:buFont typeface="Wingdings" pitchFamily="2" charset="2"/>
              <a:buChar char="§"/>
            </a:pPr>
            <a:r>
              <a:rPr lang="es-BO"/>
              <a:t>No sentarse a la altura de los tubos de escape de los autos.</a:t>
            </a:r>
            <a:endParaRPr lang="es-ES"/>
          </a:p>
          <a:p>
            <a:endParaRPr lang="es-ES"/>
          </a:p>
        </p:txBody>
      </p:sp>
      <p:pic>
        <p:nvPicPr>
          <p:cNvPr id="123908" name="Picture 4" descr="car-dark-smoke_~pix2029"/>
          <p:cNvPicPr>
            <a:picLocks noChangeAspect="1" noChangeArrowheads="1"/>
          </p:cNvPicPr>
          <p:nvPr/>
        </p:nvPicPr>
        <p:blipFill>
          <a:blip r:embed="rId2"/>
          <a:srcRect/>
          <a:stretch>
            <a:fillRect/>
          </a:stretch>
        </p:blipFill>
        <p:spPr bwMode="auto">
          <a:xfrm>
            <a:off x="4932363" y="4581525"/>
            <a:ext cx="2376487" cy="1943100"/>
          </a:xfrm>
          <a:prstGeom prst="rect">
            <a:avLst/>
          </a:prstGeom>
          <a:noFill/>
          <a:ln w="9525">
            <a:noFill/>
            <a:miter lim="800000"/>
            <a:headEnd/>
            <a:tailEnd/>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s-BO" sz="4800">
                <a:solidFill>
                  <a:srgbClr val="FFFF00"/>
                </a:solidFill>
              </a:rPr>
              <a:t>PLAGUICIDAS</a:t>
            </a:r>
            <a:endParaRPr lang="es-ES" sz="4800">
              <a:solidFill>
                <a:srgbClr val="FFFF00"/>
              </a:solidFill>
            </a:endParaRPr>
          </a:p>
        </p:txBody>
      </p:sp>
      <p:sp>
        <p:nvSpPr>
          <p:cNvPr id="23555" name="Rectangle 3"/>
          <p:cNvSpPr>
            <a:spLocks noGrp="1" noChangeArrowheads="1"/>
          </p:cNvSpPr>
          <p:nvPr>
            <p:ph type="body" idx="1"/>
          </p:nvPr>
        </p:nvSpPr>
        <p:spPr>
          <a:xfrm>
            <a:off x="457200" y="1341438"/>
            <a:ext cx="8229600" cy="5111750"/>
          </a:xfrm>
        </p:spPr>
        <p:txBody>
          <a:bodyPr/>
          <a:lstStyle/>
          <a:p>
            <a:pPr>
              <a:buFont typeface="Wingdings" pitchFamily="2" charset="2"/>
              <a:buNone/>
            </a:pPr>
            <a:r>
              <a:rPr lang="es-BO" b="1"/>
              <a:t>   </a:t>
            </a:r>
            <a:r>
              <a:rPr lang="es-BO" b="1">
                <a:solidFill>
                  <a:srgbClr val="99CC00"/>
                </a:solidFill>
              </a:rPr>
              <a:t>Características.-</a:t>
            </a:r>
            <a:r>
              <a:rPr lang="es-BO"/>
              <a:t> Destinados a matar microorganismos no deseados que transmiten enfermedades a animales, plantas y hombre.</a:t>
            </a:r>
          </a:p>
          <a:p>
            <a:pPr>
              <a:buFont typeface="Wingdings" pitchFamily="2" charset="2"/>
              <a:buNone/>
            </a:pPr>
            <a:endParaRPr lang="es-BO"/>
          </a:p>
          <a:p>
            <a:pPr>
              <a:buClr>
                <a:srgbClr val="99CC00"/>
              </a:buClr>
              <a:buFont typeface="Wingdings" pitchFamily="2" charset="2"/>
              <a:buChar char="§"/>
            </a:pPr>
            <a:r>
              <a:rPr lang="es-BO"/>
              <a:t>Las personas más afectadas son los trabajadores agrícolas y en las zonas urbanas los mata plagas caseros. </a:t>
            </a:r>
            <a:endParaRPr lang="es-ES"/>
          </a:p>
        </p:txBody>
      </p:sp>
      <p:pic>
        <p:nvPicPr>
          <p:cNvPr id="23556" name="Picture 4" descr="toxic"/>
          <p:cNvPicPr>
            <a:picLocks noChangeAspect="1" noChangeArrowheads="1"/>
          </p:cNvPicPr>
          <p:nvPr/>
        </p:nvPicPr>
        <p:blipFill>
          <a:blip r:embed="rId2"/>
          <a:srcRect/>
          <a:stretch>
            <a:fillRect/>
          </a:stretch>
        </p:blipFill>
        <p:spPr bwMode="auto">
          <a:xfrm>
            <a:off x="7667625" y="260350"/>
            <a:ext cx="1181100" cy="1181100"/>
          </a:xfrm>
          <a:prstGeom prst="rect">
            <a:avLst/>
          </a:prstGeom>
          <a:noFill/>
          <a:ln w="9525">
            <a:noFill/>
            <a:miter lim="800000"/>
            <a:headEnd/>
            <a:tailEnd/>
          </a:ln>
        </p:spPr>
      </p:pic>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BO" dirty="0" smtClean="0">
                <a:solidFill>
                  <a:srgbClr val="FFFF00"/>
                </a:solidFill>
              </a:rPr>
              <a:t>TIPOS DE PLAGUICIDAS</a:t>
            </a:r>
            <a:endParaRPr lang="es-BO" dirty="0">
              <a:solidFill>
                <a:srgbClr val="FFFF00"/>
              </a:solidFill>
            </a:endParaRPr>
          </a:p>
        </p:txBody>
      </p:sp>
      <p:sp>
        <p:nvSpPr>
          <p:cNvPr id="3" name="2 Marcador de contenido"/>
          <p:cNvSpPr>
            <a:spLocks noGrp="1"/>
          </p:cNvSpPr>
          <p:nvPr>
            <p:ph idx="1"/>
          </p:nvPr>
        </p:nvSpPr>
        <p:spPr/>
        <p:txBody>
          <a:bodyPr/>
          <a:lstStyle/>
          <a:p>
            <a:r>
              <a:rPr lang="es-BO" dirty="0" smtClean="0"/>
              <a:t>Insecticidas.- para matar insectos</a:t>
            </a:r>
          </a:p>
          <a:p>
            <a:r>
              <a:rPr lang="es-BO" dirty="0" smtClean="0"/>
              <a:t>Herbicidas.- para eliminar la maleza</a:t>
            </a:r>
          </a:p>
          <a:p>
            <a:r>
              <a:rPr lang="es-BO" dirty="0" smtClean="0"/>
              <a:t>Fungicidas.- para el control de enfermedades de las plantas</a:t>
            </a:r>
          </a:p>
          <a:p>
            <a:r>
              <a:rPr lang="es-BO" dirty="0" smtClean="0"/>
              <a:t>Veneno para roedores.- para matar ratas, ratones y otros roedores.</a:t>
            </a:r>
            <a:endParaRPr lang="es-BO" dirty="0"/>
          </a:p>
        </p:txBody>
      </p:sp>
    </p:spTree>
  </p:cSld>
  <p:clrMapOvr>
    <a:masterClrMapping/>
  </p:clrMapOvr>
  <p:transition>
    <p:dissolv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3"/>
          <p:cNvSpPr>
            <a:spLocks noGrp="1" noChangeArrowheads="1"/>
          </p:cNvSpPr>
          <p:nvPr>
            <p:ph type="body" idx="1"/>
          </p:nvPr>
        </p:nvSpPr>
        <p:spPr>
          <a:xfrm>
            <a:off x="179388" y="692150"/>
            <a:ext cx="8713787" cy="5865813"/>
          </a:xfrm>
        </p:spPr>
        <p:txBody>
          <a:bodyPr/>
          <a:lstStyle/>
          <a:p>
            <a:pPr>
              <a:buFont typeface="Wingdings" pitchFamily="2" charset="2"/>
              <a:buNone/>
            </a:pPr>
            <a:r>
              <a:rPr lang="es-BO"/>
              <a:t>   La contaminación se produce por la falta de precaución y protección, para la manipulación de estos productos es necesario protegerse la nariz, boca, ojos, piel, al exponerse a estos es necesario bañarse con abundante agua y jabón, lavar la ropa utilizada.</a:t>
            </a:r>
            <a:endParaRPr lang="es-ES"/>
          </a:p>
        </p:txBody>
      </p:sp>
      <p:pic>
        <p:nvPicPr>
          <p:cNvPr id="24580" name="Picture 4" descr="PLAGUICIDAS"/>
          <p:cNvPicPr>
            <a:picLocks noChangeAspect="1" noChangeArrowheads="1"/>
          </p:cNvPicPr>
          <p:nvPr/>
        </p:nvPicPr>
        <p:blipFill>
          <a:blip r:embed="rId2"/>
          <a:srcRect/>
          <a:stretch>
            <a:fillRect/>
          </a:stretch>
        </p:blipFill>
        <p:spPr bwMode="auto">
          <a:xfrm>
            <a:off x="3348038" y="3644900"/>
            <a:ext cx="4248150" cy="2879725"/>
          </a:xfrm>
          <a:prstGeom prst="rect">
            <a:avLst/>
          </a:prstGeom>
          <a:noFill/>
          <a:ln w="9525">
            <a:noFill/>
            <a:miter lim="800000"/>
            <a:headEnd/>
            <a:tailEnd/>
          </a:ln>
        </p:spPr>
      </p:pic>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3"/>
          <p:cNvSpPr>
            <a:spLocks noGrp="1" noChangeArrowheads="1"/>
          </p:cNvSpPr>
          <p:nvPr>
            <p:ph type="body" idx="1"/>
          </p:nvPr>
        </p:nvSpPr>
        <p:spPr>
          <a:xfrm>
            <a:off x="250825" y="404813"/>
            <a:ext cx="8642350" cy="6192837"/>
          </a:xfrm>
        </p:spPr>
        <p:txBody>
          <a:bodyPr/>
          <a:lstStyle/>
          <a:p>
            <a:pPr>
              <a:buClr>
                <a:srgbClr val="99CC00"/>
              </a:buClr>
              <a:buFont typeface="Wingdings" pitchFamily="2" charset="2"/>
              <a:buChar char="§"/>
            </a:pPr>
            <a:r>
              <a:rPr lang="es-BO"/>
              <a:t>La forma indirecta de contaminarse que es la forma menos estudiada es el consumo de estos alimentos fumigados y los futuros vegetales que produzcan estas tierras por los residuos que quedan el plaguicida, las lluvias lavan estas tierras y es arrastra todo el producto a los ríos u otros terrenos donde contamina otras plantas y  animales a través de la cadena alimentaria.</a:t>
            </a:r>
            <a:endParaRPr lang="es-ES"/>
          </a:p>
        </p:txBody>
      </p:sp>
      <p:pic>
        <p:nvPicPr>
          <p:cNvPr id="25604" name="Picture 4" descr="FruitsVegs"/>
          <p:cNvPicPr>
            <a:picLocks noChangeAspect="1" noChangeArrowheads="1"/>
          </p:cNvPicPr>
          <p:nvPr/>
        </p:nvPicPr>
        <p:blipFill>
          <a:blip r:embed="rId2"/>
          <a:srcRect/>
          <a:stretch>
            <a:fillRect/>
          </a:stretch>
        </p:blipFill>
        <p:spPr bwMode="auto">
          <a:xfrm>
            <a:off x="6011863" y="4581525"/>
            <a:ext cx="2447925" cy="2016125"/>
          </a:xfrm>
          <a:prstGeom prst="rect">
            <a:avLst/>
          </a:prstGeom>
          <a:noFill/>
          <a:ln w="9525">
            <a:noFill/>
            <a:miter lim="800000"/>
            <a:headEnd/>
            <a:tailEnd/>
          </a:ln>
        </p:spPr>
      </p:pic>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3"/>
          <p:cNvSpPr>
            <a:spLocks noGrp="1" noChangeArrowheads="1"/>
          </p:cNvSpPr>
          <p:nvPr>
            <p:ph type="body" idx="1"/>
          </p:nvPr>
        </p:nvSpPr>
        <p:spPr>
          <a:xfrm>
            <a:off x="457200" y="404813"/>
            <a:ext cx="8229600" cy="6119812"/>
          </a:xfrm>
        </p:spPr>
        <p:txBody>
          <a:bodyPr/>
          <a:lstStyle/>
          <a:p>
            <a:pPr>
              <a:buFont typeface="Wingdings" pitchFamily="2" charset="2"/>
              <a:buNone/>
            </a:pPr>
            <a:r>
              <a:rPr lang="es-BO" sz="3600" b="1"/>
              <a:t>  </a:t>
            </a:r>
            <a:r>
              <a:rPr lang="es-BO" sz="3600" b="1">
                <a:solidFill>
                  <a:srgbClr val="FFFF00"/>
                </a:solidFill>
              </a:rPr>
              <a:t>Incidencia</a:t>
            </a:r>
            <a:r>
              <a:rPr lang="es-BO">
                <a:solidFill>
                  <a:srgbClr val="FFFF00"/>
                </a:solidFill>
              </a:rPr>
              <a:t>.</a:t>
            </a:r>
          </a:p>
          <a:p>
            <a:pPr>
              <a:buClr>
                <a:srgbClr val="99CC00"/>
              </a:buClr>
              <a:buFont typeface="Wingdings" pitchFamily="2" charset="2"/>
              <a:buChar char="§"/>
            </a:pPr>
            <a:r>
              <a:rPr lang="es-BO"/>
              <a:t>El uso de pesticidas y plaguicidas en áreas rurales tiene efectos nocivos en la salud reproductiva, principalmente en las mujeres embarazadas cuyos efectos de la intoxicación son irreversibles</a:t>
            </a:r>
            <a:r>
              <a:rPr lang="es-ES"/>
              <a:t>  </a:t>
            </a:r>
          </a:p>
        </p:txBody>
      </p:sp>
      <p:pic>
        <p:nvPicPr>
          <p:cNvPr id="26628" name="Picture 4" descr="embarazo2-full"/>
          <p:cNvPicPr>
            <a:picLocks noChangeAspect="1" noChangeArrowheads="1"/>
          </p:cNvPicPr>
          <p:nvPr/>
        </p:nvPicPr>
        <p:blipFill>
          <a:blip r:embed="rId2"/>
          <a:srcRect/>
          <a:stretch>
            <a:fillRect/>
          </a:stretch>
        </p:blipFill>
        <p:spPr bwMode="auto">
          <a:xfrm>
            <a:off x="5076825" y="3284538"/>
            <a:ext cx="2879725" cy="3024187"/>
          </a:xfrm>
          <a:prstGeom prst="rect">
            <a:avLst/>
          </a:prstGeom>
          <a:noFill/>
          <a:ln w="9525">
            <a:noFill/>
            <a:miter lim="800000"/>
            <a:headEnd/>
            <a:tailEnd/>
          </a:ln>
        </p:spPr>
      </p:pic>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3"/>
          <p:cNvSpPr>
            <a:spLocks noGrp="1" noChangeArrowheads="1"/>
          </p:cNvSpPr>
          <p:nvPr>
            <p:ph type="body" idx="1"/>
          </p:nvPr>
        </p:nvSpPr>
        <p:spPr>
          <a:xfrm>
            <a:off x="457200" y="476250"/>
            <a:ext cx="8229600" cy="6048375"/>
          </a:xfrm>
        </p:spPr>
        <p:txBody>
          <a:bodyPr/>
          <a:lstStyle/>
          <a:p>
            <a:pPr>
              <a:buFont typeface="Wingdings" pitchFamily="2" charset="2"/>
              <a:buNone/>
            </a:pPr>
            <a:r>
              <a:rPr lang="es-BO" sz="3600" b="1"/>
              <a:t>   </a:t>
            </a:r>
            <a:r>
              <a:rPr lang="es-BO" sz="3600" b="1">
                <a:solidFill>
                  <a:srgbClr val="FFFF00"/>
                </a:solidFill>
              </a:rPr>
              <a:t>Consecuencias:</a:t>
            </a:r>
          </a:p>
          <a:p>
            <a:pPr>
              <a:buClr>
                <a:srgbClr val="99CC00"/>
              </a:buClr>
              <a:buFont typeface="Wingdings" pitchFamily="2" charset="2"/>
              <a:buChar char="§"/>
            </a:pPr>
            <a:r>
              <a:rPr lang="es-BO"/>
              <a:t>Los efectos de la contaminación pueden ser inmediatos, o tardíos.</a:t>
            </a:r>
          </a:p>
          <a:p>
            <a:pPr>
              <a:buClr>
                <a:srgbClr val="99CC00"/>
              </a:buClr>
              <a:buFont typeface="Wingdings" pitchFamily="2" charset="2"/>
              <a:buChar char="§"/>
            </a:pPr>
            <a:r>
              <a:rPr lang="es-BO"/>
              <a:t>Los síntomas inmediatos pueden ser: cefalea, astenia, mareos, flictemas, nauseas, los sintomaza a largo plazo son más peligrosos.: cancerigenos, mutágenos, hepatotoxicos, nefrotoxicos, neurotoxicos</a:t>
            </a:r>
            <a:r>
              <a:rPr lang="es-ES"/>
              <a:t> </a:t>
            </a:r>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3"/>
          <p:cNvSpPr>
            <a:spLocks noGrp="1" noChangeArrowheads="1"/>
          </p:cNvSpPr>
          <p:nvPr>
            <p:ph type="body" idx="1"/>
          </p:nvPr>
        </p:nvSpPr>
        <p:spPr>
          <a:xfrm>
            <a:off x="457200" y="620713"/>
            <a:ext cx="8229600" cy="5505450"/>
          </a:xfrm>
        </p:spPr>
        <p:txBody>
          <a:bodyPr/>
          <a:lstStyle/>
          <a:p>
            <a:pPr>
              <a:buFont typeface="Wingdings" pitchFamily="2" charset="2"/>
              <a:buNone/>
            </a:pPr>
            <a:r>
              <a:rPr lang="es-BO"/>
              <a:t>   Cambios de conducta, daños neurológicos y reproductivos: esterilidad, infertilidad, abortos, mortinatos y anomalías congénitas como: anencefalia, hidrocefalia, mielomeningocele, cardiopatías, anomalías en el tracto urinario, ano imperforado, etc.</a:t>
            </a:r>
            <a:endParaRPr lang="es-ES"/>
          </a:p>
        </p:txBody>
      </p:sp>
      <p:pic>
        <p:nvPicPr>
          <p:cNvPr id="28676" name="Picture 4" descr="prenatal-f78"/>
          <p:cNvPicPr>
            <a:picLocks noChangeAspect="1" noChangeArrowheads="1"/>
          </p:cNvPicPr>
          <p:nvPr/>
        </p:nvPicPr>
        <p:blipFill>
          <a:blip r:embed="rId2"/>
          <a:srcRect/>
          <a:stretch>
            <a:fillRect/>
          </a:stretch>
        </p:blipFill>
        <p:spPr bwMode="auto">
          <a:xfrm>
            <a:off x="4787900" y="3573463"/>
            <a:ext cx="2879725" cy="2879725"/>
          </a:xfrm>
          <a:prstGeom prst="rect">
            <a:avLst/>
          </a:prstGeom>
          <a:noFill/>
          <a:ln w="9525">
            <a:noFill/>
            <a:miter lim="800000"/>
            <a:headEnd/>
            <a:tailEnd/>
          </a:ln>
        </p:spPr>
      </p:pic>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3"/>
          <p:cNvSpPr>
            <a:spLocks noGrp="1" noChangeArrowheads="1"/>
          </p:cNvSpPr>
          <p:nvPr>
            <p:ph type="body" idx="1"/>
          </p:nvPr>
        </p:nvSpPr>
        <p:spPr>
          <a:xfrm>
            <a:off x="457200" y="620713"/>
            <a:ext cx="8229600" cy="5903912"/>
          </a:xfrm>
        </p:spPr>
        <p:txBody>
          <a:bodyPr/>
          <a:lstStyle/>
          <a:p>
            <a:pPr>
              <a:buFont typeface="Wingdings" pitchFamily="2" charset="2"/>
              <a:buNone/>
            </a:pPr>
            <a:r>
              <a:rPr lang="es-BO" sz="3600" b="1"/>
              <a:t>  </a:t>
            </a:r>
            <a:r>
              <a:rPr lang="es-BO" sz="3600" b="1">
                <a:solidFill>
                  <a:srgbClr val="FFFF00"/>
                </a:solidFill>
              </a:rPr>
              <a:t>Como prevenir?</a:t>
            </a:r>
          </a:p>
          <a:p>
            <a:pPr>
              <a:buClr>
                <a:srgbClr val="99CC00"/>
              </a:buClr>
              <a:buFont typeface="Wingdings" pitchFamily="2" charset="2"/>
              <a:buChar char="§"/>
            </a:pPr>
            <a:r>
              <a:rPr lang="es-BO"/>
              <a:t>Evitar el uso de plaguicidas y contacto con ellos.</a:t>
            </a:r>
          </a:p>
          <a:p>
            <a:pPr>
              <a:buClr>
                <a:srgbClr val="99CC00"/>
              </a:buClr>
              <a:buFont typeface="Wingdings" pitchFamily="2" charset="2"/>
              <a:buChar char="§"/>
            </a:pPr>
            <a:endParaRPr lang="es-BO"/>
          </a:p>
          <a:p>
            <a:pPr>
              <a:buClr>
                <a:srgbClr val="99CC00"/>
              </a:buClr>
              <a:buFont typeface="Wingdings" pitchFamily="2" charset="2"/>
              <a:buChar char="§"/>
            </a:pPr>
            <a:endParaRPr lang="es-BO"/>
          </a:p>
          <a:p>
            <a:pPr>
              <a:buClr>
                <a:srgbClr val="99CC00"/>
              </a:buClr>
              <a:buFont typeface="Wingdings" pitchFamily="2" charset="2"/>
              <a:buChar char="§"/>
            </a:pPr>
            <a:r>
              <a:rPr lang="es-BO"/>
              <a:t>Uso de indumentaria protectora para fumigar.</a:t>
            </a:r>
          </a:p>
          <a:p>
            <a:pPr>
              <a:buClr>
                <a:srgbClr val="99CC00"/>
              </a:buClr>
              <a:buFont typeface="Wingdings" pitchFamily="2" charset="2"/>
              <a:buChar char="§"/>
            </a:pPr>
            <a:r>
              <a:rPr lang="es-BO"/>
              <a:t>Buena ventilación.</a:t>
            </a:r>
          </a:p>
          <a:p>
            <a:pPr>
              <a:buClr>
                <a:srgbClr val="99CC00"/>
              </a:buClr>
              <a:buFont typeface="Wingdings" pitchFamily="2" charset="2"/>
              <a:buNone/>
            </a:pPr>
            <a:endParaRPr lang="es-ES"/>
          </a:p>
        </p:txBody>
      </p:sp>
      <p:pic>
        <p:nvPicPr>
          <p:cNvPr id="29700" name="Picture 4" descr="fumigacion-servicio"/>
          <p:cNvPicPr>
            <a:picLocks noChangeAspect="1" noChangeArrowheads="1"/>
          </p:cNvPicPr>
          <p:nvPr/>
        </p:nvPicPr>
        <p:blipFill>
          <a:blip r:embed="rId2"/>
          <a:srcRect/>
          <a:stretch>
            <a:fillRect/>
          </a:stretch>
        </p:blipFill>
        <p:spPr bwMode="auto">
          <a:xfrm>
            <a:off x="4211638" y="4365625"/>
            <a:ext cx="2486025" cy="2082800"/>
          </a:xfrm>
          <a:prstGeom prst="rect">
            <a:avLst/>
          </a:prstGeom>
          <a:noFill/>
          <a:ln w="9525">
            <a:noFill/>
            <a:miter lim="800000"/>
            <a:headEnd/>
            <a:tailEnd/>
          </a:ln>
        </p:spPr>
      </p:pic>
      <p:pic>
        <p:nvPicPr>
          <p:cNvPr id="29701" name="Picture 5" descr="uaaaaaaaaaaa"/>
          <p:cNvPicPr>
            <a:picLocks noChangeAspect="1" noChangeArrowheads="1"/>
          </p:cNvPicPr>
          <p:nvPr/>
        </p:nvPicPr>
        <p:blipFill>
          <a:blip r:embed="rId3"/>
          <a:srcRect/>
          <a:stretch>
            <a:fillRect/>
          </a:stretch>
        </p:blipFill>
        <p:spPr bwMode="auto">
          <a:xfrm>
            <a:off x="4427538" y="1773238"/>
            <a:ext cx="1873250" cy="1727200"/>
          </a:xfrm>
          <a:prstGeom prst="rect">
            <a:avLst/>
          </a:prstGeom>
          <a:noFill/>
          <a:ln w="9525">
            <a:noFill/>
            <a:miter lim="800000"/>
            <a:headEnd/>
            <a:tailEnd/>
          </a:ln>
        </p:spPr>
      </p:pic>
      <p:sp>
        <p:nvSpPr>
          <p:cNvPr id="29702" name="Line 6"/>
          <p:cNvSpPr>
            <a:spLocks noChangeShapeType="1"/>
          </p:cNvSpPr>
          <p:nvPr/>
        </p:nvSpPr>
        <p:spPr bwMode="auto">
          <a:xfrm flipH="1">
            <a:off x="4067175" y="1700213"/>
            <a:ext cx="2449513" cy="2016125"/>
          </a:xfrm>
          <a:prstGeom prst="line">
            <a:avLst/>
          </a:prstGeom>
          <a:noFill/>
          <a:ln w="9525">
            <a:solidFill>
              <a:schemeClr val="tx1"/>
            </a:solidFill>
            <a:round/>
            <a:headEnd/>
            <a:tailEnd/>
          </a:ln>
          <a:effectLst/>
        </p:spPr>
        <p:txBody>
          <a:bodyPr/>
          <a:lstStyle/>
          <a:p>
            <a:endParaRPr lang="es-BO"/>
          </a:p>
        </p:txBody>
      </p:sp>
      <p:sp>
        <p:nvSpPr>
          <p:cNvPr id="29703" name="Line 7"/>
          <p:cNvSpPr>
            <a:spLocks noChangeShapeType="1"/>
          </p:cNvSpPr>
          <p:nvPr/>
        </p:nvSpPr>
        <p:spPr bwMode="auto">
          <a:xfrm>
            <a:off x="4284663" y="1773238"/>
            <a:ext cx="2447925" cy="1871662"/>
          </a:xfrm>
          <a:prstGeom prst="line">
            <a:avLst/>
          </a:prstGeom>
          <a:noFill/>
          <a:ln w="9525">
            <a:solidFill>
              <a:schemeClr val="tx1"/>
            </a:solidFill>
            <a:round/>
            <a:headEnd/>
            <a:tailEnd/>
          </a:ln>
          <a:effectLst/>
        </p:spPr>
        <p:txBody>
          <a:bodyPr/>
          <a:lstStyle/>
          <a:p>
            <a:endParaRPr lang="es-BO"/>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1" name="Rectangle 3"/>
          <p:cNvSpPr>
            <a:spLocks noGrp="1" noChangeArrowheads="1"/>
          </p:cNvSpPr>
          <p:nvPr>
            <p:ph type="body" idx="1"/>
          </p:nvPr>
        </p:nvSpPr>
        <p:spPr>
          <a:xfrm>
            <a:off x="457200" y="765175"/>
            <a:ext cx="8229600" cy="5365750"/>
          </a:xfrm>
        </p:spPr>
        <p:txBody>
          <a:bodyPr/>
          <a:lstStyle/>
          <a:p>
            <a:pPr>
              <a:buClr>
                <a:srgbClr val="99CC00"/>
              </a:buClr>
              <a:buFont typeface="Wingdings" pitchFamily="2" charset="2"/>
              <a:buChar char="§"/>
            </a:pPr>
            <a:r>
              <a:rPr lang="es-BO"/>
              <a:t>No comer durante la fumigación.</a:t>
            </a:r>
          </a:p>
          <a:p>
            <a:pPr>
              <a:buClr>
                <a:srgbClr val="99CC00"/>
              </a:buClr>
              <a:buFont typeface="Wingdings" pitchFamily="2" charset="2"/>
              <a:buChar char="§"/>
            </a:pPr>
            <a:endParaRPr lang="es-BO"/>
          </a:p>
          <a:p>
            <a:pPr>
              <a:buClr>
                <a:srgbClr val="99CC00"/>
              </a:buClr>
              <a:buFont typeface="Wingdings" pitchFamily="2" charset="2"/>
              <a:buChar char="§"/>
            </a:pPr>
            <a:r>
              <a:rPr lang="es-BO"/>
              <a:t>Lavado de manos inmediatamente después de contacto con plaguicidas </a:t>
            </a:r>
          </a:p>
          <a:p>
            <a:pPr>
              <a:buClr>
                <a:srgbClr val="99CC00"/>
              </a:buClr>
              <a:buFont typeface="Wingdings" pitchFamily="2" charset="2"/>
              <a:buChar char="§"/>
            </a:pPr>
            <a:endParaRPr lang="es-BO"/>
          </a:p>
          <a:p>
            <a:pPr>
              <a:buClr>
                <a:srgbClr val="99CC00"/>
              </a:buClr>
              <a:buFont typeface="Wingdings" pitchFamily="2" charset="2"/>
              <a:buChar char="§"/>
            </a:pPr>
            <a:r>
              <a:rPr lang="es-BO"/>
              <a:t>Tomar un baño después de fumigar.</a:t>
            </a:r>
            <a:endParaRPr lang="es-ES"/>
          </a:p>
          <a:p>
            <a:endParaRPr lang="es-ES"/>
          </a:p>
        </p:txBody>
      </p:sp>
      <p:pic>
        <p:nvPicPr>
          <p:cNvPr id="124932" name="Picture 4" descr="lavar-manos"/>
          <p:cNvPicPr>
            <a:picLocks noChangeAspect="1" noChangeArrowheads="1"/>
          </p:cNvPicPr>
          <p:nvPr/>
        </p:nvPicPr>
        <p:blipFill>
          <a:blip r:embed="rId2"/>
          <a:srcRect/>
          <a:stretch>
            <a:fillRect/>
          </a:stretch>
        </p:blipFill>
        <p:spPr bwMode="auto">
          <a:xfrm>
            <a:off x="6084888" y="2420938"/>
            <a:ext cx="1922462" cy="1368425"/>
          </a:xfrm>
          <a:prstGeom prst="rect">
            <a:avLst/>
          </a:prstGeom>
          <a:noFill/>
          <a:ln w="9525">
            <a:noFill/>
            <a:miter lim="800000"/>
            <a:headEnd/>
            <a:tailEnd/>
          </a:ln>
        </p:spPr>
      </p:pic>
      <p:pic>
        <p:nvPicPr>
          <p:cNvPr id="124933" name="Picture 5" descr="ducha"/>
          <p:cNvPicPr>
            <a:picLocks noChangeAspect="1" noChangeArrowheads="1"/>
          </p:cNvPicPr>
          <p:nvPr/>
        </p:nvPicPr>
        <p:blipFill>
          <a:blip r:embed="rId3"/>
          <a:srcRect/>
          <a:stretch>
            <a:fillRect/>
          </a:stretch>
        </p:blipFill>
        <p:spPr bwMode="auto">
          <a:xfrm>
            <a:off x="2411413" y="4437063"/>
            <a:ext cx="2089150" cy="1800225"/>
          </a:xfrm>
          <a:prstGeom prst="rect">
            <a:avLst/>
          </a:prstGeom>
          <a:noFill/>
          <a:ln w="9525">
            <a:noFill/>
            <a:miter lim="800000"/>
            <a:headEnd/>
            <a:tailEnd/>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Rectangle 3"/>
          <p:cNvSpPr>
            <a:spLocks noGrp="1" noChangeArrowheads="1"/>
          </p:cNvSpPr>
          <p:nvPr>
            <p:ph type="body" idx="1"/>
          </p:nvPr>
        </p:nvSpPr>
        <p:spPr>
          <a:xfrm>
            <a:off x="395288" y="260350"/>
            <a:ext cx="8435975" cy="6191250"/>
          </a:xfrm>
        </p:spPr>
        <p:txBody>
          <a:bodyPr/>
          <a:lstStyle/>
          <a:p>
            <a:pPr>
              <a:buClr>
                <a:srgbClr val="99CC00"/>
              </a:buClr>
              <a:buFont typeface="Wingdings" pitchFamily="2" charset="2"/>
              <a:buChar char="§"/>
            </a:pPr>
            <a:r>
              <a:rPr lang="es-BO"/>
              <a:t>Lavado por separado de la ropa con que se fumigado.</a:t>
            </a:r>
          </a:p>
          <a:p>
            <a:pPr>
              <a:buClr>
                <a:srgbClr val="99CC00"/>
              </a:buClr>
              <a:buFont typeface="Wingdings" pitchFamily="2" charset="2"/>
              <a:buChar char="§"/>
            </a:pPr>
            <a:endParaRPr lang="es-BO"/>
          </a:p>
          <a:p>
            <a:pPr>
              <a:buClr>
                <a:srgbClr val="99CC00"/>
              </a:buClr>
              <a:buFont typeface="Wingdings" pitchFamily="2" charset="2"/>
              <a:buChar char="§"/>
            </a:pPr>
            <a:r>
              <a:rPr lang="es-BO"/>
              <a:t>No guardar los plaguicidas con la comida o cerca de ella.</a:t>
            </a:r>
          </a:p>
          <a:p>
            <a:pPr>
              <a:buClr>
                <a:srgbClr val="99CC00"/>
              </a:buClr>
              <a:buFont typeface="Wingdings" pitchFamily="2" charset="2"/>
              <a:buChar char="§"/>
            </a:pPr>
            <a:endParaRPr lang="es-BO"/>
          </a:p>
          <a:p>
            <a:pPr>
              <a:buClr>
                <a:srgbClr val="99CC00"/>
              </a:buClr>
              <a:buFont typeface="Wingdings" pitchFamily="2" charset="2"/>
              <a:buChar char="§"/>
            </a:pPr>
            <a:r>
              <a:rPr lang="es-BO"/>
              <a:t>Leer atentamente la forma de manejo de los plaguicidas y seguirlas cuidadosamente.</a:t>
            </a:r>
          </a:p>
          <a:p>
            <a:pPr>
              <a:buClr>
                <a:srgbClr val="99CC00"/>
              </a:buClr>
              <a:buFont typeface="Wingdings" pitchFamily="2" charset="2"/>
              <a:buChar char="§"/>
            </a:pPr>
            <a:endParaRPr lang="es-BO"/>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5" name="Rectangle 3"/>
          <p:cNvSpPr>
            <a:spLocks noGrp="1" noChangeArrowheads="1"/>
          </p:cNvSpPr>
          <p:nvPr>
            <p:ph type="body" idx="1"/>
          </p:nvPr>
        </p:nvSpPr>
        <p:spPr>
          <a:xfrm>
            <a:off x="468313" y="620713"/>
            <a:ext cx="8229600" cy="5688012"/>
          </a:xfrm>
        </p:spPr>
        <p:txBody>
          <a:bodyPr/>
          <a:lstStyle/>
          <a:p>
            <a:pPr>
              <a:buClr>
                <a:srgbClr val="99CC00"/>
              </a:buClr>
              <a:buFont typeface="Wingdings" pitchFamily="2" charset="2"/>
              <a:buChar char="§"/>
            </a:pPr>
            <a:r>
              <a:rPr lang="es-BO"/>
              <a:t>Guardar los plaguicidas lejos de los niños. </a:t>
            </a:r>
          </a:p>
          <a:p>
            <a:pPr>
              <a:buClr>
                <a:srgbClr val="99CC00"/>
              </a:buClr>
              <a:buFont typeface="Wingdings" pitchFamily="2" charset="2"/>
              <a:buChar char="§"/>
            </a:pPr>
            <a:endParaRPr lang="es-BO"/>
          </a:p>
          <a:p>
            <a:pPr>
              <a:buClr>
                <a:srgbClr val="99CC00"/>
              </a:buClr>
              <a:buFont typeface="Wingdings" pitchFamily="2" charset="2"/>
              <a:buChar char="§"/>
            </a:pPr>
            <a:endParaRPr lang="es-BO"/>
          </a:p>
          <a:p>
            <a:pPr>
              <a:buClr>
                <a:srgbClr val="99CC00"/>
              </a:buClr>
              <a:buFont typeface="Wingdings" pitchFamily="2" charset="2"/>
              <a:buChar char="§"/>
            </a:pPr>
            <a:r>
              <a:rPr lang="es-BO"/>
              <a:t>Nunca guardar el resto de los plaguicidas en el interior de las viviendas y menos en envases de comestibles para evitar confusiones.</a:t>
            </a:r>
          </a:p>
          <a:p>
            <a:pPr>
              <a:buClr>
                <a:srgbClr val="99CC00"/>
              </a:buClr>
              <a:buFont typeface="Wingdings" pitchFamily="2" charset="2"/>
              <a:buChar char="§"/>
            </a:pPr>
            <a:endParaRPr lang="es-BO"/>
          </a:p>
          <a:p>
            <a:pPr>
              <a:buClr>
                <a:srgbClr val="99CC00"/>
              </a:buClr>
              <a:buFont typeface="Wingdings" pitchFamily="2" charset="2"/>
              <a:buChar char="§"/>
            </a:pPr>
            <a:r>
              <a:rPr lang="es-BO"/>
              <a:t>No reutilizar los envases de los plaguicidas, deben destruirse y enterrarse lejos de la casa.</a:t>
            </a:r>
            <a:endParaRPr lang="es-ES"/>
          </a:p>
          <a:p>
            <a:pPr>
              <a:buClr>
                <a:srgbClr val="99CC00"/>
              </a:buClr>
              <a:buFont typeface="Wingdings" pitchFamily="2" charset="2"/>
              <a:buChar char="§"/>
            </a:pPr>
            <a:endParaRPr lang="es-ES"/>
          </a:p>
        </p:txBody>
      </p:sp>
      <p:pic>
        <p:nvPicPr>
          <p:cNvPr id="125956" name="Picture 4" descr="bebe_intoxicaciones%255B1%255D"/>
          <p:cNvPicPr>
            <a:picLocks noChangeAspect="1" noChangeArrowheads="1"/>
          </p:cNvPicPr>
          <p:nvPr/>
        </p:nvPicPr>
        <p:blipFill>
          <a:blip r:embed="rId2"/>
          <a:srcRect/>
          <a:stretch>
            <a:fillRect/>
          </a:stretch>
        </p:blipFill>
        <p:spPr bwMode="auto">
          <a:xfrm>
            <a:off x="7308850" y="3429000"/>
            <a:ext cx="1295400" cy="1241425"/>
          </a:xfrm>
          <a:prstGeom prst="rect">
            <a:avLst/>
          </a:prstGeom>
          <a:noFill/>
          <a:ln w="9525">
            <a:noFill/>
            <a:miter lim="800000"/>
            <a:headEnd/>
            <a:tailEnd/>
          </a:ln>
        </p:spPr>
      </p:pic>
      <p:pic>
        <p:nvPicPr>
          <p:cNvPr id="125957" name="Picture 5" descr="vivir_intoxc1"/>
          <p:cNvPicPr>
            <a:picLocks noChangeAspect="1" noChangeArrowheads="1"/>
          </p:cNvPicPr>
          <p:nvPr/>
        </p:nvPicPr>
        <p:blipFill>
          <a:blip r:embed="rId3"/>
          <a:srcRect/>
          <a:stretch>
            <a:fillRect/>
          </a:stretch>
        </p:blipFill>
        <p:spPr bwMode="auto">
          <a:xfrm>
            <a:off x="3708400" y="1125538"/>
            <a:ext cx="1295400" cy="1295400"/>
          </a:xfrm>
          <a:prstGeom prst="rect">
            <a:avLst/>
          </a:prstGeom>
          <a:noFill/>
          <a:ln w="9525">
            <a:noFill/>
            <a:miter lim="800000"/>
            <a:headEnd/>
            <a:tailEnd/>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3"/>
          <p:cNvSpPr>
            <a:spLocks noGrp="1" noChangeArrowheads="1"/>
          </p:cNvSpPr>
          <p:nvPr>
            <p:ph type="body" idx="1"/>
          </p:nvPr>
        </p:nvSpPr>
        <p:spPr>
          <a:xfrm>
            <a:off x="457200" y="260350"/>
            <a:ext cx="8435975" cy="6337300"/>
          </a:xfrm>
        </p:spPr>
        <p:txBody>
          <a:bodyPr/>
          <a:lstStyle/>
          <a:p>
            <a:pPr>
              <a:buClr>
                <a:srgbClr val="99CC00"/>
              </a:buClr>
              <a:buFont typeface="Wingdings" pitchFamily="2" charset="2"/>
              <a:buChar char="§"/>
            </a:pPr>
            <a:r>
              <a:rPr lang="es-BO"/>
              <a:t>No quemar los envases de plaguicidas o aerosoles, porque además de explosivos los gases que emanan son altamente tóxicos.</a:t>
            </a:r>
          </a:p>
          <a:p>
            <a:pPr>
              <a:buClr>
                <a:srgbClr val="99CC00"/>
              </a:buClr>
              <a:buFont typeface="Wingdings" pitchFamily="2" charset="2"/>
              <a:buChar char="§"/>
            </a:pPr>
            <a:endParaRPr lang="es-BO"/>
          </a:p>
          <a:p>
            <a:pPr>
              <a:buClr>
                <a:srgbClr val="99CC00"/>
              </a:buClr>
              <a:buFont typeface="Wingdings" pitchFamily="2" charset="2"/>
              <a:buChar char="§"/>
            </a:pPr>
            <a:endParaRPr lang="es-BO"/>
          </a:p>
          <a:p>
            <a:pPr>
              <a:buClr>
                <a:srgbClr val="99CC00"/>
              </a:buClr>
              <a:buFont typeface="Wingdings" pitchFamily="2" charset="2"/>
              <a:buChar char="§"/>
            </a:pPr>
            <a:endParaRPr lang="es-BO"/>
          </a:p>
          <a:p>
            <a:pPr>
              <a:buClr>
                <a:srgbClr val="99CC00"/>
              </a:buClr>
              <a:buFont typeface="Wingdings" pitchFamily="2" charset="2"/>
              <a:buChar char="§"/>
            </a:pPr>
            <a:endParaRPr lang="es-BO"/>
          </a:p>
          <a:p>
            <a:pPr>
              <a:buClr>
                <a:srgbClr val="99CC00"/>
              </a:buClr>
              <a:buFont typeface="Wingdings" pitchFamily="2" charset="2"/>
              <a:buChar char="§"/>
            </a:pPr>
            <a:r>
              <a:rPr lang="es-BO"/>
              <a:t>Lavar los alimentos.</a:t>
            </a:r>
          </a:p>
        </p:txBody>
      </p:sp>
      <p:pic>
        <p:nvPicPr>
          <p:cNvPr id="31749" name="Picture 5" descr="FS592Fire"/>
          <p:cNvPicPr>
            <a:picLocks noChangeAspect="1" noChangeArrowheads="1"/>
          </p:cNvPicPr>
          <p:nvPr/>
        </p:nvPicPr>
        <p:blipFill>
          <a:blip r:embed="rId2"/>
          <a:srcRect/>
          <a:stretch>
            <a:fillRect/>
          </a:stretch>
        </p:blipFill>
        <p:spPr bwMode="auto">
          <a:xfrm>
            <a:off x="3348038" y="2133600"/>
            <a:ext cx="2160587" cy="1800225"/>
          </a:xfrm>
          <a:prstGeom prst="rect">
            <a:avLst/>
          </a:prstGeom>
          <a:noFill/>
          <a:ln w="9525">
            <a:noFill/>
            <a:miter lim="800000"/>
            <a:headEnd/>
            <a:tailEnd/>
          </a:ln>
        </p:spPr>
      </p:pic>
      <p:pic>
        <p:nvPicPr>
          <p:cNvPr id="31750" name="Picture 6" descr="lavado%2520alimentosThumbnail"/>
          <p:cNvPicPr>
            <a:picLocks noChangeAspect="1" noChangeArrowheads="1"/>
          </p:cNvPicPr>
          <p:nvPr/>
        </p:nvPicPr>
        <p:blipFill>
          <a:blip r:embed="rId3"/>
          <a:srcRect/>
          <a:stretch>
            <a:fillRect/>
          </a:stretch>
        </p:blipFill>
        <p:spPr bwMode="auto">
          <a:xfrm>
            <a:off x="3348038" y="4724400"/>
            <a:ext cx="2376487" cy="1584325"/>
          </a:xfrm>
          <a:prstGeom prst="rect">
            <a:avLst/>
          </a:prstGeom>
          <a:noFill/>
          <a:ln w="9525">
            <a:noFill/>
            <a:miter lim="800000"/>
            <a:headEnd/>
            <a:tailEnd/>
          </a:ln>
        </p:spPr>
      </p:pic>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9" name="Rectangle 3"/>
          <p:cNvSpPr>
            <a:spLocks noGrp="1" noChangeArrowheads="1"/>
          </p:cNvSpPr>
          <p:nvPr>
            <p:ph type="body" idx="1"/>
          </p:nvPr>
        </p:nvSpPr>
        <p:spPr>
          <a:xfrm>
            <a:off x="457200" y="476250"/>
            <a:ext cx="8229600" cy="5654675"/>
          </a:xfrm>
        </p:spPr>
        <p:txBody>
          <a:bodyPr/>
          <a:lstStyle/>
          <a:p>
            <a:pPr>
              <a:lnSpc>
                <a:spcPct val="90000"/>
              </a:lnSpc>
              <a:buClr>
                <a:srgbClr val="99CC00"/>
              </a:buClr>
              <a:buFont typeface="Wingdings" pitchFamily="2" charset="2"/>
              <a:buChar char="§"/>
            </a:pPr>
            <a:r>
              <a:rPr lang="es-BO"/>
              <a:t>Se recomienda el retiro de la cáscara.</a:t>
            </a:r>
          </a:p>
          <a:p>
            <a:pPr>
              <a:lnSpc>
                <a:spcPct val="90000"/>
              </a:lnSpc>
              <a:buClr>
                <a:srgbClr val="99CC00"/>
              </a:buClr>
              <a:buFont typeface="Wingdings" pitchFamily="2" charset="2"/>
              <a:buChar char="§"/>
            </a:pPr>
            <a:endParaRPr lang="es-BO"/>
          </a:p>
          <a:p>
            <a:pPr>
              <a:lnSpc>
                <a:spcPct val="90000"/>
              </a:lnSpc>
              <a:buClr>
                <a:srgbClr val="99CC00"/>
              </a:buClr>
              <a:buFont typeface="Wingdings" pitchFamily="2" charset="2"/>
              <a:buChar char="§"/>
            </a:pPr>
            <a:endParaRPr lang="es-BO"/>
          </a:p>
          <a:p>
            <a:pPr>
              <a:lnSpc>
                <a:spcPct val="90000"/>
              </a:lnSpc>
              <a:buClr>
                <a:srgbClr val="99CC00"/>
              </a:buClr>
              <a:buFont typeface="Wingdings" pitchFamily="2" charset="2"/>
              <a:buChar char="§"/>
            </a:pPr>
            <a:r>
              <a:rPr lang="es-BO"/>
              <a:t>No dar de comer a los animales plantas expuestas a los plaguicidas.</a:t>
            </a:r>
          </a:p>
          <a:p>
            <a:pPr>
              <a:lnSpc>
                <a:spcPct val="90000"/>
              </a:lnSpc>
              <a:buClr>
                <a:srgbClr val="99CC00"/>
              </a:buClr>
              <a:buFont typeface="Wingdings" pitchFamily="2" charset="2"/>
              <a:buChar char="§"/>
            </a:pPr>
            <a:endParaRPr lang="es-BO"/>
          </a:p>
          <a:p>
            <a:pPr>
              <a:lnSpc>
                <a:spcPct val="90000"/>
              </a:lnSpc>
              <a:buClr>
                <a:srgbClr val="99CC00"/>
              </a:buClr>
              <a:buFont typeface="Wingdings" pitchFamily="2" charset="2"/>
              <a:buChar char="§"/>
            </a:pPr>
            <a:r>
              <a:rPr lang="es-BO"/>
              <a:t>Si hay intoxicación con plaguicidas buscar ayuda medica inmediata, informar al medico con exactitud el plaguicida causante de la intoxicación; buscar y observar las indicaciones para ayudar al intoxicado.</a:t>
            </a:r>
            <a:endParaRPr lang="es-ES"/>
          </a:p>
          <a:p>
            <a:pPr>
              <a:lnSpc>
                <a:spcPct val="90000"/>
              </a:lnSpc>
            </a:pPr>
            <a:endParaRPr lang="es-ES"/>
          </a:p>
        </p:txBody>
      </p:sp>
      <p:pic>
        <p:nvPicPr>
          <p:cNvPr id="126980" name="Picture 4" descr="zzz1111"/>
          <p:cNvPicPr>
            <a:picLocks noChangeAspect="1" noChangeArrowheads="1"/>
          </p:cNvPicPr>
          <p:nvPr/>
        </p:nvPicPr>
        <p:blipFill>
          <a:blip r:embed="rId2"/>
          <a:srcRect/>
          <a:stretch>
            <a:fillRect/>
          </a:stretch>
        </p:blipFill>
        <p:spPr bwMode="auto">
          <a:xfrm>
            <a:off x="3563938" y="981075"/>
            <a:ext cx="1871662" cy="1079500"/>
          </a:xfrm>
          <a:prstGeom prst="rect">
            <a:avLst/>
          </a:prstGeom>
          <a:noFill/>
          <a:ln w="9525">
            <a:noFill/>
            <a:miter lim="800000"/>
            <a:headEnd/>
            <a:tailEnd/>
          </a:ln>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r>
              <a:rPr lang="es-BO" b="0">
                <a:solidFill>
                  <a:srgbClr val="FFFF00"/>
                </a:solidFill>
              </a:rPr>
              <a:t>OTRAS SUSTANCIAS</a:t>
            </a:r>
            <a:endParaRPr lang="es-ES" b="0">
              <a:solidFill>
                <a:srgbClr val="FFFF00"/>
              </a:solidFill>
            </a:endParaRPr>
          </a:p>
        </p:txBody>
      </p:sp>
      <p:sp>
        <p:nvSpPr>
          <p:cNvPr id="32771" name="Rectangle 3"/>
          <p:cNvSpPr>
            <a:spLocks noGrp="1" noChangeArrowheads="1"/>
          </p:cNvSpPr>
          <p:nvPr>
            <p:ph type="body" idx="1"/>
          </p:nvPr>
        </p:nvSpPr>
        <p:spPr>
          <a:xfrm>
            <a:off x="457200" y="1125538"/>
            <a:ext cx="8229600" cy="5005387"/>
          </a:xfrm>
        </p:spPr>
        <p:txBody>
          <a:bodyPr/>
          <a:lstStyle/>
          <a:p>
            <a:pPr>
              <a:buClr>
                <a:srgbClr val="99CC00"/>
              </a:buClr>
              <a:buFont typeface="Wingdings" pitchFamily="2" charset="2"/>
              <a:buChar char="§"/>
            </a:pPr>
            <a:r>
              <a:rPr lang="es-BO"/>
              <a:t>Artículos personales como fragancia, fijadores de pelo, tintes, oxigentas, quita esmalte, etc.</a:t>
            </a:r>
          </a:p>
          <a:p>
            <a:pPr>
              <a:buClr>
                <a:srgbClr val="99CC00"/>
              </a:buClr>
              <a:buFont typeface="Wingdings" pitchFamily="2" charset="2"/>
              <a:buChar char="§"/>
            </a:pPr>
            <a:endParaRPr lang="es-BO"/>
          </a:p>
          <a:p>
            <a:pPr>
              <a:buClr>
                <a:srgbClr val="99CC00"/>
              </a:buClr>
              <a:buFont typeface="Wingdings" pitchFamily="2" charset="2"/>
              <a:buChar char="§"/>
            </a:pPr>
            <a:endParaRPr lang="es-BO"/>
          </a:p>
          <a:p>
            <a:pPr>
              <a:buClr>
                <a:srgbClr val="99CC00"/>
              </a:buClr>
              <a:buFont typeface="Wingdings" pitchFamily="2" charset="2"/>
              <a:buChar char="§"/>
            </a:pPr>
            <a:r>
              <a:rPr lang="es-BO"/>
              <a:t>Productos utilizados en la limpieza del hogar, como limpiadora de alfombras, hornos, pinturas y laqueadotes, desinfectantes, etc .</a:t>
            </a:r>
          </a:p>
        </p:txBody>
      </p:sp>
      <p:pic>
        <p:nvPicPr>
          <p:cNvPr id="32772" name="Picture 4" descr="olimpo_multi_limpiador_grd"/>
          <p:cNvPicPr>
            <a:picLocks noChangeAspect="1" noChangeArrowheads="1"/>
          </p:cNvPicPr>
          <p:nvPr/>
        </p:nvPicPr>
        <p:blipFill>
          <a:blip r:embed="rId2"/>
          <a:srcRect/>
          <a:stretch>
            <a:fillRect/>
          </a:stretch>
        </p:blipFill>
        <p:spPr bwMode="auto">
          <a:xfrm>
            <a:off x="3563938" y="4868863"/>
            <a:ext cx="2447925" cy="1655762"/>
          </a:xfrm>
          <a:prstGeom prst="rect">
            <a:avLst/>
          </a:prstGeom>
          <a:solidFill>
            <a:schemeClr val="accent1"/>
          </a:solidFill>
          <a:ln w="9525">
            <a:noFill/>
            <a:miter lim="800000"/>
            <a:headEnd/>
            <a:tailEnd/>
          </a:ln>
        </p:spPr>
      </p:pic>
      <p:pic>
        <p:nvPicPr>
          <p:cNvPr id="32773" name="Picture 5" descr="lipstick"/>
          <p:cNvPicPr>
            <a:picLocks noChangeAspect="1" noChangeArrowheads="1"/>
          </p:cNvPicPr>
          <p:nvPr/>
        </p:nvPicPr>
        <p:blipFill>
          <a:blip r:embed="rId3"/>
          <a:srcRect/>
          <a:stretch>
            <a:fillRect/>
          </a:stretch>
        </p:blipFill>
        <p:spPr bwMode="auto">
          <a:xfrm>
            <a:off x="5292725" y="2133600"/>
            <a:ext cx="1079500" cy="1333500"/>
          </a:xfrm>
          <a:prstGeom prst="rect">
            <a:avLst/>
          </a:prstGeom>
          <a:noFill/>
          <a:ln w="9525">
            <a:noFill/>
            <a:miter lim="800000"/>
            <a:headEnd/>
            <a:tailEnd/>
          </a:ln>
        </p:spPr>
      </p:pic>
      <p:pic>
        <p:nvPicPr>
          <p:cNvPr id="32774" name="Picture 6" descr="Perfum_alcoholica"/>
          <p:cNvPicPr>
            <a:picLocks noChangeAspect="1" noChangeArrowheads="1"/>
          </p:cNvPicPr>
          <p:nvPr/>
        </p:nvPicPr>
        <p:blipFill>
          <a:blip r:embed="rId4"/>
          <a:srcRect/>
          <a:stretch>
            <a:fillRect/>
          </a:stretch>
        </p:blipFill>
        <p:spPr bwMode="auto">
          <a:xfrm>
            <a:off x="2484438" y="2133600"/>
            <a:ext cx="1439862" cy="1366838"/>
          </a:xfrm>
          <a:prstGeom prst="rect">
            <a:avLst/>
          </a:prstGeom>
          <a:noFill/>
          <a:ln w="9525">
            <a:noFill/>
            <a:miter lim="800000"/>
            <a:headEnd/>
            <a:tailEnd/>
          </a:ln>
        </p:spPr>
      </p:pic>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7" name="Rectangle 3"/>
          <p:cNvSpPr>
            <a:spLocks noGrp="1" noChangeArrowheads="1"/>
          </p:cNvSpPr>
          <p:nvPr>
            <p:ph type="body" idx="1"/>
          </p:nvPr>
        </p:nvSpPr>
        <p:spPr/>
        <p:txBody>
          <a:bodyPr/>
          <a:lstStyle/>
          <a:p>
            <a:pPr>
              <a:buClr>
                <a:srgbClr val="99CC00"/>
              </a:buClr>
              <a:buFont typeface="Wingdings" pitchFamily="2" charset="2"/>
              <a:buChar char="§"/>
            </a:pPr>
            <a:r>
              <a:rPr lang="es-BO"/>
              <a:t>Los síntomas producidos a la exposición excesiva de estos productos producen irritación de los ojos. Rinitis, epistaxis, cefales, nauseas, vómitos, dificultad respiratoria.</a:t>
            </a:r>
          </a:p>
          <a:p>
            <a:pPr>
              <a:buClr>
                <a:srgbClr val="99CC00"/>
              </a:buClr>
              <a:buFont typeface="Wingdings" pitchFamily="2" charset="2"/>
              <a:buChar char="§"/>
            </a:pPr>
            <a:r>
              <a:rPr lang="es-BO"/>
              <a:t>Informarnos de medidas preventivas para su uso seguro. </a:t>
            </a:r>
            <a:endParaRPr lang="es-ES"/>
          </a:p>
          <a:p>
            <a:endParaRPr lang="es-ES"/>
          </a:p>
        </p:txBody>
      </p:sp>
      <p:pic>
        <p:nvPicPr>
          <p:cNvPr id="129028" name="Picture 4" descr="vomitos"/>
          <p:cNvPicPr>
            <a:picLocks noChangeAspect="1" noChangeArrowheads="1"/>
          </p:cNvPicPr>
          <p:nvPr/>
        </p:nvPicPr>
        <p:blipFill>
          <a:blip r:embed="rId2"/>
          <a:srcRect/>
          <a:stretch>
            <a:fillRect/>
          </a:stretch>
        </p:blipFill>
        <p:spPr bwMode="auto">
          <a:xfrm>
            <a:off x="1258888" y="5013325"/>
            <a:ext cx="1541462" cy="1295400"/>
          </a:xfrm>
          <a:prstGeom prst="rect">
            <a:avLst/>
          </a:prstGeom>
          <a:noFill/>
          <a:ln w="9525">
            <a:noFill/>
            <a:miter lim="800000"/>
            <a:headEnd/>
            <a:tailEnd/>
          </a:ln>
        </p:spPr>
      </p:pic>
      <p:pic>
        <p:nvPicPr>
          <p:cNvPr id="129029" name="Picture 5" descr="2008032622cefaleaDentro_20080327"/>
          <p:cNvPicPr>
            <a:picLocks noChangeAspect="1" noChangeArrowheads="1"/>
          </p:cNvPicPr>
          <p:nvPr/>
        </p:nvPicPr>
        <p:blipFill>
          <a:blip r:embed="rId3"/>
          <a:srcRect/>
          <a:stretch>
            <a:fillRect/>
          </a:stretch>
        </p:blipFill>
        <p:spPr bwMode="auto">
          <a:xfrm>
            <a:off x="6588125" y="404813"/>
            <a:ext cx="1609725" cy="1143000"/>
          </a:xfrm>
          <a:prstGeom prst="rect">
            <a:avLst/>
          </a:prstGeom>
          <a:noFill/>
          <a:ln w="9525">
            <a:noFill/>
            <a:miter lim="800000"/>
            <a:headEnd/>
            <a:tailEnd/>
          </a:ln>
        </p:spPr>
      </p:pic>
      <p:pic>
        <p:nvPicPr>
          <p:cNvPr id="129030" name="Picture 6" descr="cefalea"/>
          <p:cNvPicPr>
            <a:picLocks noChangeAspect="1" noChangeArrowheads="1"/>
          </p:cNvPicPr>
          <p:nvPr/>
        </p:nvPicPr>
        <p:blipFill>
          <a:blip r:embed="rId4"/>
          <a:srcRect/>
          <a:stretch>
            <a:fillRect/>
          </a:stretch>
        </p:blipFill>
        <p:spPr bwMode="auto">
          <a:xfrm>
            <a:off x="971550" y="404813"/>
            <a:ext cx="1368425" cy="1223962"/>
          </a:xfrm>
          <a:prstGeom prst="rect">
            <a:avLst/>
          </a:prstGeom>
          <a:noFill/>
          <a:ln w="9525">
            <a:noFill/>
            <a:miter lim="800000"/>
            <a:headEnd/>
            <a:tailEnd/>
          </a:ln>
        </p:spPr>
      </p:pic>
      <p:pic>
        <p:nvPicPr>
          <p:cNvPr id="129031" name="Picture 7" descr="diarreaviajero-NTnva"/>
          <p:cNvPicPr>
            <a:picLocks noChangeAspect="1" noChangeArrowheads="1"/>
          </p:cNvPicPr>
          <p:nvPr/>
        </p:nvPicPr>
        <p:blipFill>
          <a:blip r:embed="rId5"/>
          <a:srcRect/>
          <a:stretch>
            <a:fillRect/>
          </a:stretch>
        </p:blipFill>
        <p:spPr bwMode="auto">
          <a:xfrm>
            <a:off x="3995738" y="4941888"/>
            <a:ext cx="1800225" cy="1366837"/>
          </a:xfrm>
          <a:prstGeom prst="rect">
            <a:avLst/>
          </a:prstGeom>
          <a:noFill/>
          <a:ln w="9525">
            <a:noFill/>
            <a:miter lim="800000"/>
            <a:headEnd/>
            <a:tailEnd/>
          </a:ln>
        </p:spPr>
      </p:pic>
      <p:pic>
        <p:nvPicPr>
          <p:cNvPr id="129032" name="Picture 8" descr="ojo%2Brojo"/>
          <p:cNvPicPr>
            <a:picLocks noChangeAspect="1" noChangeArrowheads="1"/>
          </p:cNvPicPr>
          <p:nvPr/>
        </p:nvPicPr>
        <p:blipFill>
          <a:blip r:embed="rId6"/>
          <a:srcRect/>
          <a:stretch>
            <a:fillRect/>
          </a:stretch>
        </p:blipFill>
        <p:spPr bwMode="auto">
          <a:xfrm>
            <a:off x="3779838" y="404813"/>
            <a:ext cx="1944687" cy="1152525"/>
          </a:xfrm>
          <a:prstGeom prst="rect">
            <a:avLst/>
          </a:prstGeom>
          <a:noFill/>
          <a:ln w="9525">
            <a:noFill/>
            <a:miter lim="800000"/>
            <a:headEnd/>
            <a:tailEnd/>
          </a:ln>
        </p:spPr>
      </p:pic>
      <p:pic>
        <p:nvPicPr>
          <p:cNvPr id="129033" name="Picture 9" descr="convulsiones_370x270"/>
          <p:cNvPicPr>
            <a:picLocks noChangeAspect="1" noChangeArrowheads="1"/>
          </p:cNvPicPr>
          <p:nvPr/>
        </p:nvPicPr>
        <p:blipFill>
          <a:blip r:embed="rId7"/>
          <a:srcRect/>
          <a:stretch>
            <a:fillRect/>
          </a:stretch>
        </p:blipFill>
        <p:spPr bwMode="auto">
          <a:xfrm>
            <a:off x="6659563" y="4868863"/>
            <a:ext cx="1871662" cy="1439862"/>
          </a:xfrm>
          <a:prstGeom prst="rect">
            <a:avLst/>
          </a:prstGeom>
          <a:noFill/>
          <a:ln w="9525">
            <a:noFill/>
            <a:miter lim="800000"/>
            <a:headEnd/>
            <a:tailEnd/>
          </a:ln>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p:txBody>
          <a:bodyPr/>
          <a:lstStyle/>
          <a:p>
            <a:r>
              <a:rPr lang="es-BO" dirty="0" smtClean="0">
                <a:solidFill>
                  <a:srgbClr val="FFFF00"/>
                </a:solidFill>
              </a:rPr>
              <a:t>TOXICOS LABORALES</a:t>
            </a:r>
            <a:endParaRPr lang="es-BO" dirty="0">
              <a:solidFill>
                <a:srgbClr val="FFFF00"/>
              </a:solidFill>
            </a:endParaRPr>
          </a:p>
        </p:txBody>
      </p:sp>
      <p:pic>
        <p:nvPicPr>
          <p:cNvPr id="1026" name="Picture 2" descr="C:\Users\Lilian\Pictures\para expo\3.bmp"/>
          <p:cNvPicPr>
            <a:picLocks noChangeAspect="1" noChangeArrowheads="1"/>
          </p:cNvPicPr>
          <p:nvPr/>
        </p:nvPicPr>
        <p:blipFill>
          <a:blip r:embed="rId2"/>
          <a:srcRect/>
          <a:stretch>
            <a:fillRect/>
          </a:stretch>
        </p:blipFill>
        <p:spPr bwMode="auto">
          <a:xfrm>
            <a:off x="3571868" y="3286124"/>
            <a:ext cx="2857520" cy="2857520"/>
          </a:xfrm>
          <a:prstGeom prst="rect">
            <a:avLst/>
          </a:prstGeom>
          <a:noFill/>
        </p:spPr>
      </p:pic>
    </p:spTree>
  </p:cSld>
  <p:clrMapOvr>
    <a:masterClrMapping/>
  </p:clrMapOvr>
  <p:transition>
    <p:dissolv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pPr algn="ctr"/>
            <a:r>
              <a:rPr lang="es-BO" dirty="0" smtClean="0">
                <a:solidFill>
                  <a:srgbClr val="FFFF00"/>
                </a:solidFill>
              </a:rPr>
              <a:t>EXPOSICION A LAS DIOXINAS Y FURANOS</a:t>
            </a:r>
            <a:endParaRPr lang="es-BO" dirty="0">
              <a:solidFill>
                <a:srgbClr val="FFFF00"/>
              </a:solidFill>
            </a:endParaRPr>
          </a:p>
        </p:txBody>
      </p:sp>
      <p:sp>
        <p:nvSpPr>
          <p:cNvPr id="3" name="2 Marcador de contenido"/>
          <p:cNvSpPr>
            <a:spLocks noGrp="1"/>
          </p:cNvSpPr>
          <p:nvPr>
            <p:ph idx="1"/>
          </p:nvPr>
        </p:nvSpPr>
        <p:spPr/>
        <p:txBody>
          <a:bodyPr/>
          <a:lstStyle/>
          <a:p>
            <a:r>
              <a:rPr lang="es-BO" dirty="0" smtClean="0"/>
              <a:t>Características.- se forman de manera espontanea, como subproductos de procesos industriales. Son de lata toxicidad.</a:t>
            </a:r>
          </a:p>
          <a:p>
            <a:r>
              <a:rPr lang="es-BO" dirty="0" smtClean="0"/>
              <a:t>Incidencia.- la principal es mediante alimentos contaminados, así mismo la exposición a dioxinas, industrias que producen compuestos clorados.</a:t>
            </a:r>
          </a:p>
          <a:p>
            <a:endParaRPr lang="es-BO" dirty="0" smtClean="0"/>
          </a:p>
          <a:p>
            <a:endParaRPr lang="es-BO" dirty="0"/>
          </a:p>
        </p:txBody>
      </p:sp>
    </p:spTree>
  </p:cSld>
  <p:clrMapOvr>
    <a:masterClrMapping/>
  </p:clrMapOvr>
  <p:transition>
    <p:dissolv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BO" dirty="0" smtClean="0">
                <a:solidFill>
                  <a:srgbClr val="FFFF00"/>
                </a:solidFill>
              </a:rPr>
              <a:t>Exposición a dioxinas y furanos.</a:t>
            </a:r>
            <a:endParaRPr lang="es-BO" dirty="0">
              <a:solidFill>
                <a:srgbClr val="FFFF00"/>
              </a:solidFill>
            </a:endParaRPr>
          </a:p>
        </p:txBody>
      </p:sp>
      <p:sp>
        <p:nvSpPr>
          <p:cNvPr id="3" name="2 Marcador de contenido"/>
          <p:cNvSpPr>
            <a:spLocks noGrp="1"/>
          </p:cNvSpPr>
          <p:nvPr>
            <p:ph idx="1"/>
          </p:nvPr>
        </p:nvSpPr>
        <p:spPr/>
        <p:txBody>
          <a:bodyPr/>
          <a:lstStyle/>
          <a:p>
            <a:r>
              <a:rPr lang="es-BO" dirty="0" smtClean="0"/>
              <a:t>Consecuencias.- son extremadamente tóxicos, activos dosis muy pequeñas. Permanecen en el agua y el aire durante muchos años. Bioacumulables en tejidos grasos.</a:t>
            </a:r>
          </a:p>
          <a:p>
            <a:r>
              <a:rPr lang="es-BO" dirty="0" smtClean="0"/>
              <a:t>Prevención.- exposición del ambiente de las personas cumpliendo normas y manejo de las mismas</a:t>
            </a:r>
          </a:p>
          <a:p>
            <a:endParaRPr lang="es-BO" dirty="0"/>
          </a:p>
        </p:txBody>
      </p:sp>
    </p:spTree>
  </p:cSld>
  <p:clrMapOvr>
    <a:masterClrMapping/>
  </p:clrMapOvr>
  <p:transition>
    <p:dissolv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BO" dirty="0" smtClean="0">
                <a:solidFill>
                  <a:srgbClr val="FFFF00"/>
                </a:solidFill>
              </a:rPr>
              <a:t>Políticas de prevención :</a:t>
            </a:r>
            <a:endParaRPr lang="es-BO" dirty="0">
              <a:solidFill>
                <a:srgbClr val="FFFF00"/>
              </a:solidFill>
            </a:endParaRPr>
          </a:p>
        </p:txBody>
      </p:sp>
      <p:pic>
        <p:nvPicPr>
          <p:cNvPr id="5" name="4 Imagen" descr="images.jpg"/>
          <p:cNvPicPr>
            <a:picLocks noChangeAspect="1"/>
          </p:cNvPicPr>
          <p:nvPr/>
        </p:nvPicPr>
        <p:blipFill>
          <a:blip r:embed="rId2"/>
          <a:stretch>
            <a:fillRect/>
          </a:stretch>
        </p:blipFill>
        <p:spPr>
          <a:xfrm>
            <a:off x="3890962" y="2971800"/>
            <a:ext cx="4724726" cy="3171844"/>
          </a:xfrm>
          <a:prstGeom prst="rect">
            <a:avLst/>
          </a:prstGeom>
        </p:spPr>
      </p:pic>
      <p:sp>
        <p:nvSpPr>
          <p:cNvPr id="3" name="2 Marcador de contenido"/>
          <p:cNvSpPr>
            <a:spLocks noGrp="1"/>
          </p:cNvSpPr>
          <p:nvPr>
            <p:ph idx="1"/>
          </p:nvPr>
        </p:nvSpPr>
        <p:spPr/>
        <p:txBody>
          <a:bodyPr/>
          <a:lstStyle/>
          <a:p>
            <a:r>
              <a:rPr lang="es-BO" dirty="0" smtClean="0"/>
              <a:t>Sustitución del cloro por otros solventes acuosos</a:t>
            </a:r>
          </a:p>
          <a:p>
            <a:r>
              <a:rPr lang="es-BO" dirty="0" smtClean="0"/>
              <a:t>Incrementar la demanda de papel no blanqueado.  </a:t>
            </a:r>
          </a:p>
          <a:p>
            <a:r>
              <a:rPr lang="es-BO" dirty="0" smtClean="0"/>
              <a:t>Prohibir la incineración de productos domésticos. Hospitalarios u otros como plaguicidas</a:t>
            </a:r>
          </a:p>
          <a:p>
            <a:r>
              <a:rPr lang="es-BO" dirty="0" smtClean="0"/>
              <a:t>Promover la separación y reducción de plásticos como </a:t>
            </a:r>
            <a:r>
              <a:rPr lang="es-BO" dirty="0" err="1" smtClean="0"/>
              <a:t>Pvc.</a:t>
            </a:r>
            <a:endParaRPr lang="es-BO" dirty="0" smtClean="0"/>
          </a:p>
          <a:p>
            <a:r>
              <a:rPr lang="es-BO" dirty="0" smtClean="0"/>
              <a:t>Desarrollar formas de control ecológico.</a:t>
            </a:r>
          </a:p>
          <a:p>
            <a:endParaRPr lang="es-BO" dirty="0"/>
          </a:p>
        </p:txBody>
      </p:sp>
    </p:spTree>
  </p:cSld>
  <p:clrMapOvr>
    <a:masterClrMapping/>
  </p:clrMapOvr>
  <p:transition>
    <p:dissolv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BO" dirty="0" smtClean="0">
                <a:solidFill>
                  <a:srgbClr val="FFFF00"/>
                </a:solidFill>
              </a:rPr>
              <a:t>Ejemplos </a:t>
            </a:r>
            <a:endParaRPr lang="es-BO" dirty="0">
              <a:solidFill>
                <a:srgbClr val="FFFF00"/>
              </a:solidFill>
            </a:endParaRPr>
          </a:p>
        </p:txBody>
      </p:sp>
      <p:sp>
        <p:nvSpPr>
          <p:cNvPr id="3" name="2 Marcador de texto"/>
          <p:cNvSpPr>
            <a:spLocks noGrp="1"/>
          </p:cNvSpPr>
          <p:nvPr>
            <p:ph type="body" idx="1"/>
          </p:nvPr>
        </p:nvSpPr>
        <p:spPr/>
        <p:txBody>
          <a:bodyPr/>
          <a:lstStyle/>
          <a:p>
            <a:r>
              <a:rPr lang="es-BO" dirty="0" smtClean="0"/>
              <a:t>Sustancia </a:t>
            </a:r>
            <a:endParaRPr lang="es-BO" dirty="0"/>
          </a:p>
        </p:txBody>
      </p:sp>
      <p:sp>
        <p:nvSpPr>
          <p:cNvPr id="5" name="4 Marcador de texto"/>
          <p:cNvSpPr>
            <a:spLocks noGrp="1"/>
          </p:cNvSpPr>
          <p:nvPr>
            <p:ph type="body" sz="half" idx="3"/>
          </p:nvPr>
        </p:nvSpPr>
        <p:spPr/>
        <p:txBody>
          <a:bodyPr/>
          <a:lstStyle/>
          <a:p>
            <a:r>
              <a:rPr lang="es-BO" dirty="0" smtClean="0"/>
              <a:t>Efectos </a:t>
            </a:r>
            <a:r>
              <a:rPr lang="es-BO" dirty="0" err="1" smtClean="0"/>
              <a:t>teratogenicos</a:t>
            </a:r>
            <a:endParaRPr lang="es-BO" dirty="0"/>
          </a:p>
        </p:txBody>
      </p:sp>
      <p:sp>
        <p:nvSpPr>
          <p:cNvPr id="4" name="3 Marcador de contenido"/>
          <p:cNvSpPr>
            <a:spLocks noGrp="1"/>
          </p:cNvSpPr>
          <p:nvPr>
            <p:ph sz="quarter" idx="2"/>
          </p:nvPr>
        </p:nvSpPr>
        <p:spPr/>
        <p:txBody>
          <a:bodyPr/>
          <a:lstStyle/>
          <a:p>
            <a:pPr marL="457200" indent="-457200">
              <a:buAutoNum type="arabicPeriod"/>
            </a:pPr>
            <a:r>
              <a:rPr lang="es-BO" dirty="0" err="1" smtClean="0"/>
              <a:t>Arsenico</a:t>
            </a:r>
            <a:r>
              <a:rPr lang="es-BO" dirty="0" smtClean="0"/>
              <a:t> </a:t>
            </a:r>
          </a:p>
          <a:p>
            <a:pPr marL="457200" indent="-457200">
              <a:buAutoNum type="arabicPeriod"/>
            </a:pPr>
            <a:r>
              <a:rPr lang="es-BO" dirty="0" smtClean="0"/>
              <a:t> xileno </a:t>
            </a:r>
          </a:p>
          <a:p>
            <a:pPr marL="457200" indent="-457200">
              <a:buAutoNum type="arabicPeriod"/>
            </a:pPr>
            <a:r>
              <a:rPr lang="es-BO" dirty="0" smtClean="0"/>
              <a:t> </a:t>
            </a:r>
            <a:r>
              <a:rPr lang="es-BO" dirty="0" err="1" smtClean="0"/>
              <a:t>estireno</a:t>
            </a:r>
            <a:r>
              <a:rPr lang="es-BO" dirty="0" smtClean="0"/>
              <a:t> </a:t>
            </a:r>
          </a:p>
          <a:p>
            <a:pPr marL="457200" indent="-457200">
              <a:buAutoNum type="arabicPeriod"/>
            </a:pPr>
            <a:r>
              <a:rPr lang="es-BO" dirty="0"/>
              <a:t> </a:t>
            </a:r>
            <a:r>
              <a:rPr lang="es-BO" dirty="0" err="1" smtClean="0"/>
              <a:t>etilbenceno</a:t>
            </a:r>
            <a:endParaRPr lang="es-BO" dirty="0" smtClean="0"/>
          </a:p>
          <a:p>
            <a:pPr marL="457200" indent="-457200">
              <a:buAutoNum type="arabicPeriod"/>
            </a:pPr>
            <a:r>
              <a:rPr lang="es-BO" dirty="0"/>
              <a:t> </a:t>
            </a:r>
            <a:r>
              <a:rPr lang="es-BO" dirty="0" err="1" smtClean="0"/>
              <a:t>toluenoxido</a:t>
            </a:r>
            <a:r>
              <a:rPr lang="es-BO" dirty="0" smtClean="0"/>
              <a:t>  </a:t>
            </a:r>
          </a:p>
          <a:p>
            <a:pPr marL="457200" indent="-457200">
              <a:buAutoNum type="arabicPeriod"/>
            </a:pPr>
            <a:r>
              <a:rPr lang="es-BO" dirty="0"/>
              <a:t> </a:t>
            </a:r>
            <a:r>
              <a:rPr lang="es-BO" dirty="0" err="1" smtClean="0"/>
              <a:t>exaclorofenol</a:t>
            </a:r>
            <a:endParaRPr lang="es-BO" dirty="0" smtClean="0"/>
          </a:p>
          <a:p>
            <a:pPr marL="457200" indent="-457200">
              <a:buAutoNum type="arabicPeriod"/>
            </a:pPr>
            <a:r>
              <a:rPr lang="es-BO" dirty="0"/>
              <a:t> </a:t>
            </a:r>
            <a:r>
              <a:rPr lang="es-BO" dirty="0" err="1" smtClean="0"/>
              <a:t>halotano</a:t>
            </a:r>
            <a:r>
              <a:rPr lang="es-BO" dirty="0" smtClean="0"/>
              <a:t> y </a:t>
            </a:r>
            <a:r>
              <a:rPr lang="es-BO" dirty="0" err="1" smtClean="0"/>
              <a:t>piroxido</a:t>
            </a:r>
            <a:r>
              <a:rPr lang="es-BO" dirty="0" smtClean="0"/>
              <a:t> de </a:t>
            </a:r>
            <a:r>
              <a:rPr lang="es-BO" dirty="0" err="1" smtClean="0"/>
              <a:t>nitrogeno</a:t>
            </a:r>
            <a:r>
              <a:rPr lang="es-BO" dirty="0" smtClean="0"/>
              <a:t>.</a:t>
            </a:r>
            <a:endParaRPr lang="es-BO" dirty="0"/>
          </a:p>
        </p:txBody>
      </p:sp>
      <p:sp>
        <p:nvSpPr>
          <p:cNvPr id="6" name="5 Marcador de contenido"/>
          <p:cNvSpPr>
            <a:spLocks noGrp="1"/>
          </p:cNvSpPr>
          <p:nvPr>
            <p:ph sz="quarter" idx="4"/>
          </p:nvPr>
        </p:nvSpPr>
        <p:spPr/>
        <p:txBody>
          <a:bodyPr/>
          <a:lstStyle/>
          <a:p>
            <a:pPr marL="457200" indent="-457200">
              <a:buAutoNum type="arabicPeriod"/>
            </a:pPr>
            <a:r>
              <a:rPr lang="es-BO" dirty="0" smtClean="0"/>
              <a:t>N o </a:t>
            </a:r>
            <a:r>
              <a:rPr lang="es-BO" dirty="0" err="1" smtClean="0"/>
              <a:t>hauy</a:t>
            </a:r>
            <a:r>
              <a:rPr lang="es-BO" dirty="0" smtClean="0"/>
              <a:t> pruebas firmes SNC</a:t>
            </a:r>
          </a:p>
          <a:p>
            <a:pPr marL="457200" indent="-457200">
              <a:buAutoNum type="arabicPeriod"/>
            </a:pPr>
            <a:r>
              <a:rPr lang="es-BO" dirty="0"/>
              <a:t> </a:t>
            </a:r>
            <a:r>
              <a:rPr lang="es-BO" dirty="0" smtClean="0"/>
              <a:t>amenaza de aborto</a:t>
            </a:r>
          </a:p>
          <a:p>
            <a:pPr marL="457200" indent="-457200">
              <a:buAutoNum type="arabicPeriod"/>
            </a:pPr>
            <a:r>
              <a:rPr lang="es-BO" dirty="0"/>
              <a:t> </a:t>
            </a:r>
            <a:r>
              <a:rPr lang="es-BO" dirty="0" smtClean="0"/>
              <a:t>trastornos menstruales</a:t>
            </a:r>
          </a:p>
          <a:p>
            <a:pPr marL="457200" indent="-457200">
              <a:buAutoNum type="arabicPeriod"/>
            </a:pPr>
            <a:r>
              <a:rPr lang="es-BO" dirty="0"/>
              <a:t> </a:t>
            </a:r>
            <a:r>
              <a:rPr lang="es-BO" dirty="0" smtClean="0"/>
              <a:t>trastornos ,menstruales. </a:t>
            </a:r>
          </a:p>
          <a:p>
            <a:pPr marL="457200" indent="-457200">
              <a:buAutoNum type="arabicPeriod"/>
            </a:pPr>
            <a:r>
              <a:rPr lang="es-BO" dirty="0"/>
              <a:t> </a:t>
            </a:r>
            <a:r>
              <a:rPr lang="es-BO" dirty="0" smtClean="0"/>
              <a:t>deficiencia del crecimiento </a:t>
            </a:r>
            <a:r>
              <a:rPr lang="es-BO" dirty="0" err="1" smtClean="0"/>
              <a:t>prey</a:t>
            </a:r>
            <a:r>
              <a:rPr lang="es-BO" dirty="0" smtClean="0"/>
              <a:t> posnatal</a:t>
            </a:r>
          </a:p>
          <a:p>
            <a:pPr marL="457200" indent="-457200">
              <a:buAutoNum type="arabicPeriod"/>
            </a:pPr>
            <a:r>
              <a:rPr lang="es-BO" dirty="0" smtClean="0"/>
              <a:t>Abortos, anomalías SNC</a:t>
            </a:r>
          </a:p>
          <a:p>
            <a:pPr marL="457200" indent="-457200">
              <a:buAutoNum type="arabicPeriod"/>
            </a:pPr>
            <a:r>
              <a:rPr lang="es-BO" dirty="0" smtClean="0"/>
              <a:t>Abortos, anomalías de SNC</a:t>
            </a:r>
          </a:p>
          <a:p>
            <a:pPr marL="457200" indent="-457200">
              <a:buAutoNum type="arabicPeriod"/>
            </a:pPr>
            <a:endParaRPr lang="es-BO" dirty="0" smtClean="0"/>
          </a:p>
          <a:p>
            <a:pPr marL="457200" indent="-457200">
              <a:buAutoNum type="arabicPeriod"/>
            </a:pPr>
            <a:endParaRPr lang="es-BO" dirty="0"/>
          </a:p>
        </p:txBody>
      </p:sp>
    </p:spTree>
  </p:cSld>
  <p:clrMapOvr>
    <a:masterClrMapping/>
  </p:clrMapOvr>
  <p:transition>
    <p:dissolve/>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BO" dirty="0" smtClean="0">
                <a:solidFill>
                  <a:srgbClr val="FFFF00"/>
                </a:solidFill>
              </a:rPr>
              <a:t>Otros gases </a:t>
            </a:r>
            <a:r>
              <a:rPr lang="es-BO" dirty="0" err="1" smtClean="0">
                <a:solidFill>
                  <a:srgbClr val="FFFF00"/>
                </a:solidFill>
              </a:rPr>
              <a:t>toxicos</a:t>
            </a:r>
            <a:endParaRPr lang="es-BO" dirty="0">
              <a:solidFill>
                <a:srgbClr val="FFFF00"/>
              </a:solidFill>
            </a:endParaRPr>
          </a:p>
        </p:txBody>
      </p:sp>
      <p:sp>
        <p:nvSpPr>
          <p:cNvPr id="3" name="2 Marcador de contenido"/>
          <p:cNvSpPr>
            <a:spLocks noGrp="1"/>
          </p:cNvSpPr>
          <p:nvPr>
            <p:ph idx="1"/>
          </p:nvPr>
        </p:nvSpPr>
        <p:spPr/>
        <p:txBody>
          <a:bodyPr/>
          <a:lstStyle/>
          <a:p>
            <a:r>
              <a:rPr lang="es-BO" dirty="0" smtClean="0"/>
              <a:t>Características.- el peligro existe cuando no hay adecuada ventilación.</a:t>
            </a:r>
          </a:p>
          <a:p>
            <a:r>
              <a:rPr lang="es-BO" dirty="0" smtClean="0"/>
              <a:t>Consecuencias.- disminución de la cantidad de oxigeno por </a:t>
            </a:r>
            <a:r>
              <a:rPr lang="es-BO" dirty="0"/>
              <a:t>l</a:t>
            </a:r>
            <a:r>
              <a:rPr lang="es-BO" dirty="0" smtClean="0"/>
              <a:t>a sangre, nauseas vómitos. Fatiga, mareos</a:t>
            </a:r>
          </a:p>
          <a:p>
            <a:endParaRPr lang="es-BO" dirty="0" smtClean="0"/>
          </a:p>
          <a:p>
            <a:endParaRPr lang="es-BO" dirty="0"/>
          </a:p>
        </p:txBody>
      </p:sp>
      <p:pic>
        <p:nvPicPr>
          <p:cNvPr id="4" name="3 Imagen" descr="12.jpg"/>
          <p:cNvPicPr>
            <a:picLocks noChangeAspect="1"/>
          </p:cNvPicPr>
          <p:nvPr/>
        </p:nvPicPr>
        <p:blipFill>
          <a:blip r:embed="rId2"/>
          <a:stretch>
            <a:fillRect/>
          </a:stretch>
        </p:blipFill>
        <p:spPr>
          <a:xfrm>
            <a:off x="4786314" y="4000504"/>
            <a:ext cx="2643206" cy="2275455"/>
          </a:xfrm>
          <a:prstGeom prst="rect">
            <a:avLst/>
          </a:prstGeom>
        </p:spPr>
      </p:pic>
    </p:spTree>
  </p:cSld>
  <p:clrMapOvr>
    <a:masterClrMapping/>
  </p:clrMapOvr>
  <p:transition>
    <p:dissolve/>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4" name="Picture 4" descr="F:\imagenes\19.jpg"/>
          <p:cNvPicPr>
            <a:picLocks noChangeAspect="1" noChangeArrowheads="1"/>
          </p:cNvPicPr>
          <p:nvPr/>
        </p:nvPicPr>
        <p:blipFill>
          <a:blip r:embed="rId3"/>
          <a:srcRect/>
          <a:stretch>
            <a:fillRect/>
          </a:stretch>
        </p:blipFill>
        <p:spPr bwMode="auto">
          <a:xfrm>
            <a:off x="5572132" y="2649532"/>
            <a:ext cx="2286016" cy="3378224"/>
          </a:xfrm>
          <a:prstGeom prst="rect">
            <a:avLst/>
          </a:prstGeom>
          <a:noFill/>
        </p:spPr>
      </p:pic>
      <p:sp>
        <p:nvSpPr>
          <p:cNvPr id="2" name="1 Título"/>
          <p:cNvSpPr>
            <a:spLocks noGrp="1"/>
          </p:cNvSpPr>
          <p:nvPr>
            <p:ph type="title"/>
          </p:nvPr>
        </p:nvSpPr>
        <p:spPr/>
        <p:txBody>
          <a:bodyPr>
            <a:normAutofit fontScale="90000"/>
          </a:bodyPr>
          <a:lstStyle/>
          <a:p>
            <a:r>
              <a:rPr lang="es-BO" dirty="0" smtClean="0">
                <a:solidFill>
                  <a:srgbClr val="FFFF00"/>
                </a:solidFill>
              </a:rPr>
              <a:t>Prevención.- </a:t>
            </a:r>
            <a:r>
              <a:rPr lang="es-BO" dirty="0" smtClean="0"/>
              <a:t/>
            </a:r>
            <a:br>
              <a:rPr lang="es-BO" dirty="0" smtClean="0"/>
            </a:br>
            <a:endParaRPr lang="es-BO" dirty="0"/>
          </a:p>
        </p:txBody>
      </p:sp>
      <p:sp>
        <p:nvSpPr>
          <p:cNvPr id="3" name="2 Marcador de contenido"/>
          <p:cNvSpPr>
            <a:spLocks noGrp="1"/>
          </p:cNvSpPr>
          <p:nvPr>
            <p:ph idx="1"/>
          </p:nvPr>
        </p:nvSpPr>
        <p:spPr/>
        <p:txBody>
          <a:bodyPr/>
          <a:lstStyle/>
          <a:p>
            <a:r>
              <a:rPr lang="es-BO" dirty="0" smtClean="0"/>
              <a:t>Mantener el motor de carros en el mejor estado posible</a:t>
            </a:r>
          </a:p>
          <a:p>
            <a:r>
              <a:rPr lang="es-BO" dirty="0" smtClean="0"/>
              <a:t>Evitar los embotellamientos</a:t>
            </a:r>
          </a:p>
          <a:p>
            <a:r>
              <a:rPr lang="es-BO" dirty="0" smtClean="0"/>
              <a:t>Ventilar los lugares donde se cocina a leña</a:t>
            </a:r>
          </a:p>
          <a:p>
            <a:r>
              <a:rPr lang="es-BO" dirty="0" smtClean="0"/>
              <a:t>Ojo las sustancias químicas son agentes peligrosos.</a:t>
            </a:r>
          </a:p>
          <a:p>
            <a:endParaRPr lang="es-BO" dirty="0"/>
          </a:p>
        </p:txBody>
      </p:sp>
    </p:spTree>
  </p:cSld>
  <p:clrMapOvr>
    <a:masterClrMapping/>
  </p:clrMapOvr>
  <p:transition>
    <p:dissolve/>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BO" dirty="0" smtClean="0">
                <a:solidFill>
                  <a:srgbClr val="FFFF00"/>
                </a:solidFill>
              </a:rPr>
              <a:t>Agresiones físicas</a:t>
            </a:r>
            <a:endParaRPr lang="es-BO" dirty="0">
              <a:solidFill>
                <a:srgbClr val="FFFF00"/>
              </a:solidFill>
            </a:endParaRPr>
          </a:p>
        </p:txBody>
      </p:sp>
      <p:sp>
        <p:nvSpPr>
          <p:cNvPr id="3" name="2 Marcador de contenido"/>
          <p:cNvSpPr>
            <a:spLocks noGrp="1"/>
          </p:cNvSpPr>
          <p:nvPr>
            <p:ph idx="1"/>
          </p:nvPr>
        </p:nvSpPr>
        <p:spPr/>
        <p:txBody>
          <a:bodyPr/>
          <a:lstStyle/>
          <a:p>
            <a:r>
              <a:rPr lang="es-BO" dirty="0" smtClean="0"/>
              <a:t>Rayos X</a:t>
            </a:r>
          </a:p>
          <a:p>
            <a:r>
              <a:rPr lang="es-BO" dirty="0" smtClean="0"/>
              <a:t>Características.- son radiaciones </a:t>
            </a:r>
            <a:r>
              <a:rPr lang="es-BO" dirty="0" err="1" smtClean="0"/>
              <a:t>electromagneticas</a:t>
            </a:r>
            <a:r>
              <a:rPr lang="es-BO" dirty="0" smtClean="0"/>
              <a:t> y pueden penetrar la </a:t>
            </a:r>
            <a:r>
              <a:rPr lang="es-BO" dirty="0" err="1" smtClean="0"/>
              <a:t>mayoria</a:t>
            </a:r>
            <a:r>
              <a:rPr lang="es-BO" dirty="0" smtClean="0"/>
              <a:t> de las sustancias y se usa con fin terapéutico. </a:t>
            </a:r>
          </a:p>
          <a:p>
            <a:endParaRPr lang="es-BO" dirty="0" smtClean="0"/>
          </a:p>
          <a:p>
            <a:pPr>
              <a:buNone/>
            </a:pPr>
            <a:r>
              <a:rPr lang="es-BO" dirty="0" smtClean="0"/>
              <a:t> </a:t>
            </a:r>
            <a:endParaRPr lang="es-BO" dirty="0"/>
          </a:p>
        </p:txBody>
      </p:sp>
      <p:pic>
        <p:nvPicPr>
          <p:cNvPr id="5" name="4 Imagen" descr="18.jpg"/>
          <p:cNvPicPr>
            <a:picLocks noChangeAspect="1"/>
          </p:cNvPicPr>
          <p:nvPr/>
        </p:nvPicPr>
        <p:blipFill>
          <a:blip r:embed="rId2"/>
          <a:stretch>
            <a:fillRect/>
          </a:stretch>
        </p:blipFill>
        <p:spPr>
          <a:xfrm>
            <a:off x="3786182" y="3753928"/>
            <a:ext cx="2071702" cy="2673164"/>
          </a:xfrm>
          <a:prstGeom prst="rect">
            <a:avLst/>
          </a:prstGeom>
        </p:spPr>
      </p:pic>
    </p:spTree>
  </p:cSld>
  <p:clrMapOvr>
    <a:masterClrMapping/>
  </p:clrMapOvr>
  <p:transition>
    <p:dissolve/>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BO" dirty="0" smtClean="0">
                <a:solidFill>
                  <a:srgbClr val="FFFF00"/>
                </a:solidFill>
              </a:rPr>
              <a:t>Consecuencias </a:t>
            </a:r>
            <a:endParaRPr lang="es-BO" dirty="0">
              <a:solidFill>
                <a:srgbClr val="FFFF00"/>
              </a:solidFill>
            </a:endParaRPr>
          </a:p>
        </p:txBody>
      </p:sp>
      <p:sp>
        <p:nvSpPr>
          <p:cNvPr id="3" name="2 Marcador de contenido"/>
          <p:cNvSpPr>
            <a:spLocks noGrp="1"/>
          </p:cNvSpPr>
          <p:nvPr>
            <p:ph idx="1"/>
          </p:nvPr>
        </p:nvSpPr>
        <p:spPr/>
        <p:txBody>
          <a:bodyPr/>
          <a:lstStyle/>
          <a:p>
            <a:r>
              <a:rPr lang="es-BO" dirty="0" smtClean="0"/>
              <a:t>Anormalidades esqueléticas</a:t>
            </a:r>
          </a:p>
          <a:p>
            <a:r>
              <a:rPr lang="es-BO" dirty="0" smtClean="0"/>
              <a:t>Microcefalia</a:t>
            </a:r>
          </a:p>
          <a:p>
            <a:r>
              <a:rPr lang="es-BO" dirty="0" smtClean="0"/>
              <a:t>Espina </a:t>
            </a:r>
            <a:r>
              <a:rPr lang="es-BO" dirty="0" err="1" smtClean="0"/>
              <a:t>bifida</a:t>
            </a:r>
            <a:endParaRPr lang="es-BO" dirty="0" smtClean="0"/>
          </a:p>
          <a:p>
            <a:r>
              <a:rPr lang="es-BO" dirty="0" smtClean="0"/>
              <a:t>Ceguera (catara congénita)</a:t>
            </a:r>
          </a:p>
          <a:p>
            <a:pPr>
              <a:buNone/>
            </a:pPr>
            <a:r>
              <a:rPr lang="es-BO" dirty="0" smtClean="0"/>
              <a:t>Otras.- trastornos mentales, paladar hendido, anormalidad es viscerales.</a:t>
            </a:r>
            <a:endParaRPr lang="es-BO" dirty="0"/>
          </a:p>
        </p:txBody>
      </p:sp>
    </p:spTree>
  </p:cSld>
  <p:clrMapOvr>
    <a:masterClrMapping/>
  </p:clrMapOvr>
  <p:transition>
    <p:dissolve/>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BO" dirty="0" smtClean="0">
                <a:solidFill>
                  <a:srgbClr val="FFFF00"/>
                </a:solidFill>
              </a:rPr>
              <a:t>Imágenes </a:t>
            </a:r>
            <a:endParaRPr lang="es-BO" dirty="0">
              <a:solidFill>
                <a:srgbClr val="FFFF00"/>
              </a:solidFill>
            </a:endParaRPr>
          </a:p>
        </p:txBody>
      </p:sp>
      <p:pic>
        <p:nvPicPr>
          <p:cNvPr id="4098" name="Picture 2" descr="C:\Users\Lilian\Pictures\para expo\untitled.bmp"/>
          <p:cNvPicPr>
            <a:picLocks noGrp="1" noChangeAspect="1" noChangeArrowheads="1"/>
          </p:cNvPicPr>
          <p:nvPr>
            <p:ph idx="1"/>
          </p:nvPr>
        </p:nvPicPr>
        <p:blipFill>
          <a:blip r:embed="rId2"/>
          <a:srcRect/>
          <a:stretch>
            <a:fillRect/>
          </a:stretch>
        </p:blipFill>
        <p:spPr bwMode="auto">
          <a:xfrm>
            <a:off x="857224" y="2143116"/>
            <a:ext cx="2444833" cy="2928958"/>
          </a:xfrm>
          <a:prstGeom prst="rect">
            <a:avLst/>
          </a:prstGeom>
          <a:noFill/>
        </p:spPr>
      </p:pic>
      <p:pic>
        <p:nvPicPr>
          <p:cNvPr id="4099" name="Picture 3" descr="C:\Users\Lilian\Pictures\para expo\untitled1.bmp"/>
          <p:cNvPicPr>
            <a:picLocks noChangeAspect="1" noChangeArrowheads="1"/>
          </p:cNvPicPr>
          <p:nvPr/>
        </p:nvPicPr>
        <p:blipFill>
          <a:blip r:embed="rId3"/>
          <a:srcRect/>
          <a:stretch>
            <a:fillRect/>
          </a:stretch>
        </p:blipFill>
        <p:spPr bwMode="auto">
          <a:xfrm>
            <a:off x="4857752" y="2285992"/>
            <a:ext cx="2486039" cy="3286144"/>
          </a:xfrm>
          <a:prstGeom prst="rect">
            <a:avLst/>
          </a:prstGeom>
          <a:noFill/>
        </p:spPr>
      </p:pic>
    </p:spTree>
  </p:cSld>
  <p:clrMapOvr>
    <a:masterClrMapping/>
  </p:clrMapOvr>
  <p:transition>
    <p:dissolve/>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s-BO" dirty="0" smtClean="0">
                <a:solidFill>
                  <a:srgbClr val="FFFF00"/>
                </a:solidFill>
              </a:rPr>
              <a:t>Exposición a microondas, ultrasonidos y radiofrecuencias</a:t>
            </a:r>
            <a:endParaRPr lang="es-BO" dirty="0">
              <a:solidFill>
                <a:srgbClr val="FFFF00"/>
              </a:solidFill>
            </a:endParaRPr>
          </a:p>
        </p:txBody>
      </p:sp>
      <p:sp>
        <p:nvSpPr>
          <p:cNvPr id="3" name="2 Marcador de contenido"/>
          <p:cNvSpPr>
            <a:spLocks noGrp="1"/>
          </p:cNvSpPr>
          <p:nvPr>
            <p:ph idx="1"/>
          </p:nvPr>
        </p:nvSpPr>
        <p:spPr/>
        <p:txBody>
          <a:bodyPr/>
          <a:lstStyle/>
          <a:p>
            <a:r>
              <a:rPr lang="es-BO" dirty="0" smtClean="0"/>
              <a:t>Se considera un tema aun muy controvertido. Ya que estamos frente a un radiador incidental</a:t>
            </a:r>
          </a:p>
          <a:p>
            <a:r>
              <a:rPr lang="es-BO" dirty="0" smtClean="0"/>
              <a:t>Estudios realizados reportan en mujeres embarazadas que estuvieron  expuestas a radiaciones sobre 100 </a:t>
            </a:r>
            <a:r>
              <a:rPr lang="es-BO" dirty="0" err="1" smtClean="0"/>
              <a:t>mw</a:t>
            </a:r>
            <a:r>
              <a:rPr lang="es-BO" dirty="0" smtClean="0"/>
              <a:t>/cm2 en si sitio de trabajo reportan:</a:t>
            </a:r>
          </a:p>
          <a:p>
            <a:r>
              <a:rPr lang="es-BO" dirty="0" smtClean="0"/>
              <a:t>Alteraciones del patrón menstrual</a:t>
            </a:r>
          </a:p>
          <a:p>
            <a:r>
              <a:rPr lang="es-BO" dirty="0" smtClean="0"/>
              <a:t>Reducción de la lactancia</a:t>
            </a:r>
          </a:p>
          <a:p>
            <a:r>
              <a:rPr lang="es-BO" dirty="0" smtClean="0"/>
              <a:t>Anomalías congénitas. </a:t>
            </a:r>
            <a:endParaRPr lang="es-BO" dirty="0"/>
          </a:p>
        </p:txBody>
      </p:sp>
    </p:spTree>
  </p:cSld>
  <p:clrMapOvr>
    <a:masterClrMapping/>
  </p:clrMapOvr>
  <p:transition>
    <p:dissolve/>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BO" dirty="0" smtClean="0">
                <a:solidFill>
                  <a:srgbClr val="FFFF00"/>
                </a:solidFill>
              </a:rPr>
              <a:t>Hipertermia </a:t>
            </a:r>
            <a:endParaRPr lang="es-BO" dirty="0">
              <a:solidFill>
                <a:srgbClr val="FFFF00"/>
              </a:solidFill>
            </a:endParaRPr>
          </a:p>
        </p:txBody>
      </p:sp>
      <p:sp>
        <p:nvSpPr>
          <p:cNvPr id="3" name="2 Marcador de contenido"/>
          <p:cNvSpPr>
            <a:spLocks noGrp="1"/>
          </p:cNvSpPr>
          <p:nvPr>
            <p:ph idx="1"/>
          </p:nvPr>
        </p:nvSpPr>
        <p:spPr/>
        <p:txBody>
          <a:bodyPr/>
          <a:lstStyle/>
          <a:p>
            <a:r>
              <a:rPr lang="es-BO" dirty="0" smtClean="0"/>
              <a:t>Constituye un elemento teratogeno potente, causante  de anomalías congénitas principalmente del SNC.</a:t>
            </a:r>
          </a:p>
          <a:p>
            <a:r>
              <a:rPr lang="es-BO" dirty="0" smtClean="0"/>
              <a:t>Incidencia.- no se reportan cuantificaciones especificas.</a:t>
            </a:r>
          </a:p>
          <a:p>
            <a:r>
              <a:rPr lang="es-BO" dirty="0" smtClean="0"/>
              <a:t>Consecuencias.-</a:t>
            </a:r>
          </a:p>
          <a:p>
            <a:r>
              <a:rPr lang="es-BO" dirty="0" smtClean="0"/>
              <a:t>Deficiencia del crecimiento</a:t>
            </a:r>
          </a:p>
          <a:p>
            <a:r>
              <a:rPr lang="es-BO" dirty="0" smtClean="0"/>
              <a:t>Anomalías del SNC</a:t>
            </a:r>
          </a:p>
          <a:p>
            <a:r>
              <a:rPr lang="es-BO" dirty="0" smtClean="0"/>
              <a:t>Anomalías braquiales</a:t>
            </a:r>
            <a:endParaRPr lang="es-BO" dirty="0"/>
          </a:p>
        </p:txBody>
      </p:sp>
    </p:spTree>
  </p:cSld>
  <p:clrMapOvr>
    <a:masterClrMapping/>
  </p:clrMapOvr>
  <p:transition>
    <p:dissolve/>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BO" dirty="0" smtClean="0">
                <a:solidFill>
                  <a:srgbClr val="FFFF00"/>
                </a:solidFill>
              </a:rPr>
              <a:t>Prevención</a:t>
            </a:r>
            <a:r>
              <a:rPr lang="es-BO" dirty="0" smtClean="0"/>
              <a:t>.</a:t>
            </a:r>
            <a:endParaRPr lang="es-BO" dirty="0"/>
          </a:p>
        </p:txBody>
      </p:sp>
      <p:sp>
        <p:nvSpPr>
          <p:cNvPr id="3" name="2 Marcador de contenido"/>
          <p:cNvSpPr>
            <a:spLocks noGrp="1"/>
          </p:cNvSpPr>
          <p:nvPr>
            <p:ph idx="1"/>
          </p:nvPr>
        </p:nvSpPr>
        <p:spPr/>
        <p:txBody>
          <a:bodyPr/>
          <a:lstStyle/>
          <a:p>
            <a:r>
              <a:rPr lang="es-BO" dirty="0" smtClean="0"/>
              <a:t>En caso de fiebre medios físicos de inmediato</a:t>
            </a:r>
          </a:p>
          <a:p>
            <a:r>
              <a:rPr lang="es-BO" dirty="0" smtClean="0"/>
              <a:t>En medicamentos </a:t>
            </a:r>
            <a:r>
              <a:rPr lang="es-BO" dirty="0" err="1" smtClean="0"/>
              <a:t>acetaminofen</a:t>
            </a:r>
            <a:r>
              <a:rPr lang="es-BO" dirty="0" smtClean="0"/>
              <a:t> y no acido acetil salicílico.</a:t>
            </a:r>
          </a:p>
          <a:p>
            <a:r>
              <a:rPr lang="es-BO" dirty="0" smtClean="0"/>
              <a:t>Si hay sospecha de embarazo prohibición de asistir a saunas durante toda la gestación.</a:t>
            </a:r>
            <a:endParaRPr lang="es-BO" dirty="0"/>
          </a:p>
        </p:txBody>
      </p:sp>
    </p:spTree>
  </p:cSld>
  <p:clrMapOvr>
    <a:masterClrMapping/>
  </p:clrMapOvr>
  <p:transition>
    <p:dissolve/>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BO" dirty="0" smtClean="0">
                <a:solidFill>
                  <a:srgbClr val="FFFF00"/>
                </a:solidFill>
              </a:rPr>
              <a:t>Hazlo por ellos.</a:t>
            </a:r>
            <a:endParaRPr lang="es-BO" dirty="0">
              <a:solidFill>
                <a:srgbClr val="FFFF00"/>
              </a:solidFill>
            </a:endParaRPr>
          </a:p>
        </p:txBody>
      </p:sp>
      <p:pic>
        <p:nvPicPr>
          <p:cNvPr id="8194" name="Picture 2" descr="F:\imagenes\10.jpg"/>
          <p:cNvPicPr>
            <a:picLocks noGrp="1" noChangeAspect="1" noChangeArrowheads="1"/>
          </p:cNvPicPr>
          <p:nvPr>
            <p:ph idx="1"/>
          </p:nvPr>
        </p:nvPicPr>
        <p:blipFill>
          <a:blip r:embed="rId2"/>
          <a:srcRect/>
          <a:stretch>
            <a:fillRect/>
          </a:stretch>
        </p:blipFill>
        <p:spPr bwMode="auto">
          <a:xfrm>
            <a:off x="2500298" y="2253624"/>
            <a:ext cx="4000527" cy="3623118"/>
          </a:xfrm>
          <a:prstGeom prst="rect">
            <a:avLst/>
          </a:prstGeom>
          <a:noFill/>
        </p:spPr>
      </p:pic>
    </p:spTree>
  </p:cSld>
  <p:clrMapOvr>
    <a:masterClrMapping/>
  </p:clrMapOvr>
  <p:transition>
    <p:dissolve/>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2"/>
          <p:cNvSpPr>
            <a:spLocks noGrp="1" noChangeArrowheads="1"/>
          </p:cNvSpPr>
          <p:nvPr>
            <p:ph type="title"/>
          </p:nvPr>
        </p:nvSpPr>
        <p:spPr>
          <a:xfrm>
            <a:off x="457200" y="4724400"/>
            <a:ext cx="8229600" cy="1441450"/>
          </a:xfrm>
        </p:spPr>
        <p:txBody>
          <a:bodyPr/>
          <a:lstStyle/>
          <a:p>
            <a:r>
              <a:rPr lang="es-BO" sz="4000" dirty="0">
                <a:latin typeface="Arial Narrow" pitchFamily="34" charset="0"/>
              </a:rPr>
              <a:t>Instruye al niño en su camino, aún cuando fuera viejo no se apartará de           ella.   </a:t>
            </a:r>
            <a:br>
              <a:rPr lang="es-BO" sz="4000" dirty="0">
                <a:latin typeface="Arial Narrow" pitchFamily="34" charset="0"/>
              </a:rPr>
            </a:br>
            <a:r>
              <a:rPr lang="es-BO" sz="4000" dirty="0">
                <a:latin typeface="Arial Narrow" pitchFamily="34" charset="0"/>
              </a:rPr>
              <a:t>                                         </a:t>
            </a:r>
            <a:r>
              <a:rPr lang="es-BO" sz="2400" dirty="0" err="1">
                <a:solidFill>
                  <a:srgbClr val="FFFF00"/>
                </a:solidFill>
                <a:latin typeface="Arial Narrow" pitchFamily="34" charset="0"/>
              </a:rPr>
              <a:t>Prov</a:t>
            </a:r>
            <a:r>
              <a:rPr lang="es-BO" sz="2400" dirty="0">
                <a:solidFill>
                  <a:srgbClr val="FFFF00"/>
                </a:solidFill>
                <a:latin typeface="Arial Narrow" pitchFamily="34" charset="0"/>
              </a:rPr>
              <a:t> 22:6</a:t>
            </a:r>
            <a:r>
              <a:rPr lang="es-BO" sz="4000" dirty="0">
                <a:solidFill>
                  <a:srgbClr val="FFFF00"/>
                </a:solidFill>
                <a:latin typeface="Arial Narrow" pitchFamily="34" charset="0"/>
              </a:rPr>
              <a:t> </a:t>
            </a:r>
            <a:r>
              <a:rPr lang="es-BO" sz="2800" dirty="0">
                <a:solidFill>
                  <a:srgbClr val="FFFF00"/>
                </a:solidFill>
                <a:latin typeface="Arial Narrow" pitchFamily="34" charset="0"/>
              </a:rPr>
              <a:t>        </a:t>
            </a:r>
            <a:endParaRPr lang="es-ES" sz="2800" dirty="0">
              <a:solidFill>
                <a:srgbClr val="FFFF00"/>
              </a:solidFill>
              <a:latin typeface="Arial Narrow" pitchFamily="34" charset="0"/>
            </a:endParaRPr>
          </a:p>
        </p:txBody>
      </p:sp>
      <p:pic>
        <p:nvPicPr>
          <p:cNvPr id="130052" name="Picture 4" descr="Paren_de_fumigar_lost"/>
          <p:cNvPicPr>
            <a:picLocks noGrp="1" noChangeAspect="1" noChangeArrowheads="1"/>
          </p:cNvPicPr>
          <p:nvPr>
            <p:ph type="body" idx="1"/>
          </p:nvPr>
        </p:nvPicPr>
        <p:blipFill>
          <a:blip r:embed="rId2"/>
          <a:srcRect/>
          <a:stretch>
            <a:fillRect/>
          </a:stretch>
        </p:blipFill>
        <p:spPr>
          <a:xfrm>
            <a:off x="1619250" y="620713"/>
            <a:ext cx="6192838" cy="3529012"/>
          </a:xfrm>
          <a:noFill/>
          <a:ln/>
        </p:spPr>
      </p:pic>
    </p:spTree>
  </p:cSld>
  <p:clrMapOvr>
    <a:masterClrMapping/>
  </p:clrMapOvr>
  <p:transition>
    <p:dissolve/>
  </p:transition>
</p:sld>
</file>

<file path=ppt/theme/theme1.xml><?xml version="1.0" encoding="utf-8"?>
<a:theme xmlns:a="http://schemas.openxmlformats.org/drawingml/2006/main" name="Arce">
  <a:themeElements>
    <a:clrScheme name="Arce 1">
      <a:dk1>
        <a:srgbClr val="BB5F03"/>
      </a:dk1>
      <a:lt1>
        <a:srgbClr val="FFFFFF"/>
      </a:lt1>
      <a:dk2>
        <a:srgbClr val="993300"/>
      </a:dk2>
      <a:lt2>
        <a:srgbClr val="FEEC94"/>
      </a:lt2>
      <a:accent1>
        <a:srgbClr val="FF9900"/>
      </a:accent1>
      <a:accent2>
        <a:srgbClr val="B76A03"/>
      </a:accent2>
      <a:accent3>
        <a:srgbClr val="CAADAA"/>
      </a:accent3>
      <a:accent4>
        <a:srgbClr val="DADADA"/>
      </a:accent4>
      <a:accent5>
        <a:srgbClr val="FFCAAA"/>
      </a:accent5>
      <a:accent6>
        <a:srgbClr val="A65F02"/>
      </a:accent6>
      <a:hlink>
        <a:srgbClr val="FFFFCC"/>
      </a:hlink>
      <a:folHlink>
        <a:srgbClr val="CCCC00"/>
      </a:folHlink>
    </a:clrScheme>
    <a:fontScheme name="Arce">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Arce 1">
        <a:dk1>
          <a:srgbClr val="BB5F03"/>
        </a:dk1>
        <a:lt1>
          <a:srgbClr val="FFFFFF"/>
        </a:lt1>
        <a:dk2>
          <a:srgbClr val="993300"/>
        </a:dk2>
        <a:lt2>
          <a:srgbClr val="FEEC94"/>
        </a:lt2>
        <a:accent1>
          <a:srgbClr val="FF9900"/>
        </a:accent1>
        <a:accent2>
          <a:srgbClr val="B76A03"/>
        </a:accent2>
        <a:accent3>
          <a:srgbClr val="CAADAA"/>
        </a:accent3>
        <a:accent4>
          <a:srgbClr val="DADADA"/>
        </a:accent4>
        <a:accent5>
          <a:srgbClr val="FFCAAA"/>
        </a:accent5>
        <a:accent6>
          <a:srgbClr val="A65F02"/>
        </a:accent6>
        <a:hlink>
          <a:srgbClr val="FFFFCC"/>
        </a:hlink>
        <a:folHlink>
          <a:srgbClr val="CCCC00"/>
        </a:folHlink>
      </a:clrScheme>
      <a:clrMap bg1="dk2" tx1="lt1" bg2="dk1" tx2="lt2" accent1="accent1" accent2="accent2" accent3="accent3" accent4="accent4" accent5="accent5" accent6="accent6" hlink="hlink" folHlink="folHlink"/>
    </a:extraClrScheme>
    <a:extraClrScheme>
      <a:clrScheme name="Arce 2">
        <a:dk1>
          <a:srgbClr val="EA9306"/>
        </a:dk1>
        <a:lt1>
          <a:srgbClr val="FFFFFF"/>
        </a:lt1>
        <a:dk2>
          <a:srgbClr val="FAC120"/>
        </a:dk2>
        <a:lt2>
          <a:srgbClr val="FFFDD1"/>
        </a:lt2>
        <a:accent1>
          <a:srgbClr val="CC6600"/>
        </a:accent1>
        <a:accent2>
          <a:srgbClr val="FF9933"/>
        </a:accent2>
        <a:accent3>
          <a:srgbClr val="FCDDAB"/>
        </a:accent3>
        <a:accent4>
          <a:srgbClr val="DADADA"/>
        </a:accent4>
        <a:accent5>
          <a:srgbClr val="E2B8AA"/>
        </a:accent5>
        <a:accent6>
          <a:srgbClr val="E78A2D"/>
        </a:accent6>
        <a:hlink>
          <a:srgbClr val="A50021"/>
        </a:hlink>
        <a:folHlink>
          <a:srgbClr val="666633"/>
        </a:folHlink>
      </a:clrScheme>
      <a:clrMap bg1="dk2" tx1="lt1" bg2="dk1" tx2="lt2" accent1="accent1" accent2="accent2" accent3="accent3" accent4="accent4" accent5="accent5" accent6="accent6" hlink="hlink" folHlink="folHlink"/>
    </a:extraClrScheme>
    <a:extraClrScheme>
      <a:clrScheme name="Arce 3">
        <a:dk1>
          <a:srgbClr val="000000"/>
        </a:dk1>
        <a:lt1>
          <a:srgbClr val="FFFFCC"/>
        </a:lt1>
        <a:dk2>
          <a:srgbClr val="A26D18"/>
        </a:dk2>
        <a:lt2>
          <a:srgbClr val="F9D793"/>
        </a:lt2>
        <a:accent1>
          <a:srgbClr val="FFD05B"/>
        </a:accent1>
        <a:accent2>
          <a:srgbClr val="FEE1A8"/>
        </a:accent2>
        <a:accent3>
          <a:srgbClr val="FFFFE2"/>
        </a:accent3>
        <a:accent4>
          <a:srgbClr val="000000"/>
        </a:accent4>
        <a:accent5>
          <a:srgbClr val="FFE4B5"/>
        </a:accent5>
        <a:accent6>
          <a:srgbClr val="E6CC98"/>
        </a:accent6>
        <a:hlink>
          <a:srgbClr val="FF0000"/>
        </a:hlink>
        <a:folHlink>
          <a:srgbClr val="CC6600"/>
        </a:folHlink>
      </a:clrScheme>
      <a:clrMap bg1="lt1" tx1="dk1" bg2="lt2" tx2="dk2" accent1="accent1" accent2="accent2" accent3="accent3" accent4="accent4" accent5="accent5" accent6="accent6" hlink="hlink" folHlink="folHlink"/>
    </a:extraClrScheme>
    <a:extraClrScheme>
      <a:clrScheme name="Arce 4">
        <a:dk1>
          <a:srgbClr val="008000"/>
        </a:dk1>
        <a:lt1>
          <a:srgbClr val="FFFFFF"/>
        </a:lt1>
        <a:dk2>
          <a:srgbClr val="005800"/>
        </a:dk2>
        <a:lt2>
          <a:srgbClr val="FFFFCC"/>
        </a:lt2>
        <a:accent1>
          <a:srgbClr val="00CC99"/>
        </a:accent1>
        <a:accent2>
          <a:srgbClr val="007825"/>
        </a:accent2>
        <a:accent3>
          <a:srgbClr val="AAB4AA"/>
        </a:accent3>
        <a:accent4>
          <a:srgbClr val="DADADA"/>
        </a:accent4>
        <a:accent5>
          <a:srgbClr val="AAE2CA"/>
        </a:accent5>
        <a:accent6>
          <a:srgbClr val="006C20"/>
        </a:accent6>
        <a:hlink>
          <a:srgbClr val="9966FF"/>
        </a:hlink>
        <a:folHlink>
          <a:srgbClr val="99CCFF"/>
        </a:folHlink>
      </a:clrScheme>
      <a:clrMap bg1="dk2" tx1="lt1" bg2="dk1" tx2="lt2" accent1="accent1" accent2="accent2" accent3="accent3" accent4="accent4" accent5="accent5" accent6="accent6" hlink="hlink" folHlink="folHlink"/>
    </a:extraClrScheme>
    <a:extraClrScheme>
      <a:clrScheme name="Arce 5">
        <a:dk1>
          <a:srgbClr val="56925A"/>
        </a:dk1>
        <a:lt1>
          <a:srgbClr val="FFFFFF"/>
        </a:lt1>
        <a:dk2>
          <a:srgbClr val="6FB56D"/>
        </a:dk2>
        <a:lt2>
          <a:srgbClr val="FFFFCC"/>
        </a:lt2>
        <a:accent1>
          <a:srgbClr val="2B877C"/>
        </a:accent1>
        <a:accent2>
          <a:srgbClr val="5A9A5F"/>
        </a:accent2>
        <a:accent3>
          <a:srgbClr val="BBD7BA"/>
        </a:accent3>
        <a:accent4>
          <a:srgbClr val="DADADA"/>
        </a:accent4>
        <a:accent5>
          <a:srgbClr val="ACC3BF"/>
        </a:accent5>
        <a:accent6>
          <a:srgbClr val="518B55"/>
        </a:accent6>
        <a:hlink>
          <a:srgbClr val="99FF33"/>
        </a:hlink>
        <a:folHlink>
          <a:srgbClr val="CCFF99"/>
        </a:folHlink>
      </a:clrScheme>
      <a:clrMap bg1="dk2" tx1="lt1" bg2="dk1" tx2="lt2" accent1="accent1" accent2="accent2" accent3="accent3" accent4="accent4" accent5="accent5" accent6="accent6" hlink="hlink" folHlink="folHlink"/>
    </a:extraClrScheme>
    <a:extraClrScheme>
      <a:clrScheme name="Arce 6">
        <a:dk1>
          <a:srgbClr val="006699"/>
        </a:dk1>
        <a:lt1>
          <a:srgbClr val="FFFFFF"/>
        </a:lt1>
        <a:dk2>
          <a:srgbClr val="006666"/>
        </a:dk2>
        <a:lt2>
          <a:srgbClr val="CCECFF"/>
        </a:lt2>
        <a:accent1>
          <a:srgbClr val="00CCFF"/>
        </a:accent1>
        <a:accent2>
          <a:srgbClr val="017A83"/>
        </a:accent2>
        <a:accent3>
          <a:srgbClr val="AAB8B8"/>
        </a:accent3>
        <a:accent4>
          <a:srgbClr val="DADADA"/>
        </a:accent4>
        <a:accent5>
          <a:srgbClr val="AAE2FF"/>
        </a:accent5>
        <a:accent6>
          <a:srgbClr val="016E76"/>
        </a:accent6>
        <a:hlink>
          <a:srgbClr val="FFFFCC"/>
        </a:hlink>
        <a:folHlink>
          <a:srgbClr val="99FF99"/>
        </a:folHlink>
      </a:clrScheme>
      <a:clrMap bg1="dk2" tx1="lt1" bg2="dk1" tx2="lt2" accent1="accent1" accent2="accent2" accent3="accent3" accent4="accent4" accent5="accent5" accent6="accent6" hlink="hlink" folHlink="folHlink"/>
    </a:extraClrScheme>
    <a:extraClrScheme>
      <a:clrScheme name="Arce 7">
        <a:dk1>
          <a:srgbClr val="80ACC4"/>
        </a:dk1>
        <a:lt1>
          <a:srgbClr val="FFFFFF"/>
        </a:lt1>
        <a:dk2>
          <a:srgbClr val="B3D1DF"/>
        </a:dk2>
        <a:lt2>
          <a:srgbClr val="FFFFFF"/>
        </a:lt2>
        <a:accent1>
          <a:srgbClr val="5089A8"/>
        </a:accent1>
        <a:accent2>
          <a:srgbClr val="BBC6DB"/>
        </a:accent2>
        <a:accent3>
          <a:srgbClr val="D6E5EC"/>
        </a:accent3>
        <a:accent4>
          <a:srgbClr val="DADADA"/>
        </a:accent4>
        <a:accent5>
          <a:srgbClr val="B3C4D1"/>
        </a:accent5>
        <a:accent6>
          <a:srgbClr val="A9B3C6"/>
        </a:accent6>
        <a:hlink>
          <a:srgbClr val="0000FF"/>
        </a:hlink>
        <a:folHlink>
          <a:srgbClr val="006699"/>
        </a:folHlink>
      </a:clrScheme>
      <a:clrMap bg1="dk2" tx1="lt1" bg2="dk1" tx2="lt2" accent1="accent1" accent2="accent2" accent3="accent3" accent4="accent4" accent5="accent5" accent6="accent6" hlink="hlink" folHlink="folHlink"/>
    </a:extraClrScheme>
    <a:extraClrScheme>
      <a:clrScheme name="Arce 8">
        <a:dk1>
          <a:srgbClr val="5700AE"/>
        </a:dk1>
        <a:lt1>
          <a:srgbClr val="FFFFFF"/>
        </a:lt1>
        <a:dk2>
          <a:srgbClr val="7301CB"/>
        </a:dk2>
        <a:lt2>
          <a:srgbClr val="C5C5FF"/>
        </a:lt2>
        <a:accent1>
          <a:srgbClr val="9999FF"/>
        </a:accent1>
        <a:accent2>
          <a:srgbClr val="7000E0"/>
        </a:accent2>
        <a:accent3>
          <a:srgbClr val="BCAAE2"/>
        </a:accent3>
        <a:accent4>
          <a:srgbClr val="DADADA"/>
        </a:accent4>
        <a:accent5>
          <a:srgbClr val="CACAFF"/>
        </a:accent5>
        <a:accent6>
          <a:srgbClr val="6500CB"/>
        </a:accent6>
        <a:hlink>
          <a:srgbClr val="99F3FF"/>
        </a:hlink>
        <a:folHlink>
          <a:srgbClr val="CCCCFF"/>
        </a:folHlink>
      </a:clrScheme>
      <a:clrMap bg1="dk2" tx1="lt1" bg2="dk1" tx2="lt2" accent1="accent1" accent2="accent2" accent3="accent3" accent4="accent4" accent5="accent5" accent6="accent6" hlink="hlink" folHlink="folHlink"/>
    </a:extraClrScheme>
    <a:extraClrScheme>
      <a:clrScheme name="Arce 9">
        <a:dk1>
          <a:srgbClr val="003366"/>
        </a:dk1>
        <a:lt1>
          <a:srgbClr val="FFFFFF"/>
        </a:lt1>
        <a:dk2>
          <a:srgbClr val="003366"/>
        </a:dk2>
        <a:lt2>
          <a:srgbClr val="CBD5DF"/>
        </a:lt2>
        <a:accent1>
          <a:srgbClr val="A9BEE9"/>
        </a:accent1>
        <a:accent2>
          <a:srgbClr val="D6E4F2"/>
        </a:accent2>
        <a:accent3>
          <a:srgbClr val="FFFFFF"/>
        </a:accent3>
        <a:accent4>
          <a:srgbClr val="002A56"/>
        </a:accent4>
        <a:accent5>
          <a:srgbClr val="D1DBF2"/>
        </a:accent5>
        <a:accent6>
          <a:srgbClr val="C2CFDB"/>
        </a:accent6>
        <a:hlink>
          <a:srgbClr val="0000CC"/>
        </a:hlink>
        <a:folHlink>
          <a:srgbClr val="8668E8"/>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Maple</Template>
  <TotalTime>306</TotalTime>
  <Words>2641</Words>
  <Application>Microsoft Office PowerPoint</Application>
  <PresentationFormat>Presentación en pantalla (4:3)</PresentationFormat>
  <Paragraphs>313</Paragraphs>
  <Slides>66</Slides>
  <Notes>1</Notes>
  <HiddenSlides>0</HiddenSlides>
  <MMClips>0</MMClips>
  <ScaleCrop>false</ScaleCrop>
  <HeadingPairs>
    <vt:vector size="4" baseType="variant">
      <vt:variant>
        <vt:lpstr>Tema</vt:lpstr>
      </vt:variant>
      <vt:variant>
        <vt:i4>1</vt:i4>
      </vt:variant>
      <vt:variant>
        <vt:lpstr>Títulos de diapositiva</vt:lpstr>
      </vt:variant>
      <vt:variant>
        <vt:i4>66</vt:i4>
      </vt:variant>
    </vt:vector>
  </HeadingPairs>
  <TitlesOfParts>
    <vt:vector size="67" baseType="lpstr">
      <vt:lpstr>Arce</vt:lpstr>
      <vt:lpstr>AGRESIONES QUIMICAS POR SUSTANCIAS LABORALES Y POR FACTORES FISICOS               Expositoras: Cecilia Rafael                                              Lourdes Rosales                                          Karla Sánchez                                          Lilian  Zapata</vt:lpstr>
      <vt:lpstr>Objetivos</vt:lpstr>
      <vt:lpstr>2.1 Agresiones químicas</vt:lpstr>
      <vt:lpstr>Diapositiva 4</vt:lpstr>
      <vt:lpstr>Diapositiva 5</vt:lpstr>
      <vt:lpstr>Diapositiva 6</vt:lpstr>
      <vt:lpstr>Diapositiva 7</vt:lpstr>
      <vt:lpstr>Diapositiva 8</vt:lpstr>
      <vt:lpstr>2.1.3 Precauciones y reglas de administración de un fármaco              de alto riesgo </vt:lpstr>
      <vt:lpstr>2..1.4 Peligros  de  vitaminas</vt:lpstr>
      <vt:lpstr>La automedicación</vt:lpstr>
      <vt:lpstr>VACUNACIONES</vt:lpstr>
      <vt:lpstr>Diapositiva 13</vt:lpstr>
      <vt:lpstr>Diapositiva 14</vt:lpstr>
      <vt:lpstr>  CATEGORIAS DE VACUNAS. </vt:lpstr>
      <vt:lpstr>Diapositiva 16</vt:lpstr>
      <vt:lpstr>Diapositiva 17</vt:lpstr>
      <vt:lpstr>Diapositiva 18</vt:lpstr>
      <vt:lpstr>Diapositiva 19</vt:lpstr>
      <vt:lpstr>Diapositiva 20</vt:lpstr>
      <vt:lpstr>METILMECURIO </vt:lpstr>
      <vt:lpstr>Diapositiva 22</vt:lpstr>
      <vt:lpstr>Diapositiva 23</vt:lpstr>
      <vt:lpstr>Diapositiva 24</vt:lpstr>
      <vt:lpstr>Diapositiva 25</vt:lpstr>
      <vt:lpstr>Diapositiva 26</vt:lpstr>
      <vt:lpstr>PLOMO </vt:lpstr>
      <vt:lpstr>Diapositiva 28</vt:lpstr>
      <vt:lpstr>Diapositiva 29</vt:lpstr>
      <vt:lpstr>Diapositiva 30</vt:lpstr>
      <vt:lpstr>Diapositiva 31</vt:lpstr>
      <vt:lpstr>Diapositiva 32</vt:lpstr>
      <vt:lpstr>Diapositiva 33</vt:lpstr>
      <vt:lpstr>Diapositiva 34</vt:lpstr>
      <vt:lpstr>Diapositiva 35</vt:lpstr>
      <vt:lpstr>Diapositiva 36</vt:lpstr>
      <vt:lpstr>PLAGUICIDAS</vt:lpstr>
      <vt:lpstr>TIPOS DE PLAGUICIDAS</vt:lpstr>
      <vt:lpstr>Diapositiva 39</vt:lpstr>
      <vt:lpstr>Diapositiva 40</vt:lpstr>
      <vt:lpstr>Diapositiva 41</vt:lpstr>
      <vt:lpstr>Diapositiva 42</vt:lpstr>
      <vt:lpstr>Diapositiva 43</vt:lpstr>
      <vt:lpstr>Diapositiva 44</vt:lpstr>
      <vt:lpstr>Diapositiva 45</vt:lpstr>
      <vt:lpstr>Diapositiva 46</vt:lpstr>
      <vt:lpstr>Diapositiva 47</vt:lpstr>
      <vt:lpstr>Diapositiva 48</vt:lpstr>
      <vt:lpstr>Diapositiva 49</vt:lpstr>
      <vt:lpstr>OTRAS SUSTANCIAS</vt:lpstr>
      <vt:lpstr>Diapositiva 51</vt:lpstr>
      <vt:lpstr>TOXICOS LABORALES</vt:lpstr>
      <vt:lpstr>EXPOSICION A LAS DIOXINAS Y FURANOS</vt:lpstr>
      <vt:lpstr>Exposición a dioxinas y furanos.</vt:lpstr>
      <vt:lpstr>Políticas de prevención :</vt:lpstr>
      <vt:lpstr>Ejemplos </vt:lpstr>
      <vt:lpstr>Otros gases toxicos</vt:lpstr>
      <vt:lpstr>Prevención.-  </vt:lpstr>
      <vt:lpstr>Agresiones físicas</vt:lpstr>
      <vt:lpstr>Consecuencias </vt:lpstr>
      <vt:lpstr>Imágenes </vt:lpstr>
      <vt:lpstr>Exposición a microondas, ultrasonidos y radiofrecuencias</vt:lpstr>
      <vt:lpstr>Hipertermia </vt:lpstr>
      <vt:lpstr>Prevención.</vt:lpstr>
      <vt:lpstr>Hazlo por ellos.</vt:lpstr>
      <vt:lpstr>Instruye al niño en su camino, aún cuando fuera viejo no se apartará de           ella.                                             Prov 22:6         </vt:lpstr>
    </vt:vector>
  </TitlesOfParts>
  <Company>Company</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1</dc:title>
  <dc:creator>Intel</dc:creator>
  <cp:lastModifiedBy>Lilian</cp:lastModifiedBy>
  <cp:revision>17</cp:revision>
  <dcterms:created xsi:type="dcterms:W3CDTF">2010-08-28T03:39:30Z</dcterms:created>
  <dcterms:modified xsi:type="dcterms:W3CDTF">2010-08-28T14:30:21Z</dcterms:modified>
</cp:coreProperties>
</file>