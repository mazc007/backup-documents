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67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00E320-3A19-4B6D-9D4B-E98C468C8EA4}" type="datetimeFigureOut">
              <a:rPr lang="es-BO" smtClean="0"/>
              <a:t>01/06/2014</a:t>
            </a:fld>
            <a:endParaRPr lang="es-B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E87DFF-0647-454A-93C3-3F49C53BDFD3}" type="slidenum">
              <a:rPr lang="es-BO" smtClean="0"/>
              <a:t>‹Nº›</a:t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B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E87DFF-0647-454A-93C3-3F49C53BDFD3}" type="slidenum">
              <a:rPr lang="es-BO" smtClean="0"/>
              <a:t>18</a:t>
            </a:fld>
            <a:endParaRPr lang="es-B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457200"/>
            <a:ext cx="8397875" cy="5562600"/>
            <a:chOff x="240" y="288"/>
            <a:chExt cx="5290" cy="3504"/>
          </a:xfrm>
        </p:grpSpPr>
        <p:sp>
          <p:nvSpPr>
            <p:cNvPr id="98307" name="Rectangle 3"/>
            <p:cNvSpPr>
              <a:spLocks noChangeArrowheads="1"/>
            </p:cNvSpPr>
            <p:nvPr/>
          </p:nvSpPr>
          <p:spPr bwMode="blackWhite">
            <a:xfrm>
              <a:off x="240" y="288"/>
              <a:ext cx="5290" cy="3504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s-BO" sz="2400">
                <a:latin typeface="Times New Roman" pitchFamily="18" charset="0"/>
              </a:endParaRPr>
            </a:p>
          </p:txBody>
        </p:sp>
        <p:sp>
          <p:nvSpPr>
            <p:cNvPr id="98308" name="Rectangle 4"/>
            <p:cNvSpPr>
              <a:spLocks noChangeArrowheads="1"/>
            </p:cNvSpPr>
            <p:nvPr/>
          </p:nvSpPr>
          <p:spPr bwMode="auto">
            <a:xfrm>
              <a:off x="285" y="336"/>
              <a:ext cx="5184" cy="3408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s-BO" sz="2400">
                <a:latin typeface="Times New Roman" pitchFamily="18" charset="0"/>
              </a:endParaRPr>
            </a:p>
          </p:txBody>
        </p:sp>
        <p:sp>
          <p:nvSpPr>
            <p:cNvPr id="98309" name="Line 5"/>
            <p:cNvSpPr>
              <a:spLocks noChangeShapeType="1"/>
            </p:cNvSpPr>
            <p:nvPr/>
          </p:nvSpPr>
          <p:spPr bwMode="auto">
            <a:xfrm>
              <a:off x="576" y="2256"/>
              <a:ext cx="460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BO"/>
            </a:p>
          </p:txBody>
        </p:sp>
      </p:grpSp>
      <p:sp>
        <p:nvSpPr>
          <p:cNvPr id="98310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219200" y="838200"/>
            <a:ext cx="6781800" cy="2559050"/>
          </a:xfrm>
        </p:spPr>
        <p:txBody>
          <a:bodyPr anchorCtr="1"/>
          <a:lstStyle>
            <a:lvl1pPr algn="ctr">
              <a:defRPr sz="6200"/>
            </a:lvl1pPr>
          </a:lstStyle>
          <a:p>
            <a:pPr lvl="0"/>
            <a:r>
              <a:rPr lang="es-ES" noProof="0" smtClean="0"/>
              <a:t>Haga clic para modificar el estilo de título del patrón</a:t>
            </a:r>
            <a:endParaRPr lang="en-US" noProof="0" smtClean="0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33800"/>
            <a:ext cx="6400800" cy="187325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pPr lvl="0"/>
            <a:r>
              <a:rPr lang="es-ES" noProof="0" smtClean="0"/>
              <a:t>Haga clic para modificar el estilo de subtítulo del patrón</a:t>
            </a:r>
            <a:endParaRPr lang="en-US" noProof="0" smtClean="0"/>
          </a:p>
        </p:txBody>
      </p:sp>
      <p:sp>
        <p:nvSpPr>
          <p:cNvPr id="98312" name="Rectangle 8"/>
          <p:cNvSpPr>
            <a:spLocks noGrp="1" noChangeArrowheads="1"/>
          </p:cNvSpPr>
          <p:nvPr>
            <p:ph type="dt" sz="half" idx="2"/>
          </p:nvPr>
        </p:nvSpPr>
        <p:spPr>
          <a:xfrm>
            <a:off x="536575" y="6248400"/>
            <a:ext cx="2054225" cy="457200"/>
          </a:xfrm>
        </p:spPr>
        <p:txBody>
          <a:bodyPr/>
          <a:lstStyle>
            <a:lvl1pPr>
              <a:defRPr/>
            </a:lvl1pPr>
          </a:lstStyle>
          <a:p>
            <a:fld id="{5945565D-78CA-419B-B29D-12AD8F11B21C}" type="datetimeFigureOut">
              <a:rPr lang="es-BO" smtClean="0"/>
              <a:t>01/06/2014</a:t>
            </a:fld>
            <a:endParaRPr lang="es-BO"/>
          </a:p>
        </p:txBody>
      </p:sp>
      <p:sp>
        <p:nvSpPr>
          <p:cNvPr id="98313" name="Rectangle 9"/>
          <p:cNvSpPr>
            <a:spLocks noGrp="1" noChangeArrowheads="1"/>
          </p:cNvSpPr>
          <p:nvPr>
            <p:ph type="ftr" sz="quarter" idx="3"/>
          </p:nvPr>
        </p:nvSpPr>
        <p:spPr>
          <a:xfrm>
            <a:off x="3251200" y="6248400"/>
            <a:ext cx="2887663" cy="457200"/>
          </a:xfrm>
        </p:spPr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98314" name="Rectangle 1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788150" y="625792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CB5FADB-BD27-47A2-8218-B057FAD6BED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45565D-78CA-419B-B29D-12AD8F11B21C}" type="datetimeFigureOut">
              <a:rPr lang="es-BO" smtClean="0"/>
              <a:t>01/06/2014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B5FADB-BD27-47A2-8218-B057FAD6BE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902019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45565D-78CA-419B-B29D-12AD8F11B21C}" type="datetimeFigureOut">
              <a:rPr lang="es-BO" smtClean="0"/>
              <a:t>01/06/2014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B5FADB-BD27-47A2-8218-B057FAD6BE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407147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533400" y="1828800"/>
            <a:ext cx="40005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005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45565D-78CA-419B-B29D-12AD8F11B21C}" type="datetimeFigureOut">
              <a:rPr lang="es-BO" smtClean="0"/>
              <a:t>01/06/2014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B5FADB-BD27-47A2-8218-B057FAD6BE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3598640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45565D-78CA-419B-B29D-12AD8F11B21C}" type="datetimeFigureOut">
              <a:rPr lang="es-BO" smtClean="0"/>
              <a:t>01/06/2014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B5FADB-BD27-47A2-8218-B057FAD6BE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81367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45565D-78CA-419B-B29D-12AD8F11B21C}" type="datetimeFigureOut">
              <a:rPr lang="es-BO" smtClean="0"/>
              <a:t>01/06/2014</a:t>
            </a:fld>
            <a:endParaRPr lang="es-B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B5FADB-BD27-47A2-8218-B057FAD6BE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1089058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45565D-78CA-419B-B29D-12AD8F11B21C}" type="datetimeFigureOut">
              <a:rPr lang="es-BO" smtClean="0"/>
              <a:t>01/06/2014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B5FADB-BD27-47A2-8218-B057FAD6BE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2289586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45565D-78CA-419B-B29D-12AD8F11B21C}" type="datetimeFigureOut">
              <a:rPr lang="es-BO" smtClean="0"/>
              <a:t>01/06/2014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B5FADB-BD27-47A2-8218-B057FAD6BE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943992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s-B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45565D-78CA-419B-B29D-12AD8F11B21C}" type="datetimeFigureOut">
              <a:rPr lang="es-BO" smtClean="0"/>
              <a:t>01/06/2014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B5FADB-BD27-47A2-8218-B057FAD6BE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414240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45565D-78CA-419B-B29D-12AD8F11B21C}" type="datetimeFigureOut">
              <a:rPr lang="es-BO" smtClean="0"/>
              <a:t>01/06/2014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B5FADB-BD27-47A2-8218-B057FAD6BE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1374914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48450" y="473075"/>
            <a:ext cx="2038350" cy="53943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33400" y="473075"/>
            <a:ext cx="5962650" cy="53943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45565D-78CA-419B-B29D-12AD8F11B21C}" type="datetimeFigureOut">
              <a:rPr lang="es-BO" smtClean="0"/>
              <a:t>01/06/2014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B5FADB-BD27-47A2-8218-B057FAD6BED0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="" xmlns:p14="http://schemas.microsoft.com/office/powerpoint/2010/main" val="42779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8600" y="228600"/>
            <a:ext cx="8686800" cy="5943600"/>
            <a:chOff x="144" y="144"/>
            <a:chExt cx="5472" cy="3744"/>
          </a:xfrm>
        </p:grpSpPr>
        <p:sp>
          <p:nvSpPr>
            <p:cNvPr id="97283" name="Rectangle 3"/>
            <p:cNvSpPr>
              <a:spLocks noChangeArrowheads="1"/>
            </p:cNvSpPr>
            <p:nvPr/>
          </p:nvSpPr>
          <p:spPr bwMode="auto">
            <a:xfrm>
              <a:off x="144" y="144"/>
              <a:ext cx="5472" cy="3744"/>
            </a:xfrm>
            <a:prstGeom prst="rect">
              <a:avLst/>
            </a:prstGeom>
            <a:solidFill>
              <a:schemeClr val="bg1"/>
            </a:solidFill>
            <a:ln w="4445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s-BO" sz="2400">
                <a:latin typeface="Times New Roman" pitchFamily="18" charset="0"/>
              </a:endParaRPr>
            </a:p>
          </p:txBody>
        </p:sp>
        <p:sp>
          <p:nvSpPr>
            <p:cNvPr id="97284" name="Rectangle 4"/>
            <p:cNvSpPr>
              <a:spLocks noChangeArrowheads="1"/>
            </p:cNvSpPr>
            <p:nvPr/>
          </p:nvSpPr>
          <p:spPr bwMode="blackWhite">
            <a:xfrm>
              <a:off x="193" y="193"/>
              <a:ext cx="5373" cy="36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s-BO" sz="2400">
                <a:latin typeface="Times New Roman" pitchFamily="18" charset="0"/>
              </a:endParaRPr>
            </a:p>
          </p:txBody>
        </p:sp>
        <p:sp>
          <p:nvSpPr>
            <p:cNvPr id="97285" name="Line 5"/>
            <p:cNvSpPr>
              <a:spLocks noChangeShapeType="1"/>
            </p:cNvSpPr>
            <p:nvPr/>
          </p:nvSpPr>
          <p:spPr bwMode="auto">
            <a:xfrm>
              <a:off x="336" y="1092"/>
              <a:ext cx="5136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BO"/>
            </a:p>
          </p:txBody>
        </p:sp>
      </p:grpSp>
      <p:sp>
        <p:nvSpPr>
          <p:cNvPr id="9728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473075"/>
            <a:ext cx="8153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Haga clic para cambiar el estilo de título	</a:t>
            </a:r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828800"/>
            <a:ext cx="81534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Haga clic para modificar el estilo de texto del patrón</a:t>
            </a:r>
          </a:p>
          <a:p>
            <a:pPr lvl="1"/>
            <a:r>
              <a:rPr lang="en-US" smtClean="0"/>
              <a:t>Segundo nivel</a:t>
            </a:r>
          </a:p>
          <a:p>
            <a:pPr lvl="2"/>
            <a:r>
              <a:rPr lang="en-US" smtClean="0"/>
              <a:t>Tercer nivel</a:t>
            </a:r>
          </a:p>
          <a:p>
            <a:pPr lvl="3"/>
            <a:r>
              <a:rPr lang="en-US" smtClean="0"/>
              <a:t>Cuarto nivel</a:t>
            </a:r>
          </a:p>
          <a:p>
            <a:pPr lvl="4"/>
            <a:r>
              <a:rPr lang="en-US" smtClean="0"/>
              <a:t>Quinto nivel</a:t>
            </a:r>
          </a:p>
        </p:txBody>
      </p:sp>
      <p:sp>
        <p:nvSpPr>
          <p:cNvPr id="97288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33400" y="62484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fld id="{5945565D-78CA-419B-B29D-12AD8F11B21C}" type="datetimeFigureOut">
              <a:rPr lang="es-BO" smtClean="0"/>
              <a:t>01/06/2014</a:t>
            </a:fld>
            <a:endParaRPr lang="es-BO"/>
          </a:p>
        </p:txBody>
      </p:sp>
      <p:sp>
        <p:nvSpPr>
          <p:cNvPr id="97289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385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s-BO"/>
          </a:p>
        </p:txBody>
      </p:sp>
      <p:sp>
        <p:nvSpPr>
          <p:cNvPr id="97290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BCB5FADB-BD27-47A2-8218-B057FAD6BED0}" type="slidenum">
              <a:rPr lang="es-BO" smtClean="0"/>
              <a:t>‹Nº›</a:t>
            </a:fld>
            <a:endParaRPr lang="es-BO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n"/>
        <a:defRPr sz="31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6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3 Rectángulo"/>
          <p:cNvSpPr/>
          <p:nvPr/>
        </p:nvSpPr>
        <p:spPr>
          <a:xfrm>
            <a:off x="251520" y="620688"/>
            <a:ext cx="842493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BO" dirty="0" smtClean="0">
                <a:latin typeface="Arial" pitchFamily="34" charset="0"/>
                <a:cs typeface="Arial" pitchFamily="34" charset="0"/>
              </a:rPr>
              <a:t>UNIVERSIDAD SIGLO XX</a:t>
            </a:r>
            <a:br>
              <a:rPr lang="es-BO" dirty="0" smtClean="0">
                <a:latin typeface="Arial" pitchFamily="34" charset="0"/>
                <a:cs typeface="Arial" pitchFamily="34" charset="0"/>
              </a:rPr>
            </a:br>
            <a:r>
              <a:rPr lang="es-BO" dirty="0" smtClean="0">
                <a:latin typeface="Arial" pitchFamily="34" charset="0"/>
                <a:cs typeface="Arial" pitchFamily="34" charset="0"/>
              </a:rPr>
              <a:t>DEPARTAMENTO DE POST GRADO</a:t>
            </a:r>
            <a:br>
              <a:rPr lang="es-BO" dirty="0" smtClean="0">
                <a:latin typeface="Arial" pitchFamily="34" charset="0"/>
                <a:cs typeface="Arial" pitchFamily="34" charset="0"/>
              </a:rPr>
            </a:br>
            <a:r>
              <a:rPr lang="es-BO" dirty="0" smtClean="0">
                <a:latin typeface="Arial" pitchFamily="34" charset="0"/>
                <a:cs typeface="Arial" pitchFamily="34" charset="0"/>
              </a:rPr>
              <a:t>MAESTRIA EN ENFERMERI MEDICO QUIRUGICO</a:t>
            </a:r>
          </a:p>
          <a:p>
            <a:endParaRPr lang="es-BO" dirty="0" smtClean="0">
              <a:latin typeface="Arial" pitchFamily="34" charset="0"/>
              <a:cs typeface="Arial" pitchFamily="34" charset="0"/>
            </a:endParaRPr>
          </a:p>
          <a:p>
            <a:endParaRPr lang="es-BO" dirty="0" smtClean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</a:pPr>
            <a:r>
              <a:rPr lang="es-BO" sz="3600" dirty="0" smtClean="0">
                <a:latin typeface="Arial" pitchFamily="34" charset="0"/>
                <a:cs typeface="Arial" pitchFamily="34" charset="0"/>
              </a:rPr>
              <a:t>ABSCESO PIRIANAL</a:t>
            </a:r>
          </a:p>
          <a:p>
            <a:pPr>
              <a:spcBef>
                <a:spcPts val="0"/>
              </a:spcBef>
            </a:pPr>
            <a:r>
              <a:rPr lang="es-BO" sz="3600" dirty="0" smtClean="0">
                <a:latin typeface="Arial" pitchFamily="34" charset="0"/>
                <a:cs typeface="Arial" pitchFamily="34" charset="0"/>
              </a:rPr>
              <a:t> PROTOCOLO DE ENFERMERIA</a:t>
            </a:r>
          </a:p>
          <a:p>
            <a:endParaRPr lang="es-BO" b="1" dirty="0" smtClean="0">
              <a:latin typeface="Arial" pitchFamily="34" charset="0"/>
              <a:cs typeface="Arial" pitchFamily="34" charset="0"/>
            </a:endParaRPr>
          </a:p>
          <a:p>
            <a:endParaRPr lang="es-BO" b="1" dirty="0" smtClean="0">
              <a:latin typeface="Arial" pitchFamily="34" charset="0"/>
              <a:cs typeface="Arial" pitchFamily="34" charset="0"/>
            </a:endParaRPr>
          </a:p>
          <a:p>
            <a:endParaRPr lang="es-BO" b="1" dirty="0" smtClean="0">
              <a:latin typeface="Arial" pitchFamily="34" charset="0"/>
              <a:cs typeface="Arial" pitchFamily="34" charset="0"/>
            </a:endParaRPr>
          </a:p>
          <a:p>
            <a:endParaRPr lang="es-BO" b="1" dirty="0" smtClean="0">
              <a:latin typeface="Arial" pitchFamily="34" charset="0"/>
              <a:cs typeface="Arial" pitchFamily="34" charset="0"/>
            </a:endParaRPr>
          </a:p>
          <a:p>
            <a:r>
              <a:rPr lang="es-BO" sz="2000" b="1" dirty="0" smtClean="0">
                <a:latin typeface="Arial" pitchFamily="34" charset="0"/>
                <a:cs typeface="Arial" pitchFamily="34" charset="0"/>
              </a:rPr>
              <a:t>PRESENTADO:</a:t>
            </a:r>
            <a:endParaRPr lang="es-ES" sz="2000" dirty="0" smtClean="0"/>
          </a:p>
          <a:p>
            <a:r>
              <a:rPr lang="es-ES" sz="2000" dirty="0" smtClean="0"/>
              <a:t>Mirian Villarroel</a:t>
            </a:r>
          </a:p>
          <a:p>
            <a:r>
              <a:rPr lang="es-ES" sz="2000" dirty="0" smtClean="0"/>
              <a:t> Pamela Carrión </a:t>
            </a:r>
            <a:r>
              <a:rPr lang="es-BO" sz="2000" b="1" dirty="0" smtClean="0">
                <a:latin typeface="Arial" pitchFamily="34" charset="0"/>
                <a:cs typeface="Arial" pitchFamily="34" charset="0"/>
              </a:rPr>
              <a:t>    </a:t>
            </a:r>
          </a:p>
          <a:p>
            <a:pPr>
              <a:spcBef>
                <a:spcPts val="0"/>
              </a:spcBef>
            </a:pPr>
            <a:r>
              <a:rPr lang="es-BO" b="1" dirty="0" smtClean="0">
                <a:latin typeface="Arial" pitchFamily="34" charset="0"/>
                <a:cs typeface="Arial" pitchFamily="34" charset="0"/>
              </a:rPr>
              <a:t>CBBA- BOLIVIA</a:t>
            </a:r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/>
              <a:t/>
            </a:r>
            <a:br>
              <a:rPr lang="es-BO" b="1" dirty="0" smtClean="0"/>
            </a:br>
            <a:r>
              <a:rPr lang="es-BO" b="1" dirty="0" smtClean="0"/>
              <a:t>OBJETIVOS	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BO" dirty="0" smtClean="0"/>
              <a:t>El </a:t>
            </a:r>
            <a:r>
              <a:rPr lang="es-BO" dirty="0"/>
              <a:t>principal objetivo del siguiente trabajo es dar a conocer un plan de cuidados estandarizado para el paciente </a:t>
            </a:r>
            <a:r>
              <a:rPr lang="es-BO" dirty="0" smtClean="0"/>
              <a:t>con </a:t>
            </a:r>
            <a:r>
              <a:rPr lang="es-BO" dirty="0"/>
              <a:t>absceso perianal.</a:t>
            </a:r>
          </a:p>
          <a:p>
            <a:r>
              <a:rPr lang="es-BO" dirty="0"/>
              <a:t>Como objetivo secundario pretendemos describir brevemente la etiopatogenia de este tipo de patología.</a:t>
            </a:r>
          </a:p>
          <a:p>
            <a:pPr>
              <a:buNone/>
            </a:pPr>
            <a:r>
              <a:rPr lang="es-BO" dirty="0"/>
              <a:t/>
            </a:r>
            <a:br>
              <a:rPr lang="es-BO" dirty="0"/>
            </a:br>
            <a:endParaRPr lang="es-BO" dirty="0"/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NANDA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b="1" dirty="0"/>
              <a:t>DIAGNOSTICO</a:t>
            </a:r>
            <a:endParaRPr lang="es-BO" dirty="0"/>
          </a:p>
          <a:p>
            <a:r>
              <a:rPr lang="es-BO" dirty="0"/>
              <a:t>ANSIEDAD</a:t>
            </a:r>
          </a:p>
          <a:p>
            <a:r>
              <a:rPr lang="es-BO" b="1" dirty="0"/>
              <a:t>FACTORES RELACIONADOS</a:t>
            </a:r>
            <a:endParaRPr lang="es-BO" dirty="0"/>
          </a:p>
          <a:p>
            <a:r>
              <a:rPr lang="es-BO" dirty="0"/>
              <a:t>hospitalización / enfermedad</a:t>
            </a:r>
          </a:p>
          <a:p>
            <a:r>
              <a:rPr lang="es-BO" b="1" dirty="0"/>
              <a:t>MANIFESTACIONES CLÍNICAS</a:t>
            </a:r>
            <a:endParaRPr lang="es-BO" dirty="0"/>
          </a:p>
          <a:p>
            <a:r>
              <a:rPr lang="es-BO" dirty="0"/>
              <a:t>nerviosismo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b="1" dirty="0"/>
              <a:t>RESULTADOS (NOC)</a:t>
            </a:r>
            <a:endParaRPr lang="es-BO" dirty="0"/>
          </a:p>
          <a:p>
            <a:r>
              <a:rPr lang="es-BO" dirty="0"/>
              <a:t>1402- </a:t>
            </a:r>
            <a:r>
              <a:rPr lang="es-BO" b="1" dirty="0"/>
              <a:t>control de la ansiedad</a:t>
            </a:r>
            <a:endParaRPr lang="es-BO" dirty="0"/>
          </a:p>
          <a:p>
            <a:r>
              <a:rPr lang="es-BO" dirty="0"/>
              <a:t>140204 busca información para reducir la ansiedad.</a:t>
            </a:r>
          </a:p>
          <a:p>
            <a:r>
              <a:rPr lang="es-BO" dirty="0"/>
              <a:t>140216 ausencia de manifestaciones de una conducta de ansiedad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264696"/>
          </a:xfrm>
        </p:spPr>
        <p:txBody>
          <a:bodyPr>
            <a:normAutofit fontScale="47500" lnSpcReduction="20000"/>
          </a:bodyPr>
          <a:lstStyle/>
          <a:p>
            <a:r>
              <a:rPr lang="es-BO" sz="3700" b="1" dirty="0"/>
              <a:t>INTERVENCIONES (NIC)</a:t>
            </a:r>
            <a:endParaRPr lang="es-BO" sz="3700" dirty="0"/>
          </a:p>
          <a:p>
            <a:r>
              <a:rPr lang="es-BO" sz="3700" dirty="0"/>
              <a:t>7310- </a:t>
            </a:r>
            <a:r>
              <a:rPr lang="es-BO" sz="3700" b="1" dirty="0"/>
              <a:t>cuidados de enfermería al ingreso</a:t>
            </a:r>
            <a:endParaRPr lang="es-BO" sz="3700" dirty="0"/>
          </a:p>
          <a:p>
            <a:r>
              <a:rPr lang="es-BO" sz="3700" dirty="0"/>
              <a:t>731001 presentarse a si mismo</a:t>
            </a:r>
          </a:p>
          <a:p>
            <a:r>
              <a:rPr lang="es-BO" sz="3700" dirty="0"/>
              <a:t>731002 disponer de intimidad para el paciente/familia</a:t>
            </a:r>
          </a:p>
          <a:p>
            <a:r>
              <a:rPr lang="es-BO" sz="3700" dirty="0"/>
              <a:t>731003 orientar al paciente/familia en el entorno más próximo</a:t>
            </a:r>
          </a:p>
          <a:p>
            <a:r>
              <a:rPr lang="es-BO" sz="3700" dirty="0"/>
              <a:t>731005 abrir historia</a:t>
            </a:r>
          </a:p>
          <a:p>
            <a:r>
              <a:rPr lang="es-BO" sz="3700" dirty="0"/>
              <a:t>731014 establecer diagnósticos de enfermería</a:t>
            </a:r>
          </a:p>
          <a:p>
            <a:r>
              <a:rPr lang="es-BO" sz="3700" dirty="0"/>
              <a:t>731020 realizar valoración inicial por necesidades</a:t>
            </a:r>
          </a:p>
          <a:p>
            <a:r>
              <a:rPr lang="es-BO" sz="3700" dirty="0"/>
              <a:t>5820- </a:t>
            </a:r>
            <a:r>
              <a:rPr lang="es-BO" sz="3700" b="1" dirty="0"/>
              <a:t>disminución de la ansiedad</a:t>
            </a:r>
            <a:endParaRPr lang="es-BO" sz="3700" dirty="0"/>
          </a:p>
          <a:p>
            <a:r>
              <a:rPr lang="es-BO" sz="3700" dirty="0"/>
              <a:t>582003 explicar todos los procedimientos, incluyendo las posibles sensaciones que se han de experimentar durante el procedimiento</a:t>
            </a:r>
          </a:p>
          <a:p>
            <a:r>
              <a:rPr lang="es-BO" sz="3700" dirty="0"/>
              <a:t>582005 proporcionar información objetiva respecto del diagnóstico, tratamiento y pronóstico.</a:t>
            </a:r>
          </a:p>
          <a:p>
            <a:r>
              <a:rPr lang="es-BO" sz="3700" dirty="0"/>
              <a:t>582012 escuchar con atención</a:t>
            </a:r>
          </a:p>
          <a:p>
            <a:r>
              <a:rPr lang="es-BO" sz="3700" dirty="0"/>
              <a:t>582014 crear un ambiente que facilite la confianza</a:t>
            </a:r>
          </a:p>
          <a:p>
            <a:r>
              <a:rPr lang="es-BO" sz="3700" dirty="0"/>
              <a:t>582025 animar la implicación familiar</a:t>
            </a:r>
          </a:p>
          <a:p>
            <a:r>
              <a:rPr lang="es-BO" sz="3700" dirty="0"/>
              <a:t>4238- </a:t>
            </a:r>
            <a:r>
              <a:rPr lang="es-BO" sz="3700" b="1" dirty="0"/>
              <a:t>flebotomía; toma de muestra de sangre </a:t>
            </a:r>
            <a:r>
              <a:rPr lang="es-BO" sz="3700" b="1" dirty="0" smtClean="0"/>
              <a:t>venosa</a:t>
            </a:r>
            <a:r>
              <a:rPr lang="es-BO" sz="4000" dirty="0" smtClean="0"/>
              <a:t>2930- </a:t>
            </a:r>
            <a:r>
              <a:rPr lang="es-BO" sz="4000" b="1" dirty="0" smtClean="0"/>
              <a:t>preparación quirúrgica</a:t>
            </a:r>
            <a:endParaRPr lang="es-BO" sz="4000" dirty="0" smtClean="0"/>
          </a:p>
          <a:p>
            <a:r>
              <a:rPr lang="es-BO" sz="4000" dirty="0" smtClean="0"/>
              <a:t>293004 asegurarse que el paciente no recibe nada por boca</a:t>
            </a:r>
          </a:p>
          <a:p>
            <a:r>
              <a:rPr lang="es-BO" sz="4000" dirty="0" smtClean="0"/>
              <a:t>293005 asegurarse que el historial físico se encuentra reflejado en la hoja</a:t>
            </a:r>
          </a:p>
          <a:p>
            <a:endParaRPr lang="es-BO" sz="3700" b="1" dirty="0" smtClean="0"/>
          </a:p>
          <a:p>
            <a:r>
              <a:rPr lang="es-BO" sz="3700" b="1" dirty="0" smtClean="0"/>
              <a:t>.</a:t>
            </a:r>
            <a:endParaRPr lang="es-BO" sz="3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3400" y="473075"/>
            <a:ext cx="8153400" cy="147613"/>
          </a:xfrm>
        </p:spPr>
        <p:txBody>
          <a:bodyPr/>
          <a:lstStyle/>
          <a:p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3400" y="620688"/>
            <a:ext cx="8153400" cy="5246712"/>
          </a:xfrm>
        </p:spPr>
        <p:txBody>
          <a:bodyPr/>
          <a:lstStyle/>
          <a:p>
            <a:r>
              <a:rPr lang="es-BO" sz="1800" dirty="0" smtClean="0"/>
              <a:t>293007 </a:t>
            </a:r>
            <a:r>
              <a:rPr lang="es-BO" sz="1800" dirty="0" smtClean="0"/>
              <a:t>verificar que los resultados de los análisis se encuentran registrados en las hojas</a:t>
            </a:r>
          </a:p>
          <a:p>
            <a:r>
              <a:rPr lang="es-BO" sz="1800" dirty="0" smtClean="0"/>
              <a:t>293008 comprobar la disponibilidad de transfusiones de sangre, si procede</a:t>
            </a:r>
          </a:p>
          <a:p>
            <a:r>
              <a:rPr lang="es-BO" sz="1800" dirty="0" smtClean="0"/>
              <a:t>293010 poner delante de la historia una hoja con las alergias</a:t>
            </a:r>
          </a:p>
          <a:p>
            <a:r>
              <a:rPr lang="es-BO" sz="1800" dirty="0" smtClean="0"/>
              <a:t>293014 retirar joyas</a:t>
            </a:r>
          </a:p>
          <a:p>
            <a:r>
              <a:rPr lang="es-BO" sz="1800" dirty="0" smtClean="0"/>
              <a:t>293015 extraer dentaduras, gafas, lentillas y/o prótesis.</a:t>
            </a:r>
          </a:p>
          <a:p>
            <a:r>
              <a:rPr lang="es-BO" sz="1800" dirty="0" smtClean="0"/>
              <a:t>293016 quitar esmalte de uñas, maquillaje, horquillas del pelo, si procede</a:t>
            </a:r>
          </a:p>
          <a:p>
            <a:r>
              <a:rPr lang="es-BO" sz="1800" dirty="0" smtClean="0"/>
              <a:t>293019 explicar los medicamentos preoperatorios</a:t>
            </a:r>
          </a:p>
          <a:p>
            <a:r>
              <a:rPr lang="es-BO" sz="1800" dirty="0" smtClean="0"/>
              <a:t>293021 poner en marcha terapia IV si procede</a:t>
            </a:r>
          </a:p>
          <a:p>
            <a:r>
              <a:rPr lang="es-BO" sz="1800" dirty="0" smtClean="0"/>
              <a:t>293025 realizar rasurado quirúrgico</a:t>
            </a:r>
          </a:p>
          <a:p>
            <a:r>
              <a:rPr lang="es-BO" sz="1800" dirty="0" smtClean="0"/>
              <a:t>293029 comprobar que el paciente viste ropas adecuadas, según las normas del centro.</a:t>
            </a:r>
          </a:p>
          <a:p>
            <a:r>
              <a:rPr lang="es-BO" sz="1800" dirty="0" smtClean="0"/>
              <a:t>293037 controlar la TA</a:t>
            </a:r>
          </a:p>
          <a:p>
            <a:r>
              <a:rPr lang="es-BO" sz="1800" dirty="0" smtClean="0"/>
              <a:t>293038 controlar la </a:t>
            </a:r>
            <a:r>
              <a:rPr lang="es-BO" sz="1800" dirty="0" err="1" smtClean="0"/>
              <a:t>tª</a:t>
            </a:r>
            <a:endParaRPr lang="es-BO" sz="1800" dirty="0" smtClean="0"/>
          </a:p>
          <a:p>
            <a:r>
              <a:rPr lang="es-BO" sz="1800" dirty="0" smtClean="0"/>
              <a:t>293041 canalizar vía venosa periférica</a:t>
            </a:r>
          </a:p>
          <a:p>
            <a:pPr>
              <a:buNone/>
            </a:pPr>
            <a:endParaRPr lang="es-BO" sz="1800" dirty="0" smtClean="0"/>
          </a:p>
          <a:p>
            <a:endParaRPr lang="es-BO" dirty="0" smtClean="0"/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NANDA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b="1" dirty="0" smtClean="0"/>
              <a:t>DIAGNOSTICO</a:t>
            </a:r>
            <a:endParaRPr lang="es-BO" dirty="0" smtClean="0"/>
          </a:p>
          <a:p>
            <a:r>
              <a:rPr lang="es-BO" dirty="0" smtClean="0"/>
              <a:t>DOLOR AGUDO</a:t>
            </a:r>
          </a:p>
          <a:p>
            <a:r>
              <a:rPr lang="es-BO" b="1" dirty="0" smtClean="0"/>
              <a:t>FACTORES RELACIONADOS</a:t>
            </a:r>
            <a:endParaRPr lang="es-BO" dirty="0" smtClean="0"/>
          </a:p>
          <a:p>
            <a:r>
              <a:rPr lang="es-BO" dirty="0" smtClean="0"/>
              <a:t>proceso quirúrgico</a:t>
            </a:r>
          </a:p>
          <a:p>
            <a:r>
              <a:rPr lang="es-BO" b="1" dirty="0" smtClean="0"/>
              <a:t>MANIFESTACIONES CLÍNICAS</a:t>
            </a:r>
            <a:endParaRPr lang="es-BO" dirty="0" smtClean="0"/>
          </a:p>
          <a:p>
            <a:r>
              <a:rPr lang="es-BO" dirty="0" smtClean="0"/>
              <a:t>verbalización, posición de defensa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RESULTADOS (NOC)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sz="2000" dirty="0" smtClean="0"/>
              <a:t>1605- </a:t>
            </a:r>
            <a:r>
              <a:rPr lang="es-BO" sz="2000" b="1" dirty="0" smtClean="0"/>
              <a:t>control del dolor</a:t>
            </a:r>
            <a:endParaRPr lang="es-BO" sz="2000" dirty="0" smtClean="0"/>
          </a:p>
          <a:p>
            <a:r>
              <a:rPr lang="es-BO" sz="2000" b="1" dirty="0" smtClean="0"/>
              <a:t> </a:t>
            </a:r>
            <a:r>
              <a:rPr lang="es-BO" sz="2000" dirty="0" smtClean="0"/>
              <a:t>160502 reconoce el comienzo del dolor</a:t>
            </a:r>
          </a:p>
          <a:p>
            <a:r>
              <a:rPr lang="es-BO" sz="2000" dirty="0" smtClean="0"/>
              <a:t>160504 utiliza medidas de alivio no farmacológico</a:t>
            </a:r>
          </a:p>
          <a:p>
            <a:r>
              <a:rPr lang="es-BO" sz="2000" dirty="0" smtClean="0"/>
              <a:t>160505 utiliza los analgésicos de forma apropiada</a:t>
            </a:r>
          </a:p>
          <a:p>
            <a:r>
              <a:rPr lang="es-BO" sz="2000" dirty="0" smtClean="0"/>
              <a:t>160511 refiere dolor controlado</a:t>
            </a:r>
          </a:p>
          <a:p>
            <a:r>
              <a:rPr lang="es-BO" sz="2000" dirty="0" smtClean="0"/>
              <a:t>2100- </a:t>
            </a:r>
            <a:r>
              <a:rPr lang="es-BO" sz="2000" b="1" dirty="0" smtClean="0"/>
              <a:t>nivel de comodidad</a:t>
            </a:r>
            <a:endParaRPr lang="es-BO" sz="2000" dirty="0" smtClean="0"/>
          </a:p>
          <a:p>
            <a:r>
              <a:rPr lang="es-BO" sz="2000" dirty="0" smtClean="0"/>
              <a:t>210112 </a:t>
            </a:r>
            <a:r>
              <a:rPr lang="es-BO" sz="2000" dirty="0" err="1" smtClean="0"/>
              <a:t>transtorno</a:t>
            </a:r>
            <a:r>
              <a:rPr lang="es-BO" sz="2000" dirty="0" smtClean="0"/>
              <a:t> del sueño</a:t>
            </a:r>
          </a:p>
          <a:p>
            <a:r>
              <a:rPr lang="es-BO" sz="2000" dirty="0" smtClean="0"/>
              <a:t>210117 evacuación alterada</a:t>
            </a:r>
          </a:p>
          <a:p>
            <a:r>
              <a:rPr lang="es-BO" sz="2000" dirty="0" smtClean="0"/>
              <a:t>130616 temor a los procedimientos y equipamiento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INTERVENCIONES (NIC)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sz="2000" dirty="0" smtClean="0"/>
              <a:t>2304- </a:t>
            </a:r>
            <a:r>
              <a:rPr lang="es-BO" sz="2000" b="1" dirty="0" smtClean="0"/>
              <a:t>administración de medicación VO</a:t>
            </a:r>
            <a:endParaRPr lang="es-BO" sz="2000" dirty="0" smtClean="0"/>
          </a:p>
          <a:p>
            <a:r>
              <a:rPr lang="es-BO" sz="2000" dirty="0" smtClean="0"/>
              <a:t>2313- </a:t>
            </a:r>
            <a:r>
              <a:rPr lang="es-BO" sz="2000" b="1" dirty="0" smtClean="0"/>
              <a:t>administración de medicación IM</a:t>
            </a:r>
            <a:endParaRPr lang="es-BO" sz="2000" dirty="0" smtClean="0"/>
          </a:p>
          <a:p>
            <a:r>
              <a:rPr lang="es-BO" sz="2000" dirty="0" smtClean="0"/>
              <a:t>4220- </a:t>
            </a:r>
            <a:r>
              <a:rPr lang="es-BO" sz="2000" b="1" dirty="0" smtClean="0"/>
              <a:t>terapia IV</a:t>
            </a:r>
            <a:endParaRPr lang="es-BO" sz="2000" dirty="0" smtClean="0"/>
          </a:p>
          <a:p>
            <a:r>
              <a:rPr lang="es-BO" sz="2000" dirty="0" smtClean="0"/>
              <a:t>420002 instruir al paciente acerca del procedimiento</a:t>
            </a:r>
          </a:p>
          <a:p>
            <a:r>
              <a:rPr lang="es-BO" sz="2000" dirty="0" smtClean="0"/>
              <a:t>420006 cambiar frascos de suero</a:t>
            </a:r>
          </a:p>
          <a:p>
            <a:r>
              <a:rPr lang="es-BO" sz="2000" dirty="0" smtClean="0"/>
              <a:t>420010 vigilar la frecuencia del flujo IV y el sitio de la punción durante su infusión</a:t>
            </a:r>
          </a:p>
          <a:p>
            <a:r>
              <a:rPr lang="es-BO" sz="2000" dirty="0" smtClean="0"/>
              <a:t>420012 observar la permeabilidad de la vía durante la administración IV</a:t>
            </a:r>
          </a:p>
          <a:p>
            <a:r>
              <a:rPr lang="es-BO" sz="2000" dirty="0" smtClean="0"/>
              <a:t>5900-</a:t>
            </a:r>
            <a:r>
              <a:rPr lang="es-BO" sz="2000" b="1" dirty="0" smtClean="0"/>
              <a:t>distracción</a:t>
            </a:r>
            <a:endParaRPr lang="es-BO" sz="2000" dirty="0" smtClean="0"/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b="1" dirty="0" smtClean="0"/>
              <a:t>DIAGNOSTICO</a:t>
            </a:r>
            <a:endParaRPr lang="es-BO" dirty="0" smtClean="0"/>
          </a:p>
          <a:p>
            <a:r>
              <a:rPr lang="es-BO" dirty="0" smtClean="0"/>
              <a:t>ALTERACIÓN PATRON DEL SUEÑO</a:t>
            </a:r>
          </a:p>
          <a:p>
            <a:r>
              <a:rPr lang="es-BO" b="1" dirty="0" smtClean="0"/>
              <a:t>FACTORES RELACIONADOS</a:t>
            </a:r>
            <a:endParaRPr lang="es-BO" dirty="0" smtClean="0"/>
          </a:p>
          <a:p>
            <a:r>
              <a:rPr lang="es-BO" dirty="0" smtClean="0"/>
              <a:t>hospitalización, dolor</a:t>
            </a:r>
          </a:p>
          <a:p>
            <a:r>
              <a:rPr lang="es-BO" b="1" dirty="0" smtClean="0"/>
              <a:t>MANIFESTACIONES CLÍNICAS</a:t>
            </a:r>
            <a:endParaRPr lang="es-BO" dirty="0" smtClean="0"/>
          </a:p>
          <a:p>
            <a:r>
              <a:rPr lang="es-BO" dirty="0" smtClean="0"/>
              <a:t>verbalización, sueño diurno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RESULTADOS (NOC)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0003- </a:t>
            </a:r>
            <a:r>
              <a:rPr lang="es-BO" b="1" dirty="0" smtClean="0"/>
              <a:t>descanso</a:t>
            </a:r>
            <a:endParaRPr lang="es-BO" dirty="0" smtClean="0"/>
          </a:p>
          <a:p>
            <a:r>
              <a:rPr lang="es-BO" b="1" dirty="0" smtClean="0"/>
              <a:t> </a:t>
            </a:r>
            <a:r>
              <a:rPr lang="es-BO" dirty="0" smtClean="0"/>
              <a:t>000304 paciente descansado físicamente</a:t>
            </a:r>
          </a:p>
          <a:p>
            <a:r>
              <a:rPr lang="es-BO" dirty="0" smtClean="0"/>
              <a:t>000305 paciente descansado mentalmente</a:t>
            </a:r>
          </a:p>
          <a:p>
            <a:r>
              <a:rPr lang="es-BO" dirty="0" smtClean="0"/>
              <a:t>0004- </a:t>
            </a:r>
            <a:r>
              <a:rPr lang="es-BO" b="1" dirty="0" smtClean="0"/>
              <a:t>sueño</a:t>
            </a:r>
            <a:endParaRPr lang="es-BO" dirty="0" smtClean="0"/>
          </a:p>
          <a:p>
            <a:r>
              <a:rPr lang="es-BO" dirty="0" smtClean="0"/>
              <a:t>000404 calidad del sueño</a:t>
            </a:r>
          </a:p>
          <a:p>
            <a:r>
              <a:rPr lang="es-BO" dirty="0" smtClean="0"/>
              <a:t>000405 eficiencia del sueño</a:t>
            </a:r>
          </a:p>
          <a:p>
            <a:r>
              <a:rPr lang="es-BO" dirty="0" smtClean="0"/>
              <a:t>000406 sueño ininterrumpido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INTERVENCIONES (NIC)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3400" y="1340768"/>
            <a:ext cx="8153400" cy="4526632"/>
          </a:xfrm>
        </p:spPr>
        <p:txBody>
          <a:bodyPr/>
          <a:lstStyle/>
          <a:p>
            <a:r>
              <a:rPr lang="es-BO" sz="2000" dirty="0" smtClean="0"/>
              <a:t>1850- </a:t>
            </a:r>
            <a:r>
              <a:rPr lang="es-BO" sz="2000" b="1" dirty="0" smtClean="0"/>
              <a:t>fomentar el sueño</a:t>
            </a:r>
            <a:endParaRPr lang="es-BO" sz="2000" dirty="0" smtClean="0"/>
          </a:p>
          <a:p>
            <a:r>
              <a:rPr lang="es-BO" sz="2000" dirty="0" smtClean="0"/>
              <a:t>185001 determinar el esquema sueño/vigilia del paciente</a:t>
            </a:r>
          </a:p>
          <a:p>
            <a:r>
              <a:rPr lang="es-BO" sz="2000" dirty="0" smtClean="0"/>
              <a:t>185004 determinar los efectos que tiene la medicación del paciente en el esquema del sueño</a:t>
            </a:r>
          </a:p>
          <a:p>
            <a:r>
              <a:rPr lang="es-BO" sz="2000" dirty="0" smtClean="0"/>
              <a:t>185006 comprobar el esquema de sueño del paciente y observar las circunstancias físicas/psicológicas que interrumpen el sueño</a:t>
            </a:r>
          </a:p>
          <a:p>
            <a:r>
              <a:rPr lang="es-BO" sz="2000" dirty="0" smtClean="0"/>
              <a:t>185008 ajustar el ambiente para favorecer el sueño</a:t>
            </a:r>
          </a:p>
          <a:p>
            <a:r>
              <a:rPr lang="es-BO" sz="2000" dirty="0" smtClean="0"/>
              <a:t>185019 agrupar las actividades para minimizar el número de despertares</a:t>
            </a:r>
          </a:p>
          <a:p>
            <a:r>
              <a:rPr lang="es-BO" sz="2000" dirty="0" smtClean="0"/>
              <a:t>185020 agrupar el programa de administración de medicamentos para apoyar el</a:t>
            </a:r>
          </a:p>
          <a:p>
            <a:r>
              <a:rPr lang="es-BO" sz="2000" dirty="0" smtClean="0"/>
              <a:t>ciclo vigilia-sueño</a:t>
            </a:r>
          </a:p>
          <a:p>
            <a:r>
              <a:rPr lang="es-BO" sz="2000" dirty="0" smtClean="0"/>
              <a:t>185023 fomentar el uso de medicamentos para dormir que no contengan supresores de la fase REM.</a:t>
            </a:r>
          </a:p>
          <a:p>
            <a:pPr algn="ctr"/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3400" y="1268760"/>
            <a:ext cx="8153400" cy="4598640"/>
          </a:xfrm>
        </p:spPr>
        <p:txBody>
          <a:bodyPr/>
          <a:lstStyle/>
          <a:p>
            <a:pPr>
              <a:buNone/>
            </a:pPr>
            <a:r>
              <a:rPr lang="es-BO" b="1" dirty="0" smtClean="0"/>
              <a:t>DIAGNOSTICO</a:t>
            </a:r>
            <a:endParaRPr lang="es-BO" dirty="0" smtClean="0"/>
          </a:p>
          <a:p>
            <a:r>
              <a:rPr lang="es-BO" dirty="0" smtClean="0"/>
              <a:t>DETERIORO DE LA INTEGRIDAD TISULAR</a:t>
            </a:r>
          </a:p>
          <a:p>
            <a:r>
              <a:rPr lang="es-BO" b="1" dirty="0" smtClean="0"/>
              <a:t>FACTORES RELACIONADOS</a:t>
            </a:r>
            <a:endParaRPr lang="es-BO" dirty="0" smtClean="0"/>
          </a:p>
          <a:p>
            <a:r>
              <a:rPr lang="es-BO" dirty="0" smtClean="0"/>
              <a:t>infección perianal</a:t>
            </a:r>
          </a:p>
          <a:p>
            <a:r>
              <a:rPr lang="es-BO" b="1" dirty="0" smtClean="0"/>
              <a:t>MANIFESTACIONES CLÍNICAS</a:t>
            </a:r>
            <a:endParaRPr lang="es-BO" dirty="0" smtClean="0"/>
          </a:p>
          <a:p>
            <a:r>
              <a:rPr lang="es-BO" dirty="0" smtClean="0"/>
              <a:t>lesión en el tejido dérmico y epidérmico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RESULTADOS (NOC)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sz="2000" dirty="0" smtClean="0"/>
              <a:t>1101- </a:t>
            </a:r>
            <a:r>
              <a:rPr lang="es-BO" sz="2000" b="1" dirty="0" smtClean="0"/>
              <a:t>curación de la herida por segunda intención</a:t>
            </a:r>
            <a:endParaRPr lang="es-BO" sz="2000" dirty="0" smtClean="0"/>
          </a:p>
          <a:p>
            <a:r>
              <a:rPr lang="es-BO" sz="2000" dirty="0" smtClean="0"/>
              <a:t>110101 temperatura tisular ERE</a:t>
            </a:r>
          </a:p>
          <a:p>
            <a:r>
              <a:rPr lang="es-BO" sz="2000" dirty="0" smtClean="0"/>
              <a:t>110102 sensibilidad ERE</a:t>
            </a:r>
          </a:p>
          <a:p>
            <a:r>
              <a:rPr lang="es-BO" sz="2000" dirty="0" smtClean="0"/>
              <a:t>110103 elasticidad ERE</a:t>
            </a:r>
          </a:p>
          <a:p>
            <a:r>
              <a:rPr lang="es-BO" sz="2000" dirty="0" smtClean="0"/>
              <a:t>110104 hidratación</a:t>
            </a:r>
          </a:p>
          <a:p>
            <a:r>
              <a:rPr lang="es-BO" sz="2000" dirty="0" smtClean="0"/>
              <a:t>110111 perfusión tisular</a:t>
            </a:r>
          </a:p>
          <a:p>
            <a:r>
              <a:rPr lang="es-BO" sz="2000" dirty="0" smtClean="0"/>
              <a:t>110113 piel intacta</a:t>
            </a:r>
          </a:p>
          <a:p>
            <a:endParaRPr lang="es-BO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INTERVENCIONES (NIC)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sz="2000" dirty="0" smtClean="0"/>
              <a:t>3660- </a:t>
            </a:r>
            <a:r>
              <a:rPr lang="es-BO" sz="2000" b="1" dirty="0" smtClean="0"/>
              <a:t>cuidados de las heridas</a:t>
            </a:r>
            <a:endParaRPr lang="es-BO" sz="2000" dirty="0" smtClean="0"/>
          </a:p>
          <a:p>
            <a:r>
              <a:rPr lang="es-BO" sz="2000" dirty="0" smtClean="0"/>
              <a:t>366001 despegar apósitos y limpiar restos de las heridas</a:t>
            </a:r>
          </a:p>
          <a:p>
            <a:r>
              <a:rPr lang="es-BO" sz="2000" dirty="0" smtClean="0"/>
              <a:t>366003 anotar características de la herida</a:t>
            </a:r>
          </a:p>
          <a:p>
            <a:r>
              <a:rPr lang="es-BO" sz="2000" dirty="0" smtClean="0"/>
              <a:t>366004 anotar las características del líquido drenado</a:t>
            </a:r>
          </a:p>
          <a:p>
            <a:r>
              <a:rPr lang="es-BO" sz="2000" dirty="0" smtClean="0"/>
              <a:t>366012 atender el lugar de incisión.</a:t>
            </a:r>
          </a:p>
          <a:p>
            <a:r>
              <a:rPr lang="es-BO" sz="2000" dirty="0" smtClean="0"/>
              <a:t>366022 mantener Técnica estéril para realizarlos cuidados de la herida.</a:t>
            </a:r>
          </a:p>
          <a:p>
            <a:r>
              <a:rPr lang="es-BO" sz="2000" dirty="0" smtClean="0"/>
              <a:t>366024 comparar y registrar cualquier cambio producido en la herida.</a:t>
            </a:r>
          </a:p>
          <a:p>
            <a:r>
              <a:rPr lang="es-BO" sz="2000" dirty="0" smtClean="0"/>
              <a:t>366025 colocar de manera que evite presionar la herida.</a:t>
            </a:r>
          </a:p>
          <a:p>
            <a:r>
              <a:rPr lang="es-BO" sz="2000" dirty="0" smtClean="0"/>
              <a:t>366026 enseñar al paciente/acompañante a realizar la cura para el alta domiciliaria si precisa.</a:t>
            </a:r>
          </a:p>
          <a:p>
            <a:r>
              <a:rPr lang="es-BO" dirty="0" smtClean="0"/>
              <a:t> 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BO" b="1" dirty="0" smtClean="0"/>
              <a:t>DIAGNOSTICO</a:t>
            </a:r>
            <a:endParaRPr lang="es-BO" dirty="0" smtClean="0"/>
          </a:p>
          <a:p>
            <a:r>
              <a:rPr lang="es-BO" dirty="0" smtClean="0"/>
              <a:t>RIESGO DE RETENCIÓN URINARIA</a:t>
            </a:r>
          </a:p>
          <a:p>
            <a:r>
              <a:rPr lang="es-BO" b="1" dirty="0" smtClean="0"/>
              <a:t>FACTORES RELACIONADOS</a:t>
            </a:r>
            <a:endParaRPr lang="es-BO" dirty="0" smtClean="0"/>
          </a:p>
          <a:p>
            <a:r>
              <a:rPr lang="es-BO" dirty="0" smtClean="0"/>
              <a:t>proceso anestésico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RESULTADOS (NOC)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0563- </a:t>
            </a:r>
            <a:r>
              <a:rPr lang="es-BO" b="1" dirty="0" smtClean="0"/>
              <a:t>eliminación urinaria</a:t>
            </a:r>
            <a:endParaRPr lang="es-BO" dirty="0" smtClean="0"/>
          </a:p>
          <a:p>
            <a:r>
              <a:rPr lang="es-BO" dirty="0" smtClean="0"/>
              <a:t>056301 patrón de eliminación .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3400" y="473075"/>
            <a:ext cx="8153400" cy="939701"/>
          </a:xfrm>
        </p:spPr>
        <p:txBody>
          <a:bodyPr/>
          <a:lstStyle/>
          <a:p>
            <a:r>
              <a:rPr lang="es-BO" b="1" dirty="0" smtClean="0"/>
              <a:t>INTERVENCIONES (NIC)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3400" y="1484784"/>
            <a:ext cx="8153400" cy="4382616"/>
          </a:xfrm>
        </p:spPr>
        <p:txBody>
          <a:bodyPr/>
          <a:lstStyle/>
          <a:p>
            <a:r>
              <a:rPr lang="es-BO" sz="2000" dirty="0" smtClean="0"/>
              <a:t>0590- </a:t>
            </a:r>
            <a:r>
              <a:rPr lang="es-BO" sz="2000" b="1" dirty="0" smtClean="0"/>
              <a:t>manejo de la eliminación urinaria</a:t>
            </a:r>
            <a:endParaRPr lang="es-BO" sz="2000" dirty="0" smtClean="0"/>
          </a:p>
          <a:p>
            <a:r>
              <a:rPr lang="es-BO" sz="2000" dirty="0" smtClean="0"/>
              <a:t>059002 observar si hay signos y síntomas</a:t>
            </a:r>
          </a:p>
          <a:p>
            <a:r>
              <a:rPr lang="es-BO" sz="2000" dirty="0" smtClean="0"/>
              <a:t>de retención urinaria</a:t>
            </a:r>
          </a:p>
          <a:p>
            <a:r>
              <a:rPr lang="es-BO" sz="2000" dirty="0" smtClean="0"/>
              <a:t>059004 anotar la hora de la última micción</a:t>
            </a:r>
          </a:p>
          <a:p>
            <a:r>
              <a:rPr lang="es-BO" sz="2000" dirty="0" smtClean="0"/>
              <a:t>059014 registrar la hora de la primera</a:t>
            </a:r>
          </a:p>
          <a:p>
            <a:r>
              <a:rPr lang="es-BO" sz="2000" dirty="0" smtClean="0"/>
              <a:t>eliminación después del procedimiento</a:t>
            </a:r>
          </a:p>
          <a:p>
            <a:r>
              <a:rPr lang="es-BO" sz="2000" dirty="0" smtClean="0"/>
              <a:t>0582-</a:t>
            </a:r>
            <a:r>
              <a:rPr lang="es-BO" sz="2000" b="1" dirty="0" smtClean="0"/>
              <a:t>sondaje vesical intermitente</a:t>
            </a:r>
            <a:endParaRPr lang="es-BO" sz="2000" dirty="0" smtClean="0"/>
          </a:p>
          <a:p>
            <a:r>
              <a:rPr lang="es-BO" sz="2000" dirty="0" smtClean="0"/>
              <a:t>058202 enseñar al paciente/familia el</a:t>
            </a:r>
          </a:p>
          <a:p>
            <a:r>
              <a:rPr lang="es-BO" sz="2000" dirty="0" smtClean="0"/>
              <a:t>propósito, suministros, métodos y funcionamiento</a:t>
            </a:r>
          </a:p>
          <a:p>
            <a:r>
              <a:rPr lang="es-BO" sz="2000" dirty="0" smtClean="0"/>
              <a:t>de la </a:t>
            </a:r>
            <a:r>
              <a:rPr lang="es-BO" sz="2000" dirty="0" err="1" smtClean="0"/>
              <a:t>cateterización</a:t>
            </a:r>
            <a:r>
              <a:rPr lang="es-BO" sz="2000" dirty="0" smtClean="0"/>
              <a:t> intermitente</a:t>
            </a:r>
          </a:p>
          <a:p>
            <a:r>
              <a:rPr lang="es-BO" sz="2000" dirty="0" smtClean="0"/>
              <a:t>058212 utilizar técnica aséptica para la</a:t>
            </a:r>
          </a:p>
          <a:p>
            <a:r>
              <a:rPr lang="es-BO" sz="2000" dirty="0" err="1" smtClean="0"/>
              <a:t>cateterización</a:t>
            </a:r>
            <a:endParaRPr lang="es-BO" sz="2000" dirty="0" smtClean="0"/>
          </a:p>
          <a:p>
            <a:r>
              <a:rPr lang="es-BO" dirty="0" smtClean="0"/>
              <a:t> 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b="1" dirty="0" smtClean="0"/>
              <a:t>DIAGNOSTICO</a:t>
            </a:r>
            <a:endParaRPr lang="es-BO" dirty="0" smtClean="0"/>
          </a:p>
          <a:p>
            <a:r>
              <a:rPr lang="es-BO" dirty="0" smtClean="0"/>
              <a:t>RIESGO DE ESTREÑIMIENTO</a:t>
            </a:r>
          </a:p>
          <a:p>
            <a:r>
              <a:rPr lang="es-BO" b="1" dirty="0" smtClean="0"/>
              <a:t>FACTORES RELACIONADOS</a:t>
            </a:r>
            <a:endParaRPr lang="es-BO" dirty="0" smtClean="0"/>
          </a:p>
          <a:p>
            <a:r>
              <a:rPr lang="es-BO" dirty="0" smtClean="0"/>
              <a:t>presencia de lesión zona perianal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RESULTADOS (NOC)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0501- </a:t>
            </a:r>
            <a:r>
              <a:rPr lang="es-BO" b="1" dirty="0" smtClean="0"/>
              <a:t>eliminación intestinal</a:t>
            </a:r>
            <a:endParaRPr lang="es-BO" dirty="0" smtClean="0"/>
          </a:p>
          <a:p>
            <a:r>
              <a:rPr lang="es-BO" dirty="0" smtClean="0"/>
              <a:t>050101patrón de eliminación </a:t>
            </a:r>
          </a:p>
          <a:p>
            <a:r>
              <a:rPr lang="es-BO" dirty="0" smtClean="0"/>
              <a:t>050110 ausencia de estreñimiento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3400" y="473075"/>
            <a:ext cx="8153400" cy="795685"/>
          </a:xfrm>
        </p:spPr>
        <p:txBody>
          <a:bodyPr/>
          <a:lstStyle/>
          <a:p>
            <a:r>
              <a:rPr lang="es-BO" b="1" dirty="0" smtClean="0"/>
              <a:t>INTERVENCIONES (NIC)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3400" y="980728"/>
            <a:ext cx="8153400" cy="4886672"/>
          </a:xfrm>
        </p:spPr>
        <p:txBody>
          <a:bodyPr/>
          <a:lstStyle/>
          <a:p>
            <a:r>
              <a:rPr lang="es-BO" sz="2000" dirty="0" smtClean="0"/>
              <a:t>0450- </a:t>
            </a:r>
            <a:r>
              <a:rPr lang="es-BO" sz="2000" b="1" dirty="0" smtClean="0"/>
              <a:t>manejo de estreñimiento</a:t>
            </a:r>
            <a:endParaRPr lang="es-BO" sz="2000" dirty="0" smtClean="0"/>
          </a:p>
          <a:p>
            <a:r>
              <a:rPr lang="es-BO" sz="2000" dirty="0" smtClean="0"/>
              <a:t>045001 vigilar la aparición de signos /síntomas estreñimiento</a:t>
            </a:r>
          </a:p>
          <a:p>
            <a:r>
              <a:rPr lang="es-BO" sz="2000" dirty="0" smtClean="0"/>
              <a:t>045008 identificar factores que pueden ser causa del estreñimiento o contribuyen al mismo</a:t>
            </a:r>
          </a:p>
          <a:p>
            <a:r>
              <a:rPr lang="es-BO" sz="2000" dirty="0" smtClean="0"/>
              <a:t>045014 instruir al paciente/familia sobre la dieta rica en fibra, si procede</a:t>
            </a:r>
          </a:p>
          <a:p>
            <a:r>
              <a:rPr lang="es-BO" sz="2000" dirty="0" smtClean="0"/>
              <a:t>045015 instruir al paciente/familia sobre el uso correcto de laxantes</a:t>
            </a:r>
          </a:p>
          <a:p>
            <a:r>
              <a:rPr lang="es-BO" sz="2000" dirty="0" smtClean="0"/>
              <a:t>1400- </a:t>
            </a:r>
            <a:r>
              <a:rPr lang="es-BO" sz="2000" b="1" dirty="0" smtClean="0"/>
              <a:t>manejo del dolor</a:t>
            </a:r>
            <a:endParaRPr lang="es-BO" sz="2000" dirty="0" smtClean="0"/>
          </a:p>
          <a:p>
            <a:r>
              <a:rPr lang="es-BO" sz="2000" dirty="0" smtClean="0"/>
              <a:t>140003 asegurarse que el paciente reciba los cuidados analgésicos correspondientes</a:t>
            </a:r>
          </a:p>
          <a:p>
            <a:r>
              <a:rPr lang="es-BO" sz="2000" dirty="0" smtClean="0"/>
              <a:t>140016 seleccionar y desarrollar aquellas medidas farmacológicas/no farmacológicas que faciliten el alivio del dolor en la eliminación</a:t>
            </a:r>
          </a:p>
          <a:p>
            <a:r>
              <a:rPr lang="es-BO" sz="2000" dirty="0" smtClean="0"/>
              <a:t>140021 proporcionar a la persona un alivio del dolor óptimo mediante analgésicos prescritos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BO" b="1" dirty="0" smtClean="0"/>
              <a:t>DIAGNOSTICO</a:t>
            </a:r>
            <a:endParaRPr lang="es-BO" dirty="0" smtClean="0"/>
          </a:p>
          <a:p>
            <a:r>
              <a:rPr lang="es-BO" dirty="0" smtClean="0"/>
              <a:t>RIESGO DE INFECCIÓN</a:t>
            </a:r>
          </a:p>
          <a:p>
            <a:r>
              <a:rPr lang="es-BO" b="1" dirty="0" smtClean="0"/>
              <a:t>FACTORES RELACIONADOS</a:t>
            </a:r>
            <a:endParaRPr lang="es-BO" dirty="0" smtClean="0"/>
          </a:p>
          <a:p>
            <a:r>
              <a:rPr lang="es-BO" dirty="0" smtClean="0"/>
              <a:t>cirugía sucia y procedimientos invasivos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RESULTADOS (NOC)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sz="2000" dirty="0" smtClean="0"/>
              <a:t>1103- </a:t>
            </a:r>
            <a:r>
              <a:rPr lang="es-BO" sz="2000" b="1" dirty="0" smtClean="0"/>
              <a:t>curación de la herida por segunda intención</a:t>
            </a:r>
            <a:endParaRPr lang="es-BO" sz="2000" dirty="0" smtClean="0"/>
          </a:p>
          <a:p>
            <a:r>
              <a:rPr lang="es-BO" sz="2000" dirty="0" smtClean="0"/>
              <a:t>110301 granulación</a:t>
            </a:r>
          </a:p>
          <a:p>
            <a:r>
              <a:rPr lang="es-BO" sz="2000" dirty="0" smtClean="0"/>
              <a:t>110302 </a:t>
            </a:r>
            <a:r>
              <a:rPr lang="es-BO" sz="2000" dirty="0" err="1" smtClean="0"/>
              <a:t>epitelización</a:t>
            </a:r>
            <a:endParaRPr lang="es-BO" sz="2000" dirty="0" smtClean="0"/>
          </a:p>
          <a:p>
            <a:r>
              <a:rPr lang="es-BO" sz="2000" dirty="0" smtClean="0"/>
              <a:t>110303 resolución de la secreción purulenta</a:t>
            </a:r>
          </a:p>
          <a:p>
            <a:r>
              <a:rPr lang="es-BO" sz="2000" dirty="0" smtClean="0"/>
              <a:t>110304 resolución de la secreción serosa</a:t>
            </a:r>
          </a:p>
          <a:p>
            <a:r>
              <a:rPr lang="es-BO" sz="2000" dirty="0" smtClean="0"/>
              <a:t>110306 resolución de la formación del trato </a:t>
            </a:r>
            <a:r>
              <a:rPr lang="es-BO" sz="2000" dirty="0" err="1" smtClean="0"/>
              <a:t>sinusal</a:t>
            </a:r>
            <a:endParaRPr lang="es-BO" sz="2000" dirty="0" smtClean="0"/>
          </a:p>
          <a:p>
            <a:r>
              <a:rPr lang="es-BO" sz="2000" dirty="0" smtClean="0"/>
              <a:t>0703- </a:t>
            </a:r>
            <a:r>
              <a:rPr lang="es-BO" sz="2000" b="1" dirty="0" smtClean="0"/>
              <a:t>estado infeccioso</a:t>
            </a:r>
            <a:endParaRPr lang="es-BO" sz="2000" dirty="0" smtClean="0"/>
          </a:p>
          <a:p>
            <a:r>
              <a:rPr lang="es-BO" sz="2000" dirty="0" smtClean="0"/>
              <a:t>070328 flebitis por catéter venoso periférico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3400" y="334953"/>
            <a:ext cx="8153400" cy="1345055"/>
          </a:xfrm>
        </p:spPr>
        <p:txBody>
          <a:bodyPr/>
          <a:lstStyle/>
          <a:p>
            <a:r>
              <a:rPr lang="es-BO" b="1" dirty="0" smtClean="0"/>
              <a:t>INTERVENCIONES (NIC)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3400" y="1340768"/>
            <a:ext cx="8153400" cy="4752528"/>
          </a:xfrm>
        </p:spPr>
        <p:txBody>
          <a:bodyPr/>
          <a:lstStyle/>
          <a:p>
            <a:r>
              <a:rPr lang="es-BO" sz="2000" dirty="0" smtClean="0"/>
              <a:t>3860- </a:t>
            </a:r>
            <a:r>
              <a:rPr lang="es-BO" sz="2000" b="1" dirty="0" smtClean="0"/>
              <a:t>cuidados de las </a:t>
            </a:r>
            <a:r>
              <a:rPr lang="es-BO" sz="2000" b="1" dirty="0" smtClean="0"/>
              <a:t>heridas</a:t>
            </a:r>
            <a:endParaRPr lang="es-BO" sz="2000" dirty="0" smtClean="0"/>
          </a:p>
          <a:p>
            <a:r>
              <a:rPr lang="es-BO" sz="2000" dirty="0" smtClean="0"/>
              <a:t>386012 atender en la zona de incisión según sea necesario</a:t>
            </a:r>
          </a:p>
          <a:p>
            <a:r>
              <a:rPr lang="es-BO" sz="2000" dirty="0" smtClean="0"/>
              <a:t>386024 comparar y registrar regularmente cualquier cambio producido en la herida</a:t>
            </a:r>
          </a:p>
          <a:p>
            <a:r>
              <a:rPr lang="es-BO" sz="2000" dirty="0" smtClean="0"/>
              <a:t>386036 enseñar al paciente o miembro de la familia a realizar la cura de la herida para el alta</a:t>
            </a:r>
          </a:p>
          <a:p>
            <a:r>
              <a:rPr lang="es-BO" sz="2000" dirty="0" smtClean="0"/>
              <a:t>2440- </a:t>
            </a:r>
            <a:r>
              <a:rPr lang="es-BO" sz="2000" b="1" dirty="0" smtClean="0"/>
              <a:t>mantenimiento de los dispositivos de acceso venoso</a:t>
            </a:r>
            <a:endParaRPr lang="es-BO" sz="2000" dirty="0" smtClean="0"/>
          </a:p>
          <a:p>
            <a:r>
              <a:rPr lang="es-BO" sz="2000" dirty="0" smtClean="0"/>
              <a:t>244008 mantener vendaje oclusivo</a:t>
            </a:r>
          </a:p>
          <a:p>
            <a:r>
              <a:rPr lang="es-BO" sz="2000" dirty="0" smtClean="0"/>
              <a:t>244014 observar si hay signos/síntomas asociados con infección local/sistémica</a:t>
            </a:r>
          </a:p>
          <a:p>
            <a:r>
              <a:rPr lang="es-BO" sz="2000" dirty="0" smtClean="0"/>
              <a:t>244015 determinar si el paciente/familia entienden el propósito, cuidados y mantenimiento del dispositivo</a:t>
            </a:r>
          </a:p>
          <a:p>
            <a:r>
              <a:rPr lang="es-BO" sz="2000" dirty="0" smtClean="0"/>
              <a:t>244016 instruir al paciente/familiares en el mantenimiento del dispositivo.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BO" b="1" dirty="0" smtClean="0"/>
              <a:t>DIAGNOSTICO</a:t>
            </a:r>
            <a:endParaRPr lang="es-BO" dirty="0" smtClean="0"/>
          </a:p>
          <a:p>
            <a:r>
              <a:rPr lang="es-BO" dirty="0" smtClean="0"/>
              <a:t>MANEJO EFECTIVO REGIMEN TERAPÉUTICO</a:t>
            </a:r>
          </a:p>
          <a:p>
            <a:r>
              <a:rPr lang="es-BO" b="1" dirty="0" smtClean="0"/>
              <a:t>FACTORES RELACIONADOS</a:t>
            </a:r>
            <a:endParaRPr lang="es-BO" dirty="0" smtClean="0"/>
          </a:p>
          <a:p>
            <a:r>
              <a:rPr lang="es-BO" dirty="0" smtClean="0"/>
              <a:t>cuidados tras la cirugía</a:t>
            </a:r>
          </a:p>
          <a:p>
            <a:r>
              <a:rPr lang="es-BO" b="1" dirty="0" smtClean="0"/>
              <a:t>MANIFESTACIONES CLÍNICAS</a:t>
            </a:r>
            <a:endParaRPr lang="es-BO" dirty="0" smtClean="0"/>
          </a:p>
          <a:p>
            <a:r>
              <a:rPr lang="es-BO" dirty="0" smtClean="0"/>
              <a:t>verbalización procedimiento tras el alta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RESULTADOS (NOC)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1813- </a:t>
            </a:r>
            <a:r>
              <a:rPr lang="es-BO" b="1" dirty="0" smtClean="0"/>
              <a:t>conocimiento régimen terapéutico</a:t>
            </a:r>
            <a:endParaRPr lang="es-BO" dirty="0" smtClean="0"/>
          </a:p>
          <a:p>
            <a:r>
              <a:rPr lang="es-BO" dirty="0" smtClean="0"/>
              <a:t>181306 descripción de la medicación prescrita</a:t>
            </a:r>
          </a:p>
          <a:p>
            <a:r>
              <a:rPr lang="es-BO" dirty="0" smtClean="0"/>
              <a:t>181309 descripción de los procedimientos prescritos</a:t>
            </a:r>
          </a:p>
          <a:p>
            <a:r>
              <a:rPr lang="es-BO" dirty="0" smtClean="0"/>
              <a:t>181312 ejecución del procedimiento terapéutico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 smtClean="0"/>
              <a:t>INTERVENCIONES (NIC)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sz="2000" dirty="0" smtClean="0"/>
              <a:t>5510- </a:t>
            </a:r>
            <a:r>
              <a:rPr lang="es-BO" sz="2000" b="1" dirty="0" smtClean="0"/>
              <a:t>educación sanitaria</a:t>
            </a:r>
            <a:endParaRPr lang="es-BO" sz="2000" dirty="0" smtClean="0"/>
          </a:p>
          <a:p>
            <a:r>
              <a:rPr lang="es-BO" sz="2000" dirty="0" smtClean="0"/>
              <a:t>551005 determinar el contexto sanitario actual y conducta del estilo de vida del paciente</a:t>
            </a:r>
          </a:p>
          <a:p>
            <a:r>
              <a:rPr lang="es-BO" sz="2000" dirty="0" smtClean="0"/>
              <a:t>7370-</a:t>
            </a:r>
            <a:r>
              <a:rPr lang="es-BO" sz="2000" b="1" dirty="0" smtClean="0"/>
              <a:t>planificación del alta</a:t>
            </a:r>
            <a:endParaRPr lang="es-BO" sz="2000" dirty="0" smtClean="0"/>
          </a:p>
          <a:p>
            <a:r>
              <a:rPr lang="es-BO" sz="2000" dirty="0" smtClean="0"/>
              <a:t>737001 ayudar al paciente/familia a preparar el alta</a:t>
            </a:r>
          </a:p>
          <a:p>
            <a:r>
              <a:rPr lang="es-BO" sz="2000" dirty="0" smtClean="0"/>
              <a:t>737004 identificar la comprensión de los conocimientos o habilidades necesarias por parte del paciente/familia para poner en práctica después del alta</a:t>
            </a:r>
          </a:p>
          <a:p>
            <a:r>
              <a:rPr lang="es-BO" sz="2000" dirty="0" smtClean="0"/>
              <a:t>737013 fomentar los cuidados de si mismo</a:t>
            </a:r>
          </a:p>
          <a:p>
            <a:r>
              <a:rPr lang="es-BO" sz="2000" dirty="0" smtClean="0"/>
              <a:t>737018 completar y entregar el informe de enfermería al alta.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CONCLUCION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 </a:t>
            </a:r>
            <a:r>
              <a:rPr lang="es-BO" dirty="0" smtClean="0"/>
              <a:t>  </a:t>
            </a:r>
            <a:endParaRPr lang="es-BO" dirty="0" smtClean="0"/>
          </a:p>
          <a:p>
            <a:r>
              <a:rPr lang="es-BO" sz="2000" dirty="0" smtClean="0"/>
              <a:t>Los planes de cuidados estandarizados suponen una herramienta muy útil para la Enfermería porque:</a:t>
            </a:r>
          </a:p>
          <a:p>
            <a:r>
              <a:rPr lang="es-BO" sz="2000" dirty="0" smtClean="0"/>
              <a:t> </a:t>
            </a:r>
          </a:p>
          <a:p>
            <a:r>
              <a:rPr lang="es-BO" sz="2000" dirty="0" smtClean="0"/>
              <a:t>• Favorecen la comunicación con los pacientes, el unificar criterios y utilizar una tecnología común.</a:t>
            </a:r>
          </a:p>
          <a:p>
            <a:r>
              <a:rPr lang="es-BO" sz="2000" dirty="0" smtClean="0"/>
              <a:t>• Fomentan la formación y permiten a la enfermería desarrollar su trabajo de forma profesional.</a:t>
            </a:r>
          </a:p>
          <a:p>
            <a:r>
              <a:rPr lang="es-BO" sz="2000" dirty="0" smtClean="0"/>
              <a:t>• Reducen el tiempo que se tarda en escribir los planes de atención de enfermería y aumentar la eficacia en la planificación y ejecución de cuidados.</a:t>
            </a:r>
          </a:p>
          <a:p>
            <a:r>
              <a:rPr lang="es-BO" sz="2000" dirty="0" smtClean="0"/>
              <a:t>• Permiten evaluar la calidad de los cuidados de enfermería</a:t>
            </a:r>
            <a:endParaRPr lang="es-BO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4">
  <a:themeElements>
    <a:clrScheme name="Refinado 1">
      <a:dk1>
        <a:srgbClr val="666633"/>
      </a:dk1>
      <a:lt1>
        <a:srgbClr val="FFFFFF"/>
      </a:lt1>
      <a:dk2>
        <a:srgbClr val="000000"/>
      </a:dk2>
      <a:lt2>
        <a:srgbClr val="FFFFFF"/>
      </a:lt2>
      <a:accent1>
        <a:srgbClr val="666699"/>
      </a:accent1>
      <a:accent2>
        <a:srgbClr val="990000"/>
      </a:accent2>
      <a:accent3>
        <a:srgbClr val="AAAAAA"/>
      </a:accent3>
      <a:accent4>
        <a:srgbClr val="DADADA"/>
      </a:accent4>
      <a:accent5>
        <a:srgbClr val="B8B8CA"/>
      </a:accent5>
      <a:accent6>
        <a:srgbClr val="8A0000"/>
      </a:accent6>
      <a:hlink>
        <a:srgbClr val="999900"/>
      </a:hlink>
      <a:folHlink>
        <a:srgbClr val="FFFFFF"/>
      </a:folHlink>
    </a:clrScheme>
    <a:fontScheme name="Refinado">
      <a:majorFont>
        <a:latin typeface="Times New Roman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efinado 1">
        <a:dk1>
          <a:srgbClr val="666633"/>
        </a:dk1>
        <a:lt1>
          <a:srgbClr val="FFFFFF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990000"/>
        </a:accent2>
        <a:accent3>
          <a:srgbClr val="AAAAAA"/>
        </a:accent3>
        <a:accent4>
          <a:srgbClr val="DADADA"/>
        </a:accent4>
        <a:accent5>
          <a:srgbClr val="B8B8CA"/>
        </a:accent5>
        <a:accent6>
          <a:srgbClr val="8A0000"/>
        </a:accent6>
        <a:hlink>
          <a:srgbClr val="9999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ado 2">
        <a:dk1>
          <a:srgbClr val="4D4D4D"/>
        </a:dk1>
        <a:lt1>
          <a:srgbClr val="FFFFFF"/>
        </a:lt1>
        <a:dk2>
          <a:srgbClr val="4A1102"/>
        </a:dk2>
        <a:lt2>
          <a:srgbClr val="FFFFFF"/>
        </a:lt2>
        <a:accent1>
          <a:srgbClr val="CC3300"/>
        </a:accent1>
        <a:accent2>
          <a:srgbClr val="666699"/>
        </a:accent2>
        <a:accent3>
          <a:srgbClr val="B1AAAA"/>
        </a:accent3>
        <a:accent4>
          <a:srgbClr val="DADADA"/>
        </a:accent4>
        <a:accent5>
          <a:srgbClr val="E2ADAA"/>
        </a:accent5>
        <a:accent6>
          <a:srgbClr val="5C5C8A"/>
        </a:accent6>
        <a:hlink>
          <a:srgbClr val="FF99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ado 3">
        <a:dk1>
          <a:srgbClr val="666699"/>
        </a:dk1>
        <a:lt1>
          <a:srgbClr val="FFFFFF"/>
        </a:lt1>
        <a:dk2>
          <a:srgbClr val="400040"/>
        </a:dk2>
        <a:lt2>
          <a:srgbClr val="FFFFFF"/>
        </a:lt2>
        <a:accent1>
          <a:srgbClr val="FFCC00"/>
        </a:accent1>
        <a:accent2>
          <a:srgbClr val="FF3300"/>
        </a:accent2>
        <a:accent3>
          <a:srgbClr val="AFAAAF"/>
        </a:accent3>
        <a:accent4>
          <a:srgbClr val="DADADA"/>
        </a:accent4>
        <a:accent5>
          <a:srgbClr val="FFE2AA"/>
        </a:accent5>
        <a:accent6>
          <a:srgbClr val="E72D00"/>
        </a:accent6>
        <a:hlink>
          <a:srgbClr val="CC99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ado 4">
        <a:dk1>
          <a:srgbClr val="4D4D4D"/>
        </a:dk1>
        <a:lt1>
          <a:srgbClr val="FFFFFF"/>
        </a:lt1>
        <a:dk2>
          <a:srgbClr val="006699"/>
        </a:dk2>
        <a:lt2>
          <a:srgbClr val="CCECFF"/>
        </a:lt2>
        <a:accent1>
          <a:srgbClr val="339966"/>
        </a:accent1>
        <a:accent2>
          <a:srgbClr val="3366FF"/>
        </a:accent2>
        <a:accent3>
          <a:srgbClr val="AAB8CA"/>
        </a:accent3>
        <a:accent4>
          <a:srgbClr val="DADADA"/>
        </a:accent4>
        <a:accent5>
          <a:srgbClr val="ADCAB8"/>
        </a:accent5>
        <a:accent6>
          <a:srgbClr val="2D5CE7"/>
        </a:accent6>
        <a:hlink>
          <a:srgbClr val="33CC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ado 5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FF66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finado 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3300"/>
        </a:accent1>
        <a:accent2>
          <a:srgbClr val="666699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5C5C8A"/>
        </a:accent6>
        <a:hlink>
          <a:srgbClr val="999900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finado 7">
        <a:dk1>
          <a:srgbClr val="000000"/>
        </a:dk1>
        <a:lt1>
          <a:srgbClr val="FFFFFF"/>
        </a:lt1>
        <a:dk2>
          <a:srgbClr val="000066"/>
        </a:dk2>
        <a:lt2>
          <a:srgbClr val="333399"/>
        </a:lt2>
        <a:accent1>
          <a:srgbClr val="3399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8AE7"/>
        </a:accent6>
        <a:hlink>
          <a:srgbClr val="00CCFF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Tema4</Template>
  <TotalTime>50</TotalTime>
  <Words>1201</Words>
  <Application>Microsoft Office PowerPoint</Application>
  <PresentationFormat>Presentación en pantalla (4:3)</PresentationFormat>
  <Paragraphs>226</Paragraphs>
  <Slides>29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0" baseType="lpstr">
      <vt:lpstr>Tema4</vt:lpstr>
      <vt:lpstr>Diapositiva 1</vt:lpstr>
      <vt:lpstr> OBJETIVOS  </vt:lpstr>
      <vt:lpstr>NANDA</vt:lpstr>
      <vt:lpstr>Diapositiva 4</vt:lpstr>
      <vt:lpstr>Diapositiva 5</vt:lpstr>
      <vt:lpstr>Diapositiva 6</vt:lpstr>
      <vt:lpstr>NANDA</vt:lpstr>
      <vt:lpstr>RESULTADOS (NOC) </vt:lpstr>
      <vt:lpstr>INTERVENCIONES (NIC) </vt:lpstr>
      <vt:lpstr>Diapositiva 10</vt:lpstr>
      <vt:lpstr>RESULTADOS (NOC) </vt:lpstr>
      <vt:lpstr>INTERVENCIONES (NIC) </vt:lpstr>
      <vt:lpstr>Diapositiva 13</vt:lpstr>
      <vt:lpstr>RESULTADOS (NOC) </vt:lpstr>
      <vt:lpstr>INTERVENCIONES (NIC) </vt:lpstr>
      <vt:lpstr>Diapositiva 16</vt:lpstr>
      <vt:lpstr>RESULTADOS (NOC) </vt:lpstr>
      <vt:lpstr>INTERVENCIONES (NIC) </vt:lpstr>
      <vt:lpstr>Diapositiva 19</vt:lpstr>
      <vt:lpstr>RESULTADOS (NOC) </vt:lpstr>
      <vt:lpstr>INTERVENCIONES (NIC) </vt:lpstr>
      <vt:lpstr>Diapositiva 22</vt:lpstr>
      <vt:lpstr>RESULTADOS (NOC) </vt:lpstr>
      <vt:lpstr>INTERVENCIONES (NIC) </vt:lpstr>
      <vt:lpstr>Diapositiva 25</vt:lpstr>
      <vt:lpstr>RESULTADOS (NOC) </vt:lpstr>
      <vt:lpstr>INTERVENCIONES (NIC) </vt:lpstr>
      <vt:lpstr>CONCLUCION</vt:lpstr>
      <vt:lpstr>Diapositiva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minedu</dc:creator>
  <cp:lastModifiedBy>minedu</cp:lastModifiedBy>
  <cp:revision>8</cp:revision>
  <dcterms:created xsi:type="dcterms:W3CDTF">2014-06-01T07:28:11Z</dcterms:created>
  <dcterms:modified xsi:type="dcterms:W3CDTF">2014-06-01T08:18:35Z</dcterms:modified>
</cp:coreProperties>
</file>