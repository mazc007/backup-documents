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7"/>
  </p:notesMasterIdLst>
  <p:sldIdLst>
    <p:sldId id="284" r:id="rId2"/>
    <p:sldId id="261" r:id="rId3"/>
    <p:sldId id="259" r:id="rId4"/>
    <p:sldId id="260" r:id="rId5"/>
    <p:sldId id="275" r:id="rId6"/>
    <p:sldId id="276" r:id="rId7"/>
    <p:sldId id="277" r:id="rId8"/>
    <p:sldId id="278" r:id="rId9"/>
    <p:sldId id="279" r:id="rId10"/>
    <p:sldId id="280" r:id="rId11"/>
    <p:sldId id="285" r:id="rId12"/>
    <p:sldId id="287" r:id="rId13"/>
    <p:sldId id="286" r:id="rId14"/>
    <p:sldId id="306" r:id="rId15"/>
    <p:sldId id="288" r:id="rId16"/>
    <p:sldId id="282" r:id="rId17"/>
    <p:sldId id="300" r:id="rId18"/>
    <p:sldId id="301" r:id="rId19"/>
    <p:sldId id="302" r:id="rId20"/>
    <p:sldId id="283" r:id="rId21"/>
    <p:sldId id="289" r:id="rId22"/>
    <p:sldId id="290" r:id="rId23"/>
    <p:sldId id="291" r:id="rId24"/>
    <p:sldId id="307" r:id="rId25"/>
    <p:sldId id="271" r:id="rId26"/>
    <p:sldId id="303" r:id="rId27"/>
    <p:sldId id="292" r:id="rId28"/>
    <p:sldId id="293" r:id="rId29"/>
    <p:sldId id="273" r:id="rId30"/>
    <p:sldId id="304" r:id="rId31"/>
    <p:sldId id="305" r:id="rId32"/>
    <p:sldId id="262" r:id="rId33"/>
    <p:sldId id="264" r:id="rId34"/>
    <p:sldId id="294" r:id="rId35"/>
    <p:sldId id="295" r:id="rId36"/>
    <p:sldId id="296" r:id="rId37"/>
    <p:sldId id="297" r:id="rId38"/>
    <p:sldId id="298" r:id="rId39"/>
    <p:sldId id="266" r:id="rId40"/>
    <p:sldId id="267" r:id="rId41"/>
    <p:sldId id="268" r:id="rId42"/>
    <p:sldId id="270" r:id="rId43"/>
    <p:sldId id="256" r:id="rId44"/>
    <p:sldId id="257" r:id="rId45"/>
    <p:sldId id="299" r:id="rId4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66"/>
    <a:srgbClr val="008080"/>
    <a:srgbClr val="003300"/>
    <a:srgbClr val="A50021"/>
    <a:srgbClr val="CC3300"/>
    <a:srgbClr val="336600"/>
    <a:srgbClr val="660033"/>
    <a:srgbClr val="00FFCC"/>
    <a:srgbClr val="085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-1386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831C8-2F5D-4B79-BF16-1F3AC24E8E6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CE40F-4134-4DB3-9FBE-38D97E2F439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836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B75D91-E3E9-4C2B-AB99-D86CE1596DEE}" type="slidenum">
              <a:rPr lang="es-BO" smtClean="0"/>
              <a:pPr/>
              <a:t>1</a:t>
            </a:fld>
            <a:endParaRPr lang="es-BO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  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9CE40F-4134-4DB3-9FBE-38D97E2F4396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332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2E332BA-20A2-4F8A-B202-A7095499568D}" type="datetimeFigureOut">
              <a:rPr lang="es-ES" smtClean="0"/>
              <a:pPr/>
              <a:t>21/09/2013</a:t>
            </a:fld>
            <a:endParaRPr lang="es-E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52D7C8A-1D19-464B-B1EE-22343B23DDE5}" type="slidenum">
              <a:rPr lang="es-ES" smtClean="0"/>
              <a:pPr/>
              <a:t>‹Nº›</a:t>
            </a:fld>
            <a:endParaRPr lang="es-E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http://upload.wikimedia.org/wikipedia/commons/7/78/Coat_of_bolivia.png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32055" y="620688"/>
            <a:ext cx="8458200" cy="6624736"/>
          </a:xfrm>
        </p:spPr>
        <p:txBody>
          <a:bodyPr>
            <a:normAutofit fontScale="90000"/>
          </a:bodyPr>
          <a:lstStyle/>
          <a:p>
            <a:pPr algn="l"/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>                                </a:t>
            </a:r>
            <a:r>
              <a:rPr lang="es-ES_tradnl" sz="1300" b="1" dirty="0" smtClean="0">
                <a:cs typeface="Arial" pitchFamily="34" charset="0"/>
              </a:rPr>
              <a:t/>
            </a:r>
            <a:br>
              <a:rPr lang="es-ES_tradnl" sz="1300" b="1" dirty="0" smtClean="0">
                <a:cs typeface="Arial" pitchFamily="34" charset="0"/>
              </a:rPr>
            </a:br>
            <a:r>
              <a:rPr lang="es-BO" sz="1300" b="1" dirty="0" smtClean="0"/>
              <a:t>Ministerio de Salud y</a:t>
            </a:r>
            <a:br>
              <a:rPr lang="es-BO" sz="1300" b="1" dirty="0" smtClean="0"/>
            </a:br>
            <a:r>
              <a:rPr lang="es-BO" sz="1300" b="1" dirty="0" smtClean="0"/>
              <a:t>          Deportes</a:t>
            </a: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>     </a:t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>                                             </a:t>
            </a:r>
            <a:r>
              <a:rPr lang="es-ES" sz="2000" dirty="0" smtClean="0"/>
              <a:t/>
            </a:r>
            <a:br>
              <a:rPr lang="es-ES" sz="2000" dirty="0" smtClean="0"/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r>
              <a:rPr lang="es-ES_tradnl" sz="2000" b="1" dirty="0" smtClean="0">
                <a:cs typeface="Arial" pitchFamily="34" charset="0"/>
              </a:rPr>
              <a:t/>
            </a:r>
            <a:br>
              <a:rPr lang="es-ES_tradnl" sz="2000" b="1" dirty="0" smtClean="0">
                <a:cs typeface="Arial" pitchFamily="34" charset="0"/>
              </a:rPr>
            </a:br>
            <a:endParaRPr lang="es-ES_tradnl" sz="2000" b="1" dirty="0" smtClean="0">
              <a:cs typeface="Arial" pitchFamily="34" charset="0"/>
            </a:endParaRPr>
          </a:p>
        </p:txBody>
      </p:sp>
      <p:pic>
        <p:nvPicPr>
          <p:cNvPr id="5" name="4 Imagen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5743" y="410247"/>
            <a:ext cx="171451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4 Imagen" descr="Imagen:Coat of bolivia.png"/>
          <p:cNvPicPr>
            <a:picLocks noChangeAspect="1" noChangeArrowheads="1"/>
          </p:cNvPicPr>
          <p:nvPr/>
        </p:nvPicPr>
        <p:blipFill>
          <a:blip r:embed="rId4" r:link="rId5" cstate="print"/>
          <a:srcRect/>
          <a:stretch>
            <a:fillRect/>
          </a:stretch>
        </p:blipFill>
        <p:spPr bwMode="auto">
          <a:xfrm>
            <a:off x="461509" y="138625"/>
            <a:ext cx="1643074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Rectángulo"/>
          <p:cNvSpPr/>
          <p:nvPr/>
        </p:nvSpPr>
        <p:spPr>
          <a:xfrm>
            <a:off x="899592" y="3068960"/>
            <a:ext cx="585791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000" b="1" dirty="0" smtClean="0"/>
              <a:t>INTEGRANTES: LIC. HILDA AGUILAR</a:t>
            </a:r>
          </a:p>
          <a:p>
            <a:r>
              <a:rPr lang="es-ES_tradnl" sz="2000" b="1" dirty="0"/>
              <a:t> </a:t>
            </a:r>
            <a:r>
              <a:rPr lang="es-ES_tradnl" sz="2000" b="1" dirty="0" smtClean="0"/>
              <a:t>                              LIC. DORA BERNABE</a:t>
            </a:r>
          </a:p>
          <a:p>
            <a:r>
              <a:rPr lang="es-ES_tradnl" sz="2000" b="1" dirty="0"/>
              <a:t> </a:t>
            </a:r>
            <a:r>
              <a:rPr lang="es-ES_tradnl" sz="2000" b="1" dirty="0" smtClean="0"/>
              <a:t>                              LIC. MARIBEL CRUZ</a:t>
            </a:r>
          </a:p>
          <a:p>
            <a:r>
              <a:rPr lang="es-ES_tradnl" sz="2000" b="1" dirty="0" smtClean="0"/>
              <a:t>                               LIC. ROLANDO LIMACHI </a:t>
            </a:r>
            <a:endParaRPr lang="es-ES_tradnl" sz="2000" b="1" dirty="0"/>
          </a:p>
          <a:p>
            <a:r>
              <a:rPr lang="es-ES_tradnl" sz="2000" b="1" dirty="0" smtClean="0"/>
              <a:t>                               LIC. ARMINDA VARGAS</a:t>
            </a:r>
          </a:p>
          <a:p>
            <a:r>
              <a:rPr lang="es-ES_tradnl" sz="2000" b="1" dirty="0" smtClean="0"/>
              <a:t>                               LIC. LILIAN ZAPATA</a:t>
            </a:r>
          </a:p>
          <a:p>
            <a:endParaRPr lang="es-ES_tradnl" sz="2000" b="1" dirty="0"/>
          </a:p>
          <a:p>
            <a:r>
              <a:rPr lang="es-ES_tradnl" sz="2000" b="1" dirty="0" smtClean="0"/>
              <a:t>FECHA: 21/SEPTIEMBRE/2013</a:t>
            </a:r>
            <a:endParaRPr lang="es-ES" sz="2000" dirty="0" smtClean="0"/>
          </a:p>
        </p:txBody>
      </p:sp>
      <p:sp>
        <p:nvSpPr>
          <p:cNvPr id="3" name="2 Rectángulo"/>
          <p:cNvSpPr/>
          <p:nvPr/>
        </p:nvSpPr>
        <p:spPr>
          <a:xfrm>
            <a:off x="1326372" y="410247"/>
            <a:ext cx="667945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s-ES" sz="3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PROCESO DE ATENCION </a:t>
            </a:r>
          </a:p>
          <a:p>
            <a:pPr algn="ctr"/>
            <a:r>
              <a:rPr lang="es-ES" sz="3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DE ENFERMERIA </a:t>
            </a:r>
          </a:p>
          <a:p>
            <a:pPr algn="ctr"/>
            <a:r>
              <a:rPr lang="es-ES" sz="3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POS - OPERATORIO</a:t>
            </a:r>
            <a:endParaRPr lang="es-ES" sz="32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816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835696" y="260648"/>
            <a:ext cx="5328592" cy="584775"/>
          </a:xfrm>
          <a:prstGeom prst="rect">
            <a:avLst/>
          </a:prstGeom>
          <a:solidFill>
            <a:srgbClr val="0066FF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s-E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POST_OPERATORIO</a:t>
            </a:r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403648" y="1916832"/>
            <a:ext cx="7344816" cy="1200329"/>
          </a:xfrm>
          <a:prstGeom prst="rect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período que transcurre entre el final de una operación y la completa recuperación del paciente, o la recuperación parcial del </a:t>
            </a: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mismo. 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404426" y="1079635"/>
            <a:ext cx="2430492" cy="523220"/>
          </a:xfrm>
          <a:prstGeom prst="rect">
            <a:avLst/>
          </a:prstGeom>
          <a:solidFill>
            <a:srgbClr val="00FF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es-E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CONCEPTO</a:t>
            </a:r>
            <a:endParaRPr lang="es-E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539552" y="4509120"/>
            <a:ext cx="6192688" cy="1938992"/>
          </a:xfrm>
          <a:prstGeom prst="rect">
            <a:avLst/>
          </a:prstGeom>
          <a:ln w="76200">
            <a:solidFill>
              <a:srgbClr val="00006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período en que se producen procesos que tienden a devolver la salud al organismo después que este sufre una agresión, es la respuesta del organismo y sus manifestaciones, signos y síntomas.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5184782" y="3731642"/>
            <a:ext cx="3587765" cy="523220"/>
          </a:xfrm>
          <a:prstGeom prst="rect">
            <a:avLst/>
          </a:prstGeom>
          <a:solidFill>
            <a:srgbClr val="66FFFF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just"/>
            <a:r>
              <a:rPr lang="es-E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CONVALESCENCIA</a:t>
            </a:r>
            <a:endParaRPr lang="es-E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8 Flecha curvada hacia la derecha"/>
          <p:cNvSpPr/>
          <p:nvPr/>
        </p:nvSpPr>
        <p:spPr>
          <a:xfrm rot="20047855">
            <a:off x="539552" y="1916832"/>
            <a:ext cx="504056" cy="1152128"/>
          </a:xfrm>
          <a:prstGeom prst="curv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0" name="9 Flecha curvada hacia la izquierda"/>
          <p:cNvSpPr/>
          <p:nvPr/>
        </p:nvSpPr>
        <p:spPr>
          <a:xfrm rot="2183491">
            <a:off x="7338103" y="4503904"/>
            <a:ext cx="497319" cy="1173156"/>
          </a:xfrm>
          <a:prstGeom prst="curved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98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475656" y="332656"/>
            <a:ext cx="6605463" cy="584775"/>
          </a:xfrm>
          <a:prstGeom prst="rect">
            <a:avLst/>
          </a:prstGeom>
          <a:solidFill>
            <a:srgbClr val="0066FF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s-E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 EN CUANTO AL TIEMPO</a:t>
            </a:r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3203848" y="2849279"/>
            <a:ext cx="2376264" cy="57606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INMEDIATO</a:t>
            </a:r>
            <a:endParaRPr lang="es-E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899592" y="1340768"/>
            <a:ext cx="2304256" cy="1080120"/>
          </a:xfrm>
          <a:prstGeom prst="rect">
            <a:avLst/>
          </a:prstGeom>
          <a:ln w="57150">
            <a:solidFill>
              <a:srgbClr val="FF66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E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s-E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ignos vitales, presión arterial, pulso, respiración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5615136" y="1387414"/>
            <a:ext cx="2664296" cy="1033473"/>
          </a:xfrm>
          <a:prstGeom prst="rect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Valorar la permeabilidad de las vías aéreas 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5580112" y="4437112"/>
            <a:ext cx="2699320" cy="937628"/>
          </a:xfrm>
          <a:prstGeom prst="rect">
            <a:avLst/>
          </a:prstGeom>
          <a:ln w="57150">
            <a:solidFill>
              <a:srgbClr val="0000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s-E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emorragia tanto interna y externa 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899592" y="4563750"/>
            <a:ext cx="2520280" cy="810990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s-E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espuesta diurética 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10 Flecha curvada hacia arriba"/>
          <p:cNvSpPr/>
          <p:nvPr/>
        </p:nvSpPr>
        <p:spPr>
          <a:xfrm rot="20089846">
            <a:off x="5839679" y="2705263"/>
            <a:ext cx="1080120" cy="288032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11 Flecha curvada hacia arriba"/>
          <p:cNvSpPr/>
          <p:nvPr/>
        </p:nvSpPr>
        <p:spPr>
          <a:xfrm rot="1630984" flipH="1">
            <a:off x="1924487" y="2708368"/>
            <a:ext cx="1073370" cy="332976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3" name="12 Flecha curvada hacia abajo"/>
          <p:cNvSpPr/>
          <p:nvPr/>
        </p:nvSpPr>
        <p:spPr>
          <a:xfrm rot="7551676" flipV="1">
            <a:off x="2220135" y="3797761"/>
            <a:ext cx="1044116" cy="290116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4" name="13 Flecha curvada hacia abajo"/>
          <p:cNvSpPr/>
          <p:nvPr/>
        </p:nvSpPr>
        <p:spPr>
          <a:xfrm rot="2529654">
            <a:off x="5889825" y="3890895"/>
            <a:ext cx="1044116" cy="288032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87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755576" y="990323"/>
            <a:ext cx="1905202" cy="523220"/>
          </a:xfrm>
          <a:prstGeom prst="rect">
            <a:avLst/>
          </a:prstGeom>
          <a:solidFill>
            <a:srgbClr val="0000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s-BO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MEDIATO</a:t>
            </a:r>
            <a:endParaRPr lang="es-E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6156176" y="722471"/>
            <a:ext cx="2592288" cy="2123658"/>
          </a:xfrm>
          <a:prstGeom prst="rec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s-BO" sz="2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Diuresis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s-BO" sz="2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Fiebre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s-BO" sz="2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Alteraciones hidroelectrolíticas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s-BO" sz="2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Inicio de la función </a:t>
            </a:r>
            <a:r>
              <a:rPr lang="es-BO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intestinal.</a:t>
            </a:r>
            <a:endParaRPr lang="es-E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4150421" y="4077072"/>
            <a:ext cx="4572000" cy="1938992"/>
          </a:xfrm>
          <a:prstGeom prst="rect">
            <a:avLst/>
          </a:prstGeom>
          <a:ln w="76200">
            <a:solidFill>
              <a:srgbClr val="00FF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Evolución de la </a:t>
            </a:r>
            <a:r>
              <a:rPr lang="es-E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cicatrización</a:t>
            </a:r>
            <a:endParaRPr lang="es-E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duración está determinada por la clase de operación y por </a:t>
            </a: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 complicaciones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8 Elipse"/>
          <p:cNvSpPr/>
          <p:nvPr/>
        </p:nvSpPr>
        <p:spPr>
          <a:xfrm>
            <a:off x="2987824" y="722471"/>
            <a:ext cx="2428947" cy="1058924"/>
          </a:xfrm>
          <a:prstGeom prst="ellipse">
            <a:avLst/>
          </a:prstGeom>
          <a:solidFill>
            <a:schemeClr val="accent4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de los </a:t>
            </a:r>
            <a:r>
              <a:rPr lang="es-BO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desequilibrios</a:t>
            </a:r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10 Flecha doblada hacia arriba"/>
          <p:cNvSpPr/>
          <p:nvPr/>
        </p:nvSpPr>
        <p:spPr>
          <a:xfrm rot="5400000">
            <a:off x="4984723" y="1793080"/>
            <a:ext cx="864096" cy="792088"/>
          </a:xfrm>
          <a:prstGeom prst="bent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11 Rectángulo"/>
          <p:cNvSpPr/>
          <p:nvPr/>
        </p:nvSpPr>
        <p:spPr>
          <a:xfrm>
            <a:off x="911035" y="4437112"/>
            <a:ext cx="1594283" cy="523220"/>
          </a:xfrm>
          <a:prstGeom prst="rect">
            <a:avLst/>
          </a:prstGeom>
          <a:solidFill>
            <a:srgbClr val="0000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TARDÍO</a:t>
            </a:r>
            <a:endParaRPr lang="es-E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13 Flecha derecha"/>
          <p:cNvSpPr/>
          <p:nvPr/>
        </p:nvSpPr>
        <p:spPr>
          <a:xfrm>
            <a:off x="2994007" y="4343644"/>
            <a:ext cx="792088" cy="67449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474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043608" y="1340768"/>
            <a:ext cx="7128792" cy="4824536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s-BO" sz="2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s-BO" sz="27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7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DATOS GENERALES DEL PACIENTE</a:t>
            </a:r>
            <a:r>
              <a:rPr lang="es-BO" sz="2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s-BO" sz="2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Nombre:</a:t>
            </a:r>
            <a: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A. M. U</a:t>
            </a:r>
            <a:r>
              <a:rPr lang="es-BO" sz="27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s-BO" sz="27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Edad</a:t>
            </a:r>
            <a: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 años.</a:t>
            </a:r>
            <a:b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Procedencia: </a:t>
            </a:r>
            <a: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Chayanta - Potosí</a:t>
            </a:r>
            <a:b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Sexo: </a:t>
            </a:r>
            <a: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Masculino</a:t>
            </a:r>
            <a:r>
              <a:rPr lang="es-BO" sz="27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Estado Civil: </a:t>
            </a:r>
            <a: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Casado</a:t>
            </a:r>
            <a:b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Ocupación: </a:t>
            </a:r>
            <a: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Albañil</a:t>
            </a:r>
            <a:b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Sala: </a:t>
            </a:r>
            <a: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245 – 4.</a:t>
            </a:r>
            <a:b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Fecha de Ingreso: </a:t>
            </a:r>
            <a: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 – 09 – 13.     </a:t>
            </a:r>
            <a:br>
              <a:rPr lang="es-BO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Hora: </a:t>
            </a:r>
            <a:r>
              <a:rPr lang="es-BO" sz="27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21:10 p.m.</a:t>
            </a:r>
            <a:br>
              <a:rPr lang="es-BO" sz="27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BO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1403648" y="188640"/>
            <a:ext cx="6480720" cy="648072"/>
          </a:xfrm>
          <a:prstGeom prst="rect">
            <a:avLst/>
          </a:prstGeom>
          <a:solidFill>
            <a:srgbClr val="0066FF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PROCESO ATENCIÓN DE ENFERMERÍA</a:t>
            </a:r>
            <a:endParaRPr lang="es-E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7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971422" y="548680"/>
            <a:ext cx="7704856" cy="1656184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BO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      DIAGNÓSTICO MEDICO DE INGRESO: 07 – 09 – 13.</a:t>
            </a: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TRAUMA ABDOMINAL CRERRADO.</a:t>
            </a:r>
            <a:b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POLICONTUSION.</a:t>
            </a:r>
            <a:b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PERFORACION DE VISERA HUECA.</a:t>
            </a:r>
            <a:b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SHOCK SEPTICO.</a:t>
            </a:r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935418" y="2708920"/>
            <a:ext cx="7776864" cy="1296144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BO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	DIAGNOSTICO MEDICO ACTUAL: 08 – 09 – 13.</a:t>
            </a: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ABDOMEN AGUDO POR TRAUMA ABDOMINAL                              </a:t>
            </a:r>
            <a:b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CERRADO.</a:t>
            </a:r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906640" y="4401108"/>
            <a:ext cx="7805642" cy="1224136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BO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	INTERVENSION QUIRURGICA ACTUAL: 08 – 09 – 13.</a:t>
            </a: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POS OPERADO DE LAPARATOMIA EXPLORADORA.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667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755576" y="2276872"/>
            <a:ext cx="7715200" cy="1656184"/>
          </a:xfrm>
          <a:ln w="76200">
            <a:solidFill>
              <a:srgbClr val="D60093"/>
            </a:solidFill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just"/>
            <a:r>
              <a:rPr lang="es-BO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Paciente ingresa al servicio de emergencia tras haber sufrido una agresión física por terceras</a:t>
            </a:r>
            <a:br>
              <a:rPr lang="es-BO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personas.</a:t>
            </a:r>
            <a:endParaRPr lang="es-BO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1763688" y="476672"/>
            <a:ext cx="6552728" cy="720080"/>
          </a:xfrm>
          <a:prstGeom prst="rect">
            <a:avLst/>
          </a:prstGeom>
          <a:solidFill>
            <a:srgbClr val="0066FF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MOTIVO </a:t>
            </a:r>
            <a: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</a:t>
            </a:r>
            <a:r>
              <a:rPr lang="es-BO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89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395536" y="4077072"/>
            <a:ext cx="8388932" cy="2160240"/>
          </a:xfrm>
          <a:noFill/>
          <a:ln w="76200"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pPr algn="just"/>
            <a:r>
              <a:rPr lang="es-B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s-BO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lang="es-BO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B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BO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espués</a:t>
            </a:r>
            <a:r>
              <a:rPr lang="es-B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paciente presenta cefalea intensa, pérdida de conocimiento de inicio súbito, además dolor abdominal de tipo opresivo, de inicio súbito, de intensidad moderada, acompañada de nauseas llegando a vomito en 3 oportunidades, adinamia y malestar general, con múltiples laceraciones en rostro y extremidades superiores, solución de continuidad, suturada en región </a:t>
            </a:r>
            <a:r>
              <a:rPr lang="es-BO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temporoparietal</a:t>
            </a:r>
            <a:r>
              <a:rPr lang="es-B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derecho de más o menos 5 cm. </a:t>
            </a:r>
            <a:endParaRPr lang="es-BO" dirty="0"/>
          </a:p>
        </p:txBody>
      </p:sp>
      <p:sp>
        <p:nvSpPr>
          <p:cNvPr id="2" name="1 Rectángulo"/>
          <p:cNvSpPr/>
          <p:nvPr/>
        </p:nvSpPr>
        <p:spPr>
          <a:xfrm>
            <a:off x="395536" y="2636912"/>
            <a:ext cx="8388932" cy="1107996"/>
          </a:xfrm>
          <a:prstGeom prst="rect">
            <a:avLst/>
          </a:prstGeom>
          <a:noFill/>
          <a:ln w="762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BO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Refiere </a:t>
            </a:r>
            <a:r>
              <a:rPr lang="es-B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fue agredido por terceras personas y fue llevado al centro de salud de sacaba donde le realizaron curaciones, suturas y le dieron de alta, posterior a egreso del centro de </a:t>
            </a:r>
            <a:r>
              <a:rPr lang="es-BO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salud. </a:t>
            </a:r>
            <a:endParaRPr lang="es-BO" sz="2200" dirty="0"/>
          </a:p>
        </p:txBody>
      </p:sp>
      <p:sp>
        <p:nvSpPr>
          <p:cNvPr id="3" name="2 Rectángulo"/>
          <p:cNvSpPr/>
          <p:nvPr/>
        </p:nvSpPr>
        <p:spPr>
          <a:xfrm>
            <a:off x="2051720" y="305094"/>
            <a:ext cx="5184576" cy="648072"/>
          </a:xfrm>
          <a:prstGeom prst="rect">
            <a:avLst/>
          </a:prstGeom>
          <a:solidFill>
            <a:srgbClr val="0066FF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ENFERMEDAD ACTUAL</a:t>
            </a:r>
            <a:endParaRPr lang="es-E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418526" y="1124744"/>
            <a:ext cx="8388932" cy="120032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BO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Paciente de 51 años de edad ingresa al servicio de emergencias traído por sus familiares, con un cuadro clínico de más o menos 15 </a:t>
            </a:r>
            <a:r>
              <a:rPr lang="es-BO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lang="es-BO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 evolución.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580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3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301752" y="260648"/>
            <a:ext cx="8686800" cy="5976664"/>
          </a:xfrm>
        </p:spPr>
        <p:txBody>
          <a:bodyPr>
            <a:normAutofit/>
          </a:bodyPr>
          <a:lstStyle/>
          <a:p>
            <a:r>
              <a:rPr lang="es-BO" sz="2200" dirty="0" smtClean="0"/>
              <a:t/>
            </a:r>
            <a:br>
              <a:rPr lang="es-BO" sz="2200" dirty="0" smtClean="0"/>
            </a:br>
            <a:r>
              <a:rPr lang="es-BO" sz="2200" dirty="0" smtClean="0"/>
              <a:t/>
            </a:r>
            <a:br>
              <a:rPr lang="es-BO" sz="2200" dirty="0" smtClean="0"/>
            </a:br>
            <a:r>
              <a:rPr lang="es-BO" sz="2200" cap="none" dirty="0" smtClean="0"/>
              <a:t/>
            </a:r>
            <a:br>
              <a:rPr lang="es-BO" sz="2200" cap="none" dirty="0" smtClean="0"/>
            </a:br>
            <a:r>
              <a:rPr lang="es-BO" sz="2200" cap="none" dirty="0" smtClean="0"/>
              <a:t/>
            </a:r>
            <a:br>
              <a:rPr lang="es-BO" sz="2200" cap="none" dirty="0" smtClean="0"/>
            </a:br>
            <a:r>
              <a:rPr lang="es-BO" sz="2200" dirty="0" smtClean="0"/>
              <a:t/>
            </a:r>
            <a:br>
              <a:rPr lang="es-BO" sz="2200" dirty="0" smtClean="0"/>
            </a:br>
            <a:endParaRPr lang="es-BO" dirty="0"/>
          </a:p>
        </p:txBody>
      </p:sp>
      <p:sp>
        <p:nvSpPr>
          <p:cNvPr id="2" name="1 Rectángulo"/>
          <p:cNvSpPr/>
          <p:nvPr/>
        </p:nvSpPr>
        <p:spPr>
          <a:xfrm>
            <a:off x="611560" y="1412776"/>
            <a:ext cx="7920880" cy="4401205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endParaRPr lang="es-B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MADRE: </a:t>
            </a:r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Fallecida con </a:t>
            </a:r>
            <a:r>
              <a:rPr lang="es-BO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diabetes.</a:t>
            </a:r>
          </a:p>
          <a:p>
            <a:pPr algn="just"/>
            <a:endParaRPr lang="es-B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PADRE: </a:t>
            </a:r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Fallecido con antecedentes de </a:t>
            </a:r>
            <a:r>
              <a:rPr lang="es-BO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chagas</a:t>
            </a:r>
            <a:r>
              <a:rPr lang="es-BO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s-B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HERMANOS: </a:t>
            </a:r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Hermanos de los cuales 3 son </a:t>
            </a:r>
            <a:endParaRPr lang="es-BO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varones </a:t>
            </a:r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2 mujeres aparentemente sanos </a:t>
            </a:r>
            <a:endParaRPr lang="es-BO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B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HIJOS: </a:t>
            </a:r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Hijos aparentemente sanos de los cuales 2 son varones y 1 mujer.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619672" y="224702"/>
            <a:ext cx="6336704" cy="720080"/>
          </a:xfrm>
          <a:prstGeom prst="rect">
            <a:avLst/>
          </a:prstGeom>
          <a:solidFill>
            <a:srgbClr val="00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ANTECEDENTES </a:t>
            </a:r>
            <a: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FAMILIARES</a:t>
            </a:r>
            <a:endParaRPr lang="es-BO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87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539552" y="1556792"/>
            <a:ext cx="7992887" cy="3888432"/>
          </a:xfrm>
          <a:ln w="76200">
            <a:solidFill>
              <a:schemeClr val="accent4"/>
            </a:solidFill>
          </a:ln>
        </p:spPr>
        <p:txBody>
          <a:bodyPr>
            <a:noAutofit/>
          </a:bodyPr>
          <a:lstStyle/>
          <a:p>
            <a: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Clínicos</a:t>
            </a:r>
            <a: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.- </a:t>
            </a:r>
            <a:r>
              <a:rPr lang="es-BO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paciente refiere que jamás </a:t>
            </a:r>
            <a: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s-BO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internó en un hospital </a:t>
            </a:r>
            <a: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es </a:t>
            </a:r>
            <a:r>
              <a:rPr lang="es-BO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primera vez que se internó y que siente miedo por lo que vaya a pasar con su enfermedad </a:t>
            </a:r>
            <a: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actual.</a:t>
            </a:r>
            <a:b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BO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Quirúrgico</a:t>
            </a:r>
            <a:r>
              <a:rPr lang="es-B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.-  </a:t>
            </a:r>
            <a:r>
              <a:rPr lang="es-BO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Paciente refiere que es la primera cirugía que le </a:t>
            </a:r>
            <a:r>
              <a:rPr lang="es-BO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hicieron.</a:t>
            </a:r>
            <a:endParaRPr lang="es-BO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683568" y="260648"/>
            <a:ext cx="7848871" cy="461665"/>
          </a:xfrm>
          <a:prstGeom prst="rect">
            <a:avLst/>
          </a:prstGeom>
          <a:solidFill>
            <a:srgbClr val="0066FF"/>
          </a:solidFill>
        </p:spPr>
        <p:txBody>
          <a:bodyPr wrap="square">
            <a:spAutoFit/>
          </a:bodyPr>
          <a:lstStyle/>
          <a:p>
            <a:pPr algn="just"/>
            <a:r>
              <a:rPr lang="es-BO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ANTECEDENTES </a:t>
            </a:r>
            <a:r>
              <a:rPr lang="es-B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PERSONALES </a:t>
            </a:r>
            <a:r>
              <a:rPr lang="es-BO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PATOLÓGICOS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247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926718" y="1412776"/>
            <a:ext cx="7272808" cy="4524315"/>
          </a:xfrm>
          <a:prstGeom prst="rect">
            <a:avLst/>
          </a:prstGeom>
          <a:ln w="762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s-BO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Alergias</a:t>
            </a:r>
            <a:r>
              <a:rPr lang="es-B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.- </a:t>
            </a:r>
            <a:r>
              <a:rPr lang="es-BO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s-B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tiene alergias a ningún tipo de alimentos, en cuanto a los medicamentos no sabe porque el generalmente utiliza la medicina </a:t>
            </a:r>
            <a:r>
              <a:rPr lang="es-BO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natural.</a:t>
            </a:r>
          </a:p>
          <a:p>
            <a:pPr algn="just"/>
            <a:endParaRPr lang="es-B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s-B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Hábitos.- </a:t>
            </a:r>
            <a:r>
              <a:rPr lang="es-BO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alguna vez enfermo </a:t>
            </a:r>
            <a:r>
              <a:rPr lang="es-B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 resfrió, toz, gripe </a:t>
            </a:r>
            <a:r>
              <a:rPr lang="es-BO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se trataba con medicamentos caseros con efecto positivo.</a:t>
            </a:r>
            <a:endParaRPr lang="es-B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926718" y="354836"/>
            <a:ext cx="7504757" cy="43088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lvl="0" algn="just"/>
            <a:r>
              <a:rPr lang="es-BO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ANTECEDENTES PERSONALES NO PATOLÓGICOS.</a:t>
            </a:r>
          </a:p>
        </p:txBody>
      </p:sp>
    </p:spTree>
    <p:extLst>
      <p:ext uri="{BB962C8B-B14F-4D97-AF65-F5344CB8AC3E}">
        <p14:creationId xmlns:p14="http://schemas.microsoft.com/office/powerpoint/2010/main" val="203837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367644" y="384860"/>
            <a:ext cx="6408712" cy="58477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s-BO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VI.EXAMEN FÍSICO GENERAL. </a:t>
            </a:r>
            <a:endParaRPr lang="es-ES" sz="3200" dirty="0"/>
          </a:p>
        </p:txBody>
      </p:sp>
      <p:sp>
        <p:nvSpPr>
          <p:cNvPr id="2" name="1 Rectángulo"/>
          <p:cNvSpPr/>
          <p:nvPr/>
        </p:nvSpPr>
        <p:spPr>
          <a:xfrm>
            <a:off x="467544" y="1196752"/>
            <a:ext cx="8208912" cy="5256584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BO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CABEZA: </a:t>
            </a:r>
            <a:r>
              <a:rPr lang="es-BO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Implantación pilosa normal, presenta solución de continuidad a nivel del </a:t>
            </a:r>
            <a:r>
              <a:rPr lang="es-BO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temporo_parietal</a:t>
            </a:r>
            <a:r>
              <a:rPr lang="es-BO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BO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derecho, +/- 3 a 4 cm. </a:t>
            </a:r>
          </a:p>
          <a:p>
            <a:pPr algn="just"/>
            <a:r>
              <a:rPr lang="es-BO" sz="2400" b="1" dirty="0" smtClean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OJOS</a:t>
            </a:r>
            <a:r>
              <a:rPr lang="es-BO" sz="24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BO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pupilas </a:t>
            </a:r>
            <a:r>
              <a:rPr lang="es-BO" sz="2400" dirty="0" err="1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isocoricas</a:t>
            </a:r>
            <a:r>
              <a:rPr lang="es-BO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BO" sz="2400" dirty="0" err="1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fotoreactivas</a:t>
            </a:r>
            <a:r>
              <a:rPr lang="es-BO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conjuntiva palpebral pálidas húmedas</a:t>
            </a:r>
            <a:r>
              <a:rPr lang="es-BO" sz="2400" dirty="0" smtClean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s-BO" sz="2400" b="1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OIDOS: </a:t>
            </a:r>
            <a:r>
              <a:rPr lang="es-BO"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Implantación simétrica, conducto auditivo externo permeable, a nivel de hélix de pabellón auricular  derecho equimosis</a:t>
            </a:r>
            <a:r>
              <a:rPr lang="es-BO" sz="2400" dirty="0" smtClean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s-BO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NARIZ: </a:t>
            </a:r>
            <a:r>
              <a:rPr lang="es-BO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Simétrica, fosas nasales no permeables con presencia de costras sanguinolentas</a:t>
            </a:r>
            <a:r>
              <a:rPr lang="es-BO" sz="2400" dirty="0" smtClean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BO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BO" sz="2400" b="1" dirty="0" smtClean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400" b="1" dirty="0" smtClean="0">
                <a:solidFill>
                  <a:srgbClr val="33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BOCA</a:t>
            </a:r>
            <a:r>
              <a:rPr lang="es-BO" sz="2400" b="1" dirty="0">
                <a:solidFill>
                  <a:srgbClr val="33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BO" sz="2400" dirty="0">
                <a:solidFill>
                  <a:srgbClr val="33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Asimétrico, mucosa oral seca, inflamación de comisura labial superior</a:t>
            </a:r>
            <a:r>
              <a:rPr lang="es-BO" sz="2400" dirty="0" smtClean="0">
                <a:solidFill>
                  <a:srgbClr val="33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BO" sz="2400" b="1" dirty="0">
                <a:solidFill>
                  <a:srgbClr val="33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BO" sz="2400" b="1" dirty="0" smtClean="0">
              <a:solidFill>
                <a:srgbClr val="33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400" b="1" dirty="0" smtClean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CUELLO</a:t>
            </a:r>
            <a:r>
              <a:rPr lang="es-BO" sz="24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BO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Cilindro, simétrico, móvil, no se palpan adenopatías a nivel de cadena </a:t>
            </a:r>
            <a:r>
              <a:rPr lang="es-BO" sz="2400" dirty="0" err="1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gangliar</a:t>
            </a:r>
            <a:r>
              <a:rPr lang="es-BO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BO" sz="2400" dirty="0" smtClean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74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83568" y="332656"/>
            <a:ext cx="7776864" cy="6048672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BO" sz="2800" b="1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800" b="1" dirty="0" smtClean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TORAX</a:t>
            </a:r>
            <a:r>
              <a:rPr lang="es-BO" sz="28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BO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Parrilla costal simétrica, elasticidad y expansibilidad conservada, taquipnea</a:t>
            </a:r>
            <a:r>
              <a:rPr lang="es-BO" sz="2800" dirty="0" smtClean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BO" sz="2800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BO" sz="2800" b="1" dirty="0" smtClean="0">
              <a:solidFill>
                <a:srgbClr val="66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800" b="1" dirty="0" smtClean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CORAZON</a:t>
            </a:r>
            <a:r>
              <a:rPr lang="es-BO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BO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Rítmico, regular, normo fonético, taquicardico</a:t>
            </a:r>
            <a:r>
              <a:rPr lang="es-BO" sz="2800" dirty="0" smtClean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BO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BO" sz="2800" b="1" dirty="0" smtClean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800" b="1" dirty="0" smtClean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ABDOMEN</a:t>
            </a:r>
            <a:r>
              <a:rPr lang="es-BO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BO" sz="2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s-BO" sz="2800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depresible</a:t>
            </a:r>
            <a:r>
              <a:rPr lang="es-BO" sz="2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doloroso a la palpación superficial con signo de irritación peritoneal, ruidos </a:t>
            </a:r>
            <a:r>
              <a:rPr lang="es-BO" sz="2800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hidro</a:t>
            </a:r>
            <a:r>
              <a:rPr lang="es-BO" sz="2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aéreos abolidos (negativo</a:t>
            </a:r>
            <a:r>
              <a:rPr lang="es-BO" sz="2800" dirty="0" smtClean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s-BO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GENITOURINARIO: </a:t>
            </a:r>
            <a:r>
              <a:rPr lang="es-BO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sexo masculino con presencia de vello púbico, se evidencia presencia de sonda Foley a caída libre conectado a bolsa colectora, se observa orina </a:t>
            </a:r>
            <a:r>
              <a:rPr lang="es-BO" sz="280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colurica</a:t>
            </a:r>
            <a:r>
              <a:rPr lang="es-BO" sz="2800" dirty="0" smtClean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s-BO" sz="2800" b="1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EXTREMIDADES: </a:t>
            </a:r>
            <a:r>
              <a:rPr lang="es-BO" sz="2800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Tono y </a:t>
            </a:r>
            <a:r>
              <a:rPr lang="es-BO" sz="2800" dirty="0" err="1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trofismo</a:t>
            </a:r>
            <a:r>
              <a:rPr lang="es-BO" sz="2800" dirty="0">
                <a:solidFill>
                  <a:srgbClr val="0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conservado, llenado capilar mayor a dos segundos.</a:t>
            </a:r>
            <a:endParaRPr lang="es-ES" sz="2800" dirty="0">
              <a:solidFill>
                <a:srgbClr val="008080"/>
              </a:solidFill>
            </a:endParaRPr>
          </a:p>
          <a:p>
            <a:pPr algn="just"/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72155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"/>
          <p:cNvSpPr>
            <a:spLocks noChangeArrowheads="1"/>
          </p:cNvSpPr>
          <p:nvPr/>
        </p:nvSpPr>
        <p:spPr bwMode="auto">
          <a:xfrm>
            <a:off x="683568" y="260648"/>
            <a:ext cx="75608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B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SIGNOS Y SINTOMAS DE INGRESO Y ACTUALES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</a:t>
            </a:r>
            <a:endParaRPr kumimoji="0" lang="es-B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14904"/>
              </p:ext>
            </p:extLst>
          </p:nvPr>
        </p:nvGraphicFramePr>
        <p:xfrm>
          <a:off x="323528" y="908720"/>
          <a:ext cx="8568951" cy="5328048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4142795"/>
                <a:gridCol w="4426156"/>
              </a:tblGrid>
              <a:tr h="5274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dirty="0">
                          <a:effectLst/>
                        </a:rPr>
                        <a:t> </a:t>
                      </a:r>
                      <a:r>
                        <a:rPr lang="es-BO" sz="1800" dirty="0" smtClean="0">
                          <a:effectLst/>
                        </a:rPr>
                        <a:t>SIGNOS </a:t>
                      </a:r>
                      <a:r>
                        <a:rPr lang="es-BO" sz="1800" dirty="0">
                          <a:effectLst/>
                        </a:rPr>
                        <a:t>AL INGRESO ( 07/09/21013)</a:t>
                      </a:r>
                      <a:endParaRPr lang="es-BO" sz="18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0344" marR="603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dirty="0">
                          <a:effectLst/>
                        </a:rPr>
                        <a:t> </a:t>
                      </a:r>
                      <a:r>
                        <a:rPr lang="es-BO" sz="1800" dirty="0" smtClean="0">
                          <a:effectLst/>
                        </a:rPr>
                        <a:t>SIGNOS </a:t>
                      </a:r>
                      <a:r>
                        <a:rPr lang="es-BO" sz="1800" dirty="0">
                          <a:effectLst/>
                        </a:rPr>
                        <a:t>ACTUALES (10/09/2013)</a:t>
                      </a:r>
                      <a:endParaRPr lang="es-BO" sz="18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0344" marR="60344" marT="0" marB="0"/>
                </a:tc>
              </a:tr>
              <a:tr h="386198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>
                          <a:effectLst/>
                        </a:rPr>
                        <a:t> 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Malestar general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Vomito bilioso en 2 oportunidades.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Escoriaciones en cara.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Sutura en región temporoparietal de 5 cm.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Temperatura: 39° c.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Pulso: 120 x.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Frecuencia Respiratoria: 30 x.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Saturación de Oxigeno: 84 %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Presión Arterial 80/40 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Mucosas pálidas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Glasgow 13/15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>
                          <a:effectLst/>
                        </a:rPr>
                        <a:t>Herida abdominal en hipocondrio derecho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>
                          <a:effectLst/>
                        </a:rPr>
                        <a:t> </a:t>
                      </a:r>
                      <a:endParaRPr lang="es-BO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0344" marR="6034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>
                          <a:effectLst/>
                        </a:rPr>
                        <a:t> 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 dirty="0">
                          <a:effectLst/>
                        </a:rPr>
                        <a:t>Nauseas en ocasiones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 dirty="0">
                          <a:effectLst/>
                        </a:rPr>
                        <a:t>Escoriaciones en proceso de cicatrización en cara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 dirty="0">
                          <a:effectLst/>
                        </a:rPr>
                        <a:t>Dolor en herida quirúrgica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 dirty="0">
                          <a:effectLst/>
                        </a:rPr>
                        <a:t>SV: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>
                          <a:effectLst/>
                        </a:rPr>
                        <a:t>T: 36,9 C</a:t>
                      </a:r>
                      <a:endParaRPr lang="es-BO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 err="1">
                          <a:effectLst/>
                        </a:rPr>
                        <a:t>Pulso</a:t>
                      </a:r>
                      <a:r>
                        <a:rPr lang="en-US" sz="1400" dirty="0">
                          <a:effectLst/>
                        </a:rPr>
                        <a:t>: 86 x min.</a:t>
                      </a:r>
                      <a:endParaRPr lang="es-BO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 dirty="0">
                          <a:effectLst/>
                        </a:rPr>
                        <a:t>Frecuencia respiratoria: 24 x min.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 dirty="0">
                          <a:effectLst/>
                        </a:rPr>
                        <a:t>Saturación de oxigeno: 89 – 90 %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 dirty="0">
                          <a:effectLst/>
                        </a:rPr>
                        <a:t>Presión arterial:  100/60 </a:t>
                      </a:r>
                      <a:r>
                        <a:rPr lang="es-BO" sz="1400" dirty="0" err="1">
                          <a:effectLst/>
                        </a:rPr>
                        <a:t>mmhg</a:t>
                      </a:r>
                      <a:r>
                        <a:rPr lang="es-BO" sz="1400" dirty="0">
                          <a:effectLst/>
                        </a:rPr>
                        <a:t>.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 dirty="0">
                          <a:effectLst/>
                        </a:rPr>
                        <a:t>Mucosas ligeramente húmedas y </a:t>
                      </a:r>
                      <a:r>
                        <a:rPr lang="es-BO" sz="1400" dirty="0" err="1">
                          <a:effectLst/>
                        </a:rPr>
                        <a:t>palidas</a:t>
                      </a:r>
                      <a:endParaRPr lang="es-BO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 dirty="0">
                          <a:effectLst/>
                        </a:rPr>
                        <a:t>Herida quirúrgica en hipocondrio derecho con dos drenajes </a:t>
                      </a:r>
                      <a:r>
                        <a:rPr lang="es-BO" sz="1400" dirty="0" err="1">
                          <a:effectLst/>
                        </a:rPr>
                        <a:t>turbulares</a:t>
                      </a:r>
                      <a:r>
                        <a:rPr lang="es-BO" sz="1400" dirty="0">
                          <a:effectLst/>
                        </a:rPr>
                        <a:t> a guante.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BO" sz="1400" dirty="0">
                          <a:effectLst/>
                        </a:rPr>
                        <a:t>Incomodidad por presencia de sonda Foley.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>
                          <a:effectLst/>
                        </a:rPr>
                        <a:t> </a:t>
                      </a:r>
                      <a:endParaRPr lang="es-BO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0344" marR="60344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611560" y="404664"/>
            <a:ext cx="8136904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just"/>
            <a:r>
              <a:rPr lang="es-B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DESCRIPCION CLINICA DEL DIAGNOSTICO MEDICO</a:t>
            </a:r>
          </a:p>
        </p:txBody>
      </p:sp>
      <p:sp>
        <p:nvSpPr>
          <p:cNvPr id="4" name="3 Rectángulo"/>
          <p:cNvSpPr/>
          <p:nvPr/>
        </p:nvSpPr>
        <p:spPr>
          <a:xfrm>
            <a:off x="395536" y="1268760"/>
            <a:ext cx="8352928" cy="2677656"/>
          </a:xfrm>
          <a:prstGeom prst="rect">
            <a:avLst/>
          </a:prstGeom>
          <a:ln w="76200">
            <a:solidFill>
              <a:srgbClr val="00FFCC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BO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POLICONTUSION:</a:t>
            </a:r>
            <a:endParaRPr lang="es-BO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varias lesiones físicas no penetrantes sobre un cuerpo humano causada por la acción de objetos duros, de superficie obtusa o roma, que actúan sobre el organismo por intermedio de una fuerza más o menos considerable</a:t>
            </a:r>
            <a:r>
              <a:rPr lang="es-BO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B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374188" y="4306163"/>
            <a:ext cx="8374276" cy="1815882"/>
          </a:xfrm>
          <a:prstGeom prst="rect">
            <a:avLst/>
          </a:prstGeom>
          <a:ln w="762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B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TRAUMA </a:t>
            </a:r>
            <a:r>
              <a:rPr lang="es-BO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ABDOMINAL CERRADO:</a:t>
            </a:r>
            <a:endParaRPr lang="es-B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BO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 lesión </a:t>
            </a:r>
            <a:r>
              <a:rPr lang="es-BO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grave, </a:t>
            </a:r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 sea por golpes contusos o por heridas </a:t>
            </a:r>
            <a:r>
              <a:rPr lang="es-BO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penetrantes y es </a:t>
            </a:r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 causa frecuente de discapacidad y mortalidad significativa. </a:t>
            </a:r>
          </a:p>
        </p:txBody>
      </p:sp>
    </p:spTree>
    <p:extLst>
      <p:ext uri="{BB962C8B-B14F-4D97-AF65-F5344CB8AC3E}">
        <p14:creationId xmlns:p14="http://schemas.microsoft.com/office/powerpoint/2010/main" val="142476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6140152"/>
          </a:xfrm>
        </p:spPr>
        <p:txBody>
          <a:bodyPr>
            <a:normAutofit/>
          </a:bodyPr>
          <a:lstStyle/>
          <a:p>
            <a:r>
              <a:rPr lang="es-BO" sz="2200" cap="none" dirty="0" smtClean="0"/>
              <a:t/>
            </a:r>
            <a:br>
              <a:rPr lang="es-BO" sz="2200" cap="none" dirty="0" smtClean="0"/>
            </a:br>
            <a:endParaRPr lang="es-BO" sz="2200" cap="none" dirty="0"/>
          </a:p>
        </p:txBody>
      </p:sp>
      <p:sp>
        <p:nvSpPr>
          <p:cNvPr id="4" name="3 Rectángulo"/>
          <p:cNvSpPr/>
          <p:nvPr/>
        </p:nvSpPr>
        <p:spPr>
          <a:xfrm>
            <a:off x="442589" y="980728"/>
            <a:ext cx="828092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BO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BO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064689" y="404664"/>
            <a:ext cx="6514284" cy="52322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just"/>
            <a:r>
              <a:rPr lang="es-B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PERFORACION DE VISCERA HUECA</a:t>
            </a:r>
          </a:p>
        </p:txBody>
      </p:sp>
      <p:sp>
        <p:nvSpPr>
          <p:cNvPr id="5" name="4 Rectángulo"/>
          <p:cNvSpPr/>
          <p:nvPr/>
        </p:nvSpPr>
        <p:spPr>
          <a:xfrm>
            <a:off x="442588" y="1196752"/>
            <a:ext cx="8280920" cy="2677656"/>
          </a:xfrm>
          <a:prstGeom prst="rect">
            <a:avLst/>
          </a:prstGeom>
          <a:ln w="76200"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B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SHOCK SÉPTICO</a:t>
            </a:r>
          </a:p>
          <a:p>
            <a:pPr algn="just"/>
            <a:r>
              <a:rPr lang="es-BO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estado anormal grave del organismo en el cual existe hipotensión </a:t>
            </a:r>
            <a:r>
              <a:rPr lang="es-BO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generalmente </a:t>
            </a:r>
            <a:r>
              <a:rPr lang="es-B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horas o más, causada por una disminución de la perfusión tisular y el suministro de oxígeno como consecuencia de una infección y la sepsis.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42589" y="4180438"/>
            <a:ext cx="2738891" cy="369332"/>
          </a:xfrm>
          <a:prstGeom prst="rect">
            <a:avLst/>
          </a:prstGeom>
          <a:solidFill>
            <a:schemeClr val="accent6"/>
          </a:solidFill>
        </p:spPr>
        <p:txBody>
          <a:bodyPr wrap="none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s-B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QUIRÚRGICO</a:t>
            </a:r>
          </a:p>
        </p:txBody>
      </p:sp>
      <p:sp>
        <p:nvSpPr>
          <p:cNvPr id="7" name="6 Rectángulo"/>
          <p:cNvSpPr/>
          <p:nvPr/>
        </p:nvSpPr>
        <p:spPr>
          <a:xfrm>
            <a:off x="442589" y="4581128"/>
            <a:ext cx="8280919" cy="1569660"/>
          </a:xfrm>
          <a:prstGeom prst="rect">
            <a:avLst/>
          </a:prstGeom>
          <a:ln w="762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B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LAPAROTOMÍA EXPLORADORA </a:t>
            </a:r>
          </a:p>
          <a:p>
            <a:pPr algn="just"/>
            <a:r>
              <a:rPr lang="es-B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una cirugía que se hace con el propósito de abrir, explorar y examinar para tratar los problemas que se presenten en el abdomen.</a:t>
            </a:r>
          </a:p>
        </p:txBody>
      </p:sp>
    </p:spTree>
    <p:extLst>
      <p:ext uri="{BB962C8B-B14F-4D97-AF65-F5344CB8AC3E}">
        <p14:creationId xmlns:p14="http://schemas.microsoft.com/office/powerpoint/2010/main" val="40088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>
            <a:spLocks noChangeArrowheads="1"/>
          </p:cNvSpPr>
          <p:nvPr/>
        </p:nvSpPr>
        <p:spPr bwMode="auto">
          <a:xfrm>
            <a:off x="1043608" y="980728"/>
            <a:ext cx="6984776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NPO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Sonda </a:t>
            </a:r>
            <a:r>
              <a:rPr kumimoji="0" lang="es-B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nasogastrica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a caída libre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Sonda Foley a permanencia, conectado a bolsa colectora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Faja abdominal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Terapia respiratoria (respiraciones profundas)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Balance hídrico estricto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Solución glucosalino 1000 para 8 hrs.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Solución ringer lactato 1000 para 8 hrs. `+ 2 ampollas de complejo B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Solución fisiológico 1000 para 8 hrs + 1 ampolla de KCL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8.    Medicamentos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</a:t>
            </a:r>
            <a:r>
              <a:rPr kumimoji="0" lang="es-B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Ciprofloxacina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400 mg EV cada 12 hrs.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</a:t>
            </a:r>
            <a:r>
              <a:rPr kumimoji="0" lang="es-B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Metronidazol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500 mg EV c/8hrs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Ceftriaxona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1 g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Ev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c/12 hrs.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Ketorol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60 mg EV PRN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Ranitidina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50 mg EV c/ 8hrs.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9.   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Comunicar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cambios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979712" y="260648"/>
            <a:ext cx="5410455" cy="58477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s-BO" sz="32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INDICACIONES MÉDICAS </a:t>
            </a:r>
            <a:endParaRPr lang="es-ES" sz="3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 noChangeArrowheads="1"/>
          </p:cNvSpPr>
          <p:nvPr/>
        </p:nvSpPr>
        <p:spPr bwMode="auto">
          <a:xfrm>
            <a:off x="2811411" y="394792"/>
            <a:ext cx="3500254" cy="5847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85800" algn="l"/>
              </a:tabLst>
            </a:pPr>
            <a:r>
              <a:rPr kumimoji="0" lang="es-BO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LABORATORIOS</a:t>
            </a:r>
            <a:endParaRPr kumimoji="0" lang="es-E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3107325" y="1340768"/>
            <a:ext cx="27158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</a:pPr>
            <a:r>
              <a:rPr lang="es-BO" sz="2800" b="1" u="sng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HEMOGRAMA</a:t>
            </a:r>
            <a:endParaRPr lang="es-BO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4 Tabla"/>
          <p:cNvGraphicFramePr>
            <a:graphicFrameLocks noGrp="1"/>
          </p:cNvGraphicFramePr>
          <p:nvPr/>
        </p:nvGraphicFramePr>
        <p:xfrm>
          <a:off x="1043608" y="1988840"/>
          <a:ext cx="7200800" cy="45262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802366"/>
                <a:gridCol w="2457072"/>
                <a:gridCol w="2941362"/>
              </a:tblGrid>
              <a:tr h="3600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ES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Resultados 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Valores de referencia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60040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SERIE ROJA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GR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3.160.000/mm</a:t>
                      </a:r>
                      <a:r>
                        <a:rPr lang="es-BO" sz="1800" baseline="3000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4.000.000-5.500.000/m</a:t>
                      </a:r>
                      <a:r>
                        <a:rPr lang="es-BO" sz="1800" baseline="3000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HB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9.6g/dl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11,5-13,0 g/dl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HTO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29%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35-41%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60040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SERIE BLANCA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GB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14.500/mm</a:t>
                      </a:r>
                      <a:r>
                        <a:rPr lang="es-BO" sz="1800" baseline="3000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5.000-12.000/mm</a:t>
                      </a:r>
                      <a:r>
                        <a:rPr lang="es-BO" sz="1800" baseline="3000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60040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COAGULACION 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Plaquetas 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157.000/mm</a:t>
                      </a:r>
                      <a:r>
                        <a:rPr lang="es-BO" sz="1800" baseline="3000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150.000-450.000/mm</a:t>
                      </a:r>
                      <a:r>
                        <a:rPr lang="es-BO" sz="1800" baseline="3000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T. Protrombina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12.1seg.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11.1 -13 seg.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b="1" dirty="0">
                          <a:latin typeface="Times New Roman" pitchFamily="18" charset="0"/>
                          <a:cs typeface="Times New Roman" pitchFamily="18" charset="0"/>
                        </a:rPr>
                        <a:t>INR</a:t>
                      </a:r>
                      <a:endParaRPr lang="es-ES" sz="1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>
                          <a:latin typeface="Times New Roman" pitchFamily="18" charset="0"/>
                          <a:cs typeface="Times New Roman" pitchFamily="18" charset="0"/>
                        </a:rPr>
                        <a:t>1.08</a:t>
                      </a:r>
                      <a:endParaRPr lang="es-ES" sz="1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800" dirty="0">
                          <a:latin typeface="Times New Roman" pitchFamily="18" charset="0"/>
                          <a:cs typeface="Times New Roman" pitchFamily="18" charset="0"/>
                        </a:rPr>
                        <a:t>1.0- 1.16</a:t>
                      </a:r>
                      <a:endParaRPr lang="es-ES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3419872" y="404664"/>
            <a:ext cx="25378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IONOGRAMA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899592" y="1700808"/>
          <a:ext cx="7704856" cy="329184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612645"/>
                <a:gridCol w="2822127"/>
                <a:gridCol w="3270084"/>
              </a:tblGrid>
              <a:tr h="24638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s-ES" sz="2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BO" sz="2400" b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RESULTADOS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BO" sz="2400" b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VALORES DE REFERENCIA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578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 b="1" dirty="0">
                          <a:latin typeface="Times New Roman" pitchFamily="18" charset="0"/>
                          <a:cs typeface="Times New Roman" pitchFamily="18" charset="0"/>
                        </a:rPr>
                        <a:t>Na </a:t>
                      </a:r>
                      <a:endParaRPr lang="es-ES" sz="2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 dirty="0">
                          <a:latin typeface="Times New Roman" pitchFamily="18" charset="0"/>
                          <a:cs typeface="Times New Roman" pitchFamily="18" charset="0"/>
                        </a:rPr>
                        <a:t>135 </a:t>
                      </a:r>
                      <a:r>
                        <a:rPr lang="es-BO" sz="2800" dirty="0" err="1">
                          <a:latin typeface="Times New Roman" pitchFamily="18" charset="0"/>
                          <a:cs typeface="Times New Roman" pitchFamily="18" charset="0"/>
                        </a:rPr>
                        <a:t>mmol</a:t>
                      </a:r>
                      <a:r>
                        <a:rPr lang="es-BO" sz="2800" dirty="0">
                          <a:latin typeface="Times New Roman" pitchFamily="18" charset="0"/>
                          <a:cs typeface="Times New Roman" pitchFamily="18" charset="0"/>
                        </a:rPr>
                        <a:t>/L</a:t>
                      </a:r>
                      <a:endParaRPr lang="es-ES" sz="2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>
                          <a:latin typeface="Times New Roman" pitchFamily="18" charset="0"/>
                          <a:cs typeface="Times New Roman" pitchFamily="18" charset="0"/>
                        </a:rPr>
                        <a:t>136-146mmol/L</a:t>
                      </a:r>
                      <a:endParaRPr lang="es-ES" sz="2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578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 b="1" dirty="0">
                          <a:latin typeface="Times New Roman" pitchFamily="18" charset="0"/>
                          <a:cs typeface="Times New Roman" pitchFamily="18" charset="0"/>
                        </a:rPr>
                        <a:t>K </a:t>
                      </a:r>
                      <a:endParaRPr lang="es-ES" sz="2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 dirty="0">
                          <a:latin typeface="Times New Roman" pitchFamily="18" charset="0"/>
                          <a:cs typeface="Times New Roman" pitchFamily="18" charset="0"/>
                        </a:rPr>
                        <a:t>2.8mmol/L</a:t>
                      </a:r>
                      <a:endParaRPr lang="es-ES" sz="2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 dirty="0">
                          <a:latin typeface="Times New Roman" pitchFamily="18" charset="0"/>
                          <a:cs typeface="Times New Roman" pitchFamily="18" charset="0"/>
                        </a:rPr>
                        <a:t>3.5-5.1mmol/L</a:t>
                      </a:r>
                      <a:endParaRPr lang="es-ES" sz="2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578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 b="1" dirty="0">
                          <a:latin typeface="Times New Roman" pitchFamily="18" charset="0"/>
                          <a:cs typeface="Times New Roman" pitchFamily="18" charset="0"/>
                        </a:rPr>
                        <a:t>Cl</a:t>
                      </a:r>
                      <a:endParaRPr lang="es-ES" sz="2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>
                          <a:latin typeface="Times New Roman" pitchFamily="18" charset="0"/>
                          <a:cs typeface="Times New Roman" pitchFamily="18" charset="0"/>
                        </a:rPr>
                        <a:t>101 mmol/L</a:t>
                      </a:r>
                      <a:endParaRPr lang="es-ES" sz="2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 dirty="0">
                          <a:latin typeface="Times New Roman" pitchFamily="18" charset="0"/>
                          <a:cs typeface="Times New Roman" pitchFamily="18" charset="0"/>
                        </a:rPr>
                        <a:t>98-106mmol/L</a:t>
                      </a:r>
                      <a:endParaRPr lang="es-ES" sz="2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578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 b="1" dirty="0">
                          <a:latin typeface="Times New Roman" pitchFamily="18" charset="0"/>
                          <a:cs typeface="Times New Roman" pitchFamily="18" charset="0"/>
                        </a:rPr>
                        <a:t>Ca iónico </a:t>
                      </a:r>
                      <a:endParaRPr lang="es-ES" sz="28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>
                          <a:latin typeface="Times New Roman" pitchFamily="18" charset="0"/>
                          <a:cs typeface="Times New Roman" pitchFamily="18" charset="0"/>
                        </a:rPr>
                        <a:t>0.99 mmol/L</a:t>
                      </a:r>
                      <a:endParaRPr lang="es-ES" sz="28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800" dirty="0">
                          <a:latin typeface="Times New Roman" pitchFamily="18" charset="0"/>
                          <a:cs typeface="Times New Roman" pitchFamily="18" charset="0"/>
                        </a:rPr>
                        <a:t>1.09-1.30mmol/L</a:t>
                      </a:r>
                      <a:endParaRPr lang="es-ES" sz="2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54290" y="188640"/>
            <a:ext cx="82809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BO" dirty="0"/>
          </a:p>
          <a:p>
            <a:pPr algn="just"/>
            <a:endParaRPr lang="es-B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BO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endParaRPr lang="es-B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BO" dirty="0"/>
          </a:p>
        </p:txBody>
      </p:sp>
      <p:sp>
        <p:nvSpPr>
          <p:cNvPr id="3" name="2 Rectángulo"/>
          <p:cNvSpPr/>
          <p:nvPr/>
        </p:nvSpPr>
        <p:spPr>
          <a:xfrm>
            <a:off x="1835696" y="1484784"/>
            <a:ext cx="53103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7200" b="1" dirty="0" smtClean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PATRONES</a:t>
            </a:r>
            <a:r>
              <a:rPr lang="es-BO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BO" sz="7200" b="1" dirty="0" smtClean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GORDON</a:t>
            </a:r>
            <a:endParaRPr lang="es-BO" sz="72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31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043608" y="404664"/>
            <a:ext cx="7344816" cy="83099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B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PATRON DE PERCEPCION DE SALUD – MANEJO DE SITUACION DE SALUD</a:t>
            </a:r>
            <a:endParaRPr kumimoji="0" lang="es-B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971600" y="1505690"/>
            <a:ext cx="7416824" cy="1569660"/>
          </a:xfrm>
          <a:prstGeom prst="rect">
            <a:avLst/>
          </a:prstGeom>
          <a:noFill/>
          <a:ln w="76200">
            <a:solidFill>
              <a:schemeClr val="accent6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B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Estado general de Salud: </a:t>
            </a:r>
            <a:r>
              <a:rPr lang="es-BO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egular estado general a febril, orientado en las tres esferas, mucosas ligeramente pálidas y secas, pupilas </a:t>
            </a:r>
            <a:r>
              <a:rPr kumimoji="0" lang="es-B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isocoricas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s-B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fotoreactivas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s-B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hemodinamicamente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presente con signos vitales estables.</a:t>
            </a:r>
            <a:endParaRPr kumimoji="0" lang="es-B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971600" y="3296017"/>
            <a:ext cx="7416824" cy="1200329"/>
          </a:xfrm>
          <a:prstGeom prst="rect">
            <a:avLst/>
          </a:prstGeom>
          <a:noFill/>
          <a:ln w="76200">
            <a:solidFill>
              <a:schemeClr val="accent4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B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Uso de alcohol, tabaco y otras drogas: 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consume en ocasiones bebidas alcohólicas y no consume ningún tipo de tabaco, ni otras drogas.</a:t>
            </a:r>
            <a:r>
              <a:rPr kumimoji="0" lang="es-B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s-B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043608" y="4725144"/>
            <a:ext cx="7344816" cy="1200329"/>
          </a:xfrm>
          <a:prstGeom prst="rect">
            <a:avLst/>
          </a:prstGeom>
          <a:ln w="762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BO" sz="2400" b="1" dirty="0" smtClean="0">
                <a:latin typeface="Times New Roman" pitchFamily="18" charset="0"/>
                <a:cs typeface="Times New Roman" pitchFamily="18" charset="0"/>
              </a:rPr>
              <a:t>Alergias: </a:t>
            </a:r>
            <a:r>
              <a:rPr lang="es-BO" sz="2400" dirty="0" smtClean="0">
                <a:latin typeface="Times New Roman" pitchFamily="18" charset="0"/>
                <a:cs typeface="Times New Roman" pitchFamily="18" charset="0"/>
              </a:rPr>
              <a:t>refiere no tener alergias a ningún tipo de alimentos, ni medicamentos ya que durante su internación no presento reacción alérgica a medicamentos.</a:t>
            </a:r>
            <a:endParaRPr lang="es-E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83568" y="539389"/>
            <a:ext cx="7920880" cy="1569660"/>
          </a:xfrm>
          <a:prstGeom prst="rect">
            <a:avLst/>
          </a:prstGeom>
          <a:noFill/>
          <a:ln w="76200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B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Preocupación expresada sobre su estado de salud, internación: 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 encuentra muy ansioso,</a:t>
            </a:r>
            <a:r>
              <a:rPr kumimoji="0" lang="es-BO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preocupado por su patología actual, desconocimiento de la misma y por la cuenta a</a:t>
            </a:r>
            <a:r>
              <a:rPr kumimoji="0" lang="es-BO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pagar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  <a:endParaRPr kumimoji="0" lang="es-B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11560" y="2420888"/>
            <a:ext cx="7848872" cy="830997"/>
          </a:xfrm>
          <a:prstGeom prst="rect">
            <a:avLst/>
          </a:prstGeom>
          <a:noFill/>
          <a:ln w="76200">
            <a:solidFill>
              <a:schemeClr val="accent4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B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Seguridad: 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 siente desconcertado por los procedimientos que se realizan,</a:t>
            </a:r>
            <a:r>
              <a:rPr kumimoji="0" lang="es-BO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e 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inseguro en la movilización por si solo.</a:t>
            </a:r>
            <a:endParaRPr kumimoji="0" lang="es-B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057" name="Rectangle 1"/>
          <p:cNvSpPr>
            <a:spLocks noChangeArrowheads="1"/>
          </p:cNvSpPr>
          <p:nvPr/>
        </p:nvSpPr>
        <p:spPr bwMode="auto">
          <a:xfrm>
            <a:off x="971600" y="5517232"/>
            <a:ext cx="7632848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Sentimiento de incertidumbre relacionado a la percepción de su salud.</a:t>
            </a:r>
            <a:endParaRPr kumimoji="0" lang="es-B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683568" y="3645024"/>
            <a:ext cx="6593160" cy="52322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s-BO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DIAGNOSTICO DE ENFERMERIA</a:t>
            </a:r>
            <a:endParaRPr lang="es-ES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1043608" y="4402822"/>
            <a:ext cx="7632848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BO" sz="24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Alteración del estado de ánimo relacionado con el estado de salud actual.</a:t>
            </a:r>
            <a:endParaRPr lang="es-E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ChangeArrowheads="1"/>
          </p:cNvSpPr>
          <p:nvPr/>
        </p:nvSpPr>
        <p:spPr bwMode="auto">
          <a:xfrm>
            <a:off x="1043608" y="332656"/>
            <a:ext cx="7486473" cy="52322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BO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PATRON NUTRICIONAL Y METABOLISMO</a:t>
            </a:r>
            <a:endParaRPr kumimoji="0" lang="es-BO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611560" y="1124744"/>
            <a:ext cx="7920880" cy="2246769"/>
          </a:xfrm>
          <a:prstGeom prst="rect">
            <a:avLst/>
          </a:prstGeom>
          <a:noFill/>
          <a:ln w="762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Higiene e integridad cutánea: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 observa sutura en cuero cabelludo en región tempero parietal.</a:t>
            </a:r>
            <a:r>
              <a:rPr kumimoji="0" lang="es-BO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Piel y mucosas ligeramente pálidas y secas. Pérdida de la solución de continuidad por presencia de herida quirúrgica en región supra umbilical de más 15 cm. Se observa dos drenajes a guante en flanco derecho drenando secreción </a:t>
            </a:r>
            <a:r>
              <a:rPr kumimoji="0" lang="es-B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sero</a:t>
            </a: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hemático 20 </a:t>
            </a:r>
            <a:r>
              <a:rPr kumimoji="0" lang="es-B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cc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derecho y 30 </a:t>
            </a:r>
            <a:r>
              <a:rPr kumimoji="0" lang="es-B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cc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izquierdo. 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Estatura: 160 cm.</a:t>
            </a:r>
            <a:r>
              <a:rPr lang="es-ES" sz="20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Peso: 80 kg.</a:t>
            </a:r>
            <a:r>
              <a:rPr lang="es-ES" sz="2000" dirty="0" smtClean="0"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Temperatura: 37 c.</a:t>
            </a:r>
            <a:endParaRPr kumimoji="0" lang="es-B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683568" y="3573016"/>
            <a:ext cx="7848872" cy="1938992"/>
          </a:xfrm>
          <a:prstGeom prst="rect">
            <a:avLst/>
          </a:prstGeom>
          <a:noFill/>
          <a:ln w="76200">
            <a:solidFill>
              <a:schemeClr val="accent4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Estado Nutricional: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tenía una dieta variada rica en carbohidratos, consumía aproximadamente de 1 y 1/2  a 2 litros de refrescos o agua. También consumía frutas variados.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 encuentra en  NPO con SNG  a caída libre se observa debito bilioso, a nivel de la cavidad oral se observa con piezas dentarias incompletas y con presencia de caries, lengua saburral con </a:t>
            </a:r>
            <a:r>
              <a:rPr kumimoji="0" lang="es-B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alitosis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  <a:endParaRPr kumimoji="0" lang="es-B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683568" y="5661248"/>
            <a:ext cx="7848872" cy="707886"/>
          </a:xfrm>
          <a:prstGeom prst="rect">
            <a:avLst/>
          </a:prstGeom>
          <a:noFill/>
          <a:ln w="76200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Líquidos y Electrolitos: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NPO con SNG  a caída libre recibiendo solo por vía parenteral 3000 ml. En 24 hrs. </a:t>
            </a:r>
            <a:endParaRPr kumimoji="0" lang="es-B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"/>
          <p:cNvSpPr>
            <a:spLocks noChangeArrowheads="1"/>
          </p:cNvSpPr>
          <p:nvPr/>
        </p:nvSpPr>
        <p:spPr bwMode="auto">
          <a:xfrm>
            <a:off x="1115616" y="4941168"/>
            <a:ext cx="6912768" cy="95410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Dificultad en el proceso de masticación relacionado a falta de piezas dentarias</a:t>
            </a:r>
            <a:r>
              <a:rPr kumimoji="0" lang="es-BO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es-BO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502731" y="476672"/>
            <a:ext cx="5894562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s-BO" sz="2800" b="1" dirty="0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DIAGNOSTICO DE ENFERMER</a:t>
            </a:r>
            <a:r>
              <a:rPr lang="es-BO" sz="2800" b="1" dirty="0" smtClean="0">
                <a:solidFill>
                  <a:schemeClr val="tx1"/>
                </a:solidFill>
                <a:latin typeface="Cambria"/>
                <a:ea typeface="Calibri" pitchFamily="34" charset="0"/>
                <a:cs typeface="Times New Roman" pitchFamily="18" charset="0"/>
              </a:rPr>
              <a:t>Í</a:t>
            </a:r>
            <a:r>
              <a:rPr lang="es-BO" sz="2800" b="1" dirty="0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endParaRPr lang="es-ES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15616" y="1628800"/>
            <a:ext cx="6984776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s-BO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Real alteración de la nutrición relacionada  a la no ingesta de alimentos secundaria a procedimiento quirúrgico. </a:t>
            </a:r>
            <a:endParaRPr lang="es-E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115616" y="3356992"/>
            <a:ext cx="6840760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s-BO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Real alteración de la higiene bucal relacionado a presencia de lengua saburral y </a:t>
            </a:r>
            <a:r>
              <a:rPr lang="es-BO" sz="2800" dirty="0" err="1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alitosis</a:t>
            </a:r>
            <a:r>
              <a:rPr lang="es-BO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lang="es-ES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31640" y="476672"/>
            <a:ext cx="6984776" cy="492664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s-BO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PATRÓN DE ELIMINACIÓN</a:t>
            </a:r>
            <a:endParaRPr lang="es-BO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611560" y="1340768"/>
            <a:ext cx="7992888" cy="1015663"/>
          </a:xfrm>
          <a:prstGeom prst="rect">
            <a:avLst/>
          </a:prstGeom>
          <a:noFill/>
          <a:ln w="76200">
            <a:solidFill>
              <a:srgbClr val="660066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Ingesta de líquidos en 24 horas era de aproximadamente de 1 y 1/2  a 2 litros de refrescos o agua.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Su patrón de eliminación urinaria era de 2 a 3 veces en 24 horas, de características normales.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611560" y="4077072"/>
            <a:ext cx="8064896" cy="2246769"/>
          </a:xfrm>
          <a:prstGeom prst="rect">
            <a:avLst/>
          </a:prstGeom>
          <a:ln w="76200"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Con sonda </a:t>
            </a:r>
            <a:r>
              <a:rPr lang="es-BO" sz="2000" dirty="0" err="1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foley</a:t>
            </a: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presenta molestias, presenta prurito, dolor y ardor.</a:t>
            </a:r>
          </a:p>
          <a:p>
            <a:pPr algn="just">
              <a:buFont typeface="Wingdings" pitchFamily="2" charset="2"/>
              <a:buChar char="q"/>
            </a:pP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 observa  edema (+) en ambos miembros inferiores, a causa del reposo.</a:t>
            </a:r>
          </a:p>
          <a:p>
            <a:pPr algn="just">
              <a:buFont typeface="Wingdings" pitchFamily="2" charset="2"/>
              <a:buChar char="q"/>
            </a:pP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 NPO y recibe </a:t>
            </a:r>
            <a:r>
              <a:rPr lang="es-BO" sz="2000" dirty="0" err="1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fluidoterapia</a:t>
            </a: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</a:p>
          <a:p>
            <a:pPr algn="just">
              <a:buFont typeface="Wingdings" pitchFamily="2" charset="2"/>
              <a:buChar char="q"/>
            </a:pP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 sonda Foley se observa orina</a:t>
            </a: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muy oscura (</a:t>
            </a:r>
            <a:r>
              <a:rPr lang="es-BO" sz="2000" dirty="0" err="1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colúrica</a:t>
            </a: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 y con sedimentación.</a:t>
            </a:r>
          </a:p>
          <a:p>
            <a:pPr algn="just">
              <a:buFont typeface="Wingdings" pitchFamily="2" charset="2"/>
              <a:buChar char="q"/>
            </a:pP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 observa mucosas secas.</a:t>
            </a:r>
          </a:p>
          <a:p>
            <a:pPr algn="just">
              <a:buFont typeface="Wingdings" pitchFamily="2" charset="2"/>
              <a:buChar char="q"/>
            </a:pP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 se palpa globo.</a:t>
            </a:r>
            <a:endParaRPr lang="es-E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611560" y="2636912"/>
            <a:ext cx="8064896" cy="1015663"/>
          </a:xfrm>
          <a:prstGeom prst="rect">
            <a:avLst/>
          </a:prstGeom>
          <a:ln w="76200">
            <a:solidFill>
              <a:schemeClr val="tx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La eliminaci</a:t>
            </a:r>
            <a:r>
              <a:rPr lang="es-BO" sz="2000" dirty="0" smtClean="0">
                <a:latin typeface="Cambria"/>
                <a:ea typeface="Calibri" pitchFamily="34" charset="0"/>
                <a:cs typeface="Times New Roman" pitchFamily="18" charset="0"/>
              </a:rPr>
              <a:t>ó</a:t>
            </a: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 intestinal iba todos los d</a:t>
            </a:r>
            <a:r>
              <a:rPr lang="es-BO" sz="2000" dirty="0" smtClean="0">
                <a:latin typeface="Cambria"/>
                <a:ea typeface="Calibri" pitchFamily="34" charset="0"/>
                <a:cs typeface="Times New Roman" pitchFamily="18" charset="0"/>
              </a:rPr>
              <a:t>í</a:t>
            </a: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as al ba</a:t>
            </a:r>
            <a:r>
              <a:rPr lang="es-BO" sz="2000" dirty="0" smtClean="0">
                <a:latin typeface="Cambria"/>
                <a:ea typeface="Calibri" pitchFamily="34" charset="0"/>
                <a:cs typeface="Times New Roman" pitchFamily="18" charset="0"/>
              </a:rPr>
              <a:t>ñ</a:t>
            </a: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o, algunas veces presentaba estre</a:t>
            </a:r>
            <a:r>
              <a:rPr lang="es-BO" sz="2000" dirty="0" smtClean="0">
                <a:latin typeface="Cambria"/>
                <a:ea typeface="Calibri" pitchFamily="34" charset="0"/>
                <a:cs typeface="Times New Roman" pitchFamily="18" charset="0"/>
              </a:rPr>
              <a:t>ñ</a:t>
            </a: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imiento, pero ahora que se encuentra internado hasta la fecha no presenta deposici</a:t>
            </a:r>
            <a:r>
              <a:rPr lang="es-BO" sz="2000" dirty="0" smtClean="0">
                <a:latin typeface="Cambria"/>
                <a:ea typeface="Calibri" pitchFamily="34" charset="0"/>
                <a:cs typeface="Times New Roman" pitchFamily="18" charset="0"/>
              </a:rPr>
              <a:t>ó</a:t>
            </a: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 ya son 4 d</a:t>
            </a:r>
            <a:r>
              <a:rPr lang="es-BO" sz="2000" dirty="0" smtClean="0">
                <a:latin typeface="Cambria"/>
                <a:ea typeface="Calibri" pitchFamily="34" charset="0"/>
                <a:cs typeface="Times New Roman" pitchFamily="18" charset="0"/>
              </a:rPr>
              <a:t>í</a:t>
            </a: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as. </a:t>
            </a:r>
            <a:endParaRPr lang="es-ES" sz="20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6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/>
          <p:cNvSpPr>
            <a:spLocks noChangeArrowheads="1"/>
          </p:cNvSpPr>
          <p:nvPr/>
        </p:nvSpPr>
        <p:spPr bwMode="auto">
          <a:xfrm>
            <a:off x="2994485" y="330423"/>
            <a:ext cx="3155031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BALANCE HIDRICO</a:t>
            </a:r>
            <a:endParaRPr kumimoji="0" lang="es-B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9 Tabla"/>
          <p:cNvGraphicFramePr>
            <a:graphicFrameLocks noGrp="1"/>
          </p:cNvGraphicFramePr>
          <p:nvPr/>
        </p:nvGraphicFramePr>
        <p:xfrm>
          <a:off x="251520" y="1040763"/>
          <a:ext cx="8640959" cy="4212493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008112"/>
                <a:gridCol w="2088232"/>
                <a:gridCol w="1431896"/>
                <a:gridCol w="1376416"/>
                <a:gridCol w="1440160"/>
                <a:gridCol w="1296143"/>
              </a:tblGrid>
              <a:tr h="372013">
                <a:tc>
                  <a:txBody>
                    <a:bodyPr/>
                    <a:lstStyle/>
                    <a:p>
                      <a:pPr marL="4572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BO" sz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FECHA</a:t>
                      </a:r>
                      <a:endParaRPr lang="es-ES" sz="1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BO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LIQUIDOS ADMINISTRADOS</a:t>
                      </a:r>
                      <a:endParaRPr lang="es-ES" sz="1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BO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CANTIDAD</a:t>
                      </a:r>
                      <a:endParaRPr lang="es-ES" sz="1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BO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LIQUIDOS </a:t>
                      </a:r>
                      <a:r>
                        <a:rPr lang="es-BO" sz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ELIM.</a:t>
                      </a:r>
                      <a:endParaRPr lang="es-ES" sz="1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BO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CANTIDAD</a:t>
                      </a:r>
                      <a:endParaRPr lang="es-ES" sz="1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BO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BALANCE HIDRICO</a:t>
                      </a:r>
                      <a:endParaRPr lang="es-ES" sz="1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</a:tr>
              <a:tr h="1008794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08-09-13</a:t>
                      </a:r>
                      <a:endParaRPr lang="es-ES" sz="1400" dirty="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 </a:t>
                      </a:r>
                      <a:r>
                        <a:rPr lang="es-BO" sz="1400" dirty="0" err="1"/>
                        <a:t>Intra</a:t>
                      </a:r>
                      <a:r>
                        <a:rPr lang="es-BO" sz="1400" dirty="0"/>
                        <a:t>-venoso</a:t>
                      </a:r>
                      <a:endParaRPr lang="es-ES" sz="1400" dirty="0"/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 SNG</a:t>
                      </a:r>
                      <a:endParaRPr lang="es-ES" sz="1400" dirty="0"/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 </a:t>
                      </a:r>
                      <a:endParaRPr lang="es-ES" sz="1400" dirty="0"/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TOTAL</a:t>
                      </a:r>
                      <a:endParaRPr lang="es-ES" sz="1400" dirty="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3700 </a:t>
                      </a:r>
                      <a:r>
                        <a:rPr lang="es-BO" sz="1400" dirty="0" err="1"/>
                        <a:t>cc</a:t>
                      </a:r>
                      <a:endParaRPr lang="es-ES" sz="1400" dirty="0"/>
                    </a:p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-----------</a:t>
                      </a:r>
                      <a:endParaRPr lang="es-ES" sz="1400" dirty="0"/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3700 CC</a:t>
                      </a:r>
                      <a:endParaRPr lang="es-ES" sz="1400" dirty="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Orina</a:t>
                      </a:r>
                      <a:endParaRPr lang="es-ES" sz="1400" dirty="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SNG.</a:t>
                      </a:r>
                      <a:endParaRPr lang="es-ES" sz="1400" dirty="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drenaje</a:t>
                      </a:r>
                      <a:endParaRPr lang="es-ES" sz="1400" dirty="0"/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TOTAL</a:t>
                      </a:r>
                      <a:endParaRPr lang="es-ES" sz="1400" dirty="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3300 </a:t>
                      </a:r>
                      <a:r>
                        <a:rPr lang="es-BO" sz="1400" dirty="0" err="1"/>
                        <a:t>cc</a:t>
                      </a:r>
                      <a:endParaRPr lang="es-ES" sz="1400" dirty="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350 </a:t>
                      </a:r>
                      <a:r>
                        <a:rPr lang="es-BO" sz="1400" dirty="0" err="1"/>
                        <a:t>cc</a:t>
                      </a:r>
                      <a:endParaRPr lang="es-ES" sz="1400" dirty="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100cc</a:t>
                      </a:r>
                      <a:endParaRPr lang="es-ES" sz="1400" dirty="0"/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3750 </a:t>
                      </a:r>
                      <a:r>
                        <a:rPr lang="es-BO" sz="1400" dirty="0" err="1"/>
                        <a:t>cc</a:t>
                      </a:r>
                      <a:endParaRPr lang="es-ES" sz="1400" dirty="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BO" sz="1400"/>
                    </a:p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- 50 cc</a:t>
                      </a:r>
                      <a:endParaRPr lang="es-ES" sz="140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</a:tr>
              <a:tr h="720567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09-09-</a:t>
                      </a:r>
                      <a:endParaRPr lang="es-ES" sz="1400" dirty="0"/>
                    </a:p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13</a:t>
                      </a:r>
                      <a:endParaRPr lang="es-ES" sz="1400" dirty="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Intra-venoso 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SNG</a:t>
                      </a:r>
                      <a:endParaRPr lang="es-ES" sz="1400"/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/>
                        <a:t/>
                      </a:r>
                      <a:br>
                        <a:rPr lang="es-ES" sz="1400"/>
                      </a:br>
                      <a:r>
                        <a:rPr lang="es-BO" sz="1400"/>
                        <a:t>TOTAL</a:t>
                      </a:r>
                      <a:endParaRPr lang="es-ES" sz="140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3700 cc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----------</a:t>
                      </a:r>
                      <a:endParaRPr lang="es-ES" sz="1400"/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3700 CC</a:t>
                      </a:r>
                      <a:endParaRPr lang="es-ES" sz="140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Orina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SNG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drenaje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TOTA|</a:t>
                      </a:r>
                      <a:endParaRPr lang="es-ES" sz="140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2980 cc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200 cc</a:t>
                      </a:r>
                      <a:endParaRPr lang="es-ES" sz="1400"/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80 cc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3260</a:t>
                      </a:r>
                      <a:endParaRPr lang="es-ES" sz="140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BO" sz="1400"/>
                    </a:p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positivo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440 cc</a:t>
                      </a:r>
                      <a:endParaRPr lang="es-ES" sz="140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</a:tr>
              <a:tr h="1008794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10-09-13</a:t>
                      </a:r>
                      <a:endParaRPr lang="es-ES" sz="1400" dirty="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Intra-venoso 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SNG</a:t>
                      </a:r>
                      <a:endParaRPr lang="es-ES" sz="1400"/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400"/>
                        <a:t/>
                      </a:r>
                      <a:br>
                        <a:rPr lang="es-ES" sz="1400"/>
                      </a:br>
                      <a:r>
                        <a:rPr lang="es-BO" sz="1400"/>
                        <a:t>TOTAL</a:t>
                      </a:r>
                      <a:endParaRPr lang="es-ES" sz="140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3700 cc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   -----------</a:t>
                      </a:r>
                      <a:endParaRPr lang="es-ES" sz="1400"/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3700 cc</a:t>
                      </a:r>
                      <a:endParaRPr lang="es-ES" sz="140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Orina</a:t>
                      </a:r>
                      <a:endParaRPr lang="es-ES" sz="1400" dirty="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SNG</a:t>
                      </a:r>
                      <a:endParaRPr lang="es-ES" sz="1400" dirty="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drenaje</a:t>
                      </a:r>
                      <a:endParaRPr lang="es-ES" sz="1400" dirty="0"/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TOTAL</a:t>
                      </a:r>
                      <a:endParaRPr lang="es-ES" sz="1400" dirty="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3100 cc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150 cc</a:t>
                      </a:r>
                      <a:endParaRPr lang="es-ES" sz="140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35 cc</a:t>
                      </a:r>
                      <a:endParaRPr lang="es-ES" sz="1400"/>
                    </a:p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/>
                        <a:t>3285 cc</a:t>
                      </a:r>
                      <a:endParaRPr lang="es-ES" sz="140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BO" sz="1400" dirty="0"/>
                    </a:p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positivo</a:t>
                      </a:r>
                      <a:endParaRPr lang="es-ES" sz="1400" dirty="0"/>
                    </a:p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1400" dirty="0"/>
                        <a:t>415 </a:t>
                      </a:r>
                      <a:r>
                        <a:rPr lang="es-BO" sz="1400" dirty="0" err="1"/>
                        <a:t>cc</a:t>
                      </a:r>
                      <a:endParaRPr lang="es-ES" sz="1400" dirty="0"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3234" marR="43234" marT="0" marB="0"/>
                </a:tc>
              </a:tr>
            </a:tbl>
          </a:graphicData>
        </a:graphic>
      </p:graphicFrame>
      <p:sp>
        <p:nvSpPr>
          <p:cNvPr id="58377" name="6 Conector recto"/>
          <p:cNvSpPr>
            <a:spLocks noChangeShapeType="1"/>
          </p:cNvSpPr>
          <p:nvPr/>
        </p:nvSpPr>
        <p:spPr bwMode="auto">
          <a:xfrm>
            <a:off x="-73025" y="163513"/>
            <a:ext cx="3803650" cy="7937"/>
          </a:xfrm>
          <a:prstGeom prst="line">
            <a:avLst/>
          </a:prstGeom>
          <a:noFill/>
          <a:ln w="9525">
            <a:solidFill>
              <a:srgbClr val="4A7EBB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8375" name="10 Conector recto"/>
          <p:cNvSpPr>
            <a:spLocks noChangeShapeType="1"/>
          </p:cNvSpPr>
          <p:nvPr/>
        </p:nvSpPr>
        <p:spPr bwMode="auto">
          <a:xfrm>
            <a:off x="-73025" y="593725"/>
            <a:ext cx="0" cy="0"/>
          </a:xfrm>
          <a:prstGeom prst="line">
            <a:avLst/>
          </a:prstGeom>
          <a:noFill/>
          <a:ln w="9525">
            <a:solidFill>
              <a:srgbClr val="4A7EBB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8376" name="9 Conector recto"/>
          <p:cNvSpPr>
            <a:spLocks noChangeShapeType="1"/>
          </p:cNvSpPr>
          <p:nvPr/>
        </p:nvSpPr>
        <p:spPr bwMode="auto">
          <a:xfrm>
            <a:off x="-73025" y="157163"/>
            <a:ext cx="3803650" cy="17462"/>
          </a:xfrm>
          <a:prstGeom prst="line">
            <a:avLst/>
          </a:prstGeom>
          <a:noFill/>
          <a:ln w="9525">
            <a:solidFill>
              <a:srgbClr val="4A7EBB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8374" name="11 Conector recto"/>
          <p:cNvSpPr>
            <a:spLocks noChangeShapeType="1"/>
          </p:cNvSpPr>
          <p:nvPr/>
        </p:nvSpPr>
        <p:spPr bwMode="auto">
          <a:xfrm>
            <a:off x="-73025" y="165100"/>
            <a:ext cx="4502150" cy="7938"/>
          </a:xfrm>
          <a:prstGeom prst="line">
            <a:avLst/>
          </a:prstGeom>
          <a:noFill/>
          <a:ln w="9525">
            <a:solidFill>
              <a:srgbClr val="4A7EBB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55576" y="2331720"/>
          <a:ext cx="7704855" cy="2743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636719"/>
                <a:gridCol w="2755769"/>
                <a:gridCol w="3312367"/>
              </a:tblGrid>
              <a:tr h="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BO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RESULTADOS</a:t>
                      </a:r>
                      <a:endParaRPr lang="es-ES" sz="2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VALORES REFERENCIALES</a:t>
                      </a:r>
                      <a:endParaRPr lang="es-ES" sz="2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 b="1" dirty="0">
                          <a:latin typeface="Times New Roman" pitchFamily="18" charset="0"/>
                          <a:cs typeface="Times New Roman" pitchFamily="18" charset="0"/>
                        </a:rPr>
                        <a:t>Cl Na</a:t>
                      </a:r>
                      <a:endParaRPr lang="es-ES" sz="2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147 mmol/L.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latin typeface="Times New Roman" pitchFamily="18" charset="0"/>
                          <a:cs typeface="Times New Roman" pitchFamily="18" charset="0"/>
                        </a:rPr>
                        <a:t>135 – 145 </a:t>
                      </a:r>
                      <a:r>
                        <a:rPr lang="es-BO" sz="2400" dirty="0" err="1">
                          <a:latin typeface="Times New Roman" pitchFamily="18" charset="0"/>
                          <a:cs typeface="Times New Roman" pitchFamily="18" charset="0"/>
                        </a:rPr>
                        <a:t>mmol</a:t>
                      </a:r>
                      <a:r>
                        <a:rPr lang="es-BO" sz="2400" dirty="0">
                          <a:latin typeface="Times New Roman" pitchFamily="18" charset="0"/>
                          <a:cs typeface="Times New Roman" pitchFamily="18" charset="0"/>
                        </a:rPr>
                        <a:t>/L</a:t>
                      </a:r>
                      <a:endParaRPr lang="es-E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 b="1" dirty="0">
                          <a:latin typeface="Times New Roman" pitchFamily="18" charset="0"/>
                          <a:cs typeface="Times New Roman" pitchFamily="18" charset="0"/>
                        </a:rPr>
                        <a:t>Cl K</a:t>
                      </a:r>
                      <a:endParaRPr lang="es-ES" sz="2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2,8 mmol/L.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3.5 – 5.3 mmol/L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 b="1" dirty="0">
                          <a:latin typeface="Times New Roman" pitchFamily="18" charset="0"/>
                          <a:cs typeface="Times New Roman" pitchFamily="18" charset="0"/>
                        </a:rPr>
                        <a:t>Cl</a:t>
                      </a:r>
                      <a:endParaRPr lang="es-ES" sz="2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108 mmol/L.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latin typeface="Times New Roman" pitchFamily="18" charset="0"/>
                          <a:cs typeface="Times New Roman" pitchFamily="18" charset="0"/>
                        </a:rPr>
                        <a:t>95 – 105 </a:t>
                      </a:r>
                      <a:r>
                        <a:rPr lang="es-BO" sz="2400" dirty="0" err="1">
                          <a:latin typeface="Times New Roman" pitchFamily="18" charset="0"/>
                          <a:cs typeface="Times New Roman" pitchFamily="18" charset="0"/>
                        </a:rPr>
                        <a:t>mmol</a:t>
                      </a:r>
                      <a:r>
                        <a:rPr lang="es-BO" sz="2400" dirty="0">
                          <a:latin typeface="Times New Roman" pitchFamily="18" charset="0"/>
                          <a:cs typeface="Times New Roman" pitchFamily="18" charset="0"/>
                        </a:rPr>
                        <a:t>/L</a:t>
                      </a:r>
                      <a:endParaRPr lang="es-E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683568" y="300227"/>
            <a:ext cx="5112568" cy="954107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ELECTROLITOS</a:t>
            </a:r>
            <a:endParaRPr kumimoji="0" lang="es-E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</a:t>
            </a:r>
            <a:r>
              <a:rPr kumimoji="0" lang="es-BO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FECHA: 09 – 09 – 13                   </a:t>
            </a:r>
            <a:endParaRPr kumimoji="0" lang="es-BO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 noChangeArrowheads="1"/>
          </p:cNvSpPr>
          <p:nvPr/>
        </p:nvSpPr>
        <p:spPr bwMode="auto">
          <a:xfrm>
            <a:off x="971600" y="4293096"/>
            <a:ext cx="7488832" cy="95410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s-B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Potencial a infección relacionado a cuerpo extraño (sonda Foley). </a:t>
            </a:r>
            <a:endParaRPr kumimoji="0" lang="es-BO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87624" y="404664"/>
            <a:ext cx="6840760" cy="52322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s-BO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DIAGNOSTICO DE ENFERMERÍA</a:t>
            </a:r>
            <a:endParaRPr lang="es-ES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899592" y="1340768"/>
            <a:ext cx="7632848" cy="13849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s-BO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Alteración del patrón de eliminación intestinal relacionado al reposo prolongado secundario a  la herida quirúrgica.</a:t>
            </a:r>
            <a:endParaRPr lang="es-ES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971600" y="2967335"/>
            <a:ext cx="7560840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s-BO" sz="28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Alteración de la homeostasis relacionada a la acumulación de líquidos en el espacio extracelular.</a:t>
            </a:r>
            <a:endParaRPr lang="es-E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6" y="188640"/>
            <a:ext cx="7139136" cy="504056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s-BO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PATRÓN DE ACTIVIDAD Y EJERCICIO</a:t>
            </a:r>
            <a:endParaRPr lang="es-BO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755576" y="980728"/>
            <a:ext cx="7574036" cy="5016758"/>
          </a:xfrm>
          <a:prstGeom prst="rect">
            <a:avLst/>
          </a:prstGeom>
          <a:ln w="76200"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s-BO" sz="20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Anteriormente realizaba ejercicios, se transportaba en su bicicleta a su fuente de laboral y   realizaba deporte los fines de semana fútbol, trabajaba de albañil, consumía tres comidas al día y practicaba masticado de coca.</a:t>
            </a: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algn="just">
              <a:buFont typeface="Wingdings" pitchFamily="2" charset="2"/>
              <a:buChar char="q"/>
            </a:pP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Refiere sentir  dolor pero en menor intensidad que le dificulta en la movilidad. Recibe oxigeno por puntas nasales a 2 litros por minuto.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Recibe fisioterapia respiratoria lo cual le causa dolor a nivel abdominal.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 reposo absoluto, se puede valorar disminución del tono, fuerza y masa muscular, con presencia de faja abdominal.</a:t>
            </a:r>
            <a:r>
              <a:rPr lang="es-BO" sz="20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Necesita ayuda para que se realice su aseo personal y medidas de confort. 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Si se observa  piel con marcas de presión causadas por las arrugas de la ropa de cama. No presenta vendaje de miembros inferiores.</a:t>
            </a:r>
            <a:endParaRPr lang="es-E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s-BO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Además que se observa  edema  con fóvea (+) en extremidades inferiores</a:t>
            </a:r>
            <a:endParaRPr lang="es-BO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66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611560" y="1844824"/>
          <a:ext cx="7848871" cy="439674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3091736"/>
                <a:gridCol w="951427"/>
                <a:gridCol w="951427"/>
                <a:gridCol w="951427"/>
                <a:gridCol w="951427"/>
                <a:gridCol w="951427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s-ES" sz="2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s-ES" sz="2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 b="1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s-ES" sz="2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 b="1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s-ES" sz="2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 b="1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s-ES" sz="24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 dirty="0">
                          <a:latin typeface="Times New Roman" pitchFamily="18" charset="0"/>
                          <a:cs typeface="Times New Roman" pitchFamily="18" charset="0"/>
                        </a:rPr>
                        <a:t>Comer / Beber</a:t>
                      </a:r>
                      <a:endParaRPr lang="es-E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Baño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 dirty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s-E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Vestirse / Arreglarse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s-E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Evacuar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Movilidad en Cama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Traslados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Caminar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Subir Escaleras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BO" sz="2400">
                          <a:latin typeface="Times New Roman" pitchFamily="18" charset="0"/>
                          <a:cs typeface="Times New Roman" pitchFamily="18" charset="0"/>
                        </a:rPr>
                        <a:t>Orinar</a:t>
                      </a:r>
                      <a:endParaRPr lang="es-ES" sz="24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2400" dirty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s-ES" sz="2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E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59393" name="Rectangle 1"/>
          <p:cNvSpPr>
            <a:spLocks noChangeArrowheads="1"/>
          </p:cNvSpPr>
          <p:nvPr/>
        </p:nvSpPr>
        <p:spPr bwMode="auto">
          <a:xfrm>
            <a:off x="1691680" y="332656"/>
            <a:ext cx="6266139" cy="1015663"/>
          </a:xfrm>
          <a:prstGeom prst="rect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Capacidad de auto cuidado 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 = Independiente 1 = Aparato Auxiliar 2 = Ayuda de Otros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 = Ayuda de otros equipos 4 = Dependiente/Incapaz</a:t>
            </a:r>
            <a:endParaRPr kumimoji="0" lang="es-B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 noChangeArrowheads="1"/>
          </p:cNvSpPr>
          <p:nvPr/>
        </p:nvSpPr>
        <p:spPr bwMode="auto">
          <a:xfrm>
            <a:off x="899592" y="3368026"/>
            <a:ext cx="7560840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Potencial a zonas de presión  relacionado a reposo prolongado y pliegues de la cama.</a:t>
            </a:r>
            <a:endParaRPr kumimoji="0" lang="es-BO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547664" y="431155"/>
            <a:ext cx="6192688" cy="5232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s-BO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DIAGNOSTICO DE ENFERMER</a:t>
            </a:r>
            <a:r>
              <a:rPr lang="es-BO" sz="2800" b="1" dirty="0" smtClean="0">
                <a:solidFill>
                  <a:prstClr val="black"/>
                </a:solidFill>
                <a:latin typeface="Cambria"/>
                <a:ea typeface="Calibri" pitchFamily="34" charset="0"/>
                <a:cs typeface="Times New Roman" pitchFamily="18" charset="0"/>
              </a:rPr>
              <a:t>Í</a:t>
            </a:r>
            <a:r>
              <a:rPr lang="es-BO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endParaRPr lang="es-ES" sz="28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899592" y="1788210"/>
            <a:ext cx="7416824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s-BO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Disminución del tono, masa y  fuerza relacionada con el reposo prologado en cama.</a:t>
            </a:r>
            <a:endParaRPr lang="es-ES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331640" y="404664"/>
            <a:ext cx="6480720" cy="648072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BO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PATRON DE REPOSO Y SUEÑO</a:t>
            </a:r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71600" y="1556792"/>
            <a:ext cx="7416824" cy="4032448"/>
          </a:xfrm>
          <a:solidFill>
            <a:schemeClr val="bg1"/>
          </a:solidFill>
          <a:ln w="76200"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/>
            <a:r>
              <a:rPr lang="es-E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Paciente refiere no descansar o dormir bien ocasionados por los ruidos que hay en el </a:t>
            </a:r>
            <a:r>
              <a:rPr lang="es-E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las </a:t>
            </a:r>
            <a:r>
              <a:rPr lang="es-E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visitas los ruidos que hacen personal de limpieza ,a veces por la calor que siente y también por periodos de dolor a nivel de herida quirúrgica refiere que estaría mejor en su casa que en el hospital</a:t>
            </a:r>
          </a:p>
          <a:p>
            <a:endParaRPr lang="es-E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05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332656"/>
            <a:ext cx="7416824" cy="720080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s-BO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PATRON </a:t>
            </a:r>
            <a:r>
              <a:rPr lang="es-BO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COGNOSCITIVO-PERCEPTUAL</a:t>
            </a:r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395536" y="1268760"/>
            <a:ext cx="8352928" cy="1631216"/>
          </a:xfrm>
          <a:prstGeom prst="rect">
            <a:avLst/>
          </a:prstGeom>
          <a:noFill/>
          <a:ln w="762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Se encuentra confundido respecto a su salud,</a:t>
            </a:r>
            <a:r>
              <a:rPr kumimoji="0" lang="es-BO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s-BO" sz="2000" dirty="0" smtClean="0">
                <a:latin typeface="Cambria" pitchFamily="18" charset="0"/>
                <a:ea typeface="Calibri" pitchFamily="34" charset="0"/>
                <a:cs typeface="Times New Roman" pitchFamily="18" charset="0"/>
              </a:rPr>
              <a:t>por que lo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asaltaron y atracaron; no comprende</a:t>
            </a:r>
            <a:r>
              <a:rPr kumimoji="0" lang="es-BO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el porque se le realiza algunos procedimientos, no sabe cómo será su recuperación a la alarga.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Cuando realiza algunos movimientos en la cama manifiesta dolor.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En cuanto a los sentidos se pudo valorar:</a:t>
            </a:r>
            <a:endParaRPr kumimoji="0" lang="es-B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467544" y="3140968"/>
            <a:ext cx="8424936" cy="347787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AUDICION</a:t>
            </a:r>
            <a:r>
              <a:rPr kumimoji="0" lang="es-BO" sz="20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sufre de leve hipoacusia bilateral con  mayor grado en oído izquierdo pues cuando se le habla a momentos paciente refiere no escuchar bien, no utiliza audífonos; y se observa presencia de resumen.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VISTA: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refiere tener visión un tanto borrosa, no presenta diplopía ni ceguera; su visión esta corregida y utiliza lentes para leer.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TACTO: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al palpar objetos puede diferenciarlos.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OLFATO: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 sufre de anosmia.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GUSTO: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percibe todos los tipos de sabores.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LENGUAJE: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paciente que habla coherentemente, no se observa dislalia o disartria.</a:t>
            </a:r>
            <a:endParaRPr kumimoji="0" 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MEMORIA: </a:t>
            </a:r>
            <a:r>
              <a:rPr kumimoji="0" lang="es-B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orientado en las tres esferas tiempo, espacio, persona.</a:t>
            </a:r>
            <a:endParaRPr kumimoji="0" lang="es-B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03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 noChangeArrowheads="1"/>
          </p:cNvSpPr>
          <p:nvPr/>
        </p:nvSpPr>
        <p:spPr bwMode="auto">
          <a:xfrm>
            <a:off x="1043608" y="3140968"/>
            <a:ext cx="7344816" cy="95410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>
                <a:tab pos="1501775" algn="l"/>
              </a:tabLst>
            </a:pPr>
            <a:r>
              <a:rPr kumimoji="0" lang="es-B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Real alteración de la seguridad </a:t>
            </a:r>
            <a:r>
              <a:rPr kumimoji="0" lang="es-E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relacionado disminución en la percepción de estímulos.</a:t>
            </a:r>
            <a:endParaRPr kumimoji="0" lang="es-E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584324" y="364480"/>
            <a:ext cx="5867995" cy="52322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1501775" algn="l"/>
              </a:tabLst>
            </a:pPr>
            <a:r>
              <a:rPr lang="es-BO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DIAGNOSTICO DE ENFERMERÍA</a:t>
            </a:r>
            <a:endParaRPr lang="es-ES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043608" y="1412776"/>
            <a:ext cx="7344816" cy="13849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  <a:tabLst>
                <a:tab pos="1501775" algn="l"/>
              </a:tabLst>
            </a:pPr>
            <a:r>
              <a:rPr lang="es-E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Alteración de la necesidad cognoscitiva relacionado a la disminución de captación y retención  de información.</a:t>
            </a:r>
            <a:endParaRPr lang="es-E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971600" y="4581128"/>
            <a:ext cx="7416824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  <a:tabLst>
                <a:tab pos="1501775" algn="l"/>
              </a:tabLst>
            </a:pPr>
            <a:r>
              <a:rPr lang="es-E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Potencial a la disminución de la sensibilidad  relacionado a la falta de estímulos.</a:t>
            </a:r>
            <a:endParaRPr lang="es-E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ChangeArrowheads="1"/>
          </p:cNvSpPr>
          <p:nvPr/>
        </p:nvSpPr>
        <p:spPr bwMode="auto">
          <a:xfrm>
            <a:off x="683568" y="404664"/>
            <a:ext cx="7990714" cy="4616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B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PATRON DE AUTOPERCEPCION Y AUTOCONCEPTO</a:t>
            </a:r>
            <a:endParaRPr kumimoji="0" lang="es-B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539552" y="1935415"/>
            <a:ext cx="8136904" cy="3416320"/>
          </a:xfrm>
          <a:prstGeom prst="rect">
            <a:avLst/>
          </a:prstGeom>
          <a:noFill/>
          <a:ln w="76200">
            <a:solidFill>
              <a:schemeClr val="accent4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Paciente se encuentra triste y deprimido por</a:t>
            </a:r>
            <a:r>
              <a:rPr kumimoji="0" lang="es-BO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lo 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sucedido ya que siempre fue una persona: religiosa, tranquila afectiva con sus hijos y buen trabajador.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endParaRPr lang="es-BO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 siente culpable que</a:t>
            </a:r>
            <a:r>
              <a:rPr kumimoji="0" lang="es-BO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si </a:t>
            </a: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 hubiese salido de casa nada le habría ocurrido y continuaría con sus actividades de rutina.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endParaRPr lang="es-BO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También se siente preocupado por su cuenta económica.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endParaRPr lang="es-BO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ChangeArrowheads="1"/>
          </p:cNvSpPr>
          <p:nvPr/>
        </p:nvSpPr>
        <p:spPr bwMode="auto">
          <a:xfrm>
            <a:off x="1043608" y="3667090"/>
            <a:ext cx="7128792" cy="156966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Preocupación y temor   relacionado a  probable pérdida de trabajo secundario a posible alteración económica familiar.</a:t>
            </a:r>
            <a:endParaRPr kumimoji="0" lang="es-B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915816" y="404664"/>
            <a:ext cx="3377848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s-BO" sz="3200" b="1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DIAGNÓSTICOS</a:t>
            </a:r>
            <a:endParaRPr lang="es-ES" sz="3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115616" y="1772816"/>
            <a:ext cx="7200800" cy="13849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s-BO" sz="28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Estrés y preocupación relacionada a hospitalización e incertidumbre sobre cuidados posoperatorios en casa.</a:t>
            </a:r>
            <a:endParaRPr lang="es-ES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 noChangeArrowheads="1"/>
          </p:cNvSpPr>
          <p:nvPr/>
        </p:nvSpPr>
        <p:spPr bwMode="auto">
          <a:xfrm>
            <a:off x="683568" y="1268760"/>
            <a:ext cx="7848872" cy="4524315"/>
          </a:xfrm>
          <a:prstGeom prst="rect">
            <a:avLst/>
          </a:prstGeom>
          <a:noFill/>
          <a:ln w="76200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Teme que una vez este fuera del hospital no pueda hacer sus actividades de rutina.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Estando internado se siente aburrido, inútil, teme por sus hijos, por su esposa</a:t>
            </a:r>
            <a:r>
              <a:rPr kumimoji="0" lang="es-BO" sz="3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y por su </a:t>
            </a:r>
            <a:r>
              <a:rPr kumimoji="0" lang="es-B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trabajo.</a:t>
            </a:r>
            <a:endParaRPr kumimoji="0" lang="es-E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 siente mal porque lo único que observa a su alrededor es a su familia deprimida y preocupada por él, el verlos llorar hace que se sienta culpable por lo que le sucedió.</a:t>
            </a:r>
            <a:endParaRPr kumimoji="0" lang="es-B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15616" y="332656"/>
            <a:ext cx="6552728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BO" sz="2800" b="1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PATRON DE RELACIONES DEL ROL</a:t>
            </a:r>
            <a:endParaRPr lang="es-ES" sz="28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827584" y="4077072"/>
            <a:ext cx="6984776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s-B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Real situación de estrés relacionado a posible pérdida de trabajo.</a:t>
            </a:r>
            <a:endParaRPr kumimoji="0" lang="es-B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915816" y="332656"/>
            <a:ext cx="3150221" cy="5847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BO" sz="3200" b="1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DIAGNÓSTICO</a:t>
            </a:r>
            <a:endParaRPr lang="es-ES" sz="3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827584" y="1521252"/>
            <a:ext cx="7056784" cy="15696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s-BO" sz="3200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Depresión y sensación de soledad relacionado a alejamiento momentáneo de la familia y estilo de vida social.</a:t>
            </a:r>
            <a:endParaRPr lang="es-ES" sz="32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755576" y="3068960"/>
            <a:ext cx="7686600" cy="2062103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BO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Manifiesta </a:t>
            </a:r>
            <a:r>
              <a:rPr lang="es-B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vive con su esposa y que no tiene problemas durante las relaciones sexuales. </a:t>
            </a:r>
            <a:endParaRPr lang="es-BO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s-BO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Paciente </a:t>
            </a:r>
            <a:r>
              <a:rPr lang="es-B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 sonda </a:t>
            </a:r>
            <a:r>
              <a:rPr lang="es-BO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foley</a:t>
            </a:r>
            <a:r>
              <a:rPr lang="es-B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809569" y="169737"/>
            <a:ext cx="8136903" cy="584775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es-BO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PATRON DE REPRODUTIVO Y SEXUAL</a:t>
            </a:r>
            <a:endParaRPr lang="es-ES" sz="3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804811" y="1556792"/>
            <a:ext cx="7686600" cy="1077218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s-BO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Cliente no se realiza autoexamen testicular mensual, </a:t>
            </a:r>
            <a:r>
              <a:rPr lang="es-BO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que no lo conoce. 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54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899592" y="3240558"/>
            <a:ext cx="7344816" cy="15696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s-BO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Potencial </a:t>
            </a:r>
            <a:r>
              <a:rPr lang="es-BO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riesgo de  infección relacionado a la cateterización vesical (cuerpo extraño).</a:t>
            </a:r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547664" y="575102"/>
            <a:ext cx="6696743" cy="5232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es-BO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DIAGNOSTICOS DE </a:t>
            </a:r>
            <a:r>
              <a:rPr lang="es-BO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ENFERMERIA</a:t>
            </a:r>
            <a:endParaRPr lang="es-E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827584" y="1484784"/>
            <a:ext cx="7416824" cy="10772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BO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déficit de autoexamen testicular  relacionado a la falta de conocimiento</a:t>
            </a:r>
            <a:endParaRPr lang="es-E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12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1187624" y="188640"/>
            <a:ext cx="7056784" cy="830997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/>
            <a:r>
              <a:rPr lang="es-BO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PATRON DE ENFRENTAMIENTO Y TOLERANCIA AL ESTRES</a:t>
            </a:r>
            <a:endParaRPr lang="es-E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611560" y="1484784"/>
            <a:ext cx="8078923" cy="2246769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s-E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s-E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siente muy preocupado por su situación económica y por su trabajo ya que es su única fuente de </a:t>
            </a:r>
            <a:r>
              <a:rPr lang="es-E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ingresos. </a:t>
            </a:r>
          </a:p>
          <a:p>
            <a:pPr algn="just">
              <a:buFont typeface="Wingdings" pitchFamily="2" charset="2"/>
              <a:buChar char="q"/>
            </a:pPr>
            <a:r>
              <a:rPr lang="es-E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s-E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encuentra temeroso por la situación que vivió anteriormente que fue asaltado y </a:t>
            </a:r>
            <a:r>
              <a:rPr lang="es-E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atracado. </a:t>
            </a:r>
            <a:endParaRPr lang="es-E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611560" y="4077072"/>
            <a:ext cx="8078923" cy="2246769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s-E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 ansioso </a:t>
            </a:r>
            <a:r>
              <a:rPr lang="es-E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</a:t>
            </a:r>
            <a:r>
              <a:rPr lang="es-E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 proceso </a:t>
            </a:r>
            <a:r>
              <a:rPr lang="es-E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patológico y </a:t>
            </a:r>
            <a:r>
              <a:rPr lang="es-E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los costos de su hospitalización. Su estado emocional </a:t>
            </a:r>
            <a:r>
              <a:rPr lang="es-E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alterado </a:t>
            </a:r>
            <a:r>
              <a:rPr lang="es-E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porque se lo observa a momentos triste y preocupado por su </a:t>
            </a:r>
            <a:r>
              <a:rPr lang="es-E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familia.</a:t>
            </a:r>
            <a:r>
              <a:rPr lang="es-E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itchFamily="2" charset="2"/>
              <a:buChar char="q"/>
            </a:pPr>
            <a:r>
              <a:rPr lang="es-E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Recibe apoyo por parte de su familia.</a:t>
            </a:r>
            <a:endParaRPr lang="es-E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32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115616" y="3356992"/>
            <a:ext cx="7128792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es-E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Ansiedad </a:t>
            </a:r>
            <a:r>
              <a:rPr lang="es-E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relacionada con amenaza de cambio en el estado de salud secundario a inquietud, incertidumbre</a:t>
            </a:r>
            <a:r>
              <a:rPr lang="es-E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24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781483" y="416384"/>
            <a:ext cx="7488832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/>
            <a:r>
              <a:rPr lang="es-E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DIAGNOSTICOS DE </a:t>
            </a:r>
            <a:r>
              <a:rPr lang="es-E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ENFERMERIA</a:t>
            </a:r>
            <a:endParaRPr lang="es-E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187624" y="5085184"/>
            <a:ext cx="705678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Impotencia relacionado con hechos desagradables ocurridos anteriormente (ser atracado).</a:t>
            </a:r>
          </a:p>
        </p:txBody>
      </p:sp>
      <p:sp>
        <p:nvSpPr>
          <p:cNvPr id="7" name="6 Rectángulo"/>
          <p:cNvSpPr/>
          <p:nvPr/>
        </p:nvSpPr>
        <p:spPr>
          <a:xfrm>
            <a:off x="1187624" y="1412776"/>
            <a:ext cx="7128792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Ansiedad relacionado con ambiente y rutinas desconocidas, conocimiento insuficiente del problema, estudios diagnósticos, tratamientos y pérdida del control.</a:t>
            </a:r>
          </a:p>
        </p:txBody>
      </p:sp>
    </p:spTree>
    <p:extLst>
      <p:ext uri="{BB962C8B-B14F-4D97-AF65-F5344CB8AC3E}">
        <p14:creationId xmlns:p14="http://schemas.microsoft.com/office/powerpoint/2010/main" val="406720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/>
            </a:r>
            <a:br>
              <a:rPr lang="es-ES" dirty="0" smtClean="0"/>
            </a:br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539552" y="332656"/>
            <a:ext cx="7848872" cy="720080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PATRON DE VALORES Y CREENCIAS</a:t>
            </a:r>
            <a:endParaRPr lang="es-ES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506907" y="1268760"/>
            <a:ext cx="8064896" cy="923330"/>
          </a:xfrm>
          <a:prstGeom prst="rect">
            <a:avLst/>
          </a:prstGeom>
          <a:solidFill>
            <a:schemeClr val="bg1"/>
          </a:solidFill>
          <a:ln w="76200">
            <a:solidFill>
              <a:srgbClr val="D6009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religión que </a:t>
            </a:r>
            <a:r>
              <a:rPr lang="es-ES_tradn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practica es </a:t>
            </a:r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católica, iba de vez en cuando a la iglesia de Sacaba. A los 20 años cambio de religión se volvió evangélico +/- 1 año, después por problemas familiares se volvió católico, y refiere que toda su familia profesa esta religión.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528789" y="2420888"/>
            <a:ext cx="8070901" cy="1200329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Menciona que la visión de la patología que presenta actualmente tiene que ver con la religión que profesa, que es un castigo de Dios, por no cumplir sus mandamientos.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 prácticas religiosas se ven interferidas por su hospitalización a causa de la patología que presenta. 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596575" y="3917567"/>
            <a:ext cx="8064895" cy="1323439"/>
          </a:xfrm>
          <a:prstGeom prst="rect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_tradn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Cuando vienen sus familiares rezan para que pueda recuperarse prontamente. Los fin de semanas vienen unas monjitas le hablan de la biblia y oran. Durante la semana también viene un grupo de evangélicos predicando la palabra de Dios.</a:t>
            </a:r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560839" y="5589240"/>
            <a:ext cx="8064894" cy="923330"/>
          </a:xfrm>
          <a:prstGeom prst="rect">
            <a:avLst/>
          </a:prstGeom>
          <a:ln w="762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visión cultural  religiosa y cósmica le permite aceptar a sus familiares la situación en la que se encuentra su familiar, pero no al paciente ya que manifiesta que es un castigo de Dios, todo lo que le sucedió.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48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043608" y="332655"/>
            <a:ext cx="696056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s-ES_tradnl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DIAGNÓSTICOS DE ENFERMERÍA</a:t>
            </a:r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009939" y="1700808"/>
            <a:ext cx="6984776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 algn="just">
              <a:buBlip>
                <a:blip r:embed="rId2"/>
              </a:buBlip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Alteración de sus prácticas religiosas relacionada a limitación de movimiento, secundaria a la patología actual que cursa</a:t>
            </a: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998285" y="3422071"/>
            <a:ext cx="6984775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 algn="just">
              <a:buBlip>
                <a:blip r:embed="rId2"/>
              </a:buBlip>
            </a:pPr>
            <a:r>
              <a:rPr lang="es-ES_tradnl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Alteración de la visión religiosa relacionada a empeoramiento del estado del paciente</a:t>
            </a:r>
            <a:r>
              <a:rPr lang="es-ES_tradnl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998284" y="4615860"/>
            <a:ext cx="6984776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Blip>
                <a:blip r:embed="rId2"/>
              </a:buBlip>
            </a:pPr>
            <a:r>
              <a:rPr lang="es-ES_tradnl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Potencial de desaliento religioso relacionado a la disminución de las prácticas religiosas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03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 noChangeArrowheads="1"/>
          </p:cNvSpPr>
          <p:nvPr/>
        </p:nvSpPr>
        <p:spPr bwMode="auto">
          <a:xfrm>
            <a:off x="2483768" y="404664"/>
            <a:ext cx="4206601" cy="46166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KARDEX DE ENFERMERIA</a:t>
            </a:r>
            <a:endParaRPr kumimoji="0" lang="es-A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4 Tabla"/>
          <p:cNvGraphicFramePr>
            <a:graphicFrameLocks noGrp="1"/>
          </p:cNvGraphicFramePr>
          <p:nvPr/>
        </p:nvGraphicFramePr>
        <p:xfrm>
          <a:off x="395536" y="1397000"/>
          <a:ext cx="8424936" cy="448056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092121"/>
                <a:gridCol w="2436271"/>
                <a:gridCol w="1224136"/>
                <a:gridCol w="3672408"/>
              </a:tblGrid>
              <a:tr h="2390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FECHA</a:t>
                      </a:r>
                      <a:endParaRPr lang="es-E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5198" marR="651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TRATAMIENTO</a:t>
                      </a:r>
                      <a:endParaRPr lang="es-E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5198" marR="651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HORA</a:t>
                      </a:r>
                      <a:endParaRPr lang="es-E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5198" marR="651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CUIDADOS  DE ENFERMERÍA</a:t>
                      </a:r>
                      <a:endParaRPr lang="es-E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5198" marR="65198" marT="0" marB="0"/>
                </a:tc>
              </a:tr>
              <a:tr h="38249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/>
                        <a:t>12 /07/13</a:t>
                      </a:r>
                      <a:endParaRPr lang="es-ES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5198" marR="65198" marT="0" marB="0"/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 err="1"/>
                        <a:t>Metronidazol</a:t>
                      </a:r>
                      <a:r>
                        <a:rPr lang="es-AR" sz="1400" dirty="0"/>
                        <a:t> 500 </a:t>
                      </a:r>
                      <a:r>
                        <a:rPr lang="es-AR" sz="1400" dirty="0" err="1"/>
                        <a:t>mg.</a:t>
                      </a:r>
                      <a:r>
                        <a:rPr lang="es-AR" sz="1400" dirty="0"/>
                        <a:t> EV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 err="1"/>
                        <a:t>Ceftriaxona</a:t>
                      </a:r>
                      <a:r>
                        <a:rPr lang="es-AR" sz="1400" dirty="0"/>
                        <a:t> 1 gr. </a:t>
                      </a:r>
                      <a:r>
                        <a:rPr lang="en-US" sz="1400" dirty="0"/>
                        <a:t>EV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400" dirty="0" err="1"/>
                        <a:t>Ciprofloxacino</a:t>
                      </a:r>
                      <a:r>
                        <a:rPr lang="en-US" sz="1400" dirty="0"/>
                        <a:t> 400 mg. EV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400" dirty="0" err="1"/>
                        <a:t>Ketorol</a:t>
                      </a:r>
                      <a:r>
                        <a:rPr lang="en-US" sz="1400" dirty="0"/>
                        <a:t> 60 mg EV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400" dirty="0" err="1"/>
                        <a:t>Ranitidina</a:t>
                      </a:r>
                      <a:r>
                        <a:rPr lang="es-BO" sz="1400" dirty="0"/>
                        <a:t> 50 </a:t>
                      </a:r>
                      <a:r>
                        <a:rPr lang="es-BO" sz="1400" dirty="0" err="1"/>
                        <a:t>mg.</a:t>
                      </a:r>
                      <a:r>
                        <a:rPr lang="es-BO" sz="1400" dirty="0"/>
                        <a:t> EV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400" dirty="0" err="1"/>
                        <a:t>Alprazolam</a:t>
                      </a:r>
                      <a:r>
                        <a:rPr lang="es-BO" sz="1400" dirty="0"/>
                        <a:t> 0,5 </a:t>
                      </a:r>
                      <a:r>
                        <a:rPr lang="es-BO" sz="1400" dirty="0" err="1"/>
                        <a:t>mg.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400" dirty="0" err="1"/>
                        <a:t>Haldol</a:t>
                      </a:r>
                      <a:r>
                        <a:rPr lang="es-BO" sz="1400" dirty="0"/>
                        <a:t> 5 gotas. VO </a:t>
                      </a:r>
                      <a:endParaRPr lang="es-ES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5198" marR="65198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/>
                        <a:t>7 – 15- 23</a:t>
                      </a:r>
                      <a:endParaRPr lang="es-ES" sz="1400" dirty="0"/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/>
                        <a:t>10 -22</a:t>
                      </a:r>
                      <a:endParaRPr lang="es-ES" sz="1400" dirty="0"/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/>
                        <a:t>12-24</a:t>
                      </a:r>
                      <a:endParaRPr lang="es-ES" sz="1400" dirty="0"/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/>
                        <a:t>6-14-22</a:t>
                      </a:r>
                      <a:endParaRPr lang="es-ES" sz="1400" dirty="0"/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/>
                        <a:t>7-15-23</a:t>
                      </a:r>
                      <a:endParaRPr lang="es-ES" sz="1400" dirty="0"/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/>
                        <a:t>22</a:t>
                      </a:r>
                      <a:endParaRPr lang="es-ES" sz="1400" dirty="0"/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/>
                        <a:t>PRN</a:t>
                      </a:r>
                      <a:endParaRPr lang="es-ES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5198" marR="65198" marT="0" marB="0"/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de signos vitales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neurológico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de nauseas – </a:t>
                      </a:r>
                      <a:r>
                        <a:rPr lang="es-AR" sz="1400" dirty="0" smtClean="0"/>
                        <a:t>vómitos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dolor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Posición </a:t>
                      </a:r>
                      <a:r>
                        <a:rPr lang="es-AR" sz="1400" dirty="0" err="1"/>
                        <a:t>semi-fowler</a:t>
                      </a:r>
                      <a:r>
                        <a:rPr lang="es-AR" sz="1400" dirty="0"/>
                        <a:t>  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O2 por Puntas Nasales a 2 </a:t>
                      </a:r>
                      <a:r>
                        <a:rPr lang="es-AR" sz="1400" dirty="0" err="1"/>
                        <a:t>lts</a:t>
                      </a:r>
                      <a:r>
                        <a:rPr lang="es-AR" sz="1400" dirty="0"/>
                        <a:t>. 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de saturación de O2.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SNG a caída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drenajes tubulares a guante.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de apósitos en región abdominal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sonda Foley a caída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Control deposición</a:t>
                      </a:r>
                      <a:endParaRPr lang="es-ES" sz="1400" dirty="0"/>
                    </a:p>
                    <a:p>
                      <a:pPr marL="34290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AR" sz="1400" dirty="0"/>
                        <a:t>Balance hídrico </a:t>
                      </a:r>
                      <a:endParaRPr lang="es-ES" sz="14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5198" marR="65198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hinchet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554</TotalTime>
  <Words>3003</Words>
  <Application>Microsoft Office PowerPoint</Application>
  <PresentationFormat>Presentación en pantalla (4:3)</PresentationFormat>
  <Paragraphs>433</Paragraphs>
  <Slides>45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46" baseType="lpstr">
      <vt:lpstr>Flujo</vt:lpstr>
      <vt:lpstr>                                    Ministerio de Salud y           Deportes                                                                   </vt:lpstr>
      <vt:lpstr>Presentación de PowerPoint</vt:lpstr>
      <vt:lpstr>Presentación de PowerPoint</vt:lpstr>
      <vt:lpstr>Presentación de PowerPoint</vt:lpstr>
      <vt:lpstr>                           1. DATOS GENERALES DEL PACIENTE:  Nombre: A. M. U. Edad: 51 años. Procedencia: Chayanta - Potosí Sexo: Masculino. Estado Civil: Casado Ocupación: Albañil Sala: 245 – 4. Fecha de Ingreso: 07 – 09 – 13.      Hora: 21:10 p.m. </vt:lpstr>
      <vt:lpstr>Presentación de PowerPoint</vt:lpstr>
      <vt:lpstr>Paciente ingresa al servicio de emergencia tras haber sufrido una agresión física por terceras personas.</vt:lpstr>
      <vt:lpstr>10 hrs después, paciente presenta cefalea intensa, pérdida de conocimiento de inicio súbito, además dolor abdominal de tipo opresivo, de inicio súbito, de intensidad moderada, acompañada de nauseas llegando a vomito en 3 oportunidades, adinamia y malestar general, con múltiples laceraciones en rostro y extremidades superiores, solución de continuidad, suturada en región temporoparietal derecho de más o menos 5 cm. </vt:lpstr>
      <vt:lpstr>     </vt:lpstr>
      <vt:lpstr>      Clínicos.- El paciente refiere que jamás se internó en un hospital y es la primera vez que se internó y que siente miedo por lo que vaya a pasar con su enfermedad actual.    Quirúrgico.-  Paciente refiere que es la primera cirugía que le hicieron.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PATRÓN DE ELIMINACIÓN</vt:lpstr>
      <vt:lpstr>Presentación de PowerPoint</vt:lpstr>
      <vt:lpstr>Presentación de PowerPoint</vt:lpstr>
      <vt:lpstr>Presentación de PowerPoint</vt:lpstr>
      <vt:lpstr>PATRÓN DE ACTIVIDAD Y EJERCICIO</vt:lpstr>
      <vt:lpstr>Presentación de PowerPoint</vt:lpstr>
      <vt:lpstr>Presentación de PowerPoint</vt:lpstr>
      <vt:lpstr>PATRON DE REPOSO Y SUEÑO</vt:lpstr>
      <vt:lpstr>PATRON COGNOSCITIVO-PERCEPTUAL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Ministerio de Salud y           Deportes</dc:title>
  <dc:creator>HP</dc:creator>
  <cp:lastModifiedBy>LILI</cp:lastModifiedBy>
  <cp:revision>101</cp:revision>
  <dcterms:created xsi:type="dcterms:W3CDTF">2013-09-18T10:36:52Z</dcterms:created>
  <dcterms:modified xsi:type="dcterms:W3CDTF">2013-09-21T14:06:53Z</dcterms:modified>
</cp:coreProperties>
</file>