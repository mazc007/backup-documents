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sldIdLst>
    <p:sldId id="290" r:id="rId3"/>
    <p:sldId id="257" r:id="rId4"/>
    <p:sldId id="258" r:id="rId5"/>
    <p:sldId id="292" r:id="rId6"/>
    <p:sldId id="260" r:id="rId7"/>
    <p:sldId id="264" r:id="rId8"/>
    <p:sldId id="269" r:id="rId9"/>
    <p:sldId id="265" r:id="rId10"/>
    <p:sldId id="266" r:id="rId11"/>
    <p:sldId id="267" r:id="rId12"/>
    <p:sldId id="268" r:id="rId13"/>
    <p:sldId id="271" r:id="rId14"/>
    <p:sldId id="272" r:id="rId15"/>
    <p:sldId id="280" r:id="rId16"/>
    <p:sldId id="278" r:id="rId17"/>
    <p:sldId id="281" r:id="rId18"/>
    <p:sldId id="282" r:id="rId19"/>
    <p:sldId id="283" r:id="rId20"/>
    <p:sldId id="284" r:id="rId21"/>
    <p:sldId id="291" r:id="rId22"/>
    <p:sldId id="293" r:id="rId23"/>
    <p:sldId id="28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138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18643-EF59-40FD-8111-3EFA293DF9E7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08846-70ED-42B3-AD56-348009DB2B4C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26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D242D-00F9-40F2-A7D0-8A6AD25E3EA1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684B9-DCF5-4EA9-9FE9-D1E740E74A1C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4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206E4-8955-4259-858E-64EACFC81C89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B2B1E-E337-4724-9EAD-728A94AB813A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3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C06D9-3F96-4466-84D2-6A0E07F064BE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983CF-C898-4058-A0BE-D759B5D78CAB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2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3C4A2-34AD-4CA4-9336-AF76692ABB38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51404-FCE2-4BF6-BDB9-AE48FE7B39FF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4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37963-BFCD-4300-99FB-AA469DE9CA98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E4578-DFBB-4039-9669-B37A660E53C0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92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7D119-DC66-4E5C-88C0-806353F2A6AF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FD6E8-2283-49FA-B194-A68B6D414521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18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895CE-254E-4CE0-846F-4EB96C46DC78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8413D-716D-4AEE-A480-234B7E9627F2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62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F18355-56EB-4B34-82C4-CE431CB401CC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A3E25-CACA-4591-976B-082F6CB9871D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73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DA2F0-134B-4AD9-BE08-477910ECAC3A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29772-A3A7-4E03-8150-E64C9ABCC72A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2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B9EF8-E817-48CB-8C27-EF71E5089006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9564A-32D7-4A66-BE66-47A70BA560AA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119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BC5217A8-0E06-4059-AC45-433E2E67A85D}" type="slidenum">
              <a:rPr kumimoji="0" lang="en-US" smtClean="0"/>
              <a:pPr eaLnBrk="1" latinLnBrk="0" hangingPunct="1"/>
              <a:t>‹Nº›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47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DAC2B37-AD47-4B72-86E1-866A0F0D87C3}" type="datetime1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05/04/2014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A9A7DF-E7C6-4135-B9C9-DAB06B13E345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36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4/5/2014</a:t>
            </a:fld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pPr algn="r" eaLnBrk="1" latinLnBrk="0" hangingPunct="1"/>
            <a:endParaRPr kumimoji="0" lang="en-US" sz="10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pPr algn="r" eaLnBrk="1" latinLnBrk="0" hangingPunct="1"/>
            <a:fld id="{BC5217A8-0E06-4059-AC45-433E2E67A85D}" type="slidenum">
              <a:rPr kumimoji="0" lang="en-US" smtClean="0"/>
              <a:pPr algn="r" eaLnBrk="1" latinLnBrk="0" hangingPunct="1"/>
              <a:t>‹Nº›</a:t>
            </a:fld>
            <a:endParaRPr kumimoji="0" lang="en-US" sz="11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 dirty="0">
                <a:solidFill>
                  <a:prstClr val="black">
                    <a:tint val="75000"/>
                  </a:prstClr>
                </a:solidFill>
              </a:rPr>
              <a:t>Margarita Paredes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4191000" y="2513013"/>
            <a:ext cx="45720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cs typeface="Arial" pitchFamily="34" charset="0"/>
              </a:rPr>
              <a:t>SINDROME DE GUILLAIN </a:t>
            </a:r>
            <a:r>
              <a:rPr lang="es-ES_tradnl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cs typeface="Arial" pitchFamily="34" charset="0"/>
              </a:rPr>
              <a:t>BARRÉ</a:t>
            </a:r>
          </a:p>
          <a:p>
            <a:pPr algn="ctr">
              <a:spcBef>
                <a:spcPct val="50000"/>
              </a:spcBef>
              <a:defRPr/>
            </a:pPr>
            <a:endParaRPr lang="es-E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aramond" pitchFamily="18" charset="0"/>
              <a:cs typeface="Arial" pitchFamily="34" charset="0"/>
            </a:endParaRPr>
          </a:p>
        </p:txBody>
      </p:sp>
      <p:pic>
        <p:nvPicPr>
          <p:cNvPr id="2052" name="Picture 17" descr="Image864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69"/>
          <a:stretch>
            <a:fillRect/>
          </a:stretch>
        </p:blipFill>
        <p:spPr bwMode="auto">
          <a:xfrm>
            <a:off x="152400" y="2270125"/>
            <a:ext cx="3886200" cy="2832100"/>
          </a:xfrm>
          <a:prstGeom prst="rect">
            <a:avLst/>
          </a:prstGeom>
          <a:noFill/>
          <a:ln w="38100">
            <a:solidFill>
              <a:srgbClr val="FF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Line 19"/>
          <p:cNvSpPr>
            <a:spLocks noChangeShapeType="1"/>
          </p:cNvSpPr>
          <p:nvPr/>
        </p:nvSpPr>
        <p:spPr bwMode="auto">
          <a:xfrm>
            <a:off x="152400" y="5486400"/>
            <a:ext cx="8763000" cy="0"/>
          </a:xfrm>
          <a:prstGeom prst="line">
            <a:avLst/>
          </a:prstGeom>
          <a:noFill/>
          <a:ln w="9525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MX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41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26" name="Picture 2" descr="http://image.slidesharecdn.com/guillain-barre-1233619693424276-3/95/slide-2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624"/>
            <a:ext cx="9144000" cy="681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01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050" name="Picture 2" descr="http://image.slidesharecdn.com/guillain-barre-1233619693424276-3/95/slide-3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6526"/>
            <a:ext cx="9144000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14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122" name="Picture 2" descr="http://image.slidesharecdn.com/guillain-barre-1233619693424276-3/95/slide-6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36526"/>
            <a:ext cx="9389532" cy="69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57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098" name="Picture 2" descr="http://image.slidesharecdn.com/guillain-barre-1233619693424276-3/95/slide-5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-136526"/>
            <a:ext cx="9326033" cy="69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97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8194" name="Picture 2" descr="http://image.slidesharecdn.com/guillain-barre-1233619693424276-3/95/slide-9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36526"/>
            <a:ext cx="9138012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23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242" name="Picture 2" descr="http://image.slidesharecdn.com/guillain-barre-1233619693424276-3/95/slide-11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-136526"/>
            <a:ext cx="9074513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88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1266" name="Picture 2" descr="http://image.slidesharecdn.com/guillain-barre-1233619693424276-3/95/slide-12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326033" cy="69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67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2290" name="Picture 2" descr="http://image.slidesharecdn.com/guillain-barre-1233619693424276-3/95/slide-13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326033" cy="69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36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3314" name="Picture 2" descr="http://image.slidesharecdn.com/guillain-barre-1233619693424276-3/95/slide-14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19" y="-136526"/>
            <a:ext cx="9246532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49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4338" name="Picture 2" descr="http://image.slidesharecdn.com/guillain-barre-1233619693424276-3/95/slide-15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1" y="-136526"/>
            <a:ext cx="9074513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82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5362" name="Picture 2" descr="http://image.slidesharecdn.com/guillain-barre-1233619693424276-3/95/slide-16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9" y="-136526"/>
            <a:ext cx="9074513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02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6386" name="Picture 2" descr="http://image.slidesharecdn.com/guillain-barre-1233619693424276-3/95/slide-17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9" y="-136526"/>
            <a:ext cx="9074513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37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1506" name="Picture 2" descr="http://image.slidesharecdn.com/guillain-barre-1233619693424276-3/95/slide-22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170524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74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2530" name="Picture 2" descr="http://image.slidesharecdn.com/guillain-barre-1233619693424276-3/95/slide-23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326033" cy="69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52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4578" name="Picture 2" descr="http://image.slidesharecdn.com/guillain-barre-1233619693424276-3/95/slide-24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080500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60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5602" name="Picture 2" descr="http://image.slidesharecdn.com/guillain-barre-1233619693424276-3/95/slide-25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170524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2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6626" name="Picture 2" descr="http://image.slidesharecdn.com/guillain-barre-1233619693424276-3/95/slide-26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074513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7650" name="Picture 2" descr="http://image.slidesharecdn.com/guillain-barre-1233619693424276-3/95/slide-27-728.jpg?cb=1233619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36526"/>
            <a:ext cx="9170524" cy="699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90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 smtClean="0">
                <a:solidFill>
                  <a:prstClr val="black">
                    <a:tint val="75000"/>
                  </a:prstClr>
                </a:solidFill>
              </a:rPr>
              <a:t>Margarita Paredes</a:t>
            </a: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579" name="2 Rectángulo"/>
          <p:cNvSpPr>
            <a:spLocks noChangeArrowheads="1"/>
          </p:cNvSpPr>
          <p:nvPr/>
        </p:nvSpPr>
        <p:spPr bwMode="auto">
          <a:xfrm>
            <a:off x="611188" y="332656"/>
            <a:ext cx="7345362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s-ES_tradnl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TRATAMIENTO SINTOMATICO</a:t>
            </a:r>
            <a:endParaRPr lang="es-ES_tradnl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s-ES_tradnl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Mantenimiento ventilación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s-ES_tradnl" sz="2400" dirty="0" err="1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Tto</a:t>
            </a:r>
            <a:r>
              <a:rPr lang="es-ES_tradnl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dolor, parestesias: </a:t>
            </a:r>
            <a:r>
              <a:rPr lang="es-ES_tradnl" sz="2400" dirty="0" err="1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gabapentina</a:t>
            </a:r>
            <a:endParaRPr lang="es-ES_tradnl" sz="2400" dirty="0" smtClean="0">
              <a:solidFill>
                <a:schemeClr val="tx1">
                  <a:lumMod val="9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s-ES_tradnl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Prevención complicaciones </a:t>
            </a:r>
            <a:r>
              <a:rPr lang="es-ES_tradnl" sz="2400" dirty="0" err="1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asoc</a:t>
            </a:r>
            <a:r>
              <a:rPr lang="es-ES_tradnl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. al decúbito: </a:t>
            </a:r>
            <a:r>
              <a:rPr lang="es-ES_tradnl" sz="2400" dirty="0" err="1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mobilización</a:t>
            </a:r>
            <a:r>
              <a:rPr lang="es-ES_tradnl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pasiva, heparina profiláctica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s-ES_tradnl" sz="24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Fisioterapia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s-ES" sz="2400" dirty="0" smtClean="0">
                <a:solidFill>
                  <a:schemeClr val="tx1">
                    <a:lumMod val="95000"/>
                  </a:schemeClr>
                </a:solidFill>
                <a:latin typeface="ArialMS" charset="0"/>
                <a:cs typeface="Arial" pitchFamily="34" charset="0"/>
              </a:rPr>
              <a:t>Soporte nutricional intensivo.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s-ES_tradnl" sz="2400" b="1" dirty="0">
                <a:solidFill>
                  <a:schemeClr val="tx1">
                    <a:lumMod val="95000"/>
                  </a:schemeClr>
                </a:solidFill>
              </a:rPr>
              <a:t>TTO INMUNOMODULADOR</a:t>
            </a:r>
            <a:endParaRPr lang="es-ES_tradnl"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sz="2400" b="1" dirty="0">
                <a:solidFill>
                  <a:schemeClr val="tx1">
                    <a:lumMod val="95000"/>
                  </a:schemeClr>
                </a:solidFill>
              </a:rPr>
              <a:t>PLASMAFÉRESIS: </a:t>
            </a:r>
            <a:endParaRPr lang="es-ES_tradnl"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sz="2400" b="1" dirty="0">
                <a:solidFill>
                  <a:schemeClr val="tx1">
                    <a:lumMod val="95000"/>
                  </a:schemeClr>
                </a:solidFill>
              </a:rPr>
              <a:t>GAMMAGLOBULINAS </a:t>
            </a:r>
            <a:r>
              <a:rPr lang="es-ES_tradnl" sz="2400" b="1" dirty="0" smtClean="0">
                <a:solidFill>
                  <a:schemeClr val="tx1">
                    <a:lumMod val="95000"/>
                  </a:schemeClr>
                </a:solidFill>
              </a:rPr>
              <a:t>IV</a:t>
            </a:r>
            <a:r>
              <a:rPr lang="es-ES_tradnl" sz="2400" b="1" dirty="0">
                <a:solidFill>
                  <a:schemeClr val="tx1">
                    <a:lumMod val="95000"/>
                  </a:schemeClr>
                </a:solidFill>
              </a:rPr>
              <a:t>:</a:t>
            </a:r>
            <a:endParaRPr lang="es-ES" sz="2400" dirty="0" smtClean="0">
              <a:solidFill>
                <a:schemeClr val="tx1">
                  <a:lumMod val="95000"/>
                </a:schemeClr>
              </a:solidFill>
              <a:latin typeface="ArialMS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00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38311"/>
              </p:ext>
            </p:extLst>
          </p:nvPr>
        </p:nvGraphicFramePr>
        <p:xfrm>
          <a:off x="0" y="404664"/>
          <a:ext cx="8962529" cy="6120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13945"/>
                <a:gridCol w="6048584"/>
              </a:tblGrid>
              <a:tr h="16086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MUSCOESQUELETICOS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Cambios posturales </a:t>
                      </a:r>
                      <a:r>
                        <a:rPr lang="es-MX" sz="1800" dirty="0" err="1">
                          <a:effectLst/>
                        </a:rPr>
                        <a:t>frec</a:t>
                      </a:r>
                      <a:r>
                        <a:rPr lang="es-MX" sz="1800" dirty="0">
                          <a:effectLst/>
                        </a:rPr>
                        <a:t>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Protección de zonas predispuestas a ulcerarse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Fisioterapia </a:t>
                      </a:r>
                      <a:r>
                        <a:rPr lang="es-MX" sz="1800" dirty="0" smtClean="0">
                          <a:effectLst/>
                        </a:rPr>
                        <a:t>comodidad</a:t>
                      </a:r>
                    </a:p>
                  </a:txBody>
                  <a:tcPr marL="34186" marR="34186" marT="0" marB="0"/>
                </a:tc>
              </a:tr>
              <a:tr h="17389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ANTE EL DOLOR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Cambios posturales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Fisioterapia, colocación. de almohadas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Apoyo, refuerzos Positivos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Se intenta distraer al paciente para que aumente la tolerancia al dolor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Administración de morfina según prescripción médica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  <a:tr h="1386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PSIQUIÁTRICOS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Relación de confianza cercanía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Comunicar comprensión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. • Apoyar mecanismos de  adaptación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Crear ambiente tranquilo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  <a:tr h="1386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RESPIRATORIOS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Fisioterapia respiratoria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Cambios posturales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Hidratación adecuada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. • Oxigenoterapia prescrita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11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77666648"/>
              </p:ext>
            </p:extLst>
          </p:nvPr>
        </p:nvGraphicFramePr>
        <p:xfrm>
          <a:off x="179512" y="10559"/>
          <a:ext cx="8784976" cy="67308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6219"/>
                <a:gridCol w="5928757"/>
              </a:tblGrid>
              <a:tr h="9564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DIGESTIVOS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Dieta blanda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Según tolerancia de deglución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120650" algn="l"/>
                        </a:tabLst>
                      </a:pPr>
                      <a:r>
                        <a:rPr lang="es-MX" sz="1800" dirty="0">
                          <a:effectLst/>
                        </a:rPr>
                        <a:t>Aporte abundante de </a:t>
                      </a:r>
                      <a:r>
                        <a:rPr lang="es-MX" sz="1800" dirty="0" err="1">
                          <a:effectLst/>
                        </a:rPr>
                        <a:t>liquidos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  <a:tr h="12825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HEMATOLÓGICOS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 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Aumentar aporte de líquidos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Vendaje compresivo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Pomadas </a:t>
                      </a:r>
                      <a:r>
                        <a:rPr lang="es-MX" sz="1800" dirty="0" err="1">
                          <a:effectLst/>
                        </a:rPr>
                        <a:t>heparinoides</a:t>
                      </a:r>
                      <a:endParaRPr lang="es-MX" sz="18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Transfusiones según prescripción médica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  <a:tr h="12749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>
                          <a:effectLst/>
                        </a:rPr>
                        <a:t>CUIDADOS CUTÁNEO - MUCOSOS</a:t>
                      </a:r>
                      <a:endParaRPr lang="es-MX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120650" algn="l"/>
                        </a:tabLst>
                      </a:pPr>
                      <a:r>
                        <a:rPr lang="es-MX" sz="1800" dirty="0">
                          <a:effectLst/>
                        </a:rPr>
                        <a:t>Cambios de </a:t>
                      </a:r>
                      <a:r>
                        <a:rPr lang="es-MX" sz="1800" dirty="0" smtClean="0">
                          <a:effectLst/>
                        </a:rPr>
                        <a:t>posición</a:t>
                      </a:r>
                      <a:endParaRPr lang="es-MX" sz="18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 • Disminuir sequedad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Hidratación adecuada</a:t>
                      </a: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MX" sz="1800" dirty="0">
                          <a:effectLst/>
                        </a:rPr>
                        <a:t>protectores </a:t>
                      </a:r>
                      <a:r>
                        <a:rPr lang="es-MX" sz="1800" dirty="0" smtClean="0">
                          <a:effectLst/>
                        </a:rPr>
                        <a:t>labiales</a:t>
                      </a:r>
                      <a:endParaRPr lang="es-MX" sz="1800" dirty="0">
                        <a:effectLst/>
                      </a:endParaRPr>
                    </a:p>
                  </a:txBody>
                  <a:tcPr marL="34186" marR="34186" marT="0" marB="0"/>
                </a:tc>
              </a:tr>
              <a:tr h="25862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>
                          <a:effectLst/>
                        </a:rPr>
                        <a:t>CUIDADOS INMUNITARIOS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>
                          <a:effectLst/>
                        </a:rPr>
                        <a:t> </a:t>
                      </a:r>
                      <a:endParaRPr lang="es-MX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20650" algn="l"/>
                        </a:tabLst>
                      </a:pPr>
                      <a:r>
                        <a:rPr lang="es-MX" sz="1800" dirty="0">
                          <a:effectLst/>
                        </a:rPr>
                        <a:t>• Aislamiento invertido del paciente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20650" algn="l"/>
                        </a:tabLst>
                      </a:pPr>
                      <a:r>
                        <a:rPr lang="es-MX" sz="1800" dirty="0">
                          <a:effectLst/>
                        </a:rPr>
                        <a:t>• Toma de muestras para cultivos de forma periódica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Dieta nutritiva y energética que mejore defensas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Control de signos y síntomas que evidencien la existencia de una infección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Utilización de medios físicos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Ingesta de líquidos adecuada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• Antibióticos según prescripción médica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  <a:tr h="630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</a:rPr>
                        <a:t>CUIDADOS HEPATOBILIARES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20650" algn="l"/>
                        </a:tabLst>
                      </a:pPr>
                      <a:r>
                        <a:rPr lang="es-MX" sz="1800" dirty="0">
                          <a:effectLst/>
                        </a:rPr>
                        <a:t>• Cuidado en el manejo del material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20650" algn="l"/>
                        </a:tabLst>
                      </a:pPr>
                      <a:r>
                        <a:rPr lang="es-MX" sz="1800" dirty="0">
                          <a:effectLst/>
                        </a:rPr>
                        <a:t>• Prevenir contagios</a:t>
                      </a:r>
                      <a:endParaRPr lang="es-MX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4186" marR="3418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34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orizonte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te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t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182</TotalTime>
  <Words>237</Words>
  <Application>Microsoft Office PowerPoint</Application>
  <PresentationFormat>Presentación en pantalla (4:3)</PresentationFormat>
  <Paragraphs>67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4" baseType="lpstr">
      <vt:lpstr>Tema de Office</vt:lpstr>
      <vt:lpstr>Horizonte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Esther</dc:creator>
  <cp:lastModifiedBy>computer</cp:lastModifiedBy>
  <cp:revision>11</cp:revision>
  <dcterms:created xsi:type="dcterms:W3CDTF">2014-04-03T07:10:43Z</dcterms:created>
  <dcterms:modified xsi:type="dcterms:W3CDTF">2014-04-05T13:16:26Z</dcterms:modified>
</cp:coreProperties>
</file>