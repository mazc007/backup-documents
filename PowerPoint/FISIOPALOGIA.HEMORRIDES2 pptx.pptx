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301" r:id="rId3"/>
    <p:sldId id="257" r:id="rId4"/>
    <p:sldId id="258" r:id="rId5"/>
    <p:sldId id="259" r:id="rId6"/>
    <p:sldId id="260" r:id="rId7"/>
    <p:sldId id="261" r:id="rId8"/>
    <p:sldId id="262" r:id="rId9"/>
    <p:sldId id="263" r:id="rId10"/>
    <p:sldId id="264" r:id="rId11"/>
    <p:sldId id="265" r:id="rId12"/>
    <p:sldId id="307" r:id="rId13"/>
    <p:sldId id="266" r:id="rId14"/>
    <p:sldId id="267" r:id="rId15"/>
    <p:sldId id="268" r:id="rId16"/>
    <p:sldId id="269" r:id="rId17"/>
    <p:sldId id="270" r:id="rId18"/>
    <p:sldId id="271" r:id="rId19"/>
    <p:sldId id="274" r:id="rId20"/>
    <p:sldId id="275" r:id="rId21"/>
    <p:sldId id="288" r:id="rId22"/>
    <p:sldId id="285" r:id="rId23"/>
    <p:sldId id="291" r:id="rId24"/>
    <p:sldId id="276" r:id="rId25"/>
    <p:sldId id="277" r:id="rId26"/>
    <p:sldId id="305" r:id="rId27"/>
    <p:sldId id="306" r:id="rId28"/>
    <p:sldId id="278" r:id="rId29"/>
    <p:sldId id="279" r:id="rId30"/>
    <p:sldId id="280" r:id="rId31"/>
    <p:sldId id="281" r:id="rId32"/>
    <p:sldId id="282" r:id="rId33"/>
    <p:sldId id="287" r:id="rId34"/>
    <p:sldId id="292" r:id="rId35"/>
    <p:sldId id="297" r:id="rId36"/>
    <p:sldId id="293" r:id="rId37"/>
    <p:sldId id="294" r:id="rId38"/>
    <p:sldId id="295" r:id="rId39"/>
    <p:sldId id="296" r:id="rId40"/>
    <p:sldId id="290" r:id="rId4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46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DFB53C-D2CA-408E-975B-102D764CE528}" type="doc">
      <dgm:prSet loTypeId="urn:microsoft.com/office/officeart/2005/8/layout/default#1" loCatId="list" qsTypeId="urn:microsoft.com/office/officeart/2005/8/quickstyle/simple3" qsCatId="simple" csTypeId="urn:microsoft.com/office/officeart/2005/8/colors/accent1_2" csCatId="accent1" phldr="1"/>
      <dgm:spPr/>
      <dgm:t>
        <a:bodyPr/>
        <a:lstStyle/>
        <a:p>
          <a:endParaRPr lang="es-BO"/>
        </a:p>
      </dgm:t>
    </dgm:pt>
    <dgm:pt modelId="{8243CB38-B42F-42E9-BB45-D2BB9DC24C3B}">
      <dgm:prSet phldrT="[Texto]"/>
      <dgm:spPr>
        <a:solidFill>
          <a:schemeClr val="accent1">
            <a:lumMod val="20000"/>
            <a:lumOff val="80000"/>
          </a:schemeClr>
        </a:solidFill>
      </dgm:spPr>
      <dgm:t>
        <a:bodyPr/>
        <a:lstStyle/>
        <a:p>
          <a:r>
            <a:rPr lang="es-BO" dirty="0" smtClean="0"/>
            <a:t>Fistula anal</a:t>
          </a:r>
          <a:endParaRPr lang="es-BO" dirty="0"/>
        </a:p>
      </dgm:t>
    </dgm:pt>
    <dgm:pt modelId="{F3F1ED61-B84B-4DDC-B429-5C0B742D4A65}" type="parTrans" cxnId="{4E2A885B-BFB1-4BE4-99CF-AA4E2FCF2E9F}">
      <dgm:prSet/>
      <dgm:spPr/>
      <dgm:t>
        <a:bodyPr/>
        <a:lstStyle/>
        <a:p>
          <a:endParaRPr lang="es-BO"/>
        </a:p>
      </dgm:t>
    </dgm:pt>
    <dgm:pt modelId="{24187BFB-8809-4361-940B-01C774798613}" type="sibTrans" cxnId="{4E2A885B-BFB1-4BE4-99CF-AA4E2FCF2E9F}">
      <dgm:prSet/>
      <dgm:spPr/>
      <dgm:t>
        <a:bodyPr/>
        <a:lstStyle/>
        <a:p>
          <a:endParaRPr lang="es-BO"/>
        </a:p>
      </dgm:t>
    </dgm:pt>
    <dgm:pt modelId="{5CEA065E-4C39-4839-B345-821E77DDA7BC}">
      <dgm:prSet phldrT="[Texto]" custT="1"/>
      <dgm:spPr>
        <a:solidFill>
          <a:schemeClr val="accent1">
            <a:lumMod val="20000"/>
            <a:lumOff val="80000"/>
          </a:schemeClr>
        </a:solidFill>
      </dgm:spPr>
      <dgm:t>
        <a:bodyPr/>
        <a:lstStyle/>
        <a:p>
          <a:r>
            <a:rPr lang="es-BO" sz="1200" dirty="0" smtClean="0"/>
            <a:t>Absceso anal</a:t>
          </a:r>
          <a:endParaRPr lang="es-BO" sz="1200" dirty="0"/>
        </a:p>
      </dgm:t>
    </dgm:pt>
    <dgm:pt modelId="{2608B7DD-13EC-4061-9EFC-4AAF2F7D6B78}" type="parTrans" cxnId="{50C71264-0DAF-40D9-B679-59539079A2A2}">
      <dgm:prSet/>
      <dgm:spPr/>
      <dgm:t>
        <a:bodyPr/>
        <a:lstStyle/>
        <a:p>
          <a:endParaRPr lang="es-BO"/>
        </a:p>
      </dgm:t>
    </dgm:pt>
    <dgm:pt modelId="{8111145F-08C7-4EB5-A333-C7518FB8C440}" type="sibTrans" cxnId="{50C71264-0DAF-40D9-B679-59539079A2A2}">
      <dgm:prSet/>
      <dgm:spPr/>
      <dgm:t>
        <a:bodyPr/>
        <a:lstStyle/>
        <a:p>
          <a:endParaRPr lang="es-BO"/>
        </a:p>
      </dgm:t>
    </dgm:pt>
    <dgm:pt modelId="{B36AD505-7244-47D0-BB73-50DC79E36377}">
      <dgm:prSet phldrT="[Texto]"/>
      <dgm:spPr>
        <a:solidFill>
          <a:schemeClr val="accent1">
            <a:lumMod val="20000"/>
            <a:lumOff val="80000"/>
          </a:schemeClr>
        </a:solidFill>
      </dgm:spPr>
      <dgm:t>
        <a:bodyPr/>
        <a:lstStyle/>
        <a:p>
          <a:r>
            <a:rPr lang="es-BO" dirty="0" smtClean="0"/>
            <a:t>Drenaje de absceso</a:t>
          </a:r>
          <a:endParaRPr lang="es-BO" dirty="0"/>
        </a:p>
      </dgm:t>
    </dgm:pt>
    <dgm:pt modelId="{A0464BCA-9AF0-4263-9F33-477AEBCE894F}" type="parTrans" cxnId="{7B61321E-69A2-4098-9BEA-8386BC46A8C9}">
      <dgm:prSet/>
      <dgm:spPr/>
      <dgm:t>
        <a:bodyPr/>
        <a:lstStyle/>
        <a:p>
          <a:endParaRPr lang="es-BO"/>
        </a:p>
      </dgm:t>
    </dgm:pt>
    <dgm:pt modelId="{7B298D3D-04CD-4032-9D09-8368446CB751}" type="sibTrans" cxnId="{7B61321E-69A2-4098-9BEA-8386BC46A8C9}">
      <dgm:prSet/>
      <dgm:spPr/>
      <dgm:t>
        <a:bodyPr/>
        <a:lstStyle/>
        <a:p>
          <a:endParaRPr lang="es-BO"/>
        </a:p>
      </dgm:t>
    </dgm:pt>
    <dgm:pt modelId="{CEB357E5-ECF1-4F64-9ACD-E886F4B3B57F}">
      <dgm:prSet phldrT="[Texto]"/>
      <dgm:spPr>
        <a:solidFill>
          <a:schemeClr val="accent1">
            <a:lumMod val="20000"/>
            <a:lumOff val="80000"/>
          </a:schemeClr>
        </a:solidFill>
      </dgm:spPr>
      <dgm:t>
        <a:bodyPr/>
        <a:lstStyle/>
        <a:p>
          <a:r>
            <a:rPr lang="es-BO" dirty="0" smtClean="0"/>
            <a:t>Drenaje con fistulotomia primaria</a:t>
          </a:r>
          <a:endParaRPr lang="es-BO" dirty="0"/>
        </a:p>
      </dgm:t>
    </dgm:pt>
    <dgm:pt modelId="{6F726DF6-0F96-4252-ACD1-6392CCC54895}" type="parTrans" cxnId="{670418F8-81B3-4276-850D-266A0AF0E1EE}">
      <dgm:prSet/>
      <dgm:spPr/>
      <dgm:t>
        <a:bodyPr/>
        <a:lstStyle/>
        <a:p>
          <a:endParaRPr lang="es-BO"/>
        </a:p>
      </dgm:t>
    </dgm:pt>
    <dgm:pt modelId="{79993AEB-7E5B-427B-B159-20E853EE2F71}" type="sibTrans" cxnId="{670418F8-81B3-4276-850D-266A0AF0E1EE}">
      <dgm:prSet/>
      <dgm:spPr/>
      <dgm:t>
        <a:bodyPr/>
        <a:lstStyle/>
        <a:p>
          <a:endParaRPr lang="es-BO"/>
        </a:p>
      </dgm:t>
    </dgm:pt>
    <dgm:pt modelId="{C8B25333-7258-4E20-BB55-FC13C560899D}">
      <dgm:prSet phldrT="[Texto]"/>
      <dgm:spPr>
        <a:solidFill>
          <a:schemeClr val="accent1">
            <a:lumMod val="20000"/>
            <a:lumOff val="80000"/>
          </a:schemeClr>
        </a:solidFill>
      </dgm:spPr>
      <dgm:t>
        <a:bodyPr/>
        <a:lstStyle/>
        <a:p>
          <a:r>
            <a:rPr lang="es-BO" dirty="0" smtClean="0"/>
            <a:t>Curación </a:t>
          </a:r>
          <a:endParaRPr lang="es-BO" dirty="0"/>
        </a:p>
      </dgm:t>
    </dgm:pt>
    <dgm:pt modelId="{317DE7F7-D003-4C57-B323-CCB72DF30D57}" type="parTrans" cxnId="{A4FC9BAA-0442-4BB1-8987-71A59CD564E9}">
      <dgm:prSet/>
      <dgm:spPr/>
      <dgm:t>
        <a:bodyPr/>
        <a:lstStyle/>
        <a:p>
          <a:endParaRPr lang="es-BO"/>
        </a:p>
      </dgm:t>
    </dgm:pt>
    <dgm:pt modelId="{C617E8C1-44E9-4C66-863C-99EC8D785D10}" type="sibTrans" cxnId="{A4FC9BAA-0442-4BB1-8987-71A59CD564E9}">
      <dgm:prSet/>
      <dgm:spPr/>
      <dgm:t>
        <a:bodyPr/>
        <a:lstStyle/>
        <a:p>
          <a:endParaRPr lang="es-BO"/>
        </a:p>
      </dgm:t>
    </dgm:pt>
    <dgm:pt modelId="{AFD550EA-F174-4A19-9BDF-99E1EA316EA4}">
      <dgm:prSet/>
      <dgm:spPr>
        <a:solidFill>
          <a:schemeClr val="accent1">
            <a:lumMod val="20000"/>
            <a:lumOff val="80000"/>
          </a:schemeClr>
        </a:solidFill>
      </dgm:spPr>
      <dgm:t>
        <a:bodyPr/>
        <a:lstStyle/>
        <a:p>
          <a:r>
            <a:rPr lang="es-BO" dirty="0" smtClean="0"/>
            <a:t>Tratamiento  quirúrgico </a:t>
          </a:r>
          <a:endParaRPr lang="es-BO" dirty="0"/>
        </a:p>
      </dgm:t>
    </dgm:pt>
    <dgm:pt modelId="{37A69843-4A41-44A0-B4DC-71BB6438E631}" type="parTrans" cxnId="{5DB27093-5F5F-4170-921B-D1CC797E33C7}">
      <dgm:prSet/>
      <dgm:spPr/>
      <dgm:t>
        <a:bodyPr/>
        <a:lstStyle/>
        <a:p>
          <a:endParaRPr lang="es-BO"/>
        </a:p>
      </dgm:t>
    </dgm:pt>
    <dgm:pt modelId="{08691FB9-CF01-4198-A003-4900EF3E4E49}" type="sibTrans" cxnId="{5DB27093-5F5F-4170-921B-D1CC797E33C7}">
      <dgm:prSet/>
      <dgm:spPr/>
      <dgm:t>
        <a:bodyPr/>
        <a:lstStyle/>
        <a:p>
          <a:endParaRPr lang="es-BO"/>
        </a:p>
      </dgm:t>
    </dgm:pt>
    <dgm:pt modelId="{906CEC2F-EE96-4429-8EEA-2A1BF8A3504E}" type="pres">
      <dgm:prSet presAssocID="{83DFB53C-D2CA-408E-975B-102D764CE528}" presName="diagram" presStyleCnt="0">
        <dgm:presLayoutVars>
          <dgm:dir/>
          <dgm:resizeHandles val="exact"/>
        </dgm:presLayoutVars>
      </dgm:prSet>
      <dgm:spPr/>
      <dgm:t>
        <a:bodyPr/>
        <a:lstStyle/>
        <a:p>
          <a:endParaRPr lang="es-ES"/>
        </a:p>
      </dgm:t>
    </dgm:pt>
    <dgm:pt modelId="{FFACFC69-8991-4326-B401-545EA7015355}" type="pres">
      <dgm:prSet presAssocID="{8243CB38-B42F-42E9-BB45-D2BB9DC24C3B}" presName="node" presStyleLbl="node1" presStyleIdx="0" presStyleCnt="6" custScaleX="46289" custScaleY="13945" custLinFactNeighborX="-1638" custLinFactNeighborY="-1112">
        <dgm:presLayoutVars>
          <dgm:bulletEnabled val="1"/>
        </dgm:presLayoutVars>
      </dgm:prSet>
      <dgm:spPr/>
      <dgm:t>
        <a:bodyPr/>
        <a:lstStyle/>
        <a:p>
          <a:endParaRPr lang="es-ES"/>
        </a:p>
      </dgm:t>
    </dgm:pt>
    <dgm:pt modelId="{0B3948C5-97FD-47AC-9361-13EA1944DA14}" type="pres">
      <dgm:prSet presAssocID="{24187BFB-8809-4361-940B-01C774798613}" presName="sibTrans" presStyleCnt="0"/>
      <dgm:spPr/>
    </dgm:pt>
    <dgm:pt modelId="{F0D06A63-4EA6-47F7-97AB-75F76A4A5498}" type="pres">
      <dgm:prSet presAssocID="{5CEA065E-4C39-4839-B345-821E77DDA7BC}" presName="node" presStyleLbl="node1" presStyleIdx="1" presStyleCnt="6" custScaleX="42392" custScaleY="16679" custLinFactNeighborX="2241" custLinFactNeighborY="4683">
        <dgm:presLayoutVars>
          <dgm:bulletEnabled val="1"/>
        </dgm:presLayoutVars>
      </dgm:prSet>
      <dgm:spPr/>
      <dgm:t>
        <a:bodyPr/>
        <a:lstStyle/>
        <a:p>
          <a:endParaRPr lang="es-ES"/>
        </a:p>
      </dgm:t>
    </dgm:pt>
    <dgm:pt modelId="{01CBCDD7-C6C4-45DB-B7C2-08A71CBDD6DA}" type="pres">
      <dgm:prSet presAssocID="{8111145F-08C7-4EB5-A333-C7518FB8C440}" presName="sibTrans" presStyleCnt="0"/>
      <dgm:spPr/>
    </dgm:pt>
    <dgm:pt modelId="{CEB32BF7-D054-4B9E-9A81-0E2AAC06B690}" type="pres">
      <dgm:prSet presAssocID="{B36AD505-7244-47D0-BB73-50DC79E36377}" presName="node" presStyleLbl="node1" presStyleIdx="2" presStyleCnt="6" custScaleX="25082" custScaleY="10057" custLinFactNeighborX="446" custLinFactNeighborY="-2225">
        <dgm:presLayoutVars>
          <dgm:bulletEnabled val="1"/>
        </dgm:presLayoutVars>
      </dgm:prSet>
      <dgm:spPr/>
      <dgm:t>
        <a:bodyPr/>
        <a:lstStyle/>
        <a:p>
          <a:endParaRPr lang="es-ES"/>
        </a:p>
      </dgm:t>
    </dgm:pt>
    <dgm:pt modelId="{347E5A18-46E1-4179-AE45-F1E598E3833F}" type="pres">
      <dgm:prSet presAssocID="{7B298D3D-04CD-4032-9D09-8368446CB751}" presName="sibTrans" presStyleCnt="0"/>
      <dgm:spPr/>
    </dgm:pt>
    <dgm:pt modelId="{4C81A650-BC35-4942-BD01-7CFA0EC6FE9C}" type="pres">
      <dgm:prSet presAssocID="{CEB357E5-ECF1-4F64-9ACD-E886F4B3B57F}" presName="node" presStyleLbl="node1" presStyleIdx="3" presStyleCnt="6" custScaleX="18681" custScaleY="8795" custLinFactNeighborX="43083" custLinFactNeighborY="-6543">
        <dgm:presLayoutVars>
          <dgm:bulletEnabled val="1"/>
        </dgm:presLayoutVars>
      </dgm:prSet>
      <dgm:spPr/>
      <dgm:t>
        <a:bodyPr/>
        <a:lstStyle/>
        <a:p>
          <a:endParaRPr lang="es-BO"/>
        </a:p>
      </dgm:t>
    </dgm:pt>
    <dgm:pt modelId="{615BA19C-4742-430E-8840-FE189E8472BA}" type="pres">
      <dgm:prSet presAssocID="{79993AEB-7E5B-427B-B159-20E853EE2F71}" presName="sibTrans" presStyleCnt="0"/>
      <dgm:spPr/>
    </dgm:pt>
    <dgm:pt modelId="{0BA8C102-C912-4EF6-80BD-0A982D0E5C9B}" type="pres">
      <dgm:prSet presAssocID="{C8B25333-7258-4E20-BB55-FC13C560899D}" presName="node" presStyleLbl="node1" presStyleIdx="4" presStyleCnt="6" custScaleX="29821" custScaleY="6212" custLinFactNeighborX="-29058" custLinFactNeighborY="40581">
        <dgm:presLayoutVars>
          <dgm:bulletEnabled val="1"/>
        </dgm:presLayoutVars>
      </dgm:prSet>
      <dgm:spPr/>
      <dgm:t>
        <a:bodyPr/>
        <a:lstStyle/>
        <a:p>
          <a:endParaRPr lang="es-BO"/>
        </a:p>
      </dgm:t>
    </dgm:pt>
    <dgm:pt modelId="{EDCE585E-0D5E-4DA5-97AA-7F2AFF336C27}" type="pres">
      <dgm:prSet presAssocID="{C617E8C1-44E9-4C66-863C-99EC8D785D10}" presName="sibTrans" presStyleCnt="0"/>
      <dgm:spPr/>
    </dgm:pt>
    <dgm:pt modelId="{CF5448BA-D9E8-4B7B-BB1F-2762913AB4DF}" type="pres">
      <dgm:prSet presAssocID="{AFD550EA-F174-4A19-9BDF-99E1EA316EA4}" presName="node" presStyleLbl="node1" presStyleIdx="5" presStyleCnt="6" custScaleX="48440" custScaleY="16319" custLinFactNeighborX="2886" custLinFactNeighborY="-13716">
        <dgm:presLayoutVars>
          <dgm:bulletEnabled val="1"/>
        </dgm:presLayoutVars>
      </dgm:prSet>
      <dgm:spPr/>
      <dgm:t>
        <a:bodyPr/>
        <a:lstStyle/>
        <a:p>
          <a:endParaRPr lang="es-BO"/>
        </a:p>
      </dgm:t>
    </dgm:pt>
  </dgm:ptLst>
  <dgm:cxnLst>
    <dgm:cxn modelId="{22886B4A-0CA2-499C-9EFF-E4FC259AE520}" type="presOf" srcId="{8243CB38-B42F-42E9-BB45-D2BB9DC24C3B}" destId="{FFACFC69-8991-4326-B401-545EA7015355}" srcOrd="0" destOrd="0" presId="urn:microsoft.com/office/officeart/2005/8/layout/default#1"/>
    <dgm:cxn modelId="{50C71264-0DAF-40D9-B679-59539079A2A2}" srcId="{83DFB53C-D2CA-408E-975B-102D764CE528}" destId="{5CEA065E-4C39-4839-B345-821E77DDA7BC}" srcOrd="1" destOrd="0" parTransId="{2608B7DD-13EC-4061-9EFC-4AAF2F7D6B78}" sibTransId="{8111145F-08C7-4EB5-A333-C7518FB8C440}"/>
    <dgm:cxn modelId="{4E2A885B-BFB1-4BE4-99CF-AA4E2FCF2E9F}" srcId="{83DFB53C-D2CA-408E-975B-102D764CE528}" destId="{8243CB38-B42F-42E9-BB45-D2BB9DC24C3B}" srcOrd="0" destOrd="0" parTransId="{F3F1ED61-B84B-4DDC-B429-5C0B742D4A65}" sibTransId="{24187BFB-8809-4361-940B-01C774798613}"/>
    <dgm:cxn modelId="{635CE3CE-C590-4E89-815D-0922227BDD03}" type="presOf" srcId="{C8B25333-7258-4E20-BB55-FC13C560899D}" destId="{0BA8C102-C912-4EF6-80BD-0A982D0E5C9B}" srcOrd="0" destOrd="0" presId="urn:microsoft.com/office/officeart/2005/8/layout/default#1"/>
    <dgm:cxn modelId="{F99344B4-6002-4875-9655-3ECA6FBF5B20}" type="presOf" srcId="{B36AD505-7244-47D0-BB73-50DC79E36377}" destId="{CEB32BF7-D054-4B9E-9A81-0E2AAC06B690}" srcOrd="0" destOrd="0" presId="urn:microsoft.com/office/officeart/2005/8/layout/default#1"/>
    <dgm:cxn modelId="{6031FC13-199A-4E9C-B3F3-0F87CA1BCD89}" type="presOf" srcId="{AFD550EA-F174-4A19-9BDF-99E1EA316EA4}" destId="{CF5448BA-D9E8-4B7B-BB1F-2762913AB4DF}" srcOrd="0" destOrd="0" presId="urn:microsoft.com/office/officeart/2005/8/layout/default#1"/>
    <dgm:cxn modelId="{DE4ED0DF-DFFA-4FA4-A621-85F1FDA4A1FA}" type="presOf" srcId="{83DFB53C-D2CA-408E-975B-102D764CE528}" destId="{906CEC2F-EE96-4429-8EEA-2A1BF8A3504E}" srcOrd="0" destOrd="0" presId="urn:microsoft.com/office/officeart/2005/8/layout/default#1"/>
    <dgm:cxn modelId="{5DB27093-5F5F-4170-921B-D1CC797E33C7}" srcId="{83DFB53C-D2CA-408E-975B-102D764CE528}" destId="{AFD550EA-F174-4A19-9BDF-99E1EA316EA4}" srcOrd="5" destOrd="0" parTransId="{37A69843-4A41-44A0-B4DC-71BB6438E631}" sibTransId="{08691FB9-CF01-4198-A003-4900EF3E4E49}"/>
    <dgm:cxn modelId="{0ABB86E0-C219-4379-BC04-F23D5231B088}" type="presOf" srcId="{CEB357E5-ECF1-4F64-9ACD-E886F4B3B57F}" destId="{4C81A650-BC35-4942-BD01-7CFA0EC6FE9C}" srcOrd="0" destOrd="0" presId="urn:microsoft.com/office/officeart/2005/8/layout/default#1"/>
    <dgm:cxn modelId="{7B61321E-69A2-4098-9BEA-8386BC46A8C9}" srcId="{83DFB53C-D2CA-408E-975B-102D764CE528}" destId="{B36AD505-7244-47D0-BB73-50DC79E36377}" srcOrd="2" destOrd="0" parTransId="{A0464BCA-9AF0-4263-9F33-477AEBCE894F}" sibTransId="{7B298D3D-04CD-4032-9D09-8368446CB751}"/>
    <dgm:cxn modelId="{25A34BA3-1FC3-41A1-890E-C8C7DECA4EE6}" type="presOf" srcId="{5CEA065E-4C39-4839-B345-821E77DDA7BC}" destId="{F0D06A63-4EA6-47F7-97AB-75F76A4A5498}" srcOrd="0" destOrd="0" presId="urn:microsoft.com/office/officeart/2005/8/layout/default#1"/>
    <dgm:cxn modelId="{A4FC9BAA-0442-4BB1-8987-71A59CD564E9}" srcId="{83DFB53C-D2CA-408E-975B-102D764CE528}" destId="{C8B25333-7258-4E20-BB55-FC13C560899D}" srcOrd="4" destOrd="0" parTransId="{317DE7F7-D003-4C57-B323-CCB72DF30D57}" sibTransId="{C617E8C1-44E9-4C66-863C-99EC8D785D10}"/>
    <dgm:cxn modelId="{670418F8-81B3-4276-850D-266A0AF0E1EE}" srcId="{83DFB53C-D2CA-408E-975B-102D764CE528}" destId="{CEB357E5-ECF1-4F64-9ACD-E886F4B3B57F}" srcOrd="3" destOrd="0" parTransId="{6F726DF6-0F96-4252-ACD1-6392CCC54895}" sibTransId="{79993AEB-7E5B-427B-B159-20E853EE2F71}"/>
    <dgm:cxn modelId="{9D279644-C907-4B47-939A-BC62E6AAE3D8}" type="presParOf" srcId="{906CEC2F-EE96-4429-8EEA-2A1BF8A3504E}" destId="{FFACFC69-8991-4326-B401-545EA7015355}" srcOrd="0" destOrd="0" presId="urn:microsoft.com/office/officeart/2005/8/layout/default#1"/>
    <dgm:cxn modelId="{344A09B1-CE45-4164-951F-0ECAA0F99337}" type="presParOf" srcId="{906CEC2F-EE96-4429-8EEA-2A1BF8A3504E}" destId="{0B3948C5-97FD-47AC-9361-13EA1944DA14}" srcOrd="1" destOrd="0" presId="urn:microsoft.com/office/officeart/2005/8/layout/default#1"/>
    <dgm:cxn modelId="{B906B8D3-65DA-470D-8512-5F982493EDB9}" type="presParOf" srcId="{906CEC2F-EE96-4429-8EEA-2A1BF8A3504E}" destId="{F0D06A63-4EA6-47F7-97AB-75F76A4A5498}" srcOrd="2" destOrd="0" presId="urn:microsoft.com/office/officeart/2005/8/layout/default#1"/>
    <dgm:cxn modelId="{E6678850-4EC7-43C1-AC90-372F8C50F551}" type="presParOf" srcId="{906CEC2F-EE96-4429-8EEA-2A1BF8A3504E}" destId="{01CBCDD7-C6C4-45DB-B7C2-08A71CBDD6DA}" srcOrd="3" destOrd="0" presId="urn:microsoft.com/office/officeart/2005/8/layout/default#1"/>
    <dgm:cxn modelId="{3C0D578B-08DE-4DA6-8965-62A832C09389}" type="presParOf" srcId="{906CEC2F-EE96-4429-8EEA-2A1BF8A3504E}" destId="{CEB32BF7-D054-4B9E-9A81-0E2AAC06B690}" srcOrd="4" destOrd="0" presId="urn:microsoft.com/office/officeart/2005/8/layout/default#1"/>
    <dgm:cxn modelId="{97FED0D2-6FCA-4831-B71A-16B034EA8624}" type="presParOf" srcId="{906CEC2F-EE96-4429-8EEA-2A1BF8A3504E}" destId="{347E5A18-46E1-4179-AE45-F1E598E3833F}" srcOrd="5" destOrd="0" presId="urn:microsoft.com/office/officeart/2005/8/layout/default#1"/>
    <dgm:cxn modelId="{BEB56D6B-99BD-4488-A45D-A2C325C575F0}" type="presParOf" srcId="{906CEC2F-EE96-4429-8EEA-2A1BF8A3504E}" destId="{4C81A650-BC35-4942-BD01-7CFA0EC6FE9C}" srcOrd="6" destOrd="0" presId="urn:microsoft.com/office/officeart/2005/8/layout/default#1"/>
    <dgm:cxn modelId="{51BF830D-354B-42CE-9939-45FF74604B97}" type="presParOf" srcId="{906CEC2F-EE96-4429-8EEA-2A1BF8A3504E}" destId="{615BA19C-4742-430E-8840-FE189E8472BA}" srcOrd="7" destOrd="0" presId="urn:microsoft.com/office/officeart/2005/8/layout/default#1"/>
    <dgm:cxn modelId="{4446BE14-4F06-41B2-B1F0-326D679B1278}" type="presParOf" srcId="{906CEC2F-EE96-4429-8EEA-2A1BF8A3504E}" destId="{0BA8C102-C912-4EF6-80BD-0A982D0E5C9B}" srcOrd="8" destOrd="0" presId="urn:microsoft.com/office/officeart/2005/8/layout/default#1"/>
    <dgm:cxn modelId="{8B480C97-64D4-4C35-92E0-43C3CB54387B}" type="presParOf" srcId="{906CEC2F-EE96-4429-8EEA-2A1BF8A3504E}" destId="{EDCE585E-0D5E-4DA5-97AA-7F2AFF336C27}" srcOrd="9" destOrd="0" presId="urn:microsoft.com/office/officeart/2005/8/layout/default#1"/>
    <dgm:cxn modelId="{F34F843B-191F-488D-8144-438657A32565}" type="presParOf" srcId="{906CEC2F-EE96-4429-8EEA-2A1BF8A3504E}" destId="{CF5448BA-D9E8-4B7B-BB1F-2762913AB4DF}" srcOrd="1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2FB72CEE-8D63-4E96-97FB-7271A287492C}" type="datetimeFigureOut">
              <a:rPr lang="es-ES" smtClean="0"/>
              <a:pPr/>
              <a:t>24/05/2014</a:t>
            </a:fld>
            <a:endParaRPr lang="es-E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s-E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695430C1-159C-4D0E-8388-B70D141EECE6}" type="slidenum">
              <a:rPr lang="es-ES" smtClean="0"/>
              <a:pPr/>
              <a:t>‹Nº›</a:t>
            </a:fld>
            <a:endParaRPr lang="es-E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695430C1-159C-4D0E-8388-B70D141EECE6}" type="slidenum">
              <a:rPr lang="es-ES" smtClean="0"/>
              <a:pPr/>
              <a:t>‹Nº›</a:t>
            </a:fld>
            <a:endParaRPr lang="es-ES"/>
          </a:p>
        </p:txBody>
      </p:sp>
      <p:sp>
        <p:nvSpPr>
          <p:cNvPr id="11" name="Title 10"/>
          <p:cNvSpPr>
            <a:spLocks noGrp="1"/>
          </p:cNvSpPr>
          <p:nvPr>
            <p:ph type="title"/>
          </p:nvPr>
        </p:nvSpPr>
        <p:spPr/>
        <p:txBody>
          <a:bodyPr/>
          <a:lstStyle/>
          <a:p>
            <a:r>
              <a:rPr lang="es-ES" smtClean="0"/>
              <a:t>Haga clic para modificar el estilo de título del patrón</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695430C1-159C-4D0E-8388-B70D141EECE6}"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695430C1-159C-4D0E-8388-B70D141EECE6}" type="slidenum">
              <a:rPr lang="es-ES" smtClean="0"/>
              <a:pPr/>
              <a:t>‹Nº›</a:t>
            </a:fld>
            <a:endParaRPr lang="es-ES"/>
          </a:p>
        </p:txBody>
      </p:sp>
      <p:sp>
        <p:nvSpPr>
          <p:cNvPr id="12" name="Title 11"/>
          <p:cNvSpPr>
            <a:spLocks noGrp="1"/>
          </p:cNvSpPr>
          <p:nvPr>
            <p:ph type="title"/>
          </p:nvPr>
        </p:nvSpPr>
        <p:spPr/>
        <p:txBody>
          <a:bodyPr/>
          <a:lstStyle>
            <a:lvl1pPr>
              <a:defRPr>
                <a:solidFill>
                  <a:schemeClr val="tx2"/>
                </a:solidFill>
              </a:defRPr>
            </a:lvl1pPr>
          </a:lstStyle>
          <a:p>
            <a:r>
              <a:rPr lang="es-ES" smtClean="0"/>
              <a:t>Haga clic para modificar el estilo de título del patrón</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695430C1-159C-4D0E-8388-B70D141EECE6}" type="slidenum">
              <a:rPr lang="es-ES" smtClean="0"/>
              <a:pPr/>
              <a:t>‹Nº›</a:t>
            </a:fld>
            <a:endParaRPr lang="es-E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695430C1-159C-4D0E-8388-B70D141EECE6}" type="slidenum">
              <a:rPr lang="es-ES" smtClean="0"/>
              <a:pPr/>
              <a:t>‹Nº›</a:t>
            </a:fld>
            <a:endParaRPr lang="es-E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695430C1-159C-4D0E-8388-B70D141EECE6}"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695430C1-159C-4D0E-8388-B70D141EECE6}"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695430C1-159C-4D0E-8388-B70D141EECE6}"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695430C1-159C-4D0E-8388-B70D141EECE6}" type="slidenum">
              <a:rPr lang="es-ES" smtClean="0"/>
              <a:pPr/>
              <a:t>‹Nº›</a:t>
            </a:fld>
            <a:endParaRPr lang="es-E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2FB72CEE-8D63-4E96-97FB-7271A287492C}" type="datetimeFigureOut">
              <a:rPr lang="es-ES" smtClean="0"/>
              <a:pPr/>
              <a:t>24/05/2014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695430C1-159C-4D0E-8388-B70D141EECE6}" type="slidenum">
              <a:rPr lang="es-ES" smtClean="0"/>
              <a:pPr/>
              <a:t>‹Nº›</a:t>
            </a:fld>
            <a:endParaRPr lang="es-E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2FB72CEE-8D63-4E96-97FB-7271A287492C}" type="datetimeFigureOut">
              <a:rPr lang="es-ES" smtClean="0"/>
              <a:pPr/>
              <a:t>24/05/2014</a:t>
            </a:fld>
            <a:endParaRPr lang="es-E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s-E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695430C1-159C-4D0E-8388-B70D141EECE6}"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_tradnl" dirty="0" smtClean="0"/>
              <a:t>FISIOPATOLOGIA</a:t>
            </a:r>
            <a:endParaRPr lang="es-ES" dirty="0"/>
          </a:p>
        </p:txBody>
      </p:sp>
      <p:sp>
        <p:nvSpPr>
          <p:cNvPr id="3" name="2 Subtítulo"/>
          <p:cNvSpPr>
            <a:spLocks noGrp="1"/>
          </p:cNvSpPr>
          <p:nvPr>
            <p:ph type="subTitle" idx="1"/>
          </p:nvPr>
        </p:nvSpPr>
        <p:spPr>
          <a:xfrm>
            <a:off x="1619672" y="3767862"/>
            <a:ext cx="6152728" cy="1605354"/>
          </a:xfrm>
        </p:spPr>
        <p:txBody>
          <a:bodyPr>
            <a:noAutofit/>
          </a:bodyPr>
          <a:lstStyle/>
          <a:p>
            <a:r>
              <a:rPr lang="es-ES_tradnl" sz="2000" dirty="0" smtClean="0"/>
              <a:t>DEL RECTO Y ANO</a:t>
            </a:r>
          </a:p>
          <a:p>
            <a:endParaRPr lang="es-ES_tradnl" sz="2000" dirty="0"/>
          </a:p>
          <a:p>
            <a:endParaRPr lang="es-ES_tradnl" sz="2000" dirty="0" smtClean="0"/>
          </a:p>
          <a:p>
            <a:r>
              <a:rPr lang="es-ES_tradnl" sz="2000" dirty="0" smtClean="0"/>
              <a:t>LIC. VICTORIA NICOLAS</a:t>
            </a:r>
            <a:endParaRPr lang="es-ES"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280" y="5229200"/>
            <a:ext cx="1621483" cy="1230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wipe(down)">
                                      <p:cBhvr>
                                        <p:cTn id="43" dur="580">
                                          <p:stCondLst>
                                            <p:cond delay="0"/>
                                          </p:stCondLst>
                                        </p:cTn>
                                        <p:tgtEl>
                                          <p:spTgt spid="3">
                                            <p:txEl>
                                              <p:pRg st="3" end="3"/>
                                            </p:txEl>
                                          </p:spTgt>
                                        </p:tgtEl>
                                      </p:cBhvr>
                                    </p:animEffect>
                                    <p:anim calcmode="lin" valueType="num">
                                      <p:cBhvr>
                                        <p:cTn id="44"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3" end="3"/>
                                            </p:txEl>
                                          </p:spTgt>
                                        </p:tgtEl>
                                      </p:cBhvr>
                                      <p:to x="100000" y="60000"/>
                                    </p:animScale>
                                    <p:animScale>
                                      <p:cBhvr>
                                        <p:cTn id="50" dur="166" decel="50000">
                                          <p:stCondLst>
                                            <p:cond delay="676"/>
                                          </p:stCondLst>
                                        </p:cTn>
                                        <p:tgtEl>
                                          <p:spTgt spid="3">
                                            <p:txEl>
                                              <p:pRg st="3" end="3"/>
                                            </p:txEl>
                                          </p:spTgt>
                                        </p:tgtEl>
                                      </p:cBhvr>
                                      <p:to x="100000" y="100000"/>
                                    </p:animScale>
                                    <p:animScale>
                                      <p:cBhvr>
                                        <p:cTn id="51" dur="26">
                                          <p:stCondLst>
                                            <p:cond delay="1312"/>
                                          </p:stCondLst>
                                        </p:cTn>
                                        <p:tgtEl>
                                          <p:spTgt spid="3">
                                            <p:txEl>
                                              <p:pRg st="3" end="3"/>
                                            </p:txEl>
                                          </p:spTgt>
                                        </p:tgtEl>
                                      </p:cBhvr>
                                      <p:to x="100000" y="80000"/>
                                    </p:animScale>
                                    <p:animScale>
                                      <p:cBhvr>
                                        <p:cTn id="52" dur="166" decel="50000">
                                          <p:stCondLst>
                                            <p:cond delay="1338"/>
                                          </p:stCondLst>
                                        </p:cTn>
                                        <p:tgtEl>
                                          <p:spTgt spid="3">
                                            <p:txEl>
                                              <p:pRg st="3" end="3"/>
                                            </p:txEl>
                                          </p:spTgt>
                                        </p:tgtEl>
                                      </p:cBhvr>
                                      <p:to x="100000" y="100000"/>
                                    </p:animScale>
                                    <p:animScale>
                                      <p:cBhvr>
                                        <p:cTn id="53" dur="26">
                                          <p:stCondLst>
                                            <p:cond delay="1642"/>
                                          </p:stCondLst>
                                        </p:cTn>
                                        <p:tgtEl>
                                          <p:spTgt spid="3">
                                            <p:txEl>
                                              <p:pRg st="3" end="3"/>
                                            </p:txEl>
                                          </p:spTgt>
                                        </p:tgtEl>
                                      </p:cBhvr>
                                      <p:to x="100000" y="90000"/>
                                    </p:animScale>
                                    <p:animScale>
                                      <p:cBhvr>
                                        <p:cTn id="54" dur="166" decel="50000">
                                          <p:stCondLst>
                                            <p:cond delay="1668"/>
                                          </p:stCondLst>
                                        </p:cTn>
                                        <p:tgtEl>
                                          <p:spTgt spid="3">
                                            <p:txEl>
                                              <p:pRg st="3" end="3"/>
                                            </p:txEl>
                                          </p:spTgt>
                                        </p:tgtEl>
                                      </p:cBhvr>
                                      <p:to x="100000" y="100000"/>
                                    </p:animScale>
                                    <p:animScale>
                                      <p:cBhvr>
                                        <p:cTn id="55" dur="26">
                                          <p:stCondLst>
                                            <p:cond delay="1808"/>
                                          </p:stCondLst>
                                        </p:cTn>
                                        <p:tgtEl>
                                          <p:spTgt spid="3">
                                            <p:txEl>
                                              <p:pRg st="3" end="3"/>
                                            </p:txEl>
                                          </p:spTgt>
                                        </p:tgtEl>
                                      </p:cBhvr>
                                      <p:to x="100000" y="95000"/>
                                    </p:animScale>
                                    <p:animScale>
                                      <p:cBhvr>
                                        <p:cTn id="56" dur="166" decel="50000">
                                          <p:stCondLst>
                                            <p:cond delay="1834"/>
                                          </p:stCondLst>
                                        </p:cTn>
                                        <p:tgtEl>
                                          <p:spTgt spid="3">
                                            <p:txEl>
                                              <p:pRg st="3" end="3"/>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4098"/>
                                        </p:tgtEl>
                                        <p:attrNameLst>
                                          <p:attrName>style.visibility</p:attrName>
                                        </p:attrNameLst>
                                      </p:cBhvr>
                                      <p:to>
                                        <p:strVal val="visible"/>
                                      </p:to>
                                    </p:set>
                                    <p:animEffect transition="in" filter="wipe(down)">
                                      <p:cBhvr>
                                        <p:cTn id="61" dur="580">
                                          <p:stCondLst>
                                            <p:cond delay="0"/>
                                          </p:stCondLst>
                                        </p:cTn>
                                        <p:tgtEl>
                                          <p:spTgt spid="4098"/>
                                        </p:tgtEl>
                                      </p:cBhvr>
                                    </p:animEffect>
                                    <p:anim calcmode="lin" valueType="num">
                                      <p:cBhvr>
                                        <p:cTn id="62" dur="1822" tmFilter="0,0; 0.14,0.36; 0.43,0.73; 0.71,0.91; 1.0,1.0">
                                          <p:stCondLst>
                                            <p:cond delay="0"/>
                                          </p:stCondLst>
                                        </p:cTn>
                                        <p:tgtEl>
                                          <p:spTgt spid="4098"/>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4098"/>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4098"/>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4098"/>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4098"/>
                                        </p:tgtEl>
                                        <p:attrNameLst>
                                          <p:attrName>ppt_y</p:attrName>
                                        </p:attrNameLst>
                                      </p:cBhvr>
                                      <p:tavLst>
                                        <p:tav tm="0" fmla="#ppt_y-sin(pi*$)/81">
                                          <p:val>
                                            <p:fltVal val="0"/>
                                          </p:val>
                                        </p:tav>
                                        <p:tav tm="100000">
                                          <p:val>
                                            <p:fltVal val="1"/>
                                          </p:val>
                                        </p:tav>
                                      </p:tavLst>
                                    </p:anim>
                                    <p:animScale>
                                      <p:cBhvr>
                                        <p:cTn id="67" dur="26">
                                          <p:stCondLst>
                                            <p:cond delay="650"/>
                                          </p:stCondLst>
                                        </p:cTn>
                                        <p:tgtEl>
                                          <p:spTgt spid="4098"/>
                                        </p:tgtEl>
                                      </p:cBhvr>
                                      <p:to x="100000" y="60000"/>
                                    </p:animScale>
                                    <p:animScale>
                                      <p:cBhvr>
                                        <p:cTn id="68" dur="166" decel="50000">
                                          <p:stCondLst>
                                            <p:cond delay="676"/>
                                          </p:stCondLst>
                                        </p:cTn>
                                        <p:tgtEl>
                                          <p:spTgt spid="4098"/>
                                        </p:tgtEl>
                                      </p:cBhvr>
                                      <p:to x="100000" y="100000"/>
                                    </p:animScale>
                                    <p:animScale>
                                      <p:cBhvr>
                                        <p:cTn id="69" dur="26">
                                          <p:stCondLst>
                                            <p:cond delay="1312"/>
                                          </p:stCondLst>
                                        </p:cTn>
                                        <p:tgtEl>
                                          <p:spTgt spid="4098"/>
                                        </p:tgtEl>
                                      </p:cBhvr>
                                      <p:to x="100000" y="80000"/>
                                    </p:animScale>
                                    <p:animScale>
                                      <p:cBhvr>
                                        <p:cTn id="70" dur="166" decel="50000">
                                          <p:stCondLst>
                                            <p:cond delay="1338"/>
                                          </p:stCondLst>
                                        </p:cTn>
                                        <p:tgtEl>
                                          <p:spTgt spid="4098"/>
                                        </p:tgtEl>
                                      </p:cBhvr>
                                      <p:to x="100000" y="100000"/>
                                    </p:animScale>
                                    <p:animScale>
                                      <p:cBhvr>
                                        <p:cTn id="71" dur="26">
                                          <p:stCondLst>
                                            <p:cond delay="1642"/>
                                          </p:stCondLst>
                                        </p:cTn>
                                        <p:tgtEl>
                                          <p:spTgt spid="4098"/>
                                        </p:tgtEl>
                                      </p:cBhvr>
                                      <p:to x="100000" y="90000"/>
                                    </p:animScale>
                                    <p:animScale>
                                      <p:cBhvr>
                                        <p:cTn id="72" dur="166" decel="50000">
                                          <p:stCondLst>
                                            <p:cond delay="1668"/>
                                          </p:stCondLst>
                                        </p:cTn>
                                        <p:tgtEl>
                                          <p:spTgt spid="4098"/>
                                        </p:tgtEl>
                                      </p:cBhvr>
                                      <p:to x="100000" y="100000"/>
                                    </p:animScale>
                                    <p:animScale>
                                      <p:cBhvr>
                                        <p:cTn id="73" dur="26">
                                          <p:stCondLst>
                                            <p:cond delay="1808"/>
                                          </p:stCondLst>
                                        </p:cTn>
                                        <p:tgtEl>
                                          <p:spTgt spid="4098"/>
                                        </p:tgtEl>
                                      </p:cBhvr>
                                      <p:to x="100000" y="95000"/>
                                    </p:animScale>
                                    <p:animScale>
                                      <p:cBhvr>
                                        <p:cTn id="74" dur="166" decel="50000">
                                          <p:stCondLst>
                                            <p:cond delay="1834"/>
                                          </p:stCondLst>
                                        </p:cTn>
                                        <p:tgtEl>
                                          <p:spTgt spid="409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196752"/>
            <a:ext cx="7745505" cy="4929411"/>
          </a:xfrm>
        </p:spPr>
        <p:txBody>
          <a:bodyPr>
            <a:normAutofit fontScale="92500" lnSpcReduction="10000"/>
          </a:bodyPr>
          <a:lstStyle/>
          <a:p>
            <a:pPr algn="just"/>
            <a:r>
              <a:rPr lang="es-BO" dirty="0"/>
              <a:t>El tradicional concepto de que las hemorroides eran dilataciones venosas que se ubicaban en el canal </a:t>
            </a:r>
            <a:r>
              <a:rPr lang="es-BO" dirty="0" smtClean="0"/>
              <a:t>anal, </a:t>
            </a:r>
            <a:r>
              <a:rPr lang="es-BO" dirty="0"/>
              <a:t>ha sido difícil de cambiar a pesar de un sinnúmero de trabajos que así lo demuestran. </a:t>
            </a:r>
            <a:endParaRPr lang="es-BO" dirty="0" smtClean="0"/>
          </a:p>
          <a:p>
            <a:pPr algn="just"/>
            <a:r>
              <a:rPr lang="es-BO" dirty="0"/>
              <a:t>las hemorroides son estructuras vasculares normales presentes desde las etapas embrionarias del desarrollo</a:t>
            </a:r>
            <a:r>
              <a:rPr lang="es-BO" dirty="0" smtClean="0"/>
              <a:t>.</a:t>
            </a:r>
          </a:p>
          <a:p>
            <a:pPr algn="just"/>
            <a:r>
              <a:rPr lang="es-BO" dirty="0" smtClean="0"/>
              <a:t>Forman </a:t>
            </a:r>
            <a:r>
              <a:rPr lang="es-BO" dirty="0"/>
              <a:t>tres cojinetes vasculares principales ubicados en los cuadrantes: anterior, posterior derecho y lateral izquierdo y no corresponden a las ramas terminales de la arteria hemorroidal superior. </a:t>
            </a:r>
            <a:endParaRPr lang="es-BO" dirty="0" smtClean="0"/>
          </a:p>
          <a:p>
            <a:pPr algn="just"/>
            <a:r>
              <a:rPr lang="es-BO" dirty="0" smtClean="0"/>
              <a:t>Los </a:t>
            </a:r>
            <a:r>
              <a:rPr lang="es-BO" dirty="0"/>
              <a:t>cojinetes son plexos con comunicaciones </a:t>
            </a:r>
            <a:r>
              <a:rPr lang="es-BO" dirty="0" err="1"/>
              <a:t>arteriovenosas</a:t>
            </a:r>
            <a:r>
              <a:rPr lang="es-BO" dirty="0"/>
              <a:t>, cuyo sangrado correspondería a sangre </a:t>
            </a:r>
            <a:r>
              <a:rPr lang="es-BO" dirty="0" err="1"/>
              <a:t>arteriolar</a:t>
            </a:r>
            <a:r>
              <a:rPr lang="es-BO" dirty="0"/>
              <a:t> lo que explicaría el color rojo brillante de la sangre </a:t>
            </a:r>
            <a:r>
              <a:rPr lang="es-BO" dirty="0" smtClean="0"/>
              <a:t>que </a:t>
            </a:r>
            <a:r>
              <a:rPr lang="es-BO" dirty="0"/>
              <a:t>demuestra que las hemorroides son estructuras anatómicas normales del canal anal. </a:t>
            </a:r>
            <a:endParaRPr lang="es-BO" dirty="0" smtClean="0"/>
          </a:p>
        </p:txBody>
      </p:sp>
      <p:sp>
        <p:nvSpPr>
          <p:cNvPr id="3" name="2 Título"/>
          <p:cNvSpPr>
            <a:spLocks noGrp="1"/>
          </p:cNvSpPr>
          <p:nvPr>
            <p:ph type="title"/>
          </p:nvPr>
        </p:nvSpPr>
        <p:spPr>
          <a:xfrm>
            <a:off x="1619671" y="404664"/>
            <a:ext cx="4752529" cy="576064"/>
          </a:xfrm>
        </p:spPr>
        <p:txBody>
          <a:bodyPr/>
          <a:lstStyle/>
          <a:p>
            <a:r>
              <a:rPr lang="es-BO" sz="2000" dirty="0" smtClean="0"/>
              <a:t>DEFINICION DE HEMORROIDES </a:t>
            </a:r>
            <a:endParaRPr lang="es-BO" sz="2000" dirty="0"/>
          </a:p>
        </p:txBody>
      </p:sp>
    </p:spTree>
    <p:extLst>
      <p:ext uri="{BB962C8B-B14F-4D97-AF65-F5344CB8AC3E}">
        <p14:creationId xmlns:p14="http://schemas.microsoft.com/office/powerpoint/2010/main" val="401530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Effect transition="in" filter="wipe(down)">
                                      <p:cBhvr>
                                        <p:cTn id="43" dur="580">
                                          <p:stCondLst>
                                            <p:cond delay="0"/>
                                          </p:stCondLst>
                                        </p:cTn>
                                        <p:tgtEl>
                                          <p:spTgt spid="2">
                                            <p:txEl>
                                              <p:pRg st="1" end="1"/>
                                            </p:txEl>
                                          </p:spTgt>
                                        </p:tgtEl>
                                      </p:cBhvr>
                                    </p:animEffect>
                                    <p:anim calcmode="lin" valueType="num">
                                      <p:cBhvr>
                                        <p:cTn id="44"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1" end="1"/>
                                            </p:txEl>
                                          </p:spTgt>
                                        </p:tgtEl>
                                      </p:cBhvr>
                                      <p:to x="100000" y="60000"/>
                                    </p:animScale>
                                    <p:animScale>
                                      <p:cBhvr>
                                        <p:cTn id="50" dur="166" decel="50000">
                                          <p:stCondLst>
                                            <p:cond delay="676"/>
                                          </p:stCondLst>
                                        </p:cTn>
                                        <p:tgtEl>
                                          <p:spTgt spid="2">
                                            <p:txEl>
                                              <p:pRg st="1" end="1"/>
                                            </p:txEl>
                                          </p:spTgt>
                                        </p:tgtEl>
                                      </p:cBhvr>
                                      <p:to x="100000" y="100000"/>
                                    </p:animScale>
                                    <p:animScale>
                                      <p:cBhvr>
                                        <p:cTn id="51" dur="26">
                                          <p:stCondLst>
                                            <p:cond delay="1312"/>
                                          </p:stCondLst>
                                        </p:cTn>
                                        <p:tgtEl>
                                          <p:spTgt spid="2">
                                            <p:txEl>
                                              <p:pRg st="1" end="1"/>
                                            </p:txEl>
                                          </p:spTgt>
                                        </p:tgtEl>
                                      </p:cBhvr>
                                      <p:to x="100000" y="80000"/>
                                    </p:animScale>
                                    <p:animScale>
                                      <p:cBhvr>
                                        <p:cTn id="52" dur="166" decel="50000">
                                          <p:stCondLst>
                                            <p:cond delay="1338"/>
                                          </p:stCondLst>
                                        </p:cTn>
                                        <p:tgtEl>
                                          <p:spTgt spid="2">
                                            <p:txEl>
                                              <p:pRg st="1" end="1"/>
                                            </p:txEl>
                                          </p:spTgt>
                                        </p:tgtEl>
                                      </p:cBhvr>
                                      <p:to x="100000" y="100000"/>
                                    </p:animScale>
                                    <p:animScale>
                                      <p:cBhvr>
                                        <p:cTn id="53" dur="26">
                                          <p:stCondLst>
                                            <p:cond delay="1642"/>
                                          </p:stCondLst>
                                        </p:cTn>
                                        <p:tgtEl>
                                          <p:spTgt spid="2">
                                            <p:txEl>
                                              <p:pRg st="1" end="1"/>
                                            </p:txEl>
                                          </p:spTgt>
                                        </p:tgtEl>
                                      </p:cBhvr>
                                      <p:to x="100000" y="90000"/>
                                    </p:animScale>
                                    <p:animScale>
                                      <p:cBhvr>
                                        <p:cTn id="54" dur="166" decel="50000">
                                          <p:stCondLst>
                                            <p:cond delay="1668"/>
                                          </p:stCondLst>
                                        </p:cTn>
                                        <p:tgtEl>
                                          <p:spTgt spid="2">
                                            <p:txEl>
                                              <p:pRg st="1" end="1"/>
                                            </p:txEl>
                                          </p:spTgt>
                                        </p:tgtEl>
                                      </p:cBhvr>
                                      <p:to x="100000" y="100000"/>
                                    </p:animScale>
                                    <p:animScale>
                                      <p:cBhvr>
                                        <p:cTn id="55" dur="26">
                                          <p:stCondLst>
                                            <p:cond delay="1808"/>
                                          </p:stCondLst>
                                        </p:cTn>
                                        <p:tgtEl>
                                          <p:spTgt spid="2">
                                            <p:txEl>
                                              <p:pRg st="1" end="1"/>
                                            </p:txEl>
                                          </p:spTgt>
                                        </p:tgtEl>
                                      </p:cBhvr>
                                      <p:to x="100000" y="95000"/>
                                    </p:animScale>
                                    <p:animScale>
                                      <p:cBhvr>
                                        <p:cTn id="56" dur="166" decel="50000">
                                          <p:stCondLst>
                                            <p:cond delay="1834"/>
                                          </p:stCondLst>
                                        </p:cTn>
                                        <p:tgtEl>
                                          <p:spTgt spid="2">
                                            <p:txEl>
                                              <p:pRg st="1" end="1"/>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Effect transition="in" filter="wipe(down)">
                                      <p:cBhvr>
                                        <p:cTn id="61" dur="580">
                                          <p:stCondLst>
                                            <p:cond delay="0"/>
                                          </p:stCondLst>
                                        </p:cTn>
                                        <p:tgtEl>
                                          <p:spTgt spid="2">
                                            <p:txEl>
                                              <p:pRg st="2" end="2"/>
                                            </p:txEl>
                                          </p:spTgt>
                                        </p:tgtEl>
                                      </p:cBhvr>
                                    </p:animEffect>
                                    <p:anim calcmode="lin" valueType="num">
                                      <p:cBhvr>
                                        <p:cTn id="62"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2">
                                            <p:txEl>
                                              <p:pRg st="2" end="2"/>
                                            </p:txEl>
                                          </p:spTgt>
                                        </p:tgtEl>
                                      </p:cBhvr>
                                      <p:to x="100000" y="60000"/>
                                    </p:animScale>
                                    <p:animScale>
                                      <p:cBhvr>
                                        <p:cTn id="68" dur="166" decel="50000">
                                          <p:stCondLst>
                                            <p:cond delay="676"/>
                                          </p:stCondLst>
                                        </p:cTn>
                                        <p:tgtEl>
                                          <p:spTgt spid="2">
                                            <p:txEl>
                                              <p:pRg st="2" end="2"/>
                                            </p:txEl>
                                          </p:spTgt>
                                        </p:tgtEl>
                                      </p:cBhvr>
                                      <p:to x="100000" y="100000"/>
                                    </p:animScale>
                                    <p:animScale>
                                      <p:cBhvr>
                                        <p:cTn id="69" dur="26">
                                          <p:stCondLst>
                                            <p:cond delay="1312"/>
                                          </p:stCondLst>
                                        </p:cTn>
                                        <p:tgtEl>
                                          <p:spTgt spid="2">
                                            <p:txEl>
                                              <p:pRg st="2" end="2"/>
                                            </p:txEl>
                                          </p:spTgt>
                                        </p:tgtEl>
                                      </p:cBhvr>
                                      <p:to x="100000" y="80000"/>
                                    </p:animScale>
                                    <p:animScale>
                                      <p:cBhvr>
                                        <p:cTn id="70" dur="166" decel="50000">
                                          <p:stCondLst>
                                            <p:cond delay="1338"/>
                                          </p:stCondLst>
                                        </p:cTn>
                                        <p:tgtEl>
                                          <p:spTgt spid="2">
                                            <p:txEl>
                                              <p:pRg st="2" end="2"/>
                                            </p:txEl>
                                          </p:spTgt>
                                        </p:tgtEl>
                                      </p:cBhvr>
                                      <p:to x="100000" y="100000"/>
                                    </p:animScale>
                                    <p:animScale>
                                      <p:cBhvr>
                                        <p:cTn id="71" dur="26">
                                          <p:stCondLst>
                                            <p:cond delay="1642"/>
                                          </p:stCondLst>
                                        </p:cTn>
                                        <p:tgtEl>
                                          <p:spTgt spid="2">
                                            <p:txEl>
                                              <p:pRg st="2" end="2"/>
                                            </p:txEl>
                                          </p:spTgt>
                                        </p:tgtEl>
                                      </p:cBhvr>
                                      <p:to x="100000" y="90000"/>
                                    </p:animScale>
                                    <p:animScale>
                                      <p:cBhvr>
                                        <p:cTn id="72" dur="166" decel="50000">
                                          <p:stCondLst>
                                            <p:cond delay="1668"/>
                                          </p:stCondLst>
                                        </p:cTn>
                                        <p:tgtEl>
                                          <p:spTgt spid="2">
                                            <p:txEl>
                                              <p:pRg st="2" end="2"/>
                                            </p:txEl>
                                          </p:spTgt>
                                        </p:tgtEl>
                                      </p:cBhvr>
                                      <p:to x="100000" y="100000"/>
                                    </p:animScale>
                                    <p:animScale>
                                      <p:cBhvr>
                                        <p:cTn id="73" dur="26">
                                          <p:stCondLst>
                                            <p:cond delay="1808"/>
                                          </p:stCondLst>
                                        </p:cTn>
                                        <p:tgtEl>
                                          <p:spTgt spid="2">
                                            <p:txEl>
                                              <p:pRg st="2" end="2"/>
                                            </p:txEl>
                                          </p:spTgt>
                                        </p:tgtEl>
                                      </p:cBhvr>
                                      <p:to x="100000" y="95000"/>
                                    </p:animScale>
                                    <p:animScale>
                                      <p:cBhvr>
                                        <p:cTn id="74" dur="166" decel="50000">
                                          <p:stCondLst>
                                            <p:cond delay="1834"/>
                                          </p:stCondLst>
                                        </p:cTn>
                                        <p:tgtEl>
                                          <p:spTgt spid="2">
                                            <p:txEl>
                                              <p:pRg st="2" end="2"/>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2">
                                            <p:txEl>
                                              <p:pRg st="3" end="3"/>
                                            </p:txEl>
                                          </p:spTgt>
                                        </p:tgtEl>
                                        <p:attrNameLst>
                                          <p:attrName>style.visibility</p:attrName>
                                        </p:attrNameLst>
                                      </p:cBhvr>
                                      <p:to>
                                        <p:strVal val="visible"/>
                                      </p:to>
                                    </p:set>
                                    <p:animEffect transition="in" filter="wipe(down)">
                                      <p:cBhvr>
                                        <p:cTn id="79" dur="580">
                                          <p:stCondLst>
                                            <p:cond delay="0"/>
                                          </p:stCondLst>
                                        </p:cTn>
                                        <p:tgtEl>
                                          <p:spTgt spid="2">
                                            <p:txEl>
                                              <p:pRg st="3" end="3"/>
                                            </p:txEl>
                                          </p:spTgt>
                                        </p:tgtEl>
                                      </p:cBhvr>
                                    </p:animEffect>
                                    <p:anim calcmode="lin" valueType="num">
                                      <p:cBhvr>
                                        <p:cTn id="80"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2">
                                            <p:txEl>
                                              <p:pRg st="3" end="3"/>
                                            </p:txEl>
                                          </p:spTgt>
                                        </p:tgtEl>
                                      </p:cBhvr>
                                      <p:to x="100000" y="60000"/>
                                    </p:animScale>
                                    <p:animScale>
                                      <p:cBhvr>
                                        <p:cTn id="86" dur="166" decel="50000">
                                          <p:stCondLst>
                                            <p:cond delay="676"/>
                                          </p:stCondLst>
                                        </p:cTn>
                                        <p:tgtEl>
                                          <p:spTgt spid="2">
                                            <p:txEl>
                                              <p:pRg st="3" end="3"/>
                                            </p:txEl>
                                          </p:spTgt>
                                        </p:tgtEl>
                                      </p:cBhvr>
                                      <p:to x="100000" y="100000"/>
                                    </p:animScale>
                                    <p:animScale>
                                      <p:cBhvr>
                                        <p:cTn id="87" dur="26">
                                          <p:stCondLst>
                                            <p:cond delay="1312"/>
                                          </p:stCondLst>
                                        </p:cTn>
                                        <p:tgtEl>
                                          <p:spTgt spid="2">
                                            <p:txEl>
                                              <p:pRg st="3" end="3"/>
                                            </p:txEl>
                                          </p:spTgt>
                                        </p:tgtEl>
                                      </p:cBhvr>
                                      <p:to x="100000" y="80000"/>
                                    </p:animScale>
                                    <p:animScale>
                                      <p:cBhvr>
                                        <p:cTn id="88" dur="166" decel="50000">
                                          <p:stCondLst>
                                            <p:cond delay="1338"/>
                                          </p:stCondLst>
                                        </p:cTn>
                                        <p:tgtEl>
                                          <p:spTgt spid="2">
                                            <p:txEl>
                                              <p:pRg st="3" end="3"/>
                                            </p:txEl>
                                          </p:spTgt>
                                        </p:tgtEl>
                                      </p:cBhvr>
                                      <p:to x="100000" y="100000"/>
                                    </p:animScale>
                                    <p:animScale>
                                      <p:cBhvr>
                                        <p:cTn id="89" dur="26">
                                          <p:stCondLst>
                                            <p:cond delay="1642"/>
                                          </p:stCondLst>
                                        </p:cTn>
                                        <p:tgtEl>
                                          <p:spTgt spid="2">
                                            <p:txEl>
                                              <p:pRg st="3" end="3"/>
                                            </p:txEl>
                                          </p:spTgt>
                                        </p:tgtEl>
                                      </p:cBhvr>
                                      <p:to x="100000" y="90000"/>
                                    </p:animScale>
                                    <p:animScale>
                                      <p:cBhvr>
                                        <p:cTn id="90" dur="166" decel="50000">
                                          <p:stCondLst>
                                            <p:cond delay="1668"/>
                                          </p:stCondLst>
                                        </p:cTn>
                                        <p:tgtEl>
                                          <p:spTgt spid="2">
                                            <p:txEl>
                                              <p:pRg st="3" end="3"/>
                                            </p:txEl>
                                          </p:spTgt>
                                        </p:tgtEl>
                                      </p:cBhvr>
                                      <p:to x="100000" y="100000"/>
                                    </p:animScale>
                                    <p:animScale>
                                      <p:cBhvr>
                                        <p:cTn id="91" dur="26">
                                          <p:stCondLst>
                                            <p:cond delay="1808"/>
                                          </p:stCondLst>
                                        </p:cTn>
                                        <p:tgtEl>
                                          <p:spTgt spid="2">
                                            <p:txEl>
                                              <p:pRg st="3" end="3"/>
                                            </p:txEl>
                                          </p:spTgt>
                                        </p:tgtEl>
                                      </p:cBhvr>
                                      <p:to x="100000" y="95000"/>
                                    </p:animScale>
                                    <p:animScale>
                                      <p:cBhvr>
                                        <p:cTn id="92" dur="166" decel="50000">
                                          <p:stCondLst>
                                            <p:cond delay="1834"/>
                                          </p:stCondLst>
                                        </p:cTn>
                                        <p:tgtEl>
                                          <p:spTgt spid="2">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99247" y="1484784"/>
            <a:ext cx="7745505" cy="4641379"/>
          </a:xfrm>
        </p:spPr>
        <p:txBody>
          <a:bodyPr>
            <a:normAutofit/>
          </a:bodyPr>
          <a:lstStyle/>
          <a:p>
            <a:pPr algn="just"/>
            <a:r>
              <a:rPr lang="es-ES" dirty="0"/>
              <a:t>La vascularización arterial se realiza a través de tres arterias, que </a:t>
            </a:r>
            <a:r>
              <a:rPr lang="es-ES" dirty="0" smtClean="0"/>
              <a:t>son:</a:t>
            </a:r>
          </a:p>
          <a:p>
            <a:pPr algn="just"/>
            <a:r>
              <a:rPr lang="es-ES" dirty="0" smtClean="0"/>
              <a:t>La arteria</a:t>
            </a:r>
            <a:r>
              <a:rPr lang="es-ES" dirty="0"/>
              <a:t> </a:t>
            </a:r>
            <a:r>
              <a:rPr lang="es-ES" dirty="0" smtClean="0"/>
              <a:t>hemorroidal </a:t>
            </a:r>
            <a:r>
              <a:rPr lang="es-ES" dirty="0"/>
              <a:t>superior, rama terminal de la mesentérica inferior, la arteria hemorroidal </a:t>
            </a:r>
            <a:r>
              <a:rPr lang="es-ES" dirty="0" smtClean="0"/>
              <a:t>media, rama </a:t>
            </a:r>
            <a:r>
              <a:rPr lang="es-ES" dirty="0"/>
              <a:t>de la arteria hipogástrica y la arteria hemorroidal inferior, rama de la arteria </a:t>
            </a:r>
            <a:r>
              <a:rPr lang="es-ES" dirty="0" smtClean="0"/>
              <a:t>pudenda interna</a:t>
            </a:r>
            <a:r>
              <a:rPr lang="es-ES" dirty="0"/>
              <a:t>. </a:t>
            </a:r>
            <a:endParaRPr lang="es-ES" dirty="0" smtClean="0"/>
          </a:p>
          <a:p>
            <a:pPr algn="just"/>
            <a:r>
              <a:rPr lang="es-ES" dirty="0" smtClean="0"/>
              <a:t>La </a:t>
            </a:r>
            <a:r>
              <a:rPr lang="es-ES" dirty="0"/>
              <a:t>arteria sacra media nace de la aorta a nivel de su bifurcación dando algunas ramas a </a:t>
            </a:r>
            <a:r>
              <a:rPr lang="es-ES" dirty="0" smtClean="0"/>
              <a:t>la parte </a:t>
            </a:r>
            <a:r>
              <a:rPr lang="es-ES" dirty="0"/>
              <a:t>inferior del recto y del canal anal.</a:t>
            </a:r>
          </a:p>
        </p:txBody>
      </p:sp>
      <p:sp>
        <p:nvSpPr>
          <p:cNvPr id="2" name="1 Título"/>
          <p:cNvSpPr>
            <a:spLocks noGrp="1"/>
          </p:cNvSpPr>
          <p:nvPr>
            <p:ph type="title"/>
          </p:nvPr>
        </p:nvSpPr>
        <p:spPr>
          <a:xfrm>
            <a:off x="688490" y="570156"/>
            <a:ext cx="7756263" cy="698604"/>
          </a:xfrm>
        </p:spPr>
        <p:txBody>
          <a:bodyPr>
            <a:normAutofit fontScale="90000"/>
          </a:bodyPr>
          <a:lstStyle/>
          <a:p>
            <a:r>
              <a:rPr lang="es-ES" sz="2800" b="1" dirty="0"/>
              <a:t>RECUERDO ANATÓMICO: VASCULARIZACIÓN DEL ANO Y RECTO</a:t>
            </a:r>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down)">
                                      <p:cBhvr>
                                        <p:cTn id="32" dur="580">
                                          <p:stCondLst>
                                            <p:cond delay="0"/>
                                          </p:stCondLst>
                                        </p:cTn>
                                        <p:tgtEl>
                                          <p:spTgt spid="3">
                                            <p:txEl>
                                              <p:pRg st="1" end="1"/>
                                            </p:txEl>
                                          </p:spTgt>
                                        </p:tgtEl>
                                      </p:cBhvr>
                                    </p:animEffect>
                                    <p:anim calcmode="lin" valueType="num">
                                      <p:cBhvr>
                                        <p:cTn id="33"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3">
                                            <p:txEl>
                                              <p:pRg st="1" end="1"/>
                                            </p:txEl>
                                          </p:spTgt>
                                        </p:tgtEl>
                                      </p:cBhvr>
                                      <p:to x="100000" y="60000"/>
                                    </p:animScale>
                                    <p:animScale>
                                      <p:cBhvr>
                                        <p:cTn id="39" dur="166" decel="50000">
                                          <p:stCondLst>
                                            <p:cond delay="676"/>
                                          </p:stCondLst>
                                        </p:cTn>
                                        <p:tgtEl>
                                          <p:spTgt spid="3">
                                            <p:txEl>
                                              <p:pRg st="1" end="1"/>
                                            </p:txEl>
                                          </p:spTgt>
                                        </p:tgtEl>
                                      </p:cBhvr>
                                      <p:to x="100000" y="100000"/>
                                    </p:animScale>
                                    <p:animScale>
                                      <p:cBhvr>
                                        <p:cTn id="40" dur="26">
                                          <p:stCondLst>
                                            <p:cond delay="1312"/>
                                          </p:stCondLst>
                                        </p:cTn>
                                        <p:tgtEl>
                                          <p:spTgt spid="3">
                                            <p:txEl>
                                              <p:pRg st="1" end="1"/>
                                            </p:txEl>
                                          </p:spTgt>
                                        </p:tgtEl>
                                      </p:cBhvr>
                                      <p:to x="100000" y="80000"/>
                                    </p:animScale>
                                    <p:animScale>
                                      <p:cBhvr>
                                        <p:cTn id="41" dur="166" decel="50000">
                                          <p:stCondLst>
                                            <p:cond delay="1338"/>
                                          </p:stCondLst>
                                        </p:cTn>
                                        <p:tgtEl>
                                          <p:spTgt spid="3">
                                            <p:txEl>
                                              <p:pRg st="1" end="1"/>
                                            </p:txEl>
                                          </p:spTgt>
                                        </p:tgtEl>
                                      </p:cBhvr>
                                      <p:to x="100000" y="100000"/>
                                    </p:animScale>
                                    <p:animScale>
                                      <p:cBhvr>
                                        <p:cTn id="42" dur="26">
                                          <p:stCondLst>
                                            <p:cond delay="1642"/>
                                          </p:stCondLst>
                                        </p:cTn>
                                        <p:tgtEl>
                                          <p:spTgt spid="3">
                                            <p:txEl>
                                              <p:pRg st="1" end="1"/>
                                            </p:txEl>
                                          </p:spTgt>
                                        </p:tgtEl>
                                      </p:cBhvr>
                                      <p:to x="100000" y="90000"/>
                                    </p:animScale>
                                    <p:animScale>
                                      <p:cBhvr>
                                        <p:cTn id="43" dur="166" decel="50000">
                                          <p:stCondLst>
                                            <p:cond delay="1668"/>
                                          </p:stCondLst>
                                        </p:cTn>
                                        <p:tgtEl>
                                          <p:spTgt spid="3">
                                            <p:txEl>
                                              <p:pRg st="1" end="1"/>
                                            </p:txEl>
                                          </p:spTgt>
                                        </p:tgtEl>
                                      </p:cBhvr>
                                      <p:to x="100000" y="100000"/>
                                    </p:animScale>
                                    <p:animScale>
                                      <p:cBhvr>
                                        <p:cTn id="44" dur="26">
                                          <p:stCondLst>
                                            <p:cond delay="1808"/>
                                          </p:stCondLst>
                                        </p:cTn>
                                        <p:tgtEl>
                                          <p:spTgt spid="3">
                                            <p:txEl>
                                              <p:pRg st="1" end="1"/>
                                            </p:txEl>
                                          </p:spTgt>
                                        </p:tgtEl>
                                      </p:cBhvr>
                                      <p:to x="100000" y="95000"/>
                                    </p:animScale>
                                    <p:animScale>
                                      <p:cBhvr>
                                        <p:cTn id="45" dur="166" decel="50000">
                                          <p:stCondLst>
                                            <p:cond delay="1834"/>
                                          </p:stCondLst>
                                        </p:cTn>
                                        <p:tgtEl>
                                          <p:spTgt spid="3">
                                            <p:txEl>
                                              <p:pRg st="1" end="1"/>
                                            </p:txEl>
                                          </p:spTgt>
                                        </p:tgtEl>
                                      </p:cBhvr>
                                      <p:to x="100000" y="100000"/>
                                    </p:animScale>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grpId="0" nodeType="clickEffect">
                                  <p:stCondLst>
                                    <p:cond delay="0"/>
                                  </p:stCondLst>
                                  <p:childTnLst>
                                    <p:set>
                                      <p:cBhvr>
                                        <p:cTn id="49" dur="1" fill="hold">
                                          <p:stCondLst>
                                            <p:cond delay="0"/>
                                          </p:stCondLst>
                                        </p:cTn>
                                        <p:tgtEl>
                                          <p:spTgt spid="3">
                                            <p:txEl>
                                              <p:pRg st="2" end="2"/>
                                            </p:txEl>
                                          </p:spTgt>
                                        </p:tgtEl>
                                        <p:attrNameLst>
                                          <p:attrName>style.visibility</p:attrName>
                                        </p:attrNameLst>
                                      </p:cBhvr>
                                      <p:to>
                                        <p:strVal val="visible"/>
                                      </p:to>
                                    </p:set>
                                    <p:animEffect transition="in" filter="wipe(down)">
                                      <p:cBhvr>
                                        <p:cTn id="50" dur="580">
                                          <p:stCondLst>
                                            <p:cond delay="0"/>
                                          </p:stCondLst>
                                        </p:cTn>
                                        <p:tgtEl>
                                          <p:spTgt spid="3">
                                            <p:txEl>
                                              <p:pRg st="2" end="2"/>
                                            </p:txEl>
                                          </p:spTgt>
                                        </p:tgtEl>
                                      </p:cBhvr>
                                    </p:animEffect>
                                    <p:anim calcmode="lin" valueType="num">
                                      <p:cBhvr>
                                        <p:cTn id="51"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6" dur="26">
                                          <p:stCondLst>
                                            <p:cond delay="650"/>
                                          </p:stCondLst>
                                        </p:cTn>
                                        <p:tgtEl>
                                          <p:spTgt spid="3">
                                            <p:txEl>
                                              <p:pRg st="2" end="2"/>
                                            </p:txEl>
                                          </p:spTgt>
                                        </p:tgtEl>
                                      </p:cBhvr>
                                      <p:to x="100000" y="60000"/>
                                    </p:animScale>
                                    <p:animScale>
                                      <p:cBhvr>
                                        <p:cTn id="57" dur="166" decel="50000">
                                          <p:stCondLst>
                                            <p:cond delay="676"/>
                                          </p:stCondLst>
                                        </p:cTn>
                                        <p:tgtEl>
                                          <p:spTgt spid="3">
                                            <p:txEl>
                                              <p:pRg st="2" end="2"/>
                                            </p:txEl>
                                          </p:spTgt>
                                        </p:tgtEl>
                                      </p:cBhvr>
                                      <p:to x="100000" y="100000"/>
                                    </p:animScale>
                                    <p:animScale>
                                      <p:cBhvr>
                                        <p:cTn id="58" dur="26">
                                          <p:stCondLst>
                                            <p:cond delay="1312"/>
                                          </p:stCondLst>
                                        </p:cTn>
                                        <p:tgtEl>
                                          <p:spTgt spid="3">
                                            <p:txEl>
                                              <p:pRg st="2" end="2"/>
                                            </p:txEl>
                                          </p:spTgt>
                                        </p:tgtEl>
                                      </p:cBhvr>
                                      <p:to x="100000" y="80000"/>
                                    </p:animScale>
                                    <p:animScale>
                                      <p:cBhvr>
                                        <p:cTn id="59" dur="166" decel="50000">
                                          <p:stCondLst>
                                            <p:cond delay="1338"/>
                                          </p:stCondLst>
                                        </p:cTn>
                                        <p:tgtEl>
                                          <p:spTgt spid="3">
                                            <p:txEl>
                                              <p:pRg st="2" end="2"/>
                                            </p:txEl>
                                          </p:spTgt>
                                        </p:tgtEl>
                                      </p:cBhvr>
                                      <p:to x="100000" y="100000"/>
                                    </p:animScale>
                                    <p:animScale>
                                      <p:cBhvr>
                                        <p:cTn id="60" dur="26">
                                          <p:stCondLst>
                                            <p:cond delay="1642"/>
                                          </p:stCondLst>
                                        </p:cTn>
                                        <p:tgtEl>
                                          <p:spTgt spid="3">
                                            <p:txEl>
                                              <p:pRg st="2" end="2"/>
                                            </p:txEl>
                                          </p:spTgt>
                                        </p:tgtEl>
                                      </p:cBhvr>
                                      <p:to x="100000" y="90000"/>
                                    </p:animScale>
                                    <p:animScale>
                                      <p:cBhvr>
                                        <p:cTn id="61" dur="166" decel="50000">
                                          <p:stCondLst>
                                            <p:cond delay="1668"/>
                                          </p:stCondLst>
                                        </p:cTn>
                                        <p:tgtEl>
                                          <p:spTgt spid="3">
                                            <p:txEl>
                                              <p:pRg st="2" end="2"/>
                                            </p:txEl>
                                          </p:spTgt>
                                        </p:tgtEl>
                                      </p:cBhvr>
                                      <p:to x="100000" y="100000"/>
                                    </p:animScale>
                                    <p:animScale>
                                      <p:cBhvr>
                                        <p:cTn id="62" dur="26">
                                          <p:stCondLst>
                                            <p:cond delay="1808"/>
                                          </p:stCondLst>
                                        </p:cTn>
                                        <p:tgtEl>
                                          <p:spTgt spid="3">
                                            <p:txEl>
                                              <p:pRg st="2" end="2"/>
                                            </p:txEl>
                                          </p:spTgt>
                                        </p:tgtEl>
                                      </p:cBhvr>
                                      <p:to x="100000" y="95000"/>
                                    </p:animScale>
                                    <p:animScale>
                                      <p:cBhvr>
                                        <p:cTn id="63"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20688"/>
            <a:ext cx="8229600" cy="5505475"/>
          </a:xfrm>
        </p:spPr>
        <p:txBody>
          <a:bodyPr>
            <a:normAutofit/>
          </a:bodyPr>
          <a:lstStyle/>
          <a:p>
            <a:pPr algn="just"/>
            <a:r>
              <a:rPr lang="es-ES" dirty="0"/>
              <a:t>El drenaje venoso viene dado por las venas hemorroidales superiores, que nacen en </a:t>
            </a:r>
            <a:r>
              <a:rPr lang="es-ES" dirty="0" smtClean="0"/>
              <a:t>el plexo </a:t>
            </a:r>
            <a:r>
              <a:rPr lang="es-ES" dirty="0"/>
              <a:t>hemorroidal superior o interno, situado a nivel de la submucosa de la porción superior </a:t>
            </a:r>
            <a:r>
              <a:rPr lang="es-ES" dirty="0" smtClean="0"/>
              <a:t>del canal </a:t>
            </a:r>
            <a:r>
              <a:rPr lang="es-ES" dirty="0"/>
              <a:t>anal. </a:t>
            </a:r>
            <a:endParaRPr lang="es-ES" dirty="0" smtClean="0"/>
          </a:p>
          <a:p>
            <a:pPr algn="just"/>
            <a:r>
              <a:rPr lang="es-ES" dirty="0" smtClean="0"/>
              <a:t>Las </a:t>
            </a:r>
            <a:r>
              <a:rPr lang="es-ES" dirty="0"/>
              <a:t>venas hemorroidales superiores desembocan en la vena mesentérica inferior. </a:t>
            </a:r>
            <a:endParaRPr lang="es-ES" dirty="0" smtClean="0"/>
          </a:p>
          <a:p>
            <a:pPr algn="just"/>
            <a:r>
              <a:rPr lang="es-ES" dirty="0" smtClean="0"/>
              <a:t>Las</a:t>
            </a:r>
            <a:r>
              <a:rPr lang="es-ES" dirty="0"/>
              <a:t> </a:t>
            </a:r>
            <a:r>
              <a:rPr lang="es-ES" dirty="0" smtClean="0"/>
              <a:t>venas </a:t>
            </a:r>
            <a:r>
              <a:rPr lang="es-ES" dirty="0"/>
              <a:t>hemorroidales medias drenan la sangre de las proximidades del canal anal y </a:t>
            </a:r>
            <a:r>
              <a:rPr lang="es-ES" dirty="0" smtClean="0"/>
              <a:t>desembocan en </a:t>
            </a:r>
            <a:r>
              <a:rPr lang="es-ES" dirty="0"/>
              <a:t>la vena hipogástrica.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20688"/>
            <a:ext cx="8229600" cy="5505475"/>
          </a:xfrm>
        </p:spPr>
        <p:txBody>
          <a:bodyPr>
            <a:normAutofit/>
          </a:bodyPr>
          <a:lstStyle/>
          <a:p>
            <a:pPr algn="just"/>
            <a:r>
              <a:rPr lang="es-ES" sz="2800" dirty="0"/>
              <a:t>El tercer grupo está constituido por las venas hemorroidales </a:t>
            </a:r>
            <a:r>
              <a:rPr lang="es-ES" sz="2800" dirty="0" smtClean="0"/>
              <a:t>inferiores que </a:t>
            </a:r>
            <a:r>
              <a:rPr lang="es-ES" sz="2800" dirty="0"/>
              <a:t>drenan la sangre del plexo hemorroidal externo en la porción inferior del canal anal a </a:t>
            </a:r>
            <a:r>
              <a:rPr lang="es-ES" sz="2800" dirty="0" smtClean="0"/>
              <a:t>nivel de </a:t>
            </a:r>
            <a:r>
              <a:rPr lang="es-ES" sz="2800" dirty="0"/>
              <a:t>los márgenes del ano, desembocando en la vena pudenda interna y vena hipogástrica</a:t>
            </a:r>
            <a:r>
              <a:rPr lang="es-ES" sz="2800" dirty="0" smtClean="0"/>
              <a:t>.</a:t>
            </a:r>
          </a:p>
          <a:p>
            <a:pPr algn="just"/>
            <a:r>
              <a:rPr lang="es-ES" sz="2800" dirty="0" smtClean="0"/>
              <a:t> Entre estos </a:t>
            </a:r>
            <a:r>
              <a:rPr lang="es-ES" sz="2800" dirty="0"/>
              <a:t>sistemas venosos existen comunicaciones</a:t>
            </a:r>
            <a:r>
              <a:rPr lang="es-ES" sz="2800" dirty="0" smtClean="0"/>
              <a:t>.</a:t>
            </a:r>
          </a:p>
          <a:p>
            <a:pPr algn="just"/>
            <a:r>
              <a:rPr lang="es-ES" sz="2800" dirty="0" smtClean="0"/>
              <a:t> </a:t>
            </a:r>
            <a:r>
              <a:rPr lang="es-ES" sz="2800" dirty="0"/>
              <a:t>Podemos pues dividir el drenaje venoso rectal </a:t>
            </a:r>
            <a:r>
              <a:rPr lang="es-ES" sz="2800" dirty="0" smtClean="0"/>
              <a:t>en dos </a:t>
            </a:r>
            <a:r>
              <a:rPr lang="es-ES" sz="2800" dirty="0"/>
              <a:t>sistemas diferentes</a:t>
            </a:r>
            <a:r>
              <a:rPr lang="es-ES" sz="2800" dirty="0" smtClean="0"/>
              <a:t>:</a:t>
            </a:r>
          </a:p>
          <a:p>
            <a:pPr algn="just"/>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92696"/>
            <a:ext cx="8229600" cy="5433467"/>
          </a:xfrm>
        </p:spPr>
        <p:txBody>
          <a:bodyPr>
            <a:normAutofit/>
          </a:bodyPr>
          <a:lstStyle/>
          <a:p>
            <a:pPr algn="just"/>
            <a:r>
              <a:rPr lang="es-ES" dirty="0" smtClean="0"/>
              <a:t>El </a:t>
            </a:r>
            <a:r>
              <a:rPr lang="es-ES" dirty="0"/>
              <a:t>sistema hemorroidal superior que drena en el sistema venoso portal; </a:t>
            </a:r>
            <a:r>
              <a:rPr lang="es-ES" dirty="0" smtClean="0"/>
              <a:t>y otro </a:t>
            </a:r>
            <a:r>
              <a:rPr lang="es-ES" dirty="0"/>
              <a:t>constituido por la venas hemorroidales medias e inferiores </a:t>
            </a:r>
            <a:endParaRPr lang="es-ES" dirty="0" smtClean="0"/>
          </a:p>
          <a:p>
            <a:pPr algn="just"/>
            <a:r>
              <a:rPr lang="es-ES" dirty="0" smtClean="0"/>
              <a:t>Las </a:t>
            </a:r>
            <a:r>
              <a:rPr lang="es-ES" dirty="0"/>
              <a:t>venas hemorroidales superiores carecen de válvulas por lo que un aumento de </a:t>
            </a:r>
            <a:r>
              <a:rPr lang="es-ES" dirty="0" smtClean="0"/>
              <a:t>la presión </a:t>
            </a:r>
            <a:r>
              <a:rPr lang="es-ES" dirty="0"/>
              <a:t>a nivel del sistema portal repercutirá en ellas debido al gradiente de presión.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916832"/>
            <a:ext cx="8229600" cy="4209331"/>
          </a:xfrm>
        </p:spPr>
        <p:txBody>
          <a:bodyPr>
            <a:normAutofit/>
          </a:bodyPr>
          <a:lstStyle/>
          <a:p>
            <a:pPr algn="just"/>
            <a:r>
              <a:rPr lang="es-ES" dirty="0"/>
              <a:t>Las hemorroides no son </a:t>
            </a:r>
            <a:r>
              <a:rPr lang="es-ES" dirty="0" smtClean="0"/>
              <a:t>las varices </a:t>
            </a:r>
            <a:r>
              <a:rPr lang="es-ES" dirty="0"/>
              <a:t>de las venas rectales </a:t>
            </a:r>
            <a:r>
              <a:rPr lang="es-ES" dirty="0" smtClean="0"/>
              <a:t>como tradicionalmente </a:t>
            </a:r>
            <a:r>
              <a:rPr lang="es-ES" dirty="0"/>
              <a:t>se han </a:t>
            </a:r>
            <a:r>
              <a:rPr lang="es-ES" dirty="0" smtClean="0"/>
              <a:t>considerado, incluso </a:t>
            </a:r>
            <a:r>
              <a:rPr lang="es-ES" dirty="0"/>
              <a:t>por los profesionales </a:t>
            </a:r>
            <a:r>
              <a:rPr lang="es-ES" dirty="0" smtClean="0"/>
              <a:t>médicos. </a:t>
            </a:r>
          </a:p>
          <a:p>
            <a:pPr algn="just"/>
            <a:r>
              <a:rPr lang="es-ES" dirty="0" smtClean="0"/>
              <a:t>Las </a:t>
            </a:r>
            <a:r>
              <a:rPr lang="es-ES" dirty="0"/>
              <a:t>hemorroides son el prolapso de </a:t>
            </a:r>
            <a:r>
              <a:rPr lang="es-ES" dirty="0" smtClean="0"/>
              <a:t>las estructuras </a:t>
            </a:r>
            <a:r>
              <a:rPr lang="es-ES" dirty="0"/>
              <a:t>vasculoelásticas </a:t>
            </a:r>
            <a:r>
              <a:rPr lang="es-ES" dirty="0" smtClean="0"/>
              <a:t>que almohadillan </a:t>
            </a:r>
            <a:r>
              <a:rPr lang="es-ES" dirty="0"/>
              <a:t>el canal anal, </a:t>
            </a:r>
            <a:r>
              <a:rPr lang="es-ES" dirty="0" smtClean="0"/>
              <a:t>estando constituidas </a:t>
            </a:r>
            <a:r>
              <a:rPr lang="es-ES" dirty="0"/>
              <a:t>por arteriolas y venas </a:t>
            </a:r>
            <a:r>
              <a:rPr lang="es-ES" dirty="0" smtClean="0"/>
              <a:t>con comunicaciones </a:t>
            </a:r>
            <a:r>
              <a:rPr lang="es-ES" dirty="0"/>
              <a:t>arteriovenosas, músculo liso y tejido conectivo.</a:t>
            </a:r>
          </a:p>
        </p:txBody>
      </p:sp>
      <p:sp>
        <p:nvSpPr>
          <p:cNvPr id="2" name="1 Título"/>
          <p:cNvSpPr>
            <a:spLocks noGrp="1"/>
          </p:cNvSpPr>
          <p:nvPr>
            <p:ph type="title"/>
          </p:nvPr>
        </p:nvSpPr>
        <p:spPr/>
        <p:txBody>
          <a:bodyPr/>
          <a:lstStyle/>
          <a:p>
            <a:r>
              <a:rPr lang="es-ES" sz="3200" b="1" dirty="0" smtClean="0"/>
              <a:t> </a:t>
            </a:r>
            <a:r>
              <a:rPr lang="es-ES" sz="3200" b="1" dirty="0"/>
              <a:t>FISIOPATOLOGÍA</a:t>
            </a:r>
            <a:endParaRPr lang="es-E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down)">
                                      <p:cBhvr>
                                        <p:cTn id="43" dur="580">
                                          <p:stCondLst>
                                            <p:cond delay="0"/>
                                          </p:stCondLst>
                                        </p:cTn>
                                        <p:tgtEl>
                                          <p:spTgt spid="3">
                                            <p:txEl>
                                              <p:pRg st="1" end="1"/>
                                            </p:txEl>
                                          </p:spTgt>
                                        </p:tgtEl>
                                      </p:cBhvr>
                                    </p:animEffect>
                                    <p:anim calcmode="lin" valueType="num">
                                      <p:cBhvr>
                                        <p:cTn id="4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1" end="1"/>
                                            </p:txEl>
                                          </p:spTgt>
                                        </p:tgtEl>
                                      </p:cBhvr>
                                      <p:to x="100000" y="60000"/>
                                    </p:animScale>
                                    <p:animScale>
                                      <p:cBhvr>
                                        <p:cTn id="50" dur="166" decel="50000">
                                          <p:stCondLst>
                                            <p:cond delay="676"/>
                                          </p:stCondLst>
                                        </p:cTn>
                                        <p:tgtEl>
                                          <p:spTgt spid="3">
                                            <p:txEl>
                                              <p:pRg st="1" end="1"/>
                                            </p:txEl>
                                          </p:spTgt>
                                        </p:tgtEl>
                                      </p:cBhvr>
                                      <p:to x="100000" y="100000"/>
                                    </p:animScale>
                                    <p:animScale>
                                      <p:cBhvr>
                                        <p:cTn id="51" dur="26">
                                          <p:stCondLst>
                                            <p:cond delay="1312"/>
                                          </p:stCondLst>
                                        </p:cTn>
                                        <p:tgtEl>
                                          <p:spTgt spid="3">
                                            <p:txEl>
                                              <p:pRg st="1" end="1"/>
                                            </p:txEl>
                                          </p:spTgt>
                                        </p:tgtEl>
                                      </p:cBhvr>
                                      <p:to x="100000" y="80000"/>
                                    </p:animScale>
                                    <p:animScale>
                                      <p:cBhvr>
                                        <p:cTn id="52" dur="166" decel="50000">
                                          <p:stCondLst>
                                            <p:cond delay="1338"/>
                                          </p:stCondLst>
                                        </p:cTn>
                                        <p:tgtEl>
                                          <p:spTgt spid="3">
                                            <p:txEl>
                                              <p:pRg st="1" end="1"/>
                                            </p:txEl>
                                          </p:spTgt>
                                        </p:tgtEl>
                                      </p:cBhvr>
                                      <p:to x="100000" y="100000"/>
                                    </p:animScale>
                                    <p:animScale>
                                      <p:cBhvr>
                                        <p:cTn id="53" dur="26">
                                          <p:stCondLst>
                                            <p:cond delay="1642"/>
                                          </p:stCondLst>
                                        </p:cTn>
                                        <p:tgtEl>
                                          <p:spTgt spid="3">
                                            <p:txEl>
                                              <p:pRg st="1" end="1"/>
                                            </p:txEl>
                                          </p:spTgt>
                                        </p:tgtEl>
                                      </p:cBhvr>
                                      <p:to x="100000" y="90000"/>
                                    </p:animScale>
                                    <p:animScale>
                                      <p:cBhvr>
                                        <p:cTn id="54" dur="166" decel="50000">
                                          <p:stCondLst>
                                            <p:cond delay="1668"/>
                                          </p:stCondLst>
                                        </p:cTn>
                                        <p:tgtEl>
                                          <p:spTgt spid="3">
                                            <p:txEl>
                                              <p:pRg st="1" end="1"/>
                                            </p:txEl>
                                          </p:spTgt>
                                        </p:tgtEl>
                                      </p:cBhvr>
                                      <p:to x="100000" y="100000"/>
                                    </p:animScale>
                                    <p:animScale>
                                      <p:cBhvr>
                                        <p:cTn id="55" dur="26">
                                          <p:stCondLst>
                                            <p:cond delay="1808"/>
                                          </p:stCondLst>
                                        </p:cTn>
                                        <p:tgtEl>
                                          <p:spTgt spid="3">
                                            <p:txEl>
                                              <p:pRg st="1" end="1"/>
                                            </p:txEl>
                                          </p:spTgt>
                                        </p:tgtEl>
                                      </p:cBhvr>
                                      <p:to x="100000" y="95000"/>
                                    </p:animScale>
                                    <p:animScale>
                                      <p:cBhvr>
                                        <p:cTn id="56"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764704"/>
            <a:ext cx="8229600" cy="5361459"/>
          </a:xfrm>
        </p:spPr>
        <p:txBody>
          <a:bodyPr>
            <a:normAutofit/>
          </a:bodyPr>
          <a:lstStyle/>
          <a:p>
            <a:pPr algn="just"/>
            <a:r>
              <a:rPr lang="es-ES" dirty="0"/>
              <a:t>Se trata de tres estructuras que existen de forma fisiológica ya desde la </a:t>
            </a:r>
            <a:r>
              <a:rPr lang="es-ES" dirty="0" smtClean="0"/>
              <a:t>época embrionaria</a:t>
            </a:r>
            <a:r>
              <a:rPr lang="es-ES" dirty="0"/>
              <a:t>, denominadas "cojincillos anales". Clásicamente se sitúan en tres áreas constantes:</a:t>
            </a:r>
          </a:p>
          <a:p>
            <a:pPr algn="just"/>
            <a:r>
              <a:rPr lang="es-ES" dirty="0"/>
              <a:t>L</a:t>
            </a:r>
            <a:r>
              <a:rPr lang="es-ES" dirty="0" smtClean="0"/>
              <a:t>ateral </a:t>
            </a:r>
            <a:r>
              <a:rPr lang="es-ES" dirty="0"/>
              <a:t>izquierda, </a:t>
            </a:r>
            <a:r>
              <a:rPr lang="es-ES" dirty="0" err="1"/>
              <a:t>anterolateral</a:t>
            </a:r>
            <a:r>
              <a:rPr lang="es-ES" dirty="0"/>
              <a:t> y </a:t>
            </a:r>
            <a:r>
              <a:rPr lang="es-ES" dirty="0" err="1"/>
              <a:t>posterolateral</a:t>
            </a:r>
            <a:r>
              <a:rPr lang="es-ES" dirty="0"/>
              <a:t> derecha, es decir a la 3, 7 y 11 horarias en </a:t>
            </a:r>
            <a:r>
              <a:rPr lang="es-ES" dirty="0" smtClean="0"/>
              <a:t>posición de litotomía</a:t>
            </a:r>
            <a:r>
              <a:rPr lang="es-ES" dirty="0"/>
              <a:t>.</a:t>
            </a:r>
          </a:p>
          <a:p>
            <a:pPr algn="just"/>
            <a:r>
              <a:rPr lang="es-ES" dirty="0"/>
              <a:t>Se trata pues del deslizamiento hacia debajo de estos cojinetes, que actuarían de </a:t>
            </a:r>
            <a:r>
              <a:rPr lang="es-ES" dirty="0" smtClean="0"/>
              <a:t>forma fisiológica </a:t>
            </a:r>
            <a:r>
              <a:rPr lang="es-ES" dirty="0"/>
              <a:t>para asegurar un cierre más efectivo del conducto anal. El deslizamiento provoca </a:t>
            </a:r>
            <a:r>
              <a:rPr lang="es-ES" dirty="0" smtClean="0"/>
              <a:t>el engrosamiento</a:t>
            </a:r>
            <a:r>
              <a:rPr lang="es-ES" dirty="0"/>
              <a:t>, el prolapso y en ocasiones el sangrado. </a:t>
            </a:r>
            <a:endParaRPr lang="es-E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20688"/>
            <a:ext cx="8229600" cy="5505475"/>
          </a:xfrm>
        </p:spPr>
        <p:txBody>
          <a:bodyPr>
            <a:normAutofit lnSpcReduction="10000"/>
          </a:bodyPr>
          <a:lstStyle/>
          <a:p>
            <a:pPr algn="just"/>
            <a:r>
              <a:rPr lang="es-ES" dirty="0"/>
              <a:t>No debemos confundir las hemorroides con las varices rectales que se producen </a:t>
            </a:r>
            <a:r>
              <a:rPr lang="es-ES" dirty="0" smtClean="0"/>
              <a:t>cuando existe </a:t>
            </a:r>
            <a:r>
              <a:rPr lang="es-ES" dirty="0"/>
              <a:t>una hipertensión portal que se transmite de forma retrógrada produciendo la </a:t>
            </a:r>
            <a:r>
              <a:rPr lang="es-ES" dirty="0" smtClean="0"/>
              <a:t>ingurgitación del </a:t>
            </a:r>
            <a:r>
              <a:rPr lang="es-ES" dirty="0"/>
              <a:t>plexo hemorroidal interno, aunque algunos autores lo incluyen dentro de la </a:t>
            </a:r>
            <a:r>
              <a:rPr lang="es-ES" dirty="0" smtClean="0"/>
              <a:t>patología hemorroidal</a:t>
            </a:r>
            <a:r>
              <a:rPr lang="es-ES" dirty="0"/>
              <a:t>, considerando a éstas como un subtipo de etiología </a:t>
            </a:r>
            <a:r>
              <a:rPr lang="es-ES" dirty="0" smtClean="0"/>
              <a:t>adquirida.</a:t>
            </a:r>
          </a:p>
          <a:p>
            <a:pPr algn="just"/>
            <a:r>
              <a:rPr lang="es-ES" dirty="0" smtClean="0"/>
              <a:t> En </a:t>
            </a:r>
            <a:r>
              <a:rPr lang="es-ES" dirty="0"/>
              <a:t>condiciones normales las almohadillas vasculares se encuentran mantenidas en </a:t>
            </a:r>
            <a:r>
              <a:rPr lang="es-ES" dirty="0" smtClean="0"/>
              <a:t>su situación </a:t>
            </a:r>
            <a:r>
              <a:rPr lang="es-ES" dirty="0"/>
              <a:t>por el tono de los músculos esfinterianos. </a:t>
            </a:r>
            <a:endParaRPr lang="es-ES" dirty="0" smtClean="0"/>
          </a:p>
          <a:p>
            <a:pPr algn="just"/>
            <a:r>
              <a:rPr lang="es-ES" dirty="0" smtClean="0"/>
              <a:t>Durante </a:t>
            </a:r>
            <a:r>
              <a:rPr lang="es-ES" dirty="0"/>
              <a:t>el acto de la defecación, se abre </a:t>
            </a:r>
            <a:r>
              <a:rPr lang="es-ES" dirty="0" smtClean="0"/>
              <a:t>el canal </a:t>
            </a:r>
            <a:r>
              <a:rPr lang="es-ES" dirty="0"/>
              <a:t>anal y se relaja la musculatura esfinteriana, al mismo tiempo que se produce un </a:t>
            </a:r>
            <a:r>
              <a:rPr lang="es-ES" dirty="0" smtClean="0"/>
              <a:t>aumento brusco </a:t>
            </a:r>
            <a:r>
              <a:rPr lang="es-ES" dirty="0"/>
              <a:t>de la presión dando lugar a la distensión de las paredes vasculares del plexo hemorroidal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8"/>
            <a:ext cx="8229600" cy="5145435"/>
          </a:xfrm>
        </p:spPr>
        <p:txBody>
          <a:bodyPr/>
          <a:lstStyle/>
          <a:p>
            <a:r>
              <a:rPr lang="es-ES" dirty="0"/>
              <a:t>Este aumento de la presión es aún mayor en los casos de estreñimiento.</a:t>
            </a:r>
          </a:p>
          <a:p>
            <a:r>
              <a:rPr lang="es-ES" dirty="0"/>
              <a:t>Existen algunos estudios en los que se ha constatado un aumento de la presión </a:t>
            </a:r>
            <a:r>
              <a:rPr lang="es-ES" dirty="0" smtClean="0"/>
              <a:t>basal! </a:t>
            </a:r>
            <a:r>
              <a:rPr lang="es-ES" dirty="0"/>
              <a:t>en </a:t>
            </a:r>
            <a:r>
              <a:rPr lang="es-ES" dirty="0" smtClean="0"/>
              <a:t>el conducto </a:t>
            </a:r>
            <a:r>
              <a:rPr lang="es-ES" dirty="0"/>
              <a:t>anal en aquellos pacientes afectos de hemorroides.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43608" y="764705"/>
            <a:ext cx="7457473" cy="3168351"/>
          </a:xfrm>
        </p:spPr>
        <p:txBody>
          <a:bodyPr>
            <a:normAutofit fontScale="92500" lnSpcReduction="20000"/>
          </a:bodyPr>
          <a:lstStyle/>
          <a:p>
            <a:pPr>
              <a:buNone/>
            </a:pPr>
            <a:endParaRPr lang="es-ES" b="1" dirty="0"/>
          </a:p>
          <a:p>
            <a:pPr algn="just"/>
            <a:r>
              <a:rPr lang="es-ES" dirty="0"/>
              <a:t>De este forma podemos distinguir entre hemorroides internas y externas.</a:t>
            </a:r>
          </a:p>
          <a:p>
            <a:pPr algn="just"/>
            <a:r>
              <a:rPr lang="es-ES" dirty="0"/>
              <a:t>HEMORROIDES EXTERNAS: Son aquellas que se sitúan en el tercio inferior del </a:t>
            </a:r>
            <a:r>
              <a:rPr lang="es-ES" dirty="0" smtClean="0"/>
              <a:t>ano, revistiéndose </a:t>
            </a:r>
            <a:r>
              <a:rPr lang="es-ES" dirty="0"/>
              <a:t>de piel modificada o del propio orificio anal recubiertas de piel normal.</a:t>
            </a:r>
          </a:p>
          <a:p>
            <a:pPr algn="just"/>
            <a:r>
              <a:rPr lang="es-ES" dirty="0"/>
              <a:t>HEMORROIDES INTERNAS: Son aquellas que se sitúan en los dos tercios superiores </a:t>
            </a:r>
            <a:r>
              <a:rPr lang="es-ES" dirty="0" smtClean="0"/>
              <a:t>del conducto </a:t>
            </a:r>
            <a:r>
              <a:rPr lang="es-ES" dirty="0"/>
              <a:t>anal, recubiertas por epitelio cilíndrico. </a:t>
            </a:r>
          </a:p>
        </p:txBody>
      </p:sp>
      <p:sp>
        <p:nvSpPr>
          <p:cNvPr id="2" name="1 Título"/>
          <p:cNvSpPr>
            <a:spLocks noGrp="1"/>
          </p:cNvSpPr>
          <p:nvPr>
            <p:ph type="title"/>
          </p:nvPr>
        </p:nvSpPr>
        <p:spPr>
          <a:xfrm>
            <a:off x="2411760" y="188640"/>
            <a:ext cx="4320480" cy="576064"/>
          </a:xfrm>
        </p:spPr>
        <p:txBody>
          <a:bodyPr/>
          <a:lstStyle/>
          <a:p>
            <a:r>
              <a:rPr lang="es-ES" b="1" dirty="0" smtClean="0"/>
              <a:t> </a:t>
            </a:r>
            <a:r>
              <a:rPr lang="es-ES" sz="2400" b="1" dirty="0" smtClean="0"/>
              <a:t>CLASIFICACIÓN </a:t>
            </a:r>
            <a:endParaRPr lang="es-E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232993"/>
            <a:ext cx="1749425" cy="190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4221088"/>
            <a:ext cx="2335213" cy="193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1026"/>
                                        </p:tgtEl>
                                        <p:attrNameLst>
                                          <p:attrName>style.visibility</p:attrName>
                                        </p:attrNameLst>
                                      </p:cBhvr>
                                      <p:to>
                                        <p:strVal val="visible"/>
                                      </p:to>
                                    </p:set>
                                    <p:animEffect transition="in" filter="wipe(down)">
                                      <p:cBhvr>
                                        <p:cTn id="79" dur="580">
                                          <p:stCondLst>
                                            <p:cond delay="0"/>
                                          </p:stCondLst>
                                        </p:cTn>
                                        <p:tgtEl>
                                          <p:spTgt spid="1026"/>
                                        </p:tgtEl>
                                      </p:cBhvr>
                                    </p:animEffect>
                                    <p:anim calcmode="lin" valueType="num">
                                      <p:cBhvr>
                                        <p:cTn id="80" dur="1822" tmFilter="0,0; 0.14,0.36; 0.43,0.73; 0.71,0.91; 1.0,1.0">
                                          <p:stCondLst>
                                            <p:cond delay="0"/>
                                          </p:stCondLst>
                                        </p:cTn>
                                        <p:tgtEl>
                                          <p:spTgt spid="1026"/>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1026"/>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1026"/>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1026"/>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1026"/>
                                        </p:tgtEl>
                                        <p:attrNameLst>
                                          <p:attrName>ppt_y</p:attrName>
                                        </p:attrNameLst>
                                      </p:cBhvr>
                                      <p:tavLst>
                                        <p:tav tm="0" fmla="#ppt_y-sin(pi*$)/81">
                                          <p:val>
                                            <p:fltVal val="0"/>
                                          </p:val>
                                        </p:tav>
                                        <p:tav tm="100000">
                                          <p:val>
                                            <p:fltVal val="1"/>
                                          </p:val>
                                        </p:tav>
                                      </p:tavLst>
                                    </p:anim>
                                    <p:animScale>
                                      <p:cBhvr>
                                        <p:cTn id="85" dur="26">
                                          <p:stCondLst>
                                            <p:cond delay="650"/>
                                          </p:stCondLst>
                                        </p:cTn>
                                        <p:tgtEl>
                                          <p:spTgt spid="1026"/>
                                        </p:tgtEl>
                                      </p:cBhvr>
                                      <p:to x="100000" y="60000"/>
                                    </p:animScale>
                                    <p:animScale>
                                      <p:cBhvr>
                                        <p:cTn id="86" dur="166" decel="50000">
                                          <p:stCondLst>
                                            <p:cond delay="676"/>
                                          </p:stCondLst>
                                        </p:cTn>
                                        <p:tgtEl>
                                          <p:spTgt spid="1026"/>
                                        </p:tgtEl>
                                      </p:cBhvr>
                                      <p:to x="100000" y="100000"/>
                                    </p:animScale>
                                    <p:animScale>
                                      <p:cBhvr>
                                        <p:cTn id="87" dur="26">
                                          <p:stCondLst>
                                            <p:cond delay="1312"/>
                                          </p:stCondLst>
                                        </p:cTn>
                                        <p:tgtEl>
                                          <p:spTgt spid="1026"/>
                                        </p:tgtEl>
                                      </p:cBhvr>
                                      <p:to x="100000" y="80000"/>
                                    </p:animScale>
                                    <p:animScale>
                                      <p:cBhvr>
                                        <p:cTn id="88" dur="166" decel="50000">
                                          <p:stCondLst>
                                            <p:cond delay="1338"/>
                                          </p:stCondLst>
                                        </p:cTn>
                                        <p:tgtEl>
                                          <p:spTgt spid="1026"/>
                                        </p:tgtEl>
                                      </p:cBhvr>
                                      <p:to x="100000" y="100000"/>
                                    </p:animScale>
                                    <p:animScale>
                                      <p:cBhvr>
                                        <p:cTn id="89" dur="26">
                                          <p:stCondLst>
                                            <p:cond delay="1642"/>
                                          </p:stCondLst>
                                        </p:cTn>
                                        <p:tgtEl>
                                          <p:spTgt spid="1026"/>
                                        </p:tgtEl>
                                      </p:cBhvr>
                                      <p:to x="100000" y="90000"/>
                                    </p:animScale>
                                    <p:animScale>
                                      <p:cBhvr>
                                        <p:cTn id="90" dur="166" decel="50000">
                                          <p:stCondLst>
                                            <p:cond delay="1668"/>
                                          </p:stCondLst>
                                        </p:cTn>
                                        <p:tgtEl>
                                          <p:spTgt spid="1026"/>
                                        </p:tgtEl>
                                      </p:cBhvr>
                                      <p:to x="100000" y="100000"/>
                                    </p:animScale>
                                    <p:animScale>
                                      <p:cBhvr>
                                        <p:cTn id="91" dur="26">
                                          <p:stCondLst>
                                            <p:cond delay="1808"/>
                                          </p:stCondLst>
                                        </p:cTn>
                                        <p:tgtEl>
                                          <p:spTgt spid="1026"/>
                                        </p:tgtEl>
                                      </p:cBhvr>
                                      <p:to x="100000" y="95000"/>
                                    </p:animScale>
                                    <p:animScale>
                                      <p:cBhvr>
                                        <p:cTn id="92" dur="166" decel="50000">
                                          <p:stCondLst>
                                            <p:cond delay="1834"/>
                                          </p:stCondLst>
                                        </p:cTn>
                                        <p:tgtEl>
                                          <p:spTgt spid="1026"/>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1027"/>
                                        </p:tgtEl>
                                        <p:attrNameLst>
                                          <p:attrName>style.visibility</p:attrName>
                                        </p:attrNameLst>
                                      </p:cBhvr>
                                      <p:to>
                                        <p:strVal val="visible"/>
                                      </p:to>
                                    </p:set>
                                    <p:animEffect transition="in" filter="wipe(down)">
                                      <p:cBhvr>
                                        <p:cTn id="97" dur="580">
                                          <p:stCondLst>
                                            <p:cond delay="0"/>
                                          </p:stCondLst>
                                        </p:cTn>
                                        <p:tgtEl>
                                          <p:spTgt spid="1027"/>
                                        </p:tgtEl>
                                      </p:cBhvr>
                                    </p:animEffect>
                                    <p:anim calcmode="lin" valueType="num">
                                      <p:cBhvr>
                                        <p:cTn id="98" dur="1822" tmFilter="0,0; 0.14,0.36; 0.43,0.73; 0.71,0.91; 1.0,1.0">
                                          <p:stCondLst>
                                            <p:cond delay="0"/>
                                          </p:stCondLst>
                                        </p:cTn>
                                        <p:tgtEl>
                                          <p:spTgt spid="1027"/>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1027"/>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1027"/>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1027"/>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1027"/>
                                        </p:tgtEl>
                                        <p:attrNameLst>
                                          <p:attrName>ppt_y</p:attrName>
                                        </p:attrNameLst>
                                      </p:cBhvr>
                                      <p:tavLst>
                                        <p:tav tm="0" fmla="#ppt_y-sin(pi*$)/81">
                                          <p:val>
                                            <p:fltVal val="0"/>
                                          </p:val>
                                        </p:tav>
                                        <p:tav tm="100000">
                                          <p:val>
                                            <p:fltVal val="1"/>
                                          </p:val>
                                        </p:tav>
                                      </p:tavLst>
                                    </p:anim>
                                    <p:animScale>
                                      <p:cBhvr>
                                        <p:cTn id="103" dur="26">
                                          <p:stCondLst>
                                            <p:cond delay="650"/>
                                          </p:stCondLst>
                                        </p:cTn>
                                        <p:tgtEl>
                                          <p:spTgt spid="1027"/>
                                        </p:tgtEl>
                                      </p:cBhvr>
                                      <p:to x="100000" y="60000"/>
                                    </p:animScale>
                                    <p:animScale>
                                      <p:cBhvr>
                                        <p:cTn id="104" dur="166" decel="50000">
                                          <p:stCondLst>
                                            <p:cond delay="676"/>
                                          </p:stCondLst>
                                        </p:cTn>
                                        <p:tgtEl>
                                          <p:spTgt spid="1027"/>
                                        </p:tgtEl>
                                      </p:cBhvr>
                                      <p:to x="100000" y="100000"/>
                                    </p:animScale>
                                    <p:animScale>
                                      <p:cBhvr>
                                        <p:cTn id="105" dur="26">
                                          <p:stCondLst>
                                            <p:cond delay="1312"/>
                                          </p:stCondLst>
                                        </p:cTn>
                                        <p:tgtEl>
                                          <p:spTgt spid="1027"/>
                                        </p:tgtEl>
                                      </p:cBhvr>
                                      <p:to x="100000" y="80000"/>
                                    </p:animScale>
                                    <p:animScale>
                                      <p:cBhvr>
                                        <p:cTn id="106" dur="166" decel="50000">
                                          <p:stCondLst>
                                            <p:cond delay="1338"/>
                                          </p:stCondLst>
                                        </p:cTn>
                                        <p:tgtEl>
                                          <p:spTgt spid="1027"/>
                                        </p:tgtEl>
                                      </p:cBhvr>
                                      <p:to x="100000" y="100000"/>
                                    </p:animScale>
                                    <p:animScale>
                                      <p:cBhvr>
                                        <p:cTn id="107" dur="26">
                                          <p:stCondLst>
                                            <p:cond delay="1642"/>
                                          </p:stCondLst>
                                        </p:cTn>
                                        <p:tgtEl>
                                          <p:spTgt spid="1027"/>
                                        </p:tgtEl>
                                      </p:cBhvr>
                                      <p:to x="100000" y="90000"/>
                                    </p:animScale>
                                    <p:animScale>
                                      <p:cBhvr>
                                        <p:cTn id="108" dur="166" decel="50000">
                                          <p:stCondLst>
                                            <p:cond delay="1668"/>
                                          </p:stCondLst>
                                        </p:cTn>
                                        <p:tgtEl>
                                          <p:spTgt spid="1027"/>
                                        </p:tgtEl>
                                      </p:cBhvr>
                                      <p:to x="100000" y="100000"/>
                                    </p:animScale>
                                    <p:animScale>
                                      <p:cBhvr>
                                        <p:cTn id="109" dur="26">
                                          <p:stCondLst>
                                            <p:cond delay="1808"/>
                                          </p:stCondLst>
                                        </p:cTn>
                                        <p:tgtEl>
                                          <p:spTgt spid="1027"/>
                                        </p:tgtEl>
                                      </p:cBhvr>
                                      <p:to x="100000" y="95000"/>
                                    </p:animScale>
                                    <p:animScale>
                                      <p:cBhvr>
                                        <p:cTn id="110" dur="166" decel="50000">
                                          <p:stCondLst>
                                            <p:cond delay="1834"/>
                                          </p:stCondLst>
                                        </p:cTn>
                                        <p:tgtEl>
                                          <p:spTgt spid="102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332656"/>
            <a:ext cx="7745505" cy="5793507"/>
          </a:xfrm>
        </p:spPr>
        <p:txBody>
          <a:bodyPr>
            <a:normAutofit/>
          </a:bodyPr>
          <a:lstStyle/>
          <a:p>
            <a:pPr marL="0" indent="0">
              <a:buNone/>
            </a:pPr>
            <a:r>
              <a:rPr lang="es-BO" sz="2000" dirty="0"/>
              <a:t>Las hemorroides internas se dividen a su vez en cuatro grados</a:t>
            </a:r>
            <a:r>
              <a:rPr lang="es-BO" sz="2000" dirty="0" smtClean="0"/>
              <a:t>:</a:t>
            </a:r>
          </a:p>
          <a:p>
            <a:r>
              <a:rPr lang="es-BO" sz="2000" dirty="0" smtClean="0"/>
              <a:t>Grado </a:t>
            </a:r>
            <a:r>
              <a:rPr lang="es-BO" sz="2000" dirty="0"/>
              <a:t>1°: Sobresalen en la luz del conducto anal pero no se exteriorizan.</a:t>
            </a:r>
          </a:p>
          <a:p>
            <a:r>
              <a:rPr lang="es-BO" sz="2000" dirty="0"/>
              <a:t>Grado 2°: Se exteriorizan sólo durante la evacuación pero se reducen de </a:t>
            </a:r>
            <a:r>
              <a:rPr lang="es-BO" sz="2000" dirty="0" smtClean="0"/>
              <a:t>forma espontánea</a:t>
            </a:r>
            <a:r>
              <a:rPr lang="es-BO" sz="2000" dirty="0"/>
              <a:t>.</a:t>
            </a:r>
          </a:p>
          <a:p>
            <a:r>
              <a:rPr lang="es-BO" sz="2000" dirty="0"/>
              <a:t>Grado 3°: Se exteriorizan de forma espontánea o durante la defecación y requieren </a:t>
            </a:r>
            <a:r>
              <a:rPr lang="es-BO" sz="2000" dirty="0" smtClean="0"/>
              <a:t>la reducción </a:t>
            </a:r>
            <a:r>
              <a:rPr lang="es-BO" sz="2000" dirty="0"/>
              <a:t>manual.</a:t>
            </a:r>
          </a:p>
          <a:p>
            <a:r>
              <a:rPr lang="es-BO" sz="2000" dirty="0"/>
              <a:t>Grado 4°: Se encuentran </a:t>
            </a:r>
            <a:r>
              <a:rPr lang="es-BO" sz="2000" dirty="0" err="1"/>
              <a:t>prolapsadas</a:t>
            </a:r>
            <a:r>
              <a:rPr lang="es-BO" sz="2000" dirty="0"/>
              <a:t> de forma permanente y no se pueden </a:t>
            </a:r>
            <a:r>
              <a:rPr lang="es-BO" sz="2000" dirty="0" smtClean="0"/>
              <a:t>reducir manualmente</a:t>
            </a:r>
            <a:r>
              <a:rPr lang="es-BO" sz="2000" dirty="0"/>
              <a:t>.</a:t>
            </a:r>
          </a:p>
          <a:p>
            <a:endParaRPr lang="es-BO"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550713"/>
            <a:ext cx="4176713"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512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80">
                                          <p:stCondLst>
                                            <p:cond delay="0"/>
                                          </p:stCondLst>
                                        </p:cTn>
                                        <p:tgtEl>
                                          <p:spTgt spid="2">
                                            <p:txEl>
                                              <p:pRg st="0" end="0"/>
                                            </p:txEl>
                                          </p:spTgt>
                                        </p:tgtEl>
                                      </p:cBhvr>
                                    </p:animEffect>
                                    <p:anim calcmode="lin" valueType="num">
                                      <p:cBhvr>
                                        <p:cTn id="8"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0" end="0"/>
                                            </p:txEl>
                                          </p:spTgt>
                                        </p:tgtEl>
                                      </p:cBhvr>
                                      <p:to x="100000" y="60000"/>
                                    </p:animScale>
                                    <p:animScale>
                                      <p:cBhvr>
                                        <p:cTn id="14" dur="166" decel="50000">
                                          <p:stCondLst>
                                            <p:cond delay="676"/>
                                          </p:stCondLst>
                                        </p:cTn>
                                        <p:tgtEl>
                                          <p:spTgt spid="2">
                                            <p:txEl>
                                              <p:pRg st="0" end="0"/>
                                            </p:txEl>
                                          </p:spTgt>
                                        </p:tgtEl>
                                      </p:cBhvr>
                                      <p:to x="100000" y="100000"/>
                                    </p:animScale>
                                    <p:animScale>
                                      <p:cBhvr>
                                        <p:cTn id="15" dur="26">
                                          <p:stCondLst>
                                            <p:cond delay="1312"/>
                                          </p:stCondLst>
                                        </p:cTn>
                                        <p:tgtEl>
                                          <p:spTgt spid="2">
                                            <p:txEl>
                                              <p:pRg st="0" end="0"/>
                                            </p:txEl>
                                          </p:spTgt>
                                        </p:tgtEl>
                                      </p:cBhvr>
                                      <p:to x="100000" y="80000"/>
                                    </p:animScale>
                                    <p:animScale>
                                      <p:cBhvr>
                                        <p:cTn id="16" dur="166" decel="50000">
                                          <p:stCondLst>
                                            <p:cond delay="1338"/>
                                          </p:stCondLst>
                                        </p:cTn>
                                        <p:tgtEl>
                                          <p:spTgt spid="2">
                                            <p:txEl>
                                              <p:pRg st="0" end="0"/>
                                            </p:txEl>
                                          </p:spTgt>
                                        </p:tgtEl>
                                      </p:cBhvr>
                                      <p:to x="100000" y="100000"/>
                                    </p:animScale>
                                    <p:animScale>
                                      <p:cBhvr>
                                        <p:cTn id="17" dur="26">
                                          <p:stCondLst>
                                            <p:cond delay="1642"/>
                                          </p:stCondLst>
                                        </p:cTn>
                                        <p:tgtEl>
                                          <p:spTgt spid="2">
                                            <p:txEl>
                                              <p:pRg st="0" end="0"/>
                                            </p:txEl>
                                          </p:spTgt>
                                        </p:tgtEl>
                                      </p:cBhvr>
                                      <p:to x="100000" y="90000"/>
                                    </p:animScale>
                                    <p:animScale>
                                      <p:cBhvr>
                                        <p:cTn id="18" dur="166" decel="50000">
                                          <p:stCondLst>
                                            <p:cond delay="1668"/>
                                          </p:stCondLst>
                                        </p:cTn>
                                        <p:tgtEl>
                                          <p:spTgt spid="2">
                                            <p:txEl>
                                              <p:pRg st="0" end="0"/>
                                            </p:txEl>
                                          </p:spTgt>
                                        </p:tgtEl>
                                      </p:cBhvr>
                                      <p:to x="100000" y="100000"/>
                                    </p:animScale>
                                    <p:animScale>
                                      <p:cBhvr>
                                        <p:cTn id="19" dur="26">
                                          <p:stCondLst>
                                            <p:cond delay="1808"/>
                                          </p:stCondLst>
                                        </p:cTn>
                                        <p:tgtEl>
                                          <p:spTgt spid="2">
                                            <p:txEl>
                                              <p:pRg st="0" end="0"/>
                                            </p:txEl>
                                          </p:spTgt>
                                        </p:tgtEl>
                                      </p:cBhvr>
                                      <p:to x="100000" y="95000"/>
                                    </p:animScale>
                                    <p:animScale>
                                      <p:cBhvr>
                                        <p:cTn id="20" dur="166" decel="50000">
                                          <p:stCondLst>
                                            <p:cond delay="1834"/>
                                          </p:stCondLst>
                                        </p:cTn>
                                        <p:tgtEl>
                                          <p:spTgt spid="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down)">
                                      <p:cBhvr>
                                        <p:cTn id="25" dur="580">
                                          <p:stCondLst>
                                            <p:cond delay="0"/>
                                          </p:stCondLst>
                                        </p:cTn>
                                        <p:tgtEl>
                                          <p:spTgt spid="2">
                                            <p:txEl>
                                              <p:pRg st="1" end="1"/>
                                            </p:txEl>
                                          </p:spTgt>
                                        </p:tgtEl>
                                      </p:cBhvr>
                                    </p:animEffect>
                                    <p:anim calcmode="lin" valueType="num">
                                      <p:cBhvr>
                                        <p:cTn id="26"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1" end="1"/>
                                            </p:txEl>
                                          </p:spTgt>
                                        </p:tgtEl>
                                      </p:cBhvr>
                                      <p:to x="100000" y="60000"/>
                                    </p:animScale>
                                    <p:animScale>
                                      <p:cBhvr>
                                        <p:cTn id="32" dur="166" decel="50000">
                                          <p:stCondLst>
                                            <p:cond delay="676"/>
                                          </p:stCondLst>
                                        </p:cTn>
                                        <p:tgtEl>
                                          <p:spTgt spid="2">
                                            <p:txEl>
                                              <p:pRg st="1" end="1"/>
                                            </p:txEl>
                                          </p:spTgt>
                                        </p:tgtEl>
                                      </p:cBhvr>
                                      <p:to x="100000" y="100000"/>
                                    </p:animScale>
                                    <p:animScale>
                                      <p:cBhvr>
                                        <p:cTn id="33" dur="26">
                                          <p:stCondLst>
                                            <p:cond delay="1312"/>
                                          </p:stCondLst>
                                        </p:cTn>
                                        <p:tgtEl>
                                          <p:spTgt spid="2">
                                            <p:txEl>
                                              <p:pRg st="1" end="1"/>
                                            </p:txEl>
                                          </p:spTgt>
                                        </p:tgtEl>
                                      </p:cBhvr>
                                      <p:to x="100000" y="80000"/>
                                    </p:animScale>
                                    <p:animScale>
                                      <p:cBhvr>
                                        <p:cTn id="34" dur="166" decel="50000">
                                          <p:stCondLst>
                                            <p:cond delay="1338"/>
                                          </p:stCondLst>
                                        </p:cTn>
                                        <p:tgtEl>
                                          <p:spTgt spid="2">
                                            <p:txEl>
                                              <p:pRg st="1" end="1"/>
                                            </p:txEl>
                                          </p:spTgt>
                                        </p:tgtEl>
                                      </p:cBhvr>
                                      <p:to x="100000" y="100000"/>
                                    </p:animScale>
                                    <p:animScale>
                                      <p:cBhvr>
                                        <p:cTn id="35" dur="26">
                                          <p:stCondLst>
                                            <p:cond delay="1642"/>
                                          </p:stCondLst>
                                        </p:cTn>
                                        <p:tgtEl>
                                          <p:spTgt spid="2">
                                            <p:txEl>
                                              <p:pRg st="1" end="1"/>
                                            </p:txEl>
                                          </p:spTgt>
                                        </p:tgtEl>
                                      </p:cBhvr>
                                      <p:to x="100000" y="90000"/>
                                    </p:animScale>
                                    <p:animScale>
                                      <p:cBhvr>
                                        <p:cTn id="36" dur="166" decel="50000">
                                          <p:stCondLst>
                                            <p:cond delay="1668"/>
                                          </p:stCondLst>
                                        </p:cTn>
                                        <p:tgtEl>
                                          <p:spTgt spid="2">
                                            <p:txEl>
                                              <p:pRg st="1" end="1"/>
                                            </p:txEl>
                                          </p:spTgt>
                                        </p:tgtEl>
                                      </p:cBhvr>
                                      <p:to x="100000" y="100000"/>
                                    </p:animScale>
                                    <p:animScale>
                                      <p:cBhvr>
                                        <p:cTn id="37" dur="26">
                                          <p:stCondLst>
                                            <p:cond delay="1808"/>
                                          </p:stCondLst>
                                        </p:cTn>
                                        <p:tgtEl>
                                          <p:spTgt spid="2">
                                            <p:txEl>
                                              <p:pRg st="1" end="1"/>
                                            </p:txEl>
                                          </p:spTgt>
                                        </p:tgtEl>
                                      </p:cBhvr>
                                      <p:to x="100000" y="95000"/>
                                    </p:animScale>
                                    <p:animScale>
                                      <p:cBhvr>
                                        <p:cTn id="38" dur="166" decel="50000">
                                          <p:stCondLst>
                                            <p:cond delay="1834"/>
                                          </p:stCondLst>
                                        </p:cTn>
                                        <p:tgtEl>
                                          <p:spTgt spid="2">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ipe(down)">
                                      <p:cBhvr>
                                        <p:cTn id="43" dur="580">
                                          <p:stCondLst>
                                            <p:cond delay="0"/>
                                          </p:stCondLst>
                                        </p:cTn>
                                        <p:tgtEl>
                                          <p:spTgt spid="2">
                                            <p:txEl>
                                              <p:pRg st="2" end="2"/>
                                            </p:txEl>
                                          </p:spTgt>
                                        </p:tgtEl>
                                      </p:cBhvr>
                                    </p:animEffect>
                                    <p:anim calcmode="lin" valueType="num">
                                      <p:cBhvr>
                                        <p:cTn id="4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2" end="2"/>
                                            </p:txEl>
                                          </p:spTgt>
                                        </p:tgtEl>
                                      </p:cBhvr>
                                      <p:to x="100000" y="60000"/>
                                    </p:animScale>
                                    <p:animScale>
                                      <p:cBhvr>
                                        <p:cTn id="50" dur="166" decel="50000">
                                          <p:stCondLst>
                                            <p:cond delay="676"/>
                                          </p:stCondLst>
                                        </p:cTn>
                                        <p:tgtEl>
                                          <p:spTgt spid="2">
                                            <p:txEl>
                                              <p:pRg st="2" end="2"/>
                                            </p:txEl>
                                          </p:spTgt>
                                        </p:tgtEl>
                                      </p:cBhvr>
                                      <p:to x="100000" y="100000"/>
                                    </p:animScale>
                                    <p:animScale>
                                      <p:cBhvr>
                                        <p:cTn id="51" dur="26">
                                          <p:stCondLst>
                                            <p:cond delay="1312"/>
                                          </p:stCondLst>
                                        </p:cTn>
                                        <p:tgtEl>
                                          <p:spTgt spid="2">
                                            <p:txEl>
                                              <p:pRg st="2" end="2"/>
                                            </p:txEl>
                                          </p:spTgt>
                                        </p:tgtEl>
                                      </p:cBhvr>
                                      <p:to x="100000" y="80000"/>
                                    </p:animScale>
                                    <p:animScale>
                                      <p:cBhvr>
                                        <p:cTn id="52" dur="166" decel="50000">
                                          <p:stCondLst>
                                            <p:cond delay="1338"/>
                                          </p:stCondLst>
                                        </p:cTn>
                                        <p:tgtEl>
                                          <p:spTgt spid="2">
                                            <p:txEl>
                                              <p:pRg st="2" end="2"/>
                                            </p:txEl>
                                          </p:spTgt>
                                        </p:tgtEl>
                                      </p:cBhvr>
                                      <p:to x="100000" y="100000"/>
                                    </p:animScale>
                                    <p:animScale>
                                      <p:cBhvr>
                                        <p:cTn id="53" dur="26">
                                          <p:stCondLst>
                                            <p:cond delay="1642"/>
                                          </p:stCondLst>
                                        </p:cTn>
                                        <p:tgtEl>
                                          <p:spTgt spid="2">
                                            <p:txEl>
                                              <p:pRg st="2" end="2"/>
                                            </p:txEl>
                                          </p:spTgt>
                                        </p:tgtEl>
                                      </p:cBhvr>
                                      <p:to x="100000" y="90000"/>
                                    </p:animScale>
                                    <p:animScale>
                                      <p:cBhvr>
                                        <p:cTn id="54" dur="166" decel="50000">
                                          <p:stCondLst>
                                            <p:cond delay="1668"/>
                                          </p:stCondLst>
                                        </p:cTn>
                                        <p:tgtEl>
                                          <p:spTgt spid="2">
                                            <p:txEl>
                                              <p:pRg st="2" end="2"/>
                                            </p:txEl>
                                          </p:spTgt>
                                        </p:tgtEl>
                                      </p:cBhvr>
                                      <p:to x="100000" y="100000"/>
                                    </p:animScale>
                                    <p:animScale>
                                      <p:cBhvr>
                                        <p:cTn id="55" dur="26">
                                          <p:stCondLst>
                                            <p:cond delay="1808"/>
                                          </p:stCondLst>
                                        </p:cTn>
                                        <p:tgtEl>
                                          <p:spTgt spid="2">
                                            <p:txEl>
                                              <p:pRg st="2" end="2"/>
                                            </p:txEl>
                                          </p:spTgt>
                                        </p:tgtEl>
                                      </p:cBhvr>
                                      <p:to x="100000" y="95000"/>
                                    </p:animScale>
                                    <p:animScale>
                                      <p:cBhvr>
                                        <p:cTn id="56" dur="166" decel="50000">
                                          <p:stCondLst>
                                            <p:cond delay="1834"/>
                                          </p:stCondLst>
                                        </p:cTn>
                                        <p:tgtEl>
                                          <p:spTgt spid="2">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2">
                                            <p:txEl>
                                              <p:pRg st="3" end="3"/>
                                            </p:txEl>
                                          </p:spTgt>
                                        </p:tgtEl>
                                        <p:attrNameLst>
                                          <p:attrName>style.visibility</p:attrName>
                                        </p:attrNameLst>
                                      </p:cBhvr>
                                      <p:to>
                                        <p:strVal val="visible"/>
                                      </p:to>
                                    </p:set>
                                    <p:animEffect transition="in" filter="wipe(down)">
                                      <p:cBhvr>
                                        <p:cTn id="61" dur="580">
                                          <p:stCondLst>
                                            <p:cond delay="0"/>
                                          </p:stCondLst>
                                        </p:cTn>
                                        <p:tgtEl>
                                          <p:spTgt spid="2">
                                            <p:txEl>
                                              <p:pRg st="3" end="3"/>
                                            </p:txEl>
                                          </p:spTgt>
                                        </p:tgtEl>
                                      </p:cBhvr>
                                    </p:animEffect>
                                    <p:anim calcmode="lin" valueType="num">
                                      <p:cBhvr>
                                        <p:cTn id="62"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2">
                                            <p:txEl>
                                              <p:pRg st="3" end="3"/>
                                            </p:txEl>
                                          </p:spTgt>
                                        </p:tgtEl>
                                      </p:cBhvr>
                                      <p:to x="100000" y="60000"/>
                                    </p:animScale>
                                    <p:animScale>
                                      <p:cBhvr>
                                        <p:cTn id="68" dur="166" decel="50000">
                                          <p:stCondLst>
                                            <p:cond delay="676"/>
                                          </p:stCondLst>
                                        </p:cTn>
                                        <p:tgtEl>
                                          <p:spTgt spid="2">
                                            <p:txEl>
                                              <p:pRg st="3" end="3"/>
                                            </p:txEl>
                                          </p:spTgt>
                                        </p:tgtEl>
                                      </p:cBhvr>
                                      <p:to x="100000" y="100000"/>
                                    </p:animScale>
                                    <p:animScale>
                                      <p:cBhvr>
                                        <p:cTn id="69" dur="26">
                                          <p:stCondLst>
                                            <p:cond delay="1312"/>
                                          </p:stCondLst>
                                        </p:cTn>
                                        <p:tgtEl>
                                          <p:spTgt spid="2">
                                            <p:txEl>
                                              <p:pRg st="3" end="3"/>
                                            </p:txEl>
                                          </p:spTgt>
                                        </p:tgtEl>
                                      </p:cBhvr>
                                      <p:to x="100000" y="80000"/>
                                    </p:animScale>
                                    <p:animScale>
                                      <p:cBhvr>
                                        <p:cTn id="70" dur="166" decel="50000">
                                          <p:stCondLst>
                                            <p:cond delay="1338"/>
                                          </p:stCondLst>
                                        </p:cTn>
                                        <p:tgtEl>
                                          <p:spTgt spid="2">
                                            <p:txEl>
                                              <p:pRg st="3" end="3"/>
                                            </p:txEl>
                                          </p:spTgt>
                                        </p:tgtEl>
                                      </p:cBhvr>
                                      <p:to x="100000" y="100000"/>
                                    </p:animScale>
                                    <p:animScale>
                                      <p:cBhvr>
                                        <p:cTn id="71" dur="26">
                                          <p:stCondLst>
                                            <p:cond delay="1642"/>
                                          </p:stCondLst>
                                        </p:cTn>
                                        <p:tgtEl>
                                          <p:spTgt spid="2">
                                            <p:txEl>
                                              <p:pRg st="3" end="3"/>
                                            </p:txEl>
                                          </p:spTgt>
                                        </p:tgtEl>
                                      </p:cBhvr>
                                      <p:to x="100000" y="90000"/>
                                    </p:animScale>
                                    <p:animScale>
                                      <p:cBhvr>
                                        <p:cTn id="72" dur="166" decel="50000">
                                          <p:stCondLst>
                                            <p:cond delay="1668"/>
                                          </p:stCondLst>
                                        </p:cTn>
                                        <p:tgtEl>
                                          <p:spTgt spid="2">
                                            <p:txEl>
                                              <p:pRg st="3" end="3"/>
                                            </p:txEl>
                                          </p:spTgt>
                                        </p:tgtEl>
                                      </p:cBhvr>
                                      <p:to x="100000" y="100000"/>
                                    </p:animScale>
                                    <p:animScale>
                                      <p:cBhvr>
                                        <p:cTn id="73" dur="26">
                                          <p:stCondLst>
                                            <p:cond delay="1808"/>
                                          </p:stCondLst>
                                        </p:cTn>
                                        <p:tgtEl>
                                          <p:spTgt spid="2">
                                            <p:txEl>
                                              <p:pRg st="3" end="3"/>
                                            </p:txEl>
                                          </p:spTgt>
                                        </p:tgtEl>
                                      </p:cBhvr>
                                      <p:to x="100000" y="95000"/>
                                    </p:animScale>
                                    <p:animScale>
                                      <p:cBhvr>
                                        <p:cTn id="74" dur="166" decel="50000">
                                          <p:stCondLst>
                                            <p:cond delay="1834"/>
                                          </p:stCondLst>
                                        </p:cTn>
                                        <p:tgtEl>
                                          <p:spTgt spid="2">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2">
                                            <p:txEl>
                                              <p:pRg st="4" end="4"/>
                                            </p:txEl>
                                          </p:spTgt>
                                        </p:tgtEl>
                                        <p:attrNameLst>
                                          <p:attrName>style.visibility</p:attrName>
                                        </p:attrNameLst>
                                      </p:cBhvr>
                                      <p:to>
                                        <p:strVal val="visible"/>
                                      </p:to>
                                    </p:set>
                                    <p:animEffect transition="in" filter="wipe(down)">
                                      <p:cBhvr>
                                        <p:cTn id="79" dur="580">
                                          <p:stCondLst>
                                            <p:cond delay="0"/>
                                          </p:stCondLst>
                                        </p:cTn>
                                        <p:tgtEl>
                                          <p:spTgt spid="2">
                                            <p:txEl>
                                              <p:pRg st="4" end="4"/>
                                            </p:txEl>
                                          </p:spTgt>
                                        </p:tgtEl>
                                      </p:cBhvr>
                                    </p:animEffect>
                                    <p:anim calcmode="lin" valueType="num">
                                      <p:cBhvr>
                                        <p:cTn id="80"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2">
                                            <p:txEl>
                                              <p:pRg st="4" end="4"/>
                                            </p:txEl>
                                          </p:spTgt>
                                        </p:tgtEl>
                                      </p:cBhvr>
                                      <p:to x="100000" y="60000"/>
                                    </p:animScale>
                                    <p:animScale>
                                      <p:cBhvr>
                                        <p:cTn id="86" dur="166" decel="50000">
                                          <p:stCondLst>
                                            <p:cond delay="676"/>
                                          </p:stCondLst>
                                        </p:cTn>
                                        <p:tgtEl>
                                          <p:spTgt spid="2">
                                            <p:txEl>
                                              <p:pRg st="4" end="4"/>
                                            </p:txEl>
                                          </p:spTgt>
                                        </p:tgtEl>
                                      </p:cBhvr>
                                      <p:to x="100000" y="100000"/>
                                    </p:animScale>
                                    <p:animScale>
                                      <p:cBhvr>
                                        <p:cTn id="87" dur="26">
                                          <p:stCondLst>
                                            <p:cond delay="1312"/>
                                          </p:stCondLst>
                                        </p:cTn>
                                        <p:tgtEl>
                                          <p:spTgt spid="2">
                                            <p:txEl>
                                              <p:pRg st="4" end="4"/>
                                            </p:txEl>
                                          </p:spTgt>
                                        </p:tgtEl>
                                      </p:cBhvr>
                                      <p:to x="100000" y="80000"/>
                                    </p:animScale>
                                    <p:animScale>
                                      <p:cBhvr>
                                        <p:cTn id="88" dur="166" decel="50000">
                                          <p:stCondLst>
                                            <p:cond delay="1338"/>
                                          </p:stCondLst>
                                        </p:cTn>
                                        <p:tgtEl>
                                          <p:spTgt spid="2">
                                            <p:txEl>
                                              <p:pRg st="4" end="4"/>
                                            </p:txEl>
                                          </p:spTgt>
                                        </p:tgtEl>
                                      </p:cBhvr>
                                      <p:to x="100000" y="100000"/>
                                    </p:animScale>
                                    <p:animScale>
                                      <p:cBhvr>
                                        <p:cTn id="89" dur="26">
                                          <p:stCondLst>
                                            <p:cond delay="1642"/>
                                          </p:stCondLst>
                                        </p:cTn>
                                        <p:tgtEl>
                                          <p:spTgt spid="2">
                                            <p:txEl>
                                              <p:pRg st="4" end="4"/>
                                            </p:txEl>
                                          </p:spTgt>
                                        </p:tgtEl>
                                      </p:cBhvr>
                                      <p:to x="100000" y="90000"/>
                                    </p:animScale>
                                    <p:animScale>
                                      <p:cBhvr>
                                        <p:cTn id="90" dur="166" decel="50000">
                                          <p:stCondLst>
                                            <p:cond delay="1668"/>
                                          </p:stCondLst>
                                        </p:cTn>
                                        <p:tgtEl>
                                          <p:spTgt spid="2">
                                            <p:txEl>
                                              <p:pRg st="4" end="4"/>
                                            </p:txEl>
                                          </p:spTgt>
                                        </p:tgtEl>
                                      </p:cBhvr>
                                      <p:to x="100000" y="100000"/>
                                    </p:animScale>
                                    <p:animScale>
                                      <p:cBhvr>
                                        <p:cTn id="91" dur="26">
                                          <p:stCondLst>
                                            <p:cond delay="1808"/>
                                          </p:stCondLst>
                                        </p:cTn>
                                        <p:tgtEl>
                                          <p:spTgt spid="2">
                                            <p:txEl>
                                              <p:pRg st="4" end="4"/>
                                            </p:txEl>
                                          </p:spTgt>
                                        </p:tgtEl>
                                      </p:cBhvr>
                                      <p:to x="100000" y="95000"/>
                                    </p:animScale>
                                    <p:animScale>
                                      <p:cBhvr>
                                        <p:cTn id="92" dur="166" decel="50000">
                                          <p:stCondLst>
                                            <p:cond delay="1834"/>
                                          </p:stCondLst>
                                        </p:cTn>
                                        <p:tgtEl>
                                          <p:spTgt spid="2">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5122"/>
                                        </p:tgtEl>
                                        <p:attrNameLst>
                                          <p:attrName>style.visibility</p:attrName>
                                        </p:attrNameLst>
                                      </p:cBhvr>
                                      <p:to>
                                        <p:strVal val="visible"/>
                                      </p:to>
                                    </p:set>
                                    <p:animEffect transition="in" filter="wipe(down)">
                                      <p:cBhvr>
                                        <p:cTn id="97" dur="580">
                                          <p:stCondLst>
                                            <p:cond delay="0"/>
                                          </p:stCondLst>
                                        </p:cTn>
                                        <p:tgtEl>
                                          <p:spTgt spid="5122"/>
                                        </p:tgtEl>
                                      </p:cBhvr>
                                    </p:animEffect>
                                    <p:anim calcmode="lin" valueType="num">
                                      <p:cBhvr>
                                        <p:cTn id="98" dur="1822" tmFilter="0,0; 0.14,0.36; 0.43,0.73; 0.71,0.91; 1.0,1.0">
                                          <p:stCondLst>
                                            <p:cond delay="0"/>
                                          </p:stCondLst>
                                        </p:cTn>
                                        <p:tgtEl>
                                          <p:spTgt spid="5122"/>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5122"/>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5122"/>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5122"/>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5122"/>
                                        </p:tgtEl>
                                        <p:attrNameLst>
                                          <p:attrName>ppt_y</p:attrName>
                                        </p:attrNameLst>
                                      </p:cBhvr>
                                      <p:tavLst>
                                        <p:tav tm="0" fmla="#ppt_y-sin(pi*$)/81">
                                          <p:val>
                                            <p:fltVal val="0"/>
                                          </p:val>
                                        </p:tav>
                                        <p:tav tm="100000">
                                          <p:val>
                                            <p:fltVal val="1"/>
                                          </p:val>
                                        </p:tav>
                                      </p:tavLst>
                                    </p:anim>
                                    <p:animScale>
                                      <p:cBhvr>
                                        <p:cTn id="103" dur="26">
                                          <p:stCondLst>
                                            <p:cond delay="650"/>
                                          </p:stCondLst>
                                        </p:cTn>
                                        <p:tgtEl>
                                          <p:spTgt spid="5122"/>
                                        </p:tgtEl>
                                      </p:cBhvr>
                                      <p:to x="100000" y="60000"/>
                                    </p:animScale>
                                    <p:animScale>
                                      <p:cBhvr>
                                        <p:cTn id="104" dur="166" decel="50000">
                                          <p:stCondLst>
                                            <p:cond delay="676"/>
                                          </p:stCondLst>
                                        </p:cTn>
                                        <p:tgtEl>
                                          <p:spTgt spid="5122"/>
                                        </p:tgtEl>
                                      </p:cBhvr>
                                      <p:to x="100000" y="100000"/>
                                    </p:animScale>
                                    <p:animScale>
                                      <p:cBhvr>
                                        <p:cTn id="105" dur="26">
                                          <p:stCondLst>
                                            <p:cond delay="1312"/>
                                          </p:stCondLst>
                                        </p:cTn>
                                        <p:tgtEl>
                                          <p:spTgt spid="5122"/>
                                        </p:tgtEl>
                                      </p:cBhvr>
                                      <p:to x="100000" y="80000"/>
                                    </p:animScale>
                                    <p:animScale>
                                      <p:cBhvr>
                                        <p:cTn id="106" dur="166" decel="50000">
                                          <p:stCondLst>
                                            <p:cond delay="1338"/>
                                          </p:stCondLst>
                                        </p:cTn>
                                        <p:tgtEl>
                                          <p:spTgt spid="5122"/>
                                        </p:tgtEl>
                                      </p:cBhvr>
                                      <p:to x="100000" y="100000"/>
                                    </p:animScale>
                                    <p:animScale>
                                      <p:cBhvr>
                                        <p:cTn id="107" dur="26">
                                          <p:stCondLst>
                                            <p:cond delay="1642"/>
                                          </p:stCondLst>
                                        </p:cTn>
                                        <p:tgtEl>
                                          <p:spTgt spid="5122"/>
                                        </p:tgtEl>
                                      </p:cBhvr>
                                      <p:to x="100000" y="90000"/>
                                    </p:animScale>
                                    <p:animScale>
                                      <p:cBhvr>
                                        <p:cTn id="108" dur="166" decel="50000">
                                          <p:stCondLst>
                                            <p:cond delay="1668"/>
                                          </p:stCondLst>
                                        </p:cTn>
                                        <p:tgtEl>
                                          <p:spTgt spid="5122"/>
                                        </p:tgtEl>
                                      </p:cBhvr>
                                      <p:to x="100000" y="100000"/>
                                    </p:animScale>
                                    <p:animScale>
                                      <p:cBhvr>
                                        <p:cTn id="109" dur="26">
                                          <p:stCondLst>
                                            <p:cond delay="1808"/>
                                          </p:stCondLst>
                                        </p:cTn>
                                        <p:tgtEl>
                                          <p:spTgt spid="5122"/>
                                        </p:tgtEl>
                                      </p:cBhvr>
                                      <p:to x="100000" y="95000"/>
                                    </p:animScale>
                                    <p:animScale>
                                      <p:cBhvr>
                                        <p:cTn id="110" dur="166" decel="50000">
                                          <p:stCondLst>
                                            <p:cond delay="1834"/>
                                          </p:stCondLst>
                                        </p:cTn>
                                        <p:tgtEl>
                                          <p:spTgt spid="51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99247" y="1484785"/>
            <a:ext cx="7745505" cy="4641378"/>
          </a:xfrm>
        </p:spPr>
        <p:txBody>
          <a:bodyPr/>
          <a:lstStyle/>
          <a:p>
            <a:pPr algn="just">
              <a:buFont typeface="Wingdings" panose="05000000000000000000" pitchFamily="2" charset="2"/>
              <a:buChar char="§"/>
            </a:pPr>
            <a:r>
              <a:rPr lang="es-ES" dirty="0"/>
              <a:t>La etiología de la patología hemorroidal es multifactorial, proponiéndose varios </a:t>
            </a:r>
            <a:r>
              <a:rPr lang="es-ES" dirty="0" smtClean="0"/>
              <a:t>factores como </a:t>
            </a:r>
            <a:r>
              <a:rPr lang="es-ES" dirty="0"/>
              <a:t>causa de las mismas, sin que podamos aislar ninguno que sea la causa determinante. </a:t>
            </a:r>
            <a:endParaRPr lang="es-ES" dirty="0" smtClean="0"/>
          </a:p>
          <a:p>
            <a:pPr algn="just">
              <a:buFont typeface="Wingdings" panose="05000000000000000000" pitchFamily="2" charset="2"/>
              <a:buChar char="§"/>
            </a:pPr>
            <a:r>
              <a:rPr lang="es-ES" dirty="0" smtClean="0"/>
              <a:t>Entre estos </a:t>
            </a:r>
            <a:r>
              <a:rPr lang="es-ES" dirty="0"/>
              <a:t>factores encontramos</a:t>
            </a:r>
            <a:r>
              <a:rPr lang="es-ES" dirty="0" smtClean="0"/>
              <a:t>:</a:t>
            </a:r>
          </a:p>
          <a:p>
            <a:pPr algn="just">
              <a:buFont typeface="Wingdings" panose="05000000000000000000" pitchFamily="2" charset="2"/>
              <a:buChar char="§"/>
            </a:pPr>
            <a:r>
              <a:rPr lang="es-BO" dirty="0" smtClean="0"/>
              <a:t>•Un factor muy importante que es </a:t>
            </a:r>
            <a:r>
              <a:rPr lang="es-BO" dirty="0"/>
              <a:t>hereditario, ya que es frecuente encontrar familiares con una elevada prevalencia de esta patología.</a:t>
            </a:r>
          </a:p>
          <a:p>
            <a:pPr algn="just">
              <a:buFont typeface="Wingdings" panose="05000000000000000000" pitchFamily="2" charset="2"/>
              <a:buChar char="§"/>
            </a:pPr>
            <a:endParaRPr lang="es-ES" dirty="0"/>
          </a:p>
        </p:txBody>
      </p:sp>
      <p:sp>
        <p:nvSpPr>
          <p:cNvPr id="2" name="1 Título"/>
          <p:cNvSpPr>
            <a:spLocks noGrp="1"/>
          </p:cNvSpPr>
          <p:nvPr>
            <p:ph type="title"/>
          </p:nvPr>
        </p:nvSpPr>
        <p:spPr>
          <a:xfrm>
            <a:off x="688490" y="570156"/>
            <a:ext cx="7756263" cy="626596"/>
          </a:xfrm>
        </p:spPr>
        <p:txBody>
          <a:bodyPr/>
          <a:lstStyle/>
          <a:p>
            <a:r>
              <a:rPr lang="es-ES" b="1" dirty="0" smtClean="0"/>
              <a:t> </a:t>
            </a:r>
            <a:r>
              <a:rPr lang="es-ES" b="1" dirty="0"/>
              <a:t>ETIOLOGÍA.</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down)">
                                      <p:cBhvr>
                                        <p:cTn id="43" dur="580">
                                          <p:stCondLst>
                                            <p:cond delay="0"/>
                                          </p:stCondLst>
                                        </p:cTn>
                                        <p:tgtEl>
                                          <p:spTgt spid="3">
                                            <p:txEl>
                                              <p:pRg st="1" end="1"/>
                                            </p:txEl>
                                          </p:spTgt>
                                        </p:tgtEl>
                                      </p:cBhvr>
                                    </p:animEffect>
                                    <p:anim calcmode="lin" valueType="num">
                                      <p:cBhvr>
                                        <p:cTn id="4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1" end="1"/>
                                            </p:txEl>
                                          </p:spTgt>
                                        </p:tgtEl>
                                      </p:cBhvr>
                                      <p:to x="100000" y="60000"/>
                                    </p:animScale>
                                    <p:animScale>
                                      <p:cBhvr>
                                        <p:cTn id="50" dur="166" decel="50000">
                                          <p:stCondLst>
                                            <p:cond delay="676"/>
                                          </p:stCondLst>
                                        </p:cTn>
                                        <p:tgtEl>
                                          <p:spTgt spid="3">
                                            <p:txEl>
                                              <p:pRg st="1" end="1"/>
                                            </p:txEl>
                                          </p:spTgt>
                                        </p:tgtEl>
                                      </p:cBhvr>
                                      <p:to x="100000" y="100000"/>
                                    </p:animScale>
                                    <p:animScale>
                                      <p:cBhvr>
                                        <p:cTn id="51" dur="26">
                                          <p:stCondLst>
                                            <p:cond delay="1312"/>
                                          </p:stCondLst>
                                        </p:cTn>
                                        <p:tgtEl>
                                          <p:spTgt spid="3">
                                            <p:txEl>
                                              <p:pRg st="1" end="1"/>
                                            </p:txEl>
                                          </p:spTgt>
                                        </p:tgtEl>
                                      </p:cBhvr>
                                      <p:to x="100000" y="80000"/>
                                    </p:animScale>
                                    <p:animScale>
                                      <p:cBhvr>
                                        <p:cTn id="52" dur="166" decel="50000">
                                          <p:stCondLst>
                                            <p:cond delay="1338"/>
                                          </p:stCondLst>
                                        </p:cTn>
                                        <p:tgtEl>
                                          <p:spTgt spid="3">
                                            <p:txEl>
                                              <p:pRg st="1" end="1"/>
                                            </p:txEl>
                                          </p:spTgt>
                                        </p:tgtEl>
                                      </p:cBhvr>
                                      <p:to x="100000" y="100000"/>
                                    </p:animScale>
                                    <p:animScale>
                                      <p:cBhvr>
                                        <p:cTn id="53" dur="26">
                                          <p:stCondLst>
                                            <p:cond delay="1642"/>
                                          </p:stCondLst>
                                        </p:cTn>
                                        <p:tgtEl>
                                          <p:spTgt spid="3">
                                            <p:txEl>
                                              <p:pRg st="1" end="1"/>
                                            </p:txEl>
                                          </p:spTgt>
                                        </p:tgtEl>
                                      </p:cBhvr>
                                      <p:to x="100000" y="90000"/>
                                    </p:animScale>
                                    <p:animScale>
                                      <p:cBhvr>
                                        <p:cTn id="54" dur="166" decel="50000">
                                          <p:stCondLst>
                                            <p:cond delay="1668"/>
                                          </p:stCondLst>
                                        </p:cTn>
                                        <p:tgtEl>
                                          <p:spTgt spid="3">
                                            <p:txEl>
                                              <p:pRg st="1" end="1"/>
                                            </p:txEl>
                                          </p:spTgt>
                                        </p:tgtEl>
                                      </p:cBhvr>
                                      <p:to x="100000" y="100000"/>
                                    </p:animScale>
                                    <p:animScale>
                                      <p:cBhvr>
                                        <p:cTn id="55" dur="26">
                                          <p:stCondLst>
                                            <p:cond delay="1808"/>
                                          </p:stCondLst>
                                        </p:cTn>
                                        <p:tgtEl>
                                          <p:spTgt spid="3">
                                            <p:txEl>
                                              <p:pRg st="1" end="1"/>
                                            </p:txEl>
                                          </p:spTgt>
                                        </p:tgtEl>
                                      </p:cBhvr>
                                      <p:to x="100000" y="95000"/>
                                    </p:animScale>
                                    <p:animScale>
                                      <p:cBhvr>
                                        <p:cTn id="56" dur="166" decel="50000">
                                          <p:stCondLst>
                                            <p:cond delay="1834"/>
                                          </p:stCondLst>
                                        </p:cTn>
                                        <p:tgtEl>
                                          <p:spTgt spid="3">
                                            <p:txEl>
                                              <p:pRg st="1" end="1"/>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animEffect transition="in" filter="wipe(down)">
                                      <p:cBhvr>
                                        <p:cTn id="61" dur="580">
                                          <p:stCondLst>
                                            <p:cond delay="0"/>
                                          </p:stCondLst>
                                        </p:cTn>
                                        <p:tgtEl>
                                          <p:spTgt spid="3">
                                            <p:txEl>
                                              <p:pRg st="2" end="2"/>
                                            </p:txEl>
                                          </p:spTgt>
                                        </p:tgtEl>
                                      </p:cBhvr>
                                    </p:animEffect>
                                    <p:anim calcmode="lin" valueType="num">
                                      <p:cBhvr>
                                        <p:cTn id="6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2" end="2"/>
                                            </p:txEl>
                                          </p:spTgt>
                                        </p:tgtEl>
                                      </p:cBhvr>
                                      <p:to x="100000" y="60000"/>
                                    </p:animScale>
                                    <p:animScale>
                                      <p:cBhvr>
                                        <p:cTn id="68" dur="166" decel="50000">
                                          <p:stCondLst>
                                            <p:cond delay="676"/>
                                          </p:stCondLst>
                                        </p:cTn>
                                        <p:tgtEl>
                                          <p:spTgt spid="3">
                                            <p:txEl>
                                              <p:pRg st="2" end="2"/>
                                            </p:txEl>
                                          </p:spTgt>
                                        </p:tgtEl>
                                      </p:cBhvr>
                                      <p:to x="100000" y="100000"/>
                                    </p:animScale>
                                    <p:animScale>
                                      <p:cBhvr>
                                        <p:cTn id="69" dur="26">
                                          <p:stCondLst>
                                            <p:cond delay="1312"/>
                                          </p:stCondLst>
                                        </p:cTn>
                                        <p:tgtEl>
                                          <p:spTgt spid="3">
                                            <p:txEl>
                                              <p:pRg st="2" end="2"/>
                                            </p:txEl>
                                          </p:spTgt>
                                        </p:tgtEl>
                                      </p:cBhvr>
                                      <p:to x="100000" y="80000"/>
                                    </p:animScale>
                                    <p:animScale>
                                      <p:cBhvr>
                                        <p:cTn id="70" dur="166" decel="50000">
                                          <p:stCondLst>
                                            <p:cond delay="1338"/>
                                          </p:stCondLst>
                                        </p:cTn>
                                        <p:tgtEl>
                                          <p:spTgt spid="3">
                                            <p:txEl>
                                              <p:pRg st="2" end="2"/>
                                            </p:txEl>
                                          </p:spTgt>
                                        </p:tgtEl>
                                      </p:cBhvr>
                                      <p:to x="100000" y="100000"/>
                                    </p:animScale>
                                    <p:animScale>
                                      <p:cBhvr>
                                        <p:cTn id="71" dur="26">
                                          <p:stCondLst>
                                            <p:cond delay="1642"/>
                                          </p:stCondLst>
                                        </p:cTn>
                                        <p:tgtEl>
                                          <p:spTgt spid="3">
                                            <p:txEl>
                                              <p:pRg st="2" end="2"/>
                                            </p:txEl>
                                          </p:spTgt>
                                        </p:tgtEl>
                                      </p:cBhvr>
                                      <p:to x="100000" y="90000"/>
                                    </p:animScale>
                                    <p:animScale>
                                      <p:cBhvr>
                                        <p:cTn id="72" dur="166" decel="50000">
                                          <p:stCondLst>
                                            <p:cond delay="1668"/>
                                          </p:stCondLst>
                                        </p:cTn>
                                        <p:tgtEl>
                                          <p:spTgt spid="3">
                                            <p:txEl>
                                              <p:pRg st="2" end="2"/>
                                            </p:txEl>
                                          </p:spTgt>
                                        </p:tgtEl>
                                      </p:cBhvr>
                                      <p:to x="100000" y="100000"/>
                                    </p:animScale>
                                    <p:animScale>
                                      <p:cBhvr>
                                        <p:cTn id="73" dur="26">
                                          <p:stCondLst>
                                            <p:cond delay="1808"/>
                                          </p:stCondLst>
                                        </p:cTn>
                                        <p:tgtEl>
                                          <p:spTgt spid="3">
                                            <p:txEl>
                                              <p:pRg st="2" end="2"/>
                                            </p:txEl>
                                          </p:spTgt>
                                        </p:tgtEl>
                                      </p:cBhvr>
                                      <p:to x="100000" y="95000"/>
                                    </p:animScale>
                                    <p:animScale>
                                      <p:cBhvr>
                                        <p:cTn id="74"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6"/>
            <a:ext cx="8229600" cy="5073427"/>
          </a:xfrm>
        </p:spPr>
        <p:txBody>
          <a:bodyPr>
            <a:normAutofit/>
          </a:bodyPr>
          <a:lstStyle/>
          <a:p>
            <a:pPr algn="just">
              <a:buNone/>
            </a:pPr>
            <a:r>
              <a:rPr lang="es-ES" dirty="0" smtClean="0"/>
              <a:t>• </a:t>
            </a:r>
            <a:r>
              <a:rPr lang="es-ES" dirty="0"/>
              <a:t>Determinadas actitudes tales como la bipedestación mantenida durante largos periodos </a:t>
            </a:r>
            <a:r>
              <a:rPr lang="es-ES" dirty="0" smtClean="0"/>
              <a:t>de tiempo </a:t>
            </a:r>
            <a:r>
              <a:rPr lang="es-ES" dirty="0"/>
              <a:t>( </a:t>
            </a:r>
            <a:r>
              <a:rPr lang="es-ES" dirty="0" smtClean="0"/>
              <a:t>cirujanos)enfermeras instrumentistas, </a:t>
            </a:r>
            <a:r>
              <a:rPr lang="es-ES" dirty="0"/>
              <a:t>esfuerzos físicos intensos, trabajos sedentarios (</a:t>
            </a:r>
            <a:r>
              <a:rPr lang="es-ES" dirty="0" smtClean="0"/>
              <a:t>oficinistas, taxistas</a:t>
            </a:r>
            <a:r>
              <a:rPr lang="es-ES" dirty="0"/>
              <a:t>,...)</a:t>
            </a:r>
          </a:p>
          <a:p>
            <a:pPr algn="just">
              <a:buNone/>
            </a:pPr>
            <a:r>
              <a:rPr lang="es-ES" dirty="0"/>
              <a:t>• Hábito estreñido en personas con dieta pobre en fibra. </a:t>
            </a:r>
          </a:p>
          <a:p>
            <a:pPr algn="just">
              <a:buNone/>
            </a:pPr>
            <a:r>
              <a:rPr lang="es-ES" dirty="0"/>
              <a:t>• Pérdida del tono de la musculatura esfinteriana. En aquellos enfermos que han </a:t>
            </a:r>
            <a:r>
              <a:rPr lang="es-ES" dirty="0" smtClean="0"/>
              <a:t>sido intervenidos </a:t>
            </a:r>
            <a:r>
              <a:rPr lang="es-ES" dirty="0"/>
              <a:t>por fisuras anales con la sección de una parte importante de los esfínteres </a:t>
            </a:r>
            <a:r>
              <a:rPr lang="es-ES" dirty="0" smtClean="0"/>
              <a:t>en una </a:t>
            </a:r>
            <a:r>
              <a:rPr lang="es-ES" dirty="0"/>
              <a:t>cara del canal anal, se produce con frecuencia una tumefacción hemorroidal del </a:t>
            </a:r>
            <a:r>
              <a:rPr lang="es-ES" dirty="0" smtClean="0"/>
              <a:t>lado  contra lateral </a:t>
            </a:r>
            <a:r>
              <a:rPr lang="es-ES" dirty="0"/>
              <a:t>por perderse su soporte natural.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r>
              <a:rPr lang="es-ES" dirty="0"/>
              <a:t>Para el estudio de la sintomatología de la patología hemorroidal podemos separar </a:t>
            </a:r>
            <a:r>
              <a:rPr lang="es-ES" dirty="0" smtClean="0"/>
              <a:t>la producida </a:t>
            </a:r>
            <a:r>
              <a:rPr lang="es-ES" dirty="0"/>
              <a:t>por las hemorroides internas de la producida por las hemorroides externas. </a:t>
            </a:r>
            <a:endParaRPr lang="es-ES" dirty="0" smtClean="0"/>
          </a:p>
          <a:p>
            <a:pPr algn="just"/>
            <a:r>
              <a:rPr lang="es-ES" dirty="0" smtClean="0"/>
              <a:t>Aunque nos parece </a:t>
            </a:r>
            <a:r>
              <a:rPr lang="es-ES" dirty="0"/>
              <a:t>más útil distinguir la sintomatología aguda de la crónica.</a:t>
            </a:r>
          </a:p>
        </p:txBody>
      </p:sp>
      <p:sp>
        <p:nvSpPr>
          <p:cNvPr id="2" name="1 Título"/>
          <p:cNvSpPr>
            <a:spLocks noGrp="1"/>
          </p:cNvSpPr>
          <p:nvPr>
            <p:ph type="title"/>
          </p:nvPr>
        </p:nvSpPr>
        <p:spPr/>
        <p:txBody>
          <a:bodyPr/>
          <a:lstStyle/>
          <a:p>
            <a:r>
              <a:rPr lang="es-ES" b="1" dirty="0" smtClean="0"/>
              <a:t> </a:t>
            </a:r>
            <a:r>
              <a:rPr lang="es-ES" b="1" dirty="0"/>
              <a:t>CLÍNICA.</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down)">
                                      <p:cBhvr>
                                        <p:cTn id="43" dur="580">
                                          <p:stCondLst>
                                            <p:cond delay="0"/>
                                          </p:stCondLst>
                                        </p:cTn>
                                        <p:tgtEl>
                                          <p:spTgt spid="3">
                                            <p:txEl>
                                              <p:pRg st="1" end="1"/>
                                            </p:txEl>
                                          </p:spTgt>
                                        </p:tgtEl>
                                      </p:cBhvr>
                                    </p:animEffect>
                                    <p:anim calcmode="lin" valueType="num">
                                      <p:cBhvr>
                                        <p:cTn id="4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1" end="1"/>
                                            </p:txEl>
                                          </p:spTgt>
                                        </p:tgtEl>
                                      </p:cBhvr>
                                      <p:to x="100000" y="60000"/>
                                    </p:animScale>
                                    <p:animScale>
                                      <p:cBhvr>
                                        <p:cTn id="50" dur="166" decel="50000">
                                          <p:stCondLst>
                                            <p:cond delay="676"/>
                                          </p:stCondLst>
                                        </p:cTn>
                                        <p:tgtEl>
                                          <p:spTgt spid="3">
                                            <p:txEl>
                                              <p:pRg st="1" end="1"/>
                                            </p:txEl>
                                          </p:spTgt>
                                        </p:tgtEl>
                                      </p:cBhvr>
                                      <p:to x="100000" y="100000"/>
                                    </p:animScale>
                                    <p:animScale>
                                      <p:cBhvr>
                                        <p:cTn id="51" dur="26">
                                          <p:stCondLst>
                                            <p:cond delay="1312"/>
                                          </p:stCondLst>
                                        </p:cTn>
                                        <p:tgtEl>
                                          <p:spTgt spid="3">
                                            <p:txEl>
                                              <p:pRg st="1" end="1"/>
                                            </p:txEl>
                                          </p:spTgt>
                                        </p:tgtEl>
                                      </p:cBhvr>
                                      <p:to x="100000" y="80000"/>
                                    </p:animScale>
                                    <p:animScale>
                                      <p:cBhvr>
                                        <p:cTn id="52" dur="166" decel="50000">
                                          <p:stCondLst>
                                            <p:cond delay="1338"/>
                                          </p:stCondLst>
                                        </p:cTn>
                                        <p:tgtEl>
                                          <p:spTgt spid="3">
                                            <p:txEl>
                                              <p:pRg st="1" end="1"/>
                                            </p:txEl>
                                          </p:spTgt>
                                        </p:tgtEl>
                                      </p:cBhvr>
                                      <p:to x="100000" y="100000"/>
                                    </p:animScale>
                                    <p:animScale>
                                      <p:cBhvr>
                                        <p:cTn id="53" dur="26">
                                          <p:stCondLst>
                                            <p:cond delay="1642"/>
                                          </p:stCondLst>
                                        </p:cTn>
                                        <p:tgtEl>
                                          <p:spTgt spid="3">
                                            <p:txEl>
                                              <p:pRg st="1" end="1"/>
                                            </p:txEl>
                                          </p:spTgt>
                                        </p:tgtEl>
                                      </p:cBhvr>
                                      <p:to x="100000" y="90000"/>
                                    </p:animScale>
                                    <p:animScale>
                                      <p:cBhvr>
                                        <p:cTn id="54" dur="166" decel="50000">
                                          <p:stCondLst>
                                            <p:cond delay="1668"/>
                                          </p:stCondLst>
                                        </p:cTn>
                                        <p:tgtEl>
                                          <p:spTgt spid="3">
                                            <p:txEl>
                                              <p:pRg st="1" end="1"/>
                                            </p:txEl>
                                          </p:spTgt>
                                        </p:tgtEl>
                                      </p:cBhvr>
                                      <p:to x="100000" y="100000"/>
                                    </p:animScale>
                                    <p:animScale>
                                      <p:cBhvr>
                                        <p:cTn id="55" dur="26">
                                          <p:stCondLst>
                                            <p:cond delay="1808"/>
                                          </p:stCondLst>
                                        </p:cTn>
                                        <p:tgtEl>
                                          <p:spTgt spid="3">
                                            <p:txEl>
                                              <p:pRg st="1" end="1"/>
                                            </p:txEl>
                                          </p:spTgt>
                                        </p:tgtEl>
                                      </p:cBhvr>
                                      <p:to x="100000" y="95000"/>
                                    </p:animScale>
                                    <p:animScale>
                                      <p:cBhvr>
                                        <p:cTn id="56"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28671"/>
            <a:ext cx="8229600" cy="3652457"/>
          </a:xfrm>
        </p:spPr>
        <p:txBody>
          <a:bodyPr>
            <a:normAutofit fontScale="70000" lnSpcReduction="20000"/>
          </a:bodyPr>
          <a:lstStyle/>
          <a:p>
            <a:pPr algn="just"/>
            <a:r>
              <a:rPr lang="es-ES" dirty="0"/>
              <a:t>El síntoma más frecuente es sin duda la rectorragía, de sangre roja que mancha el papel </a:t>
            </a:r>
            <a:r>
              <a:rPr lang="es-ES" dirty="0" smtClean="0"/>
              <a:t>o riega </a:t>
            </a:r>
            <a:r>
              <a:rPr lang="es-ES" dirty="0"/>
              <a:t>la deposición. En ocasiones este sangrado crónico puede ser causa de anemia crónica.</a:t>
            </a:r>
          </a:p>
          <a:p>
            <a:pPr algn="just"/>
            <a:r>
              <a:rPr lang="es-ES" dirty="0"/>
              <a:t>El segundo síntoma en el orden de frecuencia es el prolapso, que va aumentando cada </a:t>
            </a:r>
            <a:r>
              <a:rPr lang="es-ES" dirty="0" smtClean="0"/>
              <a:t>vez más </a:t>
            </a:r>
            <a:r>
              <a:rPr lang="es-ES" dirty="0"/>
              <a:t>hasta hacerse en ocasiones de grado IV, es decir irreductible.</a:t>
            </a:r>
          </a:p>
          <a:p>
            <a:pPr algn="just"/>
            <a:r>
              <a:rPr lang="es-ES" dirty="0"/>
              <a:t>Otros síntomas crónicos son el prurito, una sensación de disconfort y el escape </a:t>
            </a:r>
            <a:r>
              <a:rPr lang="es-ES" dirty="0" smtClean="0"/>
              <a:t>mucoso.</a:t>
            </a:r>
          </a:p>
          <a:p>
            <a:pPr algn="just"/>
            <a:r>
              <a:rPr lang="es-ES" dirty="0" smtClean="0"/>
              <a:t>El </a:t>
            </a:r>
            <a:r>
              <a:rPr lang="es-ES" dirty="0"/>
              <a:t>hecho de que la sangre procedente de las hemorroides sea de un color rojo intenso </a:t>
            </a:r>
            <a:r>
              <a:rPr lang="es-ES" dirty="0" smtClean="0"/>
              <a:t>brillante hizo </a:t>
            </a:r>
            <a:r>
              <a:rPr lang="es-ES" dirty="0"/>
              <a:t>pensar a Stelzner en 1958 que esta sangre tendría un componente arterial más </a:t>
            </a:r>
            <a:r>
              <a:rPr lang="es-ES" dirty="0" smtClean="0"/>
              <a:t>importante que </a:t>
            </a:r>
            <a:r>
              <a:rPr lang="es-ES" dirty="0"/>
              <a:t>venoso, esto se explicaría por la existencia de comunicaciones arteriovenosas en el </a:t>
            </a:r>
            <a:r>
              <a:rPr lang="es-ES" dirty="0" smtClean="0"/>
              <a:t>cuerpo cavernoso </a:t>
            </a:r>
            <a:r>
              <a:rPr lang="es-ES" dirty="0"/>
              <a:t>del recto.</a:t>
            </a:r>
          </a:p>
          <a:p>
            <a:pPr algn="just"/>
            <a:r>
              <a:rPr lang="es-ES" dirty="0"/>
              <a:t>El dolor no suele ser por si sólo un síntoma de hemorroides por lo que su presencia </a:t>
            </a:r>
            <a:r>
              <a:rPr lang="es-ES" dirty="0" smtClean="0"/>
              <a:t>nos obliga </a:t>
            </a:r>
            <a:r>
              <a:rPr lang="es-ES" dirty="0"/>
              <a:t>a descartar otras patologías tales como el absceso perianal o la fisura anal.</a:t>
            </a:r>
          </a:p>
        </p:txBody>
      </p:sp>
      <p:sp>
        <p:nvSpPr>
          <p:cNvPr id="2" name="1 Título"/>
          <p:cNvSpPr>
            <a:spLocks noGrp="1"/>
          </p:cNvSpPr>
          <p:nvPr>
            <p:ph type="title"/>
          </p:nvPr>
        </p:nvSpPr>
        <p:spPr>
          <a:xfrm>
            <a:off x="457200" y="274638"/>
            <a:ext cx="8229600" cy="582594"/>
          </a:xfrm>
        </p:spPr>
        <p:txBody>
          <a:bodyPr>
            <a:normAutofit/>
          </a:bodyPr>
          <a:lstStyle/>
          <a:p>
            <a:r>
              <a:rPr lang="es-ES" sz="2000" dirty="0" smtClean="0"/>
              <a:t> SÍNTOMAS CRÓNICOS</a:t>
            </a:r>
            <a:endParaRPr lang="es-E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down)">
                                      <p:cBhvr>
                                        <p:cTn id="43" dur="580">
                                          <p:stCondLst>
                                            <p:cond delay="0"/>
                                          </p:stCondLst>
                                        </p:cTn>
                                        <p:tgtEl>
                                          <p:spTgt spid="3">
                                            <p:txEl>
                                              <p:pRg st="1" end="1"/>
                                            </p:txEl>
                                          </p:spTgt>
                                        </p:tgtEl>
                                      </p:cBhvr>
                                    </p:animEffect>
                                    <p:anim calcmode="lin" valueType="num">
                                      <p:cBhvr>
                                        <p:cTn id="4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1" end="1"/>
                                            </p:txEl>
                                          </p:spTgt>
                                        </p:tgtEl>
                                      </p:cBhvr>
                                      <p:to x="100000" y="60000"/>
                                    </p:animScale>
                                    <p:animScale>
                                      <p:cBhvr>
                                        <p:cTn id="50" dur="166" decel="50000">
                                          <p:stCondLst>
                                            <p:cond delay="676"/>
                                          </p:stCondLst>
                                        </p:cTn>
                                        <p:tgtEl>
                                          <p:spTgt spid="3">
                                            <p:txEl>
                                              <p:pRg st="1" end="1"/>
                                            </p:txEl>
                                          </p:spTgt>
                                        </p:tgtEl>
                                      </p:cBhvr>
                                      <p:to x="100000" y="100000"/>
                                    </p:animScale>
                                    <p:animScale>
                                      <p:cBhvr>
                                        <p:cTn id="51" dur="26">
                                          <p:stCondLst>
                                            <p:cond delay="1312"/>
                                          </p:stCondLst>
                                        </p:cTn>
                                        <p:tgtEl>
                                          <p:spTgt spid="3">
                                            <p:txEl>
                                              <p:pRg st="1" end="1"/>
                                            </p:txEl>
                                          </p:spTgt>
                                        </p:tgtEl>
                                      </p:cBhvr>
                                      <p:to x="100000" y="80000"/>
                                    </p:animScale>
                                    <p:animScale>
                                      <p:cBhvr>
                                        <p:cTn id="52" dur="166" decel="50000">
                                          <p:stCondLst>
                                            <p:cond delay="1338"/>
                                          </p:stCondLst>
                                        </p:cTn>
                                        <p:tgtEl>
                                          <p:spTgt spid="3">
                                            <p:txEl>
                                              <p:pRg st="1" end="1"/>
                                            </p:txEl>
                                          </p:spTgt>
                                        </p:tgtEl>
                                      </p:cBhvr>
                                      <p:to x="100000" y="100000"/>
                                    </p:animScale>
                                    <p:animScale>
                                      <p:cBhvr>
                                        <p:cTn id="53" dur="26">
                                          <p:stCondLst>
                                            <p:cond delay="1642"/>
                                          </p:stCondLst>
                                        </p:cTn>
                                        <p:tgtEl>
                                          <p:spTgt spid="3">
                                            <p:txEl>
                                              <p:pRg st="1" end="1"/>
                                            </p:txEl>
                                          </p:spTgt>
                                        </p:tgtEl>
                                      </p:cBhvr>
                                      <p:to x="100000" y="90000"/>
                                    </p:animScale>
                                    <p:animScale>
                                      <p:cBhvr>
                                        <p:cTn id="54" dur="166" decel="50000">
                                          <p:stCondLst>
                                            <p:cond delay="1668"/>
                                          </p:stCondLst>
                                        </p:cTn>
                                        <p:tgtEl>
                                          <p:spTgt spid="3">
                                            <p:txEl>
                                              <p:pRg st="1" end="1"/>
                                            </p:txEl>
                                          </p:spTgt>
                                        </p:tgtEl>
                                      </p:cBhvr>
                                      <p:to x="100000" y="100000"/>
                                    </p:animScale>
                                    <p:animScale>
                                      <p:cBhvr>
                                        <p:cTn id="55" dur="26">
                                          <p:stCondLst>
                                            <p:cond delay="1808"/>
                                          </p:stCondLst>
                                        </p:cTn>
                                        <p:tgtEl>
                                          <p:spTgt spid="3">
                                            <p:txEl>
                                              <p:pRg st="1" end="1"/>
                                            </p:txEl>
                                          </p:spTgt>
                                        </p:tgtEl>
                                      </p:cBhvr>
                                      <p:to x="100000" y="95000"/>
                                    </p:animScale>
                                    <p:animScale>
                                      <p:cBhvr>
                                        <p:cTn id="56" dur="166" decel="50000">
                                          <p:stCondLst>
                                            <p:cond delay="1834"/>
                                          </p:stCondLst>
                                        </p:cTn>
                                        <p:tgtEl>
                                          <p:spTgt spid="3">
                                            <p:txEl>
                                              <p:pRg st="1" end="1"/>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animEffect transition="in" filter="wipe(down)">
                                      <p:cBhvr>
                                        <p:cTn id="61" dur="580">
                                          <p:stCondLst>
                                            <p:cond delay="0"/>
                                          </p:stCondLst>
                                        </p:cTn>
                                        <p:tgtEl>
                                          <p:spTgt spid="3">
                                            <p:txEl>
                                              <p:pRg st="2" end="2"/>
                                            </p:txEl>
                                          </p:spTgt>
                                        </p:tgtEl>
                                      </p:cBhvr>
                                    </p:animEffect>
                                    <p:anim calcmode="lin" valueType="num">
                                      <p:cBhvr>
                                        <p:cTn id="6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2" end="2"/>
                                            </p:txEl>
                                          </p:spTgt>
                                        </p:tgtEl>
                                      </p:cBhvr>
                                      <p:to x="100000" y="60000"/>
                                    </p:animScale>
                                    <p:animScale>
                                      <p:cBhvr>
                                        <p:cTn id="68" dur="166" decel="50000">
                                          <p:stCondLst>
                                            <p:cond delay="676"/>
                                          </p:stCondLst>
                                        </p:cTn>
                                        <p:tgtEl>
                                          <p:spTgt spid="3">
                                            <p:txEl>
                                              <p:pRg st="2" end="2"/>
                                            </p:txEl>
                                          </p:spTgt>
                                        </p:tgtEl>
                                      </p:cBhvr>
                                      <p:to x="100000" y="100000"/>
                                    </p:animScale>
                                    <p:animScale>
                                      <p:cBhvr>
                                        <p:cTn id="69" dur="26">
                                          <p:stCondLst>
                                            <p:cond delay="1312"/>
                                          </p:stCondLst>
                                        </p:cTn>
                                        <p:tgtEl>
                                          <p:spTgt spid="3">
                                            <p:txEl>
                                              <p:pRg st="2" end="2"/>
                                            </p:txEl>
                                          </p:spTgt>
                                        </p:tgtEl>
                                      </p:cBhvr>
                                      <p:to x="100000" y="80000"/>
                                    </p:animScale>
                                    <p:animScale>
                                      <p:cBhvr>
                                        <p:cTn id="70" dur="166" decel="50000">
                                          <p:stCondLst>
                                            <p:cond delay="1338"/>
                                          </p:stCondLst>
                                        </p:cTn>
                                        <p:tgtEl>
                                          <p:spTgt spid="3">
                                            <p:txEl>
                                              <p:pRg st="2" end="2"/>
                                            </p:txEl>
                                          </p:spTgt>
                                        </p:tgtEl>
                                      </p:cBhvr>
                                      <p:to x="100000" y="100000"/>
                                    </p:animScale>
                                    <p:animScale>
                                      <p:cBhvr>
                                        <p:cTn id="71" dur="26">
                                          <p:stCondLst>
                                            <p:cond delay="1642"/>
                                          </p:stCondLst>
                                        </p:cTn>
                                        <p:tgtEl>
                                          <p:spTgt spid="3">
                                            <p:txEl>
                                              <p:pRg st="2" end="2"/>
                                            </p:txEl>
                                          </p:spTgt>
                                        </p:tgtEl>
                                      </p:cBhvr>
                                      <p:to x="100000" y="90000"/>
                                    </p:animScale>
                                    <p:animScale>
                                      <p:cBhvr>
                                        <p:cTn id="72" dur="166" decel="50000">
                                          <p:stCondLst>
                                            <p:cond delay="1668"/>
                                          </p:stCondLst>
                                        </p:cTn>
                                        <p:tgtEl>
                                          <p:spTgt spid="3">
                                            <p:txEl>
                                              <p:pRg st="2" end="2"/>
                                            </p:txEl>
                                          </p:spTgt>
                                        </p:tgtEl>
                                      </p:cBhvr>
                                      <p:to x="100000" y="100000"/>
                                    </p:animScale>
                                    <p:animScale>
                                      <p:cBhvr>
                                        <p:cTn id="73" dur="26">
                                          <p:stCondLst>
                                            <p:cond delay="1808"/>
                                          </p:stCondLst>
                                        </p:cTn>
                                        <p:tgtEl>
                                          <p:spTgt spid="3">
                                            <p:txEl>
                                              <p:pRg st="2" end="2"/>
                                            </p:txEl>
                                          </p:spTgt>
                                        </p:tgtEl>
                                      </p:cBhvr>
                                      <p:to x="100000" y="95000"/>
                                    </p:animScale>
                                    <p:animScale>
                                      <p:cBhvr>
                                        <p:cTn id="74" dur="166" decel="50000">
                                          <p:stCondLst>
                                            <p:cond delay="1834"/>
                                          </p:stCondLst>
                                        </p:cTn>
                                        <p:tgtEl>
                                          <p:spTgt spid="3">
                                            <p:txEl>
                                              <p:pRg st="2" end="2"/>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3" end="3"/>
                                            </p:txEl>
                                          </p:spTgt>
                                        </p:tgtEl>
                                        <p:attrNameLst>
                                          <p:attrName>style.visibility</p:attrName>
                                        </p:attrNameLst>
                                      </p:cBhvr>
                                      <p:to>
                                        <p:strVal val="visible"/>
                                      </p:to>
                                    </p:set>
                                    <p:animEffect transition="in" filter="wipe(down)">
                                      <p:cBhvr>
                                        <p:cTn id="79" dur="580">
                                          <p:stCondLst>
                                            <p:cond delay="0"/>
                                          </p:stCondLst>
                                        </p:cTn>
                                        <p:tgtEl>
                                          <p:spTgt spid="3">
                                            <p:txEl>
                                              <p:pRg st="3" end="3"/>
                                            </p:txEl>
                                          </p:spTgt>
                                        </p:tgtEl>
                                      </p:cBhvr>
                                    </p:animEffect>
                                    <p:anim calcmode="lin" valueType="num">
                                      <p:cBhvr>
                                        <p:cTn id="8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3" end="3"/>
                                            </p:txEl>
                                          </p:spTgt>
                                        </p:tgtEl>
                                      </p:cBhvr>
                                      <p:to x="100000" y="60000"/>
                                    </p:animScale>
                                    <p:animScale>
                                      <p:cBhvr>
                                        <p:cTn id="86" dur="166" decel="50000">
                                          <p:stCondLst>
                                            <p:cond delay="676"/>
                                          </p:stCondLst>
                                        </p:cTn>
                                        <p:tgtEl>
                                          <p:spTgt spid="3">
                                            <p:txEl>
                                              <p:pRg st="3" end="3"/>
                                            </p:txEl>
                                          </p:spTgt>
                                        </p:tgtEl>
                                      </p:cBhvr>
                                      <p:to x="100000" y="100000"/>
                                    </p:animScale>
                                    <p:animScale>
                                      <p:cBhvr>
                                        <p:cTn id="87" dur="26">
                                          <p:stCondLst>
                                            <p:cond delay="1312"/>
                                          </p:stCondLst>
                                        </p:cTn>
                                        <p:tgtEl>
                                          <p:spTgt spid="3">
                                            <p:txEl>
                                              <p:pRg st="3" end="3"/>
                                            </p:txEl>
                                          </p:spTgt>
                                        </p:tgtEl>
                                      </p:cBhvr>
                                      <p:to x="100000" y="80000"/>
                                    </p:animScale>
                                    <p:animScale>
                                      <p:cBhvr>
                                        <p:cTn id="88" dur="166" decel="50000">
                                          <p:stCondLst>
                                            <p:cond delay="1338"/>
                                          </p:stCondLst>
                                        </p:cTn>
                                        <p:tgtEl>
                                          <p:spTgt spid="3">
                                            <p:txEl>
                                              <p:pRg st="3" end="3"/>
                                            </p:txEl>
                                          </p:spTgt>
                                        </p:tgtEl>
                                      </p:cBhvr>
                                      <p:to x="100000" y="100000"/>
                                    </p:animScale>
                                    <p:animScale>
                                      <p:cBhvr>
                                        <p:cTn id="89" dur="26">
                                          <p:stCondLst>
                                            <p:cond delay="1642"/>
                                          </p:stCondLst>
                                        </p:cTn>
                                        <p:tgtEl>
                                          <p:spTgt spid="3">
                                            <p:txEl>
                                              <p:pRg st="3" end="3"/>
                                            </p:txEl>
                                          </p:spTgt>
                                        </p:tgtEl>
                                      </p:cBhvr>
                                      <p:to x="100000" y="90000"/>
                                    </p:animScale>
                                    <p:animScale>
                                      <p:cBhvr>
                                        <p:cTn id="90" dur="166" decel="50000">
                                          <p:stCondLst>
                                            <p:cond delay="1668"/>
                                          </p:stCondLst>
                                        </p:cTn>
                                        <p:tgtEl>
                                          <p:spTgt spid="3">
                                            <p:txEl>
                                              <p:pRg st="3" end="3"/>
                                            </p:txEl>
                                          </p:spTgt>
                                        </p:tgtEl>
                                      </p:cBhvr>
                                      <p:to x="100000" y="100000"/>
                                    </p:animScale>
                                    <p:animScale>
                                      <p:cBhvr>
                                        <p:cTn id="91" dur="26">
                                          <p:stCondLst>
                                            <p:cond delay="1808"/>
                                          </p:stCondLst>
                                        </p:cTn>
                                        <p:tgtEl>
                                          <p:spTgt spid="3">
                                            <p:txEl>
                                              <p:pRg st="3" end="3"/>
                                            </p:txEl>
                                          </p:spTgt>
                                        </p:tgtEl>
                                      </p:cBhvr>
                                      <p:to x="100000" y="95000"/>
                                    </p:animScale>
                                    <p:animScale>
                                      <p:cBhvr>
                                        <p:cTn id="92" dur="166" decel="50000">
                                          <p:stCondLst>
                                            <p:cond delay="1834"/>
                                          </p:stCondLst>
                                        </p:cTn>
                                        <p:tgtEl>
                                          <p:spTgt spid="3">
                                            <p:txEl>
                                              <p:pRg st="3" end="3"/>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4" end="4"/>
                                            </p:txEl>
                                          </p:spTgt>
                                        </p:tgtEl>
                                        <p:attrNameLst>
                                          <p:attrName>style.visibility</p:attrName>
                                        </p:attrNameLst>
                                      </p:cBhvr>
                                      <p:to>
                                        <p:strVal val="visible"/>
                                      </p:to>
                                    </p:set>
                                    <p:animEffect transition="in" filter="wipe(down)">
                                      <p:cBhvr>
                                        <p:cTn id="97" dur="580">
                                          <p:stCondLst>
                                            <p:cond delay="0"/>
                                          </p:stCondLst>
                                        </p:cTn>
                                        <p:tgtEl>
                                          <p:spTgt spid="3">
                                            <p:txEl>
                                              <p:pRg st="4" end="4"/>
                                            </p:txEl>
                                          </p:spTgt>
                                        </p:tgtEl>
                                      </p:cBhvr>
                                    </p:animEffect>
                                    <p:anim calcmode="lin" valueType="num">
                                      <p:cBhvr>
                                        <p:cTn id="98"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4" end="4"/>
                                            </p:txEl>
                                          </p:spTgt>
                                        </p:tgtEl>
                                      </p:cBhvr>
                                      <p:to x="100000" y="60000"/>
                                    </p:animScale>
                                    <p:animScale>
                                      <p:cBhvr>
                                        <p:cTn id="104" dur="166" decel="50000">
                                          <p:stCondLst>
                                            <p:cond delay="676"/>
                                          </p:stCondLst>
                                        </p:cTn>
                                        <p:tgtEl>
                                          <p:spTgt spid="3">
                                            <p:txEl>
                                              <p:pRg st="4" end="4"/>
                                            </p:txEl>
                                          </p:spTgt>
                                        </p:tgtEl>
                                      </p:cBhvr>
                                      <p:to x="100000" y="100000"/>
                                    </p:animScale>
                                    <p:animScale>
                                      <p:cBhvr>
                                        <p:cTn id="105" dur="26">
                                          <p:stCondLst>
                                            <p:cond delay="1312"/>
                                          </p:stCondLst>
                                        </p:cTn>
                                        <p:tgtEl>
                                          <p:spTgt spid="3">
                                            <p:txEl>
                                              <p:pRg st="4" end="4"/>
                                            </p:txEl>
                                          </p:spTgt>
                                        </p:tgtEl>
                                      </p:cBhvr>
                                      <p:to x="100000" y="80000"/>
                                    </p:animScale>
                                    <p:animScale>
                                      <p:cBhvr>
                                        <p:cTn id="106" dur="166" decel="50000">
                                          <p:stCondLst>
                                            <p:cond delay="1338"/>
                                          </p:stCondLst>
                                        </p:cTn>
                                        <p:tgtEl>
                                          <p:spTgt spid="3">
                                            <p:txEl>
                                              <p:pRg st="4" end="4"/>
                                            </p:txEl>
                                          </p:spTgt>
                                        </p:tgtEl>
                                      </p:cBhvr>
                                      <p:to x="100000" y="100000"/>
                                    </p:animScale>
                                    <p:animScale>
                                      <p:cBhvr>
                                        <p:cTn id="107" dur="26">
                                          <p:stCondLst>
                                            <p:cond delay="1642"/>
                                          </p:stCondLst>
                                        </p:cTn>
                                        <p:tgtEl>
                                          <p:spTgt spid="3">
                                            <p:txEl>
                                              <p:pRg st="4" end="4"/>
                                            </p:txEl>
                                          </p:spTgt>
                                        </p:tgtEl>
                                      </p:cBhvr>
                                      <p:to x="100000" y="90000"/>
                                    </p:animScale>
                                    <p:animScale>
                                      <p:cBhvr>
                                        <p:cTn id="108" dur="166" decel="50000">
                                          <p:stCondLst>
                                            <p:cond delay="1668"/>
                                          </p:stCondLst>
                                        </p:cTn>
                                        <p:tgtEl>
                                          <p:spTgt spid="3">
                                            <p:txEl>
                                              <p:pRg st="4" end="4"/>
                                            </p:txEl>
                                          </p:spTgt>
                                        </p:tgtEl>
                                      </p:cBhvr>
                                      <p:to x="100000" y="100000"/>
                                    </p:animScale>
                                    <p:animScale>
                                      <p:cBhvr>
                                        <p:cTn id="109" dur="26">
                                          <p:stCondLst>
                                            <p:cond delay="1808"/>
                                          </p:stCondLst>
                                        </p:cTn>
                                        <p:tgtEl>
                                          <p:spTgt spid="3">
                                            <p:txEl>
                                              <p:pRg st="4" end="4"/>
                                            </p:txEl>
                                          </p:spTgt>
                                        </p:tgtEl>
                                      </p:cBhvr>
                                      <p:to x="100000" y="95000"/>
                                    </p:animScale>
                                    <p:animScale>
                                      <p:cBhvr>
                                        <p:cTn id="110"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71670" y="285728"/>
            <a:ext cx="5072098" cy="357190"/>
          </a:xfrm>
        </p:spPr>
        <p:txBody>
          <a:bodyPr>
            <a:noAutofit/>
          </a:bodyPr>
          <a:lstStyle/>
          <a:p>
            <a:r>
              <a:rPr lang="es-ES" sz="1800" dirty="0" smtClean="0"/>
              <a:t>. </a:t>
            </a:r>
            <a:r>
              <a:rPr lang="es-ES" sz="1800" dirty="0"/>
              <a:t>SÍNTOMAS AGUDOS</a:t>
            </a:r>
          </a:p>
        </p:txBody>
      </p:sp>
      <p:sp>
        <p:nvSpPr>
          <p:cNvPr id="3" name="2 Rectángulo"/>
          <p:cNvSpPr/>
          <p:nvPr/>
        </p:nvSpPr>
        <p:spPr>
          <a:xfrm>
            <a:off x="1043608" y="692696"/>
            <a:ext cx="7632848" cy="4093428"/>
          </a:xfrm>
          <a:prstGeom prst="rect">
            <a:avLst/>
          </a:prstGeom>
        </p:spPr>
        <p:txBody>
          <a:bodyPr wrap="square">
            <a:spAutoFit/>
          </a:bodyPr>
          <a:lstStyle/>
          <a:p>
            <a:pPr algn="just"/>
            <a:r>
              <a:rPr lang="es-BO" sz="2000" dirty="0" smtClean="0"/>
              <a:t>En </a:t>
            </a:r>
            <a:r>
              <a:rPr lang="es-BO" sz="2000" dirty="0"/>
              <a:t>la sintomatología aguda se debe sobre todo a la trombosis de los </a:t>
            </a:r>
            <a:r>
              <a:rPr lang="es-BO" sz="2000" dirty="0" smtClean="0"/>
              <a:t>paquetes hemorroidales.</a:t>
            </a:r>
          </a:p>
          <a:p>
            <a:pPr algn="just"/>
            <a:r>
              <a:rPr lang="es-BO" sz="2000" dirty="0" smtClean="0"/>
              <a:t> </a:t>
            </a:r>
            <a:r>
              <a:rPr lang="es-BO" sz="2000" dirty="0"/>
              <a:t>Podemos distinguir la trombosis hemorroidal externa y el prolapso </a:t>
            </a:r>
            <a:r>
              <a:rPr lang="es-BO" sz="2000" dirty="0" smtClean="0"/>
              <a:t>hemorroidal trombosado</a:t>
            </a:r>
            <a:r>
              <a:rPr lang="es-BO" sz="2000" dirty="0"/>
              <a:t>.</a:t>
            </a:r>
          </a:p>
          <a:p>
            <a:pPr algn="just"/>
            <a:r>
              <a:rPr lang="es-BO" sz="2000" dirty="0"/>
              <a:t>La trombosis hemorroidal externa se trata de una zona violácea </a:t>
            </a:r>
            <a:r>
              <a:rPr lang="es-BO" sz="2000" dirty="0" smtClean="0"/>
              <a:t>e indurada </a:t>
            </a:r>
            <a:r>
              <a:rPr lang="es-BO" sz="2000" dirty="0"/>
              <a:t>en el </a:t>
            </a:r>
            <a:r>
              <a:rPr lang="es-BO" sz="2000" dirty="0" smtClean="0"/>
              <a:t>margen anal </a:t>
            </a:r>
            <a:r>
              <a:rPr lang="es-BO" sz="2000" b="1" u="sng" dirty="0"/>
              <a:t>muy doloroso </a:t>
            </a:r>
            <a:r>
              <a:rPr lang="es-BO" sz="2000" dirty="0"/>
              <a:t>al tacto. Se debe a la existencia de coágulos intravasculares a nivel del </a:t>
            </a:r>
            <a:r>
              <a:rPr lang="es-BO" sz="2000" dirty="0" smtClean="0"/>
              <a:t>plexo hemorroidal </a:t>
            </a:r>
            <a:r>
              <a:rPr lang="es-BO" sz="2000" dirty="0"/>
              <a:t>externo</a:t>
            </a:r>
            <a:r>
              <a:rPr lang="es-BO" sz="2000" dirty="0" smtClean="0"/>
              <a:t>.</a:t>
            </a:r>
          </a:p>
          <a:p>
            <a:pPr algn="just"/>
            <a:r>
              <a:rPr lang="es-BO" sz="2000" dirty="0" smtClean="0"/>
              <a:t>La </a:t>
            </a:r>
            <a:r>
              <a:rPr lang="es-BO" sz="2000" dirty="0"/>
              <a:t>trombosis suele ser una complicación de las grandes </a:t>
            </a:r>
            <a:r>
              <a:rPr lang="es-BO" sz="2000" dirty="0" smtClean="0"/>
              <a:t>hemorroides prolapsadas </a:t>
            </a:r>
            <a:r>
              <a:rPr lang="es-BO" sz="2000" dirty="0"/>
              <a:t>que se produce al ser pellizcadas por los músculos esfinterianos, de manera que </a:t>
            </a:r>
            <a:r>
              <a:rPr lang="es-BO" sz="2000" dirty="0" smtClean="0"/>
              <a:t>se produce </a:t>
            </a:r>
            <a:r>
              <a:rPr lang="es-BO" sz="2000" dirty="0"/>
              <a:t>congestión y trombosis. Esto provoca que la hemorroide se vuelva dura y </a:t>
            </a:r>
            <a:r>
              <a:rPr lang="es-BO" sz="2000" dirty="0" smtClean="0"/>
              <a:t>dolorosa</a:t>
            </a:r>
            <a:r>
              <a:rPr lang="es-BO" sz="2000" dirty="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4653136"/>
            <a:ext cx="2925763"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80">
                                          <p:stCondLst>
                                            <p:cond delay="0"/>
                                          </p:stCondLst>
                                        </p:cTn>
                                        <p:tgtEl>
                                          <p:spTgt spid="3"/>
                                        </p:tgtEl>
                                      </p:cBhvr>
                                    </p:animEffect>
                                    <p:anim calcmode="lin" valueType="num">
                                      <p:cBhvr>
                                        <p:cTn id="2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gtEl>
                                      </p:cBhvr>
                                      <p:to x="100000" y="60000"/>
                                    </p:animScale>
                                    <p:animScale>
                                      <p:cBhvr>
                                        <p:cTn id="32" dur="166" decel="50000">
                                          <p:stCondLst>
                                            <p:cond delay="676"/>
                                          </p:stCondLst>
                                        </p:cTn>
                                        <p:tgtEl>
                                          <p:spTgt spid="3"/>
                                        </p:tgtEl>
                                      </p:cBhvr>
                                      <p:to x="100000" y="100000"/>
                                    </p:animScale>
                                    <p:animScale>
                                      <p:cBhvr>
                                        <p:cTn id="33" dur="26">
                                          <p:stCondLst>
                                            <p:cond delay="1312"/>
                                          </p:stCondLst>
                                        </p:cTn>
                                        <p:tgtEl>
                                          <p:spTgt spid="3"/>
                                        </p:tgtEl>
                                      </p:cBhvr>
                                      <p:to x="100000" y="80000"/>
                                    </p:animScale>
                                    <p:animScale>
                                      <p:cBhvr>
                                        <p:cTn id="34" dur="166" decel="50000">
                                          <p:stCondLst>
                                            <p:cond delay="1338"/>
                                          </p:stCondLst>
                                        </p:cTn>
                                        <p:tgtEl>
                                          <p:spTgt spid="3"/>
                                        </p:tgtEl>
                                      </p:cBhvr>
                                      <p:to x="100000" y="100000"/>
                                    </p:animScale>
                                    <p:animScale>
                                      <p:cBhvr>
                                        <p:cTn id="35" dur="26">
                                          <p:stCondLst>
                                            <p:cond delay="1642"/>
                                          </p:stCondLst>
                                        </p:cTn>
                                        <p:tgtEl>
                                          <p:spTgt spid="3"/>
                                        </p:tgtEl>
                                      </p:cBhvr>
                                      <p:to x="100000" y="90000"/>
                                    </p:animScale>
                                    <p:animScale>
                                      <p:cBhvr>
                                        <p:cTn id="36" dur="166" decel="50000">
                                          <p:stCondLst>
                                            <p:cond delay="1668"/>
                                          </p:stCondLst>
                                        </p:cTn>
                                        <p:tgtEl>
                                          <p:spTgt spid="3"/>
                                        </p:tgtEl>
                                      </p:cBhvr>
                                      <p:to x="100000" y="100000"/>
                                    </p:animScale>
                                    <p:animScale>
                                      <p:cBhvr>
                                        <p:cTn id="37" dur="26">
                                          <p:stCondLst>
                                            <p:cond delay="1808"/>
                                          </p:stCondLst>
                                        </p:cTn>
                                        <p:tgtEl>
                                          <p:spTgt spid="3"/>
                                        </p:tgtEl>
                                      </p:cBhvr>
                                      <p:to x="100000" y="95000"/>
                                    </p:animScale>
                                    <p:animScale>
                                      <p:cBhvr>
                                        <p:cTn id="38" dur="166" decel="50000">
                                          <p:stCondLst>
                                            <p:cond delay="1834"/>
                                          </p:stCondLst>
                                        </p:cTn>
                                        <p:tgtEl>
                                          <p:spTgt spid="3"/>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2050"/>
                                        </p:tgtEl>
                                        <p:attrNameLst>
                                          <p:attrName>style.visibility</p:attrName>
                                        </p:attrNameLst>
                                      </p:cBhvr>
                                      <p:to>
                                        <p:strVal val="visible"/>
                                      </p:to>
                                    </p:set>
                                    <p:animEffect transition="in" filter="wipe(down)">
                                      <p:cBhvr>
                                        <p:cTn id="79" dur="580">
                                          <p:stCondLst>
                                            <p:cond delay="0"/>
                                          </p:stCondLst>
                                        </p:cTn>
                                        <p:tgtEl>
                                          <p:spTgt spid="2050"/>
                                        </p:tgtEl>
                                      </p:cBhvr>
                                    </p:animEffect>
                                    <p:anim calcmode="lin" valueType="num">
                                      <p:cBhvr>
                                        <p:cTn id="80"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85" dur="26">
                                          <p:stCondLst>
                                            <p:cond delay="650"/>
                                          </p:stCondLst>
                                        </p:cTn>
                                        <p:tgtEl>
                                          <p:spTgt spid="2050"/>
                                        </p:tgtEl>
                                      </p:cBhvr>
                                      <p:to x="100000" y="60000"/>
                                    </p:animScale>
                                    <p:animScale>
                                      <p:cBhvr>
                                        <p:cTn id="86" dur="166" decel="50000">
                                          <p:stCondLst>
                                            <p:cond delay="676"/>
                                          </p:stCondLst>
                                        </p:cTn>
                                        <p:tgtEl>
                                          <p:spTgt spid="2050"/>
                                        </p:tgtEl>
                                      </p:cBhvr>
                                      <p:to x="100000" y="100000"/>
                                    </p:animScale>
                                    <p:animScale>
                                      <p:cBhvr>
                                        <p:cTn id="87" dur="26">
                                          <p:stCondLst>
                                            <p:cond delay="1312"/>
                                          </p:stCondLst>
                                        </p:cTn>
                                        <p:tgtEl>
                                          <p:spTgt spid="2050"/>
                                        </p:tgtEl>
                                      </p:cBhvr>
                                      <p:to x="100000" y="80000"/>
                                    </p:animScale>
                                    <p:animScale>
                                      <p:cBhvr>
                                        <p:cTn id="88" dur="166" decel="50000">
                                          <p:stCondLst>
                                            <p:cond delay="1338"/>
                                          </p:stCondLst>
                                        </p:cTn>
                                        <p:tgtEl>
                                          <p:spTgt spid="2050"/>
                                        </p:tgtEl>
                                      </p:cBhvr>
                                      <p:to x="100000" y="100000"/>
                                    </p:animScale>
                                    <p:animScale>
                                      <p:cBhvr>
                                        <p:cTn id="89" dur="26">
                                          <p:stCondLst>
                                            <p:cond delay="1642"/>
                                          </p:stCondLst>
                                        </p:cTn>
                                        <p:tgtEl>
                                          <p:spTgt spid="2050"/>
                                        </p:tgtEl>
                                      </p:cBhvr>
                                      <p:to x="100000" y="90000"/>
                                    </p:animScale>
                                    <p:animScale>
                                      <p:cBhvr>
                                        <p:cTn id="90" dur="166" decel="50000">
                                          <p:stCondLst>
                                            <p:cond delay="1668"/>
                                          </p:stCondLst>
                                        </p:cTn>
                                        <p:tgtEl>
                                          <p:spTgt spid="2050"/>
                                        </p:tgtEl>
                                      </p:cBhvr>
                                      <p:to x="100000" y="100000"/>
                                    </p:animScale>
                                    <p:animScale>
                                      <p:cBhvr>
                                        <p:cTn id="91" dur="26">
                                          <p:stCondLst>
                                            <p:cond delay="1808"/>
                                          </p:stCondLst>
                                        </p:cTn>
                                        <p:tgtEl>
                                          <p:spTgt spid="2050"/>
                                        </p:tgtEl>
                                      </p:cBhvr>
                                      <p:to x="100000" y="95000"/>
                                    </p:animScale>
                                    <p:animScale>
                                      <p:cBhvr>
                                        <p:cTn id="92"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99247" y="1000109"/>
            <a:ext cx="7745505" cy="5126054"/>
          </a:xfrm>
        </p:spPr>
        <p:txBody>
          <a:bodyPr>
            <a:normAutofit/>
          </a:bodyPr>
          <a:lstStyle/>
          <a:p>
            <a:endParaRPr lang="es-BO" sz="2800" dirty="0" smtClean="0"/>
          </a:p>
          <a:p>
            <a:endParaRPr lang="es-BO" sz="2800" dirty="0" smtClean="0"/>
          </a:p>
          <a:p>
            <a:endParaRPr lang="es-BO" sz="2800" dirty="0" smtClean="0"/>
          </a:p>
          <a:p>
            <a:pPr algn="ctr"/>
            <a:r>
              <a:rPr lang="es-BO" sz="2800" dirty="0" smtClean="0"/>
              <a:t>FÍSTULAS, FISURAS Y ABCSESOS ANO-RECTALES</a:t>
            </a:r>
            <a:endParaRPr lang="es-BO" sz="280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80">
                                          <p:stCondLst>
                                            <p:cond delay="0"/>
                                          </p:stCondLst>
                                        </p:cTn>
                                        <p:tgtEl>
                                          <p:spTgt spid="3">
                                            <p:txEl>
                                              <p:pRg st="3" end="3"/>
                                            </p:txEl>
                                          </p:spTgt>
                                        </p:tgtEl>
                                      </p:cBhvr>
                                    </p:animEffect>
                                    <p:anim calcmode="lin" valueType="num">
                                      <p:cBhvr>
                                        <p:cTn id="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3" end="3"/>
                                            </p:txEl>
                                          </p:spTgt>
                                        </p:tgtEl>
                                      </p:cBhvr>
                                      <p:to x="100000" y="60000"/>
                                    </p:animScale>
                                    <p:animScale>
                                      <p:cBhvr>
                                        <p:cTn id="14" dur="166" decel="50000">
                                          <p:stCondLst>
                                            <p:cond delay="676"/>
                                          </p:stCondLst>
                                        </p:cTn>
                                        <p:tgtEl>
                                          <p:spTgt spid="3">
                                            <p:txEl>
                                              <p:pRg st="3" end="3"/>
                                            </p:txEl>
                                          </p:spTgt>
                                        </p:tgtEl>
                                      </p:cBhvr>
                                      <p:to x="100000" y="100000"/>
                                    </p:animScale>
                                    <p:animScale>
                                      <p:cBhvr>
                                        <p:cTn id="15" dur="26">
                                          <p:stCondLst>
                                            <p:cond delay="1312"/>
                                          </p:stCondLst>
                                        </p:cTn>
                                        <p:tgtEl>
                                          <p:spTgt spid="3">
                                            <p:txEl>
                                              <p:pRg st="3" end="3"/>
                                            </p:txEl>
                                          </p:spTgt>
                                        </p:tgtEl>
                                      </p:cBhvr>
                                      <p:to x="100000" y="80000"/>
                                    </p:animScale>
                                    <p:animScale>
                                      <p:cBhvr>
                                        <p:cTn id="16" dur="166" decel="50000">
                                          <p:stCondLst>
                                            <p:cond delay="1338"/>
                                          </p:stCondLst>
                                        </p:cTn>
                                        <p:tgtEl>
                                          <p:spTgt spid="3">
                                            <p:txEl>
                                              <p:pRg st="3" end="3"/>
                                            </p:txEl>
                                          </p:spTgt>
                                        </p:tgtEl>
                                      </p:cBhvr>
                                      <p:to x="100000" y="100000"/>
                                    </p:animScale>
                                    <p:animScale>
                                      <p:cBhvr>
                                        <p:cTn id="17" dur="26">
                                          <p:stCondLst>
                                            <p:cond delay="1642"/>
                                          </p:stCondLst>
                                        </p:cTn>
                                        <p:tgtEl>
                                          <p:spTgt spid="3">
                                            <p:txEl>
                                              <p:pRg st="3" end="3"/>
                                            </p:txEl>
                                          </p:spTgt>
                                        </p:tgtEl>
                                      </p:cBhvr>
                                      <p:to x="100000" y="90000"/>
                                    </p:animScale>
                                    <p:animScale>
                                      <p:cBhvr>
                                        <p:cTn id="18" dur="166" decel="50000">
                                          <p:stCondLst>
                                            <p:cond delay="1668"/>
                                          </p:stCondLst>
                                        </p:cTn>
                                        <p:tgtEl>
                                          <p:spTgt spid="3">
                                            <p:txEl>
                                              <p:pRg st="3" end="3"/>
                                            </p:txEl>
                                          </p:spTgt>
                                        </p:tgtEl>
                                      </p:cBhvr>
                                      <p:to x="100000" y="100000"/>
                                    </p:animScale>
                                    <p:animScale>
                                      <p:cBhvr>
                                        <p:cTn id="19" dur="26">
                                          <p:stCondLst>
                                            <p:cond delay="1808"/>
                                          </p:stCondLst>
                                        </p:cTn>
                                        <p:tgtEl>
                                          <p:spTgt spid="3">
                                            <p:txEl>
                                              <p:pRg st="3" end="3"/>
                                            </p:txEl>
                                          </p:spTgt>
                                        </p:tgtEl>
                                      </p:cBhvr>
                                      <p:to x="100000" y="95000"/>
                                    </p:animScale>
                                    <p:animScale>
                                      <p:cBhvr>
                                        <p:cTn id="20"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6"/>
            <a:ext cx="8229600" cy="5073427"/>
          </a:xfrm>
        </p:spPr>
        <p:txBody>
          <a:bodyPr>
            <a:normAutofit fontScale="92500" lnSpcReduction="20000"/>
          </a:bodyPr>
          <a:lstStyle/>
          <a:p>
            <a:pPr marL="0" indent="0" algn="just">
              <a:buNone/>
            </a:pPr>
            <a:r>
              <a:rPr lang="es-BO" dirty="0" smtClean="0"/>
              <a:t>DEFINICIÓN</a:t>
            </a:r>
          </a:p>
          <a:p>
            <a:pPr algn="just">
              <a:buFont typeface="Wingdings" panose="05000000000000000000" pitchFamily="2" charset="2"/>
              <a:buChar char="§"/>
            </a:pPr>
            <a:r>
              <a:rPr lang="es-BO" dirty="0" smtClean="0"/>
              <a:t>El </a:t>
            </a:r>
            <a:r>
              <a:rPr lang="es-BO" dirty="0"/>
              <a:t>absceso y la fístula anal son dos fases del mismo padecimiento, el primero en fase aguda o inicial y la segunda en fase crónica o secuela. </a:t>
            </a:r>
            <a:endParaRPr lang="es-BO" dirty="0" smtClean="0"/>
          </a:p>
          <a:p>
            <a:pPr algn="just">
              <a:buFont typeface="Wingdings" panose="05000000000000000000" pitchFamily="2" charset="2"/>
              <a:buChar char="§"/>
            </a:pPr>
            <a:r>
              <a:rPr lang="es-BO" dirty="0" smtClean="0"/>
              <a:t>La </a:t>
            </a:r>
            <a:r>
              <a:rPr lang="es-BO" dirty="0"/>
              <a:t>fístula es el conducto de paredes fibrosas infectadas, que comunica una cripta anal con la piel o con la luz del recto ; el orificio localizado en la cripta se denomina primario o interno y el cutáneo mucoso o secundario. El orificio primario es donde habitualmente se origina el proceso.</a:t>
            </a:r>
          </a:p>
          <a:p>
            <a:pPr marL="0" indent="0" algn="just">
              <a:buNone/>
            </a:pPr>
            <a:r>
              <a:rPr lang="es-BO" dirty="0"/>
              <a:t>EPIDEMIOLOGÍA</a:t>
            </a:r>
          </a:p>
          <a:p>
            <a:pPr algn="just">
              <a:buFont typeface="Wingdings" panose="05000000000000000000" pitchFamily="2" charset="2"/>
              <a:buChar char="§"/>
            </a:pPr>
            <a:r>
              <a:rPr lang="es-BO" dirty="0"/>
              <a:t>Es una afección muy frecuente en la practica colóproctológica más común en el sexo masculino y en edades que fluctúan entre 30 a 50 años.</a:t>
            </a:r>
          </a:p>
          <a:p>
            <a:pPr marL="0" indent="0" algn="just">
              <a:buNone/>
            </a:pPr>
            <a:r>
              <a:rPr lang="es-BO" dirty="0"/>
              <a:t>CLASIFICACIÓN</a:t>
            </a:r>
          </a:p>
          <a:p>
            <a:pPr algn="just">
              <a:buFont typeface="Wingdings" panose="05000000000000000000" pitchFamily="2" charset="2"/>
              <a:buChar char="§"/>
            </a:pPr>
            <a:r>
              <a:rPr lang="es-BO" dirty="0"/>
              <a:t>La fístula anal se clasifica en transesfinteriana, interesfinteriana , extraesfinteriana y supra esfinteriana</a:t>
            </a:r>
            <a:r>
              <a:rPr lang="es-BO" dirty="0" smtClean="0"/>
              <a:t>.</a:t>
            </a:r>
            <a:endParaRPr lang="es-ES" dirty="0"/>
          </a:p>
        </p:txBody>
      </p:sp>
      <p:sp>
        <p:nvSpPr>
          <p:cNvPr id="2" name="1 Título"/>
          <p:cNvSpPr>
            <a:spLocks noGrp="1"/>
          </p:cNvSpPr>
          <p:nvPr>
            <p:ph type="title"/>
          </p:nvPr>
        </p:nvSpPr>
        <p:spPr>
          <a:xfrm>
            <a:off x="1619672" y="260648"/>
            <a:ext cx="6624736" cy="648072"/>
          </a:xfrm>
        </p:spPr>
        <p:txBody>
          <a:bodyPr>
            <a:normAutofit/>
          </a:bodyPr>
          <a:lstStyle/>
          <a:p>
            <a:r>
              <a:rPr lang="es-ES" sz="2400" dirty="0"/>
              <a:t>FISTULA Y ABSCESO ANAL.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80">
                                          <p:stCondLst>
                                            <p:cond delay="0"/>
                                          </p:stCondLst>
                                        </p:cTn>
                                        <p:tgtEl>
                                          <p:spTgt spid="3">
                                            <p:txEl>
                                              <p:pRg st="0" end="0"/>
                                            </p:txEl>
                                          </p:spTgt>
                                        </p:tgtEl>
                                      </p:cBhvr>
                                    </p:animEffect>
                                    <p:anim calcmode="lin" valueType="num">
                                      <p:cBhvr>
                                        <p:cTn id="2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0" end="0"/>
                                            </p:txEl>
                                          </p:spTgt>
                                        </p:tgtEl>
                                      </p:cBhvr>
                                      <p:to x="100000" y="60000"/>
                                    </p:animScale>
                                    <p:animScale>
                                      <p:cBhvr>
                                        <p:cTn id="32" dur="166" decel="50000">
                                          <p:stCondLst>
                                            <p:cond delay="676"/>
                                          </p:stCondLst>
                                        </p:cTn>
                                        <p:tgtEl>
                                          <p:spTgt spid="3">
                                            <p:txEl>
                                              <p:pRg st="0" end="0"/>
                                            </p:txEl>
                                          </p:spTgt>
                                        </p:tgtEl>
                                      </p:cBhvr>
                                      <p:to x="100000" y="100000"/>
                                    </p:animScale>
                                    <p:animScale>
                                      <p:cBhvr>
                                        <p:cTn id="33" dur="26">
                                          <p:stCondLst>
                                            <p:cond delay="1312"/>
                                          </p:stCondLst>
                                        </p:cTn>
                                        <p:tgtEl>
                                          <p:spTgt spid="3">
                                            <p:txEl>
                                              <p:pRg st="0" end="0"/>
                                            </p:txEl>
                                          </p:spTgt>
                                        </p:tgtEl>
                                      </p:cBhvr>
                                      <p:to x="100000" y="80000"/>
                                    </p:animScale>
                                    <p:animScale>
                                      <p:cBhvr>
                                        <p:cTn id="34" dur="166" decel="50000">
                                          <p:stCondLst>
                                            <p:cond delay="1338"/>
                                          </p:stCondLst>
                                        </p:cTn>
                                        <p:tgtEl>
                                          <p:spTgt spid="3">
                                            <p:txEl>
                                              <p:pRg st="0" end="0"/>
                                            </p:txEl>
                                          </p:spTgt>
                                        </p:tgtEl>
                                      </p:cBhvr>
                                      <p:to x="100000" y="100000"/>
                                    </p:animScale>
                                    <p:animScale>
                                      <p:cBhvr>
                                        <p:cTn id="35" dur="26">
                                          <p:stCondLst>
                                            <p:cond delay="1642"/>
                                          </p:stCondLst>
                                        </p:cTn>
                                        <p:tgtEl>
                                          <p:spTgt spid="3">
                                            <p:txEl>
                                              <p:pRg st="0" end="0"/>
                                            </p:txEl>
                                          </p:spTgt>
                                        </p:tgtEl>
                                      </p:cBhvr>
                                      <p:to x="100000" y="90000"/>
                                    </p:animScale>
                                    <p:animScale>
                                      <p:cBhvr>
                                        <p:cTn id="36" dur="166" decel="50000">
                                          <p:stCondLst>
                                            <p:cond delay="1668"/>
                                          </p:stCondLst>
                                        </p:cTn>
                                        <p:tgtEl>
                                          <p:spTgt spid="3">
                                            <p:txEl>
                                              <p:pRg st="0" end="0"/>
                                            </p:txEl>
                                          </p:spTgt>
                                        </p:tgtEl>
                                      </p:cBhvr>
                                      <p:to x="100000" y="100000"/>
                                    </p:animScale>
                                    <p:animScale>
                                      <p:cBhvr>
                                        <p:cTn id="37" dur="26">
                                          <p:stCondLst>
                                            <p:cond delay="1808"/>
                                          </p:stCondLst>
                                        </p:cTn>
                                        <p:tgtEl>
                                          <p:spTgt spid="3">
                                            <p:txEl>
                                              <p:pRg st="0" end="0"/>
                                            </p:txEl>
                                          </p:spTgt>
                                        </p:tgtEl>
                                      </p:cBhvr>
                                      <p:to x="100000" y="95000"/>
                                    </p:animScale>
                                    <p:animScale>
                                      <p:cBhvr>
                                        <p:cTn id="38" dur="166" decel="50000">
                                          <p:stCondLst>
                                            <p:cond delay="1834"/>
                                          </p:stCondLst>
                                        </p:cTn>
                                        <p:tgtEl>
                                          <p:spTgt spid="3">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wipe(down)">
                                      <p:cBhvr>
                                        <p:cTn id="43" dur="580">
                                          <p:stCondLst>
                                            <p:cond delay="0"/>
                                          </p:stCondLst>
                                        </p:cTn>
                                        <p:tgtEl>
                                          <p:spTgt spid="3">
                                            <p:txEl>
                                              <p:pRg st="1" end="1"/>
                                            </p:txEl>
                                          </p:spTgt>
                                        </p:tgtEl>
                                      </p:cBhvr>
                                    </p:animEffect>
                                    <p:anim calcmode="lin" valueType="num">
                                      <p:cBhvr>
                                        <p:cTn id="4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1" end="1"/>
                                            </p:txEl>
                                          </p:spTgt>
                                        </p:tgtEl>
                                      </p:cBhvr>
                                      <p:to x="100000" y="60000"/>
                                    </p:animScale>
                                    <p:animScale>
                                      <p:cBhvr>
                                        <p:cTn id="50" dur="166" decel="50000">
                                          <p:stCondLst>
                                            <p:cond delay="676"/>
                                          </p:stCondLst>
                                        </p:cTn>
                                        <p:tgtEl>
                                          <p:spTgt spid="3">
                                            <p:txEl>
                                              <p:pRg st="1" end="1"/>
                                            </p:txEl>
                                          </p:spTgt>
                                        </p:tgtEl>
                                      </p:cBhvr>
                                      <p:to x="100000" y="100000"/>
                                    </p:animScale>
                                    <p:animScale>
                                      <p:cBhvr>
                                        <p:cTn id="51" dur="26">
                                          <p:stCondLst>
                                            <p:cond delay="1312"/>
                                          </p:stCondLst>
                                        </p:cTn>
                                        <p:tgtEl>
                                          <p:spTgt spid="3">
                                            <p:txEl>
                                              <p:pRg st="1" end="1"/>
                                            </p:txEl>
                                          </p:spTgt>
                                        </p:tgtEl>
                                      </p:cBhvr>
                                      <p:to x="100000" y="80000"/>
                                    </p:animScale>
                                    <p:animScale>
                                      <p:cBhvr>
                                        <p:cTn id="52" dur="166" decel="50000">
                                          <p:stCondLst>
                                            <p:cond delay="1338"/>
                                          </p:stCondLst>
                                        </p:cTn>
                                        <p:tgtEl>
                                          <p:spTgt spid="3">
                                            <p:txEl>
                                              <p:pRg st="1" end="1"/>
                                            </p:txEl>
                                          </p:spTgt>
                                        </p:tgtEl>
                                      </p:cBhvr>
                                      <p:to x="100000" y="100000"/>
                                    </p:animScale>
                                    <p:animScale>
                                      <p:cBhvr>
                                        <p:cTn id="53" dur="26">
                                          <p:stCondLst>
                                            <p:cond delay="1642"/>
                                          </p:stCondLst>
                                        </p:cTn>
                                        <p:tgtEl>
                                          <p:spTgt spid="3">
                                            <p:txEl>
                                              <p:pRg st="1" end="1"/>
                                            </p:txEl>
                                          </p:spTgt>
                                        </p:tgtEl>
                                      </p:cBhvr>
                                      <p:to x="100000" y="90000"/>
                                    </p:animScale>
                                    <p:animScale>
                                      <p:cBhvr>
                                        <p:cTn id="54" dur="166" decel="50000">
                                          <p:stCondLst>
                                            <p:cond delay="1668"/>
                                          </p:stCondLst>
                                        </p:cTn>
                                        <p:tgtEl>
                                          <p:spTgt spid="3">
                                            <p:txEl>
                                              <p:pRg st="1" end="1"/>
                                            </p:txEl>
                                          </p:spTgt>
                                        </p:tgtEl>
                                      </p:cBhvr>
                                      <p:to x="100000" y="100000"/>
                                    </p:animScale>
                                    <p:animScale>
                                      <p:cBhvr>
                                        <p:cTn id="55" dur="26">
                                          <p:stCondLst>
                                            <p:cond delay="1808"/>
                                          </p:stCondLst>
                                        </p:cTn>
                                        <p:tgtEl>
                                          <p:spTgt spid="3">
                                            <p:txEl>
                                              <p:pRg st="1" end="1"/>
                                            </p:txEl>
                                          </p:spTgt>
                                        </p:tgtEl>
                                      </p:cBhvr>
                                      <p:to x="100000" y="95000"/>
                                    </p:animScale>
                                    <p:animScale>
                                      <p:cBhvr>
                                        <p:cTn id="56" dur="166" decel="50000">
                                          <p:stCondLst>
                                            <p:cond delay="1834"/>
                                          </p:stCondLst>
                                        </p:cTn>
                                        <p:tgtEl>
                                          <p:spTgt spid="3">
                                            <p:txEl>
                                              <p:pRg st="1" end="1"/>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animEffect transition="in" filter="wipe(down)">
                                      <p:cBhvr>
                                        <p:cTn id="61" dur="580">
                                          <p:stCondLst>
                                            <p:cond delay="0"/>
                                          </p:stCondLst>
                                        </p:cTn>
                                        <p:tgtEl>
                                          <p:spTgt spid="3">
                                            <p:txEl>
                                              <p:pRg st="2" end="2"/>
                                            </p:txEl>
                                          </p:spTgt>
                                        </p:tgtEl>
                                      </p:cBhvr>
                                    </p:animEffect>
                                    <p:anim calcmode="lin" valueType="num">
                                      <p:cBhvr>
                                        <p:cTn id="6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2" end="2"/>
                                            </p:txEl>
                                          </p:spTgt>
                                        </p:tgtEl>
                                      </p:cBhvr>
                                      <p:to x="100000" y="60000"/>
                                    </p:animScale>
                                    <p:animScale>
                                      <p:cBhvr>
                                        <p:cTn id="68" dur="166" decel="50000">
                                          <p:stCondLst>
                                            <p:cond delay="676"/>
                                          </p:stCondLst>
                                        </p:cTn>
                                        <p:tgtEl>
                                          <p:spTgt spid="3">
                                            <p:txEl>
                                              <p:pRg st="2" end="2"/>
                                            </p:txEl>
                                          </p:spTgt>
                                        </p:tgtEl>
                                      </p:cBhvr>
                                      <p:to x="100000" y="100000"/>
                                    </p:animScale>
                                    <p:animScale>
                                      <p:cBhvr>
                                        <p:cTn id="69" dur="26">
                                          <p:stCondLst>
                                            <p:cond delay="1312"/>
                                          </p:stCondLst>
                                        </p:cTn>
                                        <p:tgtEl>
                                          <p:spTgt spid="3">
                                            <p:txEl>
                                              <p:pRg st="2" end="2"/>
                                            </p:txEl>
                                          </p:spTgt>
                                        </p:tgtEl>
                                      </p:cBhvr>
                                      <p:to x="100000" y="80000"/>
                                    </p:animScale>
                                    <p:animScale>
                                      <p:cBhvr>
                                        <p:cTn id="70" dur="166" decel="50000">
                                          <p:stCondLst>
                                            <p:cond delay="1338"/>
                                          </p:stCondLst>
                                        </p:cTn>
                                        <p:tgtEl>
                                          <p:spTgt spid="3">
                                            <p:txEl>
                                              <p:pRg st="2" end="2"/>
                                            </p:txEl>
                                          </p:spTgt>
                                        </p:tgtEl>
                                      </p:cBhvr>
                                      <p:to x="100000" y="100000"/>
                                    </p:animScale>
                                    <p:animScale>
                                      <p:cBhvr>
                                        <p:cTn id="71" dur="26">
                                          <p:stCondLst>
                                            <p:cond delay="1642"/>
                                          </p:stCondLst>
                                        </p:cTn>
                                        <p:tgtEl>
                                          <p:spTgt spid="3">
                                            <p:txEl>
                                              <p:pRg st="2" end="2"/>
                                            </p:txEl>
                                          </p:spTgt>
                                        </p:tgtEl>
                                      </p:cBhvr>
                                      <p:to x="100000" y="90000"/>
                                    </p:animScale>
                                    <p:animScale>
                                      <p:cBhvr>
                                        <p:cTn id="72" dur="166" decel="50000">
                                          <p:stCondLst>
                                            <p:cond delay="1668"/>
                                          </p:stCondLst>
                                        </p:cTn>
                                        <p:tgtEl>
                                          <p:spTgt spid="3">
                                            <p:txEl>
                                              <p:pRg st="2" end="2"/>
                                            </p:txEl>
                                          </p:spTgt>
                                        </p:tgtEl>
                                      </p:cBhvr>
                                      <p:to x="100000" y="100000"/>
                                    </p:animScale>
                                    <p:animScale>
                                      <p:cBhvr>
                                        <p:cTn id="73" dur="26">
                                          <p:stCondLst>
                                            <p:cond delay="1808"/>
                                          </p:stCondLst>
                                        </p:cTn>
                                        <p:tgtEl>
                                          <p:spTgt spid="3">
                                            <p:txEl>
                                              <p:pRg st="2" end="2"/>
                                            </p:txEl>
                                          </p:spTgt>
                                        </p:tgtEl>
                                      </p:cBhvr>
                                      <p:to x="100000" y="95000"/>
                                    </p:animScale>
                                    <p:animScale>
                                      <p:cBhvr>
                                        <p:cTn id="74" dur="166" decel="50000">
                                          <p:stCondLst>
                                            <p:cond delay="1834"/>
                                          </p:stCondLst>
                                        </p:cTn>
                                        <p:tgtEl>
                                          <p:spTgt spid="3">
                                            <p:txEl>
                                              <p:pRg st="2" end="2"/>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3" end="3"/>
                                            </p:txEl>
                                          </p:spTgt>
                                        </p:tgtEl>
                                        <p:attrNameLst>
                                          <p:attrName>style.visibility</p:attrName>
                                        </p:attrNameLst>
                                      </p:cBhvr>
                                      <p:to>
                                        <p:strVal val="visible"/>
                                      </p:to>
                                    </p:set>
                                    <p:animEffect transition="in" filter="wipe(down)">
                                      <p:cBhvr>
                                        <p:cTn id="79" dur="580">
                                          <p:stCondLst>
                                            <p:cond delay="0"/>
                                          </p:stCondLst>
                                        </p:cTn>
                                        <p:tgtEl>
                                          <p:spTgt spid="3">
                                            <p:txEl>
                                              <p:pRg st="3" end="3"/>
                                            </p:txEl>
                                          </p:spTgt>
                                        </p:tgtEl>
                                      </p:cBhvr>
                                    </p:animEffect>
                                    <p:anim calcmode="lin" valueType="num">
                                      <p:cBhvr>
                                        <p:cTn id="8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3" end="3"/>
                                            </p:txEl>
                                          </p:spTgt>
                                        </p:tgtEl>
                                      </p:cBhvr>
                                      <p:to x="100000" y="60000"/>
                                    </p:animScale>
                                    <p:animScale>
                                      <p:cBhvr>
                                        <p:cTn id="86" dur="166" decel="50000">
                                          <p:stCondLst>
                                            <p:cond delay="676"/>
                                          </p:stCondLst>
                                        </p:cTn>
                                        <p:tgtEl>
                                          <p:spTgt spid="3">
                                            <p:txEl>
                                              <p:pRg st="3" end="3"/>
                                            </p:txEl>
                                          </p:spTgt>
                                        </p:tgtEl>
                                      </p:cBhvr>
                                      <p:to x="100000" y="100000"/>
                                    </p:animScale>
                                    <p:animScale>
                                      <p:cBhvr>
                                        <p:cTn id="87" dur="26">
                                          <p:stCondLst>
                                            <p:cond delay="1312"/>
                                          </p:stCondLst>
                                        </p:cTn>
                                        <p:tgtEl>
                                          <p:spTgt spid="3">
                                            <p:txEl>
                                              <p:pRg st="3" end="3"/>
                                            </p:txEl>
                                          </p:spTgt>
                                        </p:tgtEl>
                                      </p:cBhvr>
                                      <p:to x="100000" y="80000"/>
                                    </p:animScale>
                                    <p:animScale>
                                      <p:cBhvr>
                                        <p:cTn id="88" dur="166" decel="50000">
                                          <p:stCondLst>
                                            <p:cond delay="1338"/>
                                          </p:stCondLst>
                                        </p:cTn>
                                        <p:tgtEl>
                                          <p:spTgt spid="3">
                                            <p:txEl>
                                              <p:pRg st="3" end="3"/>
                                            </p:txEl>
                                          </p:spTgt>
                                        </p:tgtEl>
                                      </p:cBhvr>
                                      <p:to x="100000" y="100000"/>
                                    </p:animScale>
                                    <p:animScale>
                                      <p:cBhvr>
                                        <p:cTn id="89" dur="26">
                                          <p:stCondLst>
                                            <p:cond delay="1642"/>
                                          </p:stCondLst>
                                        </p:cTn>
                                        <p:tgtEl>
                                          <p:spTgt spid="3">
                                            <p:txEl>
                                              <p:pRg st="3" end="3"/>
                                            </p:txEl>
                                          </p:spTgt>
                                        </p:tgtEl>
                                      </p:cBhvr>
                                      <p:to x="100000" y="90000"/>
                                    </p:animScale>
                                    <p:animScale>
                                      <p:cBhvr>
                                        <p:cTn id="90" dur="166" decel="50000">
                                          <p:stCondLst>
                                            <p:cond delay="1668"/>
                                          </p:stCondLst>
                                        </p:cTn>
                                        <p:tgtEl>
                                          <p:spTgt spid="3">
                                            <p:txEl>
                                              <p:pRg st="3" end="3"/>
                                            </p:txEl>
                                          </p:spTgt>
                                        </p:tgtEl>
                                      </p:cBhvr>
                                      <p:to x="100000" y="100000"/>
                                    </p:animScale>
                                    <p:animScale>
                                      <p:cBhvr>
                                        <p:cTn id="91" dur="26">
                                          <p:stCondLst>
                                            <p:cond delay="1808"/>
                                          </p:stCondLst>
                                        </p:cTn>
                                        <p:tgtEl>
                                          <p:spTgt spid="3">
                                            <p:txEl>
                                              <p:pRg st="3" end="3"/>
                                            </p:txEl>
                                          </p:spTgt>
                                        </p:tgtEl>
                                      </p:cBhvr>
                                      <p:to x="100000" y="95000"/>
                                    </p:animScale>
                                    <p:animScale>
                                      <p:cBhvr>
                                        <p:cTn id="92" dur="166" decel="50000">
                                          <p:stCondLst>
                                            <p:cond delay="1834"/>
                                          </p:stCondLst>
                                        </p:cTn>
                                        <p:tgtEl>
                                          <p:spTgt spid="3">
                                            <p:txEl>
                                              <p:pRg st="3" end="3"/>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4" end="4"/>
                                            </p:txEl>
                                          </p:spTgt>
                                        </p:tgtEl>
                                        <p:attrNameLst>
                                          <p:attrName>style.visibility</p:attrName>
                                        </p:attrNameLst>
                                      </p:cBhvr>
                                      <p:to>
                                        <p:strVal val="visible"/>
                                      </p:to>
                                    </p:set>
                                    <p:animEffect transition="in" filter="wipe(down)">
                                      <p:cBhvr>
                                        <p:cTn id="97" dur="580">
                                          <p:stCondLst>
                                            <p:cond delay="0"/>
                                          </p:stCondLst>
                                        </p:cTn>
                                        <p:tgtEl>
                                          <p:spTgt spid="3">
                                            <p:txEl>
                                              <p:pRg st="4" end="4"/>
                                            </p:txEl>
                                          </p:spTgt>
                                        </p:tgtEl>
                                      </p:cBhvr>
                                    </p:animEffect>
                                    <p:anim calcmode="lin" valueType="num">
                                      <p:cBhvr>
                                        <p:cTn id="98"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4" end="4"/>
                                            </p:txEl>
                                          </p:spTgt>
                                        </p:tgtEl>
                                      </p:cBhvr>
                                      <p:to x="100000" y="60000"/>
                                    </p:animScale>
                                    <p:animScale>
                                      <p:cBhvr>
                                        <p:cTn id="104" dur="166" decel="50000">
                                          <p:stCondLst>
                                            <p:cond delay="676"/>
                                          </p:stCondLst>
                                        </p:cTn>
                                        <p:tgtEl>
                                          <p:spTgt spid="3">
                                            <p:txEl>
                                              <p:pRg st="4" end="4"/>
                                            </p:txEl>
                                          </p:spTgt>
                                        </p:tgtEl>
                                      </p:cBhvr>
                                      <p:to x="100000" y="100000"/>
                                    </p:animScale>
                                    <p:animScale>
                                      <p:cBhvr>
                                        <p:cTn id="105" dur="26">
                                          <p:stCondLst>
                                            <p:cond delay="1312"/>
                                          </p:stCondLst>
                                        </p:cTn>
                                        <p:tgtEl>
                                          <p:spTgt spid="3">
                                            <p:txEl>
                                              <p:pRg st="4" end="4"/>
                                            </p:txEl>
                                          </p:spTgt>
                                        </p:tgtEl>
                                      </p:cBhvr>
                                      <p:to x="100000" y="80000"/>
                                    </p:animScale>
                                    <p:animScale>
                                      <p:cBhvr>
                                        <p:cTn id="106" dur="166" decel="50000">
                                          <p:stCondLst>
                                            <p:cond delay="1338"/>
                                          </p:stCondLst>
                                        </p:cTn>
                                        <p:tgtEl>
                                          <p:spTgt spid="3">
                                            <p:txEl>
                                              <p:pRg st="4" end="4"/>
                                            </p:txEl>
                                          </p:spTgt>
                                        </p:tgtEl>
                                      </p:cBhvr>
                                      <p:to x="100000" y="100000"/>
                                    </p:animScale>
                                    <p:animScale>
                                      <p:cBhvr>
                                        <p:cTn id="107" dur="26">
                                          <p:stCondLst>
                                            <p:cond delay="1642"/>
                                          </p:stCondLst>
                                        </p:cTn>
                                        <p:tgtEl>
                                          <p:spTgt spid="3">
                                            <p:txEl>
                                              <p:pRg st="4" end="4"/>
                                            </p:txEl>
                                          </p:spTgt>
                                        </p:tgtEl>
                                      </p:cBhvr>
                                      <p:to x="100000" y="90000"/>
                                    </p:animScale>
                                    <p:animScale>
                                      <p:cBhvr>
                                        <p:cTn id="108" dur="166" decel="50000">
                                          <p:stCondLst>
                                            <p:cond delay="1668"/>
                                          </p:stCondLst>
                                        </p:cTn>
                                        <p:tgtEl>
                                          <p:spTgt spid="3">
                                            <p:txEl>
                                              <p:pRg st="4" end="4"/>
                                            </p:txEl>
                                          </p:spTgt>
                                        </p:tgtEl>
                                      </p:cBhvr>
                                      <p:to x="100000" y="100000"/>
                                    </p:animScale>
                                    <p:animScale>
                                      <p:cBhvr>
                                        <p:cTn id="109" dur="26">
                                          <p:stCondLst>
                                            <p:cond delay="1808"/>
                                          </p:stCondLst>
                                        </p:cTn>
                                        <p:tgtEl>
                                          <p:spTgt spid="3">
                                            <p:txEl>
                                              <p:pRg st="4" end="4"/>
                                            </p:txEl>
                                          </p:spTgt>
                                        </p:tgtEl>
                                      </p:cBhvr>
                                      <p:to x="100000" y="95000"/>
                                    </p:animScale>
                                    <p:animScale>
                                      <p:cBhvr>
                                        <p:cTn id="110" dur="166" decel="50000">
                                          <p:stCondLst>
                                            <p:cond delay="1834"/>
                                          </p:stCondLst>
                                        </p:cTn>
                                        <p:tgtEl>
                                          <p:spTgt spid="3">
                                            <p:txEl>
                                              <p:pRg st="4" end="4"/>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3">
                                            <p:txEl>
                                              <p:pRg st="5" end="5"/>
                                            </p:txEl>
                                          </p:spTgt>
                                        </p:tgtEl>
                                        <p:attrNameLst>
                                          <p:attrName>style.visibility</p:attrName>
                                        </p:attrNameLst>
                                      </p:cBhvr>
                                      <p:to>
                                        <p:strVal val="visible"/>
                                      </p:to>
                                    </p:set>
                                    <p:animEffect transition="in" filter="wipe(down)">
                                      <p:cBhvr>
                                        <p:cTn id="115" dur="580">
                                          <p:stCondLst>
                                            <p:cond delay="0"/>
                                          </p:stCondLst>
                                        </p:cTn>
                                        <p:tgtEl>
                                          <p:spTgt spid="3">
                                            <p:txEl>
                                              <p:pRg st="5" end="5"/>
                                            </p:txEl>
                                          </p:spTgt>
                                        </p:tgtEl>
                                      </p:cBhvr>
                                    </p:animEffect>
                                    <p:anim calcmode="lin" valueType="num">
                                      <p:cBhvr>
                                        <p:cTn id="116"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5" end="5"/>
                                            </p:txEl>
                                          </p:spTgt>
                                        </p:tgtEl>
                                      </p:cBhvr>
                                      <p:to x="100000" y="60000"/>
                                    </p:animScale>
                                    <p:animScale>
                                      <p:cBhvr>
                                        <p:cTn id="122" dur="166" decel="50000">
                                          <p:stCondLst>
                                            <p:cond delay="676"/>
                                          </p:stCondLst>
                                        </p:cTn>
                                        <p:tgtEl>
                                          <p:spTgt spid="3">
                                            <p:txEl>
                                              <p:pRg st="5" end="5"/>
                                            </p:txEl>
                                          </p:spTgt>
                                        </p:tgtEl>
                                      </p:cBhvr>
                                      <p:to x="100000" y="100000"/>
                                    </p:animScale>
                                    <p:animScale>
                                      <p:cBhvr>
                                        <p:cTn id="123" dur="26">
                                          <p:stCondLst>
                                            <p:cond delay="1312"/>
                                          </p:stCondLst>
                                        </p:cTn>
                                        <p:tgtEl>
                                          <p:spTgt spid="3">
                                            <p:txEl>
                                              <p:pRg st="5" end="5"/>
                                            </p:txEl>
                                          </p:spTgt>
                                        </p:tgtEl>
                                      </p:cBhvr>
                                      <p:to x="100000" y="80000"/>
                                    </p:animScale>
                                    <p:animScale>
                                      <p:cBhvr>
                                        <p:cTn id="124" dur="166" decel="50000">
                                          <p:stCondLst>
                                            <p:cond delay="1338"/>
                                          </p:stCondLst>
                                        </p:cTn>
                                        <p:tgtEl>
                                          <p:spTgt spid="3">
                                            <p:txEl>
                                              <p:pRg st="5" end="5"/>
                                            </p:txEl>
                                          </p:spTgt>
                                        </p:tgtEl>
                                      </p:cBhvr>
                                      <p:to x="100000" y="100000"/>
                                    </p:animScale>
                                    <p:animScale>
                                      <p:cBhvr>
                                        <p:cTn id="125" dur="26">
                                          <p:stCondLst>
                                            <p:cond delay="1642"/>
                                          </p:stCondLst>
                                        </p:cTn>
                                        <p:tgtEl>
                                          <p:spTgt spid="3">
                                            <p:txEl>
                                              <p:pRg st="5" end="5"/>
                                            </p:txEl>
                                          </p:spTgt>
                                        </p:tgtEl>
                                      </p:cBhvr>
                                      <p:to x="100000" y="90000"/>
                                    </p:animScale>
                                    <p:animScale>
                                      <p:cBhvr>
                                        <p:cTn id="126" dur="166" decel="50000">
                                          <p:stCondLst>
                                            <p:cond delay="1668"/>
                                          </p:stCondLst>
                                        </p:cTn>
                                        <p:tgtEl>
                                          <p:spTgt spid="3">
                                            <p:txEl>
                                              <p:pRg st="5" end="5"/>
                                            </p:txEl>
                                          </p:spTgt>
                                        </p:tgtEl>
                                      </p:cBhvr>
                                      <p:to x="100000" y="100000"/>
                                    </p:animScale>
                                    <p:animScale>
                                      <p:cBhvr>
                                        <p:cTn id="127" dur="26">
                                          <p:stCondLst>
                                            <p:cond delay="1808"/>
                                          </p:stCondLst>
                                        </p:cTn>
                                        <p:tgtEl>
                                          <p:spTgt spid="3">
                                            <p:txEl>
                                              <p:pRg st="5" end="5"/>
                                            </p:txEl>
                                          </p:spTgt>
                                        </p:tgtEl>
                                      </p:cBhvr>
                                      <p:to x="100000" y="95000"/>
                                    </p:animScale>
                                    <p:animScale>
                                      <p:cBhvr>
                                        <p:cTn id="128" dur="166" decel="50000">
                                          <p:stCondLst>
                                            <p:cond delay="1834"/>
                                          </p:stCondLst>
                                        </p:cTn>
                                        <p:tgtEl>
                                          <p:spTgt spid="3">
                                            <p:txEl>
                                              <p:pRg st="5" end="5"/>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3">
                                            <p:txEl>
                                              <p:pRg st="6" end="6"/>
                                            </p:txEl>
                                          </p:spTgt>
                                        </p:tgtEl>
                                        <p:attrNameLst>
                                          <p:attrName>style.visibility</p:attrName>
                                        </p:attrNameLst>
                                      </p:cBhvr>
                                      <p:to>
                                        <p:strVal val="visible"/>
                                      </p:to>
                                    </p:set>
                                    <p:animEffect transition="in" filter="wipe(down)">
                                      <p:cBhvr>
                                        <p:cTn id="133" dur="580">
                                          <p:stCondLst>
                                            <p:cond delay="0"/>
                                          </p:stCondLst>
                                        </p:cTn>
                                        <p:tgtEl>
                                          <p:spTgt spid="3">
                                            <p:txEl>
                                              <p:pRg st="6" end="6"/>
                                            </p:txEl>
                                          </p:spTgt>
                                        </p:tgtEl>
                                      </p:cBhvr>
                                    </p:animEffect>
                                    <p:anim calcmode="lin" valueType="num">
                                      <p:cBhvr>
                                        <p:cTn id="13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6" end="6"/>
                                            </p:txEl>
                                          </p:spTgt>
                                        </p:tgtEl>
                                      </p:cBhvr>
                                      <p:to x="100000" y="60000"/>
                                    </p:animScale>
                                    <p:animScale>
                                      <p:cBhvr>
                                        <p:cTn id="140" dur="166" decel="50000">
                                          <p:stCondLst>
                                            <p:cond delay="676"/>
                                          </p:stCondLst>
                                        </p:cTn>
                                        <p:tgtEl>
                                          <p:spTgt spid="3">
                                            <p:txEl>
                                              <p:pRg st="6" end="6"/>
                                            </p:txEl>
                                          </p:spTgt>
                                        </p:tgtEl>
                                      </p:cBhvr>
                                      <p:to x="100000" y="100000"/>
                                    </p:animScale>
                                    <p:animScale>
                                      <p:cBhvr>
                                        <p:cTn id="141" dur="26">
                                          <p:stCondLst>
                                            <p:cond delay="1312"/>
                                          </p:stCondLst>
                                        </p:cTn>
                                        <p:tgtEl>
                                          <p:spTgt spid="3">
                                            <p:txEl>
                                              <p:pRg st="6" end="6"/>
                                            </p:txEl>
                                          </p:spTgt>
                                        </p:tgtEl>
                                      </p:cBhvr>
                                      <p:to x="100000" y="80000"/>
                                    </p:animScale>
                                    <p:animScale>
                                      <p:cBhvr>
                                        <p:cTn id="142" dur="166" decel="50000">
                                          <p:stCondLst>
                                            <p:cond delay="1338"/>
                                          </p:stCondLst>
                                        </p:cTn>
                                        <p:tgtEl>
                                          <p:spTgt spid="3">
                                            <p:txEl>
                                              <p:pRg st="6" end="6"/>
                                            </p:txEl>
                                          </p:spTgt>
                                        </p:tgtEl>
                                      </p:cBhvr>
                                      <p:to x="100000" y="100000"/>
                                    </p:animScale>
                                    <p:animScale>
                                      <p:cBhvr>
                                        <p:cTn id="143" dur="26">
                                          <p:stCondLst>
                                            <p:cond delay="1642"/>
                                          </p:stCondLst>
                                        </p:cTn>
                                        <p:tgtEl>
                                          <p:spTgt spid="3">
                                            <p:txEl>
                                              <p:pRg st="6" end="6"/>
                                            </p:txEl>
                                          </p:spTgt>
                                        </p:tgtEl>
                                      </p:cBhvr>
                                      <p:to x="100000" y="90000"/>
                                    </p:animScale>
                                    <p:animScale>
                                      <p:cBhvr>
                                        <p:cTn id="144" dur="166" decel="50000">
                                          <p:stCondLst>
                                            <p:cond delay="1668"/>
                                          </p:stCondLst>
                                        </p:cTn>
                                        <p:tgtEl>
                                          <p:spTgt spid="3">
                                            <p:txEl>
                                              <p:pRg st="6" end="6"/>
                                            </p:txEl>
                                          </p:spTgt>
                                        </p:tgtEl>
                                      </p:cBhvr>
                                      <p:to x="100000" y="100000"/>
                                    </p:animScale>
                                    <p:animScale>
                                      <p:cBhvr>
                                        <p:cTn id="145" dur="26">
                                          <p:stCondLst>
                                            <p:cond delay="1808"/>
                                          </p:stCondLst>
                                        </p:cTn>
                                        <p:tgtEl>
                                          <p:spTgt spid="3">
                                            <p:txEl>
                                              <p:pRg st="6" end="6"/>
                                            </p:txEl>
                                          </p:spTgt>
                                        </p:tgtEl>
                                      </p:cBhvr>
                                      <p:to x="100000" y="95000"/>
                                    </p:animScale>
                                    <p:animScale>
                                      <p:cBhvr>
                                        <p:cTn id="146"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76672"/>
            <a:ext cx="8229600" cy="5649491"/>
          </a:xfrm>
        </p:spPr>
        <p:txBody>
          <a:bodyPr>
            <a:normAutofit lnSpcReduction="10000"/>
          </a:bodyPr>
          <a:lstStyle/>
          <a:p>
            <a:pPr marL="0" indent="0" algn="ctr">
              <a:buNone/>
            </a:pPr>
            <a:r>
              <a:rPr lang="es-BO" dirty="0"/>
              <a:t>CUADRO CLÍNICO</a:t>
            </a:r>
          </a:p>
          <a:p>
            <a:pPr algn="just"/>
            <a:r>
              <a:rPr lang="es-BO" dirty="0"/>
              <a:t>Produce mínimas molestias; se manifiesta por secreción purulenta persistente y escasa , que procede de una elevación cutánea del tejido inflamatorio ( orificio secundario), a veces dolorosa al tacto, que puede ser única o múltiple, situado en cualquiera de los dos cuadrantes perianales , con mayor frecuencia en los posteriores a distancias variables del ano , algunas tan lejanas como 12 a 13 cm y aun más . </a:t>
            </a:r>
            <a:endParaRPr lang="es-BO" dirty="0" smtClean="0"/>
          </a:p>
          <a:p>
            <a:pPr algn="just"/>
            <a:r>
              <a:rPr lang="es-BO" dirty="0" smtClean="0"/>
              <a:t>Aproximadamente </a:t>
            </a:r>
            <a:r>
              <a:rPr lang="es-BO" dirty="0"/>
              <a:t>en la mitad de los casos se encuentra un aumento en el volumen e </a:t>
            </a:r>
            <a:r>
              <a:rPr lang="es-BO" dirty="0" err="1"/>
              <a:t>hiperpigmentaciòn</a:t>
            </a:r>
            <a:r>
              <a:rPr lang="es-BO" dirty="0"/>
              <a:t> de la piel en la región que rodea el orificio fistuloso, que traducen la presencia de un absceso que no fue totalmente vaciado. En conjunto el absceso y la fístula siguen una de las siguientes evoluciones</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875854"/>
            <a:ext cx="7745505" cy="5217442"/>
          </a:xfrm>
        </p:spPr>
        <p:txBody>
          <a:bodyPr>
            <a:normAutofit lnSpcReduction="10000"/>
          </a:bodyPr>
          <a:lstStyle/>
          <a:p>
            <a:pPr algn="just"/>
            <a:r>
              <a:rPr lang="es-BO" dirty="0"/>
              <a:t>El absceso perianal es una colección purulenta, de etiología bacteriana, localizada en algunos de los compartimentos del área perianal. Alrededor del recto y ano existen unos espacios virtuales, que normalmente están ocupados por tejido conectivo o adiposo. El espacio perianal rodea el ano y continua con el tejido subcutáneo perineal. </a:t>
            </a:r>
          </a:p>
          <a:p>
            <a:pPr algn="just"/>
            <a:r>
              <a:rPr lang="es-BO" dirty="0"/>
              <a:t>El espacio inter-</a:t>
            </a:r>
            <a:r>
              <a:rPr lang="es-BO" dirty="0" err="1"/>
              <a:t>esfinteriano</a:t>
            </a:r>
            <a:r>
              <a:rPr lang="es-BO" dirty="0"/>
              <a:t> se sitúa entre el esfínter interno y el </a:t>
            </a:r>
            <a:r>
              <a:rPr lang="es-BO" dirty="0" smtClean="0"/>
              <a:t>externo, por </a:t>
            </a:r>
            <a:r>
              <a:rPr lang="es-BO" dirty="0"/>
              <a:t>detrás y a cada lado del recto se sitúan los espacios </a:t>
            </a:r>
            <a:r>
              <a:rPr lang="es-BO" dirty="0" err="1"/>
              <a:t>isquiorrectales</a:t>
            </a:r>
            <a:r>
              <a:rPr lang="es-BO" dirty="0"/>
              <a:t>, limitados por arriba por el músculo elevador del ano, en medio por el recto y forman el espacio posterior. </a:t>
            </a:r>
            <a:endParaRPr lang="es-BO" dirty="0" smtClean="0"/>
          </a:p>
          <a:p>
            <a:pPr algn="just"/>
            <a:r>
              <a:rPr lang="es-BO" dirty="0" smtClean="0"/>
              <a:t>Por </a:t>
            </a:r>
            <a:r>
              <a:rPr lang="es-BO" dirty="0"/>
              <a:t>último existen a cada lado del recto y por arriba </a:t>
            </a:r>
            <a:r>
              <a:rPr lang="es-BO" dirty="0" smtClean="0"/>
              <a:t>de los </a:t>
            </a:r>
            <a:r>
              <a:rPr lang="es-BO" dirty="0"/>
              <a:t>elevadores del ano los espacios </a:t>
            </a:r>
            <a:r>
              <a:rPr lang="es-BO" dirty="0" err="1"/>
              <a:t>supraesfinterianos</a:t>
            </a:r>
            <a:endParaRPr lang="es-BO" dirty="0"/>
          </a:p>
        </p:txBody>
      </p:sp>
    </p:spTree>
    <p:extLst>
      <p:ext uri="{BB962C8B-B14F-4D97-AF65-F5344CB8AC3E}">
        <p14:creationId xmlns:p14="http://schemas.microsoft.com/office/powerpoint/2010/main" val="150393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80">
                                          <p:stCondLst>
                                            <p:cond delay="0"/>
                                          </p:stCondLst>
                                        </p:cTn>
                                        <p:tgtEl>
                                          <p:spTgt spid="2">
                                            <p:txEl>
                                              <p:pRg st="0" end="0"/>
                                            </p:txEl>
                                          </p:spTgt>
                                        </p:tgtEl>
                                      </p:cBhvr>
                                    </p:animEffect>
                                    <p:anim calcmode="lin" valueType="num">
                                      <p:cBhvr>
                                        <p:cTn id="8"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0" end="0"/>
                                            </p:txEl>
                                          </p:spTgt>
                                        </p:tgtEl>
                                      </p:cBhvr>
                                      <p:to x="100000" y="60000"/>
                                    </p:animScale>
                                    <p:animScale>
                                      <p:cBhvr>
                                        <p:cTn id="14" dur="166" decel="50000">
                                          <p:stCondLst>
                                            <p:cond delay="676"/>
                                          </p:stCondLst>
                                        </p:cTn>
                                        <p:tgtEl>
                                          <p:spTgt spid="2">
                                            <p:txEl>
                                              <p:pRg st="0" end="0"/>
                                            </p:txEl>
                                          </p:spTgt>
                                        </p:tgtEl>
                                      </p:cBhvr>
                                      <p:to x="100000" y="100000"/>
                                    </p:animScale>
                                    <p:animScale>
                                      <p:cBhvr>
                                        <p:cTn id="15" dur="26">
                                          <p:stCondLst>
                                            <p:cond delay="1312"/>
                                          </p:stCondLst>
                                        </p:cTn>
                                        <p:tgtEl>
                                          <p:spTgt spid="2">
                                            <p:txEl>
                                              <p:pRg st="0" end="0"/>
                                            </p:txEl>
                                          </p:spTgt>
                                        </p:tgtEl>
                                      </p:cBhvr>
                                      <p:to x="100000" y="80000"/>
                                    </p:animScale>
                                    <p:animScale>
                                      <p:cBhvr>
                                        <p:cTn id="16" dur="166" decel="50000">
                                          <p:stCondLst>
                                            <p:cond delay="1338"/>
                                          </p:stCondLst>
                                        </p:cTn>
                                        <p:tgtEl>
                                          <p:spTgt spid="2">
                                            <p:txEl>
                                              <p:pRg st="0" end="0"/>
                                            </p:txEl>
                                          </p:spTgt>
                                        </p:tgtEl>
                                      </p:cBhvr>
                                      <p:to x="100000" y="100000"/>
                                    </p:animScale>
                                    <p:animScale>
                                      <p:cBhvr>
                                        <p:cTn id="17" dur="26">
                                          <p:stCondLst>
                                            <p:cond delay="1642"/>
                                          </p:stCondLst>
                                        </p:cTn>
                                        <p:tgtEl>
                                          <p:spTgt spid="2">
                                            <p:txEl>
                                              <p:pRg st="0" end="0"/>
                                            </p:txEl>
                                          </p:spTgt>
                                        </p:tgtEl>
                                      </p:cBhvr>
                                      <p:to x="100000" y="90000"/>
                                    </p:animScale>
                                    <p:animScale>
                                      <p:cBhvr>
                                        <p:cTn id="18" dur="166" decel="50000">
                                          <p:stCondLst>
                                            <p:cond delay="1668"/>
                                          </p:stCondLst>
                                        </p:cTn>
                                        <p:tgtEl>
                                          <p:spTgt spid="2">
                                            <p:txEl>
                                              <p:pRg st="0" end="0"/>
                                            </p:txEl>
                                          </p:spTgt>
                                        </p:tgtEl>
                                      </p:cBhvr>
                                      <p:to x="100000" y="100000"/>
                                    </p:animScale>
                                    <p:animScale>
                                      <p:cBhvr>
                                        <p:cTn id="19" dur="26">
                                          <p:stCondLst>
                                            <p:cond delay="1808"/>
                                          </p:stCondLst>
                                        </p:cTn>
                                        <p:tgtEl>
                                          <p:spTgt spid="2">
                                            <p:txEl>
                                              <p:pRg st="0" end="0"/>
                                            </p:txEl>
                                          </p:spTgt>
                                        </p:tgtEl>
                                      </p:cBhvr>
                                      <p:to x="100000" y="95000"/>
                                    </p:animScale>
                                    <p:animScale>
                                      <p:cBhvr>
                                        <p:cTn id="20" dur="166" decel="50000">
                                          <p:stCondLst>
                                            <p:cond delay="1834"/>
                                          </p:stCondLst>
                                        </p:cTn>
                                        <p:tgtEl>
                                          <p:spTgt spid="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down)">
                                      <p:cBhvr>
                                        <p:cTn id="25" dur="580">
                                          <p:stCondLst>
                                            <p:cond delay="0"/>
                                          </p:stCondLst>
                                        </p:cTn>
                                        <p:tgtEl>
                                          <p:spTgt spid="2">
                                            <p:txEl>
                                              <p:pRg st="1" end="1"/>
                                            </p:txEl>
                                          </p:spTgt>
                                        </p:tgtEl>
                                      </p:cBhvr>
                                    </p:animEffect>
                                    <p:anim calcmode="lin" valueType="num">
                                      <p:cBhvr>
                                        <p:cTn id="26"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1" end="1"/>
                                            </p:txEl>
                                          </p:spTgt>
                                        </p:tgtEl>
                                      </p:cBhvr>
                                      <p:to x="100000" y="60000"/>
                                    </p:animScale>
                                    <p:animScale>
                                      <p:cBhvr>
                                        <p:cTn id="32" dur="166" decel="50000">
                                          <p:stCondLst>
                                            <p:cond delay="676"/>
                                          </p:stCondLst>
                                        </p:cTn>
                                        <p:tgtEl>
                                          <p:spTgt spid="2">
                                            <p:txEl>
                                              <p:pRg st="1" end="1"/>
                                            </p:txEl>
                                          </p:spTgt>
                                        </p:tgtEl>
                                      </p:cBhvr>
                                      <p:to x="100000" y="100000"/>
                                    </p:animScale>
                                    <p:animScale>
                                      <p:cBhvr>
                                        <p:cTn id="33" dur="26">
                                          <p:stCondLst>
                                            <p:cond delay="1312"/>
                                          </p:stCondLst>
                                        </p:cTn>
                                        <p:tgtEl>
                                          <p:spTgt spid="2">
                                            <p:txEl>
                                              <p:pRg st="1" end="1"/>
                                            </p:txEl>
                                          </p:spTgt>
                                        </p:tgtEl>
                                      </p:cBhvr>
                                      <p:to x="100000" y="80000"/>
                                    </p:animScale>
                                    <p:animScale>
                                      <p:cBhvr>
                                        <p:cTn id="34" dur="166" decel="50000">
                                          <p:stCondLst>
                                            <p:cond delay="1338"/>
                                          </p:stCondLst>
                                        </p:cTn>
                                        <p:tgtEl>
                                          <p:spTgt spid="2">
                                            <p:txEl>
                                              <p:pRg st="1" end="1"/>
                                            </p:txEl>
                                          </p:spTgt>
                                        </p:tgtEl>
                                      </p:cBhvr>
                                      <p:to x="100000" y="100000"/>
                                    </p:animScale>
                                    <p:animScale>
                                      <p:cBhvr>
                                        <p:cTn id="35" dur="26">
                                          <p:stCondLst>
                                            <p:cond delay="1642"/>
                                          </p:stCondLst>
                                        </p:cTn>
                                        <p:tgtEl>
                                          <p:spTgt spid="2">
                                            <p:txEl>
                                              <p:pRg st="1" end="1"/>
                                            </p:txEl>
                                          </p:spTgt>
                                        </p:tgtEl>
                                      </p:cBhvr>
                                      <p:to x="100000" y="90000"/>
                                    </p:animScale>
                                    <p:animScale>
                                      <p:cBhvr>
                                        <p:cTn id="36" dur="166" decel="50000">
                                          <p:stCondLst>
                                            <p:cond delay="1668"/>
                                          </p:stCondLst>
                                        </p:cTn>
                                        <p:tgtEl>
                                          <p:spTgt spid="2">
                                            <p:txEl>
                                              <p:pRg st="1" end="1"/>
                                            </p:txEl>
                                          </p:spTgt>
                                        </p:tgtEl>
                                      </p:cBhvr>
                                      <p:to x="100000" y="100000"/>
                                    </p:animScale>
                                    <p:animScale>
                                      <p:cBhvr>
                                        <p:cTn id="37" dur="26">
                                          <p:stCondLst>
                                            <p:cond delay="1808"/>
                                          </p:stCondLst>
                                        </p:cTn>
                                        <p:tgtEl>
                                          <p:spTgt spid="2">
                                            <p:txEl>
                                              <p:pRg st="1" end="1"/>
                                            </p:txEl>
                                          </p:spTgt>
                                        </p:tgtEl>
                                      </p:cBhvr>
                                      <p:to x="100000" y="95000"/>
                                    </p:animScale>
                                    <p:animScale>
                                      <p:cBhvr>
                                        <p:cTn id="38" dur="166" decel="50000">
                                          <p:stCondLst>
                                            <p:cond delay="1834"/>
                                          </p:stCondLst>
                                        </p:cTn>
                                        <p:tgtEl>
                                          <p:spTgt spid="2">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ipe(down)">
                                      <p:cBhvr>
                                        <p:cTn id="43" dur="580">
                                          <p:stCondLst>
                                            <p:cond delay="0"/>
                                          </p:stCondLst>
                                        </p:cTn>
                                        <p:tgtEl>
                                          <p:spTgt spid="2">
                                            <p:txEl>
                                              <p:pRg st="2" end="2"/>
                                            </p:txEl>
                                          </p:spTgt>
                                        </p:tgtEl>
                                      </p:cBhvr>
                                    </p:animEffect>
                                    <p:anim calcmode="lin" valueType="num">
                                      <p:cBhvr>
                                        <p:cTn id="4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2" end="2"/>
                                            </p:txEl>
                                          </p:spTgt>
                                        </p:tgtEl>
                                      </p:cBhvr>
                                      <p:to x="100000" y="60000"/>
                                    </p:animScale>
                                    <p:animScale>
                                      <p:cBhvr>
                                        <p:cTn id="50" dur="166" decel="50000">
                                          <p:stCondLst>
                                            <p:cond delay="676"/>
                                          </p:stCondLst>
                                        </p:cTn>
                                        <p:tgtEl>
                                          <p:spTgt spid="2">
                                            <p:txEl>
                                              <p:pRg st="2" end="2"/>
                                            </p:txEl>
                                          </p:spTgt>
                                        </p:tgtEl>
                                      </p:cBhvr>
                                      <p:to x="100000" y="100000"/>
                                    </p:animScale>
                                    <p:animScale>
                                      <p:cBhvr>
                                        <p:cTn id="51" dur="26">
                                          <p:stCondLst>
                                            <p:cond delay="1312"/>
                                          </p:stCondLst>
                                        </p:cTn>
                                        <p:tgtEl>
                                          <p:spTgt spid="2">
                                            <p:txEl>
                                              <p:pRg st="2" end="2"/>
                                            </p:txEl>
                                          </p:spTgt>
                                        </p:tgtEl>
                                      </p:cBhvr>
                                      <p:to x="100000" y="80000"/>
                                    </p:animScale>
                                    <p:animScale>
                                      <p:cBhvr>
                                        <p:cTn id="52" dur="166" decel="50000">
                                          <p:stCondLst>
                                            <p:cond delay="1338"/>
                                          </p:stCondLst>
                                        </p:cTn>
                                        <p:tgtEl>
                                          <p:spTgt spid="2">
                                            <p:txEl>
                                              <p:pRg st="2" end="2"/>
                                            </p:txEl>
                                          </p:spTgt>
                                        </p:tgtEl>
                                      </p:cBhvr>
                                      <p:to x="100000" y="100000"/>
                                    </p:animScale>
                                    <p:animScale>
                                      <p:cBhvr>
                                        <p:cTn id="53" dur="26">
                                          <p:stCondLst>
                                            <p:cond delay="1642"/>
                                          </p:stCondLst>
                                        </p:cTn>
                                        <p:tgtEl>
                                          <p:spTgt spid="2">
                                            <p:txEl>
                                              <p:pRg st="2" end="2"/>
                                            </p:txEl>
                                          </p:spTgt>
                                        </p:tgtEl>
                                      </p:cBhvr>
                                      <p:to x="100000" y="90000"/>
                                    </p:animScale>
                                    <p:animScale>
                                      <p:cBhvr>
                                        <p:cTn id="54" dur="166" decel="50000">
                                          <p:stCondLst>
                                            <p:cond delay="1668"/>
                                          </p:stCondLst>
                                        </p:cTn>
                                        <p:tgtEl>
                                          <p:spTgt spid="2">
                                            <p:txEl>
                                              <p:pRg st="2" end="2"/>
                                            </p:txEl>
                                          </p:spTgt>
                                        </p:tgtEl>
                                      </p:cBhvr>
                                      <p:to x="100000" y="100000"/>
                                    </p:animScale>
                                    <p:animScale>
                                      <p:cBhvr>
                                        <p:cTn id="55" dur="26">
                                          <p:stCondLst>
                                            <p:cond delay="1808"/>
                                          </p:stCondLst>
                                        </p:cTn>
                                        <p:tgtEl>
                                          <p:spTgt spid="2">
                                            <p:txEl>
                                              <p:pRg st="2" end="2"/>
                                            </p:txEl>
                                          </p:spTgt>
                                        </p:tgtEl>
                                      </p:cBhvr>
                                      <p:to x="100000" y="95000"/>
                                    </p:animScale>
                                    <p:animScale>
                                      <p:cBhvr>
                                        <p:cTn id="56" dur="166" decel="50000">
                                          <p:stCondLst>
                                            <p:cond delay="1834"/>
                                          </p:stCondLst>
                                        </p:cTn>
                                        <p:tgtEl>
                                          <p:spTgt spid="2">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76672"/>
            <a:ext cx="8229600" cy="5649491"/>
          </a:xfrm>
        </p:spPr>
        <p:txBody>
          <a:bodyPr>
            <a:normAutofit/>
          </a:bodyPr>
          <a:lstStyle/>
          <a:p>
            <a:pPr algn="just"/>
            <a:r>
              <a:rPr lang="es-BO" dirty="0"/>
              <a:t>De acuerdo con el espacio </a:t>
            </a:r>
            <a:r>
              <a:rPr lang="es-BO" dirty="0" err="1" smtClean="0"/>
              <a:t>perirrectal</a:t>
            </a:r>
            <a:r>
              <a:rPr lang="es-BO" dirty="0" smtClean="0"/>
              <a:t> en </a:t>
            </a:r>
            <a:r>
              <a:rPr lang="es-BO" dirty="0"/>
              <a:t>que se encuentren, los abscesos se </a:t>
            </a:r>
            <a:r>
              <a:rPr lang="es-BO" dirty="0" smtClean="0"/>
              <a:t>dividen en</a:t>
            </a:r>
            <a:r>
              <a:rPr lang="es-BO" dirty="0"/>
              <a:t>; perianales, </a:t>
            </a:r>
            <a:r>
              <a:rPr lang="es-BO" dirty="0" err="1" smtClean="0"/>
              <a:t>interesfinterianos</a:t>
            </a:r>
            <a:r>
              <a:rPr lang="es-BO" dirty="0" smtClean="0"/>
              <a:t>, </a:t>
            </a:r>
            <a:r>
              <a:rPr lang="es-BO" dirty="0" err="1" smtClean="0"/>
              <a:t>isquiorrectales</a:t>
            </a:r>
            <a:r>
              <a:rPr lang="es-BO" dirty="0" smtClean="0"/>
              <a:t> </a:t>
            </a:r>
            <a:r>
              <a:rPr lang="es-BO" dirty="0"/>
              <a:t>y </a:t>
            </a:r>
            <a:r>
              <a:rPr lang="es-BO" dirty="0" err="1" smtClean="0"/>
              <a:t>supraesfinterianos</a:t>
            </a:r>
            <a:r>
              <a:rPr lang="es-BO" dirty="0" smtClean="0"/>
              <a:t>. Algunas </a:t>
            </a:r>
            <a:r>
              <a:rPr lang="es-BO" dirty="0"/>
              <a:t>de las causas más </a:t>
            </a:r>
            <a:r>
              <a:rPr lang="es-BO" dirty="0" smtClean="0"/>
              <a:t>frecuentes de </a:t>
            </a:r>
            <a:r>
              <a:rPr lang="es-BO" dirty="0"/>
              <a:t>los abscesos son:</a:t>
            </a:r>
          </a:p>
          <a:p>
            <a:pPr marL="0" indent="0" algn="just">
              <a:buNone/>
            </a:pPr>
            <a:r>
              <a:rPr lang="es-BO" dirty="0"/>
              <a:t>• Infección de una fisura anal.</a:t>
            </a:r>
          </a:p>
          <a:p>
            <a:pPr marL="0" indent="0" algn="just">
              <a:buNone/>
            </a:pPr>
            <a:r>
              <a:rPr lang="es-BO" dirty="0"/>
              <a:t>• Infecciones transmitidas sexualmente.</a:t>
            </a:r>
          </a:p>
          <a:p>
            <a:pPr marL="0" indent="0" algn="just">
              <a:buNone/>
            </a:pPr>
            <a:r>
              <a:rPr lang="es-BO" dirty="0"/>
              <a:t>• Obstrucción de las glándulas del </a:t>
            </a:r>
            <a:r>
              <a:rPr lang="es-BO" dirty="0" smtClean="0"/>
              <a:t>ano</a:t>
            </a:r>
          </a:p>
          <a:p>
            <a:pPr algn="just"/>
            <a:r>
              <a:rPr lang="es-BO" dirty="0" smtClean="0"/>
              <a:t>Los </a:t>
            </a:r>
            <a:r>
              <a:rPr lang="es-BO" dirty="0"/>
              <a:t>grupos de riesgo incluyen </a:t>
            </a:r>
            <a:r>
              <a:rPr lang="es-BO" dirty="0" smtClean="0"/>
              <a:t>diabéticos, pacientes </a:t>
            </a:r>
            <a:r>
              <a:rPr lang="es-BO" dirty="0"/>
              <a:t>inmunocomprometidos, </a:t>
            </a:r>
            <a:r>
              <a:rPr lang="es-BO" dirty="0" smtClean="0"/>
              <a:t>personas que </a:t>
            </a:r>
            <a:r>
              <a:rPr lang="es-BO" dirty="0"/>
              <a:t>practican el sexo anal y pacientes </a:t>
            </a:r>
            <a:r>
              <a:rPr lang="es-BO" dirty="0" smtClean="0"/>
              <a:t>con enfermedad </a:t>
            </a:r>
            <a:r>
              <a:rPr lang="es-BO" dirty="0"/>
              <a:t>inflamatoria </a:t>
            </a:r>
            <a:r>
              <a:rPr lang="es-BO" dirty="0" smtClean="0"/>
              <a:t>intestinal. </a:t>
            </a:r>
            <a:endParaRPr lang="es-BO" dirty="0"/>
          </a:p>
          <a:p>
            <a:pPr marL="0" indent="0" algn="just">
              <a:buNone/>
            </a:pPr>
            <a:endParaRPr lang="es-BO" dirty="0"/>
          </a:p>
        </p:txBody>
      </p:sp>
    </p:spTree>
    <p:extLst>
      <p:ext uri="{BB962C8B-B14F-4D97-AF65-F5344CB8AC3E}">
        <p14:creationId xmlns:p14="http://schemas.microsoft.com/office/powerpoint/2010/main" val="388930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556793"/>
            <a:ext cx="7745505" cy="1440159"/>
          </a:xfrm>
        </p:spPr>
        <p:txBody>
          <a:bodyPr>
            <a:normAutofit fontScale="70000" lnSpcReduction="20000"/>
          </a:bodyPr>
          <a:lstStyle/>
          <a:p>
            <a:pPr marL="0" indent="0" algn="just">
              <a:buNone/>
            </a:pPr>
            <a:endParaRPr lang="es-BO" dirty="0" smtClean="0"/>
          </a:p>
          <a:p>
            <a:pPr marL="0" indent="0" algn="just">
              <a:buNone/>
            </a:pPr>
            <a:r>
              <a:rPr lang="es-BO" dirty="0" smtClean="0"/>
              <a:t>• Secreción de pus por el recto.</a:t>
            </a:r>
          </a:p>
          <a:p>
            <a:pPr marL="0" indent="0" algn="just">
              <a:buNone/>
            </a:pPr>
            <a:endParaRPr lang="es-BO" dirty="0" smtClean="0"/>
          </a:p>
          <a:p>
            <a:pPr marL="0" indent="0" algn="just">
              <a:buNone/>
            </a:pPr>
            <a:r>
              <a:rPr lang="es-BO" dirty="0" smtClean="0"/>
              <a:t>• Bulto o nódulo, inflamado, rojo, blando en el borde </a:t>
            </a:r>
          </a:p>
          <a:p>
            <a:pPr marL="0" indent="0" algn="just">
              <a:buNone/>
            </a:pPr>
            <a:r>
              <a:rPr lang="es-BO" dirty="0" smtClean="0"/>
              <a:t>    del   ano, Fiebre o   febrícula</a:t>
            </a:r>
          </a:p>
        </p:txBody>
      </p:sp>
      <p:sp>
        <p:nvSpPr>
          <p:cNvPr id="3" name="2 Título"/>
          <p:cNvSpPr>
            <a:spLocks noGrp="1"/>
          </p:cNvSpPr>
          <p:nvPr>
            <p:ph type="title"/>
          </p:nvPr>
        </p:nvSpPr>
        <p:spPr/>
        <p:txBody>
          <a:bodyPr/>
          <a:lstStyle/>
          <a:p>
            <a:r>
              <a:rPr lang="es-BO" dirty="0" smtClean="0"/>
              <a:t>Los síntomas son: </a:t>
            </a:r>
            <a:endParaRPr lang="es-E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356992"/>
            <a:ext cx="3816424" cy="309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down)">
                                      <p:cBhvr>
                                        <p:cTn id="25" dur="580">
                                          <p:stCondLst>
                                            <p:cond delay="0"/>
                                          </p:stCondLst>
                                        </p:cTn>
                                        <p:tgtEl>
                                          <p:spTgt spid="2">
                                            <p:txEl>
                                              <p:pRg st="1" end="1"/>
                                            </p:txEl>
                                          </p:spTgt>
                                        </p:tgtEl>
                                      </p:cBhvr>
                                    </p:animEffect>
                                    <p:anim calcmode="lin" valueType="num">
                                      <p:cBhvr>
                                        <p:cTn id="26"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1" end="1"/>
                                            </p:txEl>
                                          </p:spTgt>
                                        </p:tgtEl>
                                      </p:cBhvr>
                                      <p:to x="100000" y="60000"/>
                                    </p:animScale>
                                    <p:animScale>
                                      <p:cBhvr>
                                        <p:cTn id="32" dur="166" decel="50000">
                                          <p:stCondLst>
                                            <p:cond delay="676"/>
                                          </p:stCondLst>
                                        </p:cTn>
                                        <p:tgtEl>
                                          <p:spTgt spid="2">
                                            <p:txEl>
                                              <p:pRg st="1" end="1"/>
                                            </p:txEl>
                                          </p:spTgt>
                                        </p:tgtEl>
                                      </p:cBhvr>
                                      <p:to x="100000" y="100000"/>
                                    </p:animScale>
                                    <p:animScale>
                                      <p:cBhvr>
                                        <p:cTn id="33" dur="26">
                                          <p:stCondLst>
                                            <p:cond delay="1312"/>
                                          </p:stCondLst>
                                        </p:cTn>
                                        <p:tgtEl>
                                          <p:spTgt spid="2">
                                            <p:txEl>
                                              <p:pRg st="1" end="1"/>
                                            </p:txEl>
                                          </p:spTgt>
                                        </p:tgtEl>
                                      </p:cBhvr>
                                      <p:to x="100000" y="80000"/>
                                    </p:animScale>
                                    <p:animScale>
                                      <p:cBhvr>
                                        <p:cTn id="34" dur="166" decel="50000">
                                          <p:stCondLst>
                                            <p:cond delay="1338"/>
                                          </p:stCondLst>
                                        </p:cTn>
                                        <p:tgtEl>
                                          <p:spTgt spid="2">
                                            <p:txEl>
                                              <p:pRg st="1" end="1"/>
                                            </p:txEl>
                                          </p:spTgt>
                                        </p:tgtEl>
                                      </p:cBhvr>
                                      <p:to x="100000" y="100000"/>
                                    </p:animScale>
                                    <p:animScale>
                                      <p:cBhvr>
                                        <p:cTn id="35" dur="26">
                                          <p:stCondLst>
                                            <p:cond delay="1642"/>
                                          </p:stCondLst>
                                        </p:cTn>
                                        <p:tgtEl>
                                          <p:spTgt spid="2">
                                            <p:txEl>
                                              <p:pRg st="1" end="1"/>
                                            </p:txEl>
                                          </p:spTgt>
                                        </p:tgtEl>
                                      </p:cBhvr>
                                      <p:to x="100000" y="90000"/>
                                    </p:animScale>
                                    <p:animScale>
                                      <p:cBhvr>
                                        <p:cTn id="36" dur="166" decel="50000">
                                          <p:stCondLst>
                                            <p:cond delay="1668"/>
                                          </p:stCondLst>
                                        </p:cTn>
                                        <p:tgtEl>
                                          <p:spTgt spid="2">
                                            <p:txEl>
                                              <p:pRg st="1" end="1"/>
                                            </p:txEl>
                                          </p:spTgt>
                                        </p:tgtEl>
                                      </p:cBhvr>
                                      <p:to x="100000" y="100000"/>
                                    </p:animScale>
                                    <p:animScale>
                                      <p:cBhvr>
                                        <p:cTn id="37" dur="26">
                                          <p:stCondLst>
                                            <p:cond delay="1808"/>
                                          </p:stCondLst>
                                        </p:cTn>
                                        <p:tgtEl>
                                          <p:spTgt spid="2">
                                            <p:txEl>
                                              <p:pRg st="1" end="1"/>
                                            </p:txEl>
                                          </p:spTgt>
                                        </p:tgtEl>
                                      </p:cBhvr>
                                      <p:to x="100000" y="95000"/>
                                    </p:animScale>
                                    <p:animScale>
                                      <p:cBhvr>
                                        <p:cTn id="38" dur="166" decel="50000">
                                          <p:stCondLst>
                                            <p:cond delay="1834"/>
                                          </p:stCondLst>
                                        </p:cTn>
                                        <p:tgtEl>
                                          <p:spTgt spid="2">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animEffect transition="in" filter="wipe(down)">
                                      <p:cBhvr>
                                        <p:cTn id="43" dur="580">
                                          <p:stCondLst>
                                            <p:cond delay="0"/>
                                          </p:stCondLst>
                                        </p:cTn>
                                        <p:tgtEl>
                                          <p:spTgt spid="2">
                                            <p:txEl>
                                              <p:pRg st="3" end="3"/>
                                            </p:txEl>
                                          </p:spTgt>
                                        </p:tgtEl>
                                      </p:cBhvr>
                                    </p:animEffect>
                                    <p:anim calcmode="lin" valueType="num">
                                      <p:cBhvr>
                                        <p:cTn id="44"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3" end="3"/>
                                            </p:txEl>
                                          </p:spTgt>
                                        </p:tgtEl>
                                      </p:cBhvr>
                                      <p:to x="100000" y="60000"/>
                                    </p:animScale>
                                    <p:animScale>
                                      <p:cBhvr>
                                        <p:cTn id="50" dur="166" decel="50000">
                                          <p:stCondLst>
                                            <p:cond delay="676"/>
                                          </p:stCondLst>
                                        </p:cTn>
                                        <p:tgtEl>
                                          <p:spTgt spid="2">
                                            <p:txEl>
                                              <p:pRg st="3" end="3"/>
                                            </p:txEl>
                                          </p:spTgt>
                                        </p:tgtEl>
                                      </p:cBhvr>
                                      <p:to x="100000" y="100000"/>
                                    </p:animScale>
                                    <p:animScale>
                                      <p:cBhvr>
                                        <p:cTn id="51" dur="26">
                                          <p:stCondLst>
                                            <p:cond delay="1312"/>
                                          </p:stCondLst>
                                        </p:cTn>
                                        <p:tgtEl>
                                          <p:spTgt spid="2">
                                            <p:txEl>
                                              <p:pRg st="3" end="3"/>
                                            </p:txEl>
                                          </p:spTgt>
                                        </p:tgtEl>
                                      </p:cBhvr>
                                      <p:to x="100000" y="80000"/>
                                    </p:animScale>
                                    <p:animScale>
                                      <p:cBhvr>
                                        <p:cTn id="52" dur="166" decel="50000">
                                          <p:stCondLst>
                                            <p:cond delay="1338"/>
                                          </p:stCondLst>
                                        </p:cTn>
                                        <p:tgtEl>
                                          <p:spTgt spid="2">
                                            <p:txEl>
                                              <p:pRg st="3" end="3"/>
                                            </p:txEl>
                                          </p:spTgt>
                                        </p:tgtEl>
                                      </p:cBhvr>
                                      <p:to x="100000" y="100000"/>
                                    </p:animScale>
                                    <p:animScale>
                                      <p:cBhvr>
                                        <p:cTn id="53" dur="26">
                                          <p:stCondLst>
                                            <p:cond delay="1642"/>
                                          </p:stCondLst>
                                        </p:cTn>
                                        <p:tgtEl>
                                          <p:spTgt spid="2">
                                            <p:txEl>
                                              <p:pRg st="3" end="3"/>
                                            </p:txEl>
                                          </p:spTgt>
                                        </p:tgtEl>
                                      </p:cBhvr>
                                      <p:to x="100000" y="90000"/>
                                    </p:animScale>
                                    <p:animScale>
                                      <p:cBhvr>
                                        <p:cTn id="54" dur="166" decel="50000">
                                          <p:stCondLst>
                                            <p:cond delay="1668"/>
                                          </p:stCondLst>
                                        </p:cTn>
                                        <p:tgtEl>
                                          <p:spTgt spid="2">
                                            <p:txEl>
                                              <p:pRg st="3" end="3"/>
                                            </p:txEl>
                                          </p:spTgt>
                                        </p:tgtEl>
                                      </p:cBhvr>
                                      <p:to x="100000" y="100000"/>
                                    </p:animScale>
                                    <p:animScale>
                                      <p:cBhvr>
                                        <p:cTn id="55" dur="26">
                                          <p:stCondLst>
                                            <p:cond delay="1808"/>
                                          </p:stCondLst>
                                        </p:cTn>
                                        <p:tgtEl>
                                          <p:spTgt spid="2">
                                            <p:txEl>
                                              <p:pRg st="3" end="3"/>
                                            </p:txEl>
                                          </p:spTgt>
                                        </p:tgtEl>
                                      </p:cBhvr>
                                      <p:to x="100000" y="95000"/>
                                    </p:animScale>
                                    <p:animScale>
                                      <p:cBhvr>
                                        <p:cTn id="56" dur="166" decel="50000">
                                          <p:stCondLst>
                                            <p:cond delay="1834"/>
                                          </p:stCondLst>
                                        </p:cTn>
                                        <p:tgtEl>
                                          <p:spTgt spid="2">
                                            <p:txEl>
                                              <p:pRg st="3" end="3"/>
                                            </p:txEl>
                                          </p:spTgt>
                                        </p:tgtEl>
                                      </p:cBhvr>
                                      <p:to x="100000" y="100000"/>
                                    </p:animScale>
                                  </p:childTnLst>
                                </p:cTn>
                              </p:par>
                              <p:par>
                                <p:cTn id="57" presetID="26" presetClass="entr" presetSubtype="0" fill="hold" nodeType="withEffect">
                                  <p:stCondLst>
                                    <p:cond delay="0"/>
                                  </p:stCondLst>
                                  <p:childTnLst>
                                    <p:set>
                                      <p:cBhvr>
                                        <p:cTn id="58" dur="1" fill="hold">
                                          <p:stCondLst>
                                            <p:cond delay="0"/>
                                          </p:stCondLst>
                                        </p:cTn>
                                        <p:tgtEl>
                                          <p:spTgt spid="2">
                                            <p:txEl>
                                              <p:pRg st="4" end="4"/>
                                            </p:txEl>
                                          </p:spTgt>
                                        </p:tgtEl>
                                        <p:attrNameLst>
                                          <p:attrName>style.visibility</p:attrName>
                                        </p:attrNameLst>
                                      </p:cBhvr>
                                      <p:to>
                                        <p:strVal val="visible"/>
                                      </p:to>
                                    </p:set>
                                    <p:animEffect transition="in" filter="wipe(down)">
                                      <p:cBhvr>
                                        <p:cTn id="59" dur="580">
                                          <p:stCondLst>
                                            <p:cond delay="0"/>
                                          </p:stCondLst>
                                        </p:cTn>
                                        <p:tgtEl>
                                          <p:spTgt spid="2">
                                            <p:txEl>
                                              <p:pRg st="4" end="4"/>
                                            </p:txEl>
                                          </p:spTgt>
                                        </p:tgtEl>
                                      </p:cBhvr>
                                    </p:animEffect>
                                    <p:anim calcmode="lin" valueType="num">
                                      <p:cBhvr>
                                        <p:cTn id="60"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65" dur="26">
                                          <p:stCondLst>
                                            <p:cond delay="650"/>
                                          </p:stCondLst>
                                        </p:cTn>
                                        <p:tgtEl>
                                          <p:spTgt spid="2">
                                            <p:txEl>
                                              <p:pRg st="4" end="4"/>
                                            </p:txEl>
                                          </p:spTgt>
                                        </p:tgtEl>
                                      </p:cBhvr>
                                      <p:to x="100000" y="60000"/>
                                    </p:animScale>
                                    <p:animScale>
                                      <p:cBhvr>
                                        <p:cTn id="66" dur="166" decel="50000">
                                          <p:stCondLst>
                                            <p:cond delay="676"/>
                                          </p:stCondLst>
                                        </p:cTn>
                                        <p:tgtEl>
                                          <p:spTgt spid="2">
                                            <p:txEl>
                                              <p:pRg st="4" end="4"/>
                                            </p:txEl>
                                          </p:spTgt>
                                        </p:tgtEl>
                                      </p:cBhvr>
                                      <p:to x="100000" y="100000"/>
                                    </p:animScale>
                                    <p:animScale>
                                      <p:cBhvr>
                                        <p:cTn id="67" dur="26">
                                          <p:stCondLst>
                                            <p:cond delay="1312"/>
                                          </p:stCondLst>
                                        </p:cTn>
                                        <p:tgtEl>
                                          <p:spTgt spid="2">
                                            <p:txEl>
                                              <p:pRg st="4" end="4"/>
                                            </p:txEl>
                                          </p:spTgt>
                                        </p:tgtEl>
                                      </p:cBhvr>
                                      <p:to x="100000" y="80000"/>
                                    </p:animScale>
                                    <p:animScale>
                                      <p:cBhvr>
                                        <p:cTn id="68" dur="166" decel="50000">
                                          <p:stCondLst>
                                            <p:cond delay="1338"/>
                                          </p:stCondLst>
                                        </p:cTn>
                                        <p:tgtEl>
                                          <p:spTgt spid="2">
                                            <p:txEl>
                                              <p:pRg st="4" end="4"/>
                                            </p:txEl>
                                          </p:spTgt>
                                        </p:tgtEl>
                                      </p:cBhvr>
                                      <p:to x="100000" y="100000"/>
                                    </p:animScale>
                                    <p:animScale>
                                      <p:cBhvr>
                                        <p:cTn id="69" dur="26">
                                          <p:stCondLst>
                                            <p:cond delay="1642"/>
                                          </p:stCondLst>
                                        </p:cTn>
                                        <p:tgtEl>
                                          <p:spTgt spid="2">
                                            <p:txEl>
                                              <p:pRg st="4" end="4"/>
                                            </p:txEl>
                                          </p:spTgt>
                                        </p:tgtEl>
                                      </p:cBhvr>
                                      <p:to x="100000" y="90000"/>
                                    </p:animScale>
                                    <p:animScale>
                                      <p:cBhvr>
                                        <p:cTn id="70" dur="166" decel="50000">
                                          <p:stCondLst>
                                            <p:cond delay="1668"/>
                                          </p:stCondLst>
                                        </p:cTn>
                                        <p:tgtEl>
                                          <p:spTgt spid="2">
                                            <p:txEl>
                                              <p:pRg st="4" end="4"/>
                                            </p:txEl>
                                          </p:spTgt>
                                        </p:tgtEl>
                                      </p:cBhvr>
                                      <p:to x="100000" y="100000"/>
                                    </p:animScale>
                                    <p:animScale>
                                      <p:cBhvr>
                                        <p:cTn id="71" dur="26">
                                          <p:stCondLst>
                                            <p:cond delay="1808"/>
                                          </p:stCondLst>
                                        </p:cTn>
                                        <p:tgtEl>
                                          <p:spTgt spid="2">
                                            <p:txEl>
                                              <p:pRg st="4" end="4"/>
                                            </p:txEl>
                                          </p:spTgt>
                                        </p:tgtEl>
                                      </p:cBhvr>
                                      <p:to x="100000" y="95000"/>
                                    </p:animScale>
                                    <p:animScale>
                                      <p:cBhvr>
                                        <p:cTn id="72" dur="166" decel="50000">
                                          <p:stCondLst>
                                            <p:cond delay="1834"/>
                                          </p:stCondLst>
                                        </p:cTn>
                                        <p:tgtEl>
                                          <p:spTgt spid="2">
                                            <p:txEl>
                                              <p:pRg st="4" end="4"/>
                                            </p:txEl>
                                          </p:spTgt>
                                        </p:tgtEl>
                                      </p:cBhvr>
                                      <p:to x="100000" y="100000"/>
                                    </p:animScale>
                                  </p:childTnLst>
                                </p:cTn>
                              </p:par>
                            </p:childTnLst>
                          </p:cTn>
                        </p:par>
                      </p:childTnLst>
                    </p:cTn>
                  </p:par>
                  <p:par>
                    <p:cTn id="73" fill="hold">
                      <p:stCondLst>
                        <p:cond delay="indefinite"/>
                      </p:stCondLst>
                      <p:childTnLst>
                        <p:par>
                          <p:cTn id="74" fill="hold">
                            <p:stCondLst>
                              <p:cond delay="0"/>
                            </p:stCondLst>
                            <p:childTnLst>
                              <p:par>
                                <p:cTn id="75" presetID="26" presetClass="entr" presetSubtype="0" fill="hold" nodeType="clickEffect">
                                  <p:stCondLst>
                                    <p:cond delay="0"/>
                                  </p:stCondLst>
                                  <p:childTnLst>
                                    <p:set>
                                      <p:cBhvr>
                                        <p:cTn id="76" dur="1" fill="hold">
                                          <p:stCondLst>
                                            <p:cond delay="0"/>
                                          </p:stCondLst>
                                        </p:cTn>
                                        <p:tgtEl>
                                          <p:spTgt spid="3074"/>
                                        </p:tgtEl>
                                        <p:attrNameLst>
                                          <p:attrName>style.visibility</p:attrName>
                                        </p:attrNameLst>
                                      </p:cBhvr>
                                      <p:to>
                                        <p:strVal val="visible"/>
                                      </p:to>
                                    </p:set>
                                    <p:animEffect transition="in" filter="wipe(down)">
                                      <p:cBhvr>
                                        <p:cTn id="77" dur="580">
                                          <p:stCondLst>
                                            <p:cond delay="0"/>
                                          </p:stCondLst>
                                        </p:cTn>
                                        <p:tgtEl>
                                          <p:spTgt spid="3074"/>
                                        </p:tgtEl>
                                      </p:cBhvr>
                                    </p:animEffect>
                                    <p:anim calcmode="lin" valueType="num">
                                      <p:cBhvr>
                                        <p:cTn id="78" dur="1822" tmFilter="0,0; 0.14,0.36; 0.43,0.73; 0.71,0.91; 1.0,1.0">
                                          <p:stCondLst>
                                            <p:cond delay="0"/>
                                          </p:stCondLst>
                                        </p:cTn>
                                        <p:tgtEl>
                                          <p:spTgt spid="3074"/>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3074"/>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3074"/>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3074"/>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3074"/>
                                        </p:tgtEl>
                                        <p:attrNameLst>
                                          <p:attrName>ppt_y</p:attrName>
                                        </p:attrNameLst>
                                      </p:cBhvr>
                                      <p:tavLst>
                                        <p:tav tm="0" fmla="#ppt_y-sin(pi*$)/81">
                                          <p:val>
                                            <p:fltVal val="0"/>
                                          </p:val>
                                        </p:tav>
                                        <p:tav tm="100000">
                                          <p:val>
                                            <p:fltVal val="1"/>
                                          </p:val>
                                        </p:tav>
                                      </p:tavLst>
                                    </p:anim>
                                    <p:animScale>
                                      <p:cBhvr>
                                        <p:cTn id="83" dur="26">
                                          <p:stCondLst>
                                            <p:cond delay="650"/>
                                          </p:stCondLst>
                                        </p:cTn>
                                        <p:tgtEl>
                                          <p:spTgt spid="3074"/>
                                        </p:tgtEl>
                                      </p:cBhvr>
                                      <p:to x="100000" y="60000"/>
                                    </p:animScale>
                                    <p:animScale>
                                      <p:cBhvr>
                                        <p:cTn id="84" dur="166" decel="50000">
                                          <p:stCondLst>
                                            <p:cond delay="676"/>
                                          </p:stCondLst>
                                        </p:cTn>
                                        <p:tgtEl>
                                          <p:spTgt spid="3074"/>
                                        </p:tgtEl>
                                      </p:cBhvr>
                                      <p:to x="100000" y="100000"/>
                                    </p:animScale>
                                    <p:animScale>
                                      <p:cBhvr>
                                        <p:cTn id="85" dur="26">
                                          <p:stCondLst>
                                            <p:cond delay="1312"/>
                                          </p:stCondLst>
                                        </p:cTn>
                                        <p:tgtEl>
                                          <p:spTgt spid="3074"/>
                                        </p:tgtEl>
                                      </p:cBhvr>
                                      <p:to x="100000" y="80000"/>
                                    </p:animScale>
                                    <p:animScale>
                                      <p:cBhvr>
                                        <p:cTn id="86" dur="166" decel="50000">
                                          <p:stCondLst>
                                            <p:cond delay="1338"/>
                                          </p:stCondLst>
                                        </p:cTn>
                                        <p:tgtEl>
                                          <p:spTgt spid="3074"/>
                                        </p:tgtEl>
                                      </p:cBhvr>
                                      <p:to x="100000" y="100000"/>
                                    </p:animScale>
                                    <p:animScale>
                                      <p:cBhvr>
                                        <p:cTn id="87" dur="26">
                                          <p:stCondLst>
                                            <p:cond delay="1642"/>
                                          </p:stCondLst>
                                        </p:cTn>
                                        <p:tgtEl>
                                          <p:spTgt spid="3074"/>
                                        </p:tgtEl>
                                      </p:cBhvr>
                                      <p:to x="100000" y="90000"/>
                                    </p:animScale>
                                    <p:animScale>
                                      <p:cBhvr>
                                        <p:cTn id="88" dur="166" decel="50000">
                                          <p:stCondLst>
                                            <p:cond delay="1668"/>
                                          </p:stCondLst>
                                        </p:cTn>
                                        <p:tgtEl>
                                          <p:spTgt spid="3074"/>
                                        </p:tgtEl>
                                      </p:cBhvr>
                                      <p:to x="100000" y="100000"/>
                                    </p:animScale>
                                    <p:animScale>
                                      <p:cBhvr>
                                        <p:cTn id="89" dur="26">
                                          <p:stCondLst>
                                            <p:cond delay="1808"/>
                                          </p:stCondLst>
                                        </p:cTn>
                                        <p:tgtEl>
                                          <p:spTgt spid="3074"/>
                                        </p:tgtEl>
                                      </p:cBhvr>
                                      <p:to x="100000" y="95000"/>
                                    </p:animScale>
                                    <p:animScale>
                                      <p:cBhvr>
                                        <p:cTn id="90" dur="166" decel="50000">
                                          <p:stCondLst>
                                            <p:cond delay="1834"/>
                                          </p:stCondLst>
                                        </p:cTn>
                                        <p:tgtEl>
                                          <p:spTgt spid="307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39552" y="980728"/>
            <a:ext cx="7632848" cy="5170646"/>
          </a:xfrm>
          <a:prstGeom prst="rect">
            <a:avLst/>
          </a:prstGeom>
        </p:spPr>
        <p:txBody>
          <a:bodyPr wrap="square">
            <a:spAutoFit/>
          </a:bodyPr>
          <a:lstStyle/>
          <a:p>
            <a:pPr marL="342900" indent="-342900" algn="just">
              <a:buFont typeface="Arial" panose="020B0604020202020204" pitchFamily="34" charset="0"/>
              <a:buChar char="•"/>
            </a:pPr>
            <a:r>
              <a:rPr lang="es-BO" sz="2200" dirty="0" smtClean="0"/>
              <a:t>Cuando </a:t>
            </a:r>
            <a:r>
              <a:rPr lang="es-BO" sz="2200" dirty="0"/>
              <a:t>el absceso drena ya sea espontáneamente o quirúrgicamente, supura cuatro a cinco días se ocluye el orificio y el padecimiento aparentemente se cura; en un tiempo variable de semanas a meses y aun años, el absceso reincide vuelve a vaciarse y desaparece nuevamente; esto puede suceder innumerables veces</a:t>
            </a:r>
            <a:r>
              <a:rPr lang="es-BO" sz="2200" dirty="0" smtClean="0"/>
              <a:t>.</a:t>
            </a:r>
          </a:p>
          <a:p>
            <a:pPr marL="342900" indent="-342900" algn="just">
              <a:buFont typeface="Arial" panose="020B0604020202020204" pitchFamily="34" charset="0"/>
              <a:buChar char="•"/>
            </a:pPr>
            <a:r>
              <a:rPr lang="es-BO" sz="2200" dirty="0" smtClean="0"/>
              <a:t> </a:t>
            </a:r>
            <a:r>
              <a:rPr lang="es-BO" sz="2200" dirty="0"/>
              <a:t>El orificio fistuloso una vez desaparecido el absceso continúa supurando durante semanas o meses, al cabo de los cuales se ocluye; después de una temporada variable asintomático el absceso se vuelve a formar.</a:t>
            </a:r>
          </a:p>
          <a:p>
            <a:pPr marL="342900" indent="-342900" algn="just">
              <a:buFont typeface="Arial" panose="020B0604020202020204" pitchFamily="34" charset="0"/>
              <a:buChar char="•"/>
            </a:pPr>
            <a:r>
              <a:rPr lang="es-BO" sz="2200" dirty="0" smtClean="0"/>
              <a:t>L </a:t>
            </a:r>
            <a:r>
              <a:rPr lang="es-BO" sz="2200" dirty="0"/>
              <a:t>a fístula persiste supurando constante y escasamente, por el tiempo indefinido sin formación de abscesos.</a:t>
            </a:r>
          </a:p>
          <a:p>
            <a:pPr marL="342900" indent="-342900" algn="just">
              <a:buFont typeface="Arial" panose="020B0604020202020204" pitchFamily="34" charset="0"/>
              <a:buChar char="•"/>
            </a:pPr>
            <a:r>
              <a:rPr lang="es-BO" sz="2200" dirty="0" smtClean="0"/>
              <a:t>La </a:t>
            </a:r>
            <a:r>
              <a:rPr lang="es-BO" sz="2200" dirty="0"/>
              <a:t>fístula supura constantemente se cierra por dos a tres días y se inicia la formación de un nuevo absceso y así sucesivamente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wipe(down)">
                                      <p:cBhvr>
                                        <p:cTn id="25" dur="580">
                                          <p:stCondLst>
                                            <p:cond delay="0"/>
                                          </p:stCondLst>
                                        </p:cTn>
                                        <p:tgtEl>
                                          <p:spTgt spid="4">
                                            <p:txEl>
                                              <p:pRg st="1" end="1"/>
                                            </p:txEl>
                                          </p:spTgt>
                                        </p:tgtEl>
                                      </p:cBhvr>
                                    </p:animEffect>
                                    <p:anim calcmode="lin" valueType="num">
                                      <p:cBhvr>
                                        <p:cTn id="26"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xEl>
                                              <p:pRg st="1" end="1"/>
                                            </p:txEl>
                                          </p:spTgt>
                                        </p:tgtEl>
                                      </p:cBhvr>
                                      <p:to x="100000" y="60000"/>
                                    </p:animScale>
                                    <p:animScale>
                                      <p:cBhvr>
                                        <p:cTn id="32" dur="166" decel="50000">
                                          <p:stCondLst>
                                            <p:cond delay="676"/>
                                          </p:stCondLst>
                                        </p:cTn>
                                        <p:tgtEl>
                                          <p:spTgt spid="4">
                                            <p:txEl>
                                              <p:pRg st="1" end="1"/>
                                            </p:txEl>
                                          </p:spTgt>
                                        </p:tgtEl>
                                      </p:cBhvr>
                                      <p:to x="100000" y="100000"/>
                                    </p:animScale>
                                    <p:animScale>
                                      <p:cBhvr>
                                        <p:cTn id="33" dur="26">
                                          <p:stCondLst>
                                            <p:cond delay="1312"/>
                                          </p:stCondLst>
                                        </p:cTn>
                                        <p:tgtEl>
                                          <p:spTgt spid="4">
                                            <p:txEl>
                                              <p:pRg st="1" end="1"/>
                                            </p:txEl>
                                          </p:spTgt>
                                        </p:tgtEl>
                                      </p:cBhvr>
                                      <p:to x="100000" y="80000"/>
                                    </p:animScale>
                                    <p:animScale>
                                      <p:cBhvr>
                                        <p:cTn id="34" dur="166" decel="50000">
                                          <p:stCondLst>
                                            <p:cond delay="1338"/>
                                          </p:stCondLst>
                                        </p:cTn>
                                        <p:tgtEl>
                                          <p:spTgt spid="4">
                                            <p:txEl>
                                              <p:pRg st="1" end="1"/>
                                            </p:txEl>
                                          </p:spTgt>
                                        </p:tgtEl>
                                      </p:cBhvr>
                                      <p:to x="100000" y="100000"/>
                                    </p:animScale>
                                    <p:animScale>
                                      <p:cBhvr>
                                        <p:cTn id="35" dur="26">
                                          <p:stCondLst>
                                            <p:cond delay="1642"/>
                                          </p:stCondLst>
                                        </p:cTn>
                                        <p:tgtEl>
                                          <p:spTgt spid="4">
                                            <p:txEl>
                                              <p:pRg st="1" end="1"/>
                                            </p:txEl>
                                          </p:spTgt>
                                        </p:tgtEl>
                                      </p:cBhvr>
                                      <p:to x="100000" y="90000"/>
                                    </p:animScale>
                                    <p:animScale>
                                      <p:cBhvr>
                                        <p:cTn id="36" dur="166" decel="50000">
                                          <p:stCondLst>
                                            <p:cond delay="1668"/>
                                          </p:stCondLst>
                                        </p:cTn>
                                        <p:tgtEl>
                                          <p:spTgt spid="4">
                                            <p:txEl>
                                              <p:pRg st="1" end="1"/>
                                            </p:txEl>
                                          </p:spTgt>
                                        </p:tgtEl>
                                      </p:cBhvr>
                                      <p:to x="100000" y="100000"/>
                                    </p:animScale>
                                    <p:animScale>
                                      <p:cBhvr>
                                        <p:cTn id="37" dur="26">
                                          <p:stCondLst>
                                            <p:cond delay="1808"/>
                                          </p:stCondLst>
                                        </p:cTn>
                                        <p:tgtEl>
                                          <p:spTgt spid="4">
                                            <p:txEl>
                                              <p:pRg st="1" end="1"/>
                                            </p:txEl>
                                          </p:spTgt>
                                        </p:tgtEl>
                                      </p:cBhvr>
                                      <p:to x="100000" y="95000"/>
                                    </p:animScale>
                                    <p:animScale>
                                      <p:cBhvr>
                                        <p:cTn id="38" dur="166" decel="50000">
                                          <p:stCondLst>
                                            <p:cond delay="1834"/>
                                          </p:stCondLst>
                                        </p:cTn>
                                        <p:tgtEl>
                                          <p:spTgt spid="4">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animEffect transition="in" filter="wipe(down)">
                                      <p:cBhvr>
                                        <p:cTn id="43" dur="580">
                                          <p:stCondLst>
                                            <p:cond delay="0"/>
                                          </p:stCondLst>
                                        </p:cTn>
                                        <p:tgtEl>
                                          <p:spTgt spid="4">
                                            <p:txEl>
                                              <p:pRg st="2" end="2"/>
                                            </p:txEl>
                                          </p:spTgt>
                                        </p:tgtEl>
                                      </p:cBhvr>
                                    </p:animEffect>
                                    <p:anim calcmode="lin" valueType="num">
                                      <p:cBhvr>
                                        <p:cTn id="44"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4">
                                            <p:txEl>
                                              <p:pRg st="2" end="2"/>
                                            </p:txEl>
                                          </p:spTgt>
                                        </p:tgtEl>
                                      </p:cBhvr>
                                      <p:to x="100000" y="60000"/>
                                    </p:animScale>
                                    <p:animScale>
                                      <p:cBhvr>
                                        <p:cTn id="50" dur="166" decel="50000">
                                          <p:stCondLst>
                                            <p:cond delay="676"/>
                                          </p:stCondLst>
                                        </p:cTn>
                                        <p:tgtEl>
                                          <p:spTgt spid="4">
                                            <p:txEl>
                                              <p:pRg st="2" end="2"/>
                                            </p:txEl>
                                          </p:spTgt>
                                        </p:tgtEl>
                                      </p:cBhvr>
                                      <p:to x="100000" y="100000"/>
                                    </p:animScale>
                                    <p:animScale>
                                      <p:cBhvr>
                                        <p:cTn id="51" dur="26">
                                          <p:stCondLst>
                                            <p:cond delay="1312"/>
                                          </p:stCondLst>
                                        </p:cTn>
                                        <p:tgtEl>
                                          <p:spTgt spid="4">
                                            <p:txEl>
                                              <p:pRg st="2" end="2"/>
                                            </p:txEl>
                                          </p:spTgt>
                                        </p:tgtEl>
                                      </p:cBhvr>
                                      <p:to x="100000" y="80000"/>
                                    </p:animScale>
                                    <p:animScale>
                                      <p:cBhvr>
                                        <p:cTn id="52" dur="166" decel="50000">
                                          <p:stCondLst>
                                            <p:cond delay="1338"/>
                                          </p:stCondLst>
                                        </p:cTn>
                                        <p:tgtEl>
                                          <p:spTgt spid="4">
                                            <p:txEl>
                                              <p:pRg st="2" end="2"/>
                                            </p:txEl>
                                          </p:spTgt>
                                        </p:tgtEl>
                                      </p:cBhvr>
                                      <p:to x="100000" y="100000"/>
                                    </p:animScale>
                                    <p:animScale>
                                      <p:cBhvr>
                                        <p:cTn id="53" dur="26">
                                          <p:stCondLst>
                                            <p:cond delay="1642"/>
                                          </p:stCondLst>
                                        </p:cTn>
                                        <p:tgtEl>
                                          <p:spTgt spid="4">
                                            <p:txEl>
                                              <p:pRg st="2" end="2"/>
                                            </p:txEl>
                                          </p:spTgt>
                                        </p:tgtEl>
                                      </p:cBhvr>
                                      <p:to x="100000" y="90000"/>
                                    </p:animScale>
                                    <p:animScale>
                                      <p:cBhvr>
                                        <p:cTn id="54" dur="166" decel="50000">
                                          <p:stCondLst>
                                            <p:cond delay="1668"/>
                                          </p:stCondLst>
                                        </p:cTn>
                                        <p:tgtEl>
                                          <p:spTgt spid="4">
                                            <p:txEl>
                                              <p:pRg st="2" end="2"/>
                                            </p:txEl>
                                          </p:spTgt>
                                        </p:tgtEl>
                                      </p:cBhvr>
                                      <p:to x="100000" y="100000"/>
                                    </p:animScale>
                                    <p:animScale>
                                      <p:cBhvr>
                                        <p:cTn id="55" dur="26">
                                          <p:stCondLst>
                                            <p:cond delay="1808"/>
                                          </p:stCondLst>
                                        </p:cTn>
                                        <p:tgtEl>
                                          <p:spTgt spid="4">
                                            <p:txEl>
                                              <p:pRg st="2" end="2"/>
                                            </p:txEl>
                                          </p:spTgt>
                                        </p:tgtEl>
                                      </p:cBhvr>
                                      <p:to x="100000" y="95000"/>
                                    </p:animScale>
                                    <p:animScale>
                                      <p:cBhvr>
                                        <p:cTn id="56" dur="166" decel="50000">
                                          <p:stCondLst>
                                            <p:cond delay="1834"/>
                                          </p:stCondLst>
                                        </p:cTn>
                                        <p:tgtEl>
                                          <p:spTgt spid="4">
                                            <p:txEl>
                                              <p:pRg st="2" end="2"/>
                                            </p:txEl>
                                          </p:spTgt>
                                        </p:tgtEl>
                                      </p:cBhvr>
                                      <p:to x="100000" y="100000"/>
                                    </p:animScale>
                                  </p:childTnLst>
                                </p:cTn>
                              </p:par>
                              <p:par>
                                <p:cTn id="57" presetID="26" presetClass="entr" presetSubtype="0" fill="hold" nodeType="with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Effect transition="in" filter="wipe(down)">
                                      <p:cBhvr>
                                        <p:cTn id="59" dur="580">
                                          <p:stCondLst>
                                            <p:cond delay="0"/>
                                          </p:stCondLst>
                                        </p:cTn>
                                        <p:tgtEl>
                                          <p:spTgt spid="4">
                                            <p:txEl>
                                              <p:pRg st="3" end="3"/>
                                            </p:txEl>
                                          </p:spTgt>
                                        </p:tgtEl>
                                      </p:cBhvr>
                                    </p:animEffect>
                                    <p:anim calcmode="lin" valueType="num">
                                      <p:cBhvr>
                                        <p:cTn id="60"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65" dur="26">
                                          <p:stCondLst>
                                            <p:cond delay="650"/>
                                          </p:stCondLst>
                                        </p:cTn>
                                        <p:tgtEl>
                                          <p:spTgt spid="4">
                                            <p:txEl>
                                              <p:pRg st="3" end="3"/>
                                            </p:txEl>
                                          </p:spTgt>
                                        </p:tgtEl>
                                      </p:cBhvr>
                                      <p:to x="100000" y="60000"/>
                                    </p:animScale>
                                    <p:animScale>
                                      <p:cBhvr>
                                        <p:cTn id="66" dur="166" decel="50000">
                                          <p:stCondLst>
                                            <p:cond delay="676"/>
                                          </p:stCondLst>
                                        </p:cTn>
                                        <p:tgtEl>
                                          <p:spTgt spid="4">
                                            <p:txEl>
                                              <p:pRg st="3" end="3"/>
                                            </p:txEl>
                                          </p:spTgt>
                                        </p:tgtEl>
                                      </p:cBhvr>
                                      <p:to x="100000" y="100000"/>
                                    </p:animScale>
                                    <p:animScale>
                                      <p:cBhvr>
                                        <p:cTn id="67" dur="26">
                                          <p:stCondLst>
                                            <p:cond delay="1312"/>
                                          </p:stCondLst>
                                        </p:cTn>
                                        <p:tgtEl>
                                          <p:spTgt spid="4">
                                            <p:txEl>
                                              <p:pRg st="3" end="3"/>
                                            </p:txEl>
                                          </p:spTgt>
                                        </p:tgtEl>
                                      </p:cBhvr>
                                      <p:to x="100000" y="80000"/>
                                    </p:animScale>
                                    <p:animScale>
                                      <p:cBhvr>
                                        <p:cTn id="68" dur="166" decel="50000">
                                          <p:stCondLst>
                                            <p:cond delay="1338"/>
                                          </p:stCondLst>
                                        </p:cTn>
                                        <p:tgtEl>
                                          <p:spTgt spid="4">
                                            <p:txEl>
                                              <p:pRg st="3" end="3"/>
                                            </p:txEl>
                                          </p:spTgt>
                                        </p:tgtEl>
                                      </p:cBhvr>
                                      <p:to x="100000" y="100000"/>
                                    </p:animScale>
                                    <p:animScale>
                                      <p:cBhvr>
                                        <p:cTn id="69" dur="26">
                                          <p:stCondLst>
                                            <p:cond delay="1642"/>
                                          </p:stCondLst>
                                        </p:cTn>
                                        <p:tgtEl>
                                          <p:spTgt spid="4">
                                            <p:txEl>
                                              <p:pRg st="3" end="3"/>
                                            </p:txEl>
                                          </p:spTgt>
                                        </p:tgtEl>
                                      </p:cBhvr>
                                      <p:to x="100000" y="90000"/>
                                    </p:animScale>
                                    <p:animScale>
                                      <p:cBhvr>
                                        <p:cTn id="70" dur="166" decel="50000">
                                          <p:stCondLst>
                                            <p:cond delay="1668"/>
                                          </p:stCondLst>
                                        </p:cTn>
                                        <p:tgtEl>
                                          <p:spTgt spid="4">
                                            <p:txEl>
                                              <p:pRg st="3" end="3"/>
                                            </p:txEl>
                                          </p:spTgt>
                                        </p:tgtEl>
                                      </p:cBhvr>
                                      <p:to x="100000" y="100000"/>
                                    </p:animScale>
                                    <p:animScale>
                                      <p:cBhvr>
                                        <p:cTn id="71" dur="26">
                                          <p:stCondLst>
                                            <p:cond delay="1808"/>
                                          </p:stCondLst>
                                        </p:cTn>
                                        <p:tgtEl>
                                          <p:spTgt spid="4">
                                            <p:txEl>
                                              <p:pRg st="3" end="3"/>
                                            </p:txEl>
                                          </p:spTgt>
                                        </p:tgtEl>
                                      </p:cBhvr>
                                      <p:to x="100000" y="95000"/>
                                    </p:animScale>
                                    <p:animScale>
                                      <p:cBhvr>
                                        <p:cTn id="72" dur="166" decel="50000">
                                          <p:stCondLst>
                                            <p:cond delay="1834"/>
                                          </p:stCondLst>
                                        </p:cTn>
                                        <p:tgtEl>
                                          <p:spTgt spid="4">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764704"/>
            <a:ext cx="8229600" cy="5361459"/>
          </a:xfrm>
        </p:spPr>
        <p:txBody>
          <a:bodyPr>
            <a:normAutofit fontScale="85000" lnSpcReduction="10000"/>
          </a:bodyPr>
          <a:lstStyle/>
          <a:p>
            <a:pPr marL="0" indent="0" algn="just">
              <a:buNone/>
            </a:pPr>
            <a:r>
              <a:rPr lang="es-BO" dirty="0"/>
              <a:t>LABORATORIO</a:t>
            </a:r>
          </a:p>
          <a:p>
            <a:pPr algn="just"/>
            <a:r>
              <a:rPr lang="es-BO" dirty="0"/>
              <a:t>Los estudios bacteriológicos de la secreción purulenta son innecesarios excepto en etiología </a:t>
            </a:r>
            <a:r>
              <a:rPr lang="es-BO" dirty="0" err="1"/>
              <a:t>fìmica</a:t>
            </a:r>
            <a:r>
              <a:rPr lang="es-BO" dirty="0"/>
              <a:t> o </a:t>
            </a:r>
            <a:r>
              <a:rPr lang="es-BO" dirty="0" err="1" smtClean="0"/>
              <a:t>micótica</a:t>
            </a:r>
            <a:endParaRPr lang="es-BO" dirty="0" smtClean="0"/>
          </a:p>
          <a:p>
            <a:pPr algn="just">
              <a:buNone/>
            </a:pPr>
            <a:r>
              <a:rPr lang="es-BO" dirty="0" smtClean="0"/>
              <a:t>EN GABINTE</a:t>
            </a:r>
            <a:endParaRPr lang="es-BO" dirty="0"/>
          </a:p>
          <a:p>
            <a:pPr algn="just"/>
            <a:r>
              <a:rPr lang="es-BO" dirty="0"/>
              <a:t>El uso de u estilete como exploración preoperatorio puede extender la infección. </a:t>
            </a:r>
            <a:endParaRPr lang="es-BO" dirty="0" smtClean="0"/>
          </a:p>
          <a:p>
            <a:pPr algn="just"/>
            <a:r>
              <a:rPr lang="es-BO" dirty="0" smtClean="0"/>
              <a:t>La </a:t>
            </a:r>
            <a:r>
              <a:rPr lang="es-BO" dirty="0" err="1"/>
              <a:t>fistulografÌa</a:t>
            </a:r>
            <a:r>
              <a:rPr lang="es-BO" dirty="0"/>
              <a:t> con el propósito de diagnostico y conocer el trayecto de la fístula si el material de contraste logra pasar con facilidad los trayectos fistulosos, lo podrá hacer el estilete durante la operación, si por el contrario es introducido a presión puede romper la pared de la fístula y causar error diagnostico</a:t>
            </a:r>
            <a:r>
              <a:rPr lang="es-BO" dirty="0" smtClean="0"/>
              <a:t>.</a:t>
            </a:r>
          </a:p>
          <a:p>
            <a:pPr algn="just"/>
            <a:r>
              <a:rPr lang="es-BO" dirty="0" smtClean="0"/>
              <a:t> </a:t>
            </a:r>
            <a:r>
              <a:rPr lang="es-BO" dirty="0"/>
              <a:t>El ultrasonido </a:t>
            </a:r>
            <a:r>
              <a:rPr lang="es-BO" dirty="0" err="1"/>
              <a:t>endoanal</a:t>
            </a:r>
            <a:r>
              <a:rPr lang="es-BO" dirty="0"/>
              <a:t> es útil para anatomía de fístulas complejas. La ecografía </a:t>
            </a:r>
            <a:r>
              <a:rPr lang="es-BO" dirty="0" err="1"/>
              <a:t>endoanal</a:t>
            </a:r>
            <a:r>
              <a:rPr lang="es-BO" dirty="0"/>
              <a:t> se ha convertido en un instrumento diagnóstico de utilidad extrema para la asistencia de los trastornos ano rectales tanto benignos como </a:t>
            </a:r>
            <a:r>
              <a:rPr lang="es-BO" dirty="0" err="1"/>
              <a:t>malignosTambién</a:t>
            </a:r>
            <a:r>
              <a:rPr lang="es-BO" dirty="0"/>
              <a:t> puede ser muy útil, así como en aquellos pacientes con abscesos crónicos mal drenados que presentan supuración intermitente por algún orificio fistuloso externo perianal o por el mismo ano</a:t>
            </a:r>
            <a:r>
              <a:rPr lang="es-BO" dirty="0" smtClean="0"/>
              <a:t>.</a:t>
            </a:r>
            <a:endParaRPr lang="es-BO"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animEffect transition="in" filter="wipe(down)">
                                      <p:cBhvr>
                                        <p:cTn id="97" dur="580">
                                          <p:stCondLst>
                                            <p:cond delay="0"/>
                                          </p:stCondLst>
                                        </p:cTn>
                                        <p:tgtEl>
                                          <p:spTgt spid="3">
                                            <p:txEl>
                                              <p:pRg st="5" end="5"/>
                                            </p:txEl>
                                          </p:spTgt>
                                        </p:tgtEl>
                                      </p:cBhvr>
                                    </p:animEffect>
                                    <p:anim calcmode="lin" valueType="num">
                                      <p:cBhvr>
                                        <p:cTn id="9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5" end="5"/>
                                            </p:txEl>
                                          </p:spTgt>
                                        </p:tgtEl>
                                      </p:cBhvr>
                                      <p:to x="100000" y="60000"/>
                                    </p:animScale>
                                    <p:animScale>
                                      <p:cBhvr>
                                        <p:cTn id="104" dur="166" decel="50000">
                                          <p:stCondLst>
                                            <p:cond delay="676"/>
                                          </p:stCondLst>
                                        </p:cTn>
                                        <p:tgtEl>
                                          <p:spTgt spid="3">
                                            <p:txEl>
                                              <p:pRg st="5" end="5"/>
                                            </p:txEl>
                                          </p:spTgt>
                                        </p:tgtEl>
                                      </p:cBhvr>
                                      <p:to x="100000" y="100000"/>
                                    </p:animScale>
                                    <p:animScale>
                                      <p:cBhvr>
                                        <p:cTn id="105" dur="26">
                                          <p:stCondLst>
                                            <p:cond delay="1312"/>
                                          </p:stCondLst>
                                        </p:cTn>
                                        <p:tgtEl>
                                          <p:spTgt spid="3">
                                            <p:txEl>
                                              <p:pRg st="5" end="5"/>
                                            </p:txEl>
                                          </p:spTgt>
                                        </p:tgtEl>
                                      </p:cBhvr>
                                      <p:to x="100000" y="80000"/>
                                    </p:animScale>
                                    <p:animScale>
                                      <p:cBhvr>
                                        <p:cTn id="106" dur="166" decel="50000">
                                          <p:stCondLst>
                                            <p:cond delay="1338"/>
                                          </p:stCondLst>
                                        </p:cTn>
                                        <p:tgtEl>
                                          <p:spTgt spid="3">
                                            <p:txEl>
                                              <p:pRg st="5" end="5"/>
                                            </p:txEl>
                                          </p:spTgt>
                                        </p:tgtEl>
                                      </p:cBhvr>
                                      <p:to x="100000" y="100000"/>
                                    </p:animScale>
                                    <p:animScale>
                                      <p:cBhvr>
                                        <p:cTn id="107" dur="26">
                                          <p:stCondLst>
                                            <p:cond delay="1642"/>
                                          </p:stCondLst>
                                        </p:cTn>
                                        <p:tgtEl>
                                          <p:spTgt spid="3">
                                            <p:txEl>
                                              <p:pRg st="5" end="5"/>
                                            </p:txEl>
                                          </p:spTgt>
                                        </p:tgtEl>
                                      </p:cBhvr>
                                      <p:to x="100000" y="90000"/>
                                    </p:animScale>
                                    <p:animScale>
                                      <p:cBhvr>
                                        <p:cTn id="108" dur="166" decel="50000">
                                          <p:stCondLst>
                                            <p:cond delay="1668"/>
                                          </p:stCondLst>
                                        </p:cTn>
                                        <p:tgtEl>
                                          <p:spTgt spid="3">
                                            <p:txEl>
                                              <p:pRg st="5" end="5"/>
                                            </p:txEl>
                                          </p:spTgt>
                                        </p:tgtEl>
                                      </p:cBhvr>
                                      <p:to x="100000" y="100000"/>
                                    </p:animScale>
                                    <p:animScale>
                                      <p:cBhvr>
                                        <p:cTn id="109" dur="26">
                                          <p:stCondLst>
                                            <p:cond delay="1808"/>
                                          </p:stCondLst>
                                        </p:cTn>
                                        <p:tgtEl>
                                          <p:spTgt spid="3">
                                            <p:txEl>
                                              <p:pRg st="5" end="5"/>
                                            </p:txEl>
                                          </p:spTgt>
                                        </p:tgtEl>
                                      </p:cBhvr>
                                      <p:to x="100000" y="95000"/>
                                    </p:animScale>
                                    <p:animScale>
                                      <p:cBhvr>
                                        <p:cTn id="110"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908721"/>
            <a:ext cx="7745505" cy="5217442"/>
          </a:xfrm>
        </p:spPr>
        <p:txBody>
          <a:bodyPr>
            <a:normAutofit fontScale="85000" lnSpcReduction="20000"/>
          </a:bodyPr>
          <a:lstStyle/>
          <a:p>
            <a:pPr algn="just"/>
            <a:r>
              <a:rPr lang="es-BO" dirty="0"/>
              <a:t>La ecografía anal es útil en casos de fístulas que clínicamente no se hayan podido delimitar y tengan que ser intervenidas quirúrgicamente, de este modo la endoscopia anal podría proporcionar información preoperatoria muy valiosa del tipo de trayecto fistuloso . </a:t>
            </a:r>
            <a:endParaRPr lang="es-BO" dirty="0" smtClean="0"/>
          </a:p>
          <a:p>
            <a:pPr algn="just"/>
            <a:r>
              <a:rPr lang="es-BO" dirty="0" smtClean="0"/>
              <a:t>En </a:t>
            </a:r>
            <a:r>
              <a:rPr lang="es-BO" dirty="0"/>
              <a:t>la mayoría de ocasiones el diagnóstico de un absceso suele ser fácil, mediante una simple anamnesis y exploración física, obviándose por ello la necesidad de una ecografía anal. </a:t>
            </a:r>
          </a:p>
          <a:p>
            <a:pPr algn="just"/>
            <a:r>
              <a:rPr lang="es-BO" dirty="0"/>
              <a:t>No obstante, en ocasiones el paciente presenta un absceso </a:t>
            </a:r>
            <a:r>
              <a:rPr lang="es-BO" dirty="0" err="1"/>
              <a:t>interesfinteriano</a:t>
            </a:r>
            <a:r>
              <a:rPr lang="es-BO" dirty="0"/>
              <a:t> o </a:t>
            </a:r>
            <a:r>
              <a:rPr lang="es-BO" dirty="0" err="1"/>
              <a:t>supraelevador</a:t>
            </a:r>
            <a:r>
              <a:rPr lang="es-BO" dirty="0"/>
              <a:t> que cursa con proctalgia con o sin fiebre, sin apenas signos externos y cuyo diagnóstico clínico puede ser difícil. </a:t>
            </a:r>
          </a:p>
          <a:p>
            <a:pPr algn="just"/>
            <a:r>
              <a:rPr lang="es-BO" dirty="0" smtClean="0"/>
              <a:t>En </a:t>
            </a:r>
            <a:r>
              <a:rPr lang="es-BO" dirty="0"/>
              <a:t>la mayoría de ocasiones el diagnóstico de un absceso suele ser fácil, mediante una simple anamnesis y exploración física, obviándose por ello la necesidad de una ecografía anal. </a:t>
            </a:r>
            <a:endParaRPr lang="es-BO" dirty="0" smtClean="0"/>
          </a:p>
          <a:p>
            <a:pPr algn="just"/>
            <a:r>
              <a:rPr lang="es-BO" dirty="0" smtClean="0"/>
              <a:t>No </a:t>
            </a:r>
            <a:r>
              <a:rPr lang="es-BO" dirty="0"/>
              <a:t>obstante, en ocasiones el paciente presenta un absceso </a:t>
            </a:r>
            <a:r>
              <a:rPr lang="es-BO" dirty="0" err="1"/>
              <a:t>interesfinteriano</a:t>
            </a:r>
            <a:r>
              <a:rPr lang="es-BO" dirty="0"/>
              <a:t> o </a:t>
            </a:r>
            <a:r>
              <a:rPr lang="es-BO" dirty="0" err="1"/>
              <a:t>supraelevador</a:t>
            </a:r>
            <a:r>
              <a:rPr lang="es-BO" dirty="0"/>
              <a:t> que cursa con proctalgia con o sin fiebre, sin apenas signos externos y cuyo diagnóstico clínico puede ser difícil. </a:t>
            </a:r>
            <a:endParaRPr lang="es-BO" dirty="0" smtClean="0"/>
          </a:p>
          <a:p>
            <a:endParaRPr lang="es-BO" dirty="0"/>
          </a:p>
        </p:txBody>
      </p:sp>
    </p:spTree>
    <p:extLst>
      <p:ext uri="{BB962C8B-B14F-4D97-AF65-F5344CB8AC3E}">
        <p14:creationId xmlns:p14="http://schemas.microsoft.com/office/powerpoint/2010/main" val="395664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80">
                                          <p:stCondLst>
                                            <p:cond delay="0"/>
                                          </p:stCondLst>
                                        </p:cTn>
                                        <p:tgtEl>
                                          <p:spTgt spid="2">
                                            <p:txEl>
                                              <p:pRg st="0" end="0"/>
                                            </p:txEl>
                                          </p:spTgt>
                                        </p:tgtEl>
                                      </p:cBhvr>
                                    </p:animEffect>
                                    <p:anim calcmode="lin" valueType="num">
                                      <p:cBhvr>
                                        <p:cTn id="8"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0" end="0"/>
                                            </p:txEl>
                                          </p:spTgt>
                                        </p:tgtEl>
                                      </p:cBhvr>
                                      <p:to x="100000" y="60000"/>
                                    </p:animScale>
                                    <p:animScale>
                                      <p:cBhvr>
                                        <p:cTn id="14" dur="166" decel="50000">
                                          <p:stCondLst>
                                            <p:cond delay="676"/>
                                          </p:stCondLst>
                                        </p:cTn>
                                        <p:tgtEl>
                                          <p:spTgt spid="2">
                                            <p:txEl>
                                              <p:pRg st="0" end="0"/>
                                            </p:txEl>
                                          </p:spTgt>
                                        </p:tgtEl>
                                      </p:cBhvr>
                                      <p:to x="100000" y="100000"/>
                                    </p:animScale>
                                    <p:animScale>
                                      <p:cBhvr>
                                        <p:cTn id="15" dur="26">
                                          <p:stCondLst>
                                            <p:cond delay="1312"/>
                                          </p:stCondLst>
                                        </p:cTn>
                                        <p:tgtEl>
                                          <p:spTgt spid="2">
                                            <p:txEl>
                                              <p:pRg st="0" end="0"/>
                                            </p:txEl>
                                          </p:spTgt>
                                        </p:tgtEl>
                                      </p:cBhvr>
                                      <p:to x="100000" y="80000"/>
                                    </p:animScale>
                                    <p:animScale>
                                      <p:cBhvr>
                                        <p:cTn id="16" dur="166" decel="50000">
                                          <p:stCondLst>
                                            <p:cond delay="1338"/>
                                          </p:stCondLst>
                                        </p:cTn>
                                        <p:tgtEl>
                                          <p:spTgt spid="2">
                                            <p:txEl>
                                              <p:pRg st="0" end="0"/>
                                            </p:txEl>
                                          </p:spTgt>
                                        </p:tgtEl>
                                      </p:cBhvr>
                                      <p:to x="100000" y="100000"/>
                                    </p:animScale>
                                    <p:animScale>
                                      <p:cBhvr>
                                        <p:cTn id="17" dur="26">
                                          <p:stCondLst>
                                            <p:cond delay="1642"/>
                                          </p:stCondLst>
                                        </p:cTn>
                                        <p:tgtEl>
                                          <p:spTgt spid="2">
                                            <p:txEl>
                                              <p:pRg st="0" end="0"/>
                                            </p:txEl>
                                          </p:spTgt>
                                        </p:tgtEl>
                                      </p:cBhvr>
                                      <p:to x="100000" y="90000"/>
                                    </p:animScale>
                                    <p:animScale>
                                      <p:cBhvr>
                                        <p:cTn id="18" dur="166" decel="50000">
                                          <p:stCondLst>
                                            <p:cond delay="1668"/>
                                          </p:stCondLst>
                                        </p:cTn>
                                        <p:tgtEl>
                                          <p:spTgt spid="2">
                                            <p:txEl>
                                              <p:pRg st="0" end="0"/>
                                            </p:txEl>
                                          </p:spTgt>
                                        </p:tgtEl>
                                      </p:cBhvr>
                                      <p:to x="100000" y="100000"/>
                                    </p:animScale>
                                    <p:animScale>
                                      <p:cBhvr>
                                        <p:cTn id="19" dur="26">
                                          <p:stCondLst>
                                            <p:cond delay="1808"/>
                                          </p:stCondLst>
                                        </p:cTn>
                                        <p:tgtEl>
                                          <p:spTgt spid="2">
                                            <p:txEl>
                                              <p:pRg st="0" end="0"/>
                                            </p:txEl>
                                          </p:spTgt>
                                        </p:tgtEl>
                                      </p:cBhvr>
                                      <p:to x="100000" y="95000"/>
                                    </p:animScale>
                                    <p:animScale>
                                      <p:cBhvr>
                                        <p:cTn id="20" dur="166" decel="50000">
                                          <p:stCondLst>
                                            <p:cond delay="1834"/>
                                          </p:stCondLst>
                                        </p:cTn>
                                        <p:tgtEl>
                                          <p:spTgt spid="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down)">
                                      <p:cBhvr>
                                        <p:cTn id="25" dur="580">
                                          <p:stCondLst>
                                            <p:cond delay="0"/>
                                          </p:stCondLst>
                                        </p:cTn>
                                        <p:tgtEl>
                                          <p:spTgt spid="2">
                                            <p:txEl>
                                              <p:pRg st="1" end="1"/>
                                            </p:txEl>
                                          </p:spTgt>
                                        </p:tgtEl>
                                      </p:cBhvr>
                                    </p:animEffect>
                                    <p:anim calcmode="lin" valueType="num">
                                      <p:cBhvr>
                                        <p:cTn id="26"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1" end="1"/>
                                            </p:txEl>
                                          </p:spTgt>
                                        </p:tgtEl>
                                      </p:cBhvr>
                                      <p:to x="100000" y="60000"/>
                                    </p:animScale>
                                    <p:animScale>
                                      <p:cBhvr>
                                        <p:cTn id="32" dur="166" decel="50000">
                                          <p:stCondLst>
                                            <p:cond delay="676"/>
                                          </p:stCondLst>
                                        </p:cTn>
                                        <p:tgtEl>
                                          <p:spTgt spid="2">
                                            <p:txEl>
                                              <p:pRg st="1" end="1"/>
                                            </p:txEl>
                                          </p:spTgt>
                                        </p:tgtEl>
                                      </p:cBhvr>
                                      <p:to x="100000" y="100000"/>
                                    </p:animScale>
                                    <p:animScale>
                                      <p:cBhvr>
                                        <p:cTn id="33" dur="26">
                                          <p:stCondLst>
                                            <p:cond delay="1312"/>
                                          </p:stCondLst>
                                        </p:cTn>
                                        <p:tgtEl>
                                          <p:spTgt spid="2">
                                            <p:txEl>
                                              <p:pRg st="1" end="1"/>
                                            </p:txEl>
                                          </p:spTgt>
                                        </p:tgtEl>
                                      </p:cBhvr>
                                      <p:to x="100000" y="80000"/>
                                    </p:animScale>
                                    <p:animScale>
                                      <p:cBhvr>
                                        <p:cTn id="34" dur="166" decel="50000">
                                          <p:stCondLst>
                                            <p:cond delay="1338"/>
                                          </p:stCondLst>
                                        </p:cTn>
                                        <p:tgtEl>
                                          <p:spTgt spid="2">
                                            <p:txEl>
                                              <p:pRg st="1" end="1"/>
                                            </p:txEl>
                                          </p:spTgt>
                                        </p:tgtEl>
                                      </p:cBhvr>
                                      <p:to x="100000" y="100000"/>
                                    </p:animScale>
                                    <p:animScale>
                                      <p:cBhvr>
                                        <p:cTn id="35" dur="26">
                                          <p:stCondLst>
                                            <p:cond delay="1642"/>
                                          </p:stCondLst>
                                        </p:cTn>
                                        <p:tgtEl>
                                          <p:spTgt spid="2">
                                            <p:txEl>
                                              <p:pRg st="1" end="1"/>
                                            </p:txEl>
                                          </p:spTgt>
                                        </p:tgtEl>
                                      </p:cBhvr>
                                      <p:to x="100000" y="90000"/>
                                    </p:animScale>
                                    <p:animScale>
                                      <p:cBhvr>
                                        <p:cTn id="36" dur="166" decel="50000">
                                          <p:stCondLst>
                                            <p:cond delay="1668"/>
                                          </p:stCondLst>
                                        </p:cTn>
                                        <p:tgtEl>
                                          <p:spTgt spid="2">
                                            <p:txEl>
                                              <p:pRg st="1" end="1"/>
                                            </p:txEl>
                                          </p:spTgt>
                                        </p:tgtEl>
                                      </p:cBhvr>
                                      <p:to x="100000" y="100000"/>
                                    </p:animScale>
                                    <p:animScale>
                                      <p:cBhvr>
                                        <p:cTn id="37" dur="26">
                                          <p:stCondLst>
                                            <p:cond delay="1808"/>
                                          </p:stCondLst>
                                        </p:cTn>
                                        <p:tgtEl>
                                          <p:spTgt spid="2">
                                            <p:txEl>
                                              <p:pRg st="1" end="1"/>
                                            </p:txEl>
                                          </p:spTgt>
                                        </p:tgtEl>
                                      </p:cBhvr>
                                      <p:to x="100000" y="95000"/>
                                    </p:animScale>
                                    <p:animScale>
                                      <p:cBhvr>
                                        <p:cTn id="38" dur="166" decel="50000">
                                          <p:stCondLst>
                                            <p:cond delay="1834"/>
                                          </p:stCondLst>
                                        </p:cTn>
                                        <p:tgtEl>
                                          <p:spTgt spid="2">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ipe(down)">
                                      <p:cBhvr>
                                        <p:cTn id="43" dur="580">
                                          <p:stCondLst>
                                            <p:cond delay="0"/>
                                          </p:stCondLst>
                                        </p:cTn>
                                        <p:tgtEl>
                                          <p:spTgt spid="2">
                                            <p:txEl>
                                              <p:pRg st="2" end="2"/>
                                            </p:txEl>
                                          </p:spTgt>
                                        </p:tgtEl>
                                      </p:cBhvr>
                                    </p:animEffect>
                                    <p:anim calcmode="lin" valueType="num">
                                      <p:cBhvr>
                                        <p:cTn id="4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2" end="2"/>
                                            </p:txEl>
                                          </p:spTgt>
                                        </p:tgtEl>
                                      </p:cBhvr>
                                      <p:to x="100000" y="60000"/>
                                    </p:animScale>
                                    <p:animScale>
                                      <p:cBhvr>
                                        <p:cTn id="50" dur="166" decel="50000">
                                          <p:stCondLst>
                                            <p:cond delay="676"/>
                                          </p:stCondLst>
                                        </p:cTn>
                                        <p:tgtEl>
                                          <p:spTgt spid="2">
                                            <p:txEl>
                                              <p:pRg st="2" end="2"/>
                                            </p:txEl>
                                          </p:spTgt>
                                        </p:tgtEl>
                                      </p:cBhvr>
                                      <p:to x="100000" y="100000"/>
                                    </p:animScale>
                                    <p:animScale>
                                      <p:cBhvr>
                                        <p:cTn id="51" dur="26">
                                          <p:stCondLst>
                                            <p:cond delay="1312"/>
                                          </p:stCondLst>
                                        </p:cTn>
                                        <p:tgtEl>
                                          <p:spTgt spid="2">
                                            <p:txEl>
                                              <p:pRg st="2" end="2"/>
                                            </p:txEl>
                                          </p:spTgt>
                                        </p:tgtEl>
                                      </p:cBhvr>
                                      <p:to x="100000" y="80000"/>
                                    </p:animScale>
                                    <p:animScale>
                                      <p:cBhvr>
                                        <p:cTn id="52" dur="166" decel="50000">
                                          <p:stCondLst>
                                            <p:cond delay="1338"/>
                                          </p:stCondLst>
                                        </p:cTn>
                                        <p:tgtEl>
                                          <p:spTgt spid="2">
                                            <p:txEl>
                                              <p:pRg st="2" end="2"/>
                                            </p:txEl>
                                          </p:spTgt>
                                        </p:tgtEl>
                                      </p:cBhvr>
                                      <p:to x="100000" y="100000"/>
                                    </p:animScale>
                                    <p:animScale>
                                      <p:cBhvr>
                                        <p:cTn id="53" dur="26">
                                          <p:stCondLst>
                                            <p:cond delay="1642"/>
                                          </p:stCondLst>
                                        </p:cTn>
                                        <p:tgtEl>
                                          <p:spTgt spid="2">
                                            <p:txEl>
                                              <p:pRg st="2" end="2"/>
                                            </p:txEl>
                                          </p:spTgt>
                                        </p:tgtEl>
                                      </p:cBhvr>
                                      <p:to x="100000" y="90000"/>
                                    </p:animScale>
                                    <p:animScale>
                                      <p:cBhvr>
                                        <p:cTn id="54" dur="166" decel="50000">
                                          <p:stCondLst>
                                            <p:cond delay="1668"/>
                                          </p:stCondLst>
                                        </p:cTn>
                                        <p:tgtEl>
                                          <p:spTgt spid="2">
                                            <p:txEl>
                                              <p:pRg st="2" end="2"/>
                                            </p:txEl>
                                          </p:spTgt>
                                        </p:tgtEl>
                                      </p:cBhvr>
                                      <p:to x="100000" y="100000"/>
                                    </p:animScale>
                                    <p:animScale>
                                      <p:cBhvr>
                                        <p:cTn id="55" dur="26">
                                          <p:stCondLst>
                                            <p:cond delay="1808"/>
                                          </p:stCondLst>
                                        </p:cTn>
                                        <p:tgtEl>
                                          <p:spTgt spid="2">
                                            <p:txEl>
                                              <p:pRg st="2" end="2"/>
                                            </p:txEl>
                                          </p:spTgt>
                                        </p:tgtEl>
                                      </p:cBhvr>
                                      <p:to x="100000" y="95000"/>
                                    </p:animScale>
                                    <p:animScale>
                                      <p:cBhvr>
                                        <p:cTn id="56" dur="166" decel="50000">
                                          <p:stCondLst>
                                            <p:cond delay="1834"/>
                                          </p:stCondLst>
                                        </p:cTn>
                                        <p:tgtEl>
                                          <p:spTgt spid="2">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2">
                                            <p:txEl>
                                              <p:pRg st="3" end="3"/>
                                            </p:txEl>
                                          </p:spTgt>
                                        </p:tgtEl>
                                        <p:attrNameLst>
                                          <p:attrName>style.visibility</p:attrName>
                                        </p:attrNameLst>
                                      </p:cBhvr>
                                      <p:to>
                                        <p:strVal val="visible"/>
                                      </p:to>
                                    </p:set>
                                    <p:animEffect transition="in" filter="wipe(down)">
                                      <p:cBhvr>
                                        <p:cTn id="61" dur="580">
                                          <p:stCondLst>
                                            <p:cond delay="0"/>
                                          </p:stCondLst>
                                        </p:cTn>
                                        <p:tgtEl>
                                          <p:spTgt spid="2">
                                            <p:txEl>
                                              <p:pRg st="3" end="3"/>
                                            </p:txEl>
                                          </p:spTgt>
                                        </p:tgtEl>
                                      </p:cBhvr>
                                    </p:animEffect>
                                    <p:anim calcmode="lin" valueType="num">
                                      <p:cBhvr>
                                        <p:cTn id="62"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2">
                                            <p:txEl>
                                              <p:pRg st="3" end="3"/>
                                            </p:txEl>
                                          </p:spTgt>
                                        </p:tgtEl>
                                      </p:cBhvr>
                                      <p:to x="100000" y="60000"/>
                                    </p:animScale>
                                    <p:animScale>
                                      <p:cBhvr>
                                        <p:cTn id="68" dur="166" decel="50000">
                                          <p:stCondLst>
                                            <p:cond delay="676"/>
                                          </p:stCondLst>
                                        </p:cTn>
                                        <p:tgtEl>
                                          <p:spTgt spid="2">
                                            <p:txEl>
                                              <p:pRg st="3" end="3"/>
                                            </p:txEl>
                                          </p:spTgt>
                                        </p:tgtEl>
                                      </p:cBhvr>
                                      <p:to x="100000" y="100000"/>
                                    </p:animScale>
                                    <p:animScale>
                                      <p:cBhvr>
                                        <p:cTn id="69" dur="26">
                                          <p:stCondLst>
                                            <p:cond delay="1312"/>
                                          </p:stCondLst>
                                        </p:cTn>
                                        <p:tgtEl>
                                          <p:spTgt spid="2">
                                            <p:txEl>
                                              <p:pRg st="3" end="3"/>
                                            </p:txEl>
                                          </p:spTgt>
                                        </p:tgtEl>
                                      </p:cBhvr>
                                      <p:to x="100000" y="80000"/>
                                    </p:animScale>
                                    <p:animScale>
                                      <p:cBhvr>
                                        <p:cTn id="70" dur="166" decel="50000">
                                          <p:stCondLst>
                                            <p:cond delay="1338"/>
                                          </p:stCondLst>
                                        </p:cTn>
                                        <p:tgtEl>
                                          <p:spTgt spid="2">
                                            <p:txEl>
                                              <p:pRg st="3" end="3"/>
                                            </p:txEl>
                                          </p:spTgt>
                                        </p:tgtEl>
                                      </p:cBhvr>
                                      <p:to x="100000" y="100000"/>
                                    </p:animScale>
                                    <p:animScale>
                                      <p:cBhvr>
                                        <p:cTn id="71" dur="26">
                                          <p:stCondLst>
                                            <p:cond delay="1642"/>
                                          </p:stCondLst>
                                        </p:cTn>
                                        <p:tgtEl>
                                          <p:spTgt spid="2">
                                            <p:txEl>
                                              <p:pRg st="3" end="3"/>
                                            </p:txEl>
                                          </p:spTgt>
                                        </p:tgtEl>
                                      </p:cBhvr>
                                      <p:to x="100000" y="90000"/>
                                    </p:animScale>
                                    <p:animScale>
                                      <p:cBhvr>
                                        <p:cTn id="72" dur="166" decel="50000">
                                          <p:stCondLst>
                                            <p:cond delay="1668"/>
                                          </p:stCondLst>
                                        </p:cTn>
                                        <p:tgtEl>
                                          <p:spTgt spid="2">
                                            <p:txEl>
                                              <p:pRg st="3" end="3"/>
                                            </p:txEl>
                                          </p:spTgt>
                                        </p:tgtEl>
                                      </p:cBhvr>
                                      <p:to x="100000" y="100000"/>
                                    </p:animScale>
                                    <p:animScale>
                                      <p:cBhvr>
                                        <p:cTn id="73" dur="26">
                                          <p:stCondLst>
                                            <p:cond delay="1808"/>
                                          </p:stCondLst>
                                        </p:cTn>
                                        <p:tgtEl>
                                          <p:spTgt spid="2">
                                            <p:txEl>
                                              <p:pRg st="3" end="3"/>
                                            </p:txEl>
                                          </p:spTgt>
                                        </p:tgtEl>
                                      </p:cBhvr>
                                      <p:to x="100000" y="95000"/>
                                    </p:animScale>
                                    <p:animScale>
                                      <p:cBhvr>
                                        <p:cTn id="74" dur="166" decel="50000">
                                          <p:stCondLst>
                                            <p:cond delay="1834"/>
                                          </p:stCondLst>
                                        </p:cTn>
                                        <p:tgtEl>
                                          <p:spTgt spid="2">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2">
                                            <p:txEl>
                                              <p:pRg st="4" end="4"/>
                                            </p:txEl>
                                          </p:spTgt>
                                        </p:tgtEl>
                                        <p:attrNameLst>
                                          <p:attrName>style.visibility</p:attrName>
                                        </p:attrNameLst>
                                      </p:cBhvr>
                                      <p:to>
                                        <p:strVal val="visible"/>
                                      </p:to>
                                    </p:set>
                                    <p:animEffect transition="in" filter="wipe(down)">
                                      <p:cBhvr>
                                        <p:cTn id="79" dur="580">
                                          <p:stCondLst>
                                            <p:cond delay="0"/>
                                          </p:stCondLst>
                                        </p:cTn>
                                        <p:tgtEl>
                                          <p:spTgt spid="2">
                                            <p:txEl>
                                              <p:pRg st="4" end="4"/>
                                            </p:txEl>
                                          </p:spTgt>
                                        </p:tgtEl>
                                      </p:cBhvr>
                                    </p:animEffect>
                                    <p:anim calcmode="lin" valueType="num">
                                      <p:cBhvr>
                                        <p:cTn id="80" dur="1822"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2">
                                            <p:txEl>
                                              <p:pRg st="4" end="4"/>
                                            </p:txEl>
                                          </p:spTgt>
                                        </p:tgtEl>
                                      </p:cBhvr>
                                      <p:to x="100000" y="60000"/>
                                    </p:animScale>
                                    <p:animScale>
                                      <p:cBhvr>
                                        <p:cTn id="86" dur="166" decel="50000">
                                          <p:stCondLst>
                                            <p:cond delay="676"/>
                                          </p:stCondLst>
                                        </p:cTn>
                                        <p:tgtEl>
                                          <p:spTgt spid="2">
                                            <p:txEl>
                                              <p:pRg st="4" end="4"/>
                                            </p:txEl>
                                          </p:spTgt>
                                        </p:tgtEl>
                                      </p:cBhvr>
                                      <p:to x="100000" y="100000"/>
                                    </p:animScale>
                                    <p:animScale>
                                      <p:cBhvr>
                                        <p:cTn id="87" dur="26">
                                          <p:stCondLst>
                                            <p:cond delay="1312"/>
                                          </p:stCondLst>
                                        </p:cTn>
                                        <p:tgtEl>
                                          <p:spTgt spid="2">
                                            <p:txEl>
                                              <p:pRg st="4" end="4"/>
                                            </p:txEl>
                                          </p:spTgt>
                                        </p:tgtEl>
                                      </p:cBhvr>
                                      <p:to x="100000" y="80000"/>
                                    </p:animScale>
                                    <p:animScale>
                                      <p:cBhvr>
                                        <p:cTn id="88" dur="166" decel="50000">
                                          <p:stCondLst>
                                            <p:cond delay="1338"/>
                                          </p:stCondLst>
                                        </p:cTn>
                                        <p:tgtEl>
                                          <p:spTgt spid="2">
                                            <p:txEl>
                                              <p:pRg st="4" end="4"/>
                                            </p:txEl>
                                          </p:spTgt>
                                        </p:tgtEl>
                                      </p:cBhvr>
                                      <p:to x="100000" y="100000"/>
                                    </p:animScale>
                                    <p:animScale>
                                      <p:cBhvr>
                                        <p:cTn id="89" dur="26">
                                          <p:stCondLst>
                                            <p:cond delay="1642"/>
                                          </p:stCondLst>
                                        </p:cTn>
                                        <p:tgtEl>
                                          <p:spTgt spid="2">
                                            <p:txEl>
                                              <p:pRg st="4" end="4"/>
                                            </p:txEl>
                                          </p:spTgt>
                                        </p:tgtEl>
                                      </p:cBhvr>
                                      <p:to x="100000" y="90000"/>
                                    </p:animScale>
                                    <p:animScale>
                                      <p:cBhvr>
                                        <p:cTn id="90" dur="166" decel="50000">
                                          <p:stCondLst>
                                            <p:cond delay="1668"/>
                                          </p:stCondLst>
                                        </p:cTn>
                                        <p:tgtEl>
                                          <p:spTgt spid="2">
                                            <p:txEl>
                                              <p:pRg st="4" end="4"/>
                                            </p:txEl>
                                          </p:spTgt>
                                        </p:tgtEl>
                                      </p:cBhvr>
                                      <p:to x="100000" y="100000"/>
                                    </p:animScale>
                                    <p:animScale>
                                      <p:cBhvr>
                                        <p:cTn id="91" dur="26">
                                          <p:stCondLst>
                                            <p:cond delay="1808"/>
                                          </p:stCondLst>
                                        </p:cTn>
                                        <p:tgtEl>
                                          <p:spTgt spid="2">
                                            <p:txEl>
                                              <p:pRg st="4" end="4"/>
                                            </p:txEl>
                                          </p:spTgt>
                                        </p:tgtEl>
                                      </p:cBhvr>
                                      <p:to x="100000" y="95000"/>
                                    </p:animScale>
                                    <p:animScale>
                                      <p:cBhvr>
                                        <p:cTn id="92" dur="166" decel="50000">
                                          <p:stCondLst>
                                            <p:cond delay="1834"/>
                                          </p:stCondLst>
                                        </p:cTn>
                                        <p:tgtEl>
                                          <p:spTgt spid="2">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764705"/>
            <a:ext cx="7745505" cy="5361458"/>
          </a:xfrm>
        </p:spPr>
        <p:txBody>
          <a:bodyPr>
            <a:normAutofit fontScale="85000" lnSpcReduction="20000"/>
          </a:bodyPr>
          <a:lstStyle/>
          <a:p>
            <a:pPr algn="just"/>
            <a:r>
              <a:rPr lang="es-BO" dirty="0"/>
              <a:t>En la mayoría de ocasiones el diagnóstico de un absceso suele ser fácil, mediante una simple anamnesis y exploración física, obviándose por ello la necesidad de una ecografía anal. No obstante, en ocasiones el paciente presenta un absceso </a:t>
            </a:r>
            <a:r>
              <a:rPr lang="es-BO" dirty="0" err="1"/>
              <a:t>interesfinteriano</a:t>
            </a:r>
            <a:r>
              <a:rPr lang="es-BO" dirty="0"/>
              <a:t> o </a:t>
            </a:r>
            <a:r>
              <a:rPr lang="es-BO" dirty="0" err="1"/>
              <a:t>supraelevador</a:t>
            </a:r>
            <a:r>
              <a:rPr lang="es-BO" dirty="0"/>
              <a:t> que cursa con proctalgia con o sin fiebre, sin apenas signos externos y cuyo diagnóstico clínico puede ser difícil. </a:t>
            </a:r>
            <a:endParaRPr lang="es-BO" dirty="0" smtClean="0"/>
          </a:p>
          <a:p>
            <a:pPr algn="just"/>
            <a:r>
              <a:rPr lang="es-BO" dirty="0" smtClean="0"/>
              <a:t>La </a:t>
            </a:r>
            <a:r>
              <a:rPr lang="es-BO" dirty="0"/>
              <a:t>radiología gastrointestinal rígida y flexible no son necesarias excepto en pacientes en que se sospeche de enfermedad inflamatoria intestinales quienes se recomienda Colonoscopia y transito intestinal. No cabe duda que la ecografía </a:t>
            </a:r>
            <a:r>
              <a:rPr lang="es-BO" dirty="0" err="1"/>
              <a:t>endoanal</a:t>
            </a:r>
            <a:r>
              <a:rPr lang="es-BO" dirty="0"/>
              <a:t> se ha convertido en un instrumento diagnóstico adjunto de utilidad extrema para la asistencia de los trastornos ano rectales tanto benignos como malignos. </a:t>
            </a:r>
          </a:p>
          <a:p>
            <a:pPr algn="just"/>
            <a:r>
              <a:rPr lang="es-BO" dirty="0"/>
              <a:t>Su inmediata utilización en la consulta e incluso en el quirófano, ha hecho del ecógrafo -y cada vez lo hará más-, un instrumento indispensable y auxiliar de la exploración clínica del paciente con un proceso anal, al tratarse de un método rápido, fiable, barato y no invasivo.</a:t>
            </a:r>
          </a:p>
        </p:txBody>
      </p:sp>
    </p:spTree>
    <p:extLst>
      <p:ext uri="{BB962C8B-B14F-4D97-AF65-F5344CB8AC3E}">
        <p14:creationId xmlns:p14="http://schemas.microsoft.com/office/powerpoint/2010/main" val="49180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80">
                                          <p:stCondLst>
                                            <p:cond delay="0"/>
                                          </p:stCondLst>
                                        </p:cTn>
                                        <p:tgtEl>
                                          <p:spTgt spid="2">
                                            <p:txEl>
                                              <p:pRg st="0" end="0"/>
                                            </p:txEl>
                                          </p:spTgt>
                                        </p:tgtEl>
                                      </p:cBhvr>
                                    </p:animEffect>
                                    <p:anim calcmode="lin" valueType="num">
                                      <p:cBhvr>
                                        <p:cTn id="8"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xEl>
                                              <p:pRg st="0" end="0"/>
                                            </p:txEl>
                                          </p:spTgt>
                                        </p:tgtEl>
                                      </p:cBhvr>
                                      <p:to x="100000" y="60000"/>
                                    </p:animScale>
                                    <p:animScale>
                                      <p:cBhvr>
                                        <p:cTn id="14" dur="166" decel="50000">
                                          <p:stCondLst>
                                            <p:cond delay="676"/>
                                          </p:stCondLst>
                                        </p:cTn>
                                        <p:tgtEl>
                                          <p:spTgt spid="2">
                                            <p:txEl>
                                              <p:pRg st="0" end="0"/>
                                            </p:txEl>
                                          </p:spTgt>
                                        </p:tgtEl>
                                      </p:cBhvr>
                                      <p:to x="100000" y="100000"/>
                                    </p:animScale>
                                    <p:animScale>
                                      <p:cBhvr>
                                        <p:cTn id="15" dur="26">
                                          <p:stCondLst>
                                            <p:cond delay="1312"/>
                                          </p:stCondLst>
                                        </p:cTn>
                                        <p:tgtEl>
                                          <p:spTgt spid="2">
                                            <p:txEl>
                                              <p:pRg st="0" end="0"/>
                                            </p:txEl>
                                          </p:spTgt>
                                        </p:tgtEl>
                                      </p:cBhvr>
                                      <p:to x="100000" y="80000"/>
                                    </p:animScale>
                                    <p:animScale>
                                      <p:cBhvr>
                                        <p:cTn id="16" dur="166" decel="50000">
                                          <p:stCondLst>
                                            <p:cond delay="1338"/>
                                          </p:stCondLst>
                                        </p:cTn>
                                        <p:tgtEl>
                                          <p:spTgt spid="2">
                                            <p:txEl>
                                              <p:pRg st="0" end="0"/>
                                            </p:txEl>
                                          </p:spTgt>
                                        </p:tgtEl>
                                      </p:cBhvr>
                                      <p:to x="100000" y="100000"/>
                                    </p:animScale>
                                    <p:animScale>
                                      <p:cBhvr>
                                        <p:cTn id="17" dur="26">
                                          <p:stCondLst>
                                            <p:cond delay="1642"/>
                                          </p:stCondLst>
                                        </p:cTn>
                                        <p:tgtEl>
                                          <p:spTgt spid="2">
                                            <p:txEl>
                                              <p:pRg st="0" end="0"/>
                                            </p:txEl>
                                          </p:spTgt>
                                        </p:tgtEl>
                                      </p:cBhvr>
                                      <p:to x="100000" y="90000"/>
                                    </p:animScale>
                                    <p:animScale>
                                      <p:cBhvr>
                                        <p:cTn id="18" dur="166" decel="50000">
                                          <p:stCondLst>
                                            <p:cond delay="1668"/>
                                          </p:stCondLst>
                                        </p:cTn>
                                        <p:tgtEl>
                                          <p:spTgt spid="2">
                                            <p:txEl>
                                              <p:pRg st="0" end="0"/>
                                            </p:txEl>
                                          </p:spTgt>
                                        </p:tgtEl>
                                      </p:cBhvr>
                                      <p:to x="100000" y="100000"/>
                                    </p:animScale>
                                    <p:animScale>
                                      <p:cBhvr>
                                        <p:cTn id="19" dur="26">
                                          <p:stCondLst>
                                            <p:cond delay="1808"/>
                                          </p:stCondLst>
                                        </p:cTn>
                                        <p:tgtEl>
                                          <p:spTgt spid="2">
                                            <p:txEl>
                                              <p:pRg st="0" end="0"/>
                                            </p:txEl>
                                          </p:spTgt>
                                        </p:tgtEl>
                                      </p:cBhvr>
                                      <p:to x="100000" y="95000"/>
                                    </p:animScale>
                                    <p:animScale>
                                      <p:cBhvr>
                                        <p:cTn id="20" dur="166" decel="50000">
                                          <p:stCondLst>
                                            <p:cond delay="1834"/>
                                          </p:stCondLst>
                                        </p:cTn>
                                        <p:tgtEl>
                                          <p:spTgt spid="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wipe(down)">
                                      <p:cBhvr>
                                        <p:cTn id="25" dur="580">
                                          <p:stCondLst>
                                            <p:cond delay="0"/>
                                          </p:stCondLst>
                                        </p:cTn>
                                        <p:tgtEl>
                                          <p:spTgt spid="2">
                                            <p:txEl>
                                              <p:pRg st="1" end="1"/>
                                            </p:txEl>
                                          </p:spTgt>
                                        </p:tgtEl>
                                      </p:cBhvr>
                                    </p:animEffect>
                                    <p:anim calcmode="lin" valueType="num">
                                      <p:cBhvr>
                                        <p:cTn id="26"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1" end="1"/>
                                            </p:txEl>
                                          </p:spTgt>
                                        </p:tgtEl>
                                      </p:cBhvr>
                                      <p:to x="100000" y="60000"/>
                                    </p:animScale>
                                    <p:animScale>
                                      <p:cBhvr>
                                        <p:cTn id="32" dur="166" decel="50000">
                                          <p:stCondLst>
                                            <p:cond delay="676"/>
                                          </p:stCondLst>
                                        </p:cTn>
                                        <p:tgtEl>
                                          <p:spTgt spid="2">
                                            <p:txEl>
                                              <p:pRg st="1" end="1"/>
                                            </p:txEl>
                                          </p:spTgt>
                                        </p:tgtEl>
                                      </p:cBhvr>
                                      <p:to x="100000" y="100000"/>
                                    </p:animScale>
                                    <p:animScale>
                                      <p:cBhvr>
                                        <p:cTn id="33" dur="26">
                                          <p:stCondLst>
                                            <p:cond delay="1312"/>
                                          </p:stCondLst>
                                        </p:cTn>
                                        <p:tgtEl>
                                          <p:spTgt spid="2">
                                            <p:txEl>
                                              <p:pRg st="1" end="1"/>
                                            </p:txEl>
                                          </p:spTgt>
                                        </p:tgtEl>
                                      </p:cBhvr>
                                      <p:to x="100000" y="80000"/>
                                    </p:animScale>
                                    <p:animScale>
                                      <p:cBhvr>
                                        <p:cTn id="34" dur="166" decel="50000">
                                          <p:stCondLst>
                                            <p:cond delay="1338"/>
                                          </p:stCondLst>
                                        </p:cTn>
                                        <p:tgtEl>
                                          <p:spTgt spid="2">
                                            <p:txEl>
                                              <p:pRg st="1" end="1"/>
                                            </p:txEl>
                                          </p:spTgt>
                                        </p:tgtEl>
                                      </p:cBhvr>
                                      <p:to x="100000" y="100000"/>
                                    </p:animScale>
                                    <p:animScale>
                                      <p:cBhvr>
                                        <p:cTn id="35" dur="26">
                                          <p:stCondLst>
                                            <p:cond delay="1642"/>
                                          </p:stCondLst>
                                        </p:cTn>
                                        <p:tgtEl>
                                          <p:spTgt spid="2">
                                            <p:txEl>
                                              <p:pRg st="1" end="1"/>
                                            </p:txEl>
                                          </p:spTgt>
                                        </p:tgtEl>
                                      </p:cBhvr>
                                      <p:to x="100000" y="90000"/>
                                    </p:animScale>
                                    <p:animScale>
                                      <p:cBhvr>
                                        <p:cTn id="36" dur="166" decel="50000">
                                          <p:stCondLst>
                                            <p:cond delay="1668"/>
                                          </p:stCondLst>
                                        </p:cTn>
                                        <p:tgtEl>
                                          <p:spTgt spid="2">
                                            <p:txEl>
                                              <p:pRg st="1" end="1"/>
                                            </p:txEl>
                                          </p:spTgt>
                                        </p:tgtEl>
                                      </p:cBhvr>
                                      <p:to x="100000" y="100000"/>
                                    </p:animScale>
                                    <p:animScale>
                                      <p:cBhvr>
                                        <p:cTn id="37" dur="26">
                                          <p:stCondLst>
                                            <p:cond delay="1808"/>
                                          </p:stCondLst>
                                        </p:cTn>
                                        <p:tgtEl>
                                          <p:spTgt spid="2">
                                            <p:txEl>
                                              <p:pRg st="1" end="1"/>
                                            </p:txEl>
                                          </p:spTgt>
                                        </p:tgtEl>
                                      </p:cBhvr>
                                      <p:to x="100000" y="95000"/>
                                    </p:animScale>
                                    <p:animScale>
                                      <p:cBhvr>
                                        <p:cTn id="38" dur="166" decel="50000">
                                          <p:stCondLst>
                                            <p:cond delay="1834"/>
                                          </p:stCondLst>
                                        </p:cTn>
                                        <p:tgtEl>
                                          <p:spTgt spid="2">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2" end="2"/>
                                            </p:txEl>
                                          </p:spTgt>
                                        </p:tgtEl>
                                        <p:attrNameLst>
                                          <p:attrName>style.visibility</p:attrName>
                                        </p:attrNameLst>
                                      </p:cBhvr>
                                      <p:to>
                                        <p:strVal val="visible"/>
                                      </p:to>
                                    </p:set>
                                    <p:animEffect transition="in" filter="wipe(down)">
                                      <p:cBhvr>
                                        <p:cTn id="43" dur="580">
                                          <p:stCondLst>
                                            <p:cond delay="0"/>
                                          </p:stCondLst>
                                        </p:cTn>
                                        <p:tgtEl>
                                          <p:spTgt spid="2">
                                            <p:txEl>
                                              <p:pRg st="2" end="2"/>
                                            </p:txEl>
                                          </p:spTgt>
                                        </p:tgtEl>
                                      </p:cBhvr>
                                    </p:animEffect>
                                    <p:anim calcmode="lin" valueType="num">
                                      <p:cBhvr>
                                        <p:cTn id="44"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2" end="2"/>
                                            </p:txEl>
                                          </p:spTgt>
                                        </p:tgtEl>
                                      </p:cBhvr>
                                      <p:to x="100000" y="60000"/>
                                    </p:animScale>
                                    <p:animScale>
                                      <p:cBhvr>
                                        <p:cTn id="50" dur="166" decel="50000">
                                          <p:stCondLst>
                                            <p:cond delay="676"/>
                                          </p:stCondLst>
                                        </p:cTn>
                                        <p:tgtEl>
                                          <p:spTgt spid="2">
                                            <p:txEl>
                                              <p:pRg st="2" end="2"/>
                                            </p:txEl>
                                          </p:spTgt>
                                        </p:tgtEl>
                                      </p:cBhvr>
                                      <p:to x="100000" y="100000"/>
                                    </p:animScale>
                                    <p:animScale>
                                      <p:cBhvr>
                                        <p:cTn id="51" dur="26">
                                          <p:stCondLst>
                                            <p:cond delay="1312"/>
                                          </p:stCondLst>
                                        </p:cTn>
                                        <p:tgtEl>
                                          <p:spTgt spid="2">
                                            <p:txEl>
                                              <p:pRg st="2" end="2"/>
                                            </p:txEl>
                                          </p:spTgt>
                                        </p:tgtEl>
                                      </p:cBhvr>
                                      <p:to x="100000" y="80000"/>
                                    </p:animScale>
                                    <p:animScale>
                                      <p:cBhvr>
                                        <p:cTn id="52" dur="166" decel="50000">
                                          <p:stCondLst>
                                            <p:cond delay="1338"/>
                                          </p:stCondLst>
                                        </p:cTn>
                                        <p:tgtEl>
                                          <p:spTgt spid="2">
                                            <p:txEl>
                                              <p:pRg st="2" end="2"/>
                                            </p:txEl>
                                          </p:spTgt>
                                        </p:tgtEl>
                                      </p:cBhvr>
                                      <p:to x="100000" y="100000"/>
                                    </p:animScale>
                                    <p:animScale>
                                      <p:cBhvr>
                                        <p:cTn id="53" dur="26">
                                          <p:stCondLst>
                                            <p:cond delay="1642"/>
                                          </p:stCondLst>
                                        </p:cTn>
                                        <p:tgtEl>
                                          <p:spTgt spid="2">
                                            <p:txEl>
                                              <p:pRg st="2" end="2"/>
                                            </p:txEl>
                                          </p:spTgt>
                                        </p:tgtEl>
                                      </p:cBhvr>
                                      <p:to x="100000" y="90000"/>
                                    </p:animScale>
                                    <p:animScale>
                                      <p:cBhvr>
                                        <p:cTn id="54" dur="166" decel="50000">
                                          <p:stCondLst>
                                            <p:cond delay="1668"/>
                                          </p:stCondLst>
                                        </p:cTn>
                                        <p:tgtEl>
                                          <p:spTgt spid="2">
                                            <p:txEl>
                                              <p:pRg st="2" end="2"/>
                                            </p:txEl>
                                          </p:spTgt>
                                        </p:tgtEl>
                                      </p:cBhvr>
                                      <p:to x="100000" y="100000"/>
                                    </p:animScale>
                                    <p:animScale>
                                      <p:cBhvr>
                                        <p:cTn id="55" dur="26">
                                          <p:stCondLst>
                                            <p:cond delay="1808"/>
                                          </p:stCondLst>
                                        </p:cTn>
                                        <p:tgtEl>
                                          <p:spTgt spid="2">
                                            <p:txEl>
                                              <p:pRg st="2" end="2"/>
                                            </p:txEl>
                                          </p:spTgt>
                                        </p:tgtEl>
                                      </p:cBhvr>
                                      <p:to x="100000" y="95000"/>
                                    </p:animScale>
                                    <p:animScale>
                                      <p:cBhvr>
                                        <p:cTn id="56" dur="166" decel="50000">
                                          <p:stCondLst>
                                            <p:cond delay="1834"/>
                                          </p:stCondLst>
                                        </p:cTn>
                                        <p:tgtEl>
                                          <p:spTgt spid="2">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404664"/>
            <a:ext cx="8229600" cy="5721499"/>
          </a:xfrm>
        </p:spPr>
        <p:txBody>
          <a:bodyPr>
            <a:normAutofit fontScale="62500" lnSpcReduction="20000"/>
          </a:bodyPr>
          <a:lstStyle/>
          <a:p>
            <a:pPr algn="just"/>
            <a:r>
              <a:rPr lang="es-ES" sz="3400" dirty="0"/>
              <a:t>CRITERIOS DIAGNÓSTICOS</a:t>
            </a:r>
          </a:p>
          <a:p>
            <a:pPr algn="just"/>
            <a:r>
              <a:rPr lang="es-ES" sz="3400" dirty="0"/>
              <a:t>Historia de absceso perianal.</a:t>
            </a:r>
          </a:p>
          <a:p>
            <a:pPr algn="just"/>
            <a:r>
              <a:rPr lang="es-ES" sz="3400" dirty="0"/>
              <a:t>Drenaje anal o perianal de secreción purulenta o intermitente.</a:t>
            </a:r>
          </a:p>
          <a:p>
            <a:pPr algn="just"/>
            <a:r>
              <a:rPr lang="es-ES" sz="3400" dirty="0"/>
              <a:t>Presencia de orificio fistuloso secundario con trayecto fistuloso dirigido hacia la cripta de </a:t>
            </a:r>
            <a:r>
              <a:rPr lang="es-ES" sz="3400" dirty="0" smtClean="0"/>
              <a:t>origen</a:t>
            </a:r>
          </a:p>
          <a:p>
            <a:pPr algn="just"/>
            <a:r>
              <a:rPr lang="es-BO" sz="3400" dirty="0"/>
              <a:t>Colitis ulcerosa inespecífica puede ser una de sus complicaciones.</a:t>
            </a:r>
          </a:p>
          <a:p>
            <a:pPr algn="just"/>
            <a:r>
              <a:rPr lang="es-BO" sz="3400" dirty="0"/>
              <a:t>Quiste </a:t>
            </a:r>
            <a:r>
              <a:rPr lang="es-BO" sz="3400" dirty="0" err="1"/>
              <a:t>pilonidal</a:t>
            </a:r>
            <a:r>
              <a:rPr lang="es-BO" sz="3400" dirty="0"/>
              <a:t>: Orificio en la línea media </a:t>
            </a:r>
            <a:r>
              <a:rPr lang="es-BO" sz="3400" dirty="0" err="1"/>
              <a:t>sacrococcigea</a:t>
            </a:r>
            <a:r>
              <a:rPr lang="es-BO" sz="3400" dirty="0"/>
              <a:t> constituido por pelos a través del orificio.</a:t>
            </a:r>
          </a:p>
          <a:p>
            <a:pPr algn="just"/>
            <a:r>
              <a:rPr lang="es-BO" sz="3400" dirty="0" err="1"/>
              <a:t>Hidradenitis</a:t>
            </a:r>
            <a:r>
              <a:rPr lang="es-BO" sz="3400" dirty="0"/>
              <a:t> supurativa o </a:t>
            </a:r>
            <a:r>
              <a:rPr lang="es-BO" sz="3400" dirty="0" err="1"/>
              <a:t>Hypoderma</a:t>
            </a:r>
            <a:r>
              <a:rPr lang="es-BO" sz="3400" dirty="0"/>
              <a:t>: infección de las glándulas sudorípara se inicia con nódulos subcutáneos que se reblandecen y supuran y se extienden a otras glándulas y forman trayectos subcutáneos fistulosos que comunican al exterior</a:t>
            </a:r>
            <a:r>
              <a:rPr lang="es-BO" sz="3400" dirty="0" smtClean="0"/>
              <a:t>.</a:t>
            </a:r>
          </a:p>
          <a:p>
            <a:pPr algn="just"/>
            <a:r>
              <a:rPr lang="es-BO" sz="3400" dirty="0" smtClean="0"/>
              <a:t> </a:t>
            </a:r>
            <a:r>
              <a:rPr lang="es-BO" sz="3400" dirty="0"/>
              <a:t>Pueden abarcar ambas regiones glúteas </a:t>
            </a:r>
            <a:r>
              <a:rPr lang="es-BO" sz="3400" dirty="0" err="1"/>
              <a:t>sacrococcigea</a:t>
            </a:r>
            <a:r>
              <a:rPr lang="es-BO" sz="3400" dirty="0"/>
              <a:t> e inguinales con zonas </a:t>
            </a:r>
            <a:r>
              <a:rPr lang="es-BO" sz="3400" dirty="0" err="1"/>
              <a:t>hiperpigmentadas</a:t>
            </a:r>
            <a:r>
              <a:rPr lang="es-BO" sz="3400" dirty="0"/>
              <a:t> brillantes de aspecto inflamatorio</a:t>
            </a:r>
            <a:r>
              <a:rPr lang="es-BO" dirty="0" smtClean="0"/>
              <a:t>.</a:t>
            </a:r>
            <a:endParaRPr lang="es-BO"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grpId="0" nodeType="clickEffect">
                                  <p:stCondLst>
                                    <p:cond delay="0"/>
                                  </p:stCondLst>
                                  <p:childTnLst>
                                    <p:set>
                                      <p:cBhvr>
                                        <p:cTn id="96" dur="1" fill="hold">
                                          <p:stCondLst>
                                            <p:cond delay="0"/>
                                          </p:stCondLst>
                                        </p:cTn>
                                        <p:tgtEl>
                                          <p:spTgt spid="3">
                                            <p:txEl>
                                              <p:pRg st="5" end="5"/>
                                            </p:txEl>
                                          </p:spTgt>
                                        </p:tgtEl>
                                        <p:attrNameLst>
                                          <p:attrName>style.visibility</p:attrName>
                                        </p:attrNameLst>
                                      </p:cBhvr>
                                      <p:to>
                                        <p:strVal val="visible"/>
                                      </p:to>
                                    </p:set>
                                    <p:animEffect transition="in" filter="wipe(down)">
                                      <p:cBhvr>
                                        <p:cTn id="97" dur="580">
                                          <p:stCondLst>
                                            <p:cond delay="0"/>
                                          </p:stCondLst>
                                        </p:cTn>
                                        <p:tgtEl>
                                          <p:spTgt spid="3">
                                            <p:txEl>
                                              <p:pRg st="5" end="5"/>
                                            </p:txEl>
                                          </p:spTgt>
                                        </p:tgtEl>
                                      </p:cBhvr>
                                    </p:animEffect>
                                    <p:anim calcmode="lin" valueType="num">
                                      <p:cBhvr>
                                        <p:cTn id="98"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3" dur="26">
                                          <p:stCondLst>
                                            <p:cond delay="650"/>
                                          </p:stCondLst>
                                        </p:cTn>
                                        <p:tgtEl>
                                          <p:spTgt spid="3">
                                            <p:txEl>
                                              <p:pRg st="5" end="5"/>
                                            </p:txEl>
                                          </p:spTgt>
                                        </p:tgtEl>
                                      </p:cBhvr>
                                      <p:to x="100000" y="60000"/>
                                    </p:animScale>
                                    <p:animScale>
                                      <p:cBhvr>
                                        <p:cTn id="104" dur="166" decel="50000">
                                          <p:stCondLst>
                                            <p:cond delay="676"/>
                                          </p:stCondLst>
                                        </p:cTn>
                                        <p:tgtEl>
                                          <p:spTgt spid="3">
                                            <p:txEl>
                                              <p:pRg st="5" end="5"/>
                                            </p:txEl>
                                          </p:spTgt>
                                        </p:tgtEl>
                                      </p:cBhvr>
                                      <p:to x="100000" y="100000"/>
                                    </p:animScale>
                                    <p:animScale>
                                      <p:cBhvr>
                                        <p:cTn id="105" dur="26">
                                          <p:stCondLst>
                                            <p:cond delay="1312"/>
                                          </p:stCondLst>
                                        </p:cTn>
                                        <p:tgtEl>
                                          <p:spTgt spid="3">
                                            <p:txEl>
                                              <p:pRg st="5" end="5"/>
                                            </p:txEl>
                                          </p:spTgt>
                                        </p:tgtEl>
                                      </p:cBhvr>
                                      <p:to x="100000" y="80000"/>
                                    </p:animScale>
                                    <p:animScale>
                                      <p:cBhvr>
                                        <p:cTn id="106" dur="166" decel="50000">
                                          <p:stCondLst>
                                            <p:cond delay="1338"/>
                                          </p:stCondLst>
                                        </p:cTn>
                                        <p:tgtEl>
                                          <p:spTgt spid="3">
                                            <p:txEl>
                                              <p:pRg st="5" end="5"/>
                                            </p:txEl>
                                          </p:spTgt>
                                        </p:tgtEl>
                                      </p:cBhvr>
                                      <p:to x="100000" y="100000"/>
                                    </p:animScale>
                                    <p:animScale>
                                      <p:cBhvr>
                                        <p:cTn id="107" dur="26">
                                          <p:stCondLst>
                                            <p:cond delay="1642"/>
                                          </p:stCondLst>
                                        </p:cTn>
                                        <p:tgtEl>
                                          <p:spTgt spid="3">
                                            <p:txEl>
                                              <p:pRg st="5" end="5"/>
                                            </p:txEl>
                                          </p:spTgt>
                                        </p:tgtEl>
                                      </p:cBhvr>
                                      <p:to x="100000" y="90000"/>
                                    </p:animScale>
                                    <p:animScale>
                                      <p:cBhvr>
                                        <p:cTn id="108" dur="166" decel="50000">
                                          <p:stCondLst>
                                            <p:cond delay="1668"/>
                                          </p:stCondLst>
                                        </p:cTn>
                                        <p:tgtEl>
                                          <p:spTgt spid="3">
                                            <p:txEl>
                                              <p:pRg st="5" end="5"/>
                                            </p:txEl>
                                          </p:spTgt>
                                        </p:tgtEl>
                                      </p:cBhvr>
                                      <p:to x="100000" y="100000"/>
                                    </p:animScale>
                                    <p:animScale>
                                      <p:cBhvr>
                                        <p:cTn id="109" dur="26">
                                          <p:stCondLst>
                                            <p:cond delay="1808"/>
                                          </p:stCondLst>
                                        </p:cTn>
                                        <p:tgtEl>
                                          <p:spTgt spid="3">
                                            <p:txEl>
                                              <p:pRg st="5" end="5"/>
                                            </p:txEl>
                                          </p:spTgt>
                                        </p:tgtEl>
                                      </p:cBhvr>
                                      <p:to x="100000" y="95000"/>
                                    </p:animScale>
                                    <p:animScale>
                                      <p:cBhvr>
                                        <p:cTn id="110" dur="166" decel="50000">
                                          <p:stCondLst>
                                            <p:cond delay="1834"/>
                                          </p:stCondLst>
                                        </p:cTn>
                                        <p:tgtEl>
                                          <p:spTgt spid="3">
                                            <p:txEl>
                                              <p:pRg st="5" end="5"/>
                                            </p:txEl>
                                          </p:spTgt>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grpId="0" nodeType="clickEffect">
                                  <p:stCondLst>
                                    <p:cond delay="0"/>
                                  </p:stCondLst>
                                  <p:childTnLst>
                                    <p:set>
                                      <p:cBhvr>
                                        <p:cTn id="114" dur="1" fill="hold">
                                          <p:stCondLst>
                                            <p:cond delay="0"/>
                                          </p:stCondLst>
                                        </p:cTn>
                                        <p:tgtEl>
                                          <p:spTgt spid="3">
                                            <p:txEl>
                                              <p:pRg st="6" end="6"/>
                                            </p:txEl>
                                          </p:spTgt>
                                        </p:tgtEl>
                                        <p:attrNameLst>
                                          <p:attrName>style.visibility</p:attrName>
                                        </p:attrNameLst>
                                      </p:cBhvr>
                                      <p:to>
                                        <p:strVal val="visible"/>
                                      </p:to>
                                    </p:set>
                                    <p:animEffect transition="in" filter="wipe(down)">
                                      <p:cBhvr>
                                        <p:cTn id="115" dur="580">
                                          <p:stCondLst>
                                            <p:cond delay="0"/>
                                          </p:stCondLst>
                                        </p:cTn>
                                        <p:tgtEl>
                                          <p:spTgt spid="3">
                                            <p:txEl>
                                              <p:pRg st="6" end="6"/>
                                            </p:txEl>
                                          </p:spTgt>
                                        </p:tgtEl>
                                      </p:cBhvr>
                                    </p:animEffect>
                                    <p:anim calcmode="lin" valueType="num">
                                      <p:cBhvr>
                                        <p:cTn id="116"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21" dur="26">
                                          <p:stCondLst>
                                            <p:cond delay="650"/>
                                          </p:stCondLst>
                                        </p:cTn>
                                        <p:tgtEl>
                                          <p:spTgt spid="3">
                                            <p:txEl>
                                              <p:pRg st="6" end="6"/>
                                            </p:txEl>
                                          </p:spTgt>
                                        </p:tgtEl>
                                      </p:cBhvr>
                                      <p:to x="100000" y="60000"/>
                                    </p:animScale>
                                    <p:animScale>
                                      <p:cBhvr>
                                        <p:cTn id="122" dur="166" decel="50000">
                                          <p:stCondLst>
                                            <p:cond delay="676"/>
                                          </p:stCondLst>
                                        </p:cTn>
                                        <p:tgtEl>
                                          <p:spTgt spid="3">
                                            <p:txEl>
                                              <p:pRg st="6" end="6"/>
                                            </p:txEl>
                                          </p:spTgt>
                                        </p:tgtEl>
                                      </p:cBhvr>
                                      <p:to x="100000" y="100000"/>
                                    </p:animScale>
                                    <p:animScale>
                                      <p:cBhvr>
                                        <p:cTn id="123" dur="26">
                                          <p:stCondLst>
                                            <p:cond delay="1312"/>
                                          </p:stCondLst>
                                        </p:cTn>
                                        <p:tgtEl>
                                          <p:spTgt spid="3">
                                            <p:txEl>
                                              <p:pRg st="6" end="6"/>
                                            </p:txEl>
                                          </p:spTgt>
                                        </p:tgtEl>
                                      </p:cBhvr>
                                      <p:to x="100000" y="80000"/>
                                    </p:animScale>
                                    <p:animScale>
                                      <p:cBhvr>
                                        <p:cTn id="124" dur="166" decel="50000">
                                          <p:stCondLst>
                                            <p:cond delay="1338"/>
                                          </p:stCondLst>
                                        </p:cTn>
                                        <p:tgtEl>
                                          <p:spTgt spid="3">
                                            <p:txEl>
                                              <p:pRg st="6" end="6"/>
                                            </p:txEl>
                                          </p:spTgt>
                                        </p:tgtEl>
                                      </p:cBhvr>
                                      <p:to x="100000" y="100000"/>
                                    </p:animScale>
                                    <p:animScale>
                                      <p:cBhvr>
                                        <p:cTn id="125" dur="26">
                                          <p:stCondLst>
                                            <p:cond delay="1642"/>
                                          </p:stCondLst>
                                        </p:cTn>
                                        <p:tgtEl>
                                          <p:spTgt spid="3">
                                            <p:txEl>
                                              <p:pRg st="6" end="6"/>
                                            </p:txEl>
                                          </p:spTgt>
                                        </p:tgtEl>
                                      </p:cBhvr>
                                      <p:to x="100000" y="90000"/>
                                    </p:animScale>
                                    <p:animScale>
                                      <p:cBhvr>
                                        <p:cTn id="126" dur="166" decel="50000">
                                          <p:stCondLst>
                                            <p:cond delay="1668"/>
                                          </p:stCondLst>
                                        </p:cTn>
                                        <p:tgtEl>
                                          <p:spTgt spid="3">
                                            <p:txEl>
                                              <p:pRg st="6" end="6"/>
                                            </p:txEl>
                                          </p:spTgt>
                                        </p:tgtEl>
                                      </p:cBhvr>
                                      <p:to x="100000" y="100000"/>
                                    </p:animScale>
                                    <p:animScale>
                                      <p:cBhvr>
                                        <p:cTn id="127" dur="26">
                                          <p:stCondLst>
                                            <p:cond delay="1808"/>
                                          </p:stCondLst>
                                        </p:cTn>
                                        <p:tgtEl>
                                          <p:spTgt spid="3">
                                            <p:txEl>
                                              <p:pRg st="6" end="6"/>
                                            </p:txEl>
                                          </p:spTgt>
                                        </p:tgtEl>
                                      </p:cBhvr>
                                      <p:to x="100000" y="95000"/>
                                    </p:animScale>
                                    <p:animScale>
                                      <p:cBhvr>
                                        <p:cTn id="128" dur="166" decel="50000">
                                          <p:stCondLst>
                                            <p:cond delay="1834"/>
                                          </p:stCondLst>
                                        </p:cTn>
                                        <p:tgtEl>
                                          <p:spTgt spid="3">
                                            <p:txEl>
                                              <p:pRg st="6" end="6"/>
                                            </p:txEl>
                                          </p:spTgt>
                                        </p:tgtEl>
                                      </p:cBhvr>
                                      <p:to x="100000" y="100000"/>
                                    </p:animScale>
                                  </p:childTnLst>
                                </p:cTn>
                              </p:par>
                            </p:childTnLst>
                          </p:cTn>
                        </p:par>
                      </p:childTnLst>
                    </p:cTn>
                  </p:par>
                  <p:par>
                    <p:cTn id="129" fill="hold">
                      <p:stCondLst>
                        <p:cond delay="indefinite"/>
                      </p:stCondLst>
                      <p:childTnLst>
                        <p:par>
                          <p:cTn id="130" fill="hold">
                            <p:stCondLst>
                              <p:cond delay="0"/>
                            </p:stCondLst>
                            <p:childTnLst>
                              <p:par>
                                <p:cTn id="131" presetID="26" presetClass="entr" presetSubtype="0" fill="hold" grpId="0" nodeType="clickEffect">
                                  <p:stCondLst>
                                    <p:cond delay="0"/>
                                  </p:stCondLst>
                                  <p:childTnLst>
                                    <p:set>
                                      <p:cBhvr>
                                        <p:cTn id="132" dur="1" fill="hold">
                                          <p:stCondLst>
                                            <p:cond delay="0"/>
                                          </p:stCondLst>
                                        </p:cTn>
                                        <p:tgtEl>
                                          <p:spTgt spid="3">
                                            <p:txEl>
                                              <p:pRg st="7" end="7"/>
                                            </p:txEl>
                                          </p:spTgt>
                                        </p:tgtEl>
                                        <p:attrNameLst>
                                          <p:attrName>style.visibility</p:attrName>
                                        </p:attrNameLst>
                                      </p:cBhvr>
                                      <p:to>
                                        <p:strVal val="visible"/>
                                      </p:to>
                                    </p:set>
                                    <p:animEffect transition="in" filter="wipe(down)">
                                      <p:cBhvr>
                                        <p:cTn id="133" dur="580">
                                          <p:stCondLst>
                                            <p:cond delay="0"/>
                                          </p:stCondLst>
                                        </p:cTn>
                                        <p:tgtEl>
                                          <p:spTgt spid="3">
                                            <p:txEl>
                                              <p:pRg st="7" end="7"/>
                                            </p:txEl>
                                          </p:spTgt>
                                        </p:tgtEl>
                                      </p:cBhvr>
                                    </p:animEffect>
                                    <p:anim calcmode="lin" valueType="num">
                                      <p:cBhvr>
                                        <p:cTn id="134"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35"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36"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7"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8"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9" dur="26">
                                          <p:stCondLst>
                                            <p:cond delay="650"/>
                                          </p:stCondLst>
                                        </p:cTn>
                                        <p:tgtEl>
                                          <p:spTgt spid="3">
                                            <p:txEl>
                                              <p:pRg st="7" end="7"/>
                                            </p:txEl>
                                          </p:spTgt>
                                        </p:tgtEl>
                                      </p:cBhvr>
                                      <p:to x="100000" y="60000"/>
                                    </p:animScale>
                                    <p:animScale>
                                      <p:cBhvr>
                                        <p:cTn id="140" dur="166" decel="50000">
                                          <p:stCondLst>
                                            <p:cond delay="676"/>
                                          </p:stCondLst>
                                        </p:cTn>
                                        <p:tgtEl>
                                          <p:spTgt spid="3">
                                            <p:txEl>
                                              <p:pRg st="7" end="7"/>
                                            </p:txEl>
                                          </p:spTgt>
                                        </p:tgtEl>
                                      </p:cBhvr>
                                      <p:to x="100000" y="100000"/>
                                    </p:animScale>
                                    <p:animScale>
                                      <p:cBhvr>
                                        <p:cTn id="141" dur="26">
                                          <p:stCondLst>
                                            <p:cond delay="1312"/>
                                          </p:stCondLst>
                                        </p:cTn>
                                        <p:tgtEl>
                                          <p:spTgt spid="3">
                                            <p:txEl>
                                              <p:pRg st="7" end="7"/>
                                            </p:txEl>
                                          </p:spTgt>
                                        </p:tgtEl>
                                      </p:cBhvr>
                                      <p:to x="100000" y="80000"/>
                                    </p:animScale>
                                    <p:animScale>
                                      <p:cBhvr>
                                        <p:cTn id="142" dur="166" decel="50000">
                                          <p:stCondLst>
                                            <p:cond delay="1338"/>
                                          </p:stCondLst>
                                        </p:cTn>
                                        <p:tgtEl>
                                          <p:spTgt spid="3">
                                            <p:txEl>
                                              <p:pRg st="7" end="7"/>
                                            </p:txEl>
                                          </p:spTgt>
                                        </p:tgtEl>
                                      </p:cBhvr>
                                      <p:to x="100000" y="100000"/>
                                    </p:animScale>
                                    <p:animScale>
                                      <p:cBhvr>
                                        <p:cTn id="143" dur="26">
                                          <p:stCondLst>
                                            <p:cond delay="1642"/>
                                          </p:stCondLst>
                                        </p:cTn>
                                        <p:tgtEl>
                                          <p:spTgt spid="3">
                                            <p:txEl>
                                              <p:pRg st="7" end="7"/>
                                            </p:txEl>
                                          </p:spTgt>
                                        </p:tgtEl>
                                      </p:cBhvr>
                                      <p:to x="100000" y="90000"/>
                                    </p:animScale>
                                    <p:animScale>
                                      <p:cBhvr>
                                        <p:cTn id="144" dur="166" decel="50000">
                                          <p:stCondLst>
                                            <p:cond delay="1668"/>
                                          </p:stCondLst>
                                        </p:cTn>
                                        <p:tgtEl>
                                          <p:spTgt spid="3">
                                            <p:txEl>
                                              <p:pRg st="7" end="7"/>
                                            </p:txEl>
                                          </p:spTgt>
                                        </p:tgtEl>
                                      </p:cBhvr>
                                      <p:to x="100000" y="100000"/>
                                    </p:animScale>
                                    <p:animScale>
                                      <p:cBhvr>
                                        <p:cTn id="145" dur="26">
                                          <p:stCondLst>
                                            <p:cond delay="1808"/>
                                          </p:stCondLst>
                                        </p:cTn>
                                        <p:tgtEl>
                                          <p:spTgt spid="3">
                                            <p:txEl>
                                              <p:pRg st="7" end="7"/>
                                            </p:txEl>
                                          </p:spTgt>
                                        </p:tgtEl>
                                      </p:cBhvr>
                                      <p:to x="100000" y="95000"/>
                                    </p:animScale>
                                    <p:animScale>
                                      <p:cBhvr>
                                        <p:cTn id="146"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92696"/>
            <a:ext cx="8229600" cy="5433467"/>
          </a:xfrm>
        </p:spPr>
        <p:txBody>
          <a:bodyPr>
            <a:normAutofit/>
          </a:bodyPr>
          <a:lstStyle/>
          <a:p>
            <a:pPr algn="just"/>
            <a:r>
              <a:rPr lang="es-BO" dirty="0"/>
              <a:t>Actinomicosis: Enfermedad rara con numerosos orificios fistulosos supurantes con signos de infección subcutánea severa y extensa. </a:t>
            </a:r>
            <a:endParaRPr lang="es-BO" dirty="0" smtClean="0"/>
          </a:p>
          <a:p>
            <a:pPr algn="just"/>
            <a:r>
              <a:rPr lang="es-BO" dirty="0" smtClean="0"/>
              <a:t>Ataque </a:t>
            </a:r>
            <a:r>
              <a:rPr lang="es-BO" dirty="0"/>
              <a:t>severo al estado </a:t>
            </a:r>
            <a:r>
              <a:rPr lang="es-BO" dirty="0" smtClean="0"/>
              <a:t>general, el </a:t>
            </a:r>
            <a:r>
              <a:rPr lang="es-BO" dirty="0"/>
              <a:t>tratamiento con antibióticos representa el elemento diferencial importante.</a:t>
            </a:r>
          </a:p>
          <a:p>
            <a:pPr algn="just"/>
            <a:r>
              <a:rPr lang="es-BO" dirty="0" smtClean="0"/>
              <a:t>Forunculosis </a:t>
            </a:r>
            <a:r>
              <a:rPr lang="es-BO" dirty="0"/>
              <a:t>y quistes sebáceos infectados: Es un forúnculo similar a un absceso. El quiste evacua supura y evacúa su contenido </a:t>
            </a:r>
            <a:r>
              <a:rPr lang="es-BO" dirty="0" smtClean="0"/>
              <a:t>intermitentemente rara </a:t>
            </a:r>
            <a:r>
              <a:rPr lang="es-BO" dirty="0"/>
              <a:t>vez fistulizan.</a:t>
            </a:r>
          </a:p>
          <a:p>
            <a:endParaRPr lang="es-BO" dirty="0"/>
          </a:p>
        </p:txBody>
      </p:sp>
    </p:spTree>
    <p:extLst>
      <p:ext uri="{BB962C8B-B14F-4D97-AF65-F5344CB8AC3E}">
        <p14:creationId xmlns:p14="http://schemas.microsoft.com/office/powerpoint/2010/main" val="384736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wipe(down)">
                                      <p:cBhvr>
                                        <p:cTn id="41" dur="580">
                                          <p:stCondLst>
                                            <p:cond delay="0"/>
                                          </p:stCondLst>
                                        </p:cTn>
                                        <p:tgtEl>
                                          <p:spTgt spid="3">
                                            <p:txEl>
                                              <p:pRg st="2" end="2"/>
                                            </p:txEl>
                                          </p:spTgt>
                                        </p:tgtEl>
                                      </p:cBhvr>
                                    </p:animEffect>
                                    <p:anim calcmode="lin" valueType="num">
                                      <p:cBhvr>
                                        <p:cTn id="4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2" end="2"/>
                                            </p:txEl>
                                          </p:spTgt>
                                        </p:tgtEl>
                                      </p:cBhvr>
                                      <p:to x="100000" y="60000"/>
                                    </p:animScale>
                                    <p:animScale>
                                      <p:cBhvr>
                                        <p:cTn id="48" dur="166" decel="50000">
                                          <p:stCondLst>
                                            <p:cond delay="676"/>
                                          </p:stCondLst>
                                        </p:cTn>
                                        <p:tgtEl>
                                          <p:spTgt spid="3">
                                            <p:txEl>
                                              <p:pRg st="2" end="2"/>
                                            </p:txEl>
                                          </p:spTgt>
                                        </p:tgtEl>
                                      </p:cBhvr>
                                      <p:to x="100000" y="100000"/>
                                    </p:animScale>
                                    <p:animScale>
                                      <p:cBhvr>
                                        <p:cTn id="49" dur="26">
                                          <p:stCondLst>
                                            <p:cond delay="1312"/>
                                          </p:stCondLst>
                                        </p:cTn>
                                        <p:tgtEl>
                                          <p:spTgt spid="3">
                                            <p:txEl>
                                              <p:pRg st="2" end="2"/>
                                            </p:txEl>
                                          </p:spTgt>
                                        </p:tgtEl>
                                      </p:cBhvr>
                                      <p:to x="100000" y="80000"/>
                                    </p:animScale>
                                    <p:animScale>
                                      <p:cBhvr>
                                        <p:cTn id="50" dur="166" decel="50000">
                                          <p:stCondLst>
                                            <p:cond delay="1338"/>
                                          </p:stCondLst>
                                        </p:cTn>
                                        <p:tgtEl>
                                          <p:spTgt spid="3">
                                            <p:txEl>
                                              <p:pRg st="2" end="2"/>
                                            </p:txEl>
                                          </p:spTgt>
                                        </p:tgtEl>
                                      </p:cBhvr>
                                      <p:to x="100000" y="100000"/>
                                    </p:animScale>
                                    <p:animScale>
                                      <p:cBhvr>
                                        <p:cTn id="51" dur="26">
                                          <p:stCondLst>
                                            <p:cond delay="1642"/>
                                          </p:stCondLst>
                                        </p:cTn>
                                        <p:tgtEl>
                                          <p:spTgt spid="3">
                                            <p:txEl>
                                              <p:pRg st="2" end="2"/>
                                            </p:txEl>
                                          </p:spTgt>
                                        </p:tgtEl>
                                      </p:cBhvr>
                                      <p:to x="100000" y="90000"/>
                                    </p:animScale>
                                    <p:animScale>
                                      <p:cBhvr>
                                        <p:cTn id="52" dur="166" decel="50000">
                                          <p:stCondLst>
                                            <p:cond delay="1668"/>
                                          </p:stCondLst>
                                        </p:cTn>
                                        <p:tgtEl>
                                          <p:spTgt spid="3">
                                            <p:txEl>
                                              <p:pRg st="2" end="2"/>
                                            </p:txEl>
                                          </p:spTgt>
                                        </p:tgtEl>
                                      </p:cBhvr>
                                      <p:to x="100000" y="100000"/>
                                    </p:animScale>
                                    <p:animScale>
                                      <p:cBhvr>
                                        <p:cTn id="53" dur="26">
                                          <p:stCondLst>
                                            <p:cond delay="1808"/>
                                          </p:stCondLst>
                                        </p:cTn>
                                        <p:tgtEl>
                                          <p:spTgt spid="3">
                                            <p:txEl>
                                              <p:pRg st="2" end="2"/>
                                            </p:txEl>
                                          </p:spTgt>
                                        </p:tgtEl>
                                      </p:cBhvr>
                                      <p:to x="100000" y="95000"/>
                                    </p:animScale>
                                    <p:animScale>
                                      <p:cBhvr>
                                        <p:cTn id="54"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620689"/>
            <a:ext cx="8147248" cy="2304255"/>
          </a:xfrm>
        </p:spPr>
        <p:txBody>
          <a:bodyPr>
            <a:normAutofit fontScale="92500" lnSpcReduction="20000"/>
          </a:bodyPr>
          <a:lstStyle/>
          <a:p>
            <a:pPr algn="just"/>
            <a:r>
              <a:rPr lang="es-BO" dirty="0"/>
              <a:t>Cuerpos extraños: Sustancias anestésicas pueden producir abscesos.</a:t>
            </a:r>
          </a:p>
          <a:p>
            <a:pPr algn="just"/>
            <a:r>
              <a:rPr lang="es-BO" dirty="0"/>
              <a:t>Divertículos de sigmoides: Casos severos fistulización.</a:t>
            </a:r>
          </a:p>
          <a:p>
            <a:pPr algn="just"/>
            <a:r>
              <a:rPr lang="es-BO" dirty="0"/>
              <a:t>Laceraciones obstétricas: Cicatrización defectuosa de desgarro perianal o episiotomía pueden dejar fístulas.</a:t>
            </a:r>
          </a:p>
          <a:p>
            <a:pPr algn="just"/>
            <a:r>
              <a:rPr lang="es-BO" dirty="0"/>
              <a:t>Osteomielitis de huesos pélvicos. Algunos fistulizan a región anal y perianal.</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708920"/>
            <a:ext cx="5904656" cy="374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8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5122"/>
                                        </p:tgtEl>
                                        <p:attrNameLst>
                                          <p:attrName>style.visibility</p:attrName>
                                        </p:attrNameLst>
                                      </p:cBhvr>
                                      <p:to>
                                        <p:strVal val="visible"/>
                                      </p:to>
                                    </p:set>
                                    <p:animEffect transition="in" filter="wipe(down)">
                                      <p:cBhvr>
                                        <p:cTn id="79" dur="580">
                                          <p:stCondLst>
                                            <p:cond delay="0"/>
                                          </p:stCondLst>
                                        </p:cTn>
                                        <p:tgtEl>
                                          <p:spTgt spid="5122"/>
                                        </p:tgtEl>
                                      </p:cBhvr>
                                    </p:animEffect>
                                    <p:anim calcmode="lin" valueType="num">
                                      <p:cBhvr>
                                        <p:cTn id="80" dur="1822" tmFilter="0,0; 0.14,0.36; 0.43,0.73; 0.71,0.91; 1.0,1.0">
                                          <p:stCondLst>
                                            <p:cond delay="0"/>
                                          </p:stCondLst>
                                        </p:cTn>
                                        <p:tgtEl>
                                          <p:spTgt spid="5122"/>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5122"/>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5122"/>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5122"/>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5122"/>
                                        </p:tgtEl>
                                        <p:attrNameLst>
                                          <p:attrName>ppt_y</p:attrName>
                                        </p:attrNameLst>
                                      </p:cBhvr>
                                      <p:tavLst>
                                        <p:tav tm="0" fmla="#ppt_y-sin(pi*$)/81">
                                          <p:val>
                                            <p:fltVal val="0"/>
                                          </p:val>
                                        </p:tav>
                                        <p:tav tm="100000">
                                          <p:val>
                                            <p:fltVal val="1"/>
                                          </p:val>
                                        </p:tav>
                                      </p:tavLst>
                                    </p:anim>
                                    <p:animScale>
                                      <p:cBhvr>
                                        <p:cTn id="85" dur="26">
                                          <p:stCondLst>
                                            <p:cond delay="650"/>
                                          </p:stCondLst>
                                        </p:cTn>
                                        <p:tgtEl>
                                          <p:spTgt spid="5122"/>
                                        </p:tgtEl>
                                      </p:cBhvr>
                                      <p:to x="100000" y="60000"/>
                                    </p:animScale>
                                    <p:animScale>
                                      <p:cBhvr>
                                        <p:cTn id="86" dur="166" decel="50000">
                                          <p:stCondLst>
                                            <p:cond delay="676"/>
                                          </p:stCondLst>
                                        </p:cTn>
                                        <p:tgtEl>
                                          <p:spTgt spid="5122"/>
                                        </p:tgtEl>
                                      </p:cBhvr>
                                      <p:to x="100000" y="100000"/>
                                    </p:animScale>
                                    <p:animScale>
                                      <p:cBhvr>
                                        <p:cTn id="87" dur="26">
                                          <p:stCondLst>
                                            <p:cond delay="1312"/>
                                          </p:stCondLst>
                                        </p:cTn>
                                        <p:tgtEl>
                                          <p:spTgt spid="5122"/>
                                        </p:tgtEl>
                                      </p:cBhvr>
                                      <p:to x="100000" y="80000"/>
                                    </p:animScale>
                                    <p:animScale>
                                      <p:cBhvr>
                                        <p:cTn id="88" dur="166" decel="50000">
                                          <p:stCondLst>
                                            <p:cond delay="1338"/>
                                          </p:stCondLst>
                                        </p:cTn>
                                        <p:tgtEl>
                                          <p:spTgt spid="5122"/>
                                        </p:tgtEl>
                                      </p:cBhvr>
                                      <p:to x="100000" y="100000"/>
                                    </p:animScale>
                                    <p:animScale>
                                      <p:cBhvr>
                                        <p:cTn id="89" dur="26">
                                          <p:stCondLst>
                                            <p:cond delay="1642"/>
                                          </p:stCondLst>
                                        </p:cTn>
                                        <p:tgtEl>
                                          <p:spTgt spid="5122"/>
                                        </p:tgtEl>
                                      </p:cBhvr>
                                      <p:to x="100000" y="90000"/>
                                    </p:animScale>
                                    <p:animScale>
                                      <p:cBhvr>
                                        <p:cTn id="90" dur="166" decel="50000">
                                          <p:stCondLst>
                                            <p:cond delay="1668"/>
                                          </p:stCondLst>
                                        </p:cTn>
                                        <p:tgtEl>
                                          <p:spTgt spid="5122"/>
                                        </p:tgtEl>
                                      </p:cBhvr>
                                      <p:to x="100000" y="100000"/>
                                    </p:animScale>
                                    <p:animScale>
                                      <p:cBhvr>
                                        <p:cTn id="91" dur="26">
                                          <p:stCondLst>
                                            <p:cond delay="1808"/>
                                          </p:stCondLst>
                                        </p:cTn>
                                        <p:tgtEl>
                                          <p:spTgt spid="5122"/>
                                        </p:tgtEl>
                                      </p:cBhvr>
                                      <p:to x="100000" y="95000"/>
                                    </p:animScale>
                                    <p:animScale>
                                      <p:cBhvr>
                                        <p:cTn id="92" dur="166" decel="50000">
                                          <p:stCondLst>
                                            <p:cond delay="1834"/>
                                          </p:stCondLst>
                                        </p:cTn>
                                        <p:tgtEl>
                                          <p:spTgt spid="51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48680"/>
            <a:ext cx="8229600" cy="5577483"/>
          </a:xfrm>
        </p:spPr>
        <p:txBody>
          <a:bodyPr/>
          <a:lstStyle/>
          <a:p>
            <a:r>
              <a:rPr lang="es-BO" dirty="0"/>
              <a:t>COMPLICACIONES</a:t>
            </a:r>
          </a:p>
          <a:p>
            <a:r>
              <a:rPr lang="es-BO" dirty="0"/>
              <a:t>Fase aguda (abscesos) sepsis graves y muerte.</a:t>
            </a:r>
          </a:p>
          <a:p>
            <a:r>
              <a:rPr lang="es-BO" dirty="0"/>
              <a:t>Destrucción del esfínter e incontinencia anal.</a:t>
            </a:r>
          </a:p>
          <a:p>
            <a:r>
              <a:rPr lang="es-BO" dirty="0"/>
              <a:t>Cambios neoplásicos malignos en fístulas de larga evolución.</a:t>
            </a:r>
          </a:p>
          <a:p>
            <a:r>
              <a:rPr lang="es-BO" dirty="0"/>
              <a:t>Complicación post- quirúrgica: incontinencia anal en cirujanos de poca experiencia.</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152" y="3573016"/>
            <a:ext cx="2520280" cy="259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500597"/>
            <a:ext cx="3744416"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309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2050"/>
                                        </p:tgtEl>
                                        <p:attrNameLst>
                                          <p:attrName>style.visibility</p:attrName>
                                        </p:attrNameLst>
                                      </p:cBhvr>
                                      <p:to>
                                        <p:strVal val="visible"/>
                                      </p:to>
                                    </p:set>
                                    <p:animEffect transition="in" filter="wipe(down)">
                                      <p:cBhvr>
                                        <p:cTn id="97" dur="580">
                                          <p:stCondLst>
                                            <p:cond delay="0"/>
                                          </p:stCondLst>
                                        </p:cTn>
                                        <p:tgtEl>
                                          <p:spTgt spid="2050"/>
                                        </p:tgtEl>
                                      </p:cBhvr>
                                    </p:animEffect>
                                    <p:anim calcmode="lin" valueType="num">
                                      <p:cBhvr>
                                        <p:cTn id="98"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103" dur="26">
                                          <p:stCondLst>
                                            <p:cond delay="650"/>
                                          </p:stCondLst>
                                        </p:cTn>
                                        <p:tgtEl>
                                          <p:spTgt spid="2050"/>
                                        </p:tgtEl>
                                      </p:cBhvr>
                                      <p:to x="100000" y="60000"/>
                                    </p:animScale>
                                    <p:animScale>
                                      <p:cBhvr>
                                        <p:cTn id="104" dur="166" decel="50000">
                                          <p:stCondLst>
                                            <p:cond delay="676"/>
                                          </p:stCondLst>
                                        </p:cTn>
                                        <p:tgtEl>
                                          <p:spTgt spid="2050"/>
                                        </p:tgtEl>
                                      </p:cBhvr>
                                      <p:to x="100000" y="100000"/>
                                    </p:animScale>
                                    <p:animScale>
                                      <p:cBhvr>
                                        <p:cTn id="105" dur="26">
                                          <p:stCondLst>
                                            <p:cond delay="1312"/>
                                          </p:stCondLst>
                                        </p:cTn>
                                        <p:tgtEl>
                                          <p:spTgt spid="2050"/>
                                        </p:tgtEl>
                                      </p:cBhvr>
                                      <p:to x="100000" y="80000"/>
                                    </p:animScale>
                                    <p:animScale>
                                      <p:cBhvr>
                                        <p:cTn id="106" dur="166" decel="50000">
                                          <p:stCondLst>
                                            <p:cond delay="1338"/>
                                          </p:stCondLst>
                                        </p:cTn>
                                        <p:tgtEl>
                                          <p:spTgt spid="2050"/>
                                        </p:tgtEl>
                                      </p:cBhvr>
                                      <p:to x="100000" y="100000"/>
                                    </p:animScale>
                                    <p:animScale>
                                      <p:cBhvr>
                                        <p:cTn id="107" dur="26">
                                          <p:stCondLst>
                                            <p:cond delay="1642"/>
                                          </p:stCondLst>
                                        </p:cTn>
                                        <p:tgtEl>
                                          <p:spTgt spid="2050"/>
                                        </p:tgtEl>
                                      </p:cBhvr>
                                      <p:to x="100000" y="90000"/>
                                    </p:animScale>
                                    <p:animScale>
                                      <p:cBhvr>
                                        <p:cTn id="108" dur="166" decel="50000">
                                          <p:stCondLst>
                                            <p:cond delay="1668"/>
                                          </p:stCondLst>
                                        </p:cTn>
                                        <p:tgtEl>
                                          <p:spTgt spid="2050"/>
                                        </p:tgtEl>
                                      </p:cBhvr>
                                      <p:to x="100000" y="100000"/>
                                    </p:animScale>
                                    <p:animScale>
                                      <p:cBhvr>
                                        <p:cTn id="109" dur="26">
                                          <p:stCondLst>
                                            <p:cond delay="1808"/>
                                          </p:stCondLst>
                                        </p:cTn>
                                        <p:tgtEl>
                                          <p:spTgt spid="2050"/>
                                        </p:tgtEl>
                                      </p:cBhvr>
                                      <p:to x="100000" y="95000"/>
                                    </p:animScale>
                                    <p:animScale>
                                      <p:cBhvr>
                                        <p:cTn id="110" dur="166" decel="50000">
                                          <p:stCondLst>
                                            <p:cond delay="1834"/>
                                          </p:stCondLst>
                                        </p:cTn>
                                        <p:tgtEl>
                                          <p:spTgt spid="2050"/>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4100"/>
                                        </p:tgtEl>
                                        <p:attrNameLst>
                                          <p:attrName>style.visibility</p:attrName>
                                        </p:attrNameLst>
                                      </p:cBhvr>
                                      <p:to>
                                        <p:strVal val="visible"/>
                                      </p:to>
                                    </p:set>
                                    <p:animEffect transition="in" filter="wipe(down)">
                                      <p:cBhvr>
                                        <p:cTn id="115" dur="580">
                                          <p:stCondLst>
                                            <p:cond delay="0"/>
                                          </p:stCondLst>
                                        </p:cTn>
                                        <p:tgtEl>
                                          <p:spTgt spid="4100"/>
                                        </p:tgtEl>
                                      </p:cBhvr>
                                    </p:animEffect>
                                    <p:anim calcmode="lin" valueType="num">
                                      <p:cBhvr>
                                        <p:cTn id="116" dur="1822" tmFilter="0,0; 0.14,0.36; 0.43,0.73; 0.71,0.91; 1.0,1.0">
                                          <p:stCondLst>
                                            <p:cond delay="0"/>
                                          </p:stCondLst>
                                        </p:cTn>
                                        <p:tgtEl>
                                          <p:spTgt spid="4100"/>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4100"/>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4100"/>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4100"/>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4100"/>
                                        </p:tgtEl>
                                        <p:attrNameLst>
                                          <p:attrName>ppt_y</p:attrName>
                                        </p:attrNameLst>
                                      </p:cBhvr>
                                      <p:tavLst>
                                        <p:tav tm="0" fmla="#ppt_y-sin(pi*$)/81">
                                          <p:val>
                                            <p:fltVal val="0"/>
                                          </p:val>
                                        </p:tav>
                                        <p:tav tm="100000">
                                          <p:val>
                                            <p:fltVal val="1"/>
                                          </p:val>
                                        </p:tav>
                                      </p:tavLst>
                                    </p:anim>
                                    <p:animScale>
                                      <p:cBhvr>
                                        <p:cTn id="121" dur="26">
                                          <p:stCondLst>
                                            <p:cond delay="650"/>
                                          </p:stCondLst>
                                        </p:cTn>
                                        <p:tgtEl>
                                          <p:spTgt spid="4100"/>
                                        </p:tgtEl>
                                      </p:cBhvr>
                                      <p:to x="100000" y="60000"/>
                                    </p:animScale>
                                    <p:animScale>
                                      <p:cBhvr>
                                        <p:cTn id="122" dur="166" decel="50000">
                                          <p:stCondLst>
                                            <p:cond delay="676"/>
                                          </p:stCondLst>
                                        </p:cTn>
                                        <p:tgtEl>
                                          <p:spTgt spid="4100"/>
                                        </p:tgtEl>
                                      </p:cBhvr>
                                      <p:to x="100000" y="100000"/>
                                    </p:animScale>
                                    <p:animScale>
                                      <p:cBhvr>
                                        <p:cTn id="123" dur="26">
                                          <p:stCondLst>
                                            <p:cond delay="1312"/>
                                          </p:stCondLst>
                                        </p:cTn>
                                        <p:tgtEl>
                                          <p:spTgt spid="4100"/>
                                        </p:tgtEl>
                                      </p:cBhvr>
                                      <p:to x="100000" y="80000"/>
                                    </p:animScale>
                                    <p:animScale>
                                      <p:cBhvr>
                                        <p:cTn id="124" dur="166" decel="50000">
                                          <p:stCondLst>
                                            <p:cond delay="1338"/>
                                          </p:stCondLst>
                                        </p:cTn>
                                        <p:tgtEl>
                                          <p:spTgt spid="4100"/>
                                        </p:tgtEl>
                                      </p:cBhvr>
                                      <p:to x="100000" y="100000"/>
                                    </p:animScale>
                                    <p:animScale>
                                      <p:cBhvr>
                                        <p:cTn id="125" dur="26">
                                          <p:stCondLst>
                                            <p:cond delay="1642"/>
                                          </p:stCondLst>
                                        </p:cTn>
                                        <p:tgtEl>
                                          <p:spTgt spid="4100"/>
                                        </p:tgtEl>
                                      </p:cBhvr>
                                      <p:to x="100000" y="90000"/>
                                    </p:animScale>
                                    <p:animScale>
                                      <p:cBhvr>
                                        <p:cTn id="126" dur="166" decel="50000">
                                          <p:stCondLst>
                                            <p:cond delay="1668"/>
                                          </p:stCondLst>
                                        </p:cTn>
                                        <p:tgtEl>
                                          <p:spTgt spid="4100"/>
                                        </p:tgtEl>
                                      </p:cBhvr>
                                      <p:to x="100000" y="100000"/>
                                    </p:animScale>
                                    <p:animScale>
                                      <p:cBhvr>
                                        <p:cTn id="127" dur="26">
                                          <p:stCondLst>
                                            <p:cond delay="1808"/>
                                          </p:stCondLst>
                                        </p:cTn>
                                        <p:tgtEl>
                                          <p:spTgt spid="4100"/>
                                        </p:tgtEl>
                                      </p:cBhvr>
                                      <p:to x="100000" y="95000"/>
                                    </p:animScale>
                                    <p:animScale>
                                      <p:cBhvr>
                                        <p:cTn id="128" dur="166" decel="50000">
                                          <p:stCondLst>
                                            <p:cond delay="1834"/>
                                          </p:stCondLst>
                                        </p:cTn>
                                        <p:tgtEl>
                                          <p:spTgt spid="410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836712"/>
            <a:ext cx="8229600" cy="5289451"/>
          </a:xfrm>
        </p:spPr>
        <p:txBody>
          <a:bodyPr>
            <a:normAutofit/>
          </a:bodyPr>
          <a:lstStyle/>
          <a:p>
            <a:r>
              <a:rPr lang="es-BO" dirty="0"/>
              <a:t>TRATAMIENTO</a:t>
            </a:r>
          </a:p>
          <a:p>
            <a:r>
              <a:rPr lang="es-BO" dirty="0"/>
              <a:t>Tratar el absceso y la fístula en la misma operación.</a:t>
            </a:r>
          </a:p>
          <a:p>
            <a:r>
              <a:rPr lang="es-BO" dirty="0"/>
              <a:t>Fistulectomìa o fistulotomìa.</a:t>
            </a:r>
          </a:p>
          <a:p>
            <a:r>
              <a:rPr lang="es-BO" dirty="0"/>
              <a:t>La fistulectomia reseca la totalidad del trayecto </a:t>
            </a:r>
            <a:r>
              <a:rPr lang="es-BO" dirty="0" smtClean="0"/>
              <a:t>fistuloso </a:t>
            </a:r>
            <a:r>
              <a:rPr lang="es-BO" dirty="0"/>
              <a:t>por lo que es más radical y disminuye la recidiva mayor riesgo de incontinencia; la fistulotomia solo una porción del trayecto.</a:t>
            </a:r>
          </a:p>
          <a:p>
            <a:r>
              <a:rPr lang="es-BO" dirty="0"/>
              <a:t>La incontinencia esfinteriana por fistulectomìa es posible en fístulas muy altas que requieren división del anillo rectoanal.</a:t>
            </a:r>
          </a:p>
          <a:p>
            <a:endParaRPr lang="es-BO" dirty="0"/>
          </a:p>
        </p:txBody>
      </p:sp>
    </p:spTree>
    <p:extLst>
      <p:ext uri="{BB962C8B-B14F-4D97-AF65-F5344CB8AC3E}">
        <p14:creationId xmlns:p14="http://schemas.microsoft.com/office/powerpoint/2010/main" val="115959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wipe(down)">
                                      <p:cBhvr>
                                        <p:cTn id="43" dur="580">
                                          <p:stCondLst>
                                            <p:cond delay="0"/>
                                          </p:stCondLst>
                                        </p:cTn>
                                        <p:tgtEl>
                                          <p:spTgt spid="3">
                                            <p:txEl>
                                              <p:pRg st="2" end="2"/>
                                            </p:txEl>
                                          </p:spTgt>
                                        </p:tgtEl>
                                      </p:cBhvr>
                                    </p:animEffect>
                                    <p:anim calcmode="lin" valueType="num">
                                      <p:cBhvr>
                                        <p:cTn id="4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3">
                                            <p:txEl>
                                              <p:pRg st="2" end="2"/>
                                            </p:txEl>
                                          </p:spTgt>
                                        </p:tgtEl>
                                      </p:cBhvr>
                                      <p:to x="100000" y="60000"/>
                                    </p:animScale>
                                    <p:animScale>
                                      <p:cBhvr>
                                        <p:cTn id="50" dur="166" decel="50000">
                                          <p:stCondLst>
                                            <p:cond delay="676"/>
                                          </p:stCondLst>
                                        </p:cTn>
                                        <p:tgtEl>
                                          <p:spTgt spid="3">
                                            <p:txEl>
                                              <p:pRg st="2" end="2"/>
                                            </p:txEl>
                                          </p:spTgt>
                                        </p:tgtEl>
                                      </p:cBhvr>
                                      <p:to x="100000" y="100000"/>
                                    </p:animScale>
                                    <p:animScale>
                                      <p:cBhvr>
                                        <p:cTn id="51" dur="26">
                                          <p:stCondLst>
                                            <p:cond delay="1312"/>
                                          </p:stCondLst>
                                        </p:cTn>
                                        <p:tgtEl>
                                          <p:spTgt spid="3">
                                            <p:txEl>
                                              <p:pRg st="2" end="2"/>
                                            </p:txEl>
                                          </p:spTgt>
                                        </p:tgtEl>
                                      </p:cBhvr>
                                      <p:to x="100000" y="80000"/>
                                    </p:animScale>
                                    <p:animScale>
                                      <p:cBhvr>
                                        <p:cTn id="52" dur="166" decel="50000">
                                          <p:stCondLst>
                                            <p:cond delay="1338"/>
                                          </p:stCondLst>
                                        </p:cTn>
                                        <p:tgtEl>
                                          <p:spTgt spid="3">
                                            <p:txEl>
                                              <p:pRg st="2" end="2"/>
                                            </p:txEl>
                                          </p:spTgt>
                                        </p:tgtEl>
                                      </p:cBhvr>
                                      <p:to x="100000" y="100000"/>
                                    </p:animScale>
                                    <p:animScale>
                                      <p:cBhvr>
                                        <p:cTn id="53" dur="26">
                                          <p:stCondLst>
                                            <p:cond delay="1642"/>
                                          </p:stCondLst>
                                        </p:cTn>
                                        <p:tgtEl>
                                          <p:spTgt spid="3">
                                            <p:txEl>
                                              <p:pRg st="2" end="2"/>
                                            </p:txEl>
                                          </p:spTgt>
                                        </p:tgtEl>
                                      </p:cBhvr>
                                      <p:to x="100000" y="90000"/>
                                    </p:animScale>
                                    <p:animScale>
                                      <p:cBhvr>
                                        <p:cTn id="54" dur="166" decel="50000">
                                          <p:stCondLst>
                                            <p:cond delay="1668"/>
                                          </p:stCondLst>
                                        </p:cTn>
                                        <p:tgtEl>
                                          <p:spTgt spid="3">
                                            <p:txEl>
                                              <p:pRg st="2" end="2"/>
                                            </p:txEl>
                                          </p:spTgt>
                                        </p:tgtEl>
                                      </p:cBhvr>
                                      <p:to x="100000" y="100000"/>
                                    </p:animScale>
                                    <p:animScale>
                                      <p:cBhvr>
                                        <p:cTn id="55" dur="26">
                                          <p:stCondLst>
                                            <p:cond delay="1808"/>
                                          </p:stCondLst>
                                        </p:cTn>
                                        <p:tgtEl>
                                          <p:spTgt spid="3">
                                            <p:txEl>
                                              <p:pRg st="2" end="2"/>
                                            </p:txEl>
                                          </p:spTgt>
                                        </p:tgtEl>
                                      </p:cBhvr>
                                      <p:to x="100000" y="95000"/>
                                    </p:animScale>
                                    <p:animScale>
                                      <p:cBhvr>
                                        <p:cTn id="56" dur="166" decel="50000">
                                          <p:stCondLst>
                                            <p:cond delay="1834"/>
                                          </p:stCondLst>
                                        </p:cTn>
                                        <p:tgtEl>
                                          <p:spTgt spid="3">
                                            <p:txEl>
                                              <p:pRg st="2" end="2"/>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3">
                                            <p:txEl>
                                              <p:pRg st="3" end="3"/>
                                            </p:txEl>
                                          </p:spTgt>
                                        </p:tgtEl>
                                        <p:attrNameLst>
                                          <p:attrName>style.visibility</p:attrName>
                                        </p:attrNameLst>
                                      </p:cBhvr>
                                      <p:to>
                                        <p:strVal val="visible"/>
                                      </p:to>
                                    </p:set>
                                    <p:animEffect transition="in" filter="wipe(down)">
                                      <p:cBhvr>
                                        <p:cTn id="61" dur="580">
                                          <p:stCondLst>
                                            <p:cond delay="0"/>
                                          </p:stCondLst>
                                        </p:cTn>
                                        <p:tgtEl>
                                          <p:spTgt spid="3">
                                            <p:txEl>
                                              <p:pRg st="3" end="3"/>
                                            </p:txEl>
                                          </p:spTgt>
                                        </p:tgtEl>
                                      </p:cBhvr>
                                    </p:animEffect>
                                    <p:anim calcmode="lin" valueType="num">
                                      <p:cBhvr>
                                        <p:cTn id="62"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3">
                                            <p:txEl>
                                              <p:pRg st="3" end="3"/>
                                            </p:txEl>
                                          </p:spTgt>
                                        </p:tgtEl>
                                      </p:cBhvr>
                                      <p:to x="100000" y="60000"/>
                                    </p:animScale>
                                    <p:animScale>
                                      <p:cBhvr>
                                        <p:cTn id="68" dur="166" decel="50000">
                                          <p:stCondLst>
                                            <p:cond delay="676"/>
                                          </p:stCondLst>
                                        </p:cTn>
                                        <p:tgtEl>
                                          <p:spTgt spid="3">
                                            <p:txEl>
                                              <p:pRg st="3" end="3"/>
                                            </p:txEl>
                                          </p:spTgt>
                                        </p:tgtEl>
                                      </p:cBhvr>
                                      <p:to x="100000" y="100000"/>
                                    </p:animScale>
                                    <p:animScale>
                                      <p:cBhvr>
                                        <p:cTn id="69" dur="26">
                                          <p:stCondLst>
                                            <p:cond delay="1312"/>
                                          </p:stCondLst>
                                        </p:cTn>
                                        <p:tgtEl>
                                          <p:spTgt spid="3">
                                            <p:txEl>
                                              <p:pRg st="3" end="3"/>
                                            </p:txEl>
                                          </p:spTgt>
                                        </p:tgtEl>
                                      </p:cBhvr>
                                      <p:to x="100000" y="80000"/>
                                    </p:animScale>
                                    <p:animScale>
                                      <p:cBhvr>
                                        <p:cTn id="70" dur="166" decel="50000">
                                          <p:stCondLst>
                                            <p:cond delay="1338"/>
                                          </p:stCondLst>
                                        </p:cTn>
                                        <p:tgtEl>
                                          <p:spTgt spid="3">
                                            <p:txEl>
                                              <p:pRg st="3" end="3"/>
                                            </p:txEl>
                                          </p:spTgt>
                                        </p:tgtEl>
                                      </p:cBhvr>
                                      <p:to x="100000" y="100000"/>
                                    </p:animScale>
                                    <p:animScale>
                                      <p:cBhvr>
                                        <p:cTn id="71" dur="26">
                                          <p:stCondLst>
                                            <p:cond delay="1642"/>
                                          </p:stCondLst>
                                        </p:cTn>
                                        <p:tgtEl>
                                          <p:spTgt spid="3">
                                            <p:txEl>
                                              <p:pRg st="3" end="3"/>
                                            </p:txEl>
                                          </p:spTgt>
                                        </p:tgtEl>
                                      </p:cBhvr>
                                      <p:to x="100000" y="90000"/>
                                    </p:animScale>
                                    <p:animScale>
                                      <p:cBhvr>
                                        <p:cTn id="72" dur="166" decel="50000">
                                          <p:stCondLst>
                                            <p:cond delay="1668"/>
                                          </p:stCondLst>
                                        </p:cTn>
                                        <p:tgtEl>
                                          <p:spTgt spid="3">
                                            <p:txEl>
                                              <p:pRg st="3" end="3"/>
                                            </p:txEl>
                                          </p:spTgt>
                                        </p:tgtEl>
                                      </p:cBhvr>
                                      <p:to x="100000" y="100000"/>
                                    </p:animScale>
                                    <p:animScale>
                                      <p:cBhvr>
                                        <p:cTn id="73" dur="26">
                                          <p:stCondLst>
                                            <p:cond delay="1808"/>
                                          </p:stCondLst>
                                        </p:cTn>
                                        <p:tgtEl>
                                          <p:spTgt spid="3">
                                            <p:txEl>
                                              <p:pRg st="3" end="3"/>
                                            </p:txEl>
                                          </p:spTgt>
                                        </p:tgtEl>
                                      </p:cBhvr>
                                      <p:to x="100000" y="95000"/>
                                    </p:animScale>
                                    <p:animScale>
                                      <p:cBhvr>
                                        <p:cTn id="74" dur="166" decel="50000">
                                          <p:stCondLst>
                                            <p:cond delay="1834"/>
                                          </p:stCondLst>
                                        </p:cTn>
                                        <p:tgtEl>
                                          <p:spTgt spid="3">
                                            <p:txEl>
                                              <p:pRg st="3" end="3"/>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3">
                                            <p:txEl>
                                              <p:pRg st="4" end="4"/>
                                            </p:txEl>
                                          </p:spTgt>
                                        </p:tgtEl>
                                        <p:attrNameLst>
                                          <p:attrName>style.visibility</p:attrName>
                                        </p:attrNameLst>
                                      </p:cBhvr>
                                      <p:to>
                                        <p:strVal val="visible"/>
                                      </p:to>
                                    </p:set>
                                    <p:animEffect transition="in" filter="wipe(down)">
                                      <p:cBhvr>
                                        <p:cTn id="79" dur="580">
                                          <p:stCondLst>
                                            <p:cond delay="0"/>
                                          </p:stCondLst>
                                        </p:cTn>
                                        <p:tgtEl>
                                          <p:spTgt spid="3">
                                            <p:txEl>
                                              <p:pRg st="4" end="4"/>
                                            </p:txEl>
                                          </p:spTgt>
                                        </p:tgtEl>
                                      </p:cBhvr>
                                    </p:animEffect>
                                    <p:anim calcmode="lin" valueType="num">
                                      <p:cBhvr>
                                        <p:cTn id="80"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4" end="4"/>
                                            </p:txEl>
                                          </p:spTgt>
                                        </p:tgtEl>
                                      </p:cBhvr>
                                      <p:to x="100000" y="60000"/>
                                    </p:animScale>
                                    <p:animScale>
                                      <p:cBhvr>
                                        <p:cTn id="86" dur="166" decel="50000">
                                          <p:stCondLst>
                                            <p:cond delay="676"/>
                                          </p:stCondLst>
                                        </p:cTn>
                                        <p:tgtEl>
                                          <p:spTgt spid="3">
                                            <p:txEl>
                                              <p:pRg st="4" end="4"/>
                                            </p:txEl>
                                          </p:spTgt>
                                        </p:tgtEl>
                                      </p:cBhvr>
                                      <p:to x="100000" y="100000"/>
                                    </p:animScale>
                                    <p:animScale>
                                      <p:cBhvr>
                                        <p:cTn id="87" dur="26">
                                          <p:stCondLst>
                                            <p:cond delay="1312"/>
                                          </p:stCondLst>
                                        </p:cTn>
                                        <p:tgtEl>
                                          <p:spTgt spid="3">
                                            <p:txEl>
                                              <p:pRg st="4" end="4"/>
                                            </p:txEl>
                                          </p:spTgt>
                                        </p:tgtEl>
                                      </p:cBhvr>
                                      <p:to x="100000" y="80000"/>
                                    </p:animScale>
                                    <p:animScale>
                                      <p:cBhvr>
                                        <p:cTn id="88" dur="166" decel="50000">
                                          <p:stCondLst>
                                            <p:cond delay="1338"/>
                                          </p:stCondLst>
                                        </p:cTn>
                                        <p:tgtEl>
                                          <p:spTgt spid="3">
                                            <p:txEl>
                                              <p:pRg st="4" end="4"/>
                                            </p:txEl>
                                          </p:spTgt>
                                        </p:tgtEl>
                                      </p:cBhvr>
                                      <p:to x="100000" y="100000"/>
                                    </p:animScale>
                                    <p:animScale>
                                      <p:cBhvr>
                                        <p:cTn id="89" dur="26">
                                          <p:stCondLst>
                                            <p:cond delay="1642"/>
                                          </p:stCondLst>
                                        </p:cTn>
                                        <p:tgtEl>
                                          <p:spTgt spid="3">
                                            <p:txEl>
                                              <p:pRg st="4" end="4"/>
                                            </p:txEl>
                                          </p:spTgt>
                                        </p:tgtEl>
                                      </p:cBhvr>
                                      <p:to x="100000" y="90000"/>
                                    </p:animScale>
                                    <p:animScale>
                                      <p:cBhvr>
                                        <p:cTn id="90" dur="166" decel="50000">
                                          <p:stCondLst>
                                            <p:cond delay="1668"/>
                                          </p:stCondLst>
                                        </p:cTn>
                                        <p:tgtEl>
                                          <p:spTgt spid="3">
                                            <p:txEl>
                                              <p:pRg st="4" end="4"/>
                                            </p:txEl>
                                          </p:spTgt>
                                        </p:tgtEl>
                                      </p:cBhvr>
                                      <p:to x="100000" y="100000"/>
                                    </p:animScale>
                                    <p:animScale>
                                      <p:cBhvr>
                                        <p:cTn id="91" dur="26">
                                          <p:stCondLst>
                                            <p:cond delay="1808"/>
                                          </p:stCondLst>
                                        </p:cTn>
                                        <p:tgtEl>
                                          <p:spTgt spid="3">
                                            <p:txEl>
                                              <p:pRg st="4" end="4"/>
                                            </p:txEl>
                                          </p:spTgt>
                                        </p:tgtEl>
                                      </p:cBhvr>
                                      <p:to x="100000" y="95000"/>
                                    </p:animScale>
                                    <p:animScale>
                                      <p:cBhvr>
                                        <p:cTn id="92"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303750462"/>
              </p:ext>
            </p:extLst>
          </p:nvPr>
        </p:nvGraphicFramePr>
        <p:xfrm>
          <a:off x="899592" y="404664"/>
          <a:ext cx="7787208" cy="57214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1" name="10 Conector recto de flecha"/>
          <p:cNvCxnSpPr/>
          <p:nvPr/>
        </p:nvCxnSpPr>
        <p:spPr>
          <a:xfrm>
            <a:off x="2627784" y="3140968"/>
            <a:ext cx="504056"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flipH="1">
            <a:off x="7092280" y="2936235"/>
            <a:ext cx="720080" cy="636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p:nvPr/>
        </p:nvCxnSpPr>
        <p:spPr>
          <a:xfrm>
            <a:off x="7384302" y="2402565"/>
            <a:ext cx="432048" cy="3474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p:nvPr/>
        </p:nvCxnSpPr>
        <p:spPr>
          <a:xfrm>
            <a:off x="2339752" y="2145432"/>
            <a:ext cx="144016" cy="491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28 Conector recto de flecha"/>
          <p:cNvCxnSpPr/>
          <p:nvPr/>
        </p:nvCxnSpPr>
        <p:spPr>
          <a:xfrm>
            <a:off x="4932851" y="4221088"/>
            <a:ext cx="0"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9953" y="332656"/>
            <a:ext cx="1584176" cy="1116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3" name="42 Conector recto de flecha"/>
          <p:cNvCxnSpPr/>
          <p:nvPr/>
        </p:nvCxnSpPr>
        <p:spPr>
          <a:xfrm>
            <a:off x="5724129" y="1268761"/>
            <a:ext cx="864095" cy="3600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46 Conector recto de flecha"/>
          <p:cNvCxnSpPr/>
          <p:nvPr/>
        </p:nvCxnSpPr>
        <p:spPr>
          <a:xfrm flipH="1">
            <a:off x="3275856" y="980728"/>
            <a:ext cx="864098" cy="4680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63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wipe(down)">
                                      <p:cBhvr>
                                        <p:cTn id="25" dur="580">
                                          <p:stCondLst>
                                            <p:cond delay="0"/>
                                          </p:stCondLst>
                                        </p:cTn>
                                        <p:tgtEl>
                                          <p:spTgt spid="3074"/>
                                        </p:tgtEl>
                                      </p:cBhvr>
                                    </p:animEffect>
                                    <p:anim calcmode="lin" valueType="num">
                                      <p:cBhvr>
                                        <p:cTn id="26" dur="1822" tmFilter="0,0; 0.14,0.36; 0.43,0.73; 0.71,0.91; 1.0,1.0">
                                          <p:stCondLst>
                                            <p:cond delay="0"/>
                                          </p:stCondLst>
                                        </p:cTn>
                                        <p:tgtEl>
                                          <p:spTgt spid="307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07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07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07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074"/>
                                        </p:tgtEl>
                                        <p:attrNameLst>
                                          <p:attrName>ppt_y</p:attrName>
                                        </p:attrNameLst>
                                      </p:cBhvr>
                                      <p:tavLst>
                                        <p:tav tm="0" fmla="#ppt_y-sin(pi*$)/81">
                                          <p:val>
                                            <p:fltVal val="0"/>
                                          </p:val>
                                        </p:tav>
                                        <p:tav tm="100000">
                                          <p:val>
                                            <p:fltVal val="1"/>
                                          </p:val>
                                        </p:tav>
                                      </p:tavLst>
                                    </p:anim>
                                    <p:animScale>
                                      <p:cBhvr>
                                        <p:cTn id="31" dur="26">
                                          <p:stCondLst>
                                            <p:cond delay="650"/>
                                          </p:stCondLst>
                                        </p:cTn>
                                        <p:tgtEl>
                                          <p:spTgt spid="3074"/>
                                        </p:tgtEl>
                                      </p:cBhvr>
                                      <p:to x="100000" y="60000"/>
                                    </p:animScale>
                                    <p:animScale>
                                      <p:cBhvr>
                                        <p:cTn id="32" dur="166" decel="50000">
                                          <p:stCondLst>
                                            <p:cond delay="676"/>
                                          </p:stCondLst>
                                        </p:cTn>
                                        <p:tgtEl>
                                          <p:spTgt spid="3074"/>
                                        </p:tgtEl>
                                      </p:cBhvr>
                                      <p:to x="100000" y="100000"/>
                                    </p:animScale>
                                    <p:animScale>
                                      <p:cBhvr>
                                        <p:cTn id="33" dur="26">
                                          <p:stCondLst>
                                            <p:cond delay="1312"/>
                                          </p:stCondLst>
                                        </p:cTn>
                                        <p:tgtEl>
                                          <p:spTgt spid="3074"/>
                                        </p:tgtEl>
                                      </p:cBhvr>
                                      <p:to x="100000" y="80000"/>
                                    </p:animScale>
                                    <p:animScale>
                                      <p:cBhvr>
                                        <p:cTn id="34" dur="166" decel="50000">
                                          <p:stCondLst>
                                            <p:cond delay="1338"/>
                                          </p:stCondLst>
                                        </p:cTn>
                                        <p:tgtEl>
                                          <p:spTgt spid="3074"/>
                                        </p:tgtEl>
                                      </p:cBhvr>
                                      <p:to x="100000" y="100000"/>
                                    </p:animScale>
                                    <p:animScale>
                                      <p:cBhvr>
                                        <p:cTn id="35" dur="26">
                                          <p:stCondLst>
                                            <p:cond delay="1642"/>
                                          </p:stCondLst>
                                        </p:cTn>
                                        <p:tgtEl>
                                          <p:spTgt spid="3074"/>
                                        </p:tgtEl>
                                      </p:cBhvr>
                                      <p:to x="100000" y="90000"/>
                                    </p:animScale>
                                    <p:animScale>
                                      <p:cBhvr>
                                        <p:cTn id="36" dur="166" decel="50000">
                                          <p:stCondLst>
                                            <p:cond delay="1668"/>
                                          </p:stCondLst>
                                        </p:cTn>
                                        <p:tgtEl>
                                          <p:spTgt spid="3074"/>
                                        </p:tgtEl>
                                      </p:cBhvr>
                                      <p:to x="100000" y="100000"/>
                                    </p:animScale>
                                    <p:animScale>
                                      <p:cBhvr>
                                        <p:cTn id="37" dur="26">
                                          <p:stCondLst>
                                            <p:cond delay="1808"/>
                                          </p:stCondLst>
                                        </p:cTn>
                                        <p:tgtEl>
                                          <p:spTgt spid="3074"/>
                                        </p:tgtEl>
                                      </p:cBhvr>
                                      <p:to x="100000" y="95000"/>
                                    </p:animScale>
                                    <p:animScale>
                                      <p:cBhvr>
                                        <p:cTn id="38" dur="166" decel="50000">
                                          <p:stCondLst>
                                            <p:cond delay="1834"/>
                                          </p:stCondLst>
                                        </p:cTn>
                                        <p:tgtEl>
                                          <p:spTgt spid="307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340768"/>
            <a:ext cx="7745505" cy="4785394"/>
          </a:xfrm>
        </p:spPr>
        <p:txBody>
          <a:bodyPr>
            <a:normAutofit/>
          </a:bodyPr>
          <a:lstStyle/>
          <a:p>
            <a:pPr algn="just"/>
            <a:r>
              <a:rPr lang="es-BO" sz="2000" dirty="0"/>
              <a:t>Una colostomía es la creación quirúrgica de un orificio (estoma) que permite el drenaje o evacuación hacia el exterior del contenido del </a:t>
            </a:r>
            <a:r>
              <a:rPr lang="es-BO" sz="2000" dirty="0" smtClean="0"/>
              <a:t>colon.</a:t>
            </a:r>
          </a:p>
          <a:p>
            <a:pPr algn="just"/>
            <a:r>
              <a:rPr lang="es-BO" sz="2000" dirty="0" smtClean="0"/>
              <a:t>Se </a:t>
            </a:r>
            <a:r>
              <a:rPr lang="es-BO" sz="2000" dirty="0"/>
              <a:t>considera permanente cuando se ha extirpado el recto, el ano, o la porción distal del </a:t>
            </a:r>
            <a:r>
              <a:rPr lang="es-BO" sz="2000" dirty="0" smtClean="0"/>
              <a:t>intestino</a:t>
            </a:r>
          </a:p>
          <a:p>
            <a:pPr algn="just"/>
            <a:r>
              <a:rPr lang="es-BO" sz="2000" dirty="0" smtClean="0"/>
              <a:t>Es </a:t>
            </a:r>
            <a:r>
              <a:rPr lang="es-BO" sz="2000" dirty="0"/>
              <a:t>temporal cuando se dejan intactos el recto y el ano.</a:t>
            </a:r>
            <a:br>
              <a:rPr lang="es-BO" sz="2000" dirty="0"/>
            </a:br>
            <a:r>
              <a:rPr lang="es-BO" sz="2000" dirty="0"/>
              <a:t>Los sitios más frecuentes para realizar una colostomía es en el colon descendente y </a:t>
            </a:r>
            <a:r>
              <a:rPr lang="es-BO" sz="2000" dirty="0" smtClean="0"/>
              <a:t>sigmoides.</a:t>
            </a:r>
          </a:p>
          <a:p>
            <a:pPr algn="just"/>
            <a:r>
              <a:rPr lang="es-ES" sz="2000" dirty="0" smtClean="0"/>
              <a:t>Se suelen practicar después de </a:t>
            </a:r>
            <a:r>
              <a:rPr lang="es-ES" sz="2000" b="1" u="sng" dirty="0" smtClean="0"/>
              <a:t>traumatismos, resección intestinal, </a:t>
            </a:r>
            <a:r>
              <a:rPr lang="es-ES" sz="2000" b="1" u="sng" dirty="0" err="1" smtClean="0"/>
              <a:t>cancer</a:t>
            </a:r>
            <a:r>
              <a:rPr lang="es-ES" sz="2000" b="1" u="sng" dirty="0" smtClean="0"/>
              <a:t> en recto y ano o cirugía mayor del abdomen, o con el fin de descomprimir el intestino obstruido y en </a:t>
            </a:r>
            <a:r>
              <a:rPr lang="es-ES" sz="2000" b="1" u="sng" dirty="0" err="1" smtClean="0"/>
              <a:t>Recien</a:t>
            </a:r>
            <a:r>
              <a:rPr lang="es-ES" sz="2000" b="1" u="sng" dirty="0" smtClean="0"/>
              <a:t> Nacidos con ano-</a:t>
            </a:r>
            <a:r>
              <a:rPr lang="es-ES" sz="2000" b="1" u="sng" dirty="0" err="1" smtClean="0"/>
              <a:t>inperforado</a:t>
            </a:r>
            <a:r>
              <a:rPr lang="es-ES" sz="2000" dirty="0" smtClean="0"/>
              <a:t>.</a:t>
            </a:r>
            <a:r>
              <a:rPr lang="es-BO" sz="2000" dirty="0" smtClean="0"/>
              <a:t> </a:t>
            </a:r>
            <a:endParaRPr lang="es-ES" sz="2000" dirty="0"/>
          </a:p>
        </p:txBody>
      </p:sp>
      <p:sp>
        <p:nvSpPr>
          <p:cNvPr id="4" name="3 Título"/>
          <p:cNvSpPr>
            <a:spLocks noGrp="1"/>
          </p:cNvSpPr>
          <p:nvPr>
            <p:ph type="title"/>
          </p:nvPr>
        </p:nvSpPr>
        <p:spPr>
          <a:xfrm>
            <a:off x="755576" y="548680"/>
            <a:ext cx="7756263" cy="698604"/>
          </a:xfrm>
        </p:spPr>
        <p:txBody>
          <a:bodyPr>
            <a:normAutofit/>
          </a:bodyPr>
          <a:lstStyle/>
          <a:p>
            <a:r>
              <a:rPr lang="es-ES" sz="2400" dirty="0" smtClean="0"/>
              <a:t>COLOSTOMÍA DESCRIPCIÓN</a:t>
            </a:r>
            <a:endParaRPr lang="es-E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grpId="0"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Effect transition="in" filter="wipe(down)">
                                      <p:cBhvr>
                                        <p:cTn id="43" dur="580">
                                          <p:stCondLst>
                                            <p:cond delay="0"/>
                                          </p:stCondLst>
                                        </p:cTn>
                                        <p:tgtEl>
                                          <p:spTgt spid="2">
                                            <p:txEl>
                                              <p:pRg st="1" end="1"/>
                                            </p:txEl>
                                          </p:spTgt>
                                        </p:tgtEl>
                                      </p:cBhvr>
                                    </p:animEffect>
                                    <p:anim calcmode="lin" valueType="num">
                                      <p:cBhvr>
                                        <p:cTn id="44"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1" end="1"/>
                                            </p:txEl>
                                          </p:spTgt>
                                        </p:tgtEl>
                                      </p:cBhvr>
                                      <p:to x="100000" y="60000"/>
                                    </p:animScale>
                                    <p:animScale>
                                      <p:cBhvr>
                                        <p:cTn id="50" dur="166" decel="50000">
                                          <p:stCondLst>
                                            <p:cond delay="676"/>
                                          </p:stCondLst>
                                        </p:cTn>
                                        <p:tgtEl>
                                          <p:spTgt spid="2">
                                            <p:txEl>
                                              <p:pRg st="1" end="1"/>
                                            </p:txEl>
                                          </p:spTgt>
                                        </p:tgtEl>
                                      </p:cBhvr>
                                      <p:to x="100000" y="100000"/>
                                    </p:animScale>
                                    <p:animScale>
                                      <p:cBhvr>
                                        <p:cTn id="51" dur="26">
                                          <p:stCondLst>
                                            <p:cond delay="1312"/>
                                          </p:stCondLst>
                                        </p:cTn>
                                        <p:tgtEl>
                                          <p:spTgt spid="2">
                                            <p:txEl>
                                              <p:pRg st="1" end="1"/>
                                            </p:txEl>
                                          </p:spTgt>
                                        </p:tgtEl>
                                      </p:cBhvr>
                                      <p:to x="100000" y="80000"/>
                                    </p:animScale>
                                    <p:animScale>
                                      <p:cBhvr>
                                        <p:cTn id="52" dur="166" decel="50000">
                                          <p:stCondLst>
                                            <p:cond delay="1338"/>
                                          </p:stCondLst>
                                        </p:cTn>
                                        <p:tgtEl>
                                          <p:spTgt spid="2">
                                            <p:txEl>
                                              <p:pRg st="1" end="1"/>
                                            </p:txEl>
                                          </p:spTgt>
                                        </p:tgtEl>
                                      </p:cBhvr>
                                      <p:to x="100000" y="100000"/>
                                    </p:animScale>
                                    <p:animScale>
                                      <p:cBhvr>
                                        <p:cTn id="53" dur="26">
                                          <p:stCondLst>
                                            <p:cond delay="1642"/>
                                          </p:stCondLst>
                                        </p:cTn>
                                        <p:tgtEl>
                                          <p:spTgt spid="2">
                                            <p:txEl>
                                              <p:pRg st="1" end="1"/>
                                            </p:txEl>
                                          </p:spTgt>
                                        </p:tgtEl>
                                      </p:cBhvr>
                                      <p:to x="100000" y="90000"/>
                                    </p:animScale>
                                    <p:animScale>
                                      <p:cBhvr>
                                        <p:cTn id="54" dur="166" decel="50000">
                                          <p:stCondLst>
                                            <p:cond delay="1668"/>
                                          </p:stCondLst>
                                        </p:cTn>
                                        <p:tgtEl>
                                          <p:spTgt spid="2">
                                            <p:txEl>
                                              <p:pRg st="1" end="1"/>
                                            </p:txEl>
                                          </p:spTgt>
                                        </p:tgtEl>
                                      </p:cBhvr>
                                      <p:to x="100000" y="100000"/>
                                    </p:animScale>
                                    <p:animScale>
                                      <p:cBhvr>
                                        <p:cTn id="55" dur="26">
                                          <p:stCondLst>
                                            <p:cond delay="1808"/>
                                          </p:stCondLst>
                                        </p:cTn>
                                        <p:tgtEl>
                                          <p:spTgt spid="2">
                                            <p:txEl>
                                              <p:pRg st="1" end="1"/>
                                            </p:txEl>
                                          </p:spTgt>
                                        </p:tgtEl>
                                      </p:cBhvr>
                                      <p:to x="100000" y="95000"/>
                                    </p:animScale>
                                    <p:animScale>
                                      <p:cBhvr>
                                        <p:cTn id="56" dur="166" decel="50000">
                                          <p:stCondLst>
                                            <p:cond delay="1834"/>
                                          </p:stCondLst>
                                        </p:cTn>
                                        <p:tgtEl>
                                          <p:spTgt spid="2">
                                            <p:txEl>
                                              <p:pRg st="1" end="1"/>
                                            </p:txEl>
                                          </p:spTgt>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2">
                                            <p:txEl>
                                              <p:pRg st="2" end="2"/>
                                            </p:txEl>
                                          </p:spTgt>
                                        </p:tgtEl>
                                        <p:attrNameLst>
                                          <p:attrName>style.visibility</p:attrName>
                                        </p:attrNameLst>
                                      </p:cBhvr>
                                      <p:to>
                                        <p:strVal val="visible"/>
                                      </p:to>
                                    </p:set>
                                    <p:animEffect transition="in" filter="wipe(down)">
                                      <p:cBhvr>
                                        <p:cTn id="61" dur="580">
                                          <p:stCondLst>
                                            <p:cond delay="0"/>
                                          </p:stCondLst>
                                        </p:cTn>
                                        <p:tgtEl>
                                          <p:spTgt spid="2">
                                            <p:txEl>
                                              <p:pRg st="2" end="2"/>
                                            </p:txEl>
                                          </p:spTgt>
                                        </p:tgtEl>
                                      </p:cBhvr>
                                    </p:animEffect>
                                    <p:anim calcmode="lin" valueType="num">
                                      <p:cBhvr>
                                        <p:cTn id="62" dur="1822"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
                                            <p:txEl>
                                              <p:pRg st="2" end="2"/>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2">
                                            <p:txEl>
                                              <p:pRg st="2" end="2"/>
                                            </p:txEl>
                                          </p:spTgt>
                                        </p:tgtEl>
                                      </p:cBhvr>
                                      <p:to x="100000" y="60000"/>
                                    </p:animScale>
                                    <p:animScale>
                                      <p:cBhvr>
                                        <p:cTn id="68" dur="166" decel="50000">
                                          <p:stCondLst>
                                            <p:cond delay="676"/>
                                          </p:stCondLst>
                                        </p:cTn>
                                        <p:tgtEl>
                                          <p:spTgt spid="2">
                                            <p:txEl>
                                              <p:pRg st="2" end="2"/>
                                            </p:txEl>
                                          </p:spTgt>
                                        </p:tgtEl>
                                      </p:cBhvr>
                                      <p:to x="100000" y="100000"/>
                                    </p:animScale>
                                    <p:animScale>
                                      <p:cBhvr>
                                        <p:cTn id="69" dur="26">
                                          <p:stCondLst>
                                            <p:cond delay="1312"/>
                                          </p:stCondLst>
                                        </p:cTn>
                                        <p:tgtEl>
                                          <p:spTgt spid="2">
                                            <p:txEl>
                                              <p:pRg st="2" end="2"/>
                                            </p:txEl>
                                          </p:spTgt>
                                        </p:tgtEl>
                                      </p:cBhvr>
                                      <p:to x="100000" y="80000"/>
                                    </p:animScale>
                                    <p:animScale>
                                      <p:cBhvr>
                                        <p:cTn id="70" dur="166" decel="50000">
                                          <p:stCondLst>
                                            <p:cond delay="1338"/>
                                          </p:stCondLst>
                                        </p:cTn>
                                        <p:tgtEl>
                                          <p:spTgt spid="2">
                                            <p:txEl>
                                              <p:pRg st="2" end="2"/>
                                            </p:txEl>
                                          </p:spTgt>
                                        </p:tgtEl>
                                      </p:cBhvr>
                                      <p:to x="100000" y="100000"/>
                                    </p:animScale>
                                    <p:animScale>
                                      <p:cBhvr>
                                        <p:cTn id="71" dur="26">
                                          <p:stCondLst>
                                            <p:cond delay="1642"/>
                                          </p:stCondLst>
                                        </p:cTn>
                                        <p:tgtEl>
                                          <p:spTgt spid="2">
                                            <p:txEl>
                                              <p:pRg st="2" end="2"/>
                                            </p:txEl>
                                          </p:spTgt>
                                        </p:tgtEl>
                                      </p:cBhvr>
                                      <p:to x="100000" y="90000"/>
                                    </p:animScale>
                                    <p:animScale>
                                      <p:cBhvr>
                                        <p:cTn id="72" dur="166" decel="50000">
                                          <p:stCondLst>
                                            <p:cond delay="1668"/>
                                          </p:stCondLst>
                                        </p:cTn>
                                        <p:tgtEl>
                                          <p:spTgt spid="2">
                                            <p:txEl>
                                              <p:pRg st="2" end="2"/>
                                            </p:txEl>
                                          </p:spTgt>
                                        </p:tgtEl>
                                      </p:cBhvr>
                                      <p:to x="100000" y="100000"/>
                                    </p:animScale>
                                    <p:animScale>
                                      <p:cBhvr>
                                        <p:cTn id="73" dur="26">
                                          <p:stCondLst>
                                            <p:cond delay="1808"/>
                                          </p:stCondLst>
                                        </p:cTn>
                                        <p:tgtEl>
                                          <p:spTgt spid="2">
                                            <p:txEl>
                                              <p:pRg st="2" end="2"/>
                                            </p:txEl>
                                          </p:spTgt>
                                        </p:tgtEl>
                                      </p:cBhvr>
                                      <p:to x="100000" y="95000"/>
                                    </p:animScale>
                                    <p:animScale>
                                      <p:cBhvr>
                                        <p:cTn id="74" dur="166" decel="50000">
                                          <p:stCondLst>
                                            <p:cond delay="1834"/>
                                          </p:stCondLst>
                                        </p:cTn>
                                        <p:tgtEl>
                                          <p:spTgt spid="2">
                                            <p:txEl>
                                              <p:pRg st="2" end="2"/>
                                            </p:txEl>
                                          </p:spTgt>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2">
                                            <p:txEl>
                                              <p:pRg st="3" end="3"/>
                                            </p:txEl>
                                          </p:spTgt>
                                        </p:tgtEl>
                                        <p:attrNameLst>
                                          <p:attrName>style.visibility</p:attrName>
                                        </p:attrNameLst>
                                      </p:cBhvr>
                                      <p:to>
                                        <p:strVal val="visible"/>
                                      </p:to>
                                    </p:set>
                                    <p:animEffect transition="in" filter="wipe(down)">
                                      <p:cBhvr>
                                        <p:cTn id="79" dur="580">
                                          <p:stCondLst>
                                            <p:cond delay="0"/>
                                          </p:stCondLst>
                                        </p:cTn>
                                        <p:tgtEl>
                                          <p:spTgt spid="2">
                                            <p:txEl>
                                              <p:pRg st="3" end="3"/>
                                            </p:txEl>
                                          </p:spTgt>
                                        </p:tgtEl>
                                      </p:cBhvr>
                                    </p:animEffect>
                                    <p:anim calcmode="lin" valueType="num">
                                      <p:cBhvr>
                                        <p:cTn id="80"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2">
                                            <p:txEl>
                                              <p:pRg st="3" end="3"/>
                                            </p:txEl>
                                          </p:spTgt>
                                        </p:tgtEl>
                                      </p:cBhvr>
                                      <p:to x="100000" y="60000"/>
                                    </p:animScale>
                                    <p:animScale>
                                      <p:cBhvr>
                                        <p:cTn id="86" dur="166" decel="50000">
                                          <p:stCondLst>
                                            <p:cond delay="676"/>
                                          </p:stCondLst>
                                        </p:cTn>
                                        <p:tgtEl>
                                          <p:spTgt spid="2">
                                            <p:txEl>
                                              <p:pRg st="3" end="3"/>
                                            </p:txEl>
                                          </p:spTgt>
                                        </p:tgtEl>
                                      </p:cBhvr>
                                      <p:to x="100000" y="100000"/>
                                    </p:animScale>
                                    <p:animScale>
                                      <p:cBhvr>
                                        <p:cTn id="87" dur="26">
                                          <p:stCondLst>
                                            <p:cond delay="1312"/>
                                          </p:stCondLst>
                                        </p:cTn>
                                        <p:tgtEl>
                                          <p:spTgt spid="2">
                                            <p:txEl>
                                              <p:pRg st="3" end="3"/>
                                            </p:txEl>
                                          </p:spTgt>
                                        </p:tgtEl>
                                      </p:cBhvr>
                                      <p:to x="100000" y="80000"/>
                                    </p:animScale>
                                    <p:animScale>
                                      <p:cBhvr>
                                        <p:cTn id="88" dur="166" decel="50000">
                                          <p:stCondLst>
                                            <p:cond delay="1338"/>
                                          </p:stCondLst>
                                        </p:cTn>
                                        <p:tgtEl>
                                          <p:spTgt spid="2">
                                            <p:txEl>
                                              <p:pRg st="3" end="3"/>
                                            </p:txEl>
                                          </p:spTgt>
                                        </p:tgtEl>
                                      </p:cBhvr>
                                      <p:to x="100000" y="100000"/>
                                    </p:animScale>
                                    <p:animScale>
                                      <p:cBhvr>
                                        <p:cTn id="89" dur="26">
                                          <p:stCondLst>
                                            <p:cond delay="1642"/>
                                          </p:stCondLst>
                                        </p:cTn>
                                        <p:tgtEl>
                                          <p:spTgt spid="2">
                                            <p:txEl>
                                              <p:pRg st="3" end="3"/>
                                            </p:txEl>
                                          </p:spTgt>
                                        </p:tgtEl>
                                      </p:cBhvr>
                                      <p:to x="100000" y="90000"/>
                                    </p:animScale>
                                    <p:animScale>
                                      <p:cBhvr>
                                        <p:cTn id="90" dur="166" decel="50000">
                                          <p:stCondLst>
                                            <p:cond delay="1668"/>
                                          </p:stCondLst>
                                        </p:cTn>
                                        <p:tgtEl>
                                          <p:spTgt spid="2">
                                            <p:txEl>
                                              <p:pRg st="3" end="3"/>
                                            </p:txEl>
                                          </p:spTgt>
                                        </p:tgtEl>
                                      </p:cBhvr>
                                      <p:to x="100000" y="100000"/>
                                    </p:animScale>
                                    <p:animScale>
                                      <p:cBhvr>
                                        <p:cTn id="91" dur="26">
                                          <p:stCondLst>
                                            <p:cond delay="1808"/>
                                          </p:stCondLst>
                                        </p:cTn>
                                        <p:tgtEl>
                                          <p:spTgt spid="2">
                                            <p:txEl>
                                              <p:pRg st="3" end="3"/>
                                            </p:txEl>
                                          </p:spTgt>
                                        </p:tgtEl>
                                      </p:cBhvr>
                                      <p:to x="100000" y="95000"/>
                                    </p:animScale>
                                    <p:animScale>
                                      <p:cBhvr>
                                        <p:cTn id="92" dur="166" decel="50000">
                                          <p:stCondLst>
                                            <p:cond delay="1834"/>
                                          </p:stCondLst>
                                        </p:cTn>
                                        <p:tgtEl>
                                          <p:spTgt spid="2">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Nueva carpeta\untitled.bmp"/>
          <p:cNvPicPr>
            <a:picLocks noGrp="1" noChangeAspect="1" noChangeArrowheads="1"/>
          </p:cNvPicPr>
          <p:nvPr>
            <p:ph idx="1"/>
          </p:nvPr>
        </p:nvPicPr>
        <p:blipFill>
          <a:blip r:embed="rId2"/>
          <a:srcRect/>
          <a:stretch>
            <a:fillRect/>
          </a:stretch>
        </p:blipFill>
        <p:spPr bwMode="auto">
          <a:xfrm>
            <a:off x="2571737" y="1857364"/>
            <a:ext cx="5000660" cy="3929089"/>
          </a:xfrm>
          <a:prstGeom prst="rect">
            <a:avLst/>
          </a:prstGeom>
          <a:noFill/>
        </p:spPr>
      </p:pic>
      <p:sp>
        <p:nvSpPr>
          <p:cNvPr id="3" name="2 Título"/>
          <p:cNvSpPr>
            <a:spLocks noGrp="1"/>
          </p:cNvSpPr>
          <p:nvPr>
            <p:ph type="title"/>
          </p:nvPr>
        </p:nvSpPr>
        <p:spPr>
          <a:xfrm>
            <a:off x="688490" y="570156"/>
            <a:ext cx="7756263" cy="715704"/>
          </a:xfrm>
        </p:spPr>
        <p:txBody>
          <a:bodyPr/>
          <a:lstStyle/>
          <a:p>
            <a:r>
              <a:rPr lang="es-ES_tradnl" dirty="0" smtClean="0"/>
              <a:t>Tipos de colostomías</a:t>
            </a:r>
            <a:endParaRPr lang="es-ES"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wipe(down)">
                                      <p:cBhvr>
                                        <p:cTn id="25" dur="580">
                                          <p:stCondLst>
                                            <p:cond delay="0"/>
                                          </p:stCondLst>
                                        </p:cTn>
                                        <p:tgtEl>
                                          <p:spTgt spid="1026"/>
                                        </p:tgtEl>
                                      </p:cBhvr>
                                    </p:animEffect>
                                    <p:anim calcmode="lin" valueType="num">
                                      <p:cBhvr>
                                        <p:cTn id="26" dur="1822" tmFilter="0,0; 0.14,0.36; 0.43,0.73; 0.71,0.91; 1.0,1.0">
                                          <p:stCondLst>
                                            <p:cond delay="0"/>
                                          </p:stCondLst>
                                        </p:cTn>
                                        <p:tgtEl>
                                          <p:spTgt spid="102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02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02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02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026"/>
                                        </p:tgtEl>
                                        <p:attrNameLst>
                                          <p:attrName>ppt_y</p:attrName>
                                        </p:attrNameLst>
                                      </p:cBhvr>
                                      <p:tavLst>
                                        <p:tav tm="0" fmla="#ppt_y-sin(pi*$)/81">
                                          <p:val>
                                            <p:fltVal val="0"/>
                                          </p:val>
                                        </p:tav>
                                        <p:tav tm="100000">
                                          <p:val>
                                            <p:fltVal val="1"/>
                                          </p:val>
                                        </p:tav>
                                      </p:tavLst>
                                    </p:anim>
                                    <p:animScale>
                                      <p:cBhvr>
                                        <p:cTn id="31" dur="26">
                                          <p:stCondLst>
                                            <p:cond delay="650"/>
                                          </p:stCondLst>
                                        </p:cTn>
                                        <p:tgtEl>
                                          <p:spTgt spid="1026"/>
                                        </p:tgtEl>
                                      </p:cBhvr>
                                      <p:to x="100000" y="60000"/>
                                    </p:animScale>
                                    <p:animScale>
                                      <p:cBhvr>
                                        <p:cTn id="32" dur="166" decel="50000">
                                          <p:stCondLst>
                                            <p:cond delay="676"/>
                                          </p:stCondLst>
                                        </p:cTn>
                                        <p:tgtEl>
                                          <p:spTgt spid="1026"/>
                                        </p:tgtEl>
                                      </p:cBhvr>
                                      <p:to x="100000" y="100000"/>
                                    </p:animScale>
                                    <p:animScale>
                                      <p:cBhvr>
                                        <p:cTn id="33" dur="26">
                                          <p:stCondLst>
                                            <p:cond delay="1312"/>
                                          </p:stCondLst>
                                        </p:cTn>
                                        <p:tgtEl>
                                          <p:spTgt spid="1026"/>
                                        </p:tgtEl>
                                      </p:cBhvr>
                                      <p:to x="100000" y="80000"/>
                                    </p:animScale>
                                    <p:animScale>
                                      <p:cBhvr>
                                        <p:cTn id="34" dur="166" decel="50000">
                                          <p:stCondLst>
                                            <p:cond delay="1338"/>
                                          </p:stCondLst>
                                        </p:cTn>
                                        <p:tgtEl>
                                          <p:spTgt spid="1026"/>
                                        </p:tgtEl>
                                      </p:cBhvr>
                                      <p:to x="100000" y="100000"/>
                                    </p:animScale>
                                    <p:animScale>
                                      <p:cBhvr>
                                        <p:cTn id="35" dur="26">
                                          <p:stCondLst>
                                            <p:cond delay="1642"/>
                                          </p:stCondLst>
                                        </p:cTn>
                                        <p:tgtEl>
                                          <p:spTgt spid="1026"/>
                                        </p:tgtEl>
                                      </p:cBhvr>
                                      <p:to x="100000" y="90000"/>
                                    </p:animScale>
                                    <p:animScale>
                                      <p:cBhvr>
                                        <p:cTn id="36" dur="166" decel="50000">
                                          <p:stCondLst>
                                            <p:cond delay="1668"/>
                                          </p:stCondLst>
                                        </p:cTn>
                                        <p:tgtEl>
                                          <p:spTgt spid="1026"/>
                                        </p:tgtEl>
                                      </p:cBhvr>
                                      <p:to x="100000" y="100000"/>
                                    </p:animScale>
                                    <p:animScale>
                                      <p:cBhvr>
                                        <p:cTn id="37" dur="26">
                                          <p:stCondLst>
                                            <p:cond delay="1808"/>
                                          </p:stCondLst>
                                        </p:cTn>
                                        <p:tgtEl>
                                          <p:spTgt spid="1026"/>
                                        </p:tgtEl>
                                      </p:cBhvr>
                                      <p:to x="100000" y="95000"/>
                                    </p:animScale>
                                    <p:animScale>
                                      <p:cBhvr>
                                        <p:cTn id="38" dur="166" decel="50000">
                                          <p:stCondLst>
                                            <p:cond delay="1834"/>
                                          </p:stCondLst>
                                        </p:cTn>
                                        <p:tgtEl>
                                          <p:spTgt spid="102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357298"/>
            <a:ext cx="7745505" cy="4768865"/>
          </a:xfrm>
        </p:spPr>
        <p:txBody>
          <a:bodyPr>
            <a:normAutofit/>
          </a:bodyPr>
          <a:lstStyle/>
          <a:p>
            <a:pPr algn="just"/>
            <a:r>
              <a:rPr lang="es-ES" dirty="0" smtClean="0"/>
              <a:t>. </a:t>
            </a:r>
            <a:r>
              <a:rPr lang="es-ES" sz="2800" dirty="0" smtClean="0"/>
              <a:t>Es una complicación poco frecuente causada por la contaminación precoz de la herida quirúrgica que puede ocasionar una celulitis o un absceso y provocar otras complicaciones como la dehiscencia parcial o total del estoma. Puede requerir el desbridamiento y colocación de un drenaje tipo </a:t>
            </a:r>
            <a:r>
              <a:rPr lang="es-ES" sz="2800" dirty="0" err="1" smtClean="0"/>
              <a:t>penrose</a:t>
            </a:r>
            <a:r>
              <a:rPr lang="es-ES" sz="2800" dirty="0" smtClean="0"/>
              <a:t>. </a:t>
            </a:r>
          </a:p>
          <a:p>
            <a:pPr algn="just"/>
            <a:r>
              <a:rPr lang="es-ES" sz="2800" dirty="0" smtClean="0"/>
              <a:t>Se manifiesta con un cuadro inflamatorio con fiebre, dolor, rubor y supuración </a:t>
            </a:r>
            <a:r>
              <a:rPr lang="es-ES" sz="2800" dirty="0" err="1" smtClean="0"/>
              <a:t>periostomal</a:t>
            </a:r>
            <a:r>
              <a:rPr lang="es-ES" sz="2800" dirty="0" smtClean="0"/>
              <a:t>.</a:t>
            </a:r>
          </a:p>
          <a:p>
            <a:pPr marL="0" indent="0" algn="just">
              <a:buNone/>
            </a:pPr>
            <a:r>
              <a:rPr lang="es-ES" sz="2800" dirty="0" smtClean="0"/>
              <a:t>  </a:t>
            </a:r>
          </a:p>
          <a:p>
            <a:endParaRPr lang="es-ES" dirty="0"/>
          </a:p>
        </p:txBody>
      </p:sp>
      <p:sp>
        <p:nvSpPr>
          <p:cNvPr id="3" name="2 Título"/>
          <p:cNvSpPr>
            <a:spLocks noGrp="1"/>
          </p:cNvSpPr>
          <p:nvPr>
            <p:ph type="title"/>
          </p:nvPr>
        </p:nvSpPr>
        <p:spPr/>
        <p:txBody>
          <a:bodyPr>
            <a:normAutofit/>
          </a:bodyPr>
          <a:lstStyle/>
          <a:p>
            <a:r>
              <a:rPr lang="es-ES" sz="2800" dirty="0" smtClean="0"/>
              <a:t>INFECCIONES PERIOSTOMALES</a:t>
            </a:r>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Effect transition="in" filter="wipe(down)">
                                      <p:cBhvr>
                                        <p:cTn id="43" dur="580">
                                          <p:stCondLst>
                                            <p:cond delay="0"/>
                                          </p:stCondLst>
                                        </p:cTn>
                                        <p:tgtEl>
                                          <p:spTgt spid="2">
                                            <p:txEl>
                                              <p:pRg st="1" end="1"/>
                                            </p:txEl>
                                          </p:spTgt>
                                        </p:tgtEl>
                                      </p:cBhvr>
                                    </p:animEffect>
                                    <p:anim calcmode="lin" valueType="num">
                                      <p:cBhvr>
                                        <p:cTn id="44"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1" end="1"/>
                                            </p:txEl>
                                          </p:spTgt>
                                        </p:tgtEl>
                                      </p:cBhvr>
                                      <p:to x="100000" y="60000"/>
                                    </p:animScale>
                                    <p:animScale>
                                      <p:cBhvr>
                                        <p:cTn id="50" dur="166" decel="50000">
                                          <p:stCondLst>
                                            <p:cond delay="676"/>
                                          </p:stCondLst>
                                        </p:cTn>
                                        <p:tgtEl>
                                          <p:spTgt spid="2">
                                            <p:txEl>
                                              <p:pRg st="1" end="1"/>
                                            </p:txEl>
                                          </p:spTgt>
                                        </p:tgtEl>
                                      </p:cBhvr>
                                      <p:to x="100000" y="100000"/>
                                    </p:animScale>
                                    <p:animScale>
                                      <p:cBhvr>
                                        <p:cTn id="51" dur="26">
                                          <p:stCondLst>
                                            <p:cond delay="1312"/>
                                          </p:stCondLst>
                                        </p:cTn>
                                        <p:tgtEl>
                                          <p:spTgt spid="2">
                                            <p:txEl>
                                              <p:pRg st="1" end="1"/>
                                            </p:txEl>
                                          </p:spTgt>
                                        </p:tgtEl>
                                      </p:cBhvr>
                                      <p:to x="100000" y="80000"/>
                                    </p:animScale>
                                    <p:animScale>
                                      <p:cBhvr>
                                        <p:cTn id="52" dur="166" decel="50000">
                                          <p:stCondLst>
                                            <p:cond delay="1338"/>
                                          </p:stCondLst>
                                        </p:cTn>
                                        <p:tgtEl>
                                          <p:spTgt spid="2">
                                            <p:txEl>
                                              <p:pRg st="1" end="1"/>
                                            </p:txEl>
                                          </p:spTgt>
                                        </p:tgtEl>
                                      </p:cBhvr>
                                      <p:to x="100000" y="100000"/>
                                    </p:animScale>
                                    <p:animScale>
                                      <p:cBhvr>
                                        <p:cTn id="53" dur="26">
                                          <p:stCondLst>
                                            <p:cond delay="1642"/>
                                          </p:stCondLst>
                                        </p:cTn>
                                        <p:tgtEl>
                                          <p:spTgt spid="2">
                                            <p:txEl>
                                              <p:pRg st="1" end="1"/>
                                            </p:txEl>
                                          </p:spTgt>
                                        </p:tgtEl>
                                      </p:cBhvr>
                                      <p:to x="100000" y="90000"/>
                                    </p:animScale>
                                    <p:animScale>
                                      <p:cBhvr>
                                        <p:cTn id="54" dur="166" decel="50000">
                                          <p:stCondLst>
                                            <p:cond delay="1668"/>
                                          </p:stCondLst>
                                        </p:cTn>
                                        <p:tgtEl>
                                          <p:spTgt spid="2">
                                            <p:txEl>
                                              <p:pRg st="1" end="1"/>
                                            </p:txEl>
                                          </p:spTgt>
                                        </p:tgtEl>
                                      </p:cBhvr>
                                      <p:to x="100000" y="100000"/>
                                    </p:animScale>
                                    <p:animScale>
                                      <p:cBhvr>
                                        <p:cTn id="55" dur="26">
                                          <p:stCondLst>
                                            <p:cond delay="1808"/>
                                          </p:stCondLst>
                                        </p:cTn>
                                        <p:tgtEl>
                                          <p:spTgt spid="2">
                                            <p:txEl>
                                              <p:pRg st="1" end="1"/>
                                            </p:txEl>
                                          </p:spTgt>
                                        </p:tgtEl>
                                      </p:cBhvr>
                                      <p:to x="100000" y="95000"/>
                                    </p:animScale>
                                    <p:animScale>
                                      <p:cBhvr>
                                        <p:cTn id="56" dur="166" decel="50000">
                                          <p:stCondLst>
                                            <p:cond delay="1834"/>
                                          </p:stCondLst>
                                        </p:cTn>
                                        <p:tgtEl>
                                          <p:spTgt spid="2">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500175"/>
            <a:ext cx="7745505" cy="4625988"/>
          </a:xfrm>
        </p:spPr>
        <p:txBody>
          <a:bodyPr/>
          <a:lstStyle/>
          <a:p>
            <a:pPr marL="0" indent="0" algn="just">
              <a:buNone/>
            </a:pPr>
            <a:r>
              <a:rPr lang="es-ES" dirty="0" smtClean="0"/>
              <a:t> Es la separación </a:t>
            </a:r>
            <a:r>
              <a:rPr lang="es-ES" dirty="0" err="1" smtClean="0"/>
              <a:t>mucocutánea</a:t>
            </a:r>
            <a:r>
              <a:rPr lang="es-ES" dirty="0" smtClean="0"/>
              <a:t> a nivel de las suturas entre el estoma y la piel </a:t>
            </a:r>
            <a:r>
              <a:rPr lang="es-ES" dirty="0" err="1" smtClean="0"/>
              <a:t>periostomal</a:t>
            </a:r>
            <a:r>
              <a:rPr lang="es-ES" dirty="0" smtClean="0"/>
              <a:t> que puede afectar a una pequeña parte o a toda la circunferencia del estoma, con el consiguiente riesgo de peritonitis por filtración de materia fecal. Las causas más frecuentes son la tensión excesiva del intestino abocado y un diámetro del orificio cutáneo demasiado grande en relación al tamaño del intestino.</a:t>
            </a:r>
          </a:p>
          <a:p>
            <a:endParaRPr lang="es-ES" dirty="0"/>
          </a:p>
        </p:txBody>
      </p:sp>
      <p:sp>
        <p:nvSpPr>
          <p:cNvPr id="3" name="2 Título"/>
          <p:cNvSpPr>
            <a:spLocks noGrp="1"/>
          </p:cNvSpPr>
          <p:nvPr>
            <p:ph type="title"/>
          </p:nvPr>
        </p:nvSpPr>
        <p:spPr/>
        <p:txBody>
          <a:bodyPr/>
          <a:lstStyle/>
          <a:p>
            <a:r>
              <a:rPr lang="es-ES" dirty="0" smtClean="0"/>
              <a:t>DEHISCENCIA.</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196752"/>
            <a:ext cx="7745505" cy="4929411"/>
          </a:xfrm>
        </p:spPr>
        <p:txBody>
          <a:bodyPr>
            <a:normAutofit/>
          </a:bodyPr>
          <a:lstStyle/>
          <a:p>
            <a:pPr algn="just"/>
            <a:r>
              <a:rPr lang="es-ES" dirty="0" smtClean="0"/>
              <a:t>Generalmente, es una complicación secundaria a problemas de la técnica quirúrgica al realizar las suturas entero-aponeurótica, entero-parietal o entero-cutánea. Puede estar producida también por una recidiva de la enfermedad inflamatoria y por iatrogenia en la manipulación del estoma al realizar un sondaje para hacer lavados.</a:t>
            </a:r>
          </a:p>
          <a:p>
            <a:pPr algn="just"/>
            <a:r>
              <a:rPr lang="es-ES" dirty="0" smtClean="0"/>
              <a:t>MANIFESTACIONES. Son las propias de cualquier dermatitis. Si es de 1er. grado la zona presenta eritema, edema y dolor y si es de 2º grado la zona presenta erosiones de la piel, llagas y sangrado. En cualquier caso, el paciente experimenta prurito en la zona y sensación de </a:t>
            </a:r>
            <a:r>
              <a:rPr lang="es-ES" dirty="0" err="1" smtClean="0"/>
              <a:t>disconfort</a:t>
            </a:r>
            <a:r>
              <a:rPr lang="es-ES" dirty="0" smtClean="0"/>
              <a:t>.</a:t>
            </a:r>
          </a:p>
          <a:p>
            <a:endParaRPr lang="es-ES" dirty="0"/>
          </a:p>
        </p:txBody>
      </p:sp>
      <p:sp>
        <p:nvSpPr>
          <p:cNvPr id="3" name="2 Título"/>
          <p:cNvSpPr>
            <a:spLocks noGrp="1"/>
          </p:cNvSpPr>
          <p:nvPr>
            <p:ph type="title"/>
          </p:nvPr>
        </p:nvSpPr>
        <p:spPr>
          <a:xfrm>
            <a:off x="688490" y="570156"/>
            <a:ext cx="7756263" cy="554588"/>
          </a:xfrm>
        </p:spPr>
        <p:txBody>
          <a:bodyPr/>
          <a:lstStyle/>
          <a:p>
            <a:r>
              <a:rPr lang="es-ES" sz="2800" dirty="0" smtClean="0"/>
              <a:t>PERFORACIÓN y/ó FISTULIZACIÓN</a:t>
            </a:r>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Effect transition="in" filter="wipe(down)">
                                      <p:cBhvr>
                                        <p:cTn id="43" dur="580">
                                          <p:stCondLst>
                                            <p:cond delay="0"/>
                                          </p:stCondLst>
                                        </p:cTn>
                                        <p:tgtEl>
                                          <p:spTgt spid="2">
                                            <p:txEl>
                                              <p:pRg st="1" end="1"/>
                                            </p:txEl>
                                          </p:spTgt>
                                        </p:tgtEl>
                                      </p:cBhvr>
                                    </p:animEffect>
                                    <p:anim calcmode="lin" valueType="num">
                                      <p:cBhvr>
                                        <p:cTn id="44"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1" end="1"/>
                                            </p:txEl>
                                          </p:spTgt>
                                        </p:tgtEl>
                                      </p:cBhvr>
                                      <p:to x="100000" y="60000"/>
                                    </p:animScale>
                                    <p:animScale>
                                      <p:cBhvr>
                                        <p:cTn id="50" dur="166" decel="50000">
                                          <p:stCondLst>
                                            <p:cond delay="676"/>
                                          </p:stCondLst>
                                        </p:cTn>
                                        <p:tgtEl>
                                          <p:spTgt spid="2">
                                            <p:txEl>
                                              <p:pRg st="1" end="1"/>
                                            </p:txEl>
                                          </p:spTgt>
                                        </p:tgtEl>
                                      </p:cBhvr>
                                      <p:to x="100000" y="100000"/>
                                    </p:animScale>
                                    <p:animScale>
                                      <p:cBhvr>
                                        <p:cTn id="51" dur="26">
                                          <p:stCondLst>
                                            <p:cond delay="1312"/>
                                          </p:stCondLst>
                                        </p:cTn>
                                        <p:tgtEl>
                                          <p:spTgt spid="2">
                                            <p:txEl>
                                              <p:pRg st="1" end="1"/>
                                            </p:txEl>
                                          </p:spTgt>
                                        </p:tgtEl>
                                      </p:cBhvr>
                                      <p:to x="100000" y="80000"/>
                                    </p:animScale>
                                    <p:animScale>
                                      <p:cBhvr>
                                        <p:cTn id="52" dur="166" decel="50000">
                                          <p:stCondLst>
                                            <p:cond delay="1338"/>
                                          </p:stCondLst>
                                        </p:cTn>
                                        <p:tgtEl>
                                          <p:spTgt spid="2">
                                            <p:txEl>
                                              <p:pRg st="1" end="1"/>
                                            </p:txEl>
                                          </p:spTgt>
                                        </p:tgtEl>
                                      </p:cBhvr>
                                      <p:to x="100000" y="100000"/>
                                    </p:animScale>
                                    <p:animScale>
                                      <p:cBhvr>
                                        <p:cTn id="53" dur="26">
                                          <p:stCondLst>
                                            <p:cond delay="1642"/>
                                          </p:stCondLst>
                                        </p:cTn>
                                        <p:tgtEl>
                                          <p:spTgt spid="2">
                                            <p:txEl>
                                              <p:pRg st="1" end="1"/>
                                            </p:txEl>
                                          </p:spTgt>
                                        </p:tgtEl>
                                      </p:cBhvr>
                                      <p:to x="100000" y="90000"/>
                                    </p:animScale>
                                    <p:animScale>
                                      <p:cBhvr>
                                        <p:cTn id="54" dur="166" decel="50000">
                                          <p:stCondLst>
                                            <p:cond delay="1668"/>
                                          </p:stCondLst>
                                        </p:cTn>
                                        <p:tgtEl>
                                          <p:spTgt spid="2">
                                            <p:txEl>
                                              <p:pRg st="1" end="1"/>
                                            </p:txEl>
                                          </p:spTgt>
                                        </p:tgtEl>
                                      </p:cBhvr>
                                      <p:to x="100000" y="100000"/>
                                    </p:animScale>
                                    <p:animScale>
                                      <p:cBhvr>
                                        <p:cTn id="55" dur="26">
                                          <p:stCondLst>
                                            <p:cond delay="1808"/>
                                          </p:stCondLst>
                                        </p:cTn>
                                        <p:tgtEl>
                                          <p:spTgt spid="2">
                                            <p:txEl>
                                              <p:pRg st="1" end="1"/>
                                            </p:txEl>
                                          </p:spTgt>
                                        </p:tgtEl>
                                      </p:cBhvr>
                                      <p:to x="100000" y="95000"/>
                                    </p:animScale>
                                    <p:animScale>
                                      <p:cBhvr>
                                        <p:cTn id="56" dur="166" decel="50000">
                                          <p:stCondLst>
                                            <p:cond delay="1834"/>
                                          </p:stCondLst>
                                        </p:cTn>
                                        <p:tgtEl>
                                          <p:spTgt spid="2">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99247" y="1214423"/>
            <a:ext cx="7745505" cy="4911740"/>
          </a:xfrm>
        </p:spPr>
        <p:txBody>
          <a:bodyPr>
            <a:normAutofit/>
          </a:bodyPr>
          <a:lstStyle/>
          <a:p>
            <a:pPr algn="just"/>
            <a:r>
              <a:rPr lang="es-ES" dirty="0" smtClean="0"/>
              <a:t> </a:t>
            </a:r>
            <a:r>
              <a:rPr lang="es-ES" sz="2800" dirty="0" smtClean="0"/>
              <a:t>Es poco frecuente. Aparece en las primeras horas del post-operatorio y la causa principal es la lesión de un vaso subcutáneo y/o submucoso en la sutura del intestino a la pared abdominal. </a:t>
            </a:r>
          </a:p>
          <a:p>
            <a:pPr algn="just"/>
            <a:r>
              <a:rPr lang="es-ES" sz="2800" dirty="0" smtClean="0"/>
              <a:t>La hemorragia tardía puede ser debida a la producción de alguna pequeña herida al limpiar el estoma o a alguna alteración de los factores de coagulación del paciente</a:t>
            </a:r>
          </a:p>
        </p:txBody>
      </p:sp>
      <p:sp>
        <p:nvSpPr>
          <p:cNvPr id="3" name="2 Título"/>
          <p:cNvSpPr>
            <a:spLocks noGrp="1"/>
          </p:cNvSpPr>
          <p:nvPr>
            <p:ph type="title"/>
          </p:nvPr>
        </p:nvSpPr>
        <p:spPr>
          <a:xfrm>
            <a:off x="688490" y="570156"/>
            <a:ext cx="7756263" cy="572828"/>
          </a:xfrm>
        </p:spPr>
        <p:txBody>
          <a:bodyPr/>
          <a:lstStyle/>
          <a:p>
            <a:r>
              <a:rPr lang="es-ES" sz="2800" dirty="0" smtClean="0"/>
              <a:t> HEMORRAGIA</a:t>
            </a:r>
            <a:endParaRPr lang="es-E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wipe(down)">
                                      <p:cBhvr>
                                        <p:cTn id="25" dur="580">
                                          <p:stCondLst>
                                            <p:cond delay="0"/>
                                          </p:stCondLst>
                                        </p:cTn>
                                        <p:tgtEl>
                                          <p:spTgt spid="2">
                                            <p:txEl>
                                              <p:pRg st="0" end="0"/>
                                            </p:txEl>
                                          </p:spTgt>
                                        </p:tgtEl>
                                      </p:cBhvr>
                                    </p:animEffect>
                                    <p:anim calcmode="lin" valueType="num">
                                      <p:cBhvr>
                                        <p:cTn id="26" dur="1822"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xEl>
                                              <p:pRg st="0" end="0"/>
                                            </p:txEl>
                                          </p:spTgt>
                                        </p:tgtEl>
                                      </p:cBhvr>
                                      <p:to x="100000" y="60000"/>
                                    </p:animScale>
                                    <p:animScale>
                                      <p:cBhvr>
                                        <p:cTn id="32" dur="166" decel="50000">
                                          <p:stCondLst>
                                            <p:cond delay="676"/>
                                          </p:stCondLst>
                                        </p:cTn>
                                        <p:tgtEl>
                                          <p:spTgt spid="2">
                                            <p:txEl>
                                              <p:pRg st="0" end="0"/>
                                            </p:txEl>
                                          </p:spTgt>
                                        </p:tgtEl>
                                      </p:cBhvr>
                                      <p:to x="100000" y="100000"/>
                                    </p:animScale>
                                    <p:animScale>
                                      <p:cBhvr>
                                        <p:cTn id="33" dur="26">
                                          <p:stCondLst>
                                            <p:cond delay="1312"/>
                                          </p:stCondLst>
                                        </p:cTn>
                                        <p:tgtEl>
                                          <p:spTgt spid="2">
                                            <p:txEl>
                                              <p:pRg st="0" end="0"/>
                                            </p:txEl>
                                          </p:spTgt>
                                        </p:tgtEl>
                                      </p:cBhvr>
                                      <p:to x="100000" y="80000"/>
                                    </p:animScale>
                                    <p:animScale>
                                      <p:cBhvr>
                                        <p:cTn id="34" dur="166" decel="50000">
                                          <p:stCondLst>
                                            <p:cond delay="1338"/>
                                          </p:stCondLst>
                                        </p:cTn>
                                        <p:tgtEl>
                                          <p:spTgt spid="2">
                                            <p:txEl>
                                              <p:pRg st="0" end="0"/>
                                            </p:txEl>
                                          </p:spTgt>
                                        </p:tgtEl>
                                      </p:cBhvr>
                                      <p:to x="100000" y="100000"/>
                                    </p:animScale>
                                    <p:animScale>
                                      <p:cBhvr>
                                        <p:cTn id="35" dur="26">
                                          <p:stCondLst>
                                            <p:cond delay="1642"/>
                                          </p:stCondLst>
                                        </p:cTn>
                                        <p:tgtEl>
                                          <p:spTgt spid="2">
                                            <p:txEl>
                                              <p:pRg st="0" end="0"/>
                                            </p:txEl>
                                          </p:spTgt>
                                        </p:tgtEl>
                                      </p:cBhvr>
                                      <p:to x="100000" y="90000"/>
                                    </p:animScale>
                                    <p:animScale>
                                      <p:cBhvr>
                                        <p:cTn id="36" dur="166" decel="50000">
                                          <p:stCondLst>
                                            <p:cond delay="1668"/>
                                          </p:stCondLst>
                                        </p:cTn>
                                        <p:tgtEl>
                                          <p:spTgt spid="2">
                                            <p:txEl>
                                              <p:pRg st="0" end="0"/>
                                            </p:txEl>
                                          </p:spTgt>
                                        </p:tgtEl>
                                      </p:cBhvr>
                                      <p:to x="100000" y="100000"/>
                                    </p:animScale>
                                    <p:animScale>
                                      <p:cBhvr>
                                        <p:cTn id="37" dur="26">
                                          <p:stCondLst>
                                            <p:cond delay="1808"/>
                                          </p:stCondLst>
                                        </p:cTn>
                                        <p:tgtEl>
                                          <p:spTgt spid="2">
                                            <p:txEl>
                                              <p:pRg st="0" end="0"/>
                                            </p:txEl>
                                          </p:spTgt>
                                        </p:tgtEl>
                                      </p:cBhvr>
                                      <p:to x="100000" y="95000"/>
                                    </p:animScale>
                                    <p:animScale>
                                      <p:cBhvr>
                                        <p:cTn id="38" dur="166" decel="50000">
                                          <p:stCondLst>
                                            <p:cond delay="1834"/>
                                          </p:stCondLst>
                                        </p:cTn>
                                        <p:tgtEl>
                                          <p:spTgt spid="2">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animEffect transition="in" filter="wipe(down)">
                                      <p:cBhvr>
                                        <p:cTn id="43" dur="580">
                                          <p:stCondLst>
                                            <p:cond delay="0"/>
                                          </p:stCondLst>
                                        </p:cTn>
                                        <p:tgtEl>
                                          <p:spTgt spid="2">
                                            <p:txEl>
                                              <p:pRg st="1" end="1"/>
                                            </p:txEl>
                                          </p:spTgt>
                                        </p:tgtEl>
                                      </p:cBhvr>
                                    </p:animEffect>
                                    <p:anim calcmode="lin" valueType="num">
                                      <p:cBhvr>
                                        <p:cTn id="44" dur="1822" tmFilter="0,0; 0.14,0.36; 0.43,0.73; 0.71,0.91; 1.0,1.0">
                                          <p:stCondLst>
                                            <p:cond delay="0"/>
                                          </p:stCondLst>
                                        </p:cTn>
                                        <p:tgtEl>
                                          <p:spTgt spid="2">
                                            <p:txEl>
                                              <p:pRg st="1" end="1"/>
                                            </p:txEl>
                                          </p:spTgt>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
                                            <p:txEl>
                                              <p:pRg st="1" end="1"/>
                                            </p:txEl>
                                          </p:spTgt>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
                                            <p:txEl>
                                              <p:pRg st="1" end="1"/>
                                            </p:txEl>
                                          </p:spTgt>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
                                            <p:txEl>
                                              <p:pRg st="1" end="1"/>
                                            </p:txEl>
                                          </p:spTgt>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
                                            <p:txEl>
                                              <p:pRg st="1" end="1"/>
                                            </p:txEl>
                                          </p:spTgt>
                                        </p:tgtEl>
                                        <p:attrNameLst>
                                          <p:attrName>ppt_y</p:attrName>
                                        </p:attrNameLst>
                                      </p:cBhvr>
                                      <p:tavLst>
                                        <p:tav tm="0" fmla="#ppt_y-sin(pi*$)/81">
                                          <p:val>
                                            <p:fltVal val="0"/>
                                          </p:val>
                                        </p:tav>
                                        <p:tav tm="100000">
                                          <p:val>
                                            <p:fltVal val="1"/>
                                          </p:val>
                                        </p:tav>
                                      </p:tavLst>
                                    </p:anim>
                                    <p:animScale>
                                      <p:cBhvr>
                                        <p:cTn id="49" dur="26">
                                          <p:stCondLst>
                                            <p:cond delay="650"/>
                                          </p:stCondLst>
                                        </p:cTn>
                                        <p:tgtEl>
                                          <p:spTgt spid="2">
                                            <p:txEl>
                                              <p:pRg st="1" end="1"/>
                                            </p:txEl>
                                          </p:spTgt>
                                        </p:tgtEl>
                                      </p:cBhvr>
                                      <p:to x="100000" y="60000"/>
                                    </p:animScale>
                                    <p:animScale>
                                      <p:cBhvr>
                                        <p:cTn id="50" dur="166" decel="50000">
                                          <p:stCondLst>
                                            <p:cond delay="676"/>
                                          </p:stCondLst>
                                        </p:cTn>
                                        <p:tgtEl>
                                          <p:spTgt spid="2">
                                            <p:txEl>
                                              <p:pRg st="1" end="1"/>
                                            </p:txEl>
                                          </p:spTgt>
                                        </p:tgtEl>
                                      </p:cBhvr>
                                      <p:to x="100000" y="100000"/>
                                    </p:animScale>
                                    <p:animScale>
                                      <p:cBhvr>
                                        <p:cTn id="51" dur="26">
                                          <p:stCondLst>
                                            <p:cond delay="1312"/>
                                          </p:stCondLst>
                                        </p:cTn>
                                        <p:tgtEl>
                                          <p:spTgt spid="2">
                                            <p:txEl>
                                              <p:pRg st="1" end="1"/>
                                            </p:txEl>
                                          </p:spTgt>
                                        </p:tgtEl>
                                      </p:cBhvr>
                                      <p:to x="100000" y="80000"/>
                                    </p:animScale>
                                    <p:animScale>
                                      <p:cBhvr>
                                        <p:cTn id="52" dur="166" decel="50000">
                                          <p:stCondLst>
                                            <p:cond delay="1338"/>
                                          </p:stCondLst>
                                        </p:cTn>
                                        <p:tgtEl>
                                          <p:spTgt spid="2">
                                            <p:txEl>
                                              <p:pRg st="1" end="1"/>
                                            </p:txEl>
                                          </p:spTgt>
                                        </p:tgtEl>
                                      </p:cBhvr>
                                      <p:to x="100000" y="100000"/>
                                    </p:animScale>
                                    <p:animScale>
                                      <p:cBhvr>
                                        <p:cTn id="53" dur="26">
                                          <p:stCondLst>
                                            <p:cond delay="1642"/>
                                          </p:stCondLst>
                                        </p:cTn>
                                        <p:tgtEl>
                                          <p:spTgt spid="2">
                                            <p:txEl>
                                              <p:pRg st="1" end="1"/>
                                            </p:txEl>
                                          </p:spTgt>
                                        </p:tgtEl>
                                      </p:cBhvr>
                                      <p:to x="100000" y="90000"/>
                                    </p:animScale>
                                    <p:animScale>
                                      <p:cBhvr>
                                        <p:cTn id="54" dur="166" decel="50000">
                                          <p:stCondLst>
                                            <p:cond delay="1668"/>
                                          </p:stCondLst>
                                        </p:cTn>
                                        <p:tgtEl>
                                          <p:spTgt spid="2">
                                            <p:txEl>
                                              <p:pRg st="1" end="1"/>
                                            </p:txEl>
                                          </p:spTgt>
                                        </p:tgtEl>
                                      </p:cBhvr>
                                      <p:to x="100000" y="100000"/>
                                    </p:animScale>
                                    <p:animScale>
                                      <p:cBhvr>
                                        <p:cTn id="55" dur="26">
                                          <p:stCondLst>
                                            <p:cond delay="1808"/>
                                          </p:stCondLst>
                                        </p:cTn>
                                        <p:tgtEl>
                                          <p:spTgt spid="2">
                                            <p:txEl>
                                              <p:pRg st="1" end="1"/>
                                            </p:txEl>
                                          </p:spTgt>
                                        </p:tgtEl>
                                      </p:cBhvr>
                                      <p:to x="100000" y="95000"/>
                                    </p:animScale>
                                    <p:animScale>
                                      <p:cBhvr>
                                        <p:cTn id="56" dur="166" decel="50000">
                                          <p:stCondLst>
                                            <p:cond delay="1834"/>
                                          </p:stCondLst>
                                        </p:cTn>
                                        <p:tgtEl>
                                          <p:spTgt spid="2">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contenido"/>
          <p:cNvSpPr>
            <a:spLocks noGrp="1"/>
          </p:cNvSpPr>
          <p:nvPr>
            <p:ph idx="1"/>
          </p:nvPr>
        </p:nvSpPr>
        <p:spPr>
          <a:xfrm>
            <a:off x="4139952" y="4941168"/>
            <a:ext cx="4304800" cy="1184994"/>
          </a:xfrm>
        </p:spPr>
        <p:txBody>
          <a:bodyPr>
            <a:normAutofit/>
          </a:bodyPr>
          <a:lstStyle/>
          <a:p>
            <a:r>
              <a:rPr lang="es-BO" sz="4000" dirty="0" smtClean="0"/>
              <a:t>GRACIAS</a:t>
            </a:r>
            <a:endParaRPr lang="es-BO" sz="4000"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908720"/>
            <a:ext cx="4200525" cy="297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039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wipe(down)">
                                      <p:cBhvr>
                                        <p:cTn id="7" dur="580">
                                          <p:stCondLst>
                                            <p:cond delay="0"/>
                                          </p:stCondLst>
                                        </p:cTn>
                                        <p:tgtEl>
                                          <p:spTgt spid="5123"/>
                                        </p:tgtEl>
                                      </p:cBhvr>
                                    </p:animEffect>
                                    <p:anim calcmode="lin" valueType="num">
                                      <p:cBhvr>
                                        <p:cTn id="8" dur="1822" tmFilter="0,0; 0.14,0.36; 0.43,0.73; 0.71,0.91; 1.0,1.0">
                                          <p:stCondLst>
                                            <p:cond delay="0"/>
                                          </p:stCondLst>
                                        </p:cTn>
                                        <p:tgtEl>
                                          <p:spTgt spid="512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12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12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12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123"/>
                                        </p:tgtEl>
                                        <p:attrNameLst>
                                          <p:attrName>ppt_y</p:attrName>
                                        </p:attrNameLst>
                                      </p:cBhvr>
                                      <p:tavLst>
                                        <p:tav tm="0" fmla="#ppt_y-sin(pi*$)/81">
                                          <p:val>
                                            <p:fltVal val="0"/>
                                          </p:val>
                                        </p:tav>
                                        <p:tav tm="100000">
                                          <p:val>
                                            <p:fltVal val="1"/>
                                          </p:val>
                                        </p:tav>
                                      </p:tavLst>
                                    </p:anim>
                                    <p:animScale>
                                      <p:cBhvr>
                                        <p:cTn id="13" dur="26">
                                          <p:stCondLst>
                                            <p:cond delay="650"/>
                                          </p:stCondLst>
                                        </p:cTn>
                                        <p:tgtEl>
                                          <p:spTgt spid="5123"/>
                                        </p:tgtEl>
                                      </p:cBhvr>
                                      <p:to x="100000" y="60000"/>
                                    </p:animScale>
                                    <p:animScale>
                                      <p:cBhvr>
                                        <p:cTn id="14" dur="166" decel="50000">
                                          <p:stCondLst>
                                            <p:cond delay="676"/>
                                          </p:stCondLst>
                                        </p:cTn>
                                        <p:tgtEl>
                                          <p:spTgt spid="5123"/>
                                        </p:tgtEl>
                                      </p:cBhvr>
                                      <p:to x="100000" y="100000"/>
                                    </p:animScale>
                                    <p:animScale>
                                      <p:cBhvr>
                                        <p:cTn id="15" dur="26">
                                          <p:stCondLst>
                                            <p:cond delay="1312"/>
                                          </p:stCondLst>
                                        </p:cTn>
                                        <p:tgtEl>
                                          <p:spTgt spid="5123"/>
                                        </p:tgtEl>
                                      </p:cBhvr>
                                      <p:to x="100000" y="80000"/>
                                    </p:animScale>
                                    <p:animScale>
                                      <p:cBhvr>
                                        <p:cTn id="16" dur="166" decel="50000">
                                          <p:stCondLst>
                                            <p:cond delay="1338"/>
                                          </p:stCondLst>
                                        </p:cTn>
                                        <p:tgtEl>
                                          <p:spTgt spid="5123"/>
                                        </p:tgtEl>
                                      </p:cBhvr>
                                      <p:to x="100000" y="100000"/>
                                    </p:animScale>
                                    <p:animScale>
                                      <p:cBhvr>
                                        <p:cTn id="17" dur="26">
                                          <p:stCondLst>
                                            <p:cond delay="1642"/>
                                          </p:stCondLst>
                                        </p:cTn>
                                        <p:tgtEl>
                                          <p:spTgt spid="5123"/>
                                        </p:tgtEl>
                                      </p:cBhvr>
                                      <p:to x="100000" y="90000"/>
                                    </p:animScale>
                                    <p:animScale>
                                      <p:cBhvr>
                                        <p:cTn id="18" dur="166" decel="50000">
                                          <p:stCondLst>
                                            <p:cond delay="1668"/>
                                          </p:stCondLst>
                                        </p:cTn>
                                        <p:tgtEl>
                                          <p:spTgt spid="5123"/>
                                        </p:tgtEl>
                                      </p:cBhvr>
                                      <p:to x="100000" y="100000"/>
                                    </p:animScale>
                                    <p:animScale>
                                      <p:cBhvr>
                                        <p:cTn id="19" dur="26">
                                          <p:stCondLst>
                                            <p:cond delay="1808"/>
                                          </p:stCondLst>
                                        </p:cTn>
                                        <p:tgtEl>
                                          <p:spTgt spid="5123"/>
                                        </p:tgtEl>
                                      </p:cBhvr>
                                      <p:to x="100000" y="95000"/>
                                    </p:animScale>
                                    <p:animScale>
                                      <p:cBhvr>
                                        <p:cTn id="20" dur="166" decel="50000">
                                          <p:stCondLst>
                                            <p:cond delay="1834"/>
                                          </p:stCondLst>
                                        </p:cTn>
                                        <p:tgtEl>
                                          <p:spTgt spid="512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down)">
                                      <p:cBhvr>
                                        <p:cTn id="25" dur="580">
                                          <p:stCondLst>
                                            <p:cond delay="0"/>
                                          </p:stCondLst>
                                        </p:cTn>
                                        <p:tgtEl>
                                          <p:spTgt spid="4">
                                            <p:txEl>
                                              <p:pRg st="0" end="0"/>
                                            </p:txEl>
                                          </p:spTgt>
                                        </p:tgtEl>
                                      </p:cBhvr>
                                    </p:animEffect>
                                    <p:anim calcmode="lin" valueType="num">
                                      <p:cBhvr>
                                        <p:cTn id="26"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xEl>
                                              <p:pRg st="0" end="0"/>
                                            </p:txEl>
                                          </p:spTgt>
                                        </p:tgtEl>
                                      </p:cBhvr>
                                      <p:to x="100000" y="60000"/>
                                    </p:animScale>
                                    <p:animScale>
                                      <p:cBhvr>
                                        <p:cTn id="32" dur="166" decel="50000">
                                          <p:stCondLst>
                                            <p:cond delay="676"/>
                                          </p:stCondLst>
                                        </p:cTn>
                                        <p:tgtEl>
                                          <p:spTgt spid="4">
                                            <p:txEl>
                                              <p:pRg st="0" end="0"/>
                                            </p:txEl>
                                          </p:spTgt>
                                        </p:tgtEl>
                                      </p:cBhvr>
                                      <p:to x="100000" y="100000"/>
                                    </p:animScale>
                                    <p:animScale>
                                      <p:cBhvr>
                                        <p:cTn id="33" dur="26">
                                          <p:stCondLst>
                                            <p:cond delay="1312"/>
                                          </p:stCondLst>
                                        </p:cTn>
                                        <p:tgtEl>
                                          <p:spTgt spid="4">
                                            <p:txEl>
                                              <p:pRg st="0" end="0"/>
                                            </p:txEl>
                                          </p:spTgt>
                                        </p:tgtEl>
                                      </p:cBhvr>
                                      <p:to x="100000" y="80000"/>
                                    </p:animScale>
                                    <p:animScale>
                                      <p:cBhvr>
                                        <p:cTn id="34" dur="166" decel="50000">
                                          <p:stCondLst>
                                            <p:cond delay="1338"/>
                                          </p:stCondLst>
                                        </p:cTn>
                                        <p:tgtEl>
                                          <p:spTgt spid="4">
                                            <p:txEl>
                                              <p:pRg st="0" end="0"/>
                                            </p:txEl>
                                          </p:spTgt>
                                        </p:tgtEl>
                                      </p:cBhvr>
                                      <p:to x="100000" y="100000"/>
                                    </p:animScale>
                                    <p:animScale>
                                      <p:cBhvr>
                                        <p:cTn id="35" dur="26">
                                          <p:stCondLst>
                                            <p:cond delay="1642"/>
                                          </p:stCondLst>
                                        </p:cTn>
                                        <p:tgtEl>
                                          <p:spTgt spid="4">
                                            <p:txEl>
                                              <p:pRg st="0" end="0"/>
                                            </p:txEl>
                                          </p:spTgt>
                                        </p:tgtEl>
                                      </p:cBhvr>
                                      <p:to x="100000" y="90000"/>
                                    </p:animScale>
                                    <p:animScale>
                                      <p:cBhvr>
                                        <p:cTn id="36" dur="166" decel="50000">
                                          <p:stCondLst>
                                            <p:cond delay="1668"/>
                                          </p:stCondLst>
                                        </p:cTn>
                                        <p:tgtEl>
                                          <p:spTgt spid="4">
                                            <p:txEl>
                                              <p:pRg st="0" end="0"/>
                                            </p:txEl>
                                          </p:spTgt>
                                        </p:tgtEl>
                                      </p:cBhvr>
                                      <p:to x="100000" y="100000"/>
                                    </p:animScale>
                                    <p:animScale>
                                      <p:cBhvr>
                                        <p:cTn id="37" dur="26">
                                          <p:stCondLst>
                                            <p:cond delay="1808"/>
                                          </p:stCondLst>
                                        </p:cTn>
                                        <p:tgtEl>
                                          <p:spTgt spid="4">
                                            <p:txEl>
                                              <p:pRg st="0" end="0"/>
                                            </p:txEl>
                                          </p:spTgt>
                                        </p:tgtEl>
                                      </p:cBhvr>
                                      <p:to x="100000" y="95000"/>
                                    </p:animScale>
                                    <p:animScale>
                                      <p:cBhvr>
                                        <p:cTn id="38" dur="166" decel="50000">
                                          <p:stCondLst>
                                            <p:cond delay="1834"/>
                                          </p:stCondLst>
                                        </p:cTn>
                                        <p:tgtEl>
                                          <p:spTgt spid="4">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rtoné">
  <a:themeElements>
    <a:clrScheme name="Cartoné">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Cartoné">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rtoné">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943</TotalTime>
  <Words>3093</Words>
  <Application>Microsoft Office PowerPoint</Application>
  <PresentationFormat>Presentación en pantalla (4:3)</PresentationFormat>
  <Paragraphs>161</Paragraphs>
  <Slides>40</Slides>
  <Notes>0</Notes>
  <HiddenSlides>0</HiddenSlides>
  <MMClips>0</MMClips>
  <ScaleCrop>false</ScaleCrop>
  <HeadingPairs>
    <vt:vector size="4" baseType="variant">
      <vt:variant>
        <vt:lpstr>Tema</vt:lpstr>
      </vt:variant>
      <vt:variant>
        <vt:i4>1</vt:i4>
      </vt:variant>
      <vt:variant>
        <vt:lpstr>Títulos de diapositiva</vt:lpstr>
      </vt:variant>
      <vt:variant>
        <vt:i4>40</vt:i4>
      </vt:variant>
    </vt:vector>
  </HeadingPairs>
  <TitlesOfParts>
    <vt:vector size="41" baseType="lpstr">
      <vt:lpstr>Cartoné</vt:lpstr>
      <vt:lpstr>FISIOPATOLOGIA</vt:lpstr>
      <vt:lpstr>DEFINICION DE HEMORROIDES </vt:lpstr>
      <vt:lpstr>RECUERDO ANATÓMICO: VASCULARIZACIÓN DEL ANO Y RECTO</vt:lpstr>
      <vt:lpstr>Presentación de PowerPoint</vt:lpstr>
      <vt:lpstr>Presentación de PowerPoint</vt:lpstr>
      <vt:lpstr>Presentación de PowerPoint</vt:lpstr>
      <vt:lpstr> FISIOPATOLOGÍA</vt:lpstr>
      <vt:lpstr>Presentación de PowerPoint</vt:lpstr>
      <vt:lpstr>Presentación de PowerPoint</vt:lpstr>
      <vt:lpstr>Presentación de PowerPoint</vt:lpstr>
      <vt:lpstr> CLASIFICACIÓN </vt:lpstr>
      <vt:lpstr>Presentación de PowerPoint</vt:lpstr>
      <vt:lpstr> ETIOLOGÍA.</vt:lpstr>
      <vt:lpstr>Presentación de PowerPoint</vt:lpstr>
      <vt:lpstr> CLÍNICA.</vt:lpstr>
      <vt:lpstr> SÍNTOMAS CRÓNICOS</vt:lpstr>
      <vt:lpstr>. SÍNTOMAS AGUDOS</vt:lpstr>
      <vt:lpstr>Presentación de PowerPoint</vt:lpstr>
      <vt:lpstr>FISTULA Y ABSCESO ANAL.</vt:lpstr>
      <vt:lpstr>Presentación de PowerPoint</vt:lpstr>
      <vt:lpstr>Presentación de PowerPoint</vt:lpstr>
      <vt:lpstr>Presentación de PowerPoint</vt:lpstr>
      <vt:lpstr>Los síntomas son: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COLOSTOMÍA DESCRIPCIÓN</vt:lpstr>
      <vt:lpstr>Tipos de colostomías</vt:lpstr>
      <vt:lpstr>INFECCIONES PERIOSTOMALES</vt:lpstr>
      <vt:lpstr>DEHISCENCIA.</vt:lpstr>
      <vt:lpstr>PERFORACIÓN y/ó FISTULIZACIÓN</vt:lpstr>
      <vt:lpstr> HEMORRAGIA</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FISIOPALOGIA</dc:title>
  <dc:creator>SSU-UTI</dc:creator>
  <cp:lastModifiedBy>Boris</cp:lastModifiedBy>
  <cp:revision>79</cp:revision>
  <dcterms:created xsi:type="dcterms:W3CDTF">2013-12-02T20:06:50Z</dcterms:created>
  <dcterms:modified xsi:type="dcterms:W3CDTF">2014-05-24T05:42:21Z</dcterms:modified>
</cp:coreProperties>
</file>