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9144000" cy="6858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7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DDCAE-A3F3-415F-9C71-5FABA202870D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9C73C-86ED-4604-B294-A22F1C0B7C2F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5069C-72D4-41BE-B651-C710B17855C2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3440A-2724-4EBD-9EBD-71A7A5619CC7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23440A-2724-4EBD-9EBD-71A7A5619CC7}" type="slidenum">
              <a:rPr lang="es-BO" smtClean="0"/>
              <a:pPr/>
              <a:t>1</a:t>
            </a:fld>
            <a:endParaRPr 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46497E1-289D-4EDB-A425-7991B4B25DC5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593D4E9-95B9-47F4-8971-76C682661758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nmeda.es/enfermedades/cancer_colon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571480"/>
            <a:ext cx="8229600" cy="1214446"/>
          </a:xfrm>
        </p:spPr>
        <p:txBody>
          <a:bodyPr>
            <a:normAutofit/>
          </a:bodyPr>
          <a:lstStyle/>
          <a:p>
            <a:pPr algn="l"/>
            <a:r>
              <a:rPr lang="es-BO" sz="3200" b="1" dirty="0" smtClean="0"/>
              <a:t>PROTOCOLO EN PACIENTES  CON  HEMORROIDECTOMIA</a:t>
            </a:r>
            <a:endParaRPr lang="es-BO" sz="32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85786" y="2000240"/>
            <a:ext cx="7908048" cy="435771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BO" sz="3800" b="1" dirty="0" smtClean="0"/>
              <a:t>INTRODUCCION</a:t>
            </a:r>
          </a:p>
          <a:p>
            <a:pPr algn="l"/>
            <a:endParaRPr lang="es-BO" sz="3800" dirty="0" smtClean="0"/>
          </a:p>
          <a:p>
            <a:pPr algn="l"/>
            <a:r>
              <a:rPr lang="es-ES" sz="3800" dirty="0" smtClean="0"/>
              <a:t>Las hemorroides son dilataciones de las venas del ano o de la última porción del recto, motivadas por la mala circulación en la zona .También son conocidas como almorranas se presentan cuando las venas y los vasos sanguíneos del recto y del ano se inflaman  frente a esto queda la formación de las varices son parecidas a las varices en las piernas y se presentan en forma de bultos</a:t>
            </a:r>
            <a:r>
              <a:rPr lang="es-ES" dirty="0" smtClean="0"/>
              <a:t>. </a:t>
            </a:r>
            <a:br>
              <a:rPr lang="es-ES" dirty="0" smtClean="0"/>
            </a:br>
            <a:endParaRPr lang="es-B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190611"/>
          </a:xfrm>
        </p:spPr>
        <p:txBody>
          <a:bodyPr>
            <a:normAutofit fontScale="90000"/>
          </a:bodyPr>
          <a:lstStyle/>
          <a:p>
            <a:pPr algn="l"/>
            <a:r>
              <a:rPr lang="es-ES" b="1" u="sng" dirty="0" smtClean="0"/>
              <a:t>Causas</a:t>
            </a:r>
            <a:r>
              <a:rPr lang="es-BO" b="1" dirty="0" smtClean="0"/>
              <a:t/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71472" y="1643050"/>
            <a:ext cx="8122362" cy="4714908"/>
          </a:xfrm>
        </p:spPr>
        <p:txBody>
          <a:bodyPr/>
          <a:lstStyle/>
          <a:p>
            <a:pPr algn="l"/>
            <a:r>
              <a:rPr lang="es-ES" dirty="0" smtClean="0"/>
              <a:t>Se crean por la </a:t>
            </a:r>
            <a:r>
              <a:rPr lang="es-ES" b="1" dirty="0" smtClean="0"/>
              <a:t>inflamación de los tejidos en los cuerpos cavernosos anales.</a:t>
            </a:r>
            <a:r>
              <a:rPr lang="es-ES" dirty="0" smtClean="0"/>
              <a:t> Esto sucede fundamentalmente cuando esta zona es sometida a presión. Esto puede ocurrir, por ejemplo cuando se sufre estreñimiento crónico o cuando es necesario ejercer mucha fuerza al defecar.</a:t>
            </a:r>
            <a:endParaRPr lang="es-BO" dirty="0" smtClean="0"/>
          </a:p>
          <a:p>
            <a:pPr algn="l"/>
            <a:endParaRPr lang="es-B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51170" cy="1476363"/>
          </a:xfrm>
        </p:spPr>
        <p:txBody>
          <a:bodyPr>
            <a:normAutofit fontScale="90000"/>
          </a:bodyPr>
          <a:lstStyle/>
          <a:p>
            <a:pPr algn="l"/>
            <a:r>
              <a:rPr lang="es-ES" dirty="0" smtClean="0"/>
              <a:t>Factores que favorecen el Desarrollo de la Hemorroides 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71472" y="2214554"/>
            <a:ext cx="8122362" cy="4214842"/>
          </a:xfrm>
        </p:spPr>
        <p:txBody>
          <a:bodyPr/>
          <a:lstStyle/>
          <a:p>
            <a:pPr lvl="0" algn="l">
              <a:buFont typeface="Wingdings" pitchFamily="2" charset="2"/>
              <a:buChar char="v"/>
            </a:pPr>
            <a:r>
              <a:rPr lang="es-ES" dirty="0" smtClean="0"/>
              <a:t>Debilidades congénitas de los tejidos que lleva a la debilitamiento del esfínter </a:t>
            </a:r>
            <a:endParaRPr lang="es-BO" dirty="0" smtClean="0"/>
          </a:p>
          <a:p>
            <a:pPr lvl="0" algn="l">
              <a:buFont typeface="Wingdings" pitchFamily="2" charset="2"/>
              <a:buChar char="v"/>
            </a:pPr>
            <a:r>
              <a:rPr lang="es-ES" dirty="0" smtClean="0"/>
              <a:t>Una ocupación que implique estar la mayor parte del tiempo sentado </a:t>
            </a:r>
            <a:endParaRPr lang="es-BO" dirty="0" smtClean="0"/>
          </a:p>
          <a:p>
            <a:pPr lvl="0" algn="l">
              <a:buFont typeface="Wingdings" pitchFamily="2" charset="2"/>
              <a:buChar char="v"/>
            </a:pPr>
            <a:r>
              <a:rPr lang="es-ES" dirty="0" smtClean="0"/>
              <a:t>Sobrepeso </a:t>
            </a:r>
            <a:endParaRPr lang="es-BO" dirty="0" smtClean="0"/>
          </a:p>
          <a:p>
            <a:pPr lvl="0" algn="l">
              <a:buFont typeface="Wingdings" pitchFamily="2" charset="2"/>
              <a:buChar char="v"/>
            </a:pPr>
            <a:r>
              <a:rPr lang="es-ES" dirty="0" smtClean="0"/>
              <a:t>Embarazo </a:t>
            </a:r>
            <a:endParaRPr lang="es-BO" dirty="0" smtClean="0"/>
          </a:p>
          <a:p>
            <a:pPr algn="l"/>
            <a:endParaRPr lang="es-B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333487"/>
          </a:xfrm>
        </p:spPr>
        <p:txBody>
          <a:bodyPr>
            <a:normAutofit fontScale="90000"/>
          </a:bodyPr>
          <a:lstStyle/>
          <a:p>
            <a:pPr algn="l"/>
            <a:r>
              <a:rPr lang="es-ES" b="1" u="sng" dirty="0" smtClean="0"/>
              <a:t>Síntomas</a:t>
            </a:r>
            <a:r>
              <a:rPr lang="es-BO" b="1" dirty="0" smtClean="0"/>
              <a:t/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28596" y="1357298"/>
            <a:ext cx="8265238" cy="5286412"/>
          </a:xfrm>
        </p:spPr>
        <p:txBody>
          <a:bodyPr/>
          <a:lstStyle/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Pinchazos y sensación de comezón en la zona anal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Picor en el ano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Producción de un exudado que mancha la ropa interior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Incontinencia ocasional de heces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Sensación permanente de cuerpo extraño en el canal anal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Sangrados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Dolor 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262049"/>
          </a:xfrm>
        </p:spPr>
        <p:txBody>
          <a:bodyPr>
            <a:normAutofit fontScale="90000"/>
          </a:bodyPr>
          <a:lstStyle/>
          <a:p>
            <a:pPr algn="l"/>
            <a:r>
              <a:rPr lang="es-ES" b="1" dirty="0" smtClean="0"/>
              <a:t>TIPOS DE HEMORROIDES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28596" y="1214422"/>
            <a:ext cx="8265238" cy="5286412"/>
          </a:xfrm>
        </p:spPr>
        <p:txBody>
          <a:bodyPr>
            <a:normAutofit fontScale="70000" lnSpcReduction="20000"/>
          </a:bodyPr>
          <a:lstStyle/>
          <a:p>
            <a:pPr algn="l">
              <a:buFont typeface="Wingdings" pitchFamily="2" charset="2"/>
              <a:buChar char="Ø"/>
            </a:pPr>
            <a:r>
              <a:rPr lang="es-ES" sz="3100" b="1" dirty="0" smtClean="0"/>
              <a:t>Hemorroides Internas: </a:t>
            </a:r>
            <a:endParaRPr lang="es-BO" sz="3100" dirty="0" smtClean="0"/>
          </a:p>
          <a:p>
            <a:pPr algn="l"/>
            <a:r>
              <a:rPr lang="es-ES" sz="3100" dirty="0" smtClean="0"/>
              <a:t>Se dividen en Cuatro grados.</a:t>
            </a:r>
            <a:endParaRPr lang="es-BO" sz="3100" dirty="0" smtClean="0"/>
          </a:p>
          <a:p>
            <a:pPr algn="l">
              <a:buFont typeface="Arial" pitchFamily="34" charset="0"/>
              <a:buChar char="•"/>
            </a:pPr>
            <a:r>
              <a:rPr lang="es-ES" sz="3100" b="1" dirty="0" smtClean="0"/>
              <a:t>Hemorroides grado I</a:t>
            </a:r>
            <a:endParaRPr lang="es-BO" sz="3100" dirty="0" smtClean="0"/>
          </a:p>
          <a:p>
            <a:pPr algn="l"/>
            <a:r>
              <a:rPr lang="es-ES" sz="3100" b="1" dirty="0" smtClean="0"/>
              <a:t>Ubicados encima de la línea que separa el ano y recto ocasionan sangrado al defecar.</a:t>
            </a:r>
            <a:endParaRPr lang="es-BO" sz="3100" dirty="0" smtClean="0"/>
          </a:p>
          <a:p>
            <a:pPr algn="l">
              <a:buFont typeface="Arial" pitchFamily="34" charset="0"/>
              <a:buChar char="•"/>
            </a:pPr>
            <a:r>
              <a:rPr lang="es-ES" sz="3100" b="1" dirty="0" smtClean="0"/>
              <a:t>Hemorroides grado II</a:t>
            </a:r>
            <a:endParaRPr lang="es-BO" sz="3100" b="1" dirty="0" smtClean="0"/>
          </a:p>
          <a:p>
            <a:pPr algn="l"/>
            <a:r>
              <a:rPr lang="es-ES" sz="3100" b="1" dirty="0" smtClean="0"/>
              <a:t>Aparece en el orificio anal debido al esfuerzo al defecar y desaparecen cuando cesa la presión.</a:t>
            </a:r>
            <a:endParaRPr lang="es-BO" sz="3100" dirty="0" smtClean="0"/>
          </a:p>
          <a:p>
            <a:pPr algn="l">
              <a:buFont typeface="Arial" pitchFamily="34" charset="0"/>
              <a:buChar char="•"/>
            </a:pPr>
            <a:r>
              <a:rPr lang="es-ES" sz="3100" b="1" dirty="0" smtClean="0"/>
              <a:t>Hemorroides grado III</a:t>
            </a:r>
            <a:endParaRPr lang="es-BO" sz="3100" dirty="0" smtClean="0"/>
          </a:p>
          <a:p>
            <a:pPr algn="l"/>
            <a:r>
              <a:rPr lang="es-ES" sz="3100" b="1" dirty="0" smtClean="0"/>
              <a:t>Sobre salen al defecar, deben ser introducidas de nuevo en forma manual.</a:t>
            </a:r>
            <a:endParaRPr lang="es-BO" sz="3100" dirty="0" smtClean="0"/>
          </a:p>
          <a:p>
            <a:pPr algn="l">
              <a:buFont typeface="Arial" pitchFamily="34" charset="0"/>
              <a:buChar char="•"/>
            </a:pPr>
            <a:r>
              <a:rPr lang="es-ES" sz="3100" b="1" dirty="0" smtClean="0"/>
              <a:t>   Hemorroides  Grado IV</a:t>
            </a:r>
            <a:endParaRPr lang="es-BO" sz="3100" dirty="0" smtClean="0"/>
          </a:p>
          <a:p>
            <a:pPr algn="l"/>
            <a:r>
              <a:rPr lang="es-ES" sz="3100" b="1" dirty="0" smtClean="0"/>
              <a:t>Es posible mantenerlos dentro del recto por lo que permanecen siempre fuera, lo que se conoce como PROLAPSO RECTAL.</a:t>
            </a:r>
          </a:p>
          <a:p>
            <a:pPr algn="l">
              <a:buFont typeface="Wingdings" pitchFamily="2" charset="2"/>
              <a:buChar char="Ø"/>
            </a:pPr>
            <a:r>
              <a:rPr lang="es-ES" sz="3100" b="1" dirty="0" smtClean="0"/>
              <a:t> Hemorroides Externas</a:t>
            </a:r>
            <a:endParaRPr lang="es-BO" sz="3100" dirty="0" smtClean="0"/>
          </a:p>
          <a:p>
            <a:pPr algn="l"/>
            <a:endParaRPr lang="es-BO" sz="3100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904859"/>
          </a:xfrm>
        </p:spPr>
        <p:txBody>
          <a:bodyPr/>
          <a:lstStyle/>
          <a:p>
            <a:pPr algn="l"/>
            <a:r>
              <a:rPr lang="es-ES" b="1" u="sng" dirty="0" smtClean="0"/>
              <a:t>Diagnóstico</a:t>
            </a:r>
            <a:endParaRPr lang="es-BO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14348" y="1214422"/>
            <a:ext cx="7979486" cy="5286412"/>
          </a:xfrm>
        </p:spPr>
        <p:txBody>
          <a:bodyPr>
            <a:normAutofit/>
          </a:bodyPr>
          <a:lstStyle/>
          <a:p>
            <a:pPr algn="l"/>
            <a:r>
              <a:rPr lang="es-ES" dirty="0" smtClean="0"/>
              <a:t>. Fundamentalmente si aparece sangre con la deposición, el médico deberá descartar la presencia de un tumor maligno de la zona del colon o recto (</a:t>
            </a:r>
            <a:r>
              <a:rPr lang="es-ES" dirty="0" smtClean="0">
                <a:hlinkClick r:id="rId2"/>
              </a:rPr>
              <a:t>cáncer </a:t>
            </a:r>
            <a:r>
              <a:rPr lang="es-ES" dirty="0" err="1" smtClean="0">
                <a:hlinkClick r:id="rId2"/>
              </a:rPr>
              <a:t>colorrectal</a:t>
            </a:r>
            <a:r>
              <a:rPr lang="es-ES" dirty="0" smtClean="0"/>
              <a:t>). Por este motivo, se realiza un tacto rectal de la zona anal. De este modo se palpan lesiones en esta área.</a:t>
            </a:r>
            <a:endParaRPr lang="es-BO" dirty="0" smtClean="0"/>
          </a:p>
          <a:p>
            <a:pPr algn="l"/>
            <a:r>
              <a:rPr lang="es-ES" dirty="0" smtClean="0"/>
              <a:t>Para confirmar el diagnóstico se puede realizar una visualización con una cámara en la zona del ano (proctoscopia) y del recto (rectoscopia).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333487"/>
          </a:xfrm>
        </p:spPr>
        <p:txBody>
          <a:bodyPr>
            <a:normAutofit fontScale="90000"/>
          </a:bodyPr>
          <a:lstStyle/>
          <a:p>
            <a:pPr algn="l"/>
            <a:r>
              <a:rPr lang="es-ES" b="1" dirty="0" smtClean="0"/>
              <a:t>Tratamiento</a:t>
            </a:r>
            <a:r>
              <a:rPr lang="es-BO" b="1" dirty="0" smtClean="0"/>
              <a:t/>
            </a:r>
            <a:br>
              <a:rPr lang="es-BO" b="1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42910" y="1071546"/>
            <a:ext cx="8050924" cy="5286412"/>
          </a:xfrm>
        </p:spPr>
        <p:txBody>
          <a:bodyPr>
            <a:normAutofit lnSpcReduction="10000"/>
          </a:bodyPr>
          <a:lstStyle/>
          <a:p>
            <a:pPr algn="l"/>
            <a:r>
              <a:rPr lang="es-ES" dirty="0" smtClean="0"/>
              <a:t>El tratamiento dependerá de la gravedad de los síntomas.</a:t>
            </a:r>
            <a:endParaRPr lang="es-BO" dirty="0" smtClean="0"/>
          </a:p>
          <a:p>
            <a:pPr algn="l"/>
            <a:r>
              <a:rPr lang="es-ES" b="1" dirty="0" smtClean="0"/>
              <a:t>Combatir el estreñimiento:</a:t>
            </a:r>
            <a:endParaRPr lang="es-BO" dirty="0" smtClean="0"/>
          </a:p>
          <a:p>
            <a:pPr algn="l"/>
            <a:r>
              <a:rPr lang="es-ES" dirty="0" smtClean="0"/>
              <a:t>Un paciente puede hacer mucho para tratar las hemorroides. Unos cuantos cambios en los hábitos de vida y algunos remedios caseros pueden mejorar las molestias. Si se sufre estreñimiento, los siguientes consejos pueden ser de ayuda: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Realizar ejercicio de forma regular.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Mantener una alimentación equilibrada y rica en fibra, verduras y fruta.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Evitar los alimentos que produzcan gases. </a:t>
            </a:r>
            <a:endParaRPr lang="es-BO" dirty="0" smtClean="0"/>
          </a:p>
          <a:p>
            <a:pPr lvl="0" algn="l">
              <a:buFont typeface="Wingdings" pitchFamily="2" charset="2"/>
              <a:buChar char="Ø"/>
            </a:pPr>
            <a:r>
              <a:rPr lang="es-ES" dirty="0" smtClean="0"/>
              <a:t>Beber suficiente líquido. Entre 1,5 y 2 litros al día. </a:t>
            </a:r>
            <a:endParaRPr lang="es-BO" dirty="0" smtClean="0"/>
          </a:p>
          <a:p>
            <a:pPr>
              <a:buFont typeface="Wingdings" pitchFamily="2" charset="2"/>
              <a:buChar char="Ø"/>
            </a:pP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404925"/>
          </a:xfrm>
        </p:spPr>
        <p:txBody>
          <a:bodyPr>
            <a:normAutofit fontScale="90000"/>
          </a:bodyPr>
          <a:lstStyle/>
          <a:p>
            <a:pPr algn="l"/>
            <a:r>
              <a:rPr lang="es-BO" b="1" dirty="0" err="1" smtClean="0"/>
              <a:t>Hemorroidectomia</a:t>
            </a:r>
            <a:r>
              <a:rPr lang="es-BO" b="1" dirty="0" smtClean="0"/>
              <a:t>.-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42910" y="1428736"/>
            <a:ext cx="8050924" cy="5000660"/>
          </a:xfrm>
        </p:spPr>
        <p:txBody>
          <a:bodyPr/>
          <a:lstStyle/>
          <a:p>
            <a:pPr algn="l"/>
            <a:r>
              <a:rPr lang="es-BO" dirty="0" smtClean="0"/>
              <a:t>La </a:t>
            </a:r>
            <a:r>
              <a:rPr lang="es-BO" dirty="0" err="1" smtClean="0"/>
              <a:t>hemorroidectomía</a:t>
            </a:r>
            <a:r>
              <a:rPr lang="es-BO" dirty="0" smtClean="0"/>
              <a:t> es una incisión quirúrgica o extracción de una hemorroide. En este procedimiento, la vena dilatada dentro de la hemorroide se ata para evitar el sangrado, después de lo cual la hemorroide se cortará.</a:t>
            </a:r>
          </a:p>
          <a:p>
            <a:pPr algn="l"/>
            <a:r>
              <a:rPr lang="es-BO" dirty="0" smtClean="0"/>
              <a:t>La cirugía de hemorroides empleada para quitar las venas que se han hinchado o dilatado alrededor del ano.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142853"/>
            <a:ext cx="8229600" cy="1643073"/>
          </a:xfrm>
        </p:spPr>
        <p:txBody>
          <a:bodyPr>
            <a:normAutofit fontScale="90000"/>
          </a:bodyPr>
          <a:lstStyle/>
          <a:p>
            <a:pPr algn="l"/>
            <a:r>
              <a:rPr lang="es-BO" b="1" dirty="0" smtClean="0"/>
              <a:t>Indicaciones</a:t>
            </a:r>
            <a:r>
              <a:rPr lang="es-BO" dirty="0" smtClean="0"/>
              <a:t> para una </a:t>
            </a:r>
            <a:r>
              <a:rPr lang="es-BO" dirty="0" err="1" smtClean="0"/>
              <a:t>Cirugia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00034" y="1500174"/>
            <a:ext cx="8193800" cy="4643470"/>
          </a:xfrm>
        </p:spPr>
        <p:txBody>
          <a:bodyPr>
            <a:normAutofit/>
          </a:bodyPr>
          <a:lstStyle/>
          <a:p>
            <a:pPr algn="l"/>
            <a:r>
              <a:rPr lang="es-BO" dirty="0" smtClean="0"/>
              <a:t>La intervención de hemorroides se recomienda cuando los tratamientos médicos (dieta rica en fibra, laxantes, supositorios, otras medicaciones, baños de asiento,...) no han conseguido resultados. En este caso persistirán los síntomas:</a:t>
            </a:r>
          </a:p>
          <a:p>
            <a:pPr lvl="0" algn="l">
              <a:buFont typeface="Wingdings" pitchFamily="2" charset="2"/>
              <a:buChar char="Ø"/>
            </a:pPr>
            <a:r>
              <a:rPr lang="es-BO" dirty="0" smtClean="0"/>
              <a:t>Picor en el ano.</a:t>
            </a:r>
          </a:p>
          <a:p>
            <a:pPr lvl="0" algn="l">
              <a:buFont typeface="Wingdings" pitchFamily="2" charset="2"/>
              <a:buChar char="Ø"/>
            </a:pPr>
            <a:r>
              <a:rPr lang="es-BO" dirty="0" smtClean="0"/>
              <a:t>Hemorragia anal.</a:t>
            </a:r>
          </a:p>
          <a:p>
            <a:pPr lvl="0" algn="l">
              <a:buFont typeface="Wingdings" pitchFamily="2" charset="2"/>
              <a:buChar char="Ø"/>
            </a:pPr>
            <a:r>
              <a:rPr lang="es-BO" dirty="0" smtClean="0"/>
              <a:t>Dolor.</a:t>
            </a:r>
          </a:p>
          <a:p>
            <a:pPr lvl="0" algn="l">
              <a:buFont typeface="Wingdings" pitchFamily="2" charset="2"/>
              <a:buChar char="Ø"/>
            </a:pPr>
            <a:r>
              <a:rPr lang="es-BO" dirty="0" smtClean="0"/>
              <a:t>Presencia de sangre coagulada (trombosis del hemorroides).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58204" cy="1110808"/>
          </a:xfrm>
        </p:spPr>
        <p:txBody>
          <a:bodyPr>
            <a:normAutofit fontScale="90000"/>
          </a:bodyPr>
          <a:lstStyle/>
          <a:p>
            <a:pPr algn="l"/>
            <a:r>
              <a:rPr lang="es-BO" b="1" dirty="0" smtClean="0"/>
              <a:t>Riesgos de la cirugía</a:t>
            </a:r>
            <a:r>
              <a:rPr lang="es-BO" dirty="0" smtClean="0"/>
              <a:t> </a:t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600905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s-BO" sz="3600" dirty="0" smtClean="0"/>
              <a:t>Reacciones a la medicación.</a:t>
            </a:r>
          </a:p>
          <a:p>
            <a:pPr lvl="0">
              <a:buFont typeface="Wingdings" pitchFamily="2" charset="2"/>
              <a:buChar char="v"/>
            </a:pPr>
            <a:r>
              <a:rPr lang="es-BO" sz="3600" dirty="0" smtClean="0"/>
              <a:t>Problemas respiratorios.</a:t>
            </a:r>
          </a:p>
          <a:p>
            <a:pPr lvl="0">
              <a:buFont typeface="Wingdings" pitchFamily="2" charset="2"/>
              <a:buChar char="v"/>
            </a:pPr>
            <a:r>
              <a:rPr lang="es-BO" sz="3600" dirty="0" smtClean="0"/>
              <a:t>Hemorragias.</a:t>
            </a:r>
          </a:p>
          <a:p>
            <a:pPr lvl="0">
              <a:buFont typeface="Wingdings" pitchFamily="2" charset="2"/>
              <a:buChar char="v"/>
            </a:pPr>
            <a:r>
              <a:rPr lang="es-BO" sz="3600" dirty="0" smtClean="0"/>
              <a:t>Infecciones.</a:t>
            </a:r>
          </a:p>
          <a:p>
            <a:pPr lvl="0">
              <a:buFont typeface="Wingdings" pitchFamily="2" charset="2"/>
              <a:buChar char="v"/>
            </a:pPr>
            <a:r>
              <a:rPr lang="es-BO" sz="3600" dirty="0" smtClean="0"/>
              <a:t>Riesgos adicionales.</a:t>
            </a:r>
          </a:p>
          <a:p>
            <a:pPr>
              <a:buFont typeface="Wingdings" pitchFamily="2" charset="2"/>
              <a:buChar char="v"/>
            </a:pPr>
            <a:r>
              <a:rPr lang="es-BO" sz="3600" dirty="0" smtClean="0"/>
              <a:t>Posible estrechamiento del ano</a:t>
            </a:r>
            <a:endParaRPr lang="es-BO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333487"/>
          </a:xfrm>
        </p:spPr>
        <p:txBody>
          <a:bodyPr>
            <a:normAutofit fontScale="90000"/>
          </a:bodyPr>
          <a:lstStyle/>
          <a:p>
            <a:pPr algn="l"/>
            <a:r>
              <a:rPr lang="es-BO" b="1" dirty="0" smtClean="0"/>
              <a:t>OBJETIVOS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00034" y="1285860"/>
            <a:ext cx="8193800" cy="4572032"/>
          </a:xfrm>
        </p:spPr>
        <p:txBody>
          <a:bodyPr>
            <a:normAutofit fontScale="77500" lnSpcReduction="20000"/>
          </a:bodyPr>
          <a:lstStyle/>
          <a:p>
            <a:pPr lvl="0" algn="l">
              <a:buFont typeface="Wingdings" pitchFamily="2" charset="2"/>
              <a:buChar char="v"/>
            </a:pPr>
            <a:r>
              <a:rPr lang="es-BO" sz="3900" dirty="0" smtClean="0"/>
              <a:t>Ayudar al paciente a tener patrones de eliminación normal </a:t>
            </a:r>
          </a:p>
          <a:p>
            <a:pPr lvl="0" algn="l">
              <a:buFont typeface="Wingdings" pitchFamily="2" charset="2"/>
              <a:buChar char="v"/>
            </a:pPr>
            <a:r>
              <a:rPr lang="es-BO" sz="3900" dirty="0" smtClean="0"/>
              <a:t>Aliviar el dolor </a:t>
            </a:r>
          </a:p>
          <a:p>
            <a:pPr lvl="0" algn="l">
              <a:buFont typeface="Wingdings" pitchFamily="2" charset="2"/>
              <a:buChar char="v"/>
            </a:pPr>
            <a:r>
              <a:rPr lang="es-BO" sz="3900" dirty="0" smtClean="0"/>
              <a:t>Prevenir hemorragias evitando las complicaciones. </a:t>
            </a:r>
          </a:p>
          <a:p>
            <a:pPr lvl="0" algn="l">
              <a:buFont typeface="Wingdings" pitchFamily="2" charset="2"/>
              <a:buChar char="v"/>
            </a:pPr>
            <a:r>
              <a:rPr lang="es-BO" sz="3900" dirty="0" smtClean="0"/>
              <a:t>Educar al paciente y familia acerca de su enfermedad para el tratamiento del régimen terapéutico. </a:t>
            </a:r>
          </a:p>
          <a:p>
            <a:pPr lvl="0" algn="l">
              <a:buFont typeface="Wingdings" pitchFamily="2" charset="2"/>
              <a:buChar char="v"/>
            </a:pPr>
            <a:r>
              <a:rPr lang="es-BO" sz="3900" dirty="0" smtClean="0"/>
              <a:t>Brindar una atención de calidad al paciente</a:t>
            </a:r>
            <a:r>
              <a:rPr lang="es-BO" dirty="0" smtClean="0"/>
              <a:t>. </a:t>
            </a:r>
          </a:p>
          <a:p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1762115"/>
          </a:xfrm>
        </p:spPr>
        <p:txBody>
          <a:bodyPr>
            <a:noAutofit/>
          </a:bodyPr>
          <a:lstStyle/>
          <a:p>
            <a:pPr algn="l"/>
            <a:r>
              <a:rPr lang="es-BO" sz="4000" b="1" dirty="0" smtClean="0"/>
              <a:t>INTERVENCIONES DE ENFERMERIA</a:t>
            </a:r>
            <a:r>
              <a:rPr lang="es-BO" sz="4000" dirty="0" smtClean="0"/>
              <a:t/>
            </a:r>
            <a:br>
              <a:rPr lang="es-BO" sz="4000" dirty="0" smtClean="0"/>
            </a:br>
            <a:endParaRPr lang="es-BO" sz="4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14282" y="1643050"/>
            <a:ext cx="8479552" cy="485778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ES" sz="3300" dirty="0" smtClean="0"/>
              <a:t>- Corregir el estreñimiento añadiendo fibra a la dieta : pan integral , cereales , frutas , verduras , etc... , líquidos abundantes. Corregir las diarreas. </a:t>
            </a:r>
            <a:br>
              <a:rPr lang="es-ES" sz="3300" dirty="0" smtClean="0"/>
            </a:br>
            <a:r>
              <a:rPr lang="es-ES" sz="3300" dirty="0" smtClean="0"/>
              <a:t>- Evitar las comidas muy sazonadas y el consumo excesivo de alcohol.- Evitar esfuerzos a la hora de defecar, reducir el tiempo de defecación y usar papel higiénico suave. </a:t>
            </a:r>
            <a:br>
              <a:rPr lang="es-ES" sz="3300" dirty="0" smtClean="0"/>
            </a:br>
            <a:r>
              <a:rPr lang="es-ES" sz="3300" dirty="0" smtClean="0"/>
              <a:t>- Aplicar hielo o compresas de agua fría en la fase aguda, el frío disminuye el hinchazón.- Baños de asiento en el bidet, con agua fría o ligeramente tibia, nunca muy caliente</a:t>
            </a:r>
            <a:r>
              <a:rPr lang="es-ES" dirty="0" smtClean="0"/>
              <a:t>. </a:t>
            </a:r>
            <a:br>
              <a:rPr lang="es-ES" dirty="0" smtClean="0"/>
            </a:b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743913"/>
          </a:xfrm>
        </p:spPr>
        <p:txBody>
          <a:bodyPr>
            <a:normAutofit fontScale="92500"/>
          </a:bodyPr>
          <a:lstStyle/>
          <a:p>
            <a:pPr>
              <a:buFontTx/>
              <a:buChar char="-"/>
            </a:pPr>
            <a:r>
              <a:rPr lang="es-ES" dirty="0" smtClean="0"/>
              <a:t>-Lavado rápido con jabón neutro, con la yema de los dedos aplicarlo, después secar presionando con la toalla sobre la zona. </a:t>
            </a:r>
            <a:br>
              <a:rPr lang="es-ES" dirty="0" smtClean="0"/>
            </a:br>
            <a:r>
              <a:rPr lang="es-ES" dirty="0" smtClean="0"/>
              <a:t>- Si las hemorroides está fuera y no se pueden introducir. , procurar que no toque la ropa interior, colocar un algodón embadurnado con una pasta neutra. </a:t>
            </a:r>
          </a:p>
          <a:p>
            <a:pPr>
              <a:buFontTx/>
              <a:buChar char="-"/>
            </a:pPr>
            <a:r>
              <a:rPr lang="es-ES" dirty="0" smtClean="0"/>
              <a:t>Alimentos y bebidas desaconsejados : </a:t>
            </a:r>
            <a:br>
              <a:rPr lang="es-ES" dirty="0" smtClean="0"/>
            </a:br>
            <a:r>
              <a:rPr lang="es-ES" dirty="0" smtClean="0"/>
              <a:t>Alcohol , picantes (pimienta , mostaza , chile) , bebidas carbónicas o gaseosas , ácidos en exceso (vinagre , cítricos (naranja , limón , Kiwi)) , salazones (arenques , quesos fuertes , aceitunas , anchoas ) , Chocolate , frutos secos , mariscos y café en grandes cantidades .</a:t>
            </a:r>
          </a:p>
          <a:p>
            <a:pPr>
              <a:buFontTx/>
              <a:buChar char="-"/>
            </a:pPr>
            <a:r>
              <a:rPr lang="es-ES" dirty="0" smtClean="0"/>
              <a:t> - Ante una crisis -aguda: Reposo en cama, elevación de la pelvis con la almohada</a:t>
            </a:r>
            <a:r>
              <a:rPr lang="es-ES" smtClean="0"/>
              <a:t>, régimen.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87</TotalTime>
  <Words>712</Words>
  <Application>Microsoft Office PowerPoint</Application>
  <PresentationFormat>Presentación en pantalla (4:3)</PresentationFormat>
  <Paragraphs>71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Flujo</vt:lpstr>
      <vt:lpstr>PROTOCOLO EN PACIENTES  CON  HEMORROIDECTOMIA</vt:lpstr>
      <vt:lpstr>Causas </vt:lpstr>
      <vt:lpstr>Factores que favorecen el Desarrollo de la Hemorroides </vt:lpstr>
      <vt:lpstr>Síntomas </vt:lpstr>
      <vt:lpstr>TIPOS DE HEMORROIDES </vt:lpstr>
      <vt:lpstr>Diagnóstico</vt:lpstr>
      <vt:lpstr>Tratamiento </vt:lpstr>
      <vt:lpstr>Hemorroidectomia.- </vt:lpstr>
      <vt:lpstr>Indicaciones para una Cirugia </vt:lpstr>
      <vt:lpstr>Riesgos de la cirugía  </vt:lpstr>
      <vt:lpstr>OBJETIVOS </vt:lpstr>
      <vt:lpstr>INTERVENCIONES DE ENFERMERIA </vt:lpstr>
      <vt:lpstr>Diapositiva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EN PACIENTES  CON  HEMORROIDECTOMIA</dc:title>
  <dc:creator>Jaime</dc:creator>
  <cp:lastModifiedBy>ALSIE CONSULTORES</cp:lastModifiedBy>
  <cp:revision>2</cp:revision>
  <dcterms:created xsi:type="dcterms:W3CDTF">2014-05-31T06:24:36Z</dcterms:created>
  <dcterms:modified xsi:type="dcterms:W3CDTF">2014-05-31T14:18:06Z</dcterms:modified>
</cp:coreProperties>
</file>