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B6B07C-A7AD-4F09-A255-D8CEE7F29BC7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A31B345-E896-4391-A300-4A76ACC42DEF}">
      <dgm:prSet phldrT="[Texto]"/>
      <dgm:spPr/>
      <dgm:t>
        <a:bodyPr/>
        <a:lstStyle/>
        <a:p>
          <a:r>
            <a:rPr lang="es-ES" b="1" dirty="0" smtClean="0">
              <a:solidFill>
                <a:schemeClr val="tx1"/>
              </a:solidFill>
            </a:rPr>
            <a:t>HEMORROIDECTOMIA </a:t>
          </a:r>
          <a:endParaRPr lang="es-ES" b="1" dirty="0">
            <a:solidFill>
              <a:schemeClr val="tx1"/>
            </a:solidFill>
          </a:endParaRPr>
        </a:p>
      </dgm:t>
    </dgm:pt>
    <dgm:pt modelId="{C0F690CB-543B-4396-BBEB-AD01331985E8}" type="parTrans" cxnId="{A1CBB7B7-45C0-41BC-99FC-63FE6D875B03}">
      <dgm:prSet/>
      <dgm:spPr/>
      <dgm:t>
        <a:bodyPr/>
        <a:lstStyle/>
        <a:p>
          <a:endParaRPr lang="es-ES"/>
        </a:p>
      </dgm:t>
    </dgm:pt>
    <dgm:pt modelId="{1B43CC55-7C18-4E15-83D7-79F3D4C16FFF}" type="sibTrans" cxnId="{A1CBB7B7-45C0-41BC-99FC-63FE6D875B03}">
      <dgm:prSet/>
      <dgm:spPr/>
      <dgm:t>
        <a:bodyPr/>
        <a:lstStyle/>
        <a:p>
          <a:endParaRPr lang="es-ES"/>
        </a:p>
      </dgm:t>
    </dgm:pt>
    <dgm:pt modelId="{FE077B70-E7E4-4A7B-BEC6-7C1EC5505F65}">
      <dgm:prSet/>
      <dgm:spPr/>
      <dgm:t>
        <a:bodyPr/>
        <a:lstStyle/>
        <a:p>
          <a:r>
            <a:rPr lang="es-ES" dirty="0" smtClean="0"/>
            <a:t>Es la extirpación de los paquetes hemorroidales  que está indicado en las hemorroides  grados III y IV, también está indicada  la </a:t>
          </a:r>
          <a:r>
            <a:rPr lang="es-ES" dirty="0" err="1" smtClean="0"/>
            <a:t>hemorroidectomia</a:t>
          </a:r>
          <a:r>
            <a:rPr lang="es-ES" dirty="0" smtClean="0"/>
            <a:t>  en las hemorroides sintomáticas  de grado I y II cuando se asocian a otras patologías anales  como fisura, fistulas perianales, hipertrofia papilar</a:t>
          </a:r>
          <a:endParaRPr lang="es-ES" dirty="0"/>
        </a:p>
      </dgm:t>
    </dgm:pt>
    <dgm:pt modelId="{68C9DB34-CEFE-48F6-AF2E-D62F896816A8}" type="parTrans" cxnId="{B38F9616-F2B0-46D3-A773-27794D0B7CDE}">
      <dgm:prSet/>
      <dgm:spPr/>
      <dgm:t>
        <a:bodyPr/>
        <a:lstStyle/>
        <a:p>
          <a:endParaRPr lang="es-ES"/>
        </a:p>
      </dgm:t>
    </dgm:pt>
    <dgm:pt modelId="{9DCF3F9A-FA7C-448A-95F3-F4144A71F310}" type="sibTrans" cxnId="{B38F9616-F2B0-46D3-A773-27794D0B7CDE}">
      <dgm:prSet/>
      <dgm:spPr/>
      <dgm:t>
        <a:bodyPr/>
        <a:lstStyle/>
        <a:p>
          <a:endParaRPr lang="es-ES"/>
        </a:p>
      </dgm:t>
    </dgm:pt>
    <dgm:pt modelId="{562C4291-DC4C-4D60-9699-571C8BB04758}" type="pres">
      <dgm:prSet presAssocID="{90B6B07C-A7AD-4F09-A255-D8CEE7F29BC7}" presName="linearFlow" presStyleCnt="0">
        <dgm:presLayoutVars>
          <dgm:dir/>
          <dgm:animLvl val="lvl"/>
          <dgm:resizeHandles val="exact"/>
        </dgm:presLayoutVars>
      </dgm:prSet>
      <dgm:spPr/>
    </dgm:pt>
    <dgm:pt modelId="{EE32D841-C671-4EC9-8AC5-68A1FF47726B}" type="pres">
      <dgm:prSet presAssocID="{AA31B345-E896-4391-A300-4A76ACC42DEF}" presName="composite" presStyleCnt="0"/>
      <dgm:spPr/>
    </dgm:pt>
    <dgm:pt modelId="{FA1AE219-4A79-43C6-92B6-2E2A0B174CCC}" type="pres">
      <dgm:prSet presAssocID="{AA31B345-E896-4391-A300-4A76ACC42DEF}" presName="parentText" presStyleLbl="alignNode1" presStyleIdx="0" presStyleCnt="1" custLinFactNeighborX="-15156" custLinFactNeighborY="-2022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5C25973-6365-4852-AE44-7B679B4C1853}" type="pres">
      <dgm:prSet presAssocID="{AA31B345-E896-4391-A300-4A76ACC42DEF}" presName="descendantText" presStyleLbl="alignAcc1" presStyleIdx="0" presStyleCnt="1" custLinFactNeighborX="331" custLinFactNeighborY="102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6FA756C-79EE-4B30-A258-65A9B40252E2}" type="presOf" srcId="{90B6B07C-A7AD-4F09-A255-D8CEE7F29BC7}" destId="{562C4291-DC4C-4D60-9699-571C8BB04758}" srcOrd="0" destOrd="0" presId="urn:microsoft.com/office/officeart/2005/8/layout/chevron2"/>
    <dgm:cxn modelId="{16A93098-E241-40B4-A964-6B7EAEAEB587}" type="presOf" srcId="{AA31B345-E896-4391-A300-4A76ACC42DEF}" destId="{FA1AE219-4A79-43C6-92B6-2E2A0B174CCC}" srcOrd="0" destOrd="0" presId="urn:microsoft.com/office/officeart/2005/8/layout/chevron2"/>
    <dgm:cxn modelId="{B38F9616-F2B0-46D3-A773-27794D0B7CDE}" srcId="{AA31B345-E896-4391-A300-4A76ACC42DEF}" destId="{FE077B70-E7E4-4A7B-BEC6-7C1EC5505F65}" srcOrd="0" destOrd="0" parTransId="{68C9DB34-CEFE-48F6-AF2E-D62F896816A8}" sibTransId="{9DCF3F9A-FA7C-448A-95F3-F4144A71F310}"/>
    <dgm:cxn modelId="{650F84C1-DC1B-45AE-B5EF-322CC252D4D4}" type="presOf" srcId="{FE077B70-E7E4-4A7B-BEC6-7C1EC5505F65}" destId="{15C25973-6365-4852-AE44-7B679B4C1853}" srcOrd="0" destOrd="0" presId="urn:microsoft.com/office/officeart/2005/8/layout/chevron2"/>
    <dgm:cxn modelId="{A1CBB7B7-45C0-41BC-99FC-63FE6D875B03}" srcId="{90B6B07C-A7AD-4F09-A255-D8CEE7F29BC7}" destId="{AA31B345-E896-4391-A300-4A76ACC42DEF}" srcOrd="0" destOrd="0" parTransId="{C0F690CB-543B-4396-BBEB-AD01331985E8}" sibTransId="{1B43CC55-7C18-4E15-83D7-79F3D4C16FFF}"/>
    <dgm:cxn modelId="{6D8461AE-FBCF-4813-B847-C51A240DDD44}" type="presParOf" srcId="{562C4291-DC4C-4D60-9699-571C8BB04758}" destId="{EE32D841-C671-4EC9-8AC5-68A1FF47726B}" srcOrd="0" destOrd="0" presId="urn:microsoft.com/office/officeart/2005/8/layout/chevron2"/>
    <dgm:cxn modelId="{D8FC7DAB-7DE9-4209-82D6-73B4AE0A1E4B}" type="presParOf" srcId="{EE32D841-C671-4EC9-8AC5-68A1FF47726B}" destId="{FA1AE219-4A79-43C6-92B6-2E2A0B174CCC}" srcOrd="0" destOrd="0" presId="urn:microsoft.com/office/officeart/2005/8/layout/chevron2"/>
    <dgm:cxn modelId="{09E79D49-04F3-4966-B31D-BB2D4830E28C}" type="presParOf" srcId="{EE32D841-C671-4EC9-8AC5-68A1FF47726B}" destId="{15C25973-6365-4852-AE44-7B679B4C185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137DF1-8BDF-4346-82AE-87318C1F68A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6D449B9-AE54-4A12-A297-D16961232C66}">
      <dgm:prSet phldrT="[Texto]"/>
      <dgm:spPr/>
      <dgm:t>
        <a:bodyPr/>
        <a:lstStyle/>
        <a:p>
          <a:r>
            <a:rPr lang="es-ES" b="1" dirty="0" smtClean="0">
              <a:solidFill>
                <a:schemeClr val="tx1"/>
              </a:solidFill>
            </a:rPr>
            <a:t>Reducir los riesgos de infección durante el procedimiento quirúrgico</a:t>
          </a:r>
          <a:endParaRPr lang="es-ES" b="1" dirty="0">
            <a:solidFill>
              <a:schemeClr val="tx1"/>
            </a:solidFill>
          </a:endParaRPr>
        </a:p>
      </dgm:t>
    </dgm:pt>
    <dgm:pt modelId="{852B5113-8689-4060-86E0-75FDBFF25439}" type="parTrans" cxnId="{2BB9C6CC-EFCF-4F97-AB11-C7EBD12BE97A}">
      <dgm:prSet/>
      <dgm:spPr/>
      <dgm:t>
        <a:bodyPr/>
        <a:lstStyle/>
        <a:p>
          <a:endParaRPr lang="es-ES"/>
        </a:p>
      </dgm:t>
    </dgm:pt>
    <dgm:pt modelId="{7512FF43-F689-481C-9318-241E778B2F59}" type="sibTrans" cxnId="{2BB9C6CC-EFCF-4F97-AB11-C7EBD12BE97A}">
      <dgm:prSet/>
      <dgm:spPr/>
      <dgm:t>
        <a:bodyPr/>
        <a:lstStyle/>
        <a:p>
          <a:endParaRPr lang="es-ES"/>
        </a:p>
      </dgm:t>
    </dgm:pt>
    <dgm:pt modelId="{FB035886-A980-4713-B39B-815F157E969F}">
      <dgm:prSet/>
      <dgm:spPr/>
      <dgm:t>
        <a:bodyPr/>
        <a:lstStyle/>
        <a:p>
          <a:r>
            <a:rPr lang="es-ES" b="1" dirty="0" smtClean="0">
              <a:solidFill>
                <a:schemeClr val="tx1"/>
              </a:solidFill>
            </a:rPr>
            <a:t>Mantener al paciente libre de lesión como consecuencia de postura o equipo usado durante un procedimiento quirúrgico/invasivo.</a:t>
          </a:r>
          <a:endParaRPr lang="es-ES" b="1" dirty="0">
            <a:solidFill>
              <a:schemeClr val="tx1"/>
            </a:solidFill>
          </a:endParaRPr>
        </a:p>
      </dgm:t>
    </dgm:pt>
    <dgm:pt modelId="{6F9E2B12-FC3E-4FBC-B7E4-8149BD53BECE}" type="parTrans" cxnId="{36104BB0-CABC-42A2-8184-1C923D30606D}">
      <dgm:prSet/>
      <dgm:spPr/>
      <dgm:t>
        <a:bodyPr/>
        <a:lstStyle/>
        <a:p>
          <a:endParaRPr lang="es-ES"/>
        </a:p>
      </dgm:t>
    </dgm:pt>
    <dgm:pt modelId="{8927258F-6086-410B-8932-9EB5245F6C61}" type="sibTrans" cxnId="{36104BB0-CABC-42A2-8184-1C923D30606D}">
      <dgm:prSet/>
      <dgm:spPr/>
      <dgm:t>
        <a:bodyPr/>
        <a:lstStyle/>
        <a:p>
          <a:endParaRPr lang="es-ES"/>
        </a:p>
      </dgm:t>
    </dgm:pt>
    <dgm:pt modelId="{0AED470D-9843-4980-B5F9-FF6ABE50B276}">
      <dgm:prSet/>
      <dgm:spPr/>
      <dgm:t>
        <a:bodyPr/>
        <a:lstStyle/>
        <a:p>
          <a:r>
            <a:rPr lang="es-ES" b="1" dirty="0" smtClean="0">
              <a:solidFill>
                <a:schemeClr val="tx1"/>
              </a:solidFill>
            </a:rPr>
            <a:t>Mantener la temperatura corporal media durante la cirugía </a:t>
          </a:r>
          <a:endParaRPr lang="es-ES" b="1" dirty="0">
            <a:solidFill>
              <a:schemeClr val="tx1"/>
            </a:solidFill>
          </a:endParaRPr>
        </a:p>
      </dgm:t>
    </dgm:pt>
    <dgm:pt modelId="{8D822200-B0B6-43B6-BF2E-45F5F68B8619}" type="parTrans" cxnId="{3600E992-E058-47EE-8D55-8CF7B51F9254}">
      <dgm:prSet/>
      <dgm:spPr/>
      <dgm:t>
        <a:bodyPr/>
        <a:lstStyle/>
        <a:p>
          <a:endParaRPr lang="es-ES"/>
        </a:p>
      </dgm:t>
    </dgm:pt>
    <dgm:pt modelId="{37709841-76E6-4487-BF28-8FAE02AC1020}" type="sibTrans" cxnId="{3600E992-E058-47EE-8D55-8CF7B51F9254}">
      <dgm:prSet/>
      <dgm:spPr/>
      <dgm:t>
        <a:bodyPr/>
        <a:lstStyle/>
        <a:p>
          <a:endParaRPr lang="es-ES"/>
        </a:p>
      </dgm:t>
    </dgm:pt>
    <dgm:pt modelId="{4DEE049D-6BF4-44ED-AD49-A1D8FD4714F0}">
      <dgm:prSet/>
      <dgm:spPr/>
      <dgm:t>
        <a:bodyPr/>
        <a:lstStyle/>
        <a:p>
          <a:r>
            <a:rPr lang="es-ES" b="1" dirty="0" smtClean="0">
              <a:solidFill>
                <a:schemeClr val="tx1"/>
              </a:solidFill>
            </a:rPr>
            <a:t>Mantener un equilibrio hidroelectrolítico </a:t>
          </a:r>
          <a:endParaRPr lang="es-ES" b="1" dirty="0">
            <a:solidFill>
              <a:schemeClr val="tx1"/>
            </a:solidFill>
          </a:endParaRPr>
        </a:p>
      </dgm:t>
    </dgm:pt>
    <dgm:pt modelId="{793D9C1A-0F1E-407B-A24F-3C0AC71A35C3}" type="parTrans" cxnId="{76077825-9C1C-40D2-9B34-D9F25B071478}">
      <dgm:prSet/>
      <dgm:spPr/>
      <dgm:t>
        <a:bodyPr/>
        <a:lstStyle/>
        <a:p>
          <a:endParaRPr lang="es-ES"/>
        </a:p>
      </dgm:t>
    </dgm:pt>
    <dgm:pt modelId="{25D3D1B5-3F71-4507-9DF8-C6F75210CDEE}" type="sibTrans" cxnId="{76077825-9C1C-40D2-9B34-D9F25B071478}">
      <dgm:prSet/>
      <dgm:spPr/>
      <dgm:t>
        <a:bodyPr/>
        <a:lstStyle/>
        <a:p>
          <a:endParaRPr lang="es-ES"/>
        </a:p>
      </dgm:t>
    </dgm:pt>
    <dgm:pt modelId="{F99E3AF7-2BC4-4250-BC66-92CECC110C10}" type="pres">
      <dgm:prSet presAssocID="{86137DF1-8BDF-4346-82AE-87318C1F68A6}" presName="Name0" presStyleCnt="0">
        <dgm:presLayoutVars>
          <dgm:chMax val="7"/>
          <dgm:chPref val="7"/>
          <dgm:dir/>
        </dgm:presLayoutVars>
      </dgm:prSet>
      <dgm:spPr/>
    </dgm:pt>
    <dgm:pt modelId="{3CDF648F-3B94-4E6F-B962-323A8E33F5E9}" type="pres">
      <dgm:prSet presAssocID="{86137DF1-8BDF-4346-82AE-87318C1F68A6}" presName="Name1" presStyleCnt="0"/>
      <dgm:spPr/>
    </dgm:pt>
    <dgm:pt modelId="{AAA8F504-8ADA-4FC1-9490-0A49E6A43DE6}" type="pres">
      <dgm:prSet presAssocID="{86137DF1-8BDF-4346-82AE-87318C1F68A6}" presName="cycle" presStyleCnt="0"/>
      <dgm:spPr/>
    </dgm:pt>
    <dgm:pt modelId="{51CBFB23-0B41-4B1E-981F-CF841AE1E69A}" type="pres">
      <dgm:prSet presAssocID="{86137DF1-8BDF-4346-82AE-87318C1F68A6}" presName="srcNode" presStyleLbl="node1" presStyleIdx="0" presStyleCnt="4"/>
      <dgm:spPr/>
    </dgm:pt>
    <dgm:pt modelId="{19128A1F-0A24-4295-A668-F27325B9738A}" type="pres">
      <dgm:prSet presAssocID="{86137DF1-8BDF-4346-82AE-87318C1F68A6}" presName="conn" presStyleLbl="parChTrans1D2" presStyleIdx="0" presStyleCnt="1"/>
      <dgm:spPr/>
    </dgm:pt>
    <dgm:pt modelId="{7F0D99A4-798E-43DE-BA51-E0559EAA7B23}" type="pres">
      <dgm:prSet presAssocID="{86137DF1-8BDF-4346-82AE-87318C1F68A6}" presName="extraNode" presStyleLbl="node1" presStyleIdx="0" presStyleCnt="4"/>
      <dgm:spPr/>
    </dgm:pt>
    <dgm:pt modelId="{102CB5FD-AF54-4373-8052-1F490A666459}" type="pres">
      <dgm:prSet presAssocID="{86137DF1-8BDF-4346-82AE-87318C1F68A6}" presName="dstNode" presStyleLbl="node1" presStyleIdx="0" presStyleCnt="4"/>
      <dgm:spPr/>
    </dgm:pt>
    <dgm:pt modelId="{D16BD4AC-6EA5-45C4-84C7-3837FEC02408}" type="pres">
      <dgm:prSet presAssocID="{96D449B9-AE54-4A12-A297-D16961232C66}" presName="text_1" presStyleLbl="node1" presStyleIdx="0" presStyleCnt="4">
        <dgm:presLayoutVars>
          <dgm:bulletEnabled val="1"/>
        </dgm:presLayoutVars>
      </dgm:prSet>
      <dgm:spPr/>
    </dgm:pt>
    <dgm:pt modelId="{E137EC75-C0D0-47C9-9EB0-9F5C58237258}" type="pres">
      <dgm:prSet presAssocID="{96D449B9-AE54-4A12-A297-D16961232C66}" presName="accent_1" presStyleCnt="0"/>
      <dgm:spPr/>
    </dgm:pt>
    <dgm:pt modelId="{29552882-35B6-4538-AF9D-C0B9A075A8A3}" type="pres">
      <dgm:prSet presAssocID="{96D449B9-AE54-4A12-A297-D16961232C66}" presName="accentRepeatNode" presStyleLbl="solidFgAcc1" presStyleIdx="0" presStyleCnt="4"/>
      <dgm:spPr/>
    </dgm:pt>
    <dgm:pt modelId="{1785ECCE-36C9-43AF-84C6-31F13720DF67}" type="pres">
      <dgm:prSet presAssocID="{FB035886-A980-4713-B39B-815F157E969F}" presName="text_2" presStyleLbl="node1" presStyleIdx="1" presStyleCnt="4">
        <dgm:presLayoutVars>
          <dgm:bulletEnabled val="1"/>
        </dgm:presLayoutVars>
      </dgm:prSet>
      <dgm:spPr/>
    </dgm:pt>
    <dgm:pt modelId="{E205C8B2-EC51-461E-A4E2-8F334CA6461E}" type="pres">
      <dgm:prSet presAssocID="{FB035886-A980-4713-B39B-815F157E969F}" presName="accent_2" presStyleCnt="0"/>
      <dgm:spPr/>
    </dgm:pt>
    <dgm:pt modelId="{3B133E77-F830-4BBB-91B3-A85E574C340A}" type="pres">
      <dgm:prSet presAssocID="{FB035886-A980-4713-B39B-815F157E969F}" presName="accentRepeatNode" presStyleLbl="solidFgAcc1" presStyleIdx="1" presStyleCnt="4"/>
      <dgm:spPr/>
    </dgm:pt>
    <dgm:pt modelId="{29D75798-BC0E-47A1-BEC7-3FA739693A03}" type="pres">
      <dgm:prSet presAssocID="{0AED470D-9843-4980-B5F9-FF6ABE50B276}" presName="text_3" presStyleLbl="node1" presStyleIdx="2" presStyleCnt="4">
        <dgm:presLayoutVars>
          <dgm:bulletEnabled val="1"/>
        </dgm:presLayoutVars>
      </dgm:prSet>
      <dgm:spPr/>
    </dgm:pt>
    <dgm:pt modelId="{C2B451E5-9247-4493-B16D-0806E5156773}" type="pres">
      <dgm:prSet presAssocID="{0AED470D-9843-4980-B5F9-FF6ABE50B276}" presName="accent_3" presStyleCnt="0"/>
      <dgm:spPr/>
    </dgm:pt>
    <dgm:pt modelId="{83E77172-A0D6-473B-9BA8-F8FE28D9386A}" type="pres">
      <dgm:prSet presAssocID="{0AED470D-9843-4980-B5F9-FF6ABE50B276}" presName="accentRepeatNode" presStyleLbl="solidFgAcc1" presStyleIdx="2" presStyleCnt="4"/>
      <dgm:spPr/>
    </dgm:pt>
    <dgm:pt modelId="{1052919C-7F8D-430D-ACF2-B702EE645EBA}" type="pres">
      <dgm:prSet presAssocID="{4DEE049D-6BF4-44ED-AD49-A1D8FD4714F0}" presName="text_4" presStyleLbl="node1" presStyleIdx="3" presStyleCnt="4">
        <dgm:presLayoutVars>
          <dgm:bulletEnabled val="1"/>
        </dgm:presLayoutVars>
      </dgm:prSet>
      <dgm:spPr/>
    </dgm:pt>
    <dgm:pt modelId="{45596FEE-B148-49F5-A0E7-7E3691724A8F}" type="pres">
      <dgm:prSet presAssocID="{4DEE049D-6BF4-44ED-AD49-A1D8FD4714F0}" presName="accent_4" presStyleCnt="0"/>
      <dgm:spPr/>
    </dgm:pt>
    <dgm:pt modelId="{D67BE5D5-61F2-4F9C-AE6F-70B89F846C20}" type="pres">
      <dgm:prSet presAssocID="{4DEE049D-6BF4-44ED-AD49-A1D8FD4714F0}" presName="accentRepeatNode" presStyleLbl="solidFgAcc1" presStyleIdx="3" presStyleCnt="4"/>
      <dgm:spPr/>
    </dgm:pt>
  </dgm:ptLst>
  <dgm:cxnLst>
    <dgm:cxn modelId="{2BB9C6CC-EFCF-4F97-AB11-C7EBD12BE97A}" srcId="{86137DF1-8BDF-4346-82AE-87318C1F68A6}" destId="{96D449B9-AE54-4A12-A297-D16961232C66}" srcOrd="0" destOrd="0" parTransId="{852B5113-8689-4060-86E0-75FDBFF25439}" sibTransId="{7512FF43-F689-481C-9318-241E778B2F59}"/>
    <dgm:cxn modelId="{36104BB0-CABC-42A2-8184-1C923D30606D}" srcId="{86137DF1-8BDF-4346-82AE-87318C1F68A6}" destId="{FB035886-A980-4713-B39B-815F157E969F}" srcOrd="1" destOrd="0" parTransId="{6F9E2B12-FC3E-4FBC-B7E4-8149BD53BECE}" sibTransId="{8927258F-6086-410B-8932-9EB5245F6C61}"/>
    <dgm:cxn modelId="{B3DD57E9-8DBD-4A3B-AAF5-511ABFCCC76B}" type="presOf" srcId="{0AED470D-9843-4980-B5F9-FF6ABE50B276}" destId="{29D75798-BC0E-47A1-BEC7-3FA739693A03}" srcOrd="0" destOrd="0" presId="urn:microsoft.com/office/officeart/2008/layout/VerticalCurvedList"/>
    <dgm:cxn modelId="{76077825-9C1C-40D2-9B34-D9F25B071478}" srcId="{86137DF1-8BDF-4346-82AE-87318C1F68A6}" destId="{4DEE049D-6BF4-44ED-AD49-A1D8FD4714F0}" srcOrd="3" destOrd="0" parTransId="{793D9C1A-0F1E-407B-A24F-3C0AC71A35C3}" sibTransId="{25D3D1B5-3F71-4507-9DF8-C6F75210CDEE}"/>
    <dgm:cxn modelId="{3273D20F-E770-4813-AA67-43CCECBAE77F}" type="presOf" srcId="{4DEE049D-6BF4-44ED-AD49-A1D8FD4714F0}" destId="{1052919C-7F8D-430D-ACF2-B702EE645EBA}" srcOrd="0" destOrd="0" presId="urn:microsoft.com/office/officeart/2008/layout/VerticalCurvedList"/>
    <dgm:cxn modelId="{C4B57D5A-943D-475D-B015-6BEC2637925B}" type="presOf" srcId="{96D449B9-AE54-4A12-A297-D16961232C66}" destId="{D16BD4AC-6EA5-45C4-84C7-3837FEC02408}" srcOrd="0" destOrd="0" presId="urn:microsoft.com/office/officeart/2008/layout/VerticalCurvedList"/>
    <dgm:cxn modelId="{CAB21006-5879-4693-BABC-2EAFCE6CC87E}" type="presOf" srcId="{86137DF1-8BDF-4346-82AE-87318C1F68A6}" destId="{F99E3AF7-2BC4-4250-BC66-92CECC110C10}" srcOrd="0" destOrd="0" presId="urn:microsoft.com/office/officeart/2008/layout/VerticalCurvedList"/>
    <dgm:cxn modelId="{EBB81D31-B8D9-49F9-B166-C999C2DA1B20}" type="presOf" srcId="{FB035886-A980-4713-B39B-815F157E969F}" destId="{1785ECCE-36C9-43AF-84C6-31F13720DF67}" srcOrd="0" destOrd="0" presId="urn:microsoft.com/office/officeart/2008/layout/VerticalCurvedList"/>
    <dgm:cxn modelId="{3600E992-E058-47EE-8D55-8CF7B51F9254}" srcId="{86137DF1-8BDF-4346-82AE-87318C1F68A6}" destId="{0AED470D-9843-4980-B5F9-FF6ABE50B276}" srcOrd="2" destOrd="0" parTransId="{8D822200-B0B6-43B6-BF2E-45F5F68B8619}" sibTransId="{37709841-76E6-4487-BF28-8FAE02AC1020}"/>
    <dgm:cxn modelId="{B5DB51E2-16AE-4180-B678-07A33ADB174F}" type="presOf" srcId="{7512FF43-F689-481C-9318-241E778B2F59}" destId="{19128A1F-0A24-4295-A668-F27325B9738A}" srcOrd="0" destOrd="0" presId="urn:microsoft.com/office/officeart/2008/layout/VerticalCurvedList"/>
    <dgm:cxn modelId="{C900F2CF-60F6-4BB4-82E8-310A98C35315}" type="presParOf" srcId="{F99E3AF7-2BC4-4250-BC66-92CECC110C10}" destId="{3CDF648F-3B94-4E6F-B962-323A8E33F5E9}" srcOrd="0" destOrd="0" presId="urn:microsoft.com/office/officeart/2008/layout/VerticalCurvedList"/>
    <dgm:cxn modelId="{6162E987-7E07-433E-A219-AD5D8DB3BBC9}" type="presParOf" srcId="{3CDF648F-3B94-4E6F-B962-323A8E33F5E9}" destId="{AAA8F504-8ADA-4FC1-9490-0A49E6A43DE6}" srcOrd="0" destOrd="0" presId="urn:microsoft.com/office/officeart/2008/layout/VerticalCurvedList"/>
    <dgm:cxn modelId="{3DCC0486-187B-4214-AD02-21D42BA0215D}" type="presParOf" srcId="{AAA8F504-8ADA-4FC1-9490-0A49E6A43DE6}" destId="{51CBFB23-0B41-4B1E-981F-CF841AE1E69A}" srcOrd="0" destOrd="0" presId="urn:microsoft.com/office/officeart/2008/layout/VerticalCurvedList"/>
    <dgm:cxn modelId="{CA93C94C-CB27-4FE3-8F5B-AB213562334D}" type="presParOf" srcId="{AAA8F504-8ADA-4FC1-9490-0A49E6A43DE6}" destId="{19128A1F-0A24-4295-A668-F27325B9738A}" srcOrd="1" destOrd="0" presId="urn:microsoft.com/office/officeart/2008/layout/VerticalCurvedList"/>
    <dgm:cxn modelId="{4B13C3F6-2C83-4F88-9D21-818706B15A37}" type="presParOf" srcId="{AAA8F504-8ADA-4FC1-9490-0A49E6A43DE6}" destId="{7F0D99A4-798E-43DE-BA51-E0559EAA7B23}" srcOrd="2" destOrd="0" presId="urn:microsoft.com/office/officeart/2008/layout/VerticalCurvedList"/>
    <dgm:cxn modelId="{52371777-8485-4841-9EFD-80EC72D389FF}" type="presParOf" srcId="{AAA8F504-8ADA-4FC1-9490-0A49E6A43DE6}" destId="{102CB5FD-AF54-4373-8052-1F490A666459}" srcOrd="3" destOrd="0" presId="urn:microsoft.com/office/officeart/2008/layout/VerticalCurvedList"/>
    <dgm:cxn modelId="{62AA9740-4AF4-473A-9B1C-64580E3199A3}" type="presParOf" srcId="{3CDF648F-3B94-4E6F-B962-323A8E33F5E9}" destId="{D16BD4AC-6EA5-45C4-84C7-3837FEC02408}" srcOrd="1" destOrd="0" presId="urn:microsoft.com/office/officeart/2008/layout/VerticalCurvedList"/>
    <dgm:cxn modelId="{D9F2CD12-0EED-4534-8C69-EADDCA10E2BF}" type="presParOf" srcId="{3CDF648F-3B94-4E6F-B962-323A8E33F5E9}" destId="{E137EC75-C0D0-47C9-9EB0-9F5C58237258}" srcOrd="2" destOrd="0" presId="urn:microsoft.com/office/officeart/2008/layout/VerticalCurvedList"/>
    <dgm:cxn modelId="{263BE7E1-DF5D-4AF6-9F89-3DB0D5781F4B}" type="presParOf" srcId="{E137EC75-C0D0-47C9-9EB0-9F5C58237258}" destId="{29552882-35B6-4538-AF9D-C0B9A075A8A3}" srcOrd="0" destOrd="0" presId="urn:microsoft.com/office/officeart/2008/layout/VerticalCurvedList"/>
    <dgm:cxn modelId="{ADAD94E4-119D-4A94-A2E7-97D891B3ACC1}" type="presParOf" srcId="{3CDF648F-3B94-4E6F-B962-323A8E33F5E9}" destId="{1785ECCE-36C9-43AF-84C6-31F13720DF67}" srcOrd="3" destOrd="0" presId="urn:microsoft.com/office/officeart/2008/layout/VerticalCurvedList"/>
    <dgm:cxn modelId="{30497C12-D01D-4A43-A6C5-95132E15EF09}" type="presParOf" srcId="{3CDF648F-3B94-4E6F-B962-323A8E33F5E9}" destId="{E205C8B2-EC51-461E-A4E2-8F334CA6461E}" srcOrd="4" destOrd="0" presId="urn:microsoft.com/office/officeart/2008/layout/VerticalCurvedList"/>
    <dgm:cxn modelId="{393C6AAF-343E-4780-B4BB-552FABC4AA0B}" type="presParOf" srcId="{E205C8B2-EC51-461E-A4E2-8F334CA6461E}" destId="{3B133E77-F830-4BBB-91B3-A85E574C340A}" srcOrd="0" destOrd="0" presId="urn:microsoft.com/office/officeart/2008/layout/VerticalCurvedList"/>
    <dgm:cxn modelId="{2831813A-6F69-4AAE-9FCC-0A0D8E78DB03}" type="presParOf" srcId="{3CDF648F-3B94-4E6F-B962-323A8E33F5E9}" destId="{29D75798-BC0E-47A1-BEC7-3FA739693A03}" srcOrd="5" destOrd="0" presId="urn:microsoft.com/office/officeart/2008/layout/VerticalCurvedList"/>
    <dgm:cxn modelId="{BC2448DC-9CFD-4072-B204-1579A291158A}" type="presParOf" srcId="{3CDF648F-3B94-4E6F-B962-323A8E33F5E9}" destId="{C2B451E5-9247-4493-B16D-0806E5156773}" srcOrd="6" destOrd="0" presId="urn:microsoft.com/office/officeart/2008/layout/VerticalCurvedList"/>
    <dgm:cxn modelId="{9CED57B5-28EE-4D8E-B708-6C3175CEDEC3}" type="presParOf" srcId="{C2B451E5-9247-4493-B16D-0806E5156773}" destId="{83E77172-A0D6-473B-9BA8-F8FE28D9386A}" srcOrd="0" destOrd="0" presId="urn:microsoft.com/office/officeart/2008/layout/VerticalCurvedList"/>
    <dgm:cxn modelId="{0A216DB0-D834-4A3F-BE82-B709C23E3921}" type="presParOf" srcId="{3CDF648F-3B94-4E6F-B962-323A8E33F5E9}" destId="{1052919C-7F8D-430D-ACF2-B702EE645EBA}" srcOrd="7" destOrd="0" presId="urn:microsoft.com/office/officeart/2008/layout/VerticalCurvedList"/>
    <dgm:cxn modelId="{163FB665-7D53-4BA3-BC6B-31FD97E443D5}" type="presParOf" srcId="{3CDF648F-3B94-4E6F-B962-323A8E33F5E9}" destId="{45596FEE-B148-49F5-A0E7-7E3691724A8F}" srcOrd="8" destOrd="0" presId="urn:microsoft.com/office/officeart/2008/layout/VerticalCurvedList"/>
    <dgm:cxn modelId="{996C9411-2011-4371-9676-365F020BA674}" type="presParOf" srcId="{45596FEE-B148-49F5-A0E7-7E3691724A8F}" destId="{D67BE5D5-61F2-4F9C-AE6F-70B89F846C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AE219-4A79-43C6-92B6-2E2A0B174CCC}">
      <dsp:nvSpPr>
        <dsp:cNvPr id="0" name=""/>
        <dsp:cNvSpPr/>
      </dsp:nvSpPr>
      <dsp:spPr>
        <a:xfrm rot="5400000">
          <a:off x="-566737" y="566737"/>
          <a:ext cx="3778250" cy="26447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b="1" kern="1200" dirty="0" smtClean="0">
              <a:solidFill>
                <a:schemeClr val="tx1"/>
              </a:solidFill>
            </a:rPr>
            <a:t>HEMORROIDECTOMIA </a:t>
          </a:r>
          <a:endParaRPr lang="es-ES" sz="1900" b="1" kern="1200" dirty="0">
            <a:solidFill>
              <a:schemeClr val="tx1"/>
            </a:solidFill>
          </a:endParaRPr>
        </a:p>
      </dsp:txBody>
      <dsp:txXfrm rot="-5400000">
        <a:off x="1" y="1322388"/>
        <a:ext cx="2644775" cy="1133475"/>
      </dsp:txXfrm>
    </dsp:sp>
    <dsp:sp modelId="{15C25973-6365-4852-AE44-7B679B4C1853}">
      <dsp:nvSpPr>
        <dsp:cNvPr id="0" name=""/>
        <dsp:cNvSpPr/>
      </dsp:nvSpPr>
      <dsp:spPr>
        <a:xfrm rot="5400000">
          <a:off x="5201672" y="-2531847"/>
          <a:ext cx="2455862" cy="75696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300" kern="1200" dirty="0" smtClean="0"/>
            <a:t>Es la extirpación de los paquetes hemorroidales  que está indicado en las hemorroides  grados III y IV, también está indicada  la </a:t>
          </a:r>
          <a:r>
            <a:rPr lang="es-ES" sz="2300" kern="1200" dirty="0" err="1" smtClean="0"/>
            <a:t>hemorroidectomia</a:t>
          </a:r>
          <a:r>
            <a:rPr lang="es-ES" sz="2300" kern="1200" dirty="0" smtClean="0"/>
            <a:t>  en las hemorroides sintomáticas  de grado I y II cuando se asocian a otras patologías anales  como fisura, fistulas perianales, hipertrofia papilar</a:t>
          </a:r>
          <a:endParaRPr lang="es-ES" sz="2300" kern="1200" dirty="0"/>
        </a:p>
      </dsp:txBody>
      <dsp:txXfrm rot="-5400000">
        <a:off x="2644775" y="144935"/>
        <a:ext cx="7449772" cy="221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28A1F-0A24-4295-A668-F27325B9738A}">
      <dsp:nvSpPr>
        <dsp:cNvPr id="0" name=""/>
        <dsp:cNvSpPr/>
      </dsp:nvSpPr>
      <dsp:spPr>
        <a:xfrm>
          <a:off x="-4271043" y="-655258"/>
          <a:ext cx="5088768" cy="5088768"/>
        </a:xfrm>
        <a:prstGeom prst="blockArc">
          <a:avLst>
            <a:gd name="adj1" fmla="val 18900000"/>
            <a:gd name="adj2" fmla="val 2700000"/>
            <a:gd name="adj3" fmla="val 42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BD4AC-6EA5-45C4-84C7-3837FEC02408}">
      <dsp:nvSpPr>
        <dsp:cNvPr id="0" name=""/>
        <dsp:cNvSpPr/>
      </dsp:nvSpPr>
      <dsp:spPr>
        <a:xfrm>
          <a:off x="428408" y="290471"/>
          <a:ext cx="8436317" cy="581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36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b="1" kern="1200" dirty="0" smtClean="0">
              <a:solidFill>
                <a:schemeClr val="tx1"/>
              </a:solidFill>
            </a:rPr>
            <a:t>Reducir los riesgos de infección durante el procedimiento quirúrgico</a:t>
          </a:r>
          <a:endParaRPr lang="es-ES" sz="1700" b="1" kern="1200" dirty="0">
            <a:solidFill>
              <a:schemeClr val="tx1"/>
            </a:solidFill>
          </a:endParaRPr>
        </a:p>
      </dsp:txBody>
      <dsp:txXfrm>
        <a:off x="428408" y="290471"/>
        <a:ext cx="8436317" cy="581245"/>
      </dsp:txXfrm>
    </dsp:sp>
    <dsp:sp modelId="{29552882-35B6-4538-AF9D-C0B9A075A8A3}">
      <dsp:nvSpPr>
        <dsp:cNvPr id="0" name=""/>
        <dsp:cNvSpPr/>
      </dsp:nvSpPr>
      <dsp:spPr>
        <a:xfrm>
          <a:off x="65129" y="217816"/>
          <a:ext cx="726557" cy="7265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5ECCE-36C9-43AF-84C6-31F13720DF67}">
      <dsp:nvSpPr>
        <dsp:cNvPr id="0" name=""/>
        <dsp:cNvSpPr/>
      </dsp:nvSpPr>
      <dsp:spPr>
        <a:xfrm>
          <a:off x="761650" y="1162491"/>
          <a:ext cx="8103076" cy="581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36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b="1" kern="1200" dirty="0" smtClean="0">
              <a:solidFill>
                <a:schemeClr val="tx1"/>
              </a:solidFill>
            </a:rPr>
            <a:t>Mantener al paciente libre de lesión como consecuencia de postura o equipo usado durante un procedimiento quirúrgico/invasivo.</a:t>
          </a:r>
          <a:endParaRPr lang="es-ES" sz="1700" b="1" kern="1200" dirty="0">
            <a:solidFill>
              <a:schemeClr val="tx1"/>
            </a:solidFill>
          </a:endParaRPr>
        </a:p>
      </dsp:txBody>
      <dsp:txXfrm>
        <a:off x="761650" y="1162491"/>
        <a:ext cx="8103076" cy="581245"/>
      </dsp:txXfrm>
    </dsp:sp>
    <dsp:sp modelId="{3B133E77-F830-4BBB-91B3-A85E574C340A}">
      <dsp:nvSpPr>
        <dsp:cNvPr id="0" name=""/>
        <dsp:cNvSpPr/>
      </dsp:nvSpPr>
      <dsp:spPr>
        <a:xfrm>
          <a:off x="398371" y="1089836"/>
          <a:ext cx="726557" cy="7265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75798-BC0E-47A1-BEC7-3FA739693A03}">
      <dsp:nvSpPr>
        <dsp:cNvPr id="0" name=""/>
        <dsp:cNvSpPr/>
      </dsp:nvSpPr>
      <dsp:spPr>
        <a:xfrm>
          <a:off x="761650" y="2034512"/>
          <a:ext cx="8103076" cy="581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36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b="1" kern="1200" dirty="0" smtClean="0">
              <a:solidFill>
                <a:schemeClr val="tx1"/>
              </a:solidFill>
            </a:rPr>
            <a:t>Mantener la temperatura corporal media durante la cirugía </a:t>
          </a:r>
          <a:endParaRPr lang="es-ES" sz="1700" b="1" kern="1200" dirty="0">
            <a:solidFill>
              <a:schemeClr val="tx1"/>
            </a:solidFill>
          </a:endParaRPr>
        </a:p>
      </dsp:txBody>
      <dsp:txXfrm>
        <a:off x="761650" y="2034512"/>
        <a:ext cx="8103076" cy="581245"/>
      </dsp:txXfrm>
    </dsp:sp>
    <dsp:sp modelId="{83E77172-A0D6-473B-9BA8-F8FE28D9386A}">
      <dsp:nvSpPr>
        <dsp:cNvPr id="0" name=""/>
        <dsp:cNvSpPr/>
      </dsp:nvSpPr>
      <dsp:spPr>
        <a:xfrm>
          <a:off x="398371" y="1961856"/>
          <a:ext cx="726557" cy="7265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2919C-7F8D-430D-ACF2-B702EE645EBA}">
      <dsp:nvSpPr>
        <dsp:cNvPr id="0" name=""/>
        <dsp:cNvSpPr/>
      </dsp:nvSpPr>
      <dsp:spPr>
        <a:xfrm>
          <a:off x="428408" y="2906532"/>
          <a:ext cx="8436317" cy="581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36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b="1" kern="1200" dirty="0" smtClean="0">
              <a:solidFill>
                <a:schemeClr val="tx1"/>
              </a:solidFill>
            </a:rPr>
            <a:t>Mantener un equilibrio hidroelectrolítico </a:t>
          </a:r>
          <a:endParaRPr lang="es-ES" sz="1700" b="1" kern="1200" dirty="0">
            <a:solidFill>
              <a:schemeClr val="tx1"/>
            </a:solidFill>
          </a:endParaRPr>
        </a:p>
      </dsp:txBody>
      <dsp:txXfrm>
        <a:off x="428408" y="2906532"/>
        <a:ext cx="8436317" cy="581245"/>
      </dsp:txXfrm>
    </dsp:sp>
    <dsp:sp modelId="{D67BE5D5-61F2-4F9C-AE6F-70B89F846C20}">
      <dsp:nvSpPr>
        <dsp:cNvPr id="0" name=""/>
        <dsp:cNvSpPr/>
      </dsp:nvSpPr>
      <dsp:spPr>
        <a:xfrm>
          <a:off x="65129" y="2833876"/>
          <a:ext cx="726557" cy="7265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PROTOCOLO DE ATENCION DE ENFERMERIA EN PACIENTES SOMETIDOS A HEMORROIDECTOMIA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									MARIUSKA ARISPE </a:t>
            </a:r>
          </a:p>
          <a:p>
            <a:r>
              <a:rPr lang="es-ES" dirty="0"/>
              <a:t>	</a:t>
            </a:r>
            <a:r>
              <a:rPr lang="es-ES" dirty="0" smtClean="0"/>
              <a:t>								SANDRA PAHUASI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1716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771245"/>
              </p:ext>
            </p:extLst>
          </p:nvPr>
        </p:nvGraphicFramePr>
        <p:xfrm>
          <a:off x="1716066" y="1482246"/>
          <a:ext cx="10214432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7" name="Picture 3" descr="ANd9GcQHmWNiwK-7_QsgEpmqryCwJI9_vnm-nDYOL4LjPGf0IvHQ0ewsVfdWFm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336" y="4213507"/>
            <a:ext cx="2325078" cy="1949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 descr="ANd9GcR46MMR_KcsW4gK1NNRS_ZC9-UzXhEJqQcRjxlVFbfHy7zzua178R2w-_Q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270" y="4213506"/>
            <a:ext cx="2262448" cy="203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20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OBJETIVOS </a:t>
            </a:r>
            <a:endParaRPr lang="es-E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480832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/>
          <a:srcRect l="19658" t="1073" r="29914" b="-1"/>
          <a:stretch/>
        </p:blipFill>
        <p:spPr>
          <a:xfrm>
            <a:off x="1114854" y="1453019"/>
            <a:ext cx="1478071" cy="51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0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780343"/>
              </p:ext>
            </p:extLst>
          </p:nvPr>
        </p:nvGraphicFramePr>
        <p:xfrm>
          <a:off x="2455839" y="625119"/>
          <a:ext cx="9137192" cy="5444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3095"/>
                <a:gridCol w="6444097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Diagnóstico de  enfermería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NANDA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22" marR="556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Intervenciones NIC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22" marR="55622" marT="0" marB="0"/>
                </a:tc>
              </a:tr>
              <a:tr h="4387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Alto riesgo de  infección relacionado con  solución de continuidad terapéutica secundario a intervención  quirúrgica 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22" marR="55622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Observar las precauciones universales y, en su caso, las técnicas de aislamiento.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Mantener la temperatura  de la sala entre 20-24ºC y la humedad relativa entre el 40-60%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Monitorizar y mantener el flujo de aire laminar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Verificar que se han administrado los antibióticos profilácticos.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Asegurarse de que el personal de cirugía viste el equipo apropiado y se siguen las normas de lavado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Verificar la integridad del embalaje estéril y los indicadores de esterilización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Separar los suministros estériles de los no estériles.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Mantener técnicas que aseguren la esterilidad de la intervención y las rupturas correctas en el campo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estéril, y la integridad de los catéteres.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Aplicar solución antimicrobiana al sitio quirúrgico. 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22" marR="55622" marT="0" marB="0"/>
                </a:tc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839" y="3493631"/>
            <a:ext cx="2542046" cy="257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2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169937"/>
              </p:ext>
            </p:extLst>
          </p:nvPr>
        </p:nvGraphicFramePr>
        <p:xfrm>
          <a:off x="1828801" y="207677"/>
          <a:ext cx="9181578" cy="6607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4309"/>
                <a:gridCol w="6747269"/>
              </a:tblGrid>
              <a:tr h="91169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Diagnóstico de  </a:t>
                      </a: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enfermería NANDA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885" marR="4888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Intervenciones NIC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885" marR="48885" marT="0" marB="0"/>
                </a:tc>
              </a:tr>
              <a:tr h="5419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Riesgo de lesión  relacionado  con el entorno peri operatorio (traslado, posición del paciente, inmovilización de la mesa quirúrgica, electro bisturí, disminución del nivel de conciencia secundario a la anestesia)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885" marR="48885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Ayudar en el traslado del paciente desde su cama a la mesa de operaciones, utilizando un número adecuado de personas para el traslado. Bloquear la mesa de cirugía.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Colocar al paciente de forma tal que se eviten lesiones por presión y la afectación de nervios periféricos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Asegurar la correcta colocación de las correas de seguridad y la seguridad continua del paciente en todas las fases de los cuidados de anestesia. Vigilar la estabilidad  de las articulaciones y los apoyos de la cabeza y las extremidades, manteniendo la alineación corporal correcta.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Situar al paciente en la posición litotomía, colocando material acolchado en las prominencias óseas y evitando la  presión.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Contar las compresas, el material de corte y los instrumentos antes, durante y después de la cirugía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Verificar la integridad de los cables eléctricos y correcto funcionamiento de la unidad 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electroquirúrgica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Verificar que el paciente no está en contacto con ningún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objetometálico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Aplicar la placa de toma de tierra en una parte de la piel que esté seca, intacta y con la mínima cantidad de vello, sobre una masa muscular grande y lo más cerca posible del sitio de la intervención.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Ajustar las corrientes de coagulación y corte,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Observar si hay lesiones en la piel del paciente después de la electrocirugía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Anotar la información pertinente en el registro de operaciones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885" marR="4888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84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323143"/>
              </p:ext>
            </p:extLst>
          </p:nvPr>
        </p:nvGraphicFramePr>
        <p:xfrm>
          <a:off x="2718148" y="951978"/>
          <a:ext cx="8342334" cy="53568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7862"/>
                <a:gridCol w="5144472"/>
              </a:tblGrid>
              <a:tr h="6732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Diagnóstico de  enfermería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NANDA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27" marR="6552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Intervenciones NIC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27" marR="65527" marT="0" marB="0"/>
                </a:tc>
              </a:tr>
              <a:tr h="46651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Riesgo de alteración de la temperatura  corporal  relacionado deterioro dela termorregulación  por el proceso anestésico y la exposición a factores ambientales.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27" marR="65527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Preparar y regular los dispositivos de calefacción / refrigeración correspondientes.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Vigilar continuamente la temperatura del paciente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Mantenimiento de la temperatura ambiental entre 18 y 22º C.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Evitar que el paciente esté sobre una superficie húmeda (por el lavado previo de la zona a intervenir, preparación antiséptica de la piel, sondaje vesical).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Utilizar campos quirúrgicos impermeables.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Disponer de calentadores para soluciones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i.v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. y realizar el lavado del campo quirúrgico con suero templado.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Cubrir al paciente en  el transporte a la unidad de cuidados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postanestésicos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27" marR="65527" marT="0" marB="0"/>
                </a:tc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950" y="3807912"/>
            <a:ext cx="2542500" cy="246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3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85023"/>
              </p:ext>
            </p:extLst>
          </p:nvPr>
        </p:nvGraphicFramePr>
        <p:xfrm>
          <a:off x="2508742" y="601249"/>
          <a:ext cx="8551740" cy="46983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8133"/>
                <a:gridCol w="5273607"/>
              </a:tblGrid>
              <a:tr h="77986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Diagnóstico de  enfermería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NANDA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Intervenciones NIC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Riesgo de desequilibrio hidroelectrolítico  relacionado a perdidas  hemáticas secundario a procedimiento quirúrgico 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Manejo de líquidos/electrólitos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Registro de ingestas y eliminaciones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Valorar las mucosas bucales y la piel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Vigilar los signos vitales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Administrar líquidos, si está indicado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Control de hemorragias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Control de gasas empapadas de sangre </a:t>
                      </a: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Observar la cantidad y naturaleza de la pérdida de sangre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Determinar las pérdidas hemáticas aceptables y administrar sangre si fuera necesario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Vigilar signos/síntomas de hemorragia / shock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Calcular las necesidades de líquidos adecuados y administrarlos por vía intravenosa, si está indicado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47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279202"/>
              </p:ext>
            </p:extLst>
          </p:nvPr>
        </p:nvGraphicFramePr>
        <p:xfrm>
          <a:off x="1766169" y="892413"/>
          <a:ext cx="9645041" cy="533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6352"/>
                <a:gridCol w="6588689"/>
              </a:tblGrid>
              <a:tr h="413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Diagnóstico de  enfermería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NANDA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81" marR="4048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Intervenciones NIC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81" marR="40481" marT="0" marB="0"/>
                </a:tc>
              </a:tr>
              <a:tr h="4409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 Riesgo  de complicaciones respiratorias  asociada a la administración de anestésicos 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481" marR="4048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Vigilar los signos vitales,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 la llegada del paciente al quirófano, haremos valoración del estado de la piel (granos, irritaciones).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Durante la inducción anestésica observaremos si hay signos y síntomas de una reacción sistémica.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Notificaremos al anestesiólogo cualquier cambio observado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Evaluar y manejar clínicamente las emergencias derivadas de la anestesia mediante la administración de los medicamentos indicados, líquidos y apoyo de ventilación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Asegurar la disponibilidad de equipo de emergencias y resucitación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Administrar medicamentos y líquidos complementarios  necesarios para mantener el anestésico, mantener la homeostasis fisiológica y corregir  las respuestas adversas o desfavorables a la anestesia y cirugía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Trasladar al paciente a la Unidad de Cuidados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Postanestésicos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 con la correspondiente monitorización cardiaca y respiratoria, acompañado de oxigenoterapia.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Comprobar la recuperación y estabilidad del paciente durante el periodo postoperatorio inmediato.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Realizar una evaluación de seguimiento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</a:rPr>
                        <a:t>postanestesia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 y cuidados relacionados con los efectos y complicaciones colaterales de la anestesia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81" marR="40481" marT="0" marB="0"/>
                </a:tc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423" y="2567836"/>
            <a:ext cx="2127795" cy="361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1635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</TotalTime>
  <Words>903</Words>
  <Application>Microsoft Office PowerPoint</Application>
  <PresentationFormat>Panorámica</PresentationFormat>
  <Paragraphs>84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Symbol</vt:lpstr>
      <vt:lpstr>Times New Roman</vt:lpstr>
      <vt:lpstr>Wingdings 3</vt:lpstr>
      <vt:lpstr>Espiral</vt:lpstr>
      <vt:lpstr>PROTOCOLO DE ATENCION DE ENFERMERIA EN PACIENTES SOMETIDOS A HEMORROIDECTOMIA </vt:lpstr>
      <vt:lpstr>Presentación de PowerPoint</vt:lpstr>
      <vt:lpstr>OBJETIVOS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DE ATENCION DE ENFERMERIA EN PACIENTES SOMETIDOS A HEMORROIDECTOMIA</dc:title>
  <dc:creator>PC</dc:creator>
  <cp:lastModifiedBy>PC</cp:lastModifiedBy>
  <cp:revision>5</cp:revision>
  <dcterms:created xsi:type="dcterms:W3CDTF">2014-05-31T03:05:49Z</dcterms:created>
  <dcterms:modified xsi:type="dcterms:W3CDTF">2014-05-31T04:04:38Z</dcterms:modified>
</cp:coreProperties>
</file>