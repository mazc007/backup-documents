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1" d="100"/>
          <a:sy n="41" d="100"/>
        </p:scale>
        <p:origin x="-1272"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31EF0A92-26D8-4342-AEEA-04FCB561D8FC}" type="datetimeFigureOut">
              <a:rPr lang="es-BO" smtClean="0"/>
              <a:t>12/04/2014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9D965733-6347-4A3F-B4B1-6B994E8A138C}" type="slidenum">
              <a:rPr lang="es-BO" smtClean="0"/>
              <a:t>‹Nº›</a:t>
            </a:fld>
            <a:endParaRPr lang="es-B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31EF0A92-26D8-4342-AEEA-04FCB561D8FC}" type="datetimeFigureOut">
              <a:rPr lang="es-BO" smtClean="0"/>
              <a:t>12/04/2014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9D965733-6347-4A3F-B4B1-6B994E8A138C}" type="slidenum">
              <a:rPr lang="es-BO" smtClean="0"/>
              <a:t>‹Nº›</a:t>
            </a:fld>
            <a:endParaRPr lang="es-BO"/>
          </a:p>
        </p:txBody>
      </p:sp>
      <p:sp>
        <p:nvSpPr>
          <p:cNvPr id="7" name="Title 6"/>
          <p:cNvSpPr>
            <a:spLocks noGrp="1"/>
          </p:cNvSpPr>
          <p:nvPr>
            <p:ph type="title"/>
          </p:nvPr>
        </p:nvSpPr>
        <p:spPr/>
        <p:txBody>
          <a:bodyPr/>
          <a:lstStyle/>
          <a:p>
            <a:r>
              <a:rPr lang="es-ES" smtClean="0"/>
              <a:t>Haga clic para modificar el estilo de título del patrón</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31EF0A92-26D8-4342-AEEA-04FCB561D8FC}" type="datetimeFigureOut">
              <a:rPr lang="es-BO" smtClean="0"/>
              <a:t>12/04/2014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9D965733-6347-4A3F-B4B1-6B994E8A138C}" type="slidenum">
              <a:rPr lang="es-BO" smtClean="0"/>
              <a:t>‹Nº›</a:t>
            </a:fld>
            <a:endParaRPr lang="es-B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5" name="Date Placeholder 4"/>
          <p:cNvSpPr>
            <a:spLocks noGrp="1"/>
          </p:cNvSpPr>
          <p:nvPr>
            <p:ph type="dt" sz="half" idx="10"/>
          </p:nvPr>
        </p:nvSpPr>
        <p:spPr/>
        <p:txBody>
          <a:bodyPr/>
          <a:lstStyle/>
          <a:p>
            <a:fld id="{31EF0A92-26D8-4342-AEEA-04FCB561D8FC}" type="datetimeFigureOut">
              <a:rPr lang="es-BO" smtClean="0"/>
              <a:t>12/04/2014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9D965733-6347-4A3F-B4B1-6B994E8A138C}" type="slidenum">
              <a:rPr lang="es-BO" smtClean="0"/>
              <a:t>‹Nº›</a:t>
            </a:fld>
            <a:endParaRPr lang="es-BO"/>
          </a:p>
        </p:txBody>
      </p:sp>
      <p:sp>
        <p:nvSpPr>
          <p:cNvPr id="9" name="Content Placeholder 8"/>
          <p:cNvSpPr>
            <a:spLocks noGrp="1"/>
          </p:cNvSpPr>
          <p:nvPr>
            <p:ph sz="quarter" idx="13"/>
          </p:nvPr>
        </p:nvSpPr>
        <p:spPr>
          <a:xfrm>
            <a:off x="676655" y="2679192"/>
            <a:ext cx="3822192" cy="34472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31EF0A92-26D8-4342-AEEA-04FCB561D8FC}" type="datetimeFigureOut">
              <a:rPr lang="es-BO" smtClean="0"/>
              <a:t>12/04/2014</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9D965733-6347-4A3F-B4B1-6B994E8A138C}" type="slidenum">
              <a:rPr lang="es-BO" smtClean="0"/>
              <a:t>‹Nº›</a:t>
            </a:fld>
            <a:endParaRPr lang="es-B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31EF0A92-26D8-4342-AEEA-04FCB561D8FC}" type="datetimeFigureOut">
              <a:rPr lang="es-BO" smtClean="0"/>
              <a:t>12/04/2014</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9D965733-6347-4A3F-B4B1-6B994E8A138C}" type="slidenum">
              <a:rPr lang="es-BO" smtClean="0"/>
              <a:t>‹Nº›</a:t>
            </a:fld>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31EF0A92-26D8-4342-AEEA-04FCB561D8FC}" type="datetimeFigureOut">
              <a:rPr lang="es-BO" smtClean="0"/>
              <a:t>12/04/2014</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9D965733-6347-4A3F-B4B1-6B994E8A138C}" type="slidenum">
              <a:rPr lang="es-BO" smtClean="0"/>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31EF0A92-26D8-4342-AEEA-04FCB561D8FC}" type="datetimeFigureOut">
              <a:rPr lang="es-BO" smtClean="0"/>
              <a:t>12/04/2014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9D965733-6347-4A3F-B4B1-6B994E8A138C}" type="slidenum">
              <a:rPr lang="es-BO" smtClean="0"/>
              <a:t>‹Nº›</a:t>
            </a:fld>
            <a:endParaRPr lang="es-BO"/>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31EF0A92-26D8-4342-AEEA-04FCB561D8FC}" type="datetimeFigureOut">
              <a:rPr lang="es-BO" smtClean="0"/>
              <a:t>12/04/2014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9D965733-6347-4A3F-B4B1-6B994E8A138C}" type="slidenum">
              <a:rPr lang="es-BO" smtClean="0"/>
              <a:t>‹Nº›</a:t>
            </a:fld>
            <a:endParaRPr lang="es-BO"/>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31EF0A92-26D8-4342-AEEA-04FCB561D8FC}" type="datetimeFigureOut">
              <a:rPr lang="es-BO" smtClean="0"/>
              <a:t>12/04/2014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9D965733-6347-4A3F-B4B1-6B994E8A138C}" type="slidenum">
              <a:rPr lang="es-BO" smtClean="0"/>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31EF0A92-26D8-4342-AEEA-04FCB561D8FC}" type="datetimeFigureOut">
              <a:rPr lang="es-BO" smtClean="0"/>
              <a:t>12/04/2014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9D965733-6347-4A3F-B4B1-6B994E8A138C}" type="slidenum">
              <a:rPr lang="es-BO" smtClean="0"/>
              <a:t>‹Nº›</a:t>
            </a:fld>
            <a:endParaRPr lang="es-BO"/>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31EF0A92-26D8-4342-AEEA-04FCB561D8FC}" type="datetimeFigureOut">
              <a:rPr lang="es-BO" smtClean="0"/>
              <a:t>12/04/2014</a:t>
            </a:fld>
            <a:endParaRPr lang="es-BO"/>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s-BO"/>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9D965733-6347-4A3F-B4B1-6B994E8A138C}" type="slidenum">
              <a:rPr lang="es-BO" smtClean="0"/>
              <a:t>‹Nº›</a:t>
            </a:fld>
            <a:endParaRPr lang="es-BO"/>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t>FARMACOS CARDIOVASCULARES</a:t>
            </a:r>
            <a:endParaRPr lang="es-BO" dirty="0"/>
          </a:p>
        </p:txBody>
      </p:sp>
      <p:sp>
        <p:nvSpPr>
          <p:cNvPr id="3" name="2 Subtítulo"/>
          <p:cNvSpPr>
            <a:spLocks noGrp="1"/>
          </p:cNvSpPr>
          <p:nvPr>
            <p:ph type="subTitle" idx="1"/>
          </p:nvPr>
        </p:nvSpPr>
        <p:spPr/>
        <p:txBody>
          <a:bodyPr/>
          <a:lstStyle/>
          <a:p>
            <a:endParaRPr lang="es-BO" dirty="0"/>
          </a:p>
        </p:txBody>
      </p:sp>
    </p:spTree>
    <p:extLst>
      <p:ext uri="{BB962C8B-B14F-4D97-AF65-F5344CB8AC3E}">
        <p14:creationId xmlns:p14="http://schemas.microsoft.com/office/powerpoint/2010/main" val="2738817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11561" y="1772816"/>
            <a:ext cx="7668840" cy="4353347"/>
          </a:xfrm>
        </p:spPr>
        <p:txBody>
          <a:bodyPr/>
          <a:lstStyle/>
          <a:p>
            <a:r>
              <a:rPr lang="es-BO" dirty="0"/>
              <a:t>Existen diferentes medicamentos para tratar las enfermedades cardiovasculares</a:t>
            </a:r>
          </a:p>
          <a:p>
            <a:r>
              <a:rPr lang="es-BO" dirty="0"/>
              <a:t>• Alguna de las funciones de estos medicamentos son: </a:t>
            </a:r>
          </a:p>
          <a:p>
            <a:r>
              <a:rPr lang="es-BO" dirty="0"/>
              <a:t>– Ayudar al corazón a bombear sangre fácilmente</a:t>
            </a:r>
          </a:p>
          <a:p>
            <a:r>
              <a:rPr lang="es-BO" dirty="0"/>
              <a:t>– Fortalecer los latidos del corazón</a:t>
            </a:r>
          </a:p>
          <a:p>
            <a:r>
              <a:rPr lang="es-BO" dirty="0"/>
              <a:t>– Eliminar el exceso de líquido del cuerpo</a:t>
            </a:r>
          </a:p>
          <a:p>
            <a:r>
              <a:rPr lang="es-BO" dirty="0"/>
              <a:t>– Evitar la formación de coágulos</a:t>
            </a:r>
          </a:p>
        </p:txBody>
      </p:sp>
      <p:sp>
        <p:nvSpPr>
          <p:cNvPr id="3" name="2 Título"/>
          <p:cNvSpPr>
            <a:spLocks noGrp="1"/>
          </p:cNvSpPr>
          <p:nvPr>
            <p:ph type="title"/>
          </p:nvPr>
        </p:nvSpPr>
        <p:spPr/>
        <p:txBody>
          <a:bodyPr/>
          <a:lstStyle/>
          <a:p>
            <a:r>
              <a:rPr lang="es-BO" b="1" dirty="0"/>
              <a:t>INTRODUCCION.- </a:t>
            </a:r>
            <a:endParaRPr lang="es-BO" dirty="0"/>
          </a:p>
        </p:txBody>
      </p:sp>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8431" y="4377716"/>
            <a:ext cx="2438400" cy="1828800"/>
          </a:xfrm>
          <a:prstGeom prst="rect">
            <a:avLst/>
          </a:prstGeom>
        </p:spPr>
      </p:pic>
    </p:spTree>
    <p:extLst>
      <p:ext uri="{BB962C8B-B14F-4D97-AF65-F5344CB8AC3E}">
        <p14:creationId xmlns:p14="http://schemas.microsoft.com/office/powerpoint/2010/main" val="14850428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4128" y="2204864"/>
            <a:ext cx="2655739" cy="2655739"/>
          </a:xfrm>
          <a:prstGeom prst="rect">
            <a:avLst/>
          </a:prstGeom>
        </p:spPr>
      </p:pic>
      <p:sp>
        <p:nvSpPr>
          <p:cNvPr id="2" name="1 Marcador de contenido"/>
          <p:cNvSpPr>
            <a:spLocks noGrp="1"/>
          </p:cNvSpPr>
          <p:nvPr>
            <p:ph idx="1"/>
          </p:nvPr>
        </p:nvSpPr>
        <p:spPr>
          <a:xfrm>
            <a:off x="827585" y="1844824"/>
            <a:ext cx="7452816" cy="4281339"/>
          </a:xfrm>
        </p:spPr>
        <p:txBody>
          <a:bodyPr>
            <a:normAutofit fontScale="92500" lnSpcReduction="20000"/>
          </a:bodyPr>
          <a:lstStyle/>
          <a:p>
            <a:pPr marL="457200" lvl="0" indent="-457200">
              <a:buFont typeface="+mj-lt"/>
              <a:buAutoNum type="arabicPeriod"/>
            </a:pPr>
            <a:r>
              <a:rPr lang="es-BO" dirty="0" err="1"/>
              <a:t>Antiarritmicos</a:t>
            </a:r>
            <a:endParaRPr lang="es-BO" dirty="0"/>
          </a:p>
          <a:p>
            <a:pPr marL="457200" lvl="0" indent="-457200">
              <a:buFont typeface="+mj-lt"/>
              <a:buAutoNum type="arabicPeriod"/>
            </a:pPr>
            <a:r>
              <a:rPr lang="es-BO" dirty="0"/>
              <a:t>Antihipertensivos</a:t>
            </a:r>
          </a:p>
          <a:p>
            <a:pPr marL="457200" lvl="0" indent="-457200">
              <a:buFont typeface="+mj-lt"/>
              <a:buAutoNum type="arabicPeriod"/>
            </a:pPr>
            <a:r>
              <a:rPr lang="es-BO" dirty="0" err="1"/>
              <a:t>Betabloqueadores</a:t>
            </a:r>
            <a:r>
              <a:rPr lang="es-BO" dirty="0"/>
              <a:t> </a:t>
            </a:r>
          </a:p>
          <a:p>
            <a:pPr marL="457200" lvl="0" indent="-457200">
              <a:buFont typeface="+mj-lt"/>
              <a:buAutoNum type="arabicPeriod"/>
            </a:pPr>
            <a:r>
              <a:rPr lang="es-BO" dirty="0"/>
              <a:t>Bloqueadores de los canales de calcio</a:t>
            </a:r>
          </a:p>
          <a:p>
            <a:pPr marL="457200" lvl="0" indent="-457200">
              <a:buFont typeface="+mj-lt"/>
              <a:buAutoNum type="arabicPeriod"/>
            </a:pPr>
            <a:r>
              <a:rPr lang="es-BO" dirty="0"/>
              <a:t>Diuréticos</a:t>
            </a:r>
          </a:p>
          <a:p>
            <a:pPr marL="457200" lvl="0" indent="-457200">
              <a:buFont typeface="+mj-lt"/>
              <a:buAutoNum type="arabicPeriod"/>
            </a:pPr>
            <a:r>
              <a:rPr lang="es-BO" dirty="0"/>
              <a:t>Estimulantes cardiacos</a:t>
            </a:r>
          </a:p>
          <a:p>
            <a:pPr marL="457200" lvl="0" indent="-457200">
              <a:buFont typeface="+mj-lt"/>
              <a:buAutoNum type="arabicPeriod"/>
            </a:pPr>
            <a:r>
              <a:rPr lang="es-BO" dirty="0"/>
              <a:t>Reductores de colesterol</a:t>
            </a:r>
          </a:p>
          <a:p>
            <a:pPr marL="457200" lvl="0" indent="-457200">
              <a:buFont typeface="+mj-lt"/>
              <a:buAutoNum type="arabicPeriod"/>
            </a:pPr>
            <a:r>
              <a:rPr lang="es-BO" dirty="0"/>
              <a:t>Vasodilatadores</a:t>
            </a:r>
          </a:p>
          <a:p>
            <a:pPr marL="457200" lvl="0" indent="-457200">
              <a:buFont typeface="+mj-lt"/>
              <a:buAutoNum type="arabicPeriod"/>
            </a:pPr>
            <a:r>
              <a:rPr lang="es-BO" dirty="0"/>
              <a:t>Terapia </a:t>
            </a:r>
            <a:r>
              <a:rPr lang="es-BO" dirty="0" err="1"/>
              <a:t>antiplaquetaria</a:t>
            </a:r>
            <a:endParaRPr lang="es-BO" dirty="0"/>
          </a:p>
          <a:p>
            <a:pPr marL="457200" lvl="0" indent="-457200">
              <a:buFont typeface="+mj-lt"/>
              <a:buAutoNum type="arabicPeriod"/>
            </a:pPr>
            <a:r>
              <a:rPr lang="es-BO" dirty="0"/>
              <a:t>Bloqueantes de los receptores de la angiotensina II</a:t>
            </a:r>
          </a:p>
          <a:p>
            <a:pPr marL="457200" lvl="0" indent="-457200">
              <a:buFont typeface="+mj-lt"/>
              <a:buAutoNum type="arabicPeriod"/>
            </a:pPr>
            <a:r>
              <a:rPr lang="es-BO" dirty="0"/>
              <a:t>Inhibidores de la </a:t>
            </a:r>
            <a:r>
              <a:rPr lang="es-BO" dirty="0" err="1"/>
              <a:t>ensima</a:t>
            </a:r>
            <a:r>
              <a:rPr lang="es-BO" dirty="0"/>
              <a:t> </a:t>
            </a:r>
            <a:r>
              <a:rPr lang="es-BO" dirty="0" err="1"/>
              <a:t>convertidora</a:t>
            </a:r>
            <a:r>
              <a:rPr lang="es-BO" dirty="0"/>
              <a:t> ECA</a:t>
            </a:r>
          </a:p>
          <a:p>
            <a:pPr marL="457200" lvl="0" indent="-457200">
              <a:buFont typeface="+mj-lt"/>
              <a:buAutoNum type="arabicPeriod"/>
            </a:pPr>
            <a:r>
              <a:rPr lang="es-BO" dirty="0"/>
              <a:t>Nitratos.</a:t>
            </a:r>
          </a:p>
        </p:txBody>
      </p:sp>
      <p:sp>
        <p:nvSpPr>
          <p:cNvPr id="3" name="2 Título"/>
          <p:cNvSpPr>
            <a:spLocks noGrp="1"/>
          </p:cNvSpPr>
          <p:nvPr>
            <p:ph type="title"/>
          </p:nvPr>
        </p:nvSpPr>
        <p:spPr/>
        <p:txBody>
          <a:bodyPr/>
          <a:lstStyle/>
          <a:p>
            <a:r>
              <a:rPr lang="es-BO" dirty="0" smtClean="0"/>
              <a:t>TIPOS DE MEDICAMENTOS</a:t>
            </a:r>
            <a:endParaRPr lang="es-BO" dirty="0"/>
          </a:p>
        </p:txBody>
      </p:sp>
    </p:spTree>
    <p:extLst>
      <p:ext uri="{BB962C8B-B14F-4D97-AF65-F5344CB8AC3E}">
        <p14:creationId xmlns:p14="http://schemas.microsoft.com/office/powerpoint/2010/main" val="32084342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83569" y="1772816"/>
            <a:ext cx="7596832" cy="4353347"/>
          </a:xfrm>
        </p:spPr>
        <p:txBody>
          <a:bodyPr/>
          <a:lstStyle/>
          <a:p>
            <a:r>
              <a:rPr lang="es-BO" dirty="0"/>
              <a:t>Arritmias cardiacas.-Son </a:t>
            </a:r>
            <a:r>
              <a:rPr lang="es-BO" dirty="0" err="1"/>
              <a:t>transtornos</a:t>
            </a:r>
            <a:r>
              <a:rPr lang="es-BO" dirty="0"/>
              <a:t> del ritmo cardiaco originados </a:t>
            </a:r>
            <a:r>
              <a:rPr lang="es-BO" dirty="0" smtClean="0"/>
              <a:t>por anomalías </a:t>
            </a:r>
            <a:r>
              <a:rPr lang="es-BO" dirty="0"/>
              <a:t>en la generación del impulso cardiaco o la conducción del mismo.• Los mecanismos de producción están catalogados como del automatismo y la conducción o una combinación de ambos.</a:t>
            </a:r>
          </a:p>
          <a:p>
            <a:r>
              <a:rPr lang="es-BO" dirty="0" smtClean="0"/>
              <a:t>•FARMACOS </a:t>
            </a:r>
            <a:r>
              <a:rPr lang="es-BO" dirty="0"/>
              <a:t>ANTIARRITMICOS• Se clasifican de acuerdo a modificaciones que originan en </a:t>
            </a:r>
            <a:r>
              <a:rPr lang="es-BO" dirty="0" smtClean="0"/>
              <a:t>la electrofisiología </a:t>
            </a:r>
            <a:r>
              <a:rPr lang="es-BO" dirty="0"/>
              <a:t>cardiaca.</a:t>
            </a:r>
          </a:p>
          <a:p>
            <a:endParaRPr lang="es-BO" dirty="0"/>
          </a:p>
        </p:txBody>
      </p:sp>
      <p:sp>
        <p:nvSpPr>
          <p:cNvPr id="3" name="2 Título"/>
          <p:cNvSpPr>
            <a:spLocks noGrp="1"/>
          </p:cNvSpPr>
          <p:nvPr>
            <p:ph type="title"/>
          </p:nvPr>
        </p:nvSpPr>
        <p:spPr/>
        <p:txBody>
          <a:bodyPr/>
          <a:lstStyle/>
          <a:p>
            <a:r>
              <a:rPr lang="es-BO" dirty="0" smtClean="0"/>
              <a:t>1. </a:t>
            </a:r>
            <a:r>
              <a:rPr lang="es-BO" smtClean="0"/>
              <a:t>ANTIARRITMICOS</a:t>
            </a:r>
            <a:endParaRPr lang="es-BO" dirty="0"/>
          </a:p>
        </p:txBody>
      </p:sp>
    </p:spTree>
    <p:extLst>
      <p:ext uri="{BB962C8B-B14F-4D97-AF65-F5344CB8AC3E}">
        <p14:creationId xmlns:p14="http://schemas.microsoft.com/office/powerpoint/2010/main" val="670662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11561" y="1556792"/>
            <a:ext cx="7668840" cy="4569371"/>
          </a:xfrm>
        </p:spPr>
        <p:txBody>
          <a:bodyPr>
            <a:normAutofit lnSpcReduction="10000"/>
          </a:bodyPr>
          <a:lstStyle/>
          <a:p>
            <a:r>
              <a:rPr lang="es-BO" dirty="0"/>
              <a:t>Existen tres subtipos: </a:t>
            </a:r>
            <a:r>
              <a:rPr lang="es-BO" dirty="0" err="1"/>
              <a:t>Ia</a:t>
            </a:r>
            <a:r>
              <a:rPr lang="es-BO" dirty="0"/>
              <a:t>, </a:t>
            </a:r>
            <a:r>
              <a:rPr lang="es-BO" dirty="0" err="1"/>
              <a:t>Ib</a:t>
            </a:r>
            <a:r>
              <a:rPr lang="es-BO" dirty="0"/>
              <a:t> y </a:t>
            </a:r>
            <a:r>
              <a:rPr lang="es-BO" dirty="0" err="1"/>
              <a:t>Ic</a:t>
            </a:r>
            <a:r>
              <a:rPr lang="es-BO" dirty="0"/>
              <a:t>.- Disminuyen la velocidad de ascenso durante la fase 0 del potencial de acción y prolongan la duración del mismo.- </a:t>
            </a:r>
          </a:p>
          <a:p>
            <a:pPr lvl="0"/>
            <a:r>
              <a:rPr lang="es-BO" dirty="0" err="1" smtClean="0"/>
              <a:t>Ia</a:t>
            </a:r>
            <a:r>
              <a:rPr lang="es-BO" dirty="0" smtClean="0"/>
              <a:t>.- </a:t>
            </a:r>
            <a:r>
              <a:rPr lang="es-BO" dirty="0"/>
              <a:t>originan una moderada depresión en la despolarización y prolongan moderadamente la </a:t>
            </a:r>
            <a:r>
              <a:rPr lang="es-BO" dirty="0" err="1"/>
              <a:t>repolarización</a:t>
            </a:r>
            <a:r>
              <a:rPr lang="es-BO" dirty="0"/>
              <a:t>. </a:t>
            </a:r>
            <a:r>
              <a:rPr lang="es-BO" dirty="0" err="1"/>
              <a:t>Quinidina</a:t>
            </a:r>
            <a:r>
              <a:rPr lang="es-BO" dirty="0"/>
              <a:t>, </a:t>
            </a:r>
            <a:r>
              <a:rPr lang="es-BO" dirty="0" err="1"/>
              <a:t>procainamida</a:t>
            </a:r>
            <a:r>
              <a:rPr lang="es-BO" dirty="0"/>
              <a:t>, disopiramida.</a:t>
            </a:r>
          </a:p>
          <a:p>
            <a:pPr lvl="0"/>
            <a:r>
              <a:rPr lang="es-BO" dirty="0" err="1"/>
              <a:t>Ib</a:t>
            </a:r>
            <a:r>
              <a:rPr lang="es-BO" dirty="0"/>
              <a:t> </a:t>
            </a:r>
            <a:r>
              <a:rPr lang="es-BO" dirty="0" smtClean="0"/>
              <a:t>.-ejercen </a:t>
            </a:r>
            <a:r>
              <a:rPr lang="es-BO" dirty="0"/>
              <a:t>una débil depresión de la despolarización en la fase 0y disminuyen la duración del potencial de acción. </a:t>
            </a:r>
            <a:r>
              <a:rPr lang="es-BO" dirty="0" err="1"/>
              <a:t>Lidocaina</a:t>
            </a:r>
            <a:r>
              <a:rPr lang="es-BO" dirty="0"/>
              <a:t>, </a:t>
            </a:r>
            <a:r>
              <a:rPr lang="es-BO" dirty="0" err="1"/>
              <a:t>Mexiletina</a:t>
            </a:r>
            <a:r>
              <a:rPr lang="es-BO" dirty="0"/>
              <a:t>, </a:t>
            </a:r>
            <a:r>
              <a:rPr lang="es-BO" dirty="0" err="1"/>
              <a:t>Tocainida</a:t>
            </a:r>
            <a:r>
              <a:rPr lang="es-BO" dirty="0"/>
              <a:t>.-</a:t>
            </a:r>
          </a:p>
          <a:p>
            <a:pPr lvl="0"/>
            <a:r>
              <a:rPr lang="es-BO" dirty="0" err="1"/>
              <a:t>Ic</a:t>
            </a:r>
            <a:r>
              <a:rPr lang="es-BO" dirty="0"/>
              <a:t> </a:t>
            </a:r>
            <a:r>
              <a:rPr lang="es-BO" dirty="0" smtClean="0"/>
              <a:t>.-deprimen </a:t>
            </a:r>
            <a:r>
              <a:rPr lang="es-BO" dirty="0"/>
              <a:t>de manera intensa la despolarización </a:t>
            </a:r>
            <a:r>
              <a:rPr lang="es-BO" dirty="0" err="1"/>
              <a:t>afectandopoco</a:t>
            </a:r>
            <a:r>
              <a:rPr lang="es-BO" dirty="0"/>
              <a:t> a la duración del potencial de </a:t>
            </a:r>
            <a:r>
              <a:rPr lang="es-BO" dirty="0" err="1"/>
              <a:t>acción.Flecainida</a:t>
            </a:r>
            <a:r>
              <a:rPr lang="es-BO" dirty="0"/>
              <a:t>, </a:t>
            </a:r>
            <a:r>
              <a:rPr lang="es-BO" dirty="0" err="1"/>
              <a:t>Encainida</a:t>
            </a:r>
            <a:endParaRPr lang="es-BO" dirty="0"/>
          </a:p>
        </p:txBody>
      </p:sp>
      <p:sp>
        <p:nvSpPr>
          <p:cNvPr id="3" name="2 Título"/>
          <p:cNvSpPr>
            <a:spLocks noGrp="1"/>
          </p:cNvSpPr>
          <p:nvPr>
            <p:ph type="title"/>
          </p:nvPr>
        </p:nvSpPr>
        <p:spPr/>
        <p:txBody>
          <a:bodyPr/>
          <a:lstStyle/>
          <a:p>
            <a:r>
              <a:rPr lang="es-BO" dirty="0" smtClean="0"/>
              <a:t>SUBTIPOS</a:t>
            </a:r>
            <a:endParaRPr lang="es-BO" dirty="0"/>
          </a:p>
        </p:txBody>
      </p:sp>
    </p:spTree>
    <p:extLst>
      <p:ext uri="{BB962C8B-B14F-4D97-AF65-F5344CB8AC3E}">
        <p14:creationId xmlns:p14="http://schemas.microsoft.com/office/powerpoint/2010/main" val="2013246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1274459167"/>
              </p:ext>
            </p:extLst>
          </p:nvPr>
        </p:nvGraphicFramePr>
        <p:xfrm>
          <a:off x="1475656" y="1556792"/>
          <a:ext cx="6192687" cy="4320480"/>
        </p:xfrm>
        <a:graphic>
          <a:graphicData uri="http://schemas.openxmlformats.org/drawingml/2006/table">
            <a:tbl>
              <a:tblPr firstRow="1" firstCol="1" bandRow="1">
                <a:tableStyleId>{5C22544A-7EE6-4342-B048-85BDC9FD1C3A}</a:tableStyleId>
              </a:tblPr>
              <a:tblGrid>
                <a:gridCol w="3522625"/>
                <a:gridCol w="2670062"/>
              </a:tblGrid>
              <a:tr h="633037">
                <a:tc>
                  <a:txBody>
                    <a:bodyPr/>
                    <a:lstStyle/>
                    <a:p>
                      <a:pPr algn="ctr">
                        <a:lnSpc>
                          <a:spcPct val="115000"/>
                        </a:lnSpc>
                        <a:spcAft>
                          <a:spcPts val="1000"/>
                        </a:spcAft>
                      </a:pPr>
                      <a:r>
                        <a:rPr lang="es-ES" sz="1200">
                          <a:effectLst/>
                        </a:rPr>
                        <a:t>ARRITMIA</a:t>
                      </a:r>
                      <a:endParaRPr lang="es-BO" sz="1100">
                        <a:effectLst/>
                        <a:latin typeface="Calibri"/>
                        <a:ea typeface="Calibri"/>
                        <a:cs typeface="Times New Roman"/>
                      </a:endParaRPr>
                    </a:p>
                  </a:txBody>
                  <a:tcPr marL="0" marR="0" marT="0" marB="0"/>
                </a:tc>
                <a:tc>
                  <a:txBody>
                    <a:bodyPr/>
                    <a:lstStyle/>
                    <a:p>
                      <a:pPr algn="ctr">
                        <a:lnSpc>
                          <a:spcPct val="115000"/>
                        </a:lnSpc>
                        <a:spcAft>
                          <a:spcPts val="1000"/>
                        </a:spcAft>
                      </a:pPr>
                      <a:r>
                        <a:rPr lang="es-ES" sz="1200">
                          <a:effectLst/>
                        </a:rPr>
                        <a:t>FARMACO</a:t>
                      </a:r>
                      <a:endParaRPr lang="es-BO" sz="1100">
                        <a:effectLst/>
                        <a:latin typeface="Calibri"/>
                        <a:ea typeface="Calibri"/>
                        <a:cs typeface="Times New Roman"/>
                      </a:endParaRPr>
                    </a:p>
                  </a:txBody>
                  <a:tcPr marL="0" marR="0" marT="0" marB="0"/>
                </a:tc>
              </a:tr>
              <a:tr h="613255">
                <a:tc>
                  <a:txBody>
                    <a:bodyPr/>
                    <a:lstStyle/>
                    <a:p>
                      <a:pPr algn="just">
                        <a:lnSpc>
                          <a:spcPct val="115000"/>
                        </a:lnSpc>
                        <a:spcAft>
                          <a:spcPts val="1000"/>
                        </a:spcAft>
                      </a:pPr>
                      <a:r>
                        <a:rPr lang="es-ES" sz="1200" dirty="0">
                          <a:effectLst/>
                        </a:rPr>
                        <a:t>TAQUICARDIA SUPRAVENTRICULAR</a:t>
                      </a:r>
                      <a:endParaRPr lang="es-BO" sz="1100" dirty="0">
                        <a:effectLst/>
                        <a:latin typeface="Calibri"/>
                        <a:ea typeface="Calibri"/>
                        <a:cs typeface="Times New Roman"/>
                      </a:endParaRPr>
                    </a:p>
                  </a:txBody>
                  <a:tcPr marL="0" marR="0" marT="0" marB="0"/>
                </a:tc>
                <a:tc>
                  <a:txBody>
                    <a:bodyPr/>
                    <a:lstStyle/>
                    <a:p>
                      <a:pPr algn="just">
                        <a:lnSpc>
                          <a:spcPct val="115000"/>
                        </a:lnSpc>
                        <a:spcAft>
                          <a:spcPts val="1000"/>
                        </a:spcAft>
                      </a:pPr>
                      <a:r>
                        <a:rPr lang="es-ES" sz="1200">
                          <a:effectLst/>
                        </a:rPr>
                        <a:t>VERAPAMILO</a:t>
                      </a:r>
                      <a:endParaRPr lang="es-BO" sz="1100">
                        <a:effectLst/>
                        <a:latin typeface="Calibri"/>
                        <a:ea typeface="Calibri"/>
                        <a:cs typeface="Times New Roman"/>
                      </a:endParaRPr>
                    </a:p>
                  </a:txBody>
                  <a:tcPr marL="0" marR="0" marT="0" marB="0"/>
                </a:tc>
              </a:tr>
              <a:tr h="850644">
                <a:tc>
                  <a:txBody>
                    <a:bodyPr/>
                    <a:lstStyle/>
                    <a:p>
                      <a:pPr algn="just">
                        <a:lnSpc>
                          <a:spcPct val="115000"/>
                        </a:lnSpc>
                        <a:spcAft>
                          <a:spcPts val="1000"/>
                        </a:spcAft>
                      </a:pPr>
                      <a:r>
                        <a:rPr lang="es-ES" sz="1200">
                          <a:effectLst/>
                        </a:rPr>
                        <a:t>FIBRILACIÓN AURICULAR</a:t>
                      </a:r>
                      <a:endParaRPr lang="es-BO" sz="1100">
                        <a:effectLst/>
                        <a:latin typeface="Calibri"/>
                        <a:ea typeface="Calibri"/>
                        <a:cs typeface="Times New Roman"/>
                      </a:endParaRPr>
                    </a:p>
                  </a:txBody>
                  <a:tcPr marL="0" marR="0" marT="0" marB="0"/>
                </a:tc>
                <a:tc>
                  <a:txBody>
                    <a:bodyPr/>
                    <a:lstStyle/>
                    <a:p>
                      <a:pPr algn="just">
                        <a:lnSpc>
                          <a:spcPct val="115000"/>
                        </a:lnSpc>
                        <a:spcAft>
                          <a:spcPts val="1000"/>
                        </a:spcAft>
                      </a:pPr>
                      <a:r>
                        <a:rPr lang="es-ES" sz="1200">
                          <a:effectLst/>
                        </a:rPr>
                        <a:t>PROPAFENONA AMIODARONA</a:t>
                      </a:r>
                      <a:endParaRPr lang="es-BO" sz="1100">
                        <a:effectLst/>
                        <a:latin typeface="Calibri"/>
                        <a:ea typeface="Calibri"/>
                        <a:cs typeface="Times New Roman"/>
                      </a:endParaRPr>
                    </a:p>
                  </a:txBody>
                  <a:tcPr marL="0" marR="0" marT="0" marB="0"/>
                </a:tc>
              </a:tr>
              <a:tr h="1111772">
                <a:tc>
                  <a:txBody>
                    <a:bodyPr/>
                    <a:lstStyle/>
                    <a:p>
                      <a:pPr algn="just">
                        <a:lnSpc>
                          <a:spcPct val="115000"/>
                        </a:lnSpc>
                        <a:spcAft>
                          <a:spcPts val="1000"/>
                        </a:spcAft>
                      </a:pPr>
                      <a:r>
                        <a:rPr lang="es-ES" sz="1200">
                          <a:effectLst/>
                        </a:rPr>
                        <a:t>TAQUICARDIA VENTRICULAR</a:t>
                      </a:r>
                      <a:endParaRPr lang="es-BO" sz="1100">
                        <a:effectLst/>
                        <a:latin typeface="Calibri"/>
                        <a:ea typeface="Calibri"/>
                        <a:cs typeface="Times New Roman"/>
                      </a:endParaRPr>
                    </a:p>
                  </a:txBody>
                  <a:tcPr marL="0" marR="0" marT="0" marB="0"/>
                </a:tc>
                <a:tc>
                  <a:txBody>
                    <a:bodyPr/>
                    <a:lstStyle/>
                    <a:p>
                      <a:pPr algn="just">
                        <a:lnSpc>
                          <a:spcPct val="115000"/>
                        </a:lnSpc>
                        <a:spcAft>
                          <a:spcPts val="1000"/>
                        </a:spcAft>
                      </a:pPr>
                      <a:r>
                        <a:rPr lang="es-ES" sz="1200">
                          <a:effectLst/>
                        </a:rPr>
                        <a:t>LIDOCAINA</a:t>
                      </a:r>
                      <a:endParaRPr lang="es-BO" sz="1100">
                        <a:effectLst/>
                      </a:endParaRPr>
                    </a:p>
                    <a:p>
                      <a:pPr algn="just">
                        <a:lnSpc>
                          <a:spcPct val="115000"/>
                        </a:lnSpc>
                        <a:spcAft>
                          <a:spcPts val="1000"/>
                        </a:spcAft>
                      </a:pPr>
                      <a:r>
                        <a:rPr lang="es-ES" sz="1200">
                          <a:effectLst/>
                        </a:rPr>
                        <a:t>AMIODARONA</a:t>
                      </a:r>
                      <a:endParaRPr lang="es-BO" sz="1100">
                        <a:effectLst/>
                        <a:latin typeface="Calibri"/>
                        <a:ea typeface="Calibri"/>
                        <a:cs typeface="Times New Roman"/>
                      </a:endParaRPr>
                    </a:p>
                  </a:txBody>
                  <a:tcPr marL="0" marR="0" marT="0" marB="0"/>
                </a:tc>
              </a:tr>
              <a:tr h="1111772">
                <a:tc>
                  <a:txBody>
                    <a:bodyPr/>
                    <a:lstStyle/>
                    <a:p>
                      <a:pPr algn="just">
                        <a:lnSpc>
                          <a:spcPct val="115000"/>
                        </a:lnSpc>
                        <a:spcAft>
                          <a:spcPts val="1000"/>
                        </a:spcAft>
                      </a:pPr>
                      <a:r>
                        <a:rPr lang="es-ES" sz="1200">
                          <a:effectLst/>
                        </a:rPr>
                        <a:t>FIBRILACIÓN VENTRICULAR</a:t>
                      </a:r>
                      <a:endParaRPr lang="es-BO" sz="1100">
                        <a:effectLst/>
                        <a:latin typeface="Calibri"/>
                        <a:ea typeface="Calibri"/>
                        <a:cs typeface="Times New Roman"/>
                      </a:endParaRPr>
                    </a:p>
                  </a:txBody>
                  <a:tcPr marL="0" marR="0" marT="0" marB="0"/>
                </a:tc>
                <a:tc>
                  <a:txBody>
                    <a:bodyPr/>
                    <a:lstStyle/>
                    <a:p>
                      <a:pPr algn="just">
                        <a:lnSpc>
                          <a:spcPct val="115000"/>
                        </a:lnSpc>
                        <a:spcAft>
                          <a:spcPts val="1000"/>
                        </a:spcAft>
                      </a:pPr>
                      <a:r>
                        <a:rPr lang="es-ES" sz="1200" dirty="0">
                          <a:effectLst/>
                        </a:rPr>
                        <a:t>LIDOCAINA</a:t>
                      </a:r>
                      <a:endParaRPr lang="es-BO" sz="1100" dirty="0">
                        <a:effectLst/>
                      </a:endParaRPr>
                    </a:p>
                    <a:p>
                      <a:pPr algn="just">
                        <a:lnSpc>
                          <a:spcPct val="115000"/>
                        </a:lnSpc>
                        <a:spcAft>
                          <a:spcPts val="1000"/>
                        </a:spcAft>
                      </a:pPr>
                      <a:r>
                        <a:rPr lang="es-ES" sz="1200" dirty="0">
                          <a:effectLst/>
                        </a:rPr>
                        <a:t>CARDIOVERSIÓN ELECTR.</a:t>
                      </a:r>
                      <a:endParaRPr lang="es-BO" sz="1100" dirty="0">
                        <a:effectLst/>
                        <a:latin typeface="Calibri"/>
                        <a:ea typeface="Calibri"/>
                        <a:cs typeface="Times New Roman"/>
                      </a:endParaRPr>
                    </a:p>
                  </a:txBody>
                  <a:tcPr marL="0" marR="0" marT="0" marB="0"/>
                </a:tc>
              </a:tr>
            </a:tbl>
          </a:graphicData>
        </a:graphic>
      </p:graphicFrame>
      <p:sp>
        <p:nvSpPr>
          <p:cNvPr id="3" name="2 Título"/>
          <p:cNvSpPr>
            <a:spLocks noGrp="1"/>
          </p:cNvSpPr>
          <p:nvPr>
            <p:ph type="title"/>
          </p:nvPr>
        </p:nvSpPr>
        <p:spPr/>
        <p:txBody>
          <a:bodyPr/>
          <a:lstStyle/>
          <a:p>
            <a:r>
              <a:rPr lang="es-BO" dirty="0" smtClean="0"/>
              <a:t>FARMACOS MAS USADOS</a:t>
            </a:r>
            <a:endParaRPr lang="es-BO" dirty="0"/>
          </a:p>
        </p:txBody>
      </p:sp>
    </p:spTree>
    <p:extLst>
      <p:ext uri="{BB962C8B-B14F-4D97-AF65-F5344CB8AC3E}">
        <p14:creationId xmlns:p14="http://schemas.microsoft.com/office/powerpoint/2010/main" val="344831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4088" y="3861048"/>
            <a:ext cx="3551779" cy="2660406"/>
          </a:xfrm>
          <a:prstGeom prst="rect">
            <a:avLst/>
          </a:prstGeom>
        </p:spPr>
      </p:pic>
      <p:sp>
        <p:nvSpPr>
          <p:cNvPr id="2" name="1 Marcador de contenido"/>
          <p:cNvSpPr>
            <a:spLocks noGrp="1"/>
          </p:cNvSpPr>
          <p:nvPr>
            <p:ph idx="1"/>
          </p:nvPr>
        </p:nvSpPr>
        <p:spPr>
          <a:xfrm>
            <a:off x="611560" y="1844824"/>
            <a:ext cx="7668841" cy="4281339"/>
          </a:xfrm>
        </p:spPr>
        <p:txBody>
          <a:bodyPr>
            <a:normAutofit/>
          </a:bodyPr>
          <a:lstStyle/>
          <a:p>
            <a:r>
              <a:rPr lang="es-BO" dirty="0" smtClean="0"/>
              <a:t>El </a:t>
            </a:r>
            <a:r>
              <a:rPr lang="es-BO" dirty="0"/>
              <a:t>objetivo principal en la terapia antihipertensiva es la reducción de la morbilidad y mortalidad cardiovascular. La mayoría de pacientes hipertensos (especialmente los mayores de 50 años) alcanzarán el objetivo de PAS antes que el de PAD. El enfoque primario debe ser conseguir el objetivo de PAS. Para tratar después de conseguir la meta de 140/90 </a:t>
            </a:r>
            <a:r>
              <a:rPr lang="es-BO" dirty="0" err="1"/>
              <a:t>mmHg</a:t>
            </a:r>
            <a:r>
              <a:rPr lang="es-BO" dirty="0"/>
              <a:t>, cifra que se ha asociado a disminución de complicaciones cardiovasculares</a:t>
            </a:r>
            <a:r>
              <a:rPr lang="es-BO" dirty="0" smtClean="0"/>
              <a:t>.</a:t>
            </a:r>
            <a:endParaRPr lang="es-BO" dirty="0"/>
          </a:p>
        </p:txBody>
      </p:sp>
      <p:sp>
        <p:nvSpPr>
          <p:cNvPr id="3" name="2 Título"/>
          <p:cNvSpPr>
            <a:spLocks noGrp="1"/>
          </p:cNvSpPr>
          <p:nvPr>
            <p:ph type="title"/>
          </p:nvPr>
        </p:nvSpPr>
        <p:spPr/>
        <p:txBody>
          <a:bodyPr/>
          <a:lstStyle/>
          <a:p>
            <a:pPr lvl="0"/>
            <a:r>
              <a:rPr lang="es-BO" b="1" dirty="0" smtClean="0"/>
              <a:t>2.ANTIHIPERTENSIVOS</a:t>
            </a:r>
            <a:endParaRPr lang="es-BO" dirty="0"/>
          </a:p>
        </p:txBody>
      </p:sp>
    </p:spTree>
    <p:extLst>
      <p:ext uri="{BB962C8B-B14F-4D97-AF65-F5344CB8AC3E}">
        <p14:creationId xmlns:p14="http://schemas.microsoft.com/office/powerpoint/2010/main" val="21721028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27585" y="1916832"/>
            <a:ext cx="7452816" cy="4209331"/>
          </a:xfrm>
        </p:spPr>
        <p:txBody>
          <a:bodyPr>
            <a:normAutofit/>
          </a:bodyPr>
          <a:lstStyle/>
          <a:p>
            <a:r>
              <a:rPr lang="es-BO" dirty="0" smtClean="0"/>
              <a:t>Son </a:t>
            </a:r>
            <a:r>
              <a:rPr lang="es-BO" dirty="0"/>
              <a:t>fármacos que bloquean los receptores beta-adrenérgicos del corazón. Este hecho produce, entre otros efectos, disminución de la frecuencia y de la contractilidad cardiacas, reducen la tensión arterial y como consecuencia disminuyen las necesidades de oxigeno y nutrientes del corazón, aliviando por este mecanismo la angina de pecho. (Sirven para “bajar las revoluciones” del corazón) LOS BETABLOQUEANTES (Bloqueantes de los receptores beta-adrenérgicos ).</a:t>
            </a:r>
          </a:p>
        </p:txBody>
      </p:sp>
      <p:sp>
        <p:nvSpPr>
          <p:cNvPr id="3" name="2 Título"/>
          <p:cNvSpPr>
            <a:spLocks noGrp="1"/>
          </p:cNvSpPr>
          <p:nvPr>
            <p:ph type="title"/>
          </p:nvPr>
        </p:nvSpPr>
        <p:spPr/>
        <p:txBody>
          <a:bodyPr/>
          <a:lstStyle/>
          <a:p>
            <a:pPr lvl="0"/>
            <a:r>
              <a:rPr lang="es-BO" b="1" dirty="0" smtClean="0"/>
              <a:t>3.-BETABLOQUEADORES</a:t>
            </a:r>
            <a:endParaRPr lang="es-BO" dirty="0"/>
          </a:p>
        </p:txBody>
      </p:sp>
    </p:spTree>
    <p:extLst>
      <p:ext uri="{BB962C8B-B14F-4D97-AF65-F5344CB8AC3E}">
        <p14:creationId xmlns:p14="http://schemas.microsoft.com/office/powerpoint/2010/main" val="1209097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lvl="0"/>
            <a:r>
              <a:rPr lang="es-BO" b="1" dirty="0" smtClean="0"/>
              <a:t>4.-BLOQUENATES </a:t>
            </a:r>
            <a:r>
              <a:rPr lang="es-BO" b="1" dirty="0"/>
              <a:t>DE LOS CANALES DE CALCIO</a:t>
            </a:r>
            <a:endParaRPr lang="es-BO" dirty="0"/>
          </a:p>
        </p:txBody>
      </p:sp>
      <p:sp>
        <p:nvSpPr>
          <p:cNvPr id="3" name="2 Marcador de contenido"/>
          <p:cNvSpPr>
            <a:spLocks noGrp="1"/>
          </p:cNvSpPr>
          <p:nvPr>
            <p:ph sz="quarter" idx="13"/>
          </p:nvPr>
        </p:nvSpPr>
        <p:spPr>
          <a:xfrm>
            <a:off x="611560" y="2204864"/>
            <a:ext cx="3887287" cy="3921616"/>
          </a:xfrm>
        </p:spPr>
        <p:txBody>
          <a:bodyPr>
            <a:normAutofit fontScale="85000" lnSpcReduction="10000"/>
          </a:bodyPr>
          <a:lstStyle/>
          <a:p>
            <a:r>
              <a:rPr lang="es-BO" dirty="0" smtClean="0"/>
              <a:t>Son </a:t>
            </a:r>
            <a:r>
              <a:rPr lang="es-BO" dirty="0"/>
              <a:t>unos medicamentos cuyo efecto principal es producir vasodilatación de las arterias al bloquear los canales de entrada del calcio a las células. El calcio mantienen el tono de las fibras musculares de los vasos, lo que en algunos casos produce hipertensión. Al bloquear estos canales, “relaja” las fibras musculares, produciendo vasodilatación y descenso de la presión </a:t>
            </a:r>
            <a:r>
              <a:rPr lang="es-BO" dirty="0" smtClean="0"/>
              <a:t>arterial</a:t>
            </a:r>
            <a:r>
              <a:rPr lang="es-BO" dirty="0"/>
              <a:t>.</a:t>
            </a:r>
          </a:p>
        </p:txBody>
      </p:sp>
      <p:pic>
        <p:nvPicPr>
          <p:cNvPr id="5" name="4 Marcador de contenido"/>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710729" y="2924945"/>
            <a:ext cx="3041034" cy="2435250"/>
          </a:xfrm>
        </p:spPr>
      </p:pic>
    </p:spTree>
    <p:extLst>
      <p:ext uri="{BB962C8B-B14F-4D97-AF65-F5344CB8AC3E}">
        <p14:creationId xmlns:p14="http://schemas.microsoft.com/office/powerpoint/2010/main" val="28982554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0"/>
            <a:r>
              <a:rPr lang="es-BO" b="1" dirty="0" smtClean="0"/>
              <a:t>5.-DIURETICOS</a:t>
            </a:r>
            <a:endParaRPr lang="es-BO" dirty="0"/>
          </a:p>
        </p:txBody>
      </p:sp>
      <p:sp>
        <p:nvSpPr>
          <p:cNvPr id="3" name="2 Marcador de contenido"/>
          <p:cNvSpPr>
            <a:spLocks noGrp="1"/>
          </p:cNvSpPr>
          <p:nvPr>
            <p:ph sz="quarter" idx="13"/>
          </p:nvPr>
        </p:nvSpPr>
        <p:spPr>
          <a:xfrm>
            <a:off x="611560" y="2420888"/>
            <a:ext cx="3887287" cy="3705592"/>
          </a:xfrm>
        </p:spPr>
        <p:txBody>
          <a:bodyPr>
            <a:normAutofit/>
          </a:bodyPr>
          <a:lstStyle/>
          <a:p>
            <a:r>
              <a:rPr lang="es-BO" dirty="0" smtClean="0"/>
              <a:t>Los </a:t>
            </a:r>
            <a:r>
              <a:rPr lang="es-BO" dirty="0"/>
              <a:t>diuréticos son los fármacos antihipertensivos más antiguos y siguen siendo uno de los grupos de mayor utilidad. Son eficaces, económicos y generalmente bien tolerados a dosis bajas.</a:t>
            </a:r>
          </a:p>
        </p:txBody>
      </p:sp>
      <p:pic>
        <p:nvPicPr>
          <p:cNvPr id="5" name="4 Marcador de contenido"/>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768579" y="3068960"/>
            <a:ext cx="3026046" cy="2257896"/>
          </a:xfrm>
        </p:spPr>
      </p:pic>
    </p:spTree>
    <p:extLst>
      <p:ext uri="{BB962C8B-B14F-4D97-AF65-F5344CB8AC3E}">
        <p14:creationId xmlns:p14="http://schemas.microsoft.com/office/powerpoint/2010/main" val="25735743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55577" y="1700808"/>
            <a:ext cx="7524824" cy="4425355"/>
          </a:xfrm>
        </p:spPr>
        <p:txBody>
          <a:bodyPr>
            <a:normAutofit fontScale="92500" lnSpcReduction="10000"/>
          </a:bodyPr>
          <a:lstStyle/>
          <a:p>
            <a:pPr lvl="0"/>
            <a:r>
              <a:rPr lang="es-BO" dirty="0"/>
              <a:t>Diuréticos </a:t>
            </a:r>
            <a:r>
              <a:rPr lang="es-BO" dirty="0" err="1"/>
              <a:t>tiazídicos</a:t>
            </a:r>
            <a:r>
              <a:rPr lang="es-BO" dirty="0"/>
              <a:t>: (</a:t>
            </a:r>
            <a:r>
              <a:rPr lang="es-BO" dirty="0" err="1"/>
              <a:t>Clortalidona</a:t>
            </a:r>
            <a:r>
              <a:rPr lang="es-BO" dirty="0"/>
              <a:t>, </a:t>
            </a:r>
            <a:r>
              <a:rPr lang="es-BO" dirty="0" err="1"/>
              <a:t>Hidroclorotiazida</a:t>
            </a:r>
            <a:r>
              <a:rPr lang="es-BO" dirty="0"/>
              <a:t>, </a:t>
            </a:r>
            <a:r>
              <a:rPr lang="es-BO" dirty="0" err="1"/>
              <a:t>Indapamida</a:t>
            </a:r>
            <a:r>
              <a:rPr lang="es-BO" dirty="0"/>
              <a:t>, </a:t>
            </a:r>
            <a:r>
              <a:rPr lang="es-BO" dirty="0" err="1"/>
              <a:t>Xipamida</a:t>
            </a:r>
            <a:r>
              <a:rPr lang="es-BO" dirty="0"/>
              <a:t>): inhiben la reabsorción de sodio y cloro en el túbulo distal. </a:t>
            </a:r>
          </a:p>
          <a:p>
            <a:pPr lvl="0"/>
            <a:r>
              <a:rPr lang="es-BO" dirty="0"/>
              <a:t>Diuréticos de asa: (Furosemida, </a:t>
            </a:r>
            <a:r>
              <a:rPr lang="es-BO" dirty="0" err="1"/>
              <a:t>Torasemida</a:t>
            </a:r>
            <a:r>
              <a:rPr lang="es-BO" dirty="0"/>
              <a:t>): inhiben el transporte de sodio, potasio y cloro en al rama ascendente del asa de Henle. Son los más potentes.</a:t>
            </a:r>
          </a:p>
          <a:p>
            <a:pPr lvl="0"/>
            <a:r>
              <a:rPr lang="es-BO" dirty="0"/>
              <a:t>Diuréticos ahorradores de potasio: </a:t>
            </a:r>
            <a:r>
              <a:rPr lang="es-BO" dirty="0" err="1"/>
              <a:t>Amiloride</a:t>
            </a:r>
            <a:r>
              <a:rPr lang="es-BO" dirty="0"/>
              <a:t>, </a:t>
            </a:r>
            <a:r>
              <a:rPr lang="es-BO" dirty="0" err="1"/>
              <a:t>Triamterene</a:t>
            </a:r>
            <a:r>
              <a:rPr lang="es-BO" dirty="0"/>
              <a:t> y </a:t>
            </a:r>
            <a:r>
              <a:rPr lang="es-BO" dirty="0" err="1"/>
              <a:t>Espironolactona</a:t>
            </a:r>
            <a:r>
              <a:rPr lang="es-BO" dirty="0"/>
              <a:t>. </a:t>
            </a:r>
            <a:r>
              <a:rPr lang="es-BO" dirty="0" err="1"/>
              <a:t>Amiloride</a:t>
            </a:r>
            <a:r>
              <a:rPr lang="es-BO" dirty="0"/>
              <a:t> y </a:t>
            </a:r>
            <a:r>
              <a:rPr lang="es-BO" dirty="0" err="1"/>
              <a:t>Triamterene</a:t>
            </a:r>
            <a:r>
              <a:rPr lang="es-BO" dirty="0"/>
              <a:t>: modifican la reabsorción de sodio en túbulo distal y túbulos colectores, mientras que </a:t>
            </a:r>
            <a:r>
              <a:rPr lang="es-BO" dirty="0" err="1"/>
              <a:t>espironolactona</a:t>
            </a:r>
            <a:r>
              <a:rPr lang="es-BO" dirty="0"/>
              <a:t> actúa inhibiendo el intercambio sodio/potasio inducido por la aldosterona en el túbulo distal.</a:t>
            </a:r>
          </a:p>
          <a:p>
            <a:r>
              <a:rPr lang="es-BO" b="1" dirty="0"/>
              <a:t> </a:t>
            </a:r>
            <a:endParaRPr lang="es-BO" dirty="0"/>
          </a:p>
          <a:p>
            <a:endParaRPr lang="es-BO" dirty="0"/>
          </a:p>
        </p:txBody>
      </p:sp>
      <p:sp>
        <p:nvSpPr>
          <p:cNvPr id="3" name="2 Título"/>
          <p:cNvSpPr>
            <a:spLocks noGrp="1"/>
          </p:cNvSpPr>
          <p:nvPr>
            <p:ph type="title"/>
          </p:nvPr>
        </p:nvSpPr>
        <p:spPr/>
        <p:txBody>
          <a:bodyPr/>
          <a:lstStyle/>
          <a:p>
            <a:r>
              <a:rPr lang="es-BO" dirty="0" smtClean="0"/>
              <a:t>CLASIFICACION </a:t>
            </a:r>
            <a:endParaRPr lang="es-BO" dirty="0"/>
          </a:p>
        </p:txBody>
      </p:sp>
    </p:spTree>
    <p:extLst>
      <p:ext uri="{BB962C8B-B14F-4D97-AF65-F5344CB8AC3E}">
        <p14:creationId xmlns:p14="http://schemas.microsoft.com/office/powerpoint/2010/main" val="13174127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27585" y="2132856"/>
            <a:ext cx="7452816" cy="3993307"/>
          </a:xfrm>
        </p:spPr>
        <p:txBody>
          <a:bodyPr>
            <a:normAutofit/>
          </a:bodyPr>
          <a:lstStyle/>
          <a:p>
            <a:r>
              <a:rPr lang="es-BO" dirty="0" smtClean="0"/>
              <a:t>Los </a:t>
            </a:r>
            <a:r>
              <a:rPr lang="es-BO" dirty="0"/>
              <a:t>estimulantes son fármacos que aumentan la frecuencia cardíaca, la frecuencia respiratoria y la actividad cerebral. Algunos estimulantes afectan solamente un órgano específico como el corazón, los pulmones, el cerebro o el sistema nervioso</a:t>
            </a:r>
          </a:p>
          <a:p>
            <a:r>
              <a:rPr lang="es-BO" dirty="0"/>
              <a:t>La epinefrina es un estimulante y se administra durante un paro cardíaco para hacer que el corazón palpite.</a:t>
            </a:r>
          </a:p>
        </p:txBody>
      </p:sp>
      <p:sp>
        <p:nvSpPr>
          <p:cNvPr id="3" name="2 Título"/>
          <p:cNvSpPr>
            <a:spLocks noGrp="1"/>
          </p:cNvSpPr>
          <p:nvPr>
            <p:ph type="title"/>
          </p:nvPr>
        </p:nvSpPr>
        <p:spPr/>
        <p:txBody>
          <a:bodyPr/>
          <a:lstStyle/>
          <a:p>
            <a:pPr lvl="0"/>
            <a:r>
              <a:rPr lang="es-BO" b="1" dirty="0" smtClean="0"/>
              <a:t>6.-ESTIMULANTES </a:t>
            </a:r>
            <a:r>
              <a:rPr lang="es-BO" b="1" dirty="0"/>
              <a:t>CARDIACOS</a:t>
            </a:r>
            <a:endParaRPr lang="es-BO" dirty="0"/>
          </a:p>
        </p:txBody>
      </p:sp>
    </p:spTree>
    <p:extLst>
      <p:ext uri="{BB962C8B-B14F-4D97-AF65-F5344CB8AC3E}">
        <p14:creationId xmlns:p14="http://schemas.microsoft.com/office/powerpoint/2010/main" val="24093958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27585" y="2132856"/>
            <a:ext cx="7452816" cy="3993307"/>
          </a:xfrm>
        </p:spPr>
        <p:txBody>
          <a:bodyPr>
            <a:normAutofit/>
          </a:bodyPr>
          <a:lstStyle/>
          <a:p>
            <a:r>
              <a:rPr lang="es-BO" dirty="0" smtClean="0"/>
              <a:t>Medicamentos </a:t>
            </a:r>
            <a:r>
              <a:rPr lang="es-BO" dirty="0"/>
              <a:t>que descienden las cifras de </a:t>
            </a:r>
            <a:r>
              <a:rPr lang="es-BO" dirty="0" err="1"/>
              <a:t>colestero</a:t>
            </a:r>
            <a:r>
              <a:rPr lang="es-BO" dirty="0"/>
              <a:t>. Son fármacos que disminuyen el nivel de colesterol de la sangre. Existen dos grandes grupos de </a:t>
            </a:r>
            <a:r>
              <a:rPr lang="es-BO" dirty="0" err="1"/>
              <a:t>hipolipemiantes</a:t>
            </a:r>
            <a:r>
              <a:rPr lang="es-BO" dirty="0"/>
              <a:t>, unos que inhiben la síntesis de colesterol a nivel hepático, como las </a:t>
            </a:r>
            <a:r>
              <a:rPr lang="es-BO" dirty="0" err="1"/>
              <a:t>estatinas</a:t>
            </a:r>
            <a:r>
              <a:rPr lang="es-BO" dirty="0"/>
              <a:t> o los </a:t>
            </a:r>
            <a:r>
              <a:rPr lang="es-BO" dirty="0" err="1"/>
              <a:t>fibratos</a:t>
            </a:r>
            <a:r>
              <a:rPr lang="es-BO" dirty="0"/>
              <a:t>, y otros que impiden la absorción intestinal de grasa como las resinas de intercambio iónico o el </a:t>
            </a:r>
            <a:r>
              <a:rPr lang="es-BO" dirty="0" err="1"/>
              <a:t>ezetimibe</a:t>
            </a:r>
            <a:r>
              <a:rPr lang="es-BO" dirty="0"/>
              <a:t>, de reciente introducción.</a:t>
            </a:r>
          </a:p>
          <a:p>
            <a:endParaRPr lang="es-BO" dirty="0"/>
          </a:p>
        </p:txBody>
      </p:sp>
      <p:sp>
        <p:nvSpPr>
          <p:cNvPr id="3" name="2 Título"/>
          <p:cNvSpPr>
            <a:spLocks noGrp="1"/>
          </p:cNvSpPr>
          <p:nvPr>
            <p:ph type="title"/>
          </p:nvPr>
        </p:nvSpPr>
        <p:spPr/>
        <p:txBody>
          <a:bodyPr>
            <a:normAutofit/>
          </a:bodyPr>
          <a:lstStyle/>
          <a:p>
            <a:pPr lvl="0"/>
            <a:r>
              <a:rPr lang="es-BO" dirty="0" smtClean="0"/>
              <a:t>7.-</a:t>
            </a:r>
            <a:r>
              <a:rPr lang="es-BO" b="1" dirty="0"/>
              <a:t>REDUCTORES DE </a:t>
            </a:r>
            <a:r>
              <a:rPr lang="es-BO" b="1" dirty="0" smtClean="0"/>
              <a:t>COLESTEROL</a:t>
            </a:r>
            <a:endParaRPr lang="es-BO" dirty="0"/>
          </a:p>
        </p:txBody>
      </p:sp>
    </p:spTree>
    <p:extLst>
      <p:ext uri="{BB962C8B-B14F-4D97-AF65-F5344CB8AC3E}">
        <p14:creationId xmlns:p14="http://schemas.microsoft.com/office/powerpoint/2010/main" val="36392492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55577" y="1844824"/>
            <a:ext cx="7524824" cy="4281339"/>
          </a:xfrm>
        </p:spPr>
        <p:txBody>
          <a:bodyPr>
            <a:normAutofit/>
          </a:bodyPr>
          <a:lstStyle/>
          <a:p>
            <a:r>
              <a:rPr lang="es-BO" dirty="0" smtClean="0"/>
              <a:t>Existe </a:t>
            </a:r>
            <a:r>
              <a:rPr lang="es-BO" dirty="0"/>
              <a:t>una gran variedad de drogas vasodilatadoras, de uso creciente en diferentes patologías cardiovasculares: insuficiencia cardíaca, cardiopatía isquémica, </a:t>
            </a:r>
            <a:r>
              <a:rPr lang="es-BO" dirty="0" err="1"/>
              <a:t>valvulopatías</a:t>
            </a:r>
            <a:r>
              <a:rPr lang="es-BO" dirty="0"/>
              <a:t>, hipertensión arterial, etc. Se pueden dividir de acuerdo al territorio vascular sobre el cual actúan de preferencia: territorio venoso (v.gr.: nitritos), territorio arterial (v.gr.: Ca+ antagonistas, </a:t>
            </a:r>
            <a:r>
              <a:rPr lang="es-BO" dirty="0" err="1"/>
              <a:t>hidralazina</a:t>
            </a:r>
            <a:r>
              <a:rPr lang="es-BO" dirty="0"/>
              <a:t>) o mixtos, v.gr.: inhibidores de la Enzima </a:t>
            </a:r>
            <a:r>
              <a:rPr lang="es-BO" dirty="0" err="1"/>
              <a:t>Convertidora</a:t>
            </a:r>
            <a:r>
              <a:rPr lang="es-BO" dirty="0"/>
              <a:t> de la Angiotensina (ECA), </a:t>
            </a:r>
            <a:r>
              <a:rPr lang="es-BO" dirty="0" err="1"/>
              <a:t>prazosin</a:t>
            </a:r>
            <a:r>
              <a:rPr lang="es-BO" dirty="0"/>
              <a:t>, </a:t>
            </a:r>
            <a:r>
              <a:rPr lang="es-BO" dirty="0" err="1"/>
              <a:t>nitroprusiato</a:t>
            </a:r>
            <a:r>
              <a:rPr lang="es-BO" dirty="0"/>
              <a:t> de sodio.</a:t>
            </a:r>
          </a:p>
          <a:p>
            <a:endParaRPr lang="es-BO" dirty="0"/>
          </a:p>
        </p:txBody>
      </p:sp>
      <p:sp>
        <p:nvSpPr>
          <p:cNvPr id="3" name="2 Título"/>
          <p:cNvSpPr>
            <a:spLocks noGrp="1"/>
          </p:cNvSpPr>
          <p:nvPr>
            <p:ph type="title"/>
          </p:nvPr>
        </p:nvSpPr>
        <p:spPr/>
        <p:txBody>
          <a:bodyPr>
            <a:normAutofit/>
          </a:bodyPr>
          <a:lstStyle/>
          <a:p>
            <a:pPr lvl="0"/>
            <a:r>
              <a:rPr lang="es-BO" b="1" dirty="0" smtClean="0"/>
              <a:t>8.-VASODILATADORES.</a:t>
            </a:r>
            <a:endParaRPr lang="es-BO" dirty="0"/>
          </a:p>
        </p:txBody>
      </p:sp>
    </p:spTree>
    <p:extLst>
      <p:ext uri="{BB962C8B-B14F-4D97-AF65-F5344CB8AC3E}">
        <p14:creationId xmlns:p14="http://schemas.microsoft.com/office/powerpoint/2010/main" val="7545853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BO" dirty="0" smtClean="0"/>
              <a:t>9.-</a:t>
            </a:r>
            <a:r>
              <a:rPr lang="es-BO" b="1" dirty="0"/>
              <a:t>TERAPIA </a:t>
            </a:r>
            <a:r>
              <a:rPr lang="es-BO" b="1" dirty="0" smtClean="0"/>
              <a:t>ANTIPLAQUETARIA</a:t>
            </a:r>
            <a:endParaRPr lang="es-BO" dirty="0"/>
          </a:p>
        </p:txBody>
      </p:sp>
      <p:sp>
        <p:nvSpPr>
          <p:cNvPr id="3" name="2 Marcador de contenido"/>
          <p:cNvSpPr>
            <a:spLocks noGrp="1"/>
          </p:cNvSpPr>
          <p:nvPr>
            <p:ph sz="quarter" idx="13"/>
          </p:nvPr>
        </p:nvSpPr>
        <p:spPr/>
        <p:txBody>
          <a:bodyPr>
            <a:normAutofit/>
          </a:bodyPr>
          <a:lstStyle/>
          <a:p>
            <a:r>
              <a:rPr lang="es-BO" dirty="0" smtClean="0"/>
              <a:t>Los </a:t>
            </a:r>
            <a:r>
              <a:rPr lang="es-BO" dirty="0" err="1"/>
              <a:t>antiplaquetarios</a:t>
            </a:r>
            <a:r>
              <a:rPr lang="es-BO" dirty="0"/>
              <a:t> son un grupo de medicamentos que evitan que unas células sanguíneas denominadas «plaquetas» se aglutinen y formen un coágulo sanguíneo</a:t>
            </a:r>
            <a:endParaRPr lang="es-BO" dirty="0"/>
          </a:p>
        </p:txBody>
      </p:sp>
      <p:pic>
        <p:nvPicPr>
          <p:cNvPr id="5" name="4 Marcador de contenido"/>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301883" y="2636912"/>
            <a:ext cx="3397492" cy="2661369"/>
          </a:xfrm>
        </p:spPr>
      </p:pic>
    </p:spTree>
    <p:extLst>
      <p:ext uri="{BB962C8B-B14F-4D97-AF65-F5344CB8AC3E}">
        <p14:creationId xmlns:p14="http://schemas.microsoft.com/office/powerpoint/2010/main" val="2258751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3"/>
          </p:nvPr>
        </p:nvSpPr>
        <p:spPr>
          <a:xfrm>
            <a:off x="611560" y="2348880"/>
            <a:ext cx="3887287" cy="3777600"/>
          </a:xfrm>
        </p:spPr>
        <p:txBody>
          <a:bodyPr>
            <a:normAutofit/>
          </a:bodyPr>
          <a:lstStyle/>
          <a:p>
            <a:r>
              <a:rPr lang="es-BO" dirty="0" smtClean="0"/>
              <a:t>Estos </a:t>
            </a:r>
            <a:r>
              <a:rPr lang="es-BO" dirty="0"/>
              <a:t>medicamentos bloquean la acción de la angiotensina II, una enzima que estrecha los vasos sanguíneos. Si se relajan los vasos sanguíneos, se reduce la</a:t>
            </a:r>
            <a:r>
              <a:rPr lang="es-BO" u="sng" dirty="0"/>
              <a:t> presión arterial</a:t>
            </a:r>
            <a:r>
              <a:rPr lang="es-BO" dirty="0"/>
              <a:t> y llega al corazón más sangre rica en oxígeno.</a:t>
            </a:r>
          </a:p>
        </p:txBody>
      </p:sp>
      <p:pic>
        <p:nvPicPr>
          <p:cNvPr id="6" name="5 Marcador de contenido"/>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393704" y="2780928"/>
            <a:ext cx="3305671" cy="2479253"/>
          </a:xfrm>
        </p:spPr>
      </p:pic>
      <p:sp>
        <p:nvSpPr>
          <p:cNvPr id="5" name="4 Título"/>
          <p:cNvSpPr>
            <a:spLocks noGrp="1"/>
          </p:cNvSpPr>
          <p:nvPr>
            <p:ph type="title"/>
          </p:nvPr>
        </p:nvSpPr>
        <p:spPr>
          <a:xfrm>
            <a:off x="457200" y="338328"/>
            <a:ext cx="8229600" cy="1650512"/>
          </a:xfrm>
        </p:spPr>
        <p:txBody>
          <a:bodyPr>
            <a:normAutofit fontScale="90000"/>
          </a:bodyPr>
          <a:lstStyle/>
          <a:p>
            <a:r>
              <a:rPr lang="es-BO" b="1" dirty="0"/>
              <a:t>10. </a:t>
            </a:r>
            <a:r>
              <a:rPr lang="es-BO" sz="3600" b="1" dirty="0"/>
              <a:t>BLOQUENATES DE LOS RECEPTORES DE LA ANGIOTENSINA II</a:t>
            </a:r>
            <a:r>
              <a:rPr lang="es-BO" dirty="0"/>
              <a:t/>
            </a:r>
            <a:br>
              <a:rPr lang="es-BO" dirty="0"/>
            </a:br>
            <a:endParaRPr lang="es-BO" dirty="0"/>
          </a:p>
        </p:txBody>
      </p:sp>
    </p:spTree>
    <p:extLst>
      <p:ext uri="{BB962C8B-B14F-4D97-AF65-F5344CB8AC3E}">
        <p14:creationId xmlns:p14="http://schemas.microsoft.com/office/powerpoint/2010/main" val="33078822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55577" y="2276872"/>
            <a:ext cx="7524824" cy="3849291"/>
          </a:xfrm>
        </p:spPr>
        <p:txBody>
          <a:bodyPr>
            <a:normAutofit/>
          </a:bodyPr>
          <a:lstStyle/>
          <a:p>
            <a:r>
              <a:rPr lang="es-ES" dirty="0" smtClean="0"/>
              <a:t>La </a:t>
            </a:r>
            <a:r>
              <a:rPr lang="es-ES" dirty="0"/>
              <a:t>ECA (Enzima </a:t>
            </a:r>
            <a:r>
              <a:rPr lang="es-ES" dirty="0" err="1"/>
              <a:t>Convertidora</a:t>
            </a:r>
            <a:r>
              <a:rPr lang="es-ES" dirty="0"/>
              <a:t> de Angiotensina) cataliza la conversión de Angiotensina I en Angiotensina II, la cual actúa como un potente vasoconstrictor periférico y estimula la secreción de aldosterona por la glándula suprarrenal, que aumenta el volumen sanguíneo, </a:t>
            </a:r>
            <a:r>
              <a:rPr lang="es-ES" dirty="0" err="1"/>
              <a:t>iECA</a:t>
            </a:r>
            <a:r>
              <a:rPr lang="es-ES" dirty="0"/>
              <a:t> (Inhibidores de la ECA) interfieren con este proceso</a:t>
            </a:r>
            <a:endParaRPr lang="es-BO" dirty="0"/>
          </a:p>
          <a:p>
            <a:endParaRPr lang="es-BO" dirty="0"/>
          </a:p>
        </p:txBody>
      </p:sp>
      <p:sp>
        <p:nvSpPr>
          <p:cNvPr id="3" name="2 Título"/>
          <p:cNvSpPr>
            <a:spLocks noGrp="1"/>
          </p:cNvSpPr>
          <p:nvPr>
            <p:ph type="title"/>
          </p:nvPr>
        </p:nvSpPr>
        <p:spPr>
          <a:xfrm>
            <a:off x="457200" y="338328"/>
            <a:ext cx="8229600" cy="1866536"/>
          </a:xfrm>
        </p:spPr>
        <p:txBody>
          <a:bodyPr>
            <a:normAutofit fontScale="90000"/>
          </a:bodyPr>
          <a:lstStyle/>
          <a:p>
            <a:r>
              <a:rPr lang="es-BO" sz="3600" b="1" dirty="0"/>
              <a:t>11. INHIBIDORES DE LA ENZIMA CONVERTIDORA DE LA ANGIOTENSINA (ECA)</a:t>
            </a:r>
            <a:r>
              <a:rPr lang="es-BO" dirty="0"/>
              <a:t/>
            </a:r>
            <a:br>
              <a:rPr lang="es-BO" dirty="0"/>
            </a:br>
            <a:endParaRPr lang="es-BO" dirty="0"/>
          </a:p>
        </p:txBody>
      </p:sp>
    </p:spTree>
    <p:extLst>
      <p:ext uri="{BB962C8B-B14F-4D97-AF65-F5344CB8AC3E}">
        <p14:creationId xmlns:p14="http://schemas.microsoft.com/office/powerpoint/2010/main" val="36262237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755577" y="2492896"/>
            <a:ext cx="7524824" cy="3633267"/>
          </a:xfrm>
        </p:spPr>
        <p:txBody>
          <a:bodyPr>
            <a:normAutofit/>
          </a:bodyPr>
          <a:lstStyle/>
          <a:p>
            <a:r>
              <a:rPr lang="es-BO" dirty="0" smtClean="0"/>
              <a:t>Los </a:t>
            </a:r>
            <a:r>
              <a:rPr lang="es-BO" dirty="0"/>
              <a:t>nitratos son vasodilatadores. Los vasodilatadores ensanchan (dilatan) los vasos sanguíneos, lo cual mejora el flujo sanguíneo y permite un mayor suministro de sangre rica en oxígeno al músculo cardíaco. Los nitratos además relajan las venas. Si regresa al corazón una menor cantidad de sangre proveniente de los brazos y las piernas, se reduce el esfuerzo del corazón. Se produce una vasodilatación generalizada.</a:t>
            </a:r>
          </a:p>
          <a:p>
            <a:endParaRPr lang="es-BO" dirty="0"/>
          </a:p>
        </p:txBody>
      </p:sp>
      <p:sp>
        <p:nvSpPr>
          <p:cNvPr id="3" name="2 Título"/>
          <p:cNvSpPr>
            <a:spLocks noGrp="1"/>
          </p:cNvSpPr>
          <p:nvPr>
            <p:ph type="title"/>
          </p:nvPr>
        </p:nvSpPr>
        <p:spPr/>
        <p:txBody>
          <a:bodyPr>
            <a:normAutofit/>
          </a:bodyPr>
          <a:lstStyle/>
          <a:p>
            <a:r>
              <a:rPr lang="es-BO" dirty="0"/>
              <a:t>12.</a:t>
            </a:r>
            <a:r>
              <a:rPr lang="es-BO" b="1" dirty="0"/>
              <a:t> NITRATOS </a:t>
            </a:r>
            <a:endParaRPr lang="es-BO" dirty="0"/>
          </a:p>
        </p:txBody>
      </p:sp>
    </p:spTree>
    <p:extLst>
      <p:ext uri="{BB962C8B-B14F-4D97-AF65-F5344CB8AC3E}">
        <p14:creationId xmlns:p14="http://schemas.microsoft.com/office/powerpoint/2010/main" val="1986957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rma de onda">
  <a:themeElements>
    <a:clrScheme name="Forma de onda">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Forma de onda">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orma de onda">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30</TotalTime>
  <Words>991</Words>
  <Application>Microsoft Office PowerPoint</Application>
  <PresentationFormat>Presentación en pantalla (4:3)</PresentationFormat>
  <Paragraphs>70</Paragraphs>
  <Slides>18</Slides>
  <Notes>0</Notes>
  <HiddenSlides>0</HiddenSlides>
  <MMClips>0</MMClips>
  <ScaleCrop>false</ScaleCrop>
  <HeadingPairs>
    <vt:vector size="4" baseType="variant">
      <vt:variant>
        <vt:lpstr>Tema</vt:lpstr>
      </vt:variant>
      <vt:variant>
        <vt:i4>1</vt:i4>
      </vt:variant>
      <vt:variant>
        <vt:lpstr>Títulos de diapositiva</vt:lpstr>
      </vt:variant>
      <vt:variant>
        <vt:i4>18</vt:i4>
      </vt:variant>
    </vt:vector>
  </HeadingPairs>
  <TitlesOfParts>
    <vt:vector size="19" baseType="lpstr">
      <vt:lpstr>Forma de onda</vt:lpstr>
      <vt:lpstr>FARMACOS CARDIOVASCULARES</vt:lpstr>
      <vt:lpstr>INTRODUCCION.- </vt:lpstr>
      <vt:lpstr>TIPOS DE MEDICAMENTOS</vt:lpstr>
      <vt:lpstr>1. ANTIARRITMICOS</vt:lpstr>
      <vt:lpstr>SUBTIPOS</vt:lpstr>
      <vt:lpstr>FARMACOS MAS USADOS</vt:lpstr>
      <vt:lpstr>2.ANTIHIPERTENSIVOS</vt:lpstr>
      <vt:lpstr>3.-BETABLOQUEADORES</vt:lpstr>
      <vt:lpstr>4.-BLOQUENATES DE LOS CANALES DE CALCIO</vt:lpstr>
      <vt:lpstr>5.-DIURETICOS</vt:lpstr>
      <vt:lpstr>CLASIFICACION </vt:lpstr>
      <vt:lpstr>6.-ESTIMULANTES CARDIACOS</vt:lpstr>
      <vt:lpstr>7.-REDUCTORES DE COLESTEROL</vt:lpstr>
      <vt:lpstr>8.-VASODILATADORES.</vt:lpstr>
      <vt:lpstr>9.-TERAPIA ANTIPLAQUETARIA</vt:lpstr>
      <vt:lpstr>10. BLOQUENATES DE LOS RECEPTORES DE LA ANGIOTENSINA II </vt:lpstr>
      <vt:lpstr>11. INHIBIDORES DE LA ENZIMA CONVERTIDORA DE LA ANGIOTENSINA (ECA) </vt:lpstr>
      <vt:lpstr>12. NITRATOS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FARMACOS CARDIOVASCULARES</dc:title>
  <dc:creator>LILI</dc:creator>
  <cp:lastModifiedBy>LILI</cp:lastModifiedBy>
  <cp:revision>4</cp:revision>
  <dcterms:created xsi:type="dcterms:W3CDTF">2014-04-12T12:59:59Z</dcterms:created>
  <dcterms:modified xsi:type="dcterms:W3CDTF">2014-04-12T13:30:27Z</dcterms:modified>
</cp:coreProperties>
</file>