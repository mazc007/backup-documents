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310" r:id="rId9"/>
    <p:sldId id="272" r:id="rId10"/>
    <p:sldId id="275" r:id="rId11"/>
    <p:sldId id="273" r:id="rId12"/>
    <p:sldId id="276" r:id="rId13"/>
    <p:sldId id="277" r:id="rId14"/>
    <p:sldId id="283" r:id="rId15"/>
    <p:sldId id="279" r:id="rId16"/>
    <p:sldId id="257" r:id="rId17"/>
    <p:sldId id="281" r:id="rId18"/>
    <p:sldId id="258" r:id="rId19"/>
    <p:sldId id="282" r:id="rId20"/>
    <p:sldId id="259" r:id="rId21"/>
    <p:sldId id="284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8" r:id="rId44"/>
    <p:sldId id="309" r:id="rId45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71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28 Título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16" name="15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8AD-53B8-45D1-992F-1E41E212C085}" type="datetimeFigureOut">
              <a:rPr lang="es-BO" smtClean="0"/>
              <a:t>14/11/2014</a:t>
            </a:fld>
            <a:endParaRPr lang="es-BO"/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15" name="1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4EF4B814-FADE-457F-9D01-08DD0A4A3022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7" name="26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8AD-53B8-45D1-992F-1E41E212C085}" type="datetimeFigureOut">
              <a:rPr lang="es-BO" smtClean="0"/>
              <a:t>14/11/2014</a:t>
            </a:fld>
            <a:endParaRPr lang="es-BO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s-BO"/>
          </a:p>
        </p:txBody>
      </p:sp>
      <p:sp>
        <p:nvSpPr>
          <p:cNvPr id="16" name="1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4EF4B814-FADE-457F-9D01-08DD0A4A3022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texto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9" name="18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8AD-53B8-45D1-992F-1E41E212C085}" type="datetimeFigureOut">
              <a:rPr lang="es-BO" smtClean="0"/>
              <a:t>14/11/2014</a:t>
            </a:fld>
            <a:endParaRPr lang="es-BO"/>
          </a:p>
        </p:txBody>
      </p:sp>
      <p:sp>
        <p:nvSpPr>
          <p:cNvPr id="11" name="10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16" name="1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4B814-FADE-457F-9D01-08DD0A4A3022}" type="slidenum">
              <a:rPr lang="es-BO" smtClean="0"/>
              <a:t>‹Nº›</a:t>
            </a:fld>
            <a:endParaRPr lang="es-BO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9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4" name="13 Marcador de contenido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8AD-53B8-45D1-992F-1E41E212C085}" type="datetimeFigureOut">
              <a:rPr lang="es-BO" smtClean="0"/>
              <a:t>14/11/2014</a:t>
            </a:fld>
            <a:endParaRPr lang="es-BO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1" name="3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4B814-FADE-457F-9D01-08DD0A4A3022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28 Título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25" name="24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8" name="27 Marcador de contenido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8AD-53B8-45D1-992F-1E41E212C085}" type="datetimeFigureOut">
              <a:rPr lang="es-BO" smtClean="0"/>
              <a:t>14/11/2014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4EF4B814-FADE-457F-9D01-08DD0A4A3022}" type="slidenum">
              <a:rPr lang="es-BO" smtClean="0"/>
              <a:t>‹Nº›</a:t>
            </a:fld>
            <a:endParaRPr lang="es-BO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29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2" name="1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8AD-53B8-45D1-992F-1E41E212C085}" type="datetimeFigureOut">
              <a:rPr lang="es-BO" smtClean="0"/>
              <a:t>14/11/2014</a:t>
            </a:fld>
            <a:endParaRPr lang="es-BO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4B814-FADE-457F-9D01-08DD0A4A3022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8AD-53B8-45D1-992F-1E41E212C085}" type="datetimeFigureOut">
              <a:rPr lang="es-BO" smtClean="0"/>
              <a:t>14/11/2014</a:t>
            </a:fld>
            <a:endParaRPr lang="es-BO"/>
          </a:p>
        </p:txBody>
      </p:sp>
      <p:sp>
        <p:nvSpPr>
          <p:cNvPr id="24" name="2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4B814-FADE-457F-9D01-08DD0A4A3022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Título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6" name="25 Marcador de texto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contenido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8AD-53B8-45D1-992F-1E41E212C085}" type="datetimeFigureOut">
              <a:rPr lang="es-BO" smtClean="0"/>
              <a:t>14/11/2014</a:t>
            </a:fld>
            <a:endParaRPr lang="es-BO"/>
          </a:p>
        </p:txBody>
      </p:sp>
      <p:sp>
        <p:nvSpPr>
          <p:cNvPr id="29" name="2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4B814-FADE-457F-9D01-08DD0A4A3022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Marcador de posición de imagen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8AD-53B8-45D1-992F-1E41E212C085}" type="datetimeFigureOut">
              <a:rPr lang="es-BO" smtClean="0"/>
              <a:t>14/11/2014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1" name="3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4B814-FADE-457F-9D01-08DD0A4A3022}" type="slidenum">
              <a:rPr lang="es-BO" smtClean="0"/>
              <a:t>‹Nº›</a:t>
            </a:fld>
            <a:endParaRPr lang="es-BO"/>
          </a:p>
        </p:txBody>
      </p:sp>
      <p:sp>
        <p:nvSpPr>
          <p:cNvPr id="17" name="16 Título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6" name="25 Marcador de texto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8AD-53B8-45D1-992F-1E41E212C085}" type="datetimeFigureOut">
              <a:rPr lang="es-BO" smtClean="0"/>
              <a:t>14/11/2014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4B814-FADE-457F-9D01-08DD0A4A3022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8AD-53B8-45D1-992F-1E41E212C085}" type="datetimeFigureOut">
              <a:rPr lang="es-BO" smtClean="0"/>
              <a:t>14/11/2014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4B814-FADE-457F-9D01-08DD0A4A3022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Marcador de texto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1" name="10 Marcador de fecha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CC74B8AD-53B8-45D1-992F-1E41E212C085}" type="datetimeFigureOut">
              <a:rPr lang="es-BO" smtClean="0"/>
              <a:t>14/11/2014</a:t>
            </a:fld>
            <a:endParaRPr lang="es-BO"/>
          </a:p>
        </p:txBody>
      </p:sp>
      <p:sp>
        <p:nvSpPr>
          <p:cNvPr id="28" name="27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4EF4B814-FADE-457F-9D01-08DD0A4A3022}" type="slidenum">
              <a:rPr lang="es-BO" smtClean="0"/>
              <a:t>‹Nº›</a:t>
            </a:fld>
            <a:endParaRPr lang="es-BO"/>
          </a:p>
        </p:txBody>
      </p:sp>
      <p:sp>
        <p:nvSpPr>
          <p:cNvPr id="10" name="9 Marcador de título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81000" y="3501009"/>
            <a:ext cx="8458200" cy="1512167"/>
          </a:xfrm>
        </p:spPr>
        <p:txBody>
          <a:bodyPr>
            <a:normAutofit fontScale="90000"/>
          </a:bodyPr>
          <a:lstStyle/>
          <a:p>
            <a:pPr algn="ctr"/>
            <a:r>
              <a:rPr lang="es-BO" b="1" dirty="0">
                <a:latin typeface="Calibri" pitchFamily="34" charset="0"/>
              </a:rPr>
              <a:t>LIC. CARMEN R. TERAN ALVAREZ</a:t>
            </a:r>
            <a:br>
              <a:rPr lang="es-BO" b="1" dirty="0">
                <a:latin typeface="Calibri" pitchFamily="34" charset="0"/>
              </a:rPr>
            </a:br>
            <a:r>
              <a:rPr lang="es-BO" b="1" dirty="0" smtClean="0">
                <a:latin typeface="Calibri" pitchFamily="34" charset="0"/>
              </a:rPr>
              <a:t/>
            </a:r>
            <a:br>
              <a:rPr lang="es-BO" b="1" dirty="0" smtClean="0">
                <a:latin typeface="Calibri" pitchFamily="34" charset="0"/>
              </a:rPr>
            </a:br>
            <a:r>
              <a:rPr lang="es-BO" b="1" dirty="0" smtClean="0">
                <a:latin typeface="Calibri" pitchFamily="34" charset="0"/>
              </a:rPr>
              <a:t>16 </a:t>
            </a:r>
            <a:r>
              <a:rPr lang="es-BO" b="1" dirty="0">
                <a:latin typeface="Calibri" pitchFamily="34" charset="0"/>
              </a:rPr>
              <a:t>DE OCTUBRE 2014</a:t>
            </a:r>
            <a:r>
              <a:rPr lang="es-BO" b="1" dirty="0"/>
              <a:t/>
            </a:r>
            <a:br>
              <a:rPr lang="es-BO" b="1" dirty="0"/>
            </a:br>
            <a:endParaRPr lang="es-BO" b="1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81000" y="2132856"/>
            <a:ext cx="8458200" cy="1224136"/>
          </a:xfrm>
        </p:spPr>
        <p:txBody>
          <a:bodyPr>
            <a:normAutofit/>
          </a:bodyPr>
          <a:lstStyle/>
          <a:p>
            <a:r>
              <a:rPr lang="es-BO" sz="4000" b="1" dirty="0" smtClean="0">
                <a:latin typeface="Calibri" pitchFamily="34" charset="0"/>
              </a:rPr>
              <a:t>MODULO : GERIATRIA</a:t>
            </a:r>
            <a:endParaRPr lang="es-BO" sz="4000" b="1" dirty="0">
              <a:latin typeface="Calibri" pitchFamily="34" charset="0"/>
            </a:endParaRPr>
          </a:p>
        </p:txBody>
      </p:sp>
      <p:pic>
        <p:nvPicPr>
          <p:cNvPr id="4" name="3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548680"/>
            <a:ext cx="3672408" cy="1941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9549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INTRODUCCION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1412776"/>
            <a:ext cx="6831861" cy="4824536"/>
          </a:xfrm>
        </p:spPr>
        <p:txBody>
          <a:bodyPr>
            <a:normAutofit lnSpcReduction="10000"/>
          </a:bodyPr>
          <a:lstStyle/>
          <a:p>
            <a:pPr algn="just"/>
            <a:r>
              <a:rPr lang="es-BO" sz="2800" b="1" dirty="0">
                <a:latin typeface="Calibri" pitchFamily="34" charset="0"/>
              </a:rPr>
              <a:t>Actualmente nuestra sociedad está experimentando procesos importantes de transformaciones especialmente  en el área </a:t>
            </a:r>
            <a:r>
              <a:rPr lang="es-BO" sz="2800" b="1" dirty="0" smtClean="0">
                <a:latin typeface="Calibri" pitchFamily="34" charset="0"/>
              </a:rPr>
              <a:t>demográfica.</a:t>
            </a:r>
          </a:p>
          <a:p>
            <a:pPr algn="just"/>
            <a:r>
              <a:rPr lang="es-BO" sz="2800" b="1" dirty="0" smtClean="0">
                <a:latin typeface="Calibri" pitchFamily="34" charset="0"/>
              </a:rPr>
              <a:t>Para </a:t>
            </a:r>
            <a:r>
              <a:rPr lang="es-BO" sz="2800" b="1" dirty="0">
                <a:latin typeface="Calibri" pitchFamily="34" charset="0"/>
              </a:rPr>
              <a:t>el año 2050, por primera vez en la historia de la humanidad, la cantidad de personas de edad en el mundo superaran a la cantidad de jóvenes (ONU 2002). </a:t>
            </a:r>
            <a:endParaRPr lang="es-BO" sz="2800" b="1" dirty="0" smtClean="0">
              <a:latin typeface="Calibri" pitchFamily="34" charset="0"/>
            </a:endParaRPr>
          </a:p>
          <a:p>
            <a:pPr algn="just"/>
            <a:r>
              <a:rPr lang="es-BO" sz="2800" b="1" dirty="0">
                <a:latin typeface="Calibri" pitchFamily="34" charset="0"/>
              </a:rPr>
              <a:t>Las tendencias demográficas señalan que el envejecimiento poblacional es un fenómeno que va en </a:t>
            </a:r>
            <a:r>
              <a:rPr lang="es-BO" sz="2800" b="1" dirty="0" smtClean="0">
                <a:latin typeface="Calibri" pitchFamily="34" charset="0"/>
              </a:rPr>
              <a:t>aumento.</a:t>
            </a:r>
            <a:endParaRPr lang="es-BO" sz="2800" b="1" dirty="0">
              <a:latin typeface="Calibri" pitchFamily="34" charset="0"/>
            </a:endParaRPr>
          </a:p>
          <a:p>
            <a:pPr algn="just"/>
            <a:endParaRPr lang="es-BO" sz="2800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48774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dirty="0" smtClean="0"/>
              <a:t>ENVEJECIMIENTO EN BOLIVIA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BO" b="1" dirty="0" smtClean="0">
                <a:latin typeface="Calibri" pitchFamily="34" charset="0"/>
              </a:rPr>
              <a:t>Censo  </a:t>
            </a:r>
            <a:r>
              <a:rPr lang="es-BO" b="1" dirty="0">
                <a:latin typeface="Calibri" pitchFamily="34" charset="0"/>
              </a:rPr>
              <a:t>de 2001 </a:t>
            </a:r>
            <a:r>
              <a:rPr lang="es-BO" b="1" dirty="0" smtClean="0">
                <a:latin typeface="Calibri" pitchFamily="34" charset="0"/>
              </a:rPr>
              <a:t>  </a:t>
            </a:r>
            <a:r>
              <a:rPr lang="es-BO" b="1" dirty="0">
                <a:latin typeface="Calibri" pitchFamily="34" charset="0"/>
              </a:rPr>
              <a:t>la población de 60 años y </a:t>
            </a:r>
            <a:r>
              <a:rPr lang="es-BO" b="1" dirty="0" smtClean="0">
                <a:latin typeface="Calibri" pitchFamily="34" charset="0"/>
              </a:rPr>
              <a:t>más de edad </a:t>
            </a:r>
            <a:r>
              <a:rPr lang="es-BO" b="1" dirty="0">
                <a:latin typeface="Calibri" pitchFamily="34" charset="0"/>
              </a:rPr>
              <a:t>era del 4,99  % de la población total</a:t>
            </a:r>
            <a:r>
              <a:rPr lang="es-BO" b="1" dirty="0" smtClean="0">
                <a:latin typeface="Calibri" pitchFamily="34" charset="0"/>
              </a:rPr>
              <a:t>.</a:t>
            </a:r>
          </a:p>
          <a:p>
            <a:pPr algn="just"/>
            <a:r>
              <a:rPr lang="es-BO" b="1" dirty="0" smtClean="0">
                <a:latin typeface="Calibri" pitchFamily="34" charset="0"/>
              </a:rPr>
              <a:t> </a:t>
            </a:r>
            <a:r>
              <a:rPr lang="es-BO" b="1" dirty="0">
                <a:latin typeface="Calibri" pitchFamily="34" charset="0"/>
              </a:rPr>
              <a:t>8.274.325 </a:t>
            </a:r>
            <a:r>
              <a:rPr lang="es-BO" b="1" dirty="0" smtClean="0">
                <a:latin typeface="Calibri" pitchFamily="34" charset="0"/>
              </a:rPr>
              <a:t>habitantes censadas </a:t>
            </a:r>
            <a:r>
              <a:rPr lang="es-BO" b="1" dirty="0">
                <a:latin typeface="Calibri" pitchFamily="34" charset="0"/>
              </a:rPr>
              <a:t>579.259 tienen 60 años de edad y se estima que este porcentaje puede aumentar hasta alcanzar el 9% para el  2025 y a mitad del presente siglo la población adulta mayor podría representar el 16, 6 % del total de la población</a:t>
            </a:r>
            <a:r>
              <a:rPr lang="es-BO" dirty="0"/>
              <a:t>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40582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9552" y="908720"/>
            <a:ext cx="7776864" cy="5400600"/>
          </a:xfrm>
        </p:spPr>
        <p:txBody>
          <a:bodyPr>
            <a:normAutofit/>
          </a:bodyPr>
          <a:lstStyle/>
          <a:p>
            <a:pPr algn="just"/>
            <a:r>
              <a:rPr lang="es-BO" b="1" dirty="0" smtClean="0">
                <a:latin typeface="Calibri" pitchFamily="34" charset="0"/>
              </a:rPr>
              <a:t>Censo </a:t>
            </a:r>
            <a:r>
              <a:rPr lang="es-BO" b="1" dirty="0">
                <a:latin typeface="Calibri" pitchFamily="34" charset="0"/>
              </a:rPr>
              <a:t>2012 </a:t>
            </a:r>
            <a:r>
              <a:rPr lang="es-BO" b="1" dirty="0" smtClean="0">
                <a:latin typeface="Calibri" pitchFamily="34" charset="0"/>
              </a:rPr>
              <a:t>el </a:t>
            </a:r>
            <a:r>
              <a:rPr lang="es-BO" b="1" dirty="0">
                <a:latin typeface="Calibri" pitchFamily="34" charset="0"/>
              </a:rPr>
              <a:t>porcentaje de mayores de 65 años   aumenta  a más de 6, 12 </a:t>
            </a:r>
            <a:r>
              <a:rPr lang="es-BO" b="1" dirty="0" smtClean="0">
                <a:latin typeface="Calibri" pitchFamily="34" charset="0"/>
              </a:rPr>
              <a:t>%, y el porcentaje de 15 años disminuye acerca del 30 %</a:t>
            </a:r>
          </a:p>
          <a:p>
            <a:pPr algn="just"/>
            <a:r>
              <a:rPr lang="es-BO" b="1" dirty="0" smtClean="0">
                <a:latin typeface="Calibri" pitchFamily="34" charset="0"/>
              </a:rPr>
              <a:t>Dentro </a:t>
            </a:r>
            <a:r>
              <a:rPr lang="es-BO" b="1" dirty="0">
                <a:latin typeface="Calibri" pitchFamily="34" charset="0"/>
              </a:rPr>
              <a:t>de 25 </a:t>
            </a:r>
            <a:r>
              <a:rPr lang="es-BO" b="1" dirty="0" smtClean="0">
                <a:latin typeface="Calibri" pitchFamily="34" charset="0"/>
              </a:rPr>
              <a:t>años Bolivia </a:t>
            </a:r>
            <a:r>
              <a:rPr lang="es-BO" b="1" dirty="0">
                <a:latin typeface="Calibri" pitchFamily="34" charset="0"/>
              </a:rPr>
              <a:t>habrá doblado su número de personas mayores </a:t>
            </a:r>
            <a:r>
              <a:rPr lang="es-BO" b="1" dirty="0" smtClean="0">
                <a:latin typeface="Calibri" pitchFamily="34" charset="0"/>
              </a:rPr>
              <a:t>personas </a:t>
            </a:r>
            <a:r>
              <a:rPr lang="es-BO" b="1" dirty="0">
                <a:latin typeface="Calibri" pitchFamily="34" charset="0"/>
              </a:rPr>
              <a:t>y dentro de 30 años, será el 23% de población </a:t>
            </a:r>
            <a:r>
              <a:rPr lang="es-BO" b="1" dirty="0" smtClean="0">
                <a:latin typeface="Calibri" pitchFamily="34" charset="0"/>
              </a:rPr>
              <a:t>total.</a:t>
            </a:r>
          </a:p>
          <a:p>
            <a:pPr algn="just"/>
            <a:r>
              <a:rPr lang="es-BO" b="1" dirty="0" smtClean="0">
                <a:latin typeface="Calibri" pitchFamily="34" charset="0"/>
              </a:rPr>
              <a:t> </a:t>
            </a:r>
            <a:r>
              <a:rPr lang="es-BO" b="1" dirty="0">
                <a:latin typeface="Calibri" pitchFamily="34" charset="0"/>
              </a:rPr>
              <a:t>En el año 2050, la población mayor pasará a ser casi 1 de cada 5 bolivianos</a:t>
            </a:r>
          </a:p>
        </p:txBody>
      </p:sp>
    </p:spTree>
    <p:extLst>
      <p:ext uri="{BB962C8B-B14F-4D97-AF65-F5344CB8AC3E}">
        <p14:creationId xmlns:p14="http://schemas.microsoft.com/office/powerpoint/2010/main" val="306944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sz="3200" dirty="0" smtClean="0"/>
              <a:t>Cuando decimos que una  población es joven o esta envejecida</a:t>
            </a:r>
            <a:r>
              <a:rPr lang="en-US" sz="3200" dirty="0"/>
              <a:t>?</a:t>
            </a:r>
            <a:endParaRPr lang="es-BO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83568" y="1340768"/>
            <a:ext cx="7704856" cy="5040560"/>
          </a:xfrm>
        </p:spPr>
        <p:txBody>
          <a:bodyPr>
            <a:noAutofit/>
          </a:bodyPr>
          <a:lstStyle/>
          <a:p>
            <a:pPr algn="just"/>
            <a:r>
              <a:rPr lang="es-BO" sz="2800" b="1" dirty="0" smtClean="0">
                <a:latin typeface="Calibri" pitchFamily="34" charset="0"/>
              </a:rPr>
              <a:t>En los </a:t>
            </a:r>
            <a:r>
              <a:rPr lang="es-BO" sz="2800" b="1" dirty="0">
                <a:latin typeface="Calibri" pitchFamily="34" charset="0"/>
              </a:rPr>
              <a:t>estudios de población se señala que </a:t>
            </a:r>
            <a:r>
              <a:rPr lang="es-BO" sz="2800" b="1" dirty="0" smtClean="0">
                <a:latin typeface="Calibri" pitchFamily="34" charset="0"/>
              </a:rPr>
              <a:t>una población </a:t>
            </a:r>
            <a:r>
              <a:rPr lang="es-BO" sz="2800" b="1" dirty="0">
                <a:latin typeface="Calibri" pitchFamily="34" charset="0"/>
              </a:rPr>
              <a:t>es “joven” cuando la </a:t>
            </a:r>
            <a:r>
              <a:rPr lang="es-BO" sz="2800" b="1" dirty="0" smtClean="0">
                <a:latin typeface="Calibri" pitchFamily="34" charset="0"/>
              </a:rPr>
              <a:t>proporción de </a:t>
            </a:r>
            <a:r>
              <a:rPr lang="es-BO" sz="2800" b="1" dirty="0">
                <a:latin typeface="Calibri" pitchFamily="34" charset="0"/>
              </a:rPr>
              <a:t>menores de 15 años alcanza a </a:t>
            </a:r>
            <a:r>
              <a:rPr lang="es-BO" sz="2800" b="1" dirty="0" smtClean="0">
                <a:latin typeface="Calibri" pitchFamily="34" charset="0"/>
              </a:rPr>
              <a:t>alrededor de </a:t>
            </a:r>
            <a:r>
              <a:rPr lang="es-BO" sz="2800" b="1" dirty="0">
                <a:latin typeface="Calibri" pitchFamily="34" charset="0"/>
              </a:rPr>
              <a:t>40 por ciento respecto a la </a:t>
            </a:r>
            <a:r>
              <a:rPr lang="es-BO" sz="2800" b="1" dirty="0" smtClean="0">
                <a:latin typeface="Calibri" pitchFamily="34" charset="0"/>
              </a:rPr>
              <a:t>población total </a:t>
            </a:r>
            <a:r>
              <a:rPr lang="es-BO" sz="2800" b="1" dirty="0">
                <a:latin typeface="Calibri" pitchFamily="34" charset="0"/>
              </a:rPr>
              <a:t>y los mayores de 65 años, </a:t>
            </a:r>
            <a:r>
              <a:rPr lang="es-BO" sz="2800" b="1" dirty="0" smtClean="0">
                <a:latin typeface="Calibri" pitchFamily="34" charset="0"/>
              </a:rPr>
              <a:t>constituyen menos </a:t>
            </a:r>
            <a:r>
              <a:rPr lang="es-BO" sz="2800" b="1" dirty="0">
                <a:latin typeface="Calibri" pitchFamily="34" charset="0"/>
              </a:rPr>
              <a:t>de cinco por ciento</a:t>
            </a:r>
            <a:r>
              <a:rPr lang="es-BO" sz="2800" b="1" dirty="0" smtClean="0">
                <a:latin typeface="Calibri" pitchFamily="34" charset="0"/>
              </a:rPr>
              <a:t>.</a:t>
            </a:r>
          </a:p>
          <a:p>
            <a:pPr algn="just"/>
            <a:r>
              <a:rPr lang="es-BO" sz="2800" b="1" dirty="0" smtClean="0">
                <a:latin typeface="Calibri" pitchFamily="34" charset="0"/>
              </a:rPr>
              <a:t> </a:t>
            </a:r>
            <a:r>
              <a:rPr lang="es-BO" sz="2800" b="1" dirty="0">
                <a:latin typeface="Calibri" pitchFamily="34" charset="0"/>
              </a:rPr>
              <a:t>Una </a:t>
            </a:r>
            <a:r>
              <a:rPr lang="es-BO" sz="2800" b="1" dirty="0" smtClean="0">
                <a:latin typeface="Calibri" pitchFamily="34" charset="0"/>
              </a:rPr>
              <a:t>población “vieja</a:t>
            </a:r>
            <a:r>
              <a:rPr lang="es-BO" sz="2800" b="1" dirty="0">
                <a:latin typeface="Calibri" pitchFamily="34" charset="0"/>
              </a:rPr>
              <a:t>” tiene, en general, una </a:t>
            </a:r>
            <a:r>
              <a:rPr lang="es-BO" sz="2800" b="1" dirty="0" smtClean="0">
                <a:latin typeface="Calibri" pitchFamily="34" charset="0"/>
              </a:rPr>
              <a:t>proporción de </a:t>
            </a:r>
            <a:r>
              <a:rPr lang="es-BO" sz="2800" b="1" dirty="0">
                <a:latin typeface="Calibri" pitchFamily="34" charset="0"/>
              </a:rPr>
              <a:t>menores de 15 años cercana a 20 </a:t>
            </a:r>
            <a:r>
              <a:rPr lang="es-BO" sz="2800" b="1" dirty="0" smtClean="0">
                <a:latin typeface="Calibri" pitchFamily="34" charset="0"/>
              </a:rPr>
              <a:t>por ciento </a:t>
            </a:r>
            <a:r>
              <a:rPr lang="es-BO" sz="2800" b="1" dirty="0">
                <a:latin typeface="Calibri" pitchFamily="34" charset="0"/>
              </a:rPr>
              <a:t>de la población total y una </a:t>
            </a:r>
            <a:r>
              <a:rPr lang="es-BO" sz="2800" b="1" dirty="0" smtClean="0">
                <a:latin typeface="Calibri" pitchFamily="34" charset="0"/>
              </a:rPr>
              <a:t>proporción de </a:t>
            </a:r>
            <a:r>
              <a:rPr lang="es-BO" sz="2800" b="1" dirty="0">
                <a:latin typeface="Calibri" pitchFamily="34" charset="0"/>
              </a:rPr>
              <a:t>personas de edad avanzada cercana </a:t>
            </a:r>
            <a:r>
              <a:rPr lang="es-BO" sz="2800" b="1" dirty="0" smtClean="0">
                <a:latin typeface="Calibri" pitchFamily="34" charset="0"/>
              </a:rPr>
              <a:t>o mayor </a:t>
            </a:r>
            <a:r>
              <a:rPr lang="es-BO" sz="2800" b="1" dirty="0">
                <a:latin typeface="Calibri" pitchFamily="34" charset="0"/>
              </a:rPr>
              <a:t>que 10 por ciento de la </a:t>
            </a:r>
            <a:r>
              <a:rPr lang="es-BO" sz="2800" b="1" dirty="0" smtClean="0">
                <a:latin typeface="Calibri" pitchFamily="34" charset="0"/>
              </a:rPr>
              <a:t>población total.</a:t>
            </a:r>
            <a:endParaRPr lang="es-BO" sz="2800" b="1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2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11560" y="980728"/>
            <a:ext cx="7632848" cy="5616624"/>
          </a:xfrm>
        </p:spPr>
        <p:txBody>
          <a:bodyPr>
            <a:noAutofit/>
          </a:bodyPr>
          <a:lstStyle/>
          <a:p>
            <a:pPr algn="just"/>
            <a:r>
              <a:rPr lang="es-BO" sz="2800" b="1" dirty="0">
                <a:latin typeface="Calibri" pitchFamily="34" charset="0"/>
              </a:rPr>
              <a:t>En los años 1976, 1992 y </a:t>
            </a:r>
            <a:r>
              <a:rPr lang="es-BO" sz="2800" b="1" dirty="0" smtClean="0">
                <a:latin typeface="Calibri" pitchFamily="34" charset="0"/>
              </a:rPr>
              <a:t>2001, los </a:t>
            </a:r>
            <a:r>
              <a:rPr lang="es-BO" sz="2800" b="1" dirty="0">
                <a:latin typeface="Calibri" pitchFamily="34" charset="0"/>
              </a:rPr>
              <a:t>menores de 15 años alcanzaron </a:t>
            </a:r>
            <a:r>
              <a:rPr lang="es-BO" sz="2800" b="1" dirty="0" smtClean="0">
                <a:latin typeface="Calibri" pitchFamily="34" charset="0"/>
              </a:rPr>
              <a:t>porcentajes de </a:t>
            </a:r>
            <a:r>
              <a:rPr lang="es-BO" sz="2800" b="1" dirty="0">
                <a:latin typeface="Calibri" pitchFamily="34" charset="0"/>
              </a:rPr>
              <a:t>alrededor de 40 por ciento de la </a:t>
            </a:r>
            <a:r>
              <a:rPr lang="es-BO" sz="2800" b="1" dirty="0" smtClean="0">
                <a:latin typeface="Calibri" pitchFamily="34" charset="0"/>
              </a:rPr>
              <a:t>población total </a:t>
            </a:r>
            <a:r>
              <a:rPr lang="es-BO" sz="2800" b="1" dirty="0">
                <a:latin typeface="Calibri" pitchFamily="34" charset="0"/>
              </a:rPr>
              <a:t>y las personas de 65 años o más de edad</a:t>
            </a:r>
            <a:r>
              <a:rPr lang="es-BO" sz="2800" b="1" dirty="0" smtClean="0">
                <a:latin typeface="Calibri" pitchFamily="34" charset="0"/>
              </a:rPr>
              <a:t>, </a:t>
            </a:r>
            <a:r>
              <a:rPr lang="es-BO" sz="2800" b="1" dirty="0">
                <a:latin typeface="Calibri" pitchFamily="34" charset="0"/>
              </a:rPr>
              <a:t>llegaron a constituir cinco </a:t>
            </a:r>
            <a:r>
              <a:rPr lang="es-BO" sz="2800" b="1" dirty="0" smtClean="0">
                <a:latin typeface="Calibri" pitchFamily="34" charset="0"/>
              </a:rPr>
              <a:t>por ciento </a:t>
            </a:r>
            <a:r>
              <a:rPr lang="es-BO" sz="2800" b="1" dirty="0">
                <a:latin typeface="Calibri" pitchFamily="34" charset="0"/>
              </a:rPr>
              <a:t>de la población total. </a:t>
            </a:r>
            <a:endParaRPr lang="es-BO" sz="2800" b="1" dirty="0" smtClean="0">
              <a:latin typeface="Calibri" pitchFamily="34" charset="0"/>
            </a:endParaRPr>
          </a:p>
          <a:p>
            <a:pPr algn="just"/>
            <a:r>
              <a:rPr lang="es-BO" sz="2800" b="1" dirty="0">
                <a:latin typeface="Calibri" pitchFamily="34" charset="0"/>
              </a:rPr>
              <a:t>E</a:t>
            </a:r>
            <a:r>
              <a:rPr lang="es-BO" sz="2800" b="1" dirty="0" smtClean="0">
                <a:latin typeface="Calibri" pitchFamily="34" charset="0"/>
              </a:rPr>
              <a:t>l </a:t>
            </a:r>
            <a:r>
              <a:rPr lang="es-BO" sz="2800" b="1" dirty="0">
                <a:latin typeface="Calibri" pitchFamily="34" charset="0"/>
              </a:rPr>
              <a:t>año 2012 el porcentaje de menores de </a:t>
            </a:r>
            <a:r>
              <a:rPr lang="es-BO" sz="2800" b="1" dirty="0" smtClean="0">
                <a:latin typeface="Calibri" pitchFamily="34" charset="0"/>
              </a:rPr>
              <a:t>15años </a:t>
            </a:r>
            <a:r>
              <a:rPr lang="es-BO" sz="2800" b="1" dirty="0">
                <a:latin typeface="Calibri" pitchFamily="34" charset="0"/>
              </a:rPr>
              <a:t>disminuye a cerca de 30 por ciento y </a:t>
            </a:r>
            <a:r>
              <a:rPr lang="es-BO" sz="2800" b="1" dirty="0" smtClean="0">
                <a:latin typeface="Calibri" pitchFamily="34" charset="0"/>
              </a:rPr>
              <a:t>el porcentaje </a:t>
            </a:r>
            <a:r>
              <a:rPr lang="es-BO" sz="2800" b="1" dirty="0">
                <a:latin typeface="Calibri" pitchFamily="34" charset="0"/>
              </a:rPr>
              <a:t>de mayores de 65 años aumenta </a:t>
            </a:r>
            <a:r>
              <a:rPr lang="es-BO" sz="2800" b="1" dirty="0" smtClean="0">
                <a:latin typeface="Calibri" pitchFamily="34" charset="0"/>
              </a:rPr>
              <a:t>a mas del 6 %</a:t>
            </a:r>
            <a:endParaRPr lang="es-BO" sz="2800" b="1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806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alibri" pitchFamily="34" charset="0"/>
              </a:rPr>
              <a:t>POR LO TANTO </a:t>
            </a:r>
            <a:endParaRPr lang="es-BO" b="1" dirty="0">
              <a:latin typeface="Calibri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 dirty="0" smtClean="0"/>
          </a:p>
          <a:p>
            <a:pPr algn="just"/>
            <a:r>
              <a:rPr lang="es-BO" b="1" dirty="0" smtClean="0">
                <a:latin typeface="Calibri" pitchFamily="34" charset="0"/>
              </a:rPr>
              <a:t>El </a:t>
            </a:r>
            <a:r>
              <a:rPr lang="es-BO" b="1" dirty="0">
                <a:latin typeface="Calibri" pitchFamily="34" charset="0"/>
              </a:rPr>
              <a:t>proceso de envejecimiento poblacional es producto de los cambios en la proporción de jóvenes y de ancianos en una sociedad dada</a:t>
            </a:r>
            <a:r>
              <a:rPr lang="es-BO" dirty="0">
                <a:latin typeface="Calibr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8949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8784976" cy="6336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3366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BO" b="1" dirty="0">
                <a:latin typeface="Calibri" pitchFamily="34" charset="0"/>
              </a:rPr>
              <a:t>En consecuencia el envejecimiento de la población es una de las tendencias más significativas en el siglo XXI y por ello se debe reconocer que este es inevitable y que  es necesario prepararse adecuadamente para brindar una atención adecuada.</a:t>
            </a:r>
          </a:p>
          <a:p>
            <a:endParaRPr lang="es-BO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483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>
                <a:latin typeface="Calibri" pitchFamily="34" charset="0"/>
              </a:rPr>
              <a:t>GERONTOLOGIA</a:t>
            </a:r>
            <a:endParaRPr lang="es-BO" b="1" dirty="0">
              <a:latin typeface="Calibri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BO" b="1" dirty="0">
                <a:latin typeface="Calibri" pitchFamily="34" charset="0"/>
              </a:rPr>
              <a:t>Estudia la vejez y el envejecimiento desde el punto de vista biológico, social y psicológico.</a:t>
            </a:r>
          </a:p>
          <a:p>
            <a:pPr algn="just"/>
            <a:r>
              <a:rPr lang="es-BO" b="1" dirty="0">
                <a:latin typeface="Calibri" pitchFamily="34" charset="0"/>
              </a:rPr>
              <a:t>Es un saber multidisciplinario en la medida en que se </a:t>
            </a:r>
            <a:r>
              <a:rPr lang="es-BO" b="1" dirty="0" smtClean="0">
                <a:latin typeface="Calibri" pitchFamily="34" charset="0"/>
              </a:rPr>
              <a:t>nutre de </a:t>
            </a:r>
            <a:r>
              <a:rPr lang="es-BO" b="1" dirty="0">
                <a:latin typeface="Calibri" pitchFamily="34" charset="0"/>
              </a:rPr>
              <a:t>las ciencias biológicas, sociales y psicológicas, puesto que el </a:t>
            </a:r>
            <a:r>
              <a:rPr lang="es-BO" b="1" dirty="0" smtClean="0">
                <a:latin typeface="Calibri" pitchFamily="34" charset="0"/>
              </a:rPr>
              <a:t>envejecimiento impacta </a:t>
            </a:r>
            <a:r>
              <a:rPr lang="es-BO" b="1" dirty="0">
                <a:latin typeface="Calibri" pitchFamily="34" charset="0"/>
              </a:rPr>
              <a:t>en la vida individual de las personas y también en los distintos sectores </a:t>
            </a:r>
            <a:r>
              <a:rPr lang="es-BO" b="1" dirty="0" smtClean="0">
                <a:latin typeface="Calibri" pitchFamily="34" charset="0"/>
              </a:rPr>
              <a:t>e Instituciones </a:t>
            </a:r>
            <a:r>
              <a:rPr lang="es-BO" b="1" dirty="0">
                <a:latin typeface="Calibri" pitchFamily="34" charset="0"/>
              </a:rPr>
              <a:t>de la sociedad</a:t>
            </a:r>
          </a:p>
        </p:txBody>
      </p:sp>
    </p:spTree>
    <p:extLst>
      <p:ext uri="{BB962C8B-B14F-4D97-AF65-F5344CB8AC3E}">
        <p14:creationId xmlns:p14="http://schemas.microsoft.com/office/powerpoint/2010/main" val="65157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sz="4000" dirty="0" smtClean="0">
                <a:latin typeface="Calibri" pitchFamily="34" charset="0"/>
              </a:rPr>
              <a:t>GERIATRIA</a:t>
            </a:r>
            <a:endParaRPr lang="es-BO" sz="4000" dirty="0">
              <a:latin typeface="Calibri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b="1" dirty="0">
                <a:latin typeface="Calibri" pitchFamily="34" charset="0"/>
              </a:rPr>
              <a:t>E</a:t>
            </a:r>
            <a:r>
              <a:rPr lang="es-BO" b="1" dirty="0" smtClean="0">
                <a:latin typeface="Calibri" pitchFamily="34" charset="0"/>
              </a:rPr>
              <a:t>s </a:t>
            </a:r>
            <a:r>
              <a:rPr lang="es-BO" b="1" dirty="0">
                <a:latin typeface="Calibri" pitchFamily="34" charset="0"/>
              </a:rPr>
              <a:t>la rama de la ciencia médica que se ocupa de </a:t>
            </a:r>
            <a:r>
              <a:rPr lang="es-BO" b="1" dirty="0" smtClean="0">
                <a:latin typeface="Calibri" pitchFamily="34" charset="0"/>
              </a:rPr>
              <a:t>los aspectos </a:t>
            </a:r>
            <a:r>
              <a:rPr lang="es-BO" b="1" dirty="0">
                <a:latin typeface="Calibri" pitchFamily="34" charset="0"/>
              </a:rPr>
              <a:t>clínicos, terapéuticos y preventivos relacionados con el proceso salud enfermedad de las personas mayores</a:t>
            </a:r>
            <a:endParaRPr lang="es-BO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98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ENVEJECIMIENTO</a:t>
            </a:r>
            <a:endParaRPr lang="es-BO" dirty="0"/>
          </a:p>
        </p:txBody>
      </p:sp>
      <p:pic>
        <p:nvPicPr>
          <p:cNvPr id="4" name="3 Marcador de contenido"/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0560" y="2060848"/>
            <a:ext cx="3099479" cy="316835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4 Marcador de texto"/>
          <p:cNvSpPr>
            <a:spLocks noGrp="1"/>
          </p:cNvSpPr>
          <p:nvPr>
            <p:ph sz="half" idx="2"/>
          </p:nvPr>
        </p:nvSpPr>
        <p:spPr>
          <a:xfrm>
            <a:off x="4427984" y="1260764"/>
            <a:ext cx="4563616" cy="5063836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s-BO" b="1" dirty="0">
                <a:latin typeface="Calibri" pitchFamily="34" charset="0"/>
              </a:rPr>
              <a:t>El envejecimiento en un fenómeno  </a:t>
            </a:r>
            <a:r>
              <a:rPr lang="es-BO" b="1" dirty="0" smtClean="0">
                <a:latin typeface="Calibri" pitchFamily="34" charset="0"/>
              </a:rPr>
              <a:t>universal.</a:t>
            </a:r>
          </a:p>
          <a:p>
            <a:pPr algn="just"/>
            <a:r>
              <a:rPr lang="es-BO" b="1" dirty="0" smtClean="0">
                <a:latin typeface="Calibri" pitchFamily="34" charset="0"/>
              </a:rPr>
              <a:t>proceso </a:t>
            </a:r>
            <a:r>
              <a:rPr lang="es-BO" b="1" dirty="0">
                <a:latin typeface="Calibri" pitchFamily="34" charset="0"/>
              </a:rPr>
              <a:t>de la vida del ser humano durante el cual ocurren modificaciones biológicas, psicológicas y sociales. </a:t>
            </a:r>
            <a:endParaRPr lang="es-BO" b="1" dirty="0" smtClean="0">
              <a:latin typeface="Calibri" pitchFamily="34" charset="0"/>
            </a:endParaRPr>
          </a:p>
          <a:p>
            <a:pPr algn="just"/>
            <a:r>
              <a:rPr lang="es-BO" b="1" dirty="0" smtClean="0">
                <a:latin typeface="Calibri" pitchFamily="34" charset="0"/>
              </a:rPr>
              <a:t>El </a:t>
            </a:r>
            <a:r>
              <a:rPr lang="es-BO" b="1" dirty="0">
                <a:latin typeface="Calibri" pitchFamily="34" charset="0"/>
              </a:rPr>
              <a:t>envejecimiento es un proceso que implica cambios celulares, tisulares, orgánicos y </a:t>
            </a:r>
            <a:r>
              <a:rPr lang="es-BO" b="1" dirty="0" smtClean="0">
                <a:latin typeface="Calibri" pitchFamily="34" charset="0"/>
              </a:rPr>
              <a:t>funcionales.</a:t>
            </a:r>
          </a:p>
          <a:p>
            <a:pPr algn="just"/>
            <a:r>
              <a:rPr lang="es-BO" b="1" dirty="0">
                <a:latin typeface="Calibri" pitchFamily="34" charset="0"/>
              </a:rPr>
              <a:t>E</a:t>
            </a:r>
            <a:r>
              <a:rPr lang="es-BO" b="1" dirty="0" smtClean="0">
                <a:latin typeface="Calibri" pitchFamily="34" charset="0"/>
              </a:rPr>
              <a:t>s </a:t>
            </a:r>
            <a:r>
              <a:rPr lang="es-BO" b="1" dirty="0">
                <a:latin typeface="Calibri" pitchFamily="34" charset="0"/>
              </a:rPr>
              <a:t>una programación genética influenciada tanto por factores ambientales como la capacidad de adaptación del individuo.</a:t>
            </a:r>
          </a:p>
        </p:txBody>
      </p:sp>
    </p:spTree>
    <p:extLst>
      <p:ext uri="{BB962C8B-B14F-4D97-AF65-F5344CB8AC3E}">
        <p14:creationId xmlns:p14="http://schemas.microsoft.com/office/powerpoint/2010/main" val="46149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980728"/>
            <a:ext cx="4343400" cy="5343872"/>
          </a:xfrm>
        </p:spPr>
        <p:txBody>
          <a:bodyPr>
            <a:normAutofit fontScale="92500"/>
          </a:bodyPr>
          <a:lstStyle/>
          <a:p>
            <a:pPr algn="just"/>
            <a:r>
              <a:rPr lang="es-BO" b="1" dirty="0">
                <a:latin typeface="Calibri" pitchFamily="34" charset="0"/>
              </a:rPr>
              <a:t>El envejecimiento es un fenómeno multifactorial, que afecta todos los niveles de organización biológica, desde las moléculas a los sistemas fisiológicos, que llevan a que la persona tenga una mayor predisposición a desarrollar ciertas enfermedades y como consecuencia final presente un mayor riesgo de muerte.</a:t>
            </a:r>
            <a:endParaRPr lang="es-BO" b="1" dirty="0">
              <a:latin typeface="Calibri" pitchFamily="34" charset="0"/>
            </a:endParaRPr>
          </a:p>
        </p:txBody>
      </p:sp>
      <p:pic>
        <p:nvPicPr>
          <p:cNvPr id="5" name="4 Marcador de contenido"/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276872"/>
            <a:ext cx="2845424" cy="32182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8633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/>
              <a:t>CONCEPTO</a:t>
            </a:r>
            <a:endParaRPr lang="es-BO" dirty="0"/>
          </a:p>
        </p:txBody>
      </p:sp>
      <p:sp>
        <p:nvSpPr>
          <p:cNvPr id="6" name="5 Marcador de contenido"/>
          <p:cNvSpPr>
            <a:spLocks noGrp="1"/>
          </p:cNvSpPr>
          <p:nvPr>
            <p:ph idx="1"/>
          </p:nvPr>
        </p:nvSpPr>
        <p:spPr>
          <a:xfrm>
            <a:off x="304800" y="1124744"/>
            <a:ext cx="8686800" cy="49553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BO" b="1" dirty="0" smtClean="0">
                <a:latin typeface="Calibri" pitchFamily="34" charset="0"/>
              </a:rPr>
              <a:t>OMS</a:t>
            </a:r>
          </a:p>
          <a:p>
            <a:pPr marL="0" indent="0" algn="ctr">
              <a:buNone/>
            </a:pPr>
            <a:r>
              <a:rPr lang="es-BO" b="1" dirty="0" smtClean="0">
                <a:latin typeface="Calibri" pitchFamily="34" charset="0"/>
              </a:rPr>
              <a:t>Proceso </a:t>
            </a:r>
            <a:r>
              <a:rPr lang="es-BO" b="1" dirty="0">
                <a:latin typeface="Calibri" pitchFamily="34" charset="0"/>
              </a:rPr>
              <a:t>biológico</a:t>
            </a:r>
          </a:p>
          <a:p>
            <a:pPr marL="0" indent="0" algn="ctr">
              <a:buNone/>
            </a:pPr>
            <a:r>
              <a:rPr lang="es-BO" b="1" dirty="0" smtClean="0">
                <a:latin typeface="Calibri" pitchFamily="34" charset="0"/>
              </a:rPr>
              <a:t>Cambios fisiológicos/estructurales/psicológicos/</a:t>
            </a:r>
          </a:p>
          <a:p>
            <a:pPr marL="0" indent="0" algn="ctr">
              <a:buNone/>
            </a:pPr>
            <a:r>
              <a:rPr lang="es-BO" b="1" dirty="0" smtClean="0">
                <a:latin typeface="Calibri" pitchFamily="34" charset="0"/>
              </a:rPr>
              <a:t>sociales</a:t>
            </a:r>
            <a:endParaRPr lang="es-BO" b="1" dirty="0">
              <a:latin typeface="Calibri" pitchFamily="34" charset="0"/>
            </a:endParaRPr>
          </a:p>
          <a:p>
            <a:pPr marL="0" indent="0" algn="ctr">
              <a:buNone/>
            </a:pPr>
            <a:r>
              <a:rPr lang="es-BO" b="1" dirty="0">
                <a:latin typeface="Calibri" pitchFamily="34" charset="0"/>
              </a:rPr>
              <a:t>Limitación capacidad </a:t>
            </a:r>
            <a:r>
              <a:rPr lang="es-BO" b="1" dirty="0" smtClean="0">
                <a:latin typeface="Calibri" pitchFamily="34" charset="0"/>
              </a:rPr>
              <a:t>adaptación </a:t>
            </a:r>
            <a:r>
              <a:rPr lang="es-BO" b="1" dirty="0">
                <a:latin typeface="Calibri" pitchFamily="34" charset="0"/>
              </a:rPr>
              <a:t>al </a:t>
            </a:r>
            <a:r>
              <a:rPr lang="es-BO" b="1" dirty="0" smtClean="0">
                <a:latin typeface="Calibri" pitchFamily="34" charset="0"/>
              </a:rPr>
              <a:t>ambiente</a:t>
            </a:r>
          </a:p>
          <a:p>
            <a:pPr marL="0" indent="0" algn="ctr">
              <a:buNone/>
            </a:pPr>
            <a:r>
              <a:rPr lang="es-BO" b="1" dirty="0" err="1"/>
              <a:t>Grmek</a:t>
            </a:r>
            <a:r>
              <a:rPr lang="es-BO" b="1" dirty="0" smtClean="0"/>
              <a:t>:</a:t>
            </a:r>
          </a:p>
          <a:p>
            <a:pPr marL="0" indent="0" algn="ctr">
              <a:buNone/>
            </a:pPr>
            <a:r>
              <a:rPr lang="es-BO" b="1" dirty="0">
                <a:latin typeface="Calibri" pitchFamily="34" charset="0"/>
              </a:rPr>
              <a:t>Cambios progresivos e irreversibles que sufre el organismo desde la concepción hasta la muerte</a:t>
            </a:r>
            <a:endParaRPr lang="es-BO" b="1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175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>
                <a:latin typeface="Calibri" pitchFamily="34" charset="0"/>
              </a:rPr>
              <a:t>Características del envejecimiento</a:t>
            </a:r>
            <a:endParaRPr lang="es-BO" b="1" dirty="0">
              <a:latin typeface="Calibri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s-BO" b="1" dirty="0">
                <a:latin typeface="Calibri" pitchFamily="34" charset="0"/>
              </a:rPr>
              <a:t>Universales: Porque se producen en todos los organismos de una misma especie,</a:t>
            </a:r>
          </a:p>
          <a:p>
            <a:pPr lvl="0"/>
            <a:r>
              <a:rPr lang="es-BO" b="1" dirty="0">
                <a:latin typeface="Calibri" pitchFamily="34" charset="0"/>
              </a:rPr>
              <a:t>Progresivos: Porque es un proceso acumulativo.</a:t>
            </a:r>
          </a:p>
          <a:p>
            <a:pPr lvl="0"/>
            <a:r>
              <a:rPr lang="es-BO" b="1" dirty="0">
                <a:latin typeface="Calibri" pitchFamily="34" charset="0"/>
              </a:rPr>
              <a:t>Declinantes: Por que las funciones del organismo se deterioran en forma gradual hasta conducir a la muerte.</a:t>
            </a:r>
          </a:p>
          <a:p>
            <a:pPr lvl="0"/>
            <a:r>
              <a:rPr lang="es-BO" b="1" dirty="0">
                <a:latin typeface="Calibri" pitchFamily="34" charset="0"/>
              </a:rPr>
              <a:t>Intrínsecos: Por que ocurren en el individuo, a pesar de que están influenciados por factores ambientales.</a:t>
            </a:r>
          </a:p>
          <a:p>
            <a:pPr lvl="0"/>
            <a:r>
              <a:rPr lang="es-BO" b="1" dirty="0">
                <a:latin typeface="Calibri" pitchFamily="34" charset="0"/>
              </a:rPr>
              <a:t>Irreversibles: Porque son definitivos.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016261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04800" y="692696"/>
            <a:ext cx="8686800" cy="5387429"/>
          </a:xfrm>
        </p:spPr>
        <p:txBody>
          <a:bodyPr>
            <a:normAutofit lnSpcReduction="10000"/>
          </a:bodyPr>
          <a:lstStyle/>
          <a:p>
            <a:r>
              <a:rPr lang="es-BO" b="1" dirty="0">
                <a:latin typeface="Calibri" pitchFamily="34" charset="0"/>
              </a:rPr>
              <a:t>El envejecimiento es un proceso </a:t>
            </a:r>
            <a:r>
              <a:rPr lang="es-BO" b="1" dirty="0" smtClean="0">
                <a:latin typeface="Calibri" pitchFamily="34" charset="0"/>
              </a:rPr>
              <a:t> </a:t>
            </a:r>
            <a:r>
              <a:rPr lang="es-BO" b="1" dirty="0">
                <a:latin typeface="Calibri" pitchFamily="34" charset="0"/>
              </a:rPr>
              <a:t>individual que se manifiesta de diferente manera en cada </a:t>
            </a:r>
            <a:r>
              <a:rPr lang="es-BO" b="1" dirty="0" smtClean="0">
                <a:latin typeface="Calibri" pitchFamily="34" charset="0"/>
              </a:rPr>
              <a:t>persona.</a:t>
            </a:r>
          </a:p>
          <a:p>
            <a:r>
              <a:rPr lang="es-BO" b="1" dirty="0" smtClean="0">
                <a:latin typeface="Calibri" pitchFamily="34" charset="0"/>
              </a:rPr>
              <a:t>Por ejemplo  </a:t>
            </a:r>
            <a:r>
              <a:rPr lang="es-BO" b="1" dirty="0">
                <a:latin typeface="Calibri" pitchFamily="34" charset="0"/>
              </a:rPr>
              <a:t>el deterioro de la visión y de la </a:t>
            </a:r>
            <a:r>
              <a:rPr lang="es-BO" b="1" dirty="0" smtClean="0">
                <a:latin typeface="Calibri" pitchFamily="34" charset="0"/>
              </a:rPr>
              <a:t>audición </a:t>
            </a:r>
            <a:r>
              <a:rPr lang="es-BO" b="1" dirty="0">
                <a:latin typeface="Calibri" pitchFamily="34" charset="0"/>
              </a:rPr>
              <a:t>se presenta en distintas formas y etapas de la vida. </a:t>
            </a:r>
            <a:endParaRPr lang="es-BO" b="1" dirty="0" smtClean="0">
              <a:latin typeface="Calibri" pitchFamily="34" charset="0"/>
            </a:endParaRPr>
          </a:p>
          <a:p>
            <a:r>
              <a:rPr lang="es-BO" b="1" dirty="0" smtClean="0">
                <a:latin typeface="Calibri" pitchFamily="34" charset="0"/>
              </a:rPr>
              <a:t>El </a:t>
            </a:r>
            <a:r>
              <a:rPr lang="es-BO" b="1" dirty="0">
                <a:latin typeface="Calibri" pitchFamily="34" charset="0"/>
              </a:rPr>
              <a:t>proceso de envejecimiento no sigue un </a:t>
            </a:r>
            <a:r>
              <a:rPr lang="es-BO" b="1" dirty="0" smtClean="0">
                <a:latin typeface="Calibri" pitchFamily="34" charset="0"/>
              </a:rPr>
              <a:t>orden establecido es irregular y asincrónico (no se produce con el mismo grado de desgaste en los diferentes órganos.</a:t>
            </a:r>
          </a:p>
          <a:p>
            <a:pPr marL="0" indent="0">
              <a:buNone/>
            </a:pPr>
            <a:r>
              <a:rPr lang="es-BO" dirty="0" smtClean="0"/>
              <a:t> 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092344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4008" y="620688"/>
            <a:ext cx="4292241" cy="639762"/>
          </a:xfrm>
        </p:spPr>
        <p:txBody>
          <a:bodyPr/>
          <a:lstStyle/>
          <a:p>
            <a:pPr algn="ctr"/>
            <a:r>
              <a:rPr lang="es-BO" sz="2400" b="1" dirty="0">
                <a:solidFill>
                  <a:schemeClr val="tx1"/>
                </a:solidFill>
              </a:rPr>
              <a:t>VEJEZ</a:t>
            </a:r>
          </a:p>
          <a:p>
            <a:endParaRPr lang="es-BO" dirty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484926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BO" b="1" dirty="0" smtClean="0"/>
              <a:t>                       </a:t>
            </a:r>
            <a:endParaRPr lang="es-BO" b="1" dirty="0"/>
          </a:p>
          <a:p>
            <a:pPr marL="0" indent="0" algn="ctr">
              <a:buNone/>
            </a:pPr>
            <a:r>
              <a:rPr lang="es-BO" sz="4000" b="1" dirty="0">
                <a:latin typeface="Calibri" pitchFamily="34" charset="0"/>
              </a:rPr>
              <a:t>Es una etapa de la vida, la última etapa.</a:t>
            </a:r>
          </a:p>
          <a:p>
            <a:pPr marL="0" indent="0" algn="ctr">
              <a:buNone/>
            </a:pPr>
            <a:r>
              <a:rPr lang="es-BO" sz="4000" b="1" dirty="0">
                <a:latin typeface="Calibri" pitchFamily="34" charset="0"/>
              </a:rPr>
              <a:t>Con características únicas y personales</a:t>
            </a:r>
          </a:p>
          <a:p>
            <a:pPr marL="0" indent="0" algn="ctr">
              <a:buNone/>
            </a:pPr>
            <a:r>
              <a:rPr lang="es-BO" sz="4000" b="1" dirty="0">
                <a:latin typeface="Calibri" pitchFamily="34" charset="0"/>
              </a:rPr>
              <a:t>Según la historia del individuo</a:t>
            </a:r>
          </a:p>
          <a:p>
            <a:pPr marL="0" indent="0" algn="ctr">
              <a:buNone/>
            </a:pPr>
            <a:r>
              <a:rPr lang="es-BO" sz="4000" b="1" dirty="0">
                <a:latin typeface="Calibri" pitchFamily="34" charset="0"/>
              </a:rPr>
              <a:t>Existen tantos tipos de vejez como individuos</a:t>
            </a:r>
          </a:p>
          <a:p>
            <a:pPr marL="0" indent="0" algn="ctr">
              <a:buNone/>
            </a:pPr>
            <a:r>
              <a:rPr lang="es-BO" sz="4000" b="1" dirty="0">
                <a:latin typeface="Calibri" pitchFamily="34" charset="0"/>
              </a:rPr>
              <a:t>viejos.</a:t>
            </a:r>
          </a:p>
          <a:p>
            <a:pPr marL="0" indent="0" algn="ctr">
              <a:buNone/>
            </a:pPr>
            <a:r>
              <a:rPr lang="es-BO" sz="4000" b="1" dirty="0">
                <a:latin typeface="Calibri" pitchFamily="34" charset="0"/>
              </a:rPr>
              <a:t>“REALIZACION y PERDIDA”</a:t>
            </a:r>
            <a:endParaRPr lang="es-BO" sz="4000" b="1" dirty="0">
              <a:latin typeface="Calibri" pitchFamily="34" charset="0"/>
            </a:endParaRPr>
          </a:p>
        </p:txBody>
      </p:sp>
      <p:pic>
        <p:nvPicPr>
          <p:cNvPr id="7" name="6 Marcador de contenido"/>
          <p:cNvPicPr>
            <a:picLocks noGrp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28800"/>
            <a:ext cx="3505968" cy="232467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11 Marcador de texto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s-BO" sz="2000" b="1" dirty="0">
                <a:solidFill>
                  <a:schemeClr val="tx1"/>
                </a:solidFill>
                <a:latin typeface="Calibri" pitchFamily="34" charset="0"/>
              </a:rPr>
              <a:t>No existe un único concepto de vejez; es una etapa del ciclo vital</a:t>
            </a:r>
          </a:p>
          <a:p>
            <a:r>
              <a:rPr lang="es-BO" sz="2000" b="1" dirty="0">
                <a:solidFill>
                  <a:schemeClr val="tx1"/>
                </a:solidFill>
                <a:latin typeface="Calibri" pitchFamily="34" charset="0"/>
              </a:rPr>
              <a:t>que es construida socialmente</a:t>
            </a:r>
            <a:endParaRPr lang="es-BO" sz="2000" dirty="0">
              <a:solidFill>
                <a:schemeClr val="tx1"/>
              </a:solidFill>
              <a:latin typeface="Calibri" pitchFamily="34" charset="0"/>
            </a:endParaRPr>
          </a:p>
        </p:txBody>
      </p:sp>
      <p:pic>
        <p:nvPicPr>
          <p:cNvPr id="9" name="8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149080"/>
            <a:ext cx="3168352" cy="2476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963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Título"/>
          <p:cNvSpPr>
            <a:spLocks noGrp="1"/>
          </p:cNvSpPr>
          <p:nvPr>
            <p:ph type="title"/>
          </p:nvPr>
        </p:nvSpPr>
        <p:spPr>
          <a:xfrm>
            <a:off x="323528" y="116632"/>
            <a:ext cx="8686800" cy="1034752"/>
          </a:xfrm>
        </p:spPr>
        <p:txBody>
          <a:bodyPr/>
          <a:lstStyle/>
          <a:p>
            <a:r>
              <a:rPr lang="es-BO" dirty="0" smtClean="0"/>
              <a:t>APARTIR DE QUE EDAD SE ENVEJECE</a:t>
            </a:r>
            <a:endParaRPr lang="es-BO" dirty="0"/>
          </a:p>
        </p:txBody>
      </p:sp>
      <p:sp>
        <p:nvSpPr>
          <p:cNvPr id="12" name="11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sz="2800" b="1" dirty="0">
                <a:latin typeface="Calibri" pitchFamily="34" charset="0"/>
              </a:rPr>
              <a:t>PAISES DESARROLLADOS 65 </a:t>
            </a:r>
            <a:r>
              <a:rPr lang="es-BO" sz="2800" b="1" dirty="0" smtClean="0">
                <a:latin typeface="Calibri" pitchFamily="34" charset="0"/>
              </a:rPr>
              <a:t>AÑOS</a:t>
            </a:r>
          </a:p>
          <a:p>
            <a:r>
              <a:rPr lang="es-BO" sz="2800" b="1" dirty="0" smtClean="0">
                <a:latin typeface="Calibri" pitchFamily="34" charset="0"/>
              </a:rPr>
              <a:t>PAISES </a:t>
            </a:r>
            <a:r>
              <a:rPr lang="es-BO" sz="2800" b="1" dirty="0">
                <a:latin typeface="Calibri" pitchFamily="34" charset="0"/>
              </a:rPr>
              <a:t>EN VIAS DE DESARROLLO</a:t>
            </a:r>
            <a:r>
              <a:rPr lang="es-BO" b="1" dirty="0"/>
              <a:t> </a:t>
            </a:r>
            <a:r>
              <a:rPr lang="es-BO" sz="2800" b="1" dirty="0" smtClean="0"/>
              <a:t>60 AÑOS</a:t>
            </a:r>
          </a:p>
          <a:p>
            <a:pPr marL="0" indent="0">
              <a:buNone/>
            </a:pPr>
            <a:endParaRPr lang="es-BO" sz="2800" dirty="0" smtClean="0"/>
          </a:p>
          <a:p>
            <a:pPr marL="0" indent="0">
              <a:buNone/>
            </a:pPr>
            <a:endParaRPr lang="es-BO" sz="2800" dirty="0"/>
          </a:p>
          <a:p>
            <a:pPr marL="0" indent="0">
              <a:buNone/>
            </a:pPr>
            <a:endParaRPr lang="es-BO" sz="2800" dirty="0" smtClean="0"/>
          </a:p>
          <a:p>
            <a:pPr marL="0" indent="0" algn="ctr">
              <a:buNone/>
            </a:pPr>
            <a:r>
              <a:rPr lang="es-BO" sz="2800" b="1" dirty="0" smtClean="0"/>
              <a:t>Adoptada </a:t>
            </a:r>
            <a:r>
              <a:rPr lang="es-BO" sz="2800" b="1" dirty="0"/>
              <a:t>por Naciones Unidas en la Primera Asamblea Mundial sobre Envejecimiento, VIENA 1982</a:t>
            </a:r>
            <a:endParaRPr lang="es-BO" sz="28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1196752"/>
            <a:ext cx="2016224" cy="2702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13 Flecha abajo"/>
          <p:cNvSpPr/>
          <p:nvPr/>
        </p:nvSpPr>
        <p:spPr>
          <a:xfrm>
            <a:off x="3491880" y="2705100"/>
            <a:ext cx="1296144" cy="9399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54798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04800" y="1340768"/>
            <a:ext cx="8686800" cy="4739357"/>
          </a:xfrm>
        </p:spPr>
        <p:txBody>
          <a:bodyPr/>
          <a:lstStyle/>
          <a:p>
            <a:pPr marL="0" indent="0">
              <a:buNone/>
            </a:pPr>
            <a:r>
              <a:rPr lang="es-BO" b="1" dirty="0">
                <a:latin typeface="Calibri" pitchFamily="34" charset="0"/>
              </a:rPr>
              <a:t>En la Asamblea Mundial sobre el Envejecimiento realizada en Viena en el año 1982 se estableció la </a:t>
            </a:r>
            <a:r>
              <a:rPr lang="es-BO" b="1" dirty="0" smtClean="0">
                <a:latin typeface="Calibri" pitchFamily="34" charset="0"/>
              </a:rPr>
              <a:t>denominación.</a:t>
            </a:r>
            <a:endParaRPr lang="es-BO" b="1" dirty="0">
              <a:latin typeface="Calibri" pitchFamily="34" charset="0"/>
            </a:endParaRPr>
          </a:p>
          <a:p>
            <a:r>
              <a:rPr lang="es-BO" b="1" dirty="0">
                <a:latin typeface="Calibri" pitchFamily="34" charset="0"/>
              </a:rPr>
              <a:t>“anciano” para toda persona mayor de sesenta</a:t>
            </a:r>
          </a:p>
          <a:p>
            <a:r>
              <a:rPr lang="es-BO" b="1" dirty="0">
                <a:latin typeface="Calibri" pitchFamily="34" charset="0"/>
              </a:rPr>
              <a:t>años de edad.</a:t>
            </a:r>
          </a:p>
          <a:p>
            <a:r>
              <a:rPr lang="es-BO" b="1" dirty="0" smtClean="0">
                <a:latin typeface="Calibri" pitchFamily="34" charset="0"/>
              </a:rPr>
              <a:t> </a:t>
            </a:r>
            <a:r>
              <a:rPr lang="es-BO" b="1" dirty="0">
                <a:latin typeface="Calibri" pitchFamily="34" charset="0"/>
              </a:rPr>
              <a:t>Viejos-jóvenes: sesenta a setenta y cuatro años.</a:t>
            </a:r>
          </a:p>
          <a:p>
            <a:r>
              <a:rPr lang="es-BO" b="1" dirty="0" smtClean="0">
                <a:latin typeface="Calibri" pitchFamily="34" charset="0"/>
              </a:rPr>
              <a:t> </a:t>
            </a:r>
            <a:r>
              <a:rPr lang="es-BO" b="1" dirty="0">
                <a:latin typeface="Calibri" pitchFamily="34" charset="0"/>
              </a:rPr>
              <a:t>Viejos-viejos: setenta y cinco años y más.</a:t>
            </a:r>
            <a:endParaRPr lang="es-BO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057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>
                <a:effectLst/>
              </a:rPr>
              <a:t>TEORIAS DEL ENVEJECIMIENTO</a:t>
            </a:r>
            <a:r>
              <a:rPr lang="es-BO" dirty="0">
                <a:effectLst/>
              </a:rPr>
              <a:t/>
            </a:r>
            <a:br>
              <a:rPr lang="es-BO" dirty="0">
                <a:effectLst/>
              </a:rPr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04800" y="1124744"/>
            <a:ext cx="8686800" cy="4955381"/>
          </a:xfrm>
        </p:spPr>
        <p:txBody>
          <a:bodyPr/>
          <a:lstStyle/>
          <a:p>
            <a:r>
              <a:rPr lang="es-BO" b="1" dirty="0">
                <a:latin typeface="Calibri" pitchFamily="34" charset="0"/>
              </a:rPr>
              <a:t>Para explicar el proceso del </a:t>
            </a:r>
            <a:r>
              <a:rPr lang="es-BO" b="1" dirty="0" smtClean="0">
                <a:latin typeface="Calibri" pitchFamily="34" charset="0"/>
              </a:rPr>
              <a:t>envejecimiento.</a:t>
            </a:r>
          </a:p>
          <a:p>
            <a:pPr marL="0" indent="0">
              <a:buNone/>
            </a:pPr>
            <a:endParaRPr lang="es-BO" b="1" dirty="0">
              <a:latin typeface="Calibri" pitchFamily="34" charset="0"/>
            </a:endParaRPr>
          </a:p>
        </p:txBody>
      </p:sp>
      <p:sp>
        <p:nvSpPr>
          <p:cNvPr id="4" name="3 Llamada de flecha hacia abajo"/>
          <p:cNvSpPr/>
          <p:nvPr/>
        </p:nvSpPr>
        <p:spPr>
          <a:xfrm>
            <a:off x="686053" y="1649117"/>
            <a:ext cx="2448272" cy="1152128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b="1" dirty="0" smtClean="0">
                <a:solidFill>
                  <a:schemeClr val="tx1"/>
                </a:solidFill>
                <a:latin typeface="Calibri" pitchFamily="34" charset="0"/>
              </a:rPr>
              <a:t>TEORIA DEL ENFOQUE SOCIAL</a:t>
            </a:r>
            <a:endParaRPr lang="es-BO" b="1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686053" y="2924944"/>
            <a:ext cx="2448272" cy="25922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b="1" dirty="0" smtClean="0">
                <a:solidFill>
                  <a:schemeClr val="tx1"/>
                </a:solidFill>
                <a:latin typeface="Calibri" pitchFamily="34" charset="0"/>
              </a:rPr>
              <a:t>INDIVIDUO CAPAZ</a:t>
            </a:r>
          </a:p>
          <a:p>
            <a:pPr algn="ctr"/>
            <a:r>
              <a:rPr lang="es-BO" b="1" dirty="0" smtClean="0">
                <a:solidFill>
                  <a:schemeClr val="tx1"/>
                </a:solidFill>
                <a:latin typeface="Calibri" pitchFamily="34" charset="0"/>
              </a:rPr>
              <a:t>DE ADAPTARSE A LOS CAMBIOS  Y AL DETERIORO INEVITABLE DEL ENVEJECIMIENTO </a:t>
            </a:r>
            <a:endParaRPr lang="es-BO" b="1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6" name="5 Llamada de flecha hacia abajo"/>
          <p:cNvSpPr/>
          <p:nvPr/>
        </p:nvSpPr>
        <p:spPr>
          <a:xfrm>
            <a:off x="3446650" y="1649118"/>
            <a:ext cx="2061454" cy="1152127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b="1" dirty="0" smtClean="0">
                <a:solidFill>
                  <a:schemeClr val="tx1"/>
                </a:solidFill>
                <a:latin typeface="Calibri" pitchFamily="34" charset="0"/>
              </a:rPr>
              <a:t>CUMMING Y HENRY TEORÍA DEL COMPROMISO  </a:t>
            </a:r>
            <a:endParaRPr lang="es-BO" b="1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3302634" y="2924944"/>
            <a:ext cx="2349486" cy="25922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b="1" dirty="0" smtClean="0">
                <a:solidFill>
                  <a:schemeClr val="tx1"/>
                </a:solidFill>
                <a:latin typeface="Calibri" pitchFamily="34" charset="0"/>
              </a:rPr>
              <a:t>ETAPA ALTAMENTE SATISFACTORIA CUANDO LA PERSONA MAYOR ACEPTA LA DISMINUCIÓN DE SUS INTERACCIONES Y SE VUELCA EN SÍ MISMA</a:t>
            </a:r>
            <a:endParaRPr lang="es-BO" b="1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8" name="7 Llamada de flecha hacia abajo"/>
          <p:cNvSpPr/>
          <p:nvPr/>
        </p:nvSpPr>
        <p:spPr>
          <a:xfrm>
            <a:off x="5789759" y="1722267"/>
            <a:ext cx="2016225" cy="986653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b="1" dirty="0" smtClean="0">
                <a:solidFill>
                  <a:schemeClr val="tx1"/>
                </a:solidFill>
                <a:latin typeface="Calibri" pitchFamily="34" charset="0"/>
              </a:rPr>
              <a:t>TEORÍA DE LA ACTIVIDAD</a:t>
            </a:r>
            <a:endParaRPr lang="es-BO" b="1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5883079" y="2924944"/>
            <a:ext cx="1953969" cy="2448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b="1" dirty="0" smtClean="0">
                <a:solidFill>
                  <a:schemeClr val="tx1"/>
                </a:solidFill>
                <a:latin typeface="Calibri" pitchFamily="34" charset="0"/>
              </a:rPr>
              <a:t>PERSONA SOCIALMENTE ACTIVA  TIENE MAS CAPACIDAD DE ADAPTARSE SALVO POR LO CAMBIOS FISIOLOGICOS INEVITABLES</a:t>
            </a:r>
            <a:endParaRPr lang="es-BO" b="1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11" name="10 Rectángulo"/>
          <p:cNvSpPr/>
          <p:nvPr/>
        </p:nvSpPr>
        <p:spPr>
          <a:xfrm>
            <a:off x="5883079" y="5517232"/>
            <a:ext cx="3153417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2000" b="1" dirty="0" smtClean="0">
                <a:solidFill>
                  <a:schemeClr val="tx1"/>
                </a:solidFill>
                <a:latin typeface="Calibri" pitchFamily="34" charset="0"/>
              </a:rPr>
              <a:t>Esta teoría afirma que la actividad es  la clave de la satisfacción y autorrealización</a:t>
            </a:r>
            <a:endParaRPr lang="es-BO" sz="2000" b="1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919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Llamada de flecha hacia abajo"/>
          <p:cNvSpPr/>
          <p:nvPr/>
        </p:nvSpPr>
        <p:spPr>
          <a:xfrm>
            <a:off x="2133994" y="260648"/>
            <a:ext cx="3888432" cy="975189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b="1" dirty="0" smtClean="0">
                <a:solidFill>
                  <a:schemeClr val="tx1"/>
                </a:solidFill>
                <a:latin typeface="Calibri" pitchFamily="34" charset="0"/>
              </a:rPr>
              <a:t>TEORIA  DE LA CONTINUIDAD</a:t>
            </a:r>
            <a:endParaRPr lang="es-BO" b="1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408923" y="1412776"/>
            <a:ext cx="3435851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b="1" dirty="0" smtClean="0">
                <a:solidFill>
                  <a:schemeClr val="tx1"/>
                </a:solidFill>
                <a:latin typeface="Calibri" pitchFamily="34" charset="0"/>
              </a:rPr>
              <a:t>CAPACIDAD DE ADAPTACION Y DE AJUSTE DEL ADULTO MAYOR TOMANDO ENCUENTA LA PERSONALIDAD  Y ESTILO DE VIDA  </a:t>
            </a:r>
            <a:endParaRPr lang="es-BO" b="1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4078210" y="1412776"/>
            <a:ext cx="2598516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b="1" dirty="0" smtClean="0">
                <a:solidFill>
                  <a:schemeClr val="tx1"/>
                </a:solidFill>
                <a:latin typeface="Calibri" pitchFamily="34" charset="0"/>
              </a:rPr>
              <a:t>SE CREE QUE CUANDO SE CONOCE LA PERSONALIDAD DEL INDIVIDUO ES POSIBLE PREDECIR LAS CONDICIONES DE SU PROCESO DE ENVEJECIMIENTO</a:t>
            </a:r>
            <a:endParaRPr lang="es-BO" b="1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1115616" y="3921909"/>
            <a:ext cx="7704856" cy="2664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BO" b="1" dirty="0" smtClean="0">
              <a:solidFill>
                <a:schemeClr val="tx1"/>
              </a:solidFill>
              <a:latin typeface="Calibri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BO" b="1" dirty="0" smtClean="0">
                <a:solidFill>
                  <a:schemeClr val="tx1"/>
                </a:solidFill>
                <a:latin typeface="Calibri" pitchFamily="34" charset="0"/>
              </a:rPr>
              <a:t>La </a:t>
            </a:r>
            <a:r>
              <a:rPr lang="es-BO" b="1" dirty="0">
                <a:solidFill>
                  <a:schemeClr val="tx1"/>
                </a:solidFill>
                <a:latin typeface="Calibri" pitchFamily="34" charset="0"/>
              </a:rPr>
              <a:t>personalidad </a:t>
            </a:r>
            <a:r>
              <a:rPr lang="es-BO" b="1" dirty="0" smtClean="0">
                <a:solidFill>
                  <a:schemeClr val="tx1"/>
                </a:solidFill>
                <a:latin typeface="Calibri" pitchFamily="34" charset="0"/>
              </a:rPr>
              <a:t>integrada: </a:t>
            </a:r>
            <a:r>
              <a:rPr lang="es-BO" b="1" dirty="0">
                <a:solidFill>
                  <a:schemeClr val="tx1"/>
                </a:solidFill>
                <a:latin typeface="Calibri" pitchFamily="34" charset="0"/>
              </a:rPr>
              <a:t>individuos  maduros y felices que llevan a cabo actividades en diversos niveles y que van desde los más altamente activos hasta los más aislados</a:t>
            </a:r>
            <a:r>
              <a:rPr lang="es-BO" b="1" dirty="0" smtClean="0">
                <a:solidFill>
                  <a:schemeClr val="tx1"/>
                </a:solidFill>
                <a:latin typeface="Calibri" pitchFamily="34" charset="0"/>
              </a:rPr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BO" dirty="0" smtClean="0"/>
              <a:t> </a:t>
            </a:r>
            <a:r>
              <a:rPr lang="es-BO" b="1" dirty="0">
                <a:solidFill>
                  <a:schemeClr val="tx1"/>
                </a:solidFill>
                <a:latin typeface="Calibri" pitchFamily="34" charset="0"/>
              </a:rPr>
              <a:t>La personalidad </a:t>
            </a:r>
            <a:r>
              <a:rPr lang="es-BO" b="1" dirty="0" smtClean="0">
                <a:solidFill>
                  <a:schemeClr val="tx1"/>
                </a:solidFill>
                <a:latin typeface="Calibri" pitchFamily="34" charset="0"/>
              </a:rPr>
              <a:t>defensiva: personas </a:t>
            </a:r>
            <a:r>
              <a:rPr lang="es-BO" b="1" dirty="0">
                <a:solidFill>
                  <a:schemeClr val="tx1"/>
                </a:solidFill>
                <a:latin typeface="Calibri" pitchFamily="34" charset="0"/>
              </a:rPr>
              <a:t>que mantienen durante la vejez los mismos valores  y normas de la edad adulta y se angustian por las pérdidas y los cambios que acarrea la vejez</a:t>
            </a:r>
            <a:r>
              <a:rPr lang="es-BO" b="1" dirty="0" smtClean="0">
                <a:solidFill>
                  <a:schemeClr val="tx1"/>
                </a:solidFill>
                <a:latin typeface="Calibri" pitchFamily="34" charset="0"/>
              </a:rPr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BO" dirty="0" smtClean="0"/>
              <a:t> </a:t>
            </a:r>
            <a:r>
              <a:rPr lang="es-BO" b="1" dirty="0">
                <a:solidFill>
                  <a:schemeClr val="tx1"/>
                </a:solidFill>
                <a:latin typeface="Calibri" pitchFamily="34" charset="0"/>
              </a:rPr>
              <a:t>La personalidad pasiva -  </a:t>
            </a:r>
            <a:r>
              <a:rPr lang="es-BO" b="1" dirty="0" smtClean="0">
                <a:solidFill>
                  <a:schemeClr val="tx1"/>
                </a:solidFill>
                <a:latin typeface="Calibri" pitchFamily="34" charset="0"/>
              </a:rPr>
              <a:t>dependiente:  </a:t>
            </a:r>
            <a:r>
              <a:rPr lang="es-BO" b="1" dirty="0">
                <a:solidFill>
                  <a:schemeClr val="tx1"/>
                </a:solidFill>
                <a:latin typeface="Calibri" pitchFamily="34" charset="0"/>
              </a:rPr>
              <a:t>individuos altamente dependientes y </a:t>
            </a:r>
            <a:r>
              <a:rPr lang="es-BO" b="1" dirty="0" smtClean="0">
                <a:solidFill>
                  <a:schemeClr val="tx1"/>
                </a:solidFill>
                <a:latin typeface="Calibri" pitchFamily="34" charset="0"/>
              </a:rPr>
              <a:t>apáticos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es-BO" b="1" dirty="0">
                <a:solidFill>
                  <a:schemeClr val="tx1"/>
                </a:solidFill>
                <a:latin typeface="Calibri" pitchFamily="34" charset="0"/>
              </a:rPr>
              <a:t>La personalidad no </a:t>
            </a:r>
            <a:r>
              <a:rPr lang="es-BO" b="1" dirty="0" smtClean="0">
                <a:solidFill>
                  <a:schemeClr val="tx1"/>
                </a:solidFill>
                <a:latin typeface="Calibri" pitchFamily="34" charset="0"/>
              </a:rPr>
              <a:t>integrada:  </a:t>
            </a:r>
            <a:r>
              <a:rPr lang="es-BO" b="1" dirty="0">
                <a:solidFill>
                  <a:schemeClr val="tx1"/>
                </a:solidFill>
                <a:latin typeface="Calibri" pitchFamily="34" charset="0"/>
              </a:rPr>
              <a:t>personas que sufren trastornos mentales.</a:t>
            </a:r>
          </a:p>
          <a:p>
            <a:endParaRPr lang="es-BO" b="1" dirty="0">
              <a:solidFill>
                <a:schemeClr val="tx1"/>
              </a:solidFill>
              <a:latin typeface="Calibri" pitchFamily="34" charset="0"/>
            </a:endParaRPr>
          </a:p>
          <a:p>
            <a:pPr lvl="0"/>
            <a:endParaRPr lang="es-BO" b="1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814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BO" b="1" dirty="0">
                <a:effectLst/>
                <a:latin typeface="Calibri" pitchFamily="34" charset="0"/>
              </a:rPr>
              <a:t>CAMBIOS FISICO Y SUS CONSECUENCIAS EN LA VEJEZ.</a:t>
            </a:r>
            <a:r>
              <a:rPr lang="es-BO" dirty="0">
                <a:effectLst/>
                <a:latin typeface="Calibri" pitchFamily="34" charset="0"/>
              </a:rPr>
              <a:t/>
            </a:r>
            <a:br>
              <a:rPr lang="es-BO" dirty="0">
                <a:effectLst/>
                <a:latin typeface="Calibri" pitchFamily="34" charset="0"/>
              </a:rPr>
            </a:br>
            <a:endParaRPr lang="es-BO" dirty="0">
              <a:latin typeface="Calibri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BO" b="1" dirty="0">
                <a:latin typeface="Calibri" pitchFamily="34" charset="0"/>
              </a:rPr>
              <a:t>SISTEMA NERVIOSO CENTRAL: CEREBRO Y MEDULA </a:t>
            </a:r>
            <a:r>
              <a:rPr lang="es-BO" b="1" dirty="0" smtClean="0">
                <a:latin typeface="Calibri" pitchFamily="34" charset="0"/>
              </a:rPr>
              <a:t>ESPINAL.</a:t>
            </a:r>
            <a:endParaRPr lang="es-BO" dirty="0">
              <a:latin typeface="Calibri" pitchFamily="34" charset="0"/>
            </a:endParaRPr>
          </a:p>
          <a:p>
            <a:pPr marL="0" indent="0">
              <a:buNone/>
            </a:pPr>
            <a:r>
              <a:rPr lang="es-BO" b="1" dirty="0" smtClean="0">
                <a:latin typeface="Calibri" pitchFamily="34" charset="0"/>
              </a:rPr>
              <a:t>Cambios </a:t>
            </a:r>
            <a:r>
              <a:rPr lang="es-BO" b="1" dirty="0">
                <a:latin typeface="Calibri" pitchFamily="34" charset="0"/>
              </a:rPr>
              <a:t>relacionados con  el envejecimiento</a:t>
            </a:r>
            <a:r>
              <a:rPr lang="es-BO" b="1" dirty="0" smtClean="0">
                <a:latin typeface="Calibri" pitchFamily="34" charset="0"/>
              </a:rPr>
              <a:t>.</a:t>
            </a:r>
            <a:endParaRPr lang="es-BO" b="1" dirty="0">
              <a:latin typeface="Calibri" pitchFamily="34" charset="0"/>
            </a:endParaRPr>
          </a:p>
          <a:p>
            <a:pPr lvl="0"/>
            <a:r>
              <a:rPr lang="es-BO" b="1" dirty="0">
                <a:latin typeface="Calibri" pitchFamily="34" charset="0"/>
              </a:rPr>
              <a:t>Engrosamiento de las meninges;</a:t>
            </a:r>
          </a:p>
          <a:p>
            <a:pPr lvl="0"/>
            <a:r>
              <a:rPr lang="es-BO" b="1" dirty="0">
                <a:latin typeface="Calibri" pitchFamily="34" charset="0"/>
              </a:rPr>
              <a:t>Atrofia cerebral (el cerebro disminuye el 10 % entre las edades de 35 a 70 años);</a:t>
            </a:r>
          </a:p>
          <a:p>
            <a:pPr lvl="0"/>
            <a:r>
              <a:rPr lang="es-BO" b="1" dirty="0">
                <a:latin typeface="Calibri" pitchFamily="34" charset="0"/>
              </a:rPr>
              <a:t>Disminución de los procesos dendríticos;</a:t>
            </a:r>
          </a:p>
          <a:p>
            <a:pPr lvl="0"/>
            <a:r>
              <a:rPr lang="es-BO" b="1" dirty="0">
                <a:latin typeface="Calibri" pitchFamily="34" charset="0"/>
              </a:rPr>
              <a:t>Reducción de la sustancia blanca:</a:t>
            </a:r>
          </a:p>
          <a:p>
            <a:pPr lvl="0"/>
            <a:r>
              <a:rPr lang="es-BO" b="1" dirty="0">
                <a:latin typeface="Calibri" pitchFamily="34" charset="0"/>
              </a:rPr>
              <a:t>Disminución de la velocidad de conducción; </a:t>
            </a:r>
          </a:p>
          <a:p>
            <a:pPr lvl="0"/>
            <a:r>
              <a:rPr lang="es-BO" b="1" dirty="0">
                <a:latin typeface="Calibri" pitchFamily="34" charset="0"/>
              </a:rPr>
              <a:t>Aumento del tiempo de respuesta reflejo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23248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04800" y="332656"/>
            <a:ext cx="8686800" cy="626469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BO" sz="3600" b="1" dirty="0">
                <a:latin typeface="Calibri" pitchFamily="34" charset="0"/>
              </a:rPr>
              <a:t>Consecuencia de estos cambios:</a:t>
            </a:r>
          </a:p>
          <a:p>
            <a:pPr lvl="0"/>
            <a:r>
              <a:rPr lang="es-BO" sz="3600" b="1" dirty="0">
                <a:latin typeface="Calibri" pitchFamily="34" charset="0"/>
              </a:rPr>
              <a:t>Algunos ancianos pueden presentar disminución de las respuestas intelectuales como agilidad mental y capacidad de razonamiento abstracto.</a:t>
            </a:r>
          </a:p>
          <a:p>
            <a:pPr lvl="0"/>
            <a:r>
              <a:rPr lang="es-BO" sz="3600" b="1" dirty="0">
                <a:latin typeface="Calibri" pitchFamily="34" charset="0"/>
              </a:rPr>
              <a:t>En algunos ancianos disminución de la percepción, análisis e integración de la información sensorial, disminución en la memoria de corto plazo y alguna perdida en  la habilidad  de aprendizaje.</a:t>
            </a:r>
          </a:p>
          <a:p>
            <a:pPr lvl="0"/>
            <a:r>
              <a:rPr lang="es-BO" sz="3600" b="1" dirty="0">
                <a:latin typeface="Calibri" pitchFamily="34" charset="0"/>
              </a:rPr>
              <a:t>Enlentecimiento de la coordinación sensorio-motora que produce un deterioro en los mecanismos que controlan  la postura, el soporte anti gravitacional y el balance;</a:t>
            </a:r>
          </a:p>
          <a:p>
            <a:pPr lvl="0"/>
            <a:r>
              <a:rPr lang="es-BO" sz="3600" b="1" dirty="0">
                <a:latin typeface="Calibri" pitchFamily="34" charset="0"/>
              </a:rPr>
              <a:t>Estos cambios aunque son relativamente normales, no se encuentran en todos los adultos mayores, ya que existe un grupo numeroso que conserva sus funciones intelectuales y cognitivas intactas. 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74450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>
                <a:effectLst/>
                <a:latin typeface="Calibri" pitchFamily="34" charset="0"/>
              </a:rPr>
              <a:t>SISTEMA NERVIOSO AUTONOMO:</a:t>
            </a:r>
            <a:r>
              <a:rPr lang="es-BO" dirty="0">
                <a:effectLst/>
              </a:rPr>
              <a:t/>
            </a:r>
            <a:br>
              <a:rPr lang="es-BO" dirty="0">
                <a:effectLst/>
              </a:rPr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04800" y="1124744"/>
            <a:ext cx="8686800" cy="495538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BO" b="1" dirty="0">
                <a:latin typeface="Calibri" pitchFamily="34" charset="0"/>
              </a:rPr>
              <a:t>Cambios relacionados con el envejecimiento.</a:t>
            </a:r>
          </a:p>
          <a:p>
            <a:r>
              <a:rPr lang="es-BO" b="1" dirty="0">
                <a:latin typeface="Calibri" pitchFamily="34" charset="0"/>
              </a:rPr>
              <a:t>Se observa una disminución en la síntesis e hidrolisis de los neurotransmisores, acetil colina, norepinefrina y </a:t>
            </a:r>
            <a:r>
              <a:rPr lang="es-BO" b="1" dirty="0" smtClean="0">
                <a:latin typeface="Calibri" pitchFamily="34" charset="0"/>
              </a:rPr>
              <a:t>dopamina, diminución </a:t>
            </a:r>
            <a:r>
              <a:rPr lang="es-BO" b="1" dirty="0">
                <a:latin typeface="Calibri" pitchFamily="34" charset="0"/>
              </a:rPr>
              <a:t>en el número de los receptores post-sinápticos. </a:t>
            </a:r>
          </a:p>
          <a:p>
            <a:pPr marL="0" indent="0">
              <a:buNone/>
            </a:pPr>
            <a:r>
              <a:rPr lang="es-BO" b="1" dirty="0">
                <a:latin typeface="Calibri" pitchFamily="34" charset="0"/>
              </a:rPr>
              <a:t>Consecuencia de estos cambios:</a:t>
            </a:r>
          </a:p>
          <a:p>
            <a:pPr lvl="0"/>
            <a:r>
              <a:rPr lang="es-BO" b="1" dirty="0">
                <a:latin typeface="Calibri" pitchFamily="34" charset="0"/>
              </a:rPr>
              <a:t>Existe una disminución de la sensibilidad de los </a:t>
            </a:r>
            <a:r>
              <a:rPr lang="es-BO" b="1" dirty="0" err="1">
                <a:latin typeface="Calibri" pitchFamily="34" charset="0"/>
              </a:rPr>
              <a:t>baroreceptores</a:t>
            </a:r>
            <a:r>
              <a:rPr lang="es-BO" b="1" dirty="0">
                <a:latin typeface="Calibri" pitchFamily="34" charset="0"/>
              </a:rPr>
              <a:t>, lo que condiciona una predisposición de la hipotensión postural;</a:t>
            </a:r>
          </a:p>
          <a:p>
            <a:pPr lvl="0"/>
            <a:r>
              <a:rPr lang="es-BO" b="1" dirty="0">
                <a:latin typeface="Calibri" pitchFamily="34" charset="0"/>
              </a:rPr>
              <a:t>Existe deterioro de la regulación de la temperatura corporal, lo que predispone a la hipotermia </a:t>
            </a:r>
          </a:p>
          <a:p>
            <a:pPr lvl="0"/>
            <a:r>
              <a:rPr lang="es-BO" b="1" dirty="0">
                <a:latin typeface="Calibri" pitchFamily="34" charset="0"/>
              </a:rPr>
              <a:t>Ocurre alteración en la apreciación del dolor visceral, lo que puede conducir a la presentación, en forma confusa, de enfermedades:</a:t>
            </a:r>
          </a:p>
          <a:p>
            <a:pPr lvl="0"/>
            <a:r>
              <a:rPr lang="es-BO" b="1" dirty="0">
                <a:latin typeface="Calibri" pitchFamily="34" charset="0"/>
              </a:rPr>
              <a:t>Existe disminución en la  motilidad intestinal, lo que puede producir constipación;</a:t>
            </a:r>
          </a:p>
          <a:p>
            <a:pPr lvl="0"/>
            <a:r>
              <a:rPr lang="es-BO" b="1" dirty="0">
                <a:latin typeface="Calibri" pitchFamily="34" charset="0"/>
              </a:rPr>
              <a:t>Puede existir trastorno en la regulación del tono muscular y en el control de los esfínteres involuntarios, lo que puede conducir a problemas tales como incontinencia urinaria.</a:t>
            </a:r>
          </a:p>
        </p:txBody>
      </p:sp>
    </p:spTree>
    <p:extLst>
      <p:ext uri="{BB962C8B-B14F-4D97-AF65-F5344CB8AC3E}">
        <p14:creationId xmlns:p14="http://schemas.microsoft.com/office/powerpoint/2010/main" val="4288346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>
                <a:effectLst/>
              </a:rPr>
              <a:t>SENTIDO DE LA VISION:</a:t>
            </a:r>
            <a:r>
              <a:rPr lang="es-BO" dirty="0">
                <a:effectLst/>
              </a:rPr>
              <a:t/>
            </a:r>
            <a:br>
              <a:rPr lang="es-BO" dirty="0">
                <a:effectLst/>
              </a:rPr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04800" y="1124744"/>
            <a:ext cx="8686800" cy="495538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BO" b="1" dirty="0">
                <a:latin typeface="Calibri" pitchFamily="34" charset="0"/>
              </a:rPr>
              <a:t>Cambios relacionados con el envejecimiento:</a:t>
            </a:r>
          </a:p>
          <a:p>
            <a:pPr lvl="0"/>
            <a:r>
              <a:rPr lang="es-BO" b="1" dirty="0">
                <a:latin typeface="Calibri" pitchFamily="34" charset="0"/>
              </a:rPr>
              <a:t>Perdida de la grasa orbitaria y estenosis del conducto lagrimal;</a:t>
            </a:r>
          </a:p>
          <a:p>
            <a:pPr lvl="0"/>
            <a:r>
              <a:rPr lang="es-BO" b="1" dirty="0">
                <a:latin typeface="Calibri" pitchFamily="34" charset="0"/>
              </a:rPr>
              <a:t>Depósitos lipídicos en la córnea, sequedad de la conjuntiva y disminución de la elasticidad del cristalino;</a:t>
            </a:r>
          </a:p>
          <a:p>
            <a:pPr lvl="0"/>
            <a:r>
              <a:rPr lang="es-BO" b="1" dirty="0">
                <a:latin typeface="Calibri" pitchFamily="34" charset="0"/>
              </a:rPr>
              <a:t>Cambios degenerativos en los músculos de la acomodación en el iris, retina y </a:t>
            </a:r>
            <a:r>
              <a:rPr lang="es-BO" b="1" dirty="0" smtClean="0">
                <a:latin typeface="Calibri" pitchFamily="34" charset="0"/>
              </a:rPr>
              <a:t>coroides.</a:t>
            </a:r>
          </a:p>
          <a:p>
            <a:pPr marL="0" lvl="0" indent="0">
              <a:buNone/>
            </a:pPr>
            <a:r>
              <a:rPr lang="es-BO" b="1" dirty="0" smtClean="0">
                <a:latin typeface="Calibri" pitchFamily="34" charset="0"/>
              </a:rPr>
              <a:t>Consecuencia </a:t>
            </a:r>
            <a:r>
              <a:rPr lang="es-BO" b="1" dirty="0">
                <a:latin typeface="Calibri" pitchFamily="34" charset="0"/>
              </a:rPr>
              <a:t>de estos cambios </a:t>
            </a:r>
          </a:p>
          <a:p>
            <a:r>
              <a:rPr lang="es-BO" b="1" dirty="0">
                <a:latin typeface="Calibri" pitchFamily="34" charset="0"/>
              </a:rPr>
              <a:t>Apariencia de hundimiento de los ojos, laxitud de los parpados, </a:t>
            </a:r>
            <a:r>
              <a:rPr lang="es-BO" b="1" dirty="0" err="1">
                <a:latin typeface="Calibri" pitchFamily="34" charset="0"/>
              </a:rPr>
              <a:t>ptosis</a:t>
            </a:r>
            <a:r>
              <a:rPr lang="es-BO" b="1" dirty="0">
                <a:latin typeface="Calibri" pitchFamily="34" charset="0"/>
              </a:rPr>
              <a:t> senil, puede haber epifora, arco senil, reducción de la cantidad de lágrimas y aumento de la presión intraocular;</a:t>
            </a:r>
          </a:p>
          <a:p>
            <a:r>
              <a:rPr lang="es-BO" b="1" dirty="0">
                <a:latin typeface="Calibri" pitchFamily="34" charset="0"/>
              </a:rPr>
              <a:t>Pupilas contraídas y reflejos lentos, deterioro de la agudeza visual y de la tolerancia al reflejo de la luz brillante, pudiendo haber disminución de los  campos visuales</a:t>
            </a:r>
          </a:p>
          <a:p>
            <a:r>
              <a:rPr lang="es-BO" b="1" dirty="0">
                <a:latin typeface="Calibri" pitchFamily="34" charset="0"/>
              </a:rPr>
              <a:t>Lenta adaptación a la obscuridad, defectuosa apreciación del color y deterioro de la percepción </a:t>
            </a:r>
            <a:r>
              <a:rPr lang="es-BO" b="1" dirty="0" err="1">
                <a:latin typeface="Calibri" pitchFamily="34" charset="0"/>
              </a:rPr>
              <a:t>visuo</a:t>
            </a:r>
            <a:r>
              <a:rPr lang="es-BO" b="1" dirty="0">
                <a:latin typeface="Calibri" pitchFamily="34" charset="0"/>
              </a:rPr>
              <a:t> – espacial.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328782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>
                <a:effectLst/>
              </a:rPr>
              <a:t>AUDICION EQUILIBRIO:</a:t>
            </a:r>
            <a:r>
              <a:rPr lang="es-BO" dirty="0">
                <a:effectLst/>
              </a:rPr>
              <a:t/>
            </a:r>
            <a:br>
              <a:rPr lang="es-BO" dirty="0">
                <a:effectLst/>
              </a:rPr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04800" y="1268760"/>
            <a:ext cx="8686800" cy="481136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BO" b="1" dirty="0">
                <a:latin typeface="Calibri" pitchFamily="34" charset="0"/>
              </a:rPr>
              <a:t>Cambios relacionados con el </a:t>
            </a:r>
            <a:r>
              <a:rPr lang="es-BO" b="1" dirty="0" smtClean="0">
                <a:latin typeface="Calibri" pitchFamily="34" charset="0"/>
              </a:rPr>
              <a:t>envejecimiento.</a:t>
            </a:r>
            <a:endParaRPr lang="es-BO" b="1" dirty="0">
              <a:latin typeface="Calibri" pitchFamily="34" charset="0"/>
            </a:endParaRPr>
          </a:p>
          <a:p>
            <a:pPr lvl="0"/>
            <a:r>
              <a:rPr lang="es-BO" b="1" dirty="0">
                <a:latin typeface="Calibri" pitchFamily="34" charset="0"/>
              </a:rPr>
              <a:t>Perdida de neuronas en la cóclea y en la corteza temporal</a:t>
            </a:r>
          </a:p>
          <a:p>
            <a:pPr lvl="0"/>
            <a:r>
              <a:rPr lang="es-BO" b="1" dirty="0">
                <a:latin typeface="Calibri" pitchFamily="34" charset="0"/>
              </a:rPr>
              <a:t>Disminución de la elasticidad de la membrana basilar, afectando la vibración.</a:t>
            </a:r>
          </a:p>
          <a:p>
            <a:pPr lvl="0"/>
            <a:r>
              <a:rPr lang="es-BO" b="1" dirty="0" err="1">
                <a:latin typeface="Calibri" pitchFamily="34" charset="0"/>
              </a:rPr>
              <a:t>Osteoesclerosis</a:t>
            </a:r>
            <a:r>
              <a:rPr lang="es-BO" b="1" dirty="0">
                <a:latin typeface="Calibri" pitchFamily="34" charset="0"/>
              </a:rPr>
              <a:t> de la cadena de huesecillo del oído medio</a:t>
            </a:r>
          </a:p>
          <a:p>
            <a:pPr lvl="0"/>
            <a:r>
              <a:rPr lang="es-BO" b="1" dirty="0">
                <a:latin typeface="Calibri" pitchFamily="34" charset="0"/>
              </a:rPr>
              <a:t>Excesiva acumulación de cerumen </a:t>
            </a:r>
          </a:p>
          <a:p>
            <a:pPr lvl="0"/>
            <a:r>
              <a:rPr lang="es-BO" b="1" dirty="0">
                <a:latin typeface="Calibri" pitchFamily="34" charset="0"/>
              </a:rPr>
              <a:t>Disminución de la producción de endolinfa</a:t>
            </a:r>
          </a:p>
          <a:p>
            <a:r>
              <a:rPr lang="es-BO" b="1" dirty="0">
                <a:latin typeface="Calibri" pitchFamily="34" charset="0"/>
              </a:rPr>
              <a:t>Degeneración de las células vellosas en los canales semicirculares</a:t>
            </a:r>
            <a:endParaRPr lang="es-BO" b="1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39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BO" b="1" dirty="0">
                <a:latin typeface="Calibri" pitchFamily="34" charset="0"/>
              </a:rPr>
              <a:t>Consecuencias de estos cambios:</a:t>
            </a:r>
          </a:p>
          <a:p>
            <a:pPr lvl="0"/>
            <a:r>
              <a:rPr lang="es-BO" b="1" dirty="0" err="1">
                <a:latin typeface="Calibri" pitchFamily="34" charset="0"/>
              </a:rPr>
              <a:t>Presbiacucia</a:t>
            </a:r>
            <a:r>
              <a:rPr lang="es-BO" b="1" dirty="0">
                <a:latin typeface="Calibri" pitchFamily="34" charset="0"/>
              </a:rPr>
              <a:t>, caracterizada  por el deterioro de la sensibilidad al tono de frecuencia alta y a la percepción, localización y discriminación de los sonidos </a:t>
            </a:r>
          </a:p>
          <a:p>
            <a:pPr lvl="0"/>
            <a:r>
              <a:rPr lang="es-BO" b="1" dirty="0">
                <a:latin typeface="Calibri" pitchFamily="34" charset="0"/>
              </a:rPr>
              <a:t>Deterioro del control postural reflejo, lo que puede producir predisposición a las caídas por vértigo y mareo, disminución de la habilidad para mover en la obscuridad. 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762687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332656"/>
            <a:ext cx="8686800" cy="838200"/>
          </a:xfrm>
        </p:spPr>
        <p:txBody>
          <a:bodyPr>
            <a:normAutofit fontScale="90000"/>
          </a:bodyPr>
          <a:lstStyle/>
          <a:p>
            <a:r>
              <a:rPr lang="es-BO" b="1" dirty="0">
                <a:effectLst/>
              </a:rPr>
              <a:t>OLFATO, GUSTO Y FONACION</a:t>
            </a:r>
            <a:r>
              <a:rPr lang="es-BO" dirty="0">
                <a:effectLst/>
              </a:rPr>
              <a:t/>
            </a:r>
            <a:br>
              <a:rPr lang="es-BO" dirty="0">
                <a:effectLst/>
              </a:rPr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04800" y="1124744"/>
            <a:ext cx="8686800" cy="495538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BO" b="1" dirty="0">
                <a:latin typeface="Calibri" pitchFamily="34" charset="0"/>
              </a:rPr>
              <a:t>Cambios relacionados con el envejecimiento:</a:t>
            </a:r>
          </a:p>
          <a:p>
            <a:pPr lvl="0"/>
            <a:r>
              <a:rPr lang="es-BO" b="1" dirty="0">
                <a:latin typeface="Calibri" pitchFamily="34" charset="0"/>
              </a:rPr>
              <a:t>Atrofia de las mucosas</a:t>
            </a:r>
          </a:p>
          <a:p>
            <a:pPr lvl="0"/>
            <a:r>
              <a:rPr lang="es-BO" b="1" dirty="0">
                <a:latin typeface="Calibri" pitchFamily="34" charset="0"/>
              </a:rPr>
              <a:t>Degeneración neuronal (las papilas gustativas se reducen en u 64 % a la edad de 75 años)</a:t>
            </a:r>
          </a:p>
          <a:p>
            <a:pPr lvl="0"/>
            <a:r>
              <a:rPr lang="es-BO" b="1" dirty="0">
                <a:latin typeface="Calibri" pitchFamily="34" charset="0"/>
              </a:rPr>
              <a:t>Atrofia y perdida de la elasticidad en los músculos y cartílagos laríngeos. </a:t>
            </a:r>
          </a:p>
          <a:p>
            <a:pPr marL="0" indent="0">
              <a:buNone/>
            </a:pPr>
            <a:r>
              <a:rPr lang="es-BO" b="1" dirty="0">
                <a:latin typeface="Calibri" pitchFamily="34" charset="0"/>
              </a:rPr>
              <a:t>Consecuencia de estos cambios:</a:t>
            </a:r>
          </a:p>
          <a:p>
            <a:pPr lvl="0"/>
            <a:r>
              <a:rPr lang="es-BO" b="1" dirty="0">
                <a:latin typeface="Calibri" pitchFamily="34" charset="0"/>
              </a:rPr>
              <a:t>Deterioro del sentido del gusto y del olfato con el consecuente riesgo de intoxicación pos gas o alimentos descompuestos, anorexia y malnutrición.</a:t>
            </a:r>
          </a:p>
          <a:p>
            <a:pPr lvl="0"/>
            <a:r>
              <a:rPr lang="es-BO" b="1" dirty="0">
                <a:latin typeface="Calibri" pitchFamily="34" charset="0"/>
              </a:rPr>
              <a:t>Disminución de la sensibilidad del reflejo de la tos y de la deglución </a:t>
            </a:r>
          </a:p>
          <a:p>
            <a:pPr lvl="0"/>
            <a:r>
              <a:rPr lang="es-BO" b="1" dirty="0">
                <a:latin typeface="Calibri" pitchFamily="34" charset="0"/>
              </a:rPr>
              <a:t>Cambio en la voz. 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97137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BO" sz="3100" b="1" dirty="0">
                <a:effectLst/>
                <a:latin typeface="Calibri" pitchFamily="34" charset="0"/>
              </a:rPr>
              <a:t>SISTEMA LOCOMOTOR: MUSCULOS, HUESOS Y ARTICULACIONES</a:t>
            </a:r>
            <a:r>
              <a:rPr lang="es-BO" b="1" dirty="0">
                <a:effectLst/>
              </a:rPr>
              <a:t>.</a:t>
            </a:r>
            <a:r>
              <a:rPr lang="es-BO" dirty="0">
                <a:effectLst/>
              </a:rPr>
              <a:t/>
            </a:r>
            <a:br>
              <a:rPr lang="es-BO" dirty="0">
                <a:effectLst/>
              </a:rPr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04800" y="1340768"/>
            <a:ext cx="8686800" cy="473935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BO" b="1" dirty="0">
                <a:latin typeface="Calibri" pitchFamily="34" charset="0"/>
              </a:rPr>
              <a:t>Cambios relacionados con el envejecimiento:</a:t>
            </a:r>
          </a:p>
          <a:p>
            <a:pPr lvl="0"/>
            <a:r>
              <a:rPr lang="es-BO" b="1" dirty="0">
                <a:latin typeface="Calibri" pitchFamily="34" charset="0"/>
              </a:rPr>
              <a:t>Atrofia muscular que afecta tanto al número como al tamaño de las fibras; aparentemente eso es condicionado por desórdenes metabólicos intrínsecos y por denervación funcional (disminución del impulso nervioso que mantiene el tono muscular)</a:t>
            </a:r>
          </a:p>
          <a:p>
            <a:pPr lvl="0"/>
            <a:r>
              <a:rPr lang="es-BO" b="1" dirty="0">
                <a:latin typeface="Calibri" pitchFamily="34" charset="0"/>
              </a:rPr>
              <a:t>Osteoporosis</a:t>
            </a:r>
          </a:p>
          <a:p>
            <a:pPr lvl="0"/>
            <a:r>
              <a:rPr lang="es-BO" b="1" dirty="0">
                <a:latin typeface="Calibri" pitchFamily="34" charset="0"/>
              </a:rPr>
              <a:t>Cambios degenerativos en ligamento, tejidos peri articulares y </a:t>
            </a:r>
            <a:r>
              <a:rPr lang="es-BO" b="1" dirty="0" smtClean="0">
                <a:latin typeface="Calibri" pitchFamily="34" charset="0"/>
              </a:rPr>
              <a:t>cartílago</a:t>
            </a:r>
          </a:p>
          <a:p>
            <a:pPr lvl="0"/>
            <a:r>
              <a:rPr lang="es-BO" b="1" dirty="0" smtClean="0">
                <a:latin typeface="Calibri" pitchFamily="34" charset="0"/>
              </a:rPr>
              <a:t>Engrosamiento </a:t>
            </a:r>
            <a:r>
              <a:rPr lang="es-BO" b="1" dirty="0">
                <a:latin typeface="Calibri" pitchFamily="34" charset="0"/>
              </a:rPr>
              <a:t>sinovial</a:t>
            </a:r>
          </a:p>
          <a:p>
            <a:pPr lvl="0"/>
            <a:r>
              <a:rPr lang="es-BO" b="1" dirty="0">
                <a:latin typeface="Calibri" pitchFamily="34" charset="0"/>
              </a:rPr>
              <a:t>Opacidad del cartílago, aparición de erosiones superficiales de generación </a:t>
            </a:r>
            <a:r>
              <a:rPr lang="es-BO" b="1" dirty="0" err="1">
                <a:latin typeface="Calibri" pitchFamily="34" charset="0"/>
              </a:rPr>
              <a:t>mucoide</a:t>
            </a:r>
            <a:r>
              <a:rPr lang="es-BO" b="1" dirty="0">
                <a:latin typeface="Calibri" pitchFamily="34" charset="0"/>
              </a:rPr>
              <a:t>, formación de quistes   y calcificación. </a:t>
            </a:r>
          </a:p>
          <a:p>
            <a:pPr lvl="0"/>
            <a:endParaRPr lang="es-BO" b="1" dirty="0">
              <a:latin typeface="Calibri" pitchFamily="34" charset="0"/>
            </a:endParaRP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912794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04800" y="764704"/>
            <a:ext cx="8686800" cy="531542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BO" sz="3400" b="1" dirty="0">
                <a:latin typeface="Calibri" pitchFamily="34" charset="0"/>
              </a:rPr>
              <a:t>Consecuencia de estos cambios:</a:t>
            </a:r>
          </a:p>
          <a:p>
            <a:pPr lvl="0"/>
            <a:r>
              <a:rPr lang="es-BO" sz="3400" b="1" dirty="0">
                <a:latin typeface="Calibri" pitchFamily="34" charset="0"/>
              </a:rPr>
              <a:t>Pérdida de masa muscular</a:t>
            </a:r>
          </a:p>
          <a:p>
            <a:pPr lvl="0"/>
            <a:r>
              <a:rPr lang="es-BO" sz="3400" b="1" dirty="0">
                <a:latin typeface="Calibri" pitchFamily="34" charset="0"/>
              </a:rPr>
              <a:t>Predisposición a calambres  musculares</a:t>
            </a:r>
          </a:p>
          <a:p>
            <a:pPr lvl="0"/>
            <a:r>
              <a:rPr lang="es-BO" sz="3400" b="1" dirty="0">
                <a:latin typeface="Calibri" pitchFamily="34" charset="0"/>
              </a:rPr>
              <a:t>Predisposición para el desarrollo de hernias </a:t>
            </a:r>
            <a:r>
              <a:rPr lang="es-BO" sz="3400" b="1" dirty="0" err="1">
                <a:latin typeface="Calibri" pitchFamily="34" charset="0"/>
              </a:rPr>
              <a:t>intra</a:t>
            </a:r>
            <a:r>
              <a:rPr lang="es-BO" sz="3400" b="1" dirty="0">
                <a:latin typeface="Calibri" pitchFamily="34" charset="0"/>
              </a:rPr>
              <a:t> y extra abdominales </a:t>
            </a:r>
          </a:p>
          <a:p>
            <a:pPr lvl="0"/>
            <a:r>
              <a:rPr lang="es-BO" sz="3400" b="1" dirty="0">
                <a:latin typeface="Calibri" pitchFamily="34" charset="0"/>
              </a:rPr>
              <a:t>Debilidad muscular </a:t>
            </a:r>
          </a:p>
          <a:p>
            <a:pPr lvl="0"/>
            <a:r>
              <a:rPr lang="es-BO" sz="3400" b="1" dirty="0">
                <a:latin typeface="Calibri" pitchFamily="34" charset="0"/>
              </a:rPr>
              <a:t>Limitación en el rango y velocidad del movimiento corporal</a:t>
            </a:r>
          </a:p>
          <a:p>
            <a:pPr lvl="0"/>
            <a:r>
              <a:rPr lang="es-BO" sz="3400" b="1" dirty="0">
                <a:latin typeface="Calibri" pitchFamily="34" charset="0"/>
              </a:rPr>
              <a:t>Cifosis </a:t>
            </a:r>
          </a:p>
          <a:p>
            <a:pPr lvl="0"/>
            <a:r>
              <a:rPr lang="es-BO" sz="3400" b="1" dirty="0">
                <a:latin typeface="Calibri" pitchFamily="34" charset="0"/>
              </a:rPr>
              <a:t>Disminución de la estatura </a:t>
            </a:r>
          </a:p>
          <a:p>
            <a:pPr lvl="0"/>
            <a:r>
              <a:rPr lang="es-BO" sz="3400" b="1" dirty="0">
                <a:latin typeface="Calibri" pitchFamily="34" charset="0"/>
              </a:rPr>
              <a:t>Disminución de la elasticidad y resistencia de las articulaciones </a:t>
            </a:r>
          </a:p>
          <a:p>
            <a:pPr lvl="0"/>
            <a:r>
              <a:rPr lang="es-BO" sz="3400" b="1" dirty="0">
                <a:latin typeface="Calibri" pitchFamily="34" charset="0"/>
              </a:rPr>
              <a:t>Rigidez articular y  predisposición al dolor  </a:t>
            </a:r>
          </a:p>
          <a:p>
            <a:pPr lvl="0"/>
            <a:r>
              <a:rPr lang="es-BO" sz="3400" b="1" dirty="0">
                <a:latin typeface="Calibri" pitchFamily="34" charset="0"/>
              </a:rPr>
              <a:t>Disminución en la confianza y seguridad para la actividad</a:t>
            </a:r>
          </a:p>
          <a:p>
            <a:pPr lvl="0"/>
            <a:r>
              <a:rPr lang="es-BO" sz="3400" b="1" dirty="0">
                <a:latin typeface="Calibri" pitchFamily="34" charset="0"/>
              </a:rPr>
              <a:t>Dificultad para la realización de tareas, especialmente si se complica por  un defecto visual no compensado.</a:t>
            </a:r>
          </a:p>
          <a:p>
            <a:endParaRPr lang="es-BO" b="1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09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>
                <a:effectLst/>
              </a:rPr>
              <a:t>SISTEMA GASTROINTESTINAL</a:t>
            </a:r>
            <a:r>
              <a:rPr lang="es-BO" dirty="0">
                <a:effectLst/>
              </a:rPr>
              <a:t/>
            </a:r>
            <a:br>
              <a:rPr lang="es-BO" dirty="0">
                <a:effectLst/>
              </a:rPr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es-BO" b="1" dirty="0" smtClean="0">
                <a:latin typeface="Calibri" pitchFamily="34" charset="0"/>
              </a:rPr>
              <a:t>Cambios relacionados con el envejecimiento </a:t>
            </a:r>
          </a:p>
          <a:p>
            <a:pPr lvl="0"/>
            <a:r>
              <a:rPr lang="es-BO" b="1" dirty="0" smtClean="0">
                <a:latin typeface="Calibri" pitchFamily="34" charset="0"/>
              </a:rPr>
              <a:t>Cambios </a:t>
            </a:r>
            <a:r>
              <a:rPr lang="es-BO" b="1" dirty="0">
                <a:latin typeface="Calibri" pitchFamily="34" charset="0"/>
              </a:rPr>
              <a:t>en la mucosa oral</a:t>
            </a:r>
          </a:p>
          <a:p>
            <a:pPr lvl="0"/>
            <a:r>
              <a:rPr lang="es-BO" b="1" dirty="0">
                <a:latin typeface="Calibri" pitchFamily="34" charset="0"/>
              </a:rPr>
              <a:t>Cambios atróficos en la mandíbula </a:t>
            </a:r>
          </a:p>
          <a:p>
            <a:pPr lvl="0"/>
            <a:r>
              <a:rPr lang="es-BO" b="1" dirty="0">
                <a:latin typeface="Calibri" pitchFamily="34" charset="0"/>
              </a:rPr>
              <a:t>Atrofia de tejidos blandos (encías)</a:t>
            </a:r>
          </a:p>
          <a:p>
            <a:pPr lvl="0"/>
            <a:r>
              <a:rPr lang="es-BO" b="1" dirty="0">
                <a:latin typeface="Calibri" pitchFamily="34" charset="0"/>
              </a:rPr>
              <a:t>Atrofia de la mucosa gástrica e intestinal, de las glándulas intestinales y de la capa </a:t>
            </a:r>
            <a:r>
              <a:rPr lang="es-BO" b="1" dirty="0" err="1">
                <a:latin typeface="Calibri" pitchFamily="34" charset="0"/>
              </a:rPr>
              <a:t>muscularis</a:t>
            </a:r>
            <a:r>
              <a:rPr lang="es-BO" b="1" dirty="0">
                <a:latin typeface="Calibri" pitchFamily="34" charset="0"/>
              </a:rPr>
              <a:t>.</a:t>
            </a:r>
          </a:p>
          <a:p>
            <a:pPr lvl="0"/>
            <a:r>
              <a:rPr lang="es-BO" b="1" dirty="0">
                <a:latin typeface="Calibri" pitchFamily="34" charset="0"/>
              </a:rPr>
              <a:t>Reducción del tamaño del hígado</a:t>
            </a:r>
          </a:p>
          <a:p>
            <a:pPr lvl="0"/>
            <a:r>
              <a:rPr lang="es-BO" b="1" dirty="0">
                <a:latin typeface="Calibri" pitchFamily="34" charset="0"/>
              </a:rPr>
              <a:t>Disminución de la velocidad del tránsito intestinal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513641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BO" b="1" dirty="0">
                <a:latin typeface="Calibri" pitchFamily="34" charset="0"/>
              </a:rPr>
              <a:t>Consecuencia de estos cambios:</a:t>
            </a:r>
          </a:p>
          <a:p>
            <a:pPr lvl="0"/>
            <a:r>
              <a:rPr lang="es-BO" b="1" dirty="0">
                <a:latin typeface="Calibri" pitchFamily="34" charset="0"/>
              </a:rPr>
              <a:t>Predisposición a las caries dentales, enfermedad periodontal  </a:t>
            </a:r>
          </a:p>
          <a:p>
            <a:pPr lvl="0"/>
            <a:r>
              <a:rPr lang="es-BO" b="1" dirty="0">
                <a:latin typeface="Calibri" pitchFamily="34" charset="0"/>
              </a:rPr>
              <a:t>Problemas en la absorción de los alimentos </a:t>
            </a:r>
          </a:p>
          <a:p>
            <a:pPr lvl="0"/>
            <a:r>
              <a:rPr lang="es-BO" b="1" dirty="0">
                <a:latin typeface="Calibri" pitchFamily="34" charset="0"/>
              </a:rPr>
              <a:t>Constipación y </a:t>
            </a:r>
            <a:r>
              <a:rPr lang="es-BO" b="1" dirty="0" err="1">
                <a:latin typeface="Calibri" pitchFamily="34" charset="0"/>
              </a:rPr>
              <a:t>diverticulosis</a:t>
            </a:r>
            <a:r>
              <a:rPr lang="es-BO" b="1" dirty="0">
                <a:latin typeface="Calibri" pitchFamily="34" charset="0"/>
              </a:rPr>
              <a:t> </a:t>
            </a:r>
          </a:p>
          <a:p>
            <a:pPr lvl="0"/>
            <a:r>
              <a:rPr lang="es-BO" b="1" dirty="0">
                <a:latin typeface="Calibri" pitchFamily="34" charset="0"/>
              </a:rPr>
              <a:t>Aumento del tiempo del metabolismo de algunas drogas en el hígado.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59653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>
                <a:effectLst/>
              </a:rPr>
              <a:t>SISTEMA RESPIRATORIO</a:t>
            </a:r>
            <a:r>
              <a:rPr lang="es-BO" dirty="0">
                <a:effectLst/>
              </a:rPr>
              <a:t/>
            </a:r>
            <a:br>
              <a:rPr lang="es-BO" dirty="0">
                <a:effectLst/>
              </a:rPr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BO" b="1" dirty="0">
                <a:latin typeface="Calibri" pitchFamily="34" charset="0"/>
              </a:rPr>
              <a:t>Cambios relacionados con el envejecimiento:</a:t>
            </a:r>
          </a:p>
          <a:p>
            <a:pPr lvl="0"/>
            <a:r>
              <a:rPr lang="es-BO" b="1" dirty="0" smtClean="0">
                <a:latin typeface="Calibri" pitchFamily="34" charset="0"/>
              </a:rPr>
              <a:t>Colapso  </a:t>
            </a:r>
            <a:r>
              <a:rPr lang="es-BO" b="1" dirty="0">
                <a:latin typeface="Calibri" pitchFamily="34" charset="0"/>
              </a:rPr>
              <a:t>de alveolos, atrofia y pérdida de la elasticidad de los </a:t>
            </a:r>
            <a:r>
              <a:rPr lang="es-BO" b="1" dirty="0" err="1">
                <a:latin typeface="Calibri" pitchFamily="34" charset="0"/>
              </a:rPr>
              <a:t>septums</a:t>
            </a:r>
            <a:r>
              <a:rPr lang="es-BO" b="1" dirty="0">
                <a:latin typeface="Calibri" pitchFamily="34" charset="0"/>
              </a:rPr>
              <a:t>.</a:t>
            </a:r>
          </a:p>
          <a:p>
            <a:pPr lvl="0"/>
            <a:r>
              <a:rPr lang="es-BO" b="1" dirty="0">
                <a:latin typeface="Calibri" pitchFamily="34" charset="0"/>
              </a:rPr>
              <a:t>Esclerosis bronquial y de los tejidos de soporte</a:t>
            </a:r>
          </a:p>
          <a:p>
            <a:pPr lvl="0"/>
            <a:r>
              <a:rPr lang="es-BO" b="1" dirty="0">
                <a:latin typeface="Calibri" pitchFamily="34" charset="0"/>
              </a:rPr>
              <a:t>Degeneración del epitelio bronquial y de las glándulas mucosas </a:t>
            </a:r>
          </a:p>
          <a:p>
            <a:pPr lvl="0"/>
            <a:r>
              <a:rPr lang="es-BO" b="1" dirty="0">
                <a:latin typeface="Calibri" pitchFamily="34" charset="0"/>
              </a:rPr>
              <a:t>Osteoporosis de la caja torácica</a:t>
            </a:r>
          </a:p>
          <a:p>
            <a:pPr lvl="0"/>
            <a:r>
              <a:rPr lang="es-BO" b="1" dirty="0">
                <a:latin typeface="Calibri" pitchFamily="34" charset="0"/>
              </a:rPr>
              <a:t>Reducción de la elasticidad y calcificación de los cartílagos costales </a:t>
            </a:r>
          </a:p>
          <a:p>
            <a:pPr lvl="0"/>
            <a:r>
              <a:rPr lang="es-BO" b="1" dirty="0">
                <a:latin typeface="Calibri" pitchFamily="34" charset="0"/>
              </a:rPr>
              <a:t>Debilidad de los músculos respiratorios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58309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04800" y="980728"/>
            <a:ext cx="8686800" cy="509939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BO" b="1" dirty="0">
                <a:latin typeface="Calibri" pitchFamily="34" charset="0"/>
              </a:rPr>
              <a:t>Consecuencia de los cambios:</a:t>
            </a:r>
          </a:p>
          <a:p>
            <a:pPr lvl="0"/>
            <a:r>
              <a:rPr lang="es-BO" b="1" dirty="0">
                <a:latin typeface="Calibri" pitchFamily="34" charset="0"/>
              </a:rPr>
              <a:t>Capacidad vital disminuida </a:t>
            </a:r>
          </a:p>
          <a:p>
            <a:pPr lvl="0"/>
            <a:r>
              <a:rPr lang="es-BO" b="1" dirty="0">
                <a:latin typeface="Calibri" pitchFamily="34" charset="0"/>
              </a:rPr>
              <a:t>Deterioro de la difusión de oxigeno </a:t>
            </a:r>
          </a:p>
          <a:p>
            <a:pPr lvl="0"/>
            <a:r>
              <a:rPr lang="es-BO" b="1" dirty="0">
                <a:latin typeface="Calibri" pitchFamily="34" charset="0"/>
              </a:rPr>
              <a:t>Eficiencia respiratoria disminuida </a:t>
            </a:r>
          </a:p>
          <a:p>
            <a:pPr lvl="0"/>
            <a:r>
              <a:rPr lang="es-BO" b="1" dirty="0">
                <a:latin typeface="Calibri" pitchFamily="34" charset="0"/>
              </a:rPr>
              <a:t>Disminución de la sensibilidad y eficiencia de los mecanismos de defensa del pulmón tales como el aclaramiento de moco, el movimiento ciliar y el reflejo de la tos.</a:t>
            </a:r>
          </a:p>
          <a:p>
            <a:pPr lvl="0"/>
            <a:r>
              <a:rPr lang="es-BO" b="1" dirty="0">
                <a:latin typeface="Calibri" pitchFamily="34" charset="0"/>
              </a:rPr>
              <a:t>Cifosis e incremento de la rigidez de la pared del tórax</a:t>
            </a:r>
          </a:p>
          <a:p>
            <a:pPr lvl="0"/>
            <a:r>
              <a:rPr lang="es-BO" b="1" dirty="0">
                <a:latin typeface="Calibri" pitchFamily="34" charset="0"/>
              </a:rPr>
              <a:t>Predisposición a la infección 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834425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>
                <a:effectLst/>
              </a:rPr>
              <a:t>SISTEMA CARDIOVASCULAR</a:t>
            </a:r>
            <a:r>
              <a:rPr lang="es-BO" dirty="0">
                <a:effectLst/>
              </a:rPr>
              <a:t/>
            </a:r>
            <a:br>
              <a:rPr lang="es-BO" dirty="0">
                <a:effectLst/>
              </a:rPr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04800" y="1340768"/>
            <a:ext cx="8686800" cy="473935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BO" b="1" dirty="0">
                <a:latin typeface="Calibri" pitchFamily="34" charset="0"/>
              </a:rPr>
              <a:t>Cambios relacionados con el envejecimiento:</a:t>
            </a:r>
          </a:p>
          <a:p>
            <a:pPr lvl="0"/>
            <a:r>
              <a:rPr lang="es-BO" b="1" dirty="0">
                <a:latin typeface="Calibri" pitchFamily="34" charset="0"/>
              </a:rPr>
              <a:t>Disminución de la elasticidad de la media arterial con hiperplasia de la intima</a:t>
            </a:r>
          </a:p>
          <a:p>
            <a:pPr lvl="0"/>
            <a:r>
              <a:rPr lang="es-BO" b="1" dirty="0">
                <a:latin typeface="Calibri" pitchFamily="34" charset="0"/>
              </a:rPr>
              <a:t>Incompetencia valvular venosa</a:t>
            </a:r>
          </a:p>
          <a:p>
            <a:pPr lvl="0"/>
            <a:r>
              <a:rPr lang="es-BO" b="1" dirty="0">
                <a:latin typeface="Calibri" pitchFamily="34" charset="0"/>
              </a:rPr>
              <a:t>Calcificaciones en las válvulas cardiacas</a:t>
            </a:r>
          </a:p>
          <a:p>
            <a:pPr lvl="0"/>
            <a:r>
              <a:rPr lang="es-BO" b="1" dirty="0">
                <a:latin typeface="Calibri" pitchFamily="34" charset="0"/>
              </a:rPr>
              <a:t>Rigidez de las paredes  venosas  </a:t>
            </a:r>
          </a:p>
          <a:p>
            <a:pPr lvl="0"/>
            <a:r>
              <a:rPr lang="es-BO" b="1" dirty="0">
                <a:latin typeface="Calibri" pitchFamily="34" charset="0"/>
              </a:rPr>
              <a:t>Depósitos de </a:t>
            </a:r>
            <a:r>
              <a:rPr lang="es-BO" b="1" dirty="0" err="1">
                <a:latin typeface="Calibri" pitchFamily="34" charset="0"/>
              </a:rPr>
              <a:t>lipofucsina</a:t>
            </a:r>
            <a:r>
              <a:rPr lang="es-BO" b="1" dirty="0">
                <a:latin typeface="Calibri" pitchFamily="34" charset="0"/>
              </a:rPr>
              <a:t>  y fibrosis del miocardio </a:t>
            </a:r>
          </a:p>
          <a:p>
            <a:pPr lvl="0"/>
            <a:r>
              <a:rPr lang="es-BO" b="1" dirty="0">
                <a:latin typeface="Calibri" pitchFamily="34" charset="0"/>
              </a:rPr>
              <a:t>Aumento de la resistencia periférica </a:t>
            </a:r>
          </a:p>
          <a:p>
            <a:pPr lvl="0"/>
            <a:r>
              <a:rPr lang="es-BO" b="1" dirty="0">
                <a:latin typeface="Calibri" pitchFamily="34" charset="0"/>
              </a:rPr>
              <a:t>Disminución del gasto cardiaco </a:t>
            </a:r>
          </a:p>
          <a:p>
            <a:r>
              <a:rPr lang="es-BO" b="1" dirty="0">
                <a:latin typeface="Calibri" pitchFamily="34" charset="0"/>
              </a:rPr>
              <a:t>Deterioro de la microcirculación </a:t>
            </a:r>
            <a:endParaRPr lang="es-BO" b="1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33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BO" b="1" dirty="0">
                <a:latin typeface="Calibri" pitchFamily="34" charset="0"/>
              </a:rPr>
              <a:t>Consecuencias de estos cambios:</a:t>
            </a:r>
          </a:p>
          <a:p>
            <a:pPr lvl="0"/>
            <a:r>
              <a:rPr lang="es-BO" b="1" dirty="0">
                <a:latin typeface="Calibri" pitchFamily="34" charset="0"/>
              </a:rPr>
              <a:t>Dilatación y prominencia de la aorta </a:t>
            </a:r>
          </a:p>
          <a:p>
            <a:pPr lvl="0"/>
            <a:r>
              <a:rPr lang="es-BO" b="1" dirty="0">
                <a:latin typeface="Calibri" pitchFamily="34" charset="0"/>
              </a:rPr>
              <a:t>Presencia de soplos cardiaco </a:t>
            </a:r>
          </a:p>
          <a:p>
            <a:pPr lvl="0"/>
            <a:r>
              <a:rPr lang="es-BO" b="1" dirty="0">
                <a:latin typeface="Calibri" pitchFamily="34" charset="0"/>
              </a:rPr>
              <a:t>Predisposición a los eventos </a:t>
            </a:r>
            <a:r>
              <a:rPr lang="es-BO" b="1" dirty="0" err="1">
                <a:latin typeface="Calibri" pitchFamily="34" charset="0"/>
              </a:rPr>
              <a:t>tromboembolicos</a:t>
            </a:r>
            <a:endParaRPr lang="es-BO" b="1" dirty="0">
              <a:latin typeface="Calibri" pitchFamily="34" charset="0"/>
            </a:endParaRPr>
          </a:p>
          <a:p>
            <a:pPr lvl="0"/>
            <a:r>
              <a:rPr lang="es-BO" b="1" dirty="0">
                <a:latin typeface="Calibri" pitchFamily="34" charset="0"/>
              </a:rPr>
              <a:t>Disminución en la capacidad de actividad física</a:t>
            </a:r>
          </a:p>
          <a:p>
            <a:pPr lvl="0"/>
            <a:r>
              <a:rPr lang="es-BO" b="1" dirty="0">
                <a:latin typeface="Calibri" pitchFamily="34" charset="0"/>
              </a:rPr>
              <a:t>Insuficiencia venosa, con el consecuente  riesgo de estasis y ulceras tróficas</a:t>
            </a:r>
          </a:p>
          <a:p>
            <a:pPr lvl="0"/>
            <a:r>
              <a:rPr lang="es-BO" b="1" dirty="0">
                <a:latin typeface="Calibri" pitchFamily="34" charset="0"/>
              </a:rPr>
              <a:t>Trastornos de la micro - circulación  periférica.</a:t>
            </a:r>
          </a:p>
          <a:p>
            <a:endParaRPr lang="es-BO" b="1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708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23528" y="476672"/>
            <a:ext cx="8686800" cy="838200"/>
          </a:xfrm>
        </p:spPr>
        <p:txBody>
          <a:bodyPr/>
          <a:lstStyle/>
          <a:p>
            <a:r>
              <a:rPr lang="es-BO" b="1" dirty="0">
                <a:effectLst/>
                <a:latin typeface="Calibri" pitchFamily="34" charset="0"/>
              </a:rPr>
              <a:t>SISTEMA GENITO-URINARIO</a:t>
            </a:r>
            <a:endParaRPr lang="es-BO" dirty="0">
              <a:effectLst/>
              <a:latin typeface="Calibri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BO" b="1" dirty="0">
                <a:latin typeface="Calibri" pitchFamily="34" charset="0"/>
              </a:rPr>
              <a:t>Cambios relacionados con el envejecimiento:</a:t>
            </a:r>
          </a:p>
          <a:p>
            <a:pPr lvl="0"/>
            <a:r>
              <a:rPr lang="es-BO" b="1" dirty="0">
                <a:latin typeface="Calibri" pitchFamily="34" charset="0"/>
              </a:rPr>
              <a:t>Engrosamiento de la membrana basal de la capsula de </a:t>
            </a:r>
            <a:r>
              <a:rPr lang="es-BO" b="1" dirty="0" err="1">
                <a:latin typeface="Calibri" pitchFamily="34" charset="0"/>
              </a:rPr>
              <a:t>Bowman</a:t>
            </a:r>
            <a:r>
              <a:rPr lang="es-BO" b="1" dirty="0">
                <a:latin typeface="Calibri" pitchFamily="34" charset="0"/>
              </a:rPr>
              <a:t> y deterioro de la permeabilidad </a:t>
            </a:r>
          </a:p>
          <a:p>
            <a:pPr lvl="0"/>
            <a:r>
              <a:rPr lang="es-BO" b="1" dirty="0">
                <a:latin typeface="Calibri" pitchFamily="34" charset="0"/>
              </a:rPr>
              <a:t>Cambios degenerativos en los túbulos, atrofia y reducción del número de nefronas</a:t>
            </a:r>
          </a:p>
          <a:p>
            <a:pPr lvl="0"/>
            <a:r>
              <a:rPr lang="es-BO" b="1" dirty="0">
                <a:latin typeface="Calibri" pitchFamily="34" charset="0"/>
              </a:rPr>
              <a:t>Atrofia de la mucosa vaginal.</a:t>
            </a:r>
          </a:p>
          <a:p>
            <a:pPr lvl="0"/>
            <a:r>
              <a:rPr lang="es-BO" b="1" dirty="0">
                <a:latin typeface="Calibri" pitchFamily="34" charset="0"/>
              </a:rPr>
              <a:t>Laxitud de los músculos perineales</a:t>
            </a:r>
          </a:p>
          <a:p>
            <a:pPr lvl="0"/>
            <a:r>
              <a:rPr lang="es-BO" b="1" dirty="0">
                <a:latin typeface="Calibri" pitchFamily="34" charset="0"/>
              </a:rPr>
              <a:t>Atrofia de </a:t>
            </a:r>
            <a:r>
              <a:rPr lang="es-BO" b="1" dirty="0" err="1">
                <a:latin typeface="Calibri" pitchFamily="34" charset="0"/>
              </a:rPr>
              <a:t>acinos</a:t>
            </a:r>
            <a:r>
              <a:rPr lang="es-BO" b="1" dirty="0">
                <a:latin typeface="Calibri" pitchFamily="34" charset="0"/>
              </a:rPr>
              <a:t> y músculos prostáticos, con áreas de hiperplasia  (la hiperplasia nodular benigna está presente en el 85 % de varones de 80 años y más</a:t>
            </a:r>
            <a:r>
              <a:rPr lang="es-BO" dirty="0"/>
              <a:t>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782010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BO" b="1" dirty="0">
                <a:latin typeface="Calibri" pitchFamily="34" charset="0"/>
              </a:rPr>
              <a:t>Consecuencias de estos cambios.</a:t>
            </a:r>
          </a:p>
          <a:p>
            <a:pPr lvl="0"/>
            <a:r>
              <a:rPr lang="es-BO" b="1" dirty="0">
                <a:latin typeface="Calibri" pitchFamily="34" charset="0"/>
              </a:rPr>
              <a:t>Falla en la respuesta rápida a cambios del volumen circulatorio </a:t>
            </a:r>
          </a:p>
          <a:p>
            <a:pPr lvl="0"/>
            <a:r>
              <a:rPr lang="es-BO" b="1" dirty="0">
                <a:latin typeface="Calibri" pitchFamily="34" charset="0"/>
              </a:rPr>
              <a:t>Disminución de la capacidad de excreción por el riñón, lo que produce un aumento en la susceptibilidad a intoxicación por drogas y sus metabolitos aumentando los efectos secundarios de estos.</a:t>
            </a:r>
          </a:p>
          <a:p>
            <a:pPr lvl="0"/>
            <a:r>
              <a:rPr lang="es-BO" b="1" dirty="0" err="1">
                <a:latin typeface="Calibri" pitchFamily="34" charset="0"/>
              </a:rPr>
              <a:t>Dispareunia</a:t>
            </a:r>
            <a:r>
              <a:rPr lang="es-BO" b="1" dirty="0">
                <a:latin typeface="Calibri" pitchFamily="34" charset="0"/>
              </a:rPr>
              <a:t> (dolor al coito) en la mujer</a:t>
            </a:r>
          </a:p>
          <a:p>
            <a:pPr lvl="0"/>
            <a:r>
              <a:rPr lang="es-BO" b="1" dirty="0">
                <a:latin typeface="Calibri" pitchFamily="34" charset="0"/>
              </a:rPr>
              <a:t>Incontinencia urinaria </a:t>
            </a:r>
          </a:p>
          <a:p>
            <a:pPr lvl="0"/>
            <a:r>
              <a:rPr lang="es-BO" b="1" dirty="0">
                <a:latin typeface="Calibri" pitchFamily="34" charset="0"/>
              </a:rPr>
              <a:t>Aumento de la susceptibilidad a las infecciones 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274848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>
                <a:effectLst/>
              </a:rPr>
              <a:t>PIEL:</a:t>
            </a:r>
            <a:r>
              <a:rPr lang="es-BO" dirty="0">
                <a:effectLst/>
              </a:rPr>
              <a:t/>
            </a:r>
            <a:br>
              <a:rPr lang="es-BO" dirty="0">
                <a:effectLst/>
              </a:rPr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BO" b="1" dirty="0">
                <a:latin typeface="Calibri" pitchFamily="34" charset="0"/>
              </a:rPr>
              <a:t>Cambios relacionados con el envejecimiento:</a:t>
            </a:r>
          </a:p>
          <a:p>
            <a:pPr lvl="0"/>
            <a:r>
              <a:rPr lang="es-BO" b="1" dirty="0">
                <a:latin typeface="Calibri" pitchFamily="34" charset="0"/>
              </a:rPr>
              <a:t>Atrofia de la epidermis, de las glándulas sudoríparas y folículos pilosos.</a:t>
            </a:r>
          </a:p>
          <a:p>
            <a:pPr lvl="0"/>
            <a:r>
              <a:rPr lang="es-BO" b="1" dirty="0">
                <a:latin typeface="Calibri" pitchFamily="34" charset="0"/>
              </a:rPr>
              <a:t>Cambios pigmentarios</a:t>
            </a:r>
          </a:p>
          <a:p>
            <a:pPr lvl="0"/>
            <a:r>
              <a:rPr lang="es-BO" b="1" dirty="0">
                <a:latin typeface="Calibri" pitchFamily="34" charset="0"/>
              </a:rPr>
              <a:t>Hiperqueratosis epidérmica </a:t>
            </a:r>
          </a:p>
          <a:p>
            <a:pPr lvl="0"/>
            <a:r>
              <a:rPr lang="es-BO" b="1" dirty="0">
                <a:latin typeface="Calibri" pitchFamily="34" charset="0"/>
              </a:rPr>
              <a:t>Degeneración del colágeno  y de las fibras elásticas</a:t>
            </a:r>
          </a:p>
          <a:p>
            <a:pPr lvl="0"/>
            <a:r>
              <a:rPr lang="es-BO" b="1" dirty="0">
                <a:latin typeface="Calibri" pitchFamily="34" charset="0"/>
              </a:rPr>
              <a:t>Esclerosis </a:t>
            </a:r>
            <a:r>
              <a:rPr lang="es-BO" b="1" dirty="0" err="1">
                <a:latin typeface="Calibri" pitchFamily="34" charset="0"/>
              </a:rPr>
              <a:t>arteriolar</a:t>
            </a:r>
            <a:r>
              <a:rPr lang="es-BO" b="1" dirty="0">
                <a:latin typeface="Calibri" pitchFamily="34" charset="0"/>
              </a:rPr>
              <a:t>.</a:t>
            </a:r>
          </a:p>
          <a:p>
            <a:pPr lvl="0"/>
            <a:r>
              <a:rPr lang="es-BO" b="1" dirty="0">
                <a:latin typeface="Calibri" pitchFamily="34" charset="0"/>
              </a:rPr>
              <a:t>Reducción de la grasa subcutánea 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596917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BO" b="1" dirty="0"/>
              <a:t>Consecuencia de estos cambios:</a:t>
            </a:r>
          </a:p>
          <a:p>
            <a:pPr lvl="0"/>
            <a:r>
              <a:rPr lang="es-BO" b="1" dirty="0"/>
              <a:t>Piel seca, arrugada, frágil decolorada</a:t>
            </a:r>
          </a:p>
          <a:p>
            <a:pPr lvl="0"/>
            <a:r>
              <a:rPr lang="es-BO" b="1" dirty="0"/>
              <a:t>Pelo cano y caída parcial o total del mismo </a:t>
            </a:r>
          </a:p>
          <a:p>
            <a:pPr lvl="0"/>
            <a:r>
              <a:rPr lang="es-BO" b="1" dirty="0"/>
              <a:t>Uñas frágiles, engrosadas, torcidas, y de lento crecimiento </a:t>
            </a:r>
          </a:p>
          <a:p>
            <a:pPr lvl="0"/>
            <a:r>
              <a:rPr lang="es-BO" b="1" dirty="0"/>
              <a:t>Placas seborreicas</a:t>
            </a:r>
          </a:p>
          <a:p>
            <a:pPr lvl="0"/>
            <a:r>
              <a:rPr lang="es-BO" b="1" dirty="0"/>
              <a:t>Disminución de las propiedades de aislamiento de la piel, necesarias para la termorregulación</a:t>
            </a:r>
          </a:p>
          <a:p>
            <a:pPr lvl="0"/>
            <a:r>
              <a:rPr lang="es-BO" b="1" dirty="0"/>
              <a:t>Disminución de la capacidad de protección de las prominencias óseas     </a:t>
            </a:r>
          </a:p>
          <a:p>
            <a:r>
              <a:rPr lang="es-BO" b="1" dirty="0" smtClean="0"/>
              <a:t>Prurito</a:t>
            </a:r>
          </a:p>
          <a:p>
            <a:r>
              <a:rPr lang="es-BO" b="1" dirty="0" smtClean="0">
                <a:latin typeface="Calibri" pitchFamily="34" charset="0"/>
              </a:rPr>
              <a:t>Aumento </a:t>
            </a:r>
            <a:r>
              <a:rPr lang="es-BO" b="1" dirty="0">
                <a:latin typeface="Calibri" pitchFamily="34" charset="0"/>
              </a:rPr>
              <a:t>de la susceptibilidad a las ulceras por presión </a:t>
            </a:r>
          </a:p>
          <a:p>
            <a:pPr lvl="0"/>
            <a:endParaRPr lang="es-BO" b="1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850950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>
                <a:effectLst/>
              </a:rPr>
              <a:t>SISTEMA INMUNOLOGICO</a:t>
            </a:r>
            <a:r>
              <a:rPr lang="es-BO" dirty="0">
                <a:effectLst/>
              </a:rPr>
              <a:t/>
            </a:r>
            <a:br>
              <a:rPr lang="es-BO" dirty="0">
                <a:effectLst/>
              </a:rPr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BO" b="1" dirty="0" smtClean="0">
                <a:latin typeface="Calibri" pitchFamily="34" charset="0"/>
              </a:rPr>
              <a:t>Cambios </a:t>
            </a:r>
            <a:r>
              <a:rPr lang="es-BO" b="1" dirty="0">
                <a:latin typeface="Calibri" pitchFamily="34" charset="0"/>
              </a:rPr>
              <a:t>relacionados al  envejecimiento:</a:t>
            </a:r>
          </a:p>
          <a:p>
            <a:r>
              <a:rPr lang="es-BO" b="1" dirty="0">
                <a:latin typeface="Calibri" pitchFamily="34" charset="0"/>
              </a:rPr>
              <a:t>Disminución de la respuesta inmunológica de tipo humoral a cargo de las células contra antígenos extraños y aumento de la respuesta a antígenos antólogos (del mismo organismo).</a:t>
            </a:r>
          </a:p>
          <a:p>
            <a:pPr marL="0" indent="0">
              <a:buNone/>
            </a:pPr>
            <a:r>
              <a:rPr lang="es-BO" b="1" dirty="0">
                <a:latin typeface="Calibri" pitchFamily="34" charset="0"/>
              </a:rPr>
              <a:t>Consecuencias de estos cambios:</a:t>
            </a:r>
          </a:p>
          <a:p>
            <a:r>
              <a:rPr lang="es-BO" b="1" dirty="0">
                <a:latin typeface="Calibri" pitchFamily="34" charset="0"/>
              </a:rPr>
              <a:t>Aumento de la susceptibilidad hacia las infecciones, las enfermedades autoinmunes y el cáncer.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615128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>
                <a:effectLst/>
              </a:rPr>
              <a:t>SISTEMA ENDOCRINO</a:t>
            </a:r>
            <a:r>
              <a:rPr lang="es-BO" dirty="0">
                <a:effectLst/>
              </a:rPr>
              <a:t/>
            </a:r>
            <a:br>
              <a:rPr lang="es-BO" dirty="0">
                <a:effectLst/>
              </a:rPr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lang="es-BO" b="1" dirty="0"/>
              <a:t>Cambios relacionados con el envejecimiento</a:t>
            </a:r>
          </a:p>
          <a:p>
            <a:pPr lvl="0"/>
            <a:r>
              <a:rPr lang="es-BO" b="1" dirty="0"/>
              <a:t>Disminución de la tolerancia a la glucosa</a:t>
            </a:r>
          </a:p>
          <a:p>
            <a:pPr lvl="0"/>
            <a:r>
              <a:rPr lang="es-BO" b="1" dirty="0"/>
              <a:t>Disminución de la actividad funcional tiroidea </a:t>
            </a:r>
          </a:p>
          <a:p>
            <a:pPr lvl="0"/>
            <a:r>
              <a:rPr lang="es-BO" b="1" dirty="0"/>
              <a:t>Cambios en la secreción de la hormona antidiurética.</a:t>
            </a:r>
          </a:p>
          <a:p>
            <a:pPr marL="0" indent="0">
              <a:buNone/>
            </a:pPr>
            <a:r>
              <a:rPr lang="es-BO" b="1" dirty="0"/>
              <a:t>Consecuencia de estos cambios:</a:t>
            </a:r>
          </a:p>
          <a:p>
            <a:pPr lvl="0"/>
            <a:r>
              <a:rPr lang="es-BO" b="1" dirty="0"/>
              <a:t>Predisposición a la descompensación en los enfermos diabéticos</a:t>
            </a:r>
          </a:p>
          <a:p>
            <a:pPr lvl="0"/>
            <a:r>
              <a:rPr lang="es-BO" b="1" dirty="0"/>
              <a:t>Respuestas metabólicas lentas </a:t>
            </a:r>
          </a:p>
          <a:p>
            <a:pPr lvl="0"/>
            <a:r>
              <a:rPr lang="es-BO" b="1" dirty="0"/>
              <a:t>Respuesta lenta a los cambios de la </a:t>
            </a:r>
            <a:r>
              <a:rPr lang="es-BO" b="1" dirty="0" err="1"/>
              <a:t>osmolaridad</a:t>
            </a:r>
            <a:r>
              <a:rPr lang="es-BO" b="1" dirty="0"/>
              <a:t> corporal 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73077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BO" b="1" i="1" dirty="0">
                <a:latin typeface="Calibri" pitchFamily="34" charset="0"/>
              </a:rPr>
              <a:t>“Todas las partes del cuerpo que son designadas para cumplir una función, permanecerán con buena salud, crecerán y alcanzarán una edad avanzada si son usadas con moderación. Sin embargo, si no son usadas, tienden a enfermarse, dejarán de crecer y envejecerán prematuramente” </a:t>
            </a:r>
            <a:endParaRPr lang="es-BO" b="1" i="1" dirty="0" smtClean="0">
              <a:latin typeface="Calibri" pitchFamily="34" charset="0"/>
            </a:endParaRPr>
          </a:p>
          <a:p>
            <a:pPr algn="ctr"/>
            <a:r>
              <a:rPr lang="es-BO" b="1" i="1" dirty="0" smtClean="0"/>
              <a:t>(</a:t>
            </a:r>
            <a:r>
              <a:rPr lang="es-BO" b="1" i="1" dirty="0"/>
              <a:t>HIPÓCRATES 460 a. C </a:t>
            </a:r>
            <a:r>
              <a:rPr lang="es-BO" dirty="0"/>
              <a:t>)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342382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556792"/>
            <a:ext cx="7056784" cy="432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s-BO" sz="6000" dirty="0" smtClean="0">
              <a:latin typeface="Algerian" pitchFamily="82" charset="0"/>
            </a:endParaRPr>
          </a:p>
          <a:p>
            <a:pPr marL="0" indent="0">
              <a:buNone/>
            </a:pPr>
            <a:endParaRPr lang="es-BO" sz="6000" dirty="0">
              <a:latin typeface="Algerian" pitchFamily="82" charset="0"/>
            </a:endParaRPr>
          </a:p>
          <a:p>
            <a:pPr marL="0" indent="0" algn="ctr">
              <a:buNone/>
            </a:pPr>
            <a:r>
              <a:rPr lang="es-BO" sz="6000" dirty="0" smtClean="0">
                <a:solidFill>
                  <a:srgbClr val="C00000"/>
                </a:solidFill>
                <a:latin typeface="Algerian" pitchFamily="82" charset="0"/>
              </a:rPr>
              <a:t>Gracias </a:t>
            </a:r>
            <a:endParaRPr lang="es-BO" sz="6000" dirty="0">
              <a:solidFill>
                <a:srgbClr val="C00000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88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iajes">
  <a:themeElements>
    <a:clrScheme name="Viajes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Viaj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Viajes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1022</TotalTime>
  <Words>2764</Words>
  <Application>Microsoft Office PowerPoint</Application>
  <PresentationFormat>Presentación en pantalla (4:3)</PresentationFormat>
  <Paragraphs>255</Paragraphs>
  <Slides>44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45" baseType="lpstr">
      <vt:lpstr>Viajes</vt:lpstr>
      <vt:lpstr>LIC. CARMEN R. TERAN ALVAREZ  16 DE OCTUBRE 2014 </vt:lpstr>
      <vt:lpstr>INTRODUCCION</vt:lpstr>
      <vt:lpstr>ENVEJECIMIENTO EN BOLIVIA</vt:lpstr>
      <vt:lpstr>Presentación de PowerPoint</vt:lpstr>
      <vt:lpstr>Cuando decimos que una  población es joven o esta envejecida?</vt:lpstr>
      <vt:lpstr>Presentación de PowerPoint</vt:lpstr>
      <vt:lpstr>POR LO TANTO </vt:lpstr>
      <vt:lpstr>Presentación de PowerPoint</vt:lpstr>
      <vt:lpstr>Presentación de PowerPoint</vt:lpstr>
      <vt:lpstr>GERONTOLOGIA</vt:lpstr>
      <vt:lpstr>GERIATRIA</vt:lpstr>
      <vt:lpstr>ENVEJECIMIENTO</vt:lpstr>
      <vt:lpstr>Presentación de PowerPoint</vt:lpstr>
      <vt:lpstr>CONCEPTO</vt:lpstr>
      <vt:lpstr>Características del envejecimiento</vt:lpstr>
      <vt:lpstr>Presentación de PowerPoint</vt:lpstr>
      <vt:lpstr>Presentación de PowerPoint</vt:lpstr>
      <vt:lpstr>APARTIR DE QUE EDAD SE ENVEJECE</vt:lpstr>
      <vt:lpstr>Presentación de PowerPoint</vt:lpstr>
      <vt:lpstr>TEORIAS DEL ENVEJECIMIENTO </vt:lpstr>
      <vt:lpstr>Presentación de PowerPoint</vt:lpstr>
      <vt:lpstr>CAMBIOS FISICO Y SUS CONSECUENCIAS EN LA VEJEZ. </vt:lpstr>
      <vt:lpstr>Presentación de PowerPoint</vt:lpstr>
      <vt:lpstr>SISTEMA NERVIOSO AUTONOMO: </vt:lpstr>
      <vt:lpstr>SENTIDO DE LA VISION: </vt:lpstr>
      <vt:lpstr>AUDICION EQUILIBRIO: </vt:lpstr>
      <vt:lpstr>Presentación de PowerPoint</vt:lpstr>
      <vt:lpstr>OLFATO, GUSTO Y FONACION </vt:lpstr>
      <vt:lpstr>SISTEMA LOCOMOTOR: MUSCULOS, HUESOS Y ARTICULACIONES. </vt:lpstr>
      <vt:lpstr>Presentación de PowerPoint</vt:lpstr>
      <vt:lpstr>SISTEMA GASTROINTESTINAL </vt:lpstr>
      <vt:lpstr>Presentación de PowerPoint</vt:lpstr>
      <vt:lpstr>SISTEMA RESPIRATORIO </vt:lpstr>
      <vt:lpstr>Presentación de PowerPoint</vt:lpstr>
      <vt:lpstr>SISTEMA CARDIOVASCULAR </vt:lpstr>
      <vt:lpstr>Presentación de PowerPoint</vt:lpstr>
      <vt:lpstr>SISTEMA GENITO-URINARIO</vt:lpstr>
      <vt:lpstr>Presentación de PowerPoint</vt:lpstr>
      <vt:lpstr>PIEL: </vt:lpstr>
      <vt:lpstr>Presentación de PowerPoint</vt:lpstr>
      <vt:lpstr>SISTEMA INMUNOLOGICO </vt:lpstr>
      <vt:lpstr>SISTEMA ENDOCRINO 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 GERIATRIA</dc:title>
  <dc:creator>Carmen Teran</dc:creator>
  <cp:lastModifiedBy>Carmen Teran</cp:lastModifiedBy>
  <cp:revision>43</cp:revision>
  <dcterms:created xsi:type="dcterms:W3CDTF">2014-10-16T03:03:33Z</dcterms:created>
  <dcterms:modified xsi:type="dcterms:W3CDTF">2014-11-15T02:03:09Z</dcterms:modified>
</cp:coreProperties>
</file>