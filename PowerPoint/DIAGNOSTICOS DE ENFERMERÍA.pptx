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17" autoAdjust="0"/>
  </p:normalViewPr>
  <p:slideViewPr>
    <p:cSldViewPr>
      <p:cViewPr varScale="1">
        <p:scale>
          <a:sx n="59" d="100"/>
          <a:sy n="59" d="100"/>
        </p:scale>
        <p:origin x="-81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5456E3A-2178-456E-9E25-64AF27894715}" type="datetimeFigureOut">
              <a:rPr lang="es-BO" smtClean="0"/>
              <a:t>23/08/2013</a:t>
            </a:fld>
            <a:endParaRPr lang="es-BO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63F2CBA-1C7D-48A8-9C88-22AC70CE6613}" type="slidenum">
              <a:rPr lang="es-BO" smtClean="0"/>
              <a:t>‹Nº›</a:t>
            </a:fld>
            <a:endParaRPr lang="es-BO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/>
              <a:t>DIAGNOSTICOS DE </a:t>
            </a:r>
            <a:r>
              <a:rPr lang="es-ES" b="1" dirty="0" smtClean="0"/>
              <a:t>ENFERMERÍA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Nombre. 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7435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s-ES" sz="5400" b="1" dirty="0"/>
              <a:t>VALORACIÓN DE NECESIDADES BÁSICAS (MASLOW, KALISH</a:t>
            </a:r>
            <a:r>
              <a:rPr lang="es-ES" sz="5400" b="1" dirty="0" smtClean="0"/>
              <a:t>)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800" b="1" dirty="0"/>
              <a:t> </a:t>
            </a:r>
            <a:endParaRPr lang="es-BO" sz="4000" dirty="0"/>
          </a:p>
          <a:p>
            <a:pPr marL="393192" lvl="1" indent="0">
              <a:buNone/>
            </a:pPr>
            <a:r>
              <a:rPr lang="es-ES" b="1" dirty="0" smtClean="0"/>
              <a:t>1.-NECESIDAD </a:t>
            </a:r>
            <a:r>
              <a:rPr lang="es-ES" b="1" dirty="0"/>
              <a:t>DE OXÍGENO (ventilación y circulación</a:t>
            </a:r>
            <a:r>
              <a:rPr lang="es-ES" b="1" dirty="0" smtClean="0"/>
              <a:t>)</a:t>
            </a:r>
          </a:p>
          <a:p>
            <a:pPr marL="393192" lvl="1" indent="0">
              <a:buNone/>
            </a:pPr>
            <a:endParaRPr lang="es-BO" sz="4000" dirty="0"/>
          </a:p>
          <a:p>
            <a:pPr lvl="0"/>
            <a:r>
              <a:rPr lang="es-ES" sz="2800" b="1" dirty="0"/>
              <a:t>ANTECEDENTES</a:t>
            </a:r>
            <a:r>
              <a:rPr lang="es-ES" sz="2800" b="1" dirty="0" smtClean="0"/>
              <a:t>:</a:t>
            </a:r>
            <a:endParaRPr lang="es-BO" sz="4000" dirty="0"/>
          </a:p>
          <a:p>
            <a:pPr lvl="0"/>
            <a:r>
              <a:rPr lang="es-ES" sz="2800" dirty="0"/>
              <a:t>No se obtiene datos paciente inconsciente.</a:t>
            </a:r>
            <a:endParaRPr lang="es-BO" sz="4000" dirty="0"/>
          </a:p>
          <a:p>
            <a:pPr marL="0" indent="0">
              <a:buNone/>
            </a:pPr>
            <a:endParaRPr lang="es-BO" sz="4000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555719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s-ES" b="1" dirty="0"/>
              <a:t>DATOS ACTUALES</a:t>
            </a:r>
            <a:r>
              <a:rPr lang="es-ES" b="1" dirty="0" smtClean="0"/>
              <a:t>: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s-BO" dirty="0"/>
          </a:p>
          <a:p>
            <a:pPr lvl="0"/>
            <a:r>
              <a:rPr lang="es-ES" dirty="0"/>
              <a:t>Paciente inconsciente Glasgow 10/15 (apertura a una orden verbal, respuesta motora al dolor retirada y flexión, respuesta verbal palabras inapropiadas).</a:t>
            </a:r>
            <a:endParaRPr lang="es-BO" dirty="0"/>
          </a:p>
          <a:p>
            <a:pPr lvl="0"/>
            <a:r>
              <a:rPr lang="es-ES" dirty="0"/>
              <a:t>Abundante secreción </a:t>
            </a:r>
            <a:r>
              <a:rPr lang="es-ES" dirty="0" err="1"/>
              <a:t>orofaringea</a:t>
            </a:r>
            <a:r>
              <a:rPr lang="es-ES" dirty="0"/>
              <a:t>, riesgo de bronco aspiración, por lo que se coloca cánula de mayo.</a:t>
            </a:r>
            <a:endParaRPr lang="es-BO" dirty="0"/>
          </a:p>
          <a:p>
            <a:pPr lvl="0"/>
            <a:r>
              <a:rPr lang="es-ES" dirty="0"/>
              <a:t>Dificultad respiratoria por la presencia de secreciones, se aspirarlas mismas.</a:t>
            </a:r>
            <a:endParaRPr lang="es-BO" dirty="0"/>
          </a:p>
          <a:p>
            <a:pPr lvl="0"/>
            <a:r>
              <a:rPr lang="es-ES" dirty="0"/>
              <a:t>Fatiga y aumento de la frecuencia respiratoria a 28x’, recibe oxigeno por mascara a 5ltx’</a:t>
            </a:r>
            <a:endParaRPr lang="es-BO" dirty="0"/>
          </a:p>
          <a:p>
            <a:r>
              <a:rPr lang="es-ES" dirty="0" smtClean="0"/>
              <a:t> 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235059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b="1" dirty="0"/>
              <a:t>EXAMEN </a:t>
            </a:r>
            <a:r>
              <a:rPr lang="es-ES" b="1" dirty="0" smtClean="0"/>
              <a:t>FISICO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ES" dirty="0" smtClean="0"/>
              <a:t>Signos </a:t>
            </a:r>
            <a:r>
              <a:rPr lang="es-ES" dirty="0"/>
              <a:t>vitales: </a:t>
            </a:r>
            <a:endParaRPr lang="es-BO" dirty="0"/>
          </a:p>
          <a:p>
            <a:pPr lvl="0"/>
            <a:r>
              <a:rPr lang="es-ES" dirty="0"/>
              <a:t>Temperatura:36ºC, piel pálida y fría, ligera cianosis distal</a:t>
            </a:r>
            <a:endParaRPr lang="es-BO" dirty="0"/>
          </a:p>
          <a:p>
            <a:pPr lvl="0"/>
            <a:r>
              <a:rPr lang="es-ES" dirty="0"/>
              <a:t>Pulso: 100 x’, ritmo rápido y débil</a:t>
            </a:r>
            <a:endParaRPr lang="es-BO" dirty="0"/>
          </a:p>
          <a:p>
            <a:pPr lvl="0"/>
            <a:r>
              <a:rPr lang="es-ES" dirty="0"/>
              <a:t>Respiración: taquipneica28x’, presencia de secreciones </a:t>
            </a:r>
            <a:r>
              <a:rPr lang="es-ES" dirty="0" err="1"/>
              <a:t>orofaringeas</a:t>
            </a:r>
            <a:r>
              <a:rPr lang="es-ES" dirty="0"/>
              <a:t>.</a:t>
            </a:r>
            <a:endParaRPr lang="es-BO" dirty="0"/>
          </a:p>
          <a:p>
            <a:pPr lvl="0"/>
            <a:r>
              <a:rPr lang="es-ES" dirty="0"/>
              <a:t>Tórax elasticidad y expansibilidad aumentada.</a:t>
            </a:r>
            <a:endParaRPr lang="es-BO" dirty="0"/>
          </a:p>
          <a:p>
            <a:pPr lvl="0"/>
            <a:r>
              <a:rPr lang="es-ES" dirty="0"/>
              <a:t>Presión arterial: 90/70 </a:t>
            </a:r>
            <a:r>
              <a:rPr lang="es-ES" dirty="0" err="1"/>
              <a:t>mmHg</a:t>
            </a:r>
            <a:endParaRPr lang="es-BO" dirty="0"/>
          </a:p>
          <a:p>
            <a:pPr lvl="0"/>
            <a:r>
              <a:rPr lang="es-ES" dirty="0"/>
              <a:t>Corazón: rítmico aumentado, sin sonidos agregados 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87519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PRUEBAS DIAGNOSTICAS</a:t>
            </a: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4407927"/>
              </p:ext>
            </p:extLst>
          </p:nvPr>
        </p:nvGraphicFramePr>
        <p:xfrm>
          <a:off x="1403649" y="2492896"/>
          <a:ext cx="6552728" cy="345638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3355236"/>
                <a:gridCol w="3197492"/>
              </a:tblGrid>
              <a:tr h="3456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PACIENTE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VALOR NORMAL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6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HEMOGLOBINA 8.4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11.5 A 15.4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6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HEMATOCRITO 28.8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34.3 A 45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6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Plaquetas 207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140 a 440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6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Glucosa 61.1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65 a 110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6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pH  7.4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7,35-7,45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6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pO2  103.8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60-70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6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pCO2  35.2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32-36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6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HCO3  21.3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22-26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63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SatO2 90%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ourier New"/>
                          <a:ea typeface="Times New Roman"/>
                        </a:rPr>
                        <a:t> </a:t>
                      </a:r>
                      <a:endParaRPr lang="es-BO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206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b="1" dirty="0" smtClean="0"/>
              <a:t>PROBLEMAS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s-BO" dirty="0"/>
          </a:p>
          <a:p>
            <a:pPr lvl="0"/>
            <a:r>
              <a:rPr lang="es-ES" dirty="0" smtClean="0"/>
              <a:t>Inconsciencia</a:t>
            </a:r>
            <a:endParaRPr lang="es-BO" dirty="0"/>
          </a:p>
          <a:p>
            <a:pPr lvl="0"/>
            <a:r>
              <a:rPr lang="es-ES" dirty="0"/>
              <a:t>Cianosis distal</a:t>
            </a:r>
            <a:endParaRPr lang="es-BO" dirty="0"/>
          </a:p>
          <a:p>
            <a:pPr lvl="0"/>
            <a:r>
              <a:rPr lang="es-ES" dirty="0"/>
              <a:t>Taquipnea</a:t>
            </a:r>
            <a:endParaRPr lang="es-BO" dirty="0"/>
          </a:p>
          <a:p>
            <a:pPr lvl="0"/>
            <a:r>
              <a:rPr lang="es-ES" dirty="0"/>
              <a:t>Fatiga</a:t>
            </a:r>
            <a:endParaRPr lang="es-BO" dirty="0"/>
          </a:p>
          <a:p>
            <a:pPr lvl="0"/>
            <a:r>
              <a:rPr lang="es-ES" dirty="0"/>
              <a:t>Dificultad respiratoria</a:t>
            </a:r>
            <a:endParaRPr lang="es-BO" dirty="0"/>
          </a:p>
          <a:p>
            <a:pPr lvl="0"/>
            <a:r>
              <a:rPr lang="es-ES" dirty="0"/>
              <a:t>Secreciones </a:t>
            </a:r>
            <a:r>
              <a:rPr lang="es-ES" dirty="0" err="1"/>
              <a:t>orofaringeas</a:t>
            </a:r>
            <a:r>
              <a:rPr lang="es-ES" dirty="0"/>
              <a:t> abundantes</a:t>
            </a:r>
            <a:endParaRPr lang="es-BO" dirty="0"/>
          </a:p>
          <a:p>
            <a:pPr lvl="0"/>
            <a:r>
              <a:rPr lang="es-ES" dirty="0"/>
              <a:t>Piel fría</a:t>
            </a:r>
            <a:endParaRPr lang="es-BO" dirty="0"/>
          </a:p>
          <a:p>
            <a:pPr lvl="0"/>
            <a:r>
              <a:rPr lang="es-ES" dirty="0"/>
              <a:t>Taquicardia</a:t>
            </a:r>
            <a:endParaRPr lang="es-BO" dirty="0"/>
          </a:p>
          <a:p>
            <a:pPr lvl="0"/>
            <a:r>
              <a:rPr lang="es-ES" dirty="0"/>
              <a:t>Ligera hipotensión</a:t>
            </a:r>
            <a:endParaRPr lang="es-BO" dirty="0"/>
          </a:p>
          <a:p>
            <a:pPr lvl="0"/>
            <a:r>
              <a:rPr lang="es-ES" dirty="0" err="1"/>
              <a:t>Gasometria</a:t>
            </a:r>
            <a:r>
              <a:rPr lang="es-ES" dirty="0"/>
              <a:t> arterial anormal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51554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b="1" dirty="0"/>
              <a:t>ANALISIS E </a:t>
            </a:r>
            <a:r>
              <a:rPr lang="es-ES" b="1" dirty="0" smtClean="0"/>
              <a:t>INTERPRETACION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En el laboratorio se observa una disminución de la hemoglobina y hematocrito por lo tanto esta con anemia que produce la piel fría.</a:t>
            </a:r>
            <a:endParaRPr lang="es-BO" dirty="0"/>
          </a:p>
          <a:p>
            <a:r>
              <a:rPr lang="es-ES" b="1" dirty="0"/>
              <a:t>Según los problemas encontrados el paciente el estado de conciencia hace que él no pueda expectorar las secreciones que a su misma vez </a:t>
            </a:r>
            <a:r>
              <a:rPr lang="es-ES" b="1" dirty="0" smtClean="0"/>
              <a:t>ocasionan </a:t>
            </a:r>
            <a:r>
              <a:rPr lang="es-ES" b="1" dirty="0"/>
              <a:t>que no exista un buen intercambio de oxigeno.</a:t>
            </a:r>
            <a:endParaRPr lang="es-BO" dirty="0"/>
          </a:p>
          <a:p>
            <a:pPr marL="0" lvl="0" indent="0">
              <a:buNone/>
            </a:pP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683851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s-ES" b="1" dirty="0"/>
              <a:t>DIAGNOSTICOS DE </a:t>
            </a:r>
            <a:r>
              <a:rPr lang="es-ES" b="1" dirty="0" smtClean="0"/>
              <a:t>ENFERMERIA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 smtClean="0"/>
              <a:t>Deterioro </a:t>
            </a:r>
            <a:r>
              <a:rPr lang="es-ES" dirty="0"/>
              <a:t>del intercambio gaseoso relacionado por cianosis y gasometría arterial anormal</a:t>
            </a:r>
            <a:endParaRPr lang="es-BO" dirty="0"/>
          </a:p>
          <a:p>
            <a:pPr lvl="0"/>
            <a:r>
              <a:rPr lang="es-ES" dirty="0"/>
              <a:t>Patrón respiratorio ineficaz relacionado con la presencia de secreciones </a:t>
            </a:r>
            <a:r>
              <a:rPr lang="es-ES" dirty="0" err="1" smtClean="0"/>
              <a:t>orofaringeas</a:t>
            </a:r>
            <a:r>
              <a:rPr lang="es-ES" dirty="0" smtClean="0"/>
              <a:t> abundantes</a:t>
            </a:r>
            <a:endParaRPr lang="es-BO" dirty="0"/>
          </a:p>
          <a:p>
            <a:r>
              <a:rPr lang="es-ES" dirty="0"/>
              <a:t>Alto riesgo de </a:t>
            </a:r>
            <a:r>
              <a:rPr lang="es-ES" dirty="0" err="1"/>
              <a:t>broncoaspiracion</a:t>
            </a:r>
            <a:r>
              <a:rPr lang="es-ES" dirty="0"/>
              <a:t> relacionado con la inconsciencia y la presencia de secreciones </a:t>
            </a:r>
            <a:r>
              <a:rPr lang="es-ES" dirty="0" err="1"/>
              <a:t>orofaringeas</a:t>
            </a:r>
            <a:r>
              <a:rPr lang="es-ES" dirty="0"/>
              <a:t> abundantes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918904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spcBef>
                <a:spcPct val="0"/>
              </a:spcBef>
            </a:pPr>
            <a:r>
              <a:rPr lang="es-ES" sz="2800" b="1" dirty="0" smtClean="0"/>
              <a:t>NECESIDAD NUTRICIONAL</a:t>
            </a:r>
            <a:r>
              <a:rPr lang="es-BO" sz="2800" dirty="0" smtClean="0"/>
              <a:t/>
            </a:r>
            <a:br>
              <a:rPr lang="es-BO" sz="2800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67544" y="2060848"/>
            <a:ext cx="8219256" cy="426375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s-BO" sz="4000" dirty="0"/>
          </a:p>
          <a:p>
            <a:pPr lvl="0"/>
            <a:r>
              <a:rPr lang="es-ES" sz="2800" b="1" dirty="0"/>
              <a:t>ANTECEDENTES:</a:t>
            </a:r>
            <a:endParaRPr lang="es-BO" sz="4000" dirty="0"/>
          </a:p>
          <a:p>
            <a:pPr marL="0" indent="0">
              <a:buNone/>
            </a:pPr>
            <a:endParaRPr lang="es-BO" sz="4000" dirty="0"/>
          </a:p>
          <a:p>
            <a:pPr lvl="0"/>
            <a:r>
              <a:rPr lang="es-ES" sz="2800" dirty="0"/>
              <a:t>Paciente inconsciente no se tiene antecedentes</a:t>
            </a:r>
            <a:endParaRPr lang="es-BO" sz="4000" dirty="0"/>
          </a:p>
          <a:p>
            <a:pPr marL="0" indent="0">
              <a:buNone/>
            </a:pPr>
            <a:r>
              <a:rPr lang="es-ES" sz="2800" dirty="0"/>
              <a:t> </a:t>
            </a:r>
            <a:endParaRPr lang="es-BO" sz="4000" dirty="0"/>
          </a:p>
          <a:p>
            <a:pPr lvl="0"/>
            <a:r>
              <a:rPr lang="es-ES" sz="2800" b="1" dirty="0"/>
              <a:t>DATOS ACTUALES:</a:t>
            </a:r>
            <a:endParaRPr lang="es-BO" sz="4000" dirty="0"/>
          </a:p>
          <a:p>
            <a:pPr marL="0" indent="0">
              <a:buNone/>
            </a:pPr>
            <a:endParaRPr lang="es-BO" sz="4000" dirty="0"/>
          </a:p>
          <a:p>
            <a:pPr lvl="0"/>
            <a:r>
              <a:rPr lang="es-ES" sz="2800" dirty="0"/>
              <a:t>Peso actual, no se le pesa porque paciente no puede mantenerse en pie</a:t>
            </a:r>
            <a:r>
              <a:rPr lang="es-ES" sz="2800" dirty="0" smtClean="0"/>
              <a:t>.</a:t>
            </a:r>
            <a:endParaRPr lang="es-BO" sz="4000" dirty="0"/>
          </a:p>
          <a:p>
            <a:pPr lvl="0"/>
            <a:r>
              <a:rPr lang="es-ES" sz="2800" dirty="0"/>
              <a:t>Actualmente paciente en NPO</a:t>
            </a:r>
            <a:r>
              <a:rPr lang="es-ES" sz="2800" dirty="0" smtClean="0"/>
              <a:t>.</a:t>
            </a:r>
            <a:r>
              <a:rPr lang="es-ES" sz="2800" dirty="0"/>
              <a:t> </a:t>
            </a:r>
            <a:endParaRPr lang="es-BO" sz="4000" dirty="0"/>
          </a:p>
          <a:p>
            <a:pPr lvl="0"/>
            <a:r>
              <a:rPr lang="es-ES" sz="2800" dirty="0"/>
              <a:t>No se le administra dieta porque esta inconsciente pero se ha colocado SNG, no se administra ningún alimento porque ingresara a quirófano de emergencia</a:t>
            </a:r>
            <a:r>
              <a:rPr lang="es-ES" sz="2800" dirty="0" smtClean="0"/>
              <a:t>.</a:t>
            </a:r>
            <a:r>
              <a:rPr lang="es-ES" sz="2800" dirty="0"/>
              <a:t> </a:t>
            </a:r>
            <a:endParaRPr lang="es-BO" sz="4000" dirty="0"/>
          </a:p>
          <a:p>
            <a:pPr lvl="0"/>
            <a:r>
              <a:rPr lang="es-ES" sz="2800" dirty="0"/>
              <a:t>Recibe soluciones Endovenosas para hidratar, se </a:t>
            </a:r>
            <a:r>
              <a:rPr lang="es-ES" sz="2800" dirty="0" err="1"/>
              <a:t>prevee</a:t>
            </a:r>
            <a:r>
              <a:rPr lang="es-ES" sz="2800" dirty="0"/>
              <a:t> que vaya a recibir paquetes globulares, por las pérdidas sanguíneas que presenta.</a:t>
            </a:r>
            <a:endParaRPr lang="es-BO" sz="4000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294229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b="1" dirty="0"/>
              <a:t>EXAMEN FISICO</a:t>
            </a:r>
            <a:r>
              <a:rPr lang="es-ES" b="1" dirty="0" smtClean="0"/>
              <a:t>: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s-BO" dirty="0"/>
          </a:p>
          <a:p>
            <a:pPr lvl="0"/>
            <a:r>
              <a:rPr lang="es-ES" dirty="0"/>
              <a:t>Piel: Pálida, fría, con buena turgencia.</a:t>
            </a:r>
            <a:endParaRPr lang="es-BO" dirty="0"/>
          </a:p>
          <a:p>
            <a:pPr lvl="0"/>
            <a:r>
              <a:rPr lang="es-ES" dirty="0"/>
              <a:t>Boca: mucosas pálidas y secas, piezas dentarias completas con presencia de caries en algunas piezas.</a:t>
            </a:r>
            <a:endParaRPr lang="es-BO" dirty="0"/>
          </a:p>
          <a:p>
            <a:pPr lvl="0"/>
            <a:r>
              <a:rPr lang="es-ES" dirty="0"/>
              <a:t>Abdomen: se aprecia abdomen blando, </a:t>
            </a:r>
            <a:r>
              <a:rPr lang="es-ES" dirty="0" err="1"/>
              <a:t>depresible</a:t>
            </a:r>
            <a:r>
              <a:rPr lang="es-ES" dirty="0"/>
              <a:t>, no se evidencia signos de dolor a la palpación superficial y profunda.</a:t>
            </a:r>
            <a:endParaRPr lang="es-BO" dirty="0"/>
          </a:p>
          <a:p>
            <a:pPr lvl="0"/>
            <a:r>
              <a:rPr lang="es-ES" dirty="0"/>
              <a:t>Músculos: firmes y con elasticidad conservada</a:t>
            </a:r>
            <a:endParaRPr lang="es-BO" dirty="0"/>
          </a:p>
          <a:p>
            <a:pPr lvl="0"/>
            <a:r>
              <a:rPr lang="es-ES" dirty="0"/>
              <a:t>No existe signos clínicos de desnutrición pero si de deshidratación.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167353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b="1" dirty="0"/>
              <a:t>PROBLEMA (s</a:t>
            </a:r>
            <a:r>
              <a:rPr lang="es-ES" b="1" dirty="0" smtClean="0"/>
              <a:t>)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s-ES" dirty="0" smtClean="0"/>
          </a:p>
          <a:p>
            <a:pPr lvl="0"/>
            <a:endParaRPr lang="es-ES" dirty="0"/>
          </a:p>
          <a:p>
            <a:pPr lvl="0"/>
            <a:r>
              <a:rPr lang="es-ES" dirty="0" smtClean="0"/>
              <a:t>Disminución </a:t>
            </a:r>
            <a:r>
              <a:rPr lang="es-ES" dirty="0"/>
              <a:t>en la ingesta de alimentos.</a:t>
            </a:r>
            <a:endParaRPr lang="es-BO" dirty="0"/>
          </a:p>
          <a:p>
            <a:pPr lvl="0"/>
            <a:r>
              <a:rPr lang="es-ES" dirty="0"/>
              <a:t>Potencial de disminución de peso.</a:t>
            </a:r>
            <a:endParaRPr lang="es-BO" dirty="0"/>
          </a:p>
          <a:p>
            <a:pPr lvl="0"/>
            <a:r>
              <a:rPr lang="es-ES" dirty="0"/>
              <a:t>Disminución del aporte calórico.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623766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b="1" dirty="0"/>
              <a:t>ANALISIS E </a:t>
            </a:r>
            <a:r>
              <a:rPr lang="es-ES" b="1" dirty="0" smtClean="0"/>
              <a:t>INTERPRETACION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s-BO" dirty="0"/>
          </a:p>
          <a:p>
            <a:r>
              <a:rPr lang="es-ES" b="1" dirty="0"/>
              <a:t>Una de las causas por las cuales el paciente disminuye la ingesta de alimentos es por su estado de conciencia; además que será sometido a una cirugía de emergencia motivo que lleva a que el pacientes también se encuentre en ayunas. </a:t>
            </a:r>
            <a:endParaRPr lang="es-ES" b="1" dirty="0" smtClean="0"/>
          </a:p>
          <a:p>
            <a:r>
              <a:rPr lang="es-ES" b="1" dirty="0" err="1" smtClean="0"/>
              <a:t>Asi</a:t>
            </a:r>
            <a:r>
              <a:rPr lang="es-ES" b="1" dirty="0" smtClean="0"/>
              <a:t> </a:t>
            </a:r>
            <a:r>
              <a:rPr lang="es-ES" b="1" dirty="0"/>
              <a:t>como también mencionar que después de la cirugía el paciente continuara en NPO por protocolos pos quirúrgicos y también se debe esperar que el paciente mejore su nivel de conciencia para que pueda comenzar a ingerir alimentos. En si todas estas causas llevaran a que el paciente presente un potencial de disminución de peso y aporte </a:t>
            </a:r>
            <a:r>
              <a:rPr lang="es-ES" b="1" dirty="0" err="1"/>
              <a:t>calorico</a:t>
            </a:r>
            <a:r>
              <a:rPr lang="es-ES" b="1" dirty="0" smtClean="0"/>
              <a:t>.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933249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s-ES" b="1" dirty="0"/>
              <a:t>DIAGNOSTICOS DE </a:t>
            </a:r>
            <a:r>
              <a:rPr lang="es-ES" b="1" dirty="0" smtClean="0"/>
              <a:t>ENFERMERÍA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ES" dirty="0" smtClean="0"/>
              <a:t>Desequilibrio </a:t>
            </a:r>
            <a:r>
              <a:rPr lang="es-ES" dirty="0"/>
              <a:t>nutricional por  ingesta inadecuada relacionado a su estado de salud.</a:t>
            </a:r>
            <a:endParaRPr lang="es-BO" dirty="0"/>
          </a:p>
          <a:p>
            <a:pPr lvl="0"/>
            <a:r>
              <a:rPr lang="es-ES" dirty="0"/>
              <a:t>Disminución en la ingesta de alimentos relacionado con inconsciencia por la patología que presenta.</a:t>
            </a:r>
            <a:endParaRPr lang="es-BO" dirty="0"/>
          </a:p>
          <a:p>
            <a:pPr lvl="0"/>
            <a:r>
              <a:rPr lang="es-ES" dirty="0"/>
              <a:t>Déficit nutricional relacionado con la incapacidad de ingerir nutrientes por vía oral, incapacidad para digerir los nutrientes de forma óptima y el incremento de la necesidad </a:t>
            </a:r>
            <a:r>
              <a:rPr lang="es-ES" dirty="0" err="1"/>
              <a:t>metabolica</a:t>
            </a:r>
            <a:r>
              <a:rPr lang="es-ES" dirty="0"/>
              <a:t> para los nutrientes. </a:t>
            </a:r>
            <a:endParaRPr lang="es-BO" dirty="0"/>
          </a:p>
          <a:p>
            <a:pPr lvl="0"/>
            <a:r>
              <a:rPr lang="es-ES" dirty="0"/>
              <a:t>Potencial de desnutrición relacionado a la falta de ingesta de alimentos.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676554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es-ES" sz="2400" b="1" dirty="0"/>
              <a:t>NECESIDAD DE LÍQUIDOS Y ELECTROLITOS, NECESIDAD DE </a:t>
            </a:r>
            <a:r>
              <a:rPr lang="es-ES" sz="2400" b="1" dirty="0" smtClean="0"/>
              <a:t>ELIMINACIÓN</a:t>
            </a:r>
            <a:endParaRPr lang="es-BO" sz="24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ES" b="1" dirty="0"/>
              <a:t>ANTECEDENTES</a:t>
            </a:r>
            <a:r>
              <a:rPr lang="es-ES" b="1" dirty="0" smtClean="0"/>
              <a:t>:</a:t>
            </a:r>
            <a:endParaRPr lang="es-BO" dirty="0"/>
          </a:p>
          <a:p>
            <a:pPr lvl="0"/>
            <a:r>
              <a:rPr lang="es-ES" dirty="0"/>
              <a:t>No se obtienen datos, paciente </a:t>
            </a:r>
            <a:r>
              <a:rPr lang="es-ES" dirty="0" smtClean="0"/>
              <a:t>inconsciente</a:t>
            </a:r>
            <a:endParaRPr lang="es-BO" dirty="0"/>
          </a:p>
          <a:p>
            <a:pPr lvl="0"/>
            <a:r>
              <a:rPr lang="es-ES" b="1" dirty="0"/>
              <a:t>DATOS ACTUALES</a:t>
            </a:r>
            <a:r>
              <a:rPr lang="es-ES" b="1" dirty="0" smtClean="0"/>
              <a:t>:</a:t>
            </a:r>
            <a:r>
              <a:rPr lang="es-ES" b="1" dirty="0"/>
              <a:t> </a:t>
            </a:r>
            <a:endParaRPr lang="es-BO" dirty="0"/>
          </a:p>
          <a:p>
            <a:pPr lvl="0"/>
            <a:r>
              <a:rPr lang="es-ES" dirty="0"/>
              <a:t>Tiene indicado no ingerir alimentos</a:t>
            </a:r>
            <a:endParaRPr lang="es-BO" dirty="0"/>
          </a:p>
          <a:p>
            <a:pPr lvl="0"/>
            <a:r>
              <a:rPr lang="es-ES" dirty="0"/>
              <a:t>Se le administra solución fisiológica, </a:t>
            </a:r>
            <a:r>
              <a:rPr lang="es-ES" dirty="0" err="1"/>
              <a:t>Ringer</a:t>
            </a:r>
            <a:r>
              <a:rPr lang="es-ES" dirty="0"/>
              <a:t> lactato y </a:t>
            </a:r>
            <a:r>
              <a:rPr lang="es-ES" dirty="0" err="1"/>
              <a:t>haemacel</a:t>
            </a:r>
            <a:r>
              <a:rPr lang="es-ES" dirty="0"/>
              <a:t> para reponer líquidos que ha perdido.</a:t>
            </a:r>
            <a:endParaRPr lang="es-BO" dirty="0"/>
          </a:p>
          <a:p>
            <a:r>
              <a:rPr lang="es-ES" dirty="0"/>
              <a:t>Se solicita paquetes globulares para reposición de sangre perdida.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553995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/>
              <a:t/>
            </a:r>
            <a:br>
              <a:rPr lang="es-BO" dirty="0"/>
            </a:br>
            <a:r>
              <a:rPr lang="es-ES" b="1" dirty="0"/>
              <a:t>EXAMEN </a:t>
            </a:r>
            <a:r>
              <a:rPr lang="es-ES" b="1" dirty="0" smtClean="0"/>
              <a:t>FISICO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s-BO" dirty="0"/>
          </a:p>
          <a:p>
            <a:r>
              <a:rPr lang="es-ES" dirty="0"/>
              <a:t>Signos vitales: </a:t>
            </a:r>
            <a:endParaRPr lang="es-BO" dirty="0"/>
          </a:p>
          <a:p>
            <a:pPr lvl="0"/>
            <a:r>
              <a:rPr lang="es-ES" dirty="0"/>
              <a:t>Temperatura:36ºC, piel pálida y fría, ligera cianosis distal</a:t>
            </a:r>
            <a:endParaRPr lang="es-BO" dirty="0"/>
          </a:p>
          <a:p>
            <a:pPr lvl="0"/>
            <a:r>
              <a:rPr lang="es-ES" dirty="0"/>
              <a:t>Pulso: 100 x’, ritmo rápido y débil</a:t>
            </a:r>
            <a:endParaRPr lang="es-BO" dirty="0"/>
          </a:p>
          <a:p>
            <a:pPr lvl="0"/>
            <a:r>
              <a:rPr lang="es-ES" dirty="0"/>
              <a:t>Respiración: </a:t>
            </a:r>
            <a:r>
              <a:rPr lang="es-ES" dirty="0" err="1"/>
              <a:t>taquipneica</a:t>
            </a:r>
            <a:r>
              <a:rPr lang="es-ES" dirty="0"/>
              <a:t> 28x’, presencia de secreciones </a:t>
            </a:r>
            <a:r>
              <a:rPr lang="es-ES" dirty="0" err="1"/>
              <a:t>orofaringeas</a:t>
            </a:r>
            <a:r>
              <a:rPr lang="es-ES" dirty="0"/>
              <a:t>.</a:t>
            </a:r>
            <a:endParaRPr lang="es-BO" dirty="0"/>
          </a:p>
          <a:p>
            <a:pPr lvl="0"/>
            <a:r>
              <a:rPr lang="es-ES" dirty="0"/>
              <a:t>Tórax elasticidad y expansibilidad aumentada.</a:t>
            </a:r>
            <a:endParaRPr lang="es-BO" dirty="0"/>
          </a:p>
          <a:p>
            <a:pPr lvl="0"/>
            <a:r>
              <a:rPr lang="es-ES" dirty="0"/>
              <a:t>Presión arterial: 90/70 </a:t>
            </a:r>
            <a:r>
              <a:rPr lang="es-ES" dirty="0" err="1"/>
              <a:t>mmHg</a:t>
            </a:r>
            <a:endParaRPr lang="es-BO" dirty="0"/>
          </a:p>
          <a:p>
            <a:pPr lvl="0"/>
            <a:r>
              <a:rPr lang="es-ES" dirty="0"/>
              <a:t>Corazón: rítmico aumentado, sin sonidos agregados </a:t>
            </a:r>
            <a:endParaRPr lang="es-BO" dirty="0"/>
          </a:p>
          <a:p>
            <a:pPr lvl="0"/>
            <a:r>
              <a:rPr lang="es-ES" dirty="0"/>
              <a:t>Piel: Pálida, fría, con buena turgencia.</a:t>
            </a:r>
            <a:endParaRPr lang="es-BO" dirty="0"/>
          </a:p>
          <a:p>
            <a:pPr lvl="0"/>
            <a:r>
              <a:rPr lang="es-ES" dirty="0"/>
              <a:t>Boca: mucosas pálidas y secas</a:t>
            </a:r>
            <a:endParaRPr lang="es-BO" dirty="0"/>
          </a:p>
          <a:p>
            <a:pPr lvl="0"/>
            <a:r>
              <a:rPr lang="es-ES" dirty="0"/>
              <a:t>Músculos: firmes y con elasticidad conservada</a:t>
            </a:r>
            <a:endParaRPr lang="es-BO" dirty="0"/>
          </a:p>
          <a:p>
            <a:pPr lvl="0"/>
            <a:r>
              <a:rPr lang="es-ES" dirty="0"/>
              <a:t>Existe signos clínicos de deshidratación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8463258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dirty="0" smtClean="0"/>
              <a:t>PRUEBAS DIAGNOSTICAS</a:t>
            </a:r>
            <a:endParaRPr lang="es-BO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6871569"/>
              </p:ext>
            </p:extLst>
          </p:nvPr>
        </p:nvGraphicFramePr>
        <p:xfrm>
          <a:off x="1115616" y="2708920"/>
          <a:ext cx="6840760" cy="288032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3420380"/>
                <a:gridCol w="3420380"/>
              </a:tblGrid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DATOS PACIENTE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VALORES NORMALES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HEMOGLOBINA 8.4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11.5 A 15.4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HEMATOCRITO 28.8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34.3 A 45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Plaquetas 207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140 a 440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Glucosa 61.1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65 a 110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NA134mEq/L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136 a 145 mEq/L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K 2.8mEq /L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ourier New"/>
                          <a:ea typeface="Times New Roman"/>
                        </a:rPr>
                        <a:t>3.5 a 5 mEq/L</a:t>
                      </a:r>
                      <a:endParaRPr lang="es-BO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ourier New"/>
                          <a:ea typeface="Times New Roman"/>
                        </a:rPr>
                        <a:t>Ca 2.3 </a:t>
                      </a:r>
                      <a:r>
                        <a:rPr lang="es-ES" sz="1600" b="1" dirty="0" err="1">
                          <a:effectLst/>
                          <a:latin typeface="Courier New"/>
                          <a:ea typeface="Times New Roman"/>
                        </a:rPr>
                        <a:t>mEq</a:t>
                      </a:r>
                      <a:r>
                        <a:rPr lang="es-ES" sz="1600" b="1" dirty="0">
                          <a:effectLst/>
                          <a:latin typeface="Courier New"/>
                          <a:ea typeface="Times New Roman"/>
                        </a:rPr>
                        <a:t>/L</a:t>
                      </a:r>
                      <a:endParaRPr lang="es-BO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ourier New"/>
                          <a:ea typeface="Times New Roman"/>
                        </a:rPr>
                        <a:t>4.5 a 5.5 </a:t>
                      </a:r>
                      <a:r>
                        <a:rPr lang="es-ES" sz="1600" b="1" dirty="0" err="1">
                          <a:effectLst/>
                          <a:latin typeface="Courier New"/>
                          <a:ea typeface="Times New Roman"/>
                        </a:rPr>
                        <a:t>mEq</a:t>
                      </a:r>
                      <a:r>
                        <a:rPr lang="es-ES" sz="1600" b="1" dirty="0">
                          <a:effectLst/>
                          <a:latin typeface="Courier New"/>
                          <a:ea typeface="Times New Roman"/>
                        </a:rPr>
                        <a:t>/L</a:t>
                      </a:r>
                      <a:endParaRPr lang="es-BO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149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b="1" dirty="0"/>
              <a:t>PROBLEMA (s</a:t>
            </a:r>
            <a:r>
              <a:rPr lang="es-ES" b="1" dirty="0" smtClean="0"/>
              <a:t>)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s-BO" dirty="0"/>
          </a:p>
          <a:p>
            <a:pPr lvl="0"/>
            <a:r>
              <a:rPr lang="es-ES" dirty="0"/>
              <a:t>Inconsciencia</a:t>
            </a:r>
            <a:endParaRPr lang="es-BO" dirty="0"/>
          </a:p>
          <a:p>
            <a:pPr lvl="0"/>
            <a:r>
              <a:rPr lang="es-ES" dirty="0"/>
              <a:t>Disminución en la ingesta de líquidos vía oral</a:t>
            </a:r>
            <a:endParaRPr lang="es-BO" dirty="0"/>
          </a:p>
          <a:p>
            <a:pPr lvl="0"/>
            <a:r>
              <a:rPr lang="es-ES" dirty="0"/>
              <a:t>Deshidratación</a:t>
            </a:r>
            <a:endParaRPr lang="es-BO" dirty="0"/>
          </a:p>
          <a:p>
            <a:pPr lvl="0"/>
            <a:r>
              <a:rPr lang="es-ES" dirty="0"/>
              <a:t>Taquipnea</a:t>
            </a:r>
            <a:endParaRPr lang="es-BO" dirty="0"/>
          </a:p>
          <a:p>
            <a:pPr lvl="0"/>
            <a:r>
              <a:rPr lang="es-ES" dirty="0"/>
              <a:t>Taquicardia</a:t>
            </a:r>
            <a:endParaRPr lang="es-BO" dirty="0"/>
          </a:p>
          <a:p>
            <a:pPr lvl="0"/>
            <a:r>
              <a:rPr lang="es-ES" dirty="0"/>
              <a:t>Ligera hipotensión</a:t>
            </a:r>
            <a:endParaRPr lang="es-BO" dirty="0"/>
          </a:p>
          <a:p>
            <a:pPr lvl="0"/>
            <a:r>
              <a:rPr lang="es-ES" dirty="0"/>
              <a:t>Anemia </a:t>
            </a:r>
            <a:endParaRPr lang="es-BO" dirty="0"/>
          </a:p>
          <a:p>
            <a:pPr marL="0" indent="0">
              <a:buNone/>
            </a:pP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298601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 b="1" dirty="0"/>
              <a:t>ANALISIS E INTERPRETACIÓN: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BO" dirty="0"/>
          </a:p>
          <a:p>
            <a:r>
              <a:rPr lang="es-ES" dirty="0"/>
              <a:t>Según los problemas encontrados en el paciente el mismo presentara una alteración electrolítica debido a la pérdida de sangre tras el accidente, está perdida sanguínea produce un hipovolemia y como consecuencia una taquicardia e hipotensión.</a:t>
            </a:r>
            <a:endParaRPr lang="es-BO" dirty="0"/>
          </a:p>
          <a:p>
            <a:pPr marL="0" indent="0">
              <a:buNone/>
            </a:pPr>
            <a:r>
              <a:rPr lang="es-ES" dirty="0"/>
              <a:t> 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711648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s-ES" b="1" dirty="0"/>
              <a:t>DIAGNOSTICOS DE </a:t>
            </a:r>
            <a:r>
              <a:rPr lang="es-ES" b="1" dirty="0" smtClean="0"/>
              <a:t>ENFERMERÍA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s-BO" dirty="0"/>
          </a:p>
          <a:p>
            <a:pPr lvl="0"/>
            <a:r>
              <a:rPr lang="es-ES" dirty="0"/>
              <a:t>Déficit de volumen de líquidos, relacionado con patología actual por el accidente sufrido.</a:t>
            </a:r>
            <a:endParaRPr lang="es-BO" dirty="0"/>
          </a:p>
          <a:p>
            <a:pPr lvl="0"/>
            <a:r>
              <a:rPr lang="es-ES" dirty="0"/>
              <a:t>Disminución del gasto cardiaco relacionado a la falta de volumen circulante.</a:t>
            </a:r>
            <a:endParaRPr lang="es-BO" dirty="0"/>
          </a:p>
          <a:p>
            <a:pPr lvl="0"/>
            <a:r>
              <a:rPr lang="es-ES" dirty="0"/>
              <a:t>Potencial de desequilibrio hidroelectrolítico relacionado a la pérdida masiva de sangre</a:t>
            </a:r>
            <a:r>
              <a:rPr lang="es-ES" dirty="0" smtClean="0"/>
              <a:t>.</a:t>
            </a:r>
            <a:endParaRPr lang="es-BO" dirty="0"/>
          </a:p>
          <a:p>
            <a:pPr marL="0" indent="0">
              <a:buNone/>
            </a:pP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3821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spcBef>
                <a:spcPct val="0"/>
              </a:spcBef>
            </a:pPr>
            <a:r>
              <a:rPr lang="es-ES" b="1" dirty="0"/>
              <a:t>NECESIDAD DE MOVIMIENTO Y EJERCICIO, NECESIDAD DE PROTECCIÓN Y </a:t>
            </a:r>
            <a:r>
              <a:rPr lang="es-ES" b="1" dirty="0" smtClean="0"/>
              <a:t>SEGURIDAD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s-ES" b="1" dirty="0"/>
              <a:t>ANTECEDENTES:</a:t>
            </a:r>
            <a:endParaRPr lang="es-BO" dirty="0"/>
          </a:p>
          <a:p>
            <a:pPr marL="0" indent="0">
              <a:buNone/>
            </a:pPr>
            <a:endParaRPr lang="es-BO" dirty="0"/>
          </a:p>
          <a:p>
            <a:pPr lvl="0"/>
            <a:r>
              <a:rPr lang="es-ES" dirty="0"/>
              <a:t>Paciente inconsciente por lo que no se tiene antecedentes</a:t>
            </a:r>
            <a:endParaRPr lang="es-BO" dirty="0"/>
          </a:p>
          <a:p>
            <a:pPr marL="0" indent="0">
              <a:buNone/>
            </a:pPr>
            <a:endParaRPr lang="es-BO" dirty="0"/>
          </a:p>
          <a:p>
            <a:pPr lvl="0"/>
            <a:r>
              <a:rPr lang="es-ES" b="1" dirty="0"/>
              <a:t>DATOS ACTUALES:</a:t>
            </a:r>
            <a:endParaRPr lang="es-BO" dirty="0"/>
          </a:p>
          <a:p>
            <a:pPr marL="0" indent="0">
              <a:buNone/>
            </a:pPr>
            <a:endParaRPr lang="es-BO" dirty="0"/>
          </a:p>
          <a:p>
            <a:pPr lvl="0"/>
            <a:r>
              <a:rPr lang="es-ES" dirty="0"/>
              <a:t>Actualmente paciente inconsciente, con Glasgow de 10/15, sufrió un accidente por lo que ha perdido líquidos al punto de quedar en un cuadro de shock, por lo que requiere asistencia para todas sus necesidades básicas.</a:t>
            </a:r>
            <a:endParaRPr lang="es-BO" dirty="0"/>
          </a:p>
          <a:p>
            <a:pPr lvl="0"/>
            <a:r>
              <a:rPr lang="es-ES" dirty="0"/>
              <a:t>Es intervenida quirúrgicamente de emergencia por el trauma vascular que presenta. La anestesia utilizada es general.</a:t>
            </a:r>
            <a:endParaRPr lang="es-BO" dirty="0"/>
          </a:p>
          <a:p>
            <a:pPr lvl="0"/>
            <a:r>
              <a:rPr lang="es-ES" dirty="0"/>
              <a:t>Presenta una pérdida de la continuidad en la piel (</a:t>
            </a:r>
            <a:r>
              <a:rPr lang="es-ES" dirty="0" err="1"/>
              <a:t>MsInf</a:t>
            </a:r>
            <a:r>
              <a:rPr lang="es-ES" dirty="0"/>
              <a:t>), las cuales estuvieron expuestas a posibles agentes infecciosos, por lo que esta en riesgo de sufrir infecciones.</a:t>
            </a:r>
            <a:endParaRPr lang="es-BO" dirty="0"/>
          </a:p>
          <a:p>
            <a:pPr marL="0" indent="0">
              <a:buNone/>
            </a:pP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006809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b="1" dirty="0"/>
              <a:t>EXAMEN </a:t>
            </a:r>
            <a:r>
              <a:rPr lang="es-ES" b="1" dirty="0" smtClean="0"/>
              <a:t>FISICO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 smtClean="0"/>
              <a:t>CARDIO </a:t>
            </a:r>
            <a:r>
              <a:rPr lang="es-ES" dirty="0"/>
              <a:t>PULMONAR</a:t>
            </a:r>
            <a:endParaRPr lang="es-BO" dirty="0"/>
          </a:p>
          <a:p>
            <a:pPr lvl="0"/>
            <a:r>
              <a:rPr lang="es-ES" dirty="0"/>
              <a:t>Corazón: rítmico aumentado, sin sonidos agregados </a:t>
            </a:r>
            <a:endParaRPr lang="es-BO" dirty="0"/>
          </a:p>
          <a:p>
            <a:pPr lvl="0"/>
            <a:r>
              <a:rPr lang="es-ES" dirty="0"/>
              <a:t>Respiración: </a:t>
            </a:r>
            <a:r>
              <a:rPr lang="es-ES" dirty="0" err="1"/>
              <a:t>taquipneica</a:t>
            </a:r>
            <a:r>
              <a:rPr lang="es-ES" dirty="0"/>
              <a:t> 28x’, presencia de secreciones </a:t>
            </a:r>
            <a:r>
              <a:rPr lang="es-ES" dirty="0" err="1"/>
              <a:t>orofaringeas</a:t>
            </a:r>
            <a:r>
              <a:rPr lang="es-ES" dirty="0"/>
              <a:t>.</a:t>
            </a:r>
            <a:endParaRPr lang="es-BO" dirty="0"/>
          </a:p>
          <a:p>
            <a:pPr lvl="0"/>
            <a:r>
              <a:rPr lang="es-ES" dirty="0"/>
              <a:t>Tórax elasticidad y expansibilidad aumentada.</a:t>
            </a:r>
            <a:endParaRPr lang="es-BO" dirty="0"/>
          </a:p>
          <a:p>
            <a:r>
              <a:rPr lang="es-ES" dirty="0"/>
              <a:t>NEUROCIRCULATORIO</a:t>
            </a:r>
            <a:endParaRPr lang="es-BO" dirty="0"/>
          </a:p>
          <a:p>
            <a:pPr lvl="0"/>
            <a:r>
              <a:rPr lang="es-ES" dirty="0"/>
              <a:t>Llenado capilar en mas de 2 segundos</a:t>
            </a:r>
            <a:endParaRPr lang="es-BO" dirty="0"/>
          </a:p>
          <a:p>
            <a:pPr lvl="0"/>
            <a:r>
              <a:rPr lang="es-ES" dirty="0"/>
              <a:t>Sensibilidad disminuida</a:t>
            </a:r>
            <a:endParaRPr lang="es-BO" dirty="0"/>
          </a:p>
          <a:p>
            <a:pPr lvl="0"/>
            <a:r>
              <a:rPr lang="es-ES" dirty="0"/>
              <a:t>Motilidad conservada</a:t>
            </a:r>
            <a:endParaRPr lang="es-BO" dirty="0"/>
          </a:p>
          <a:p>
            <a:pPr lvl="0"/>
            <a:r>
              <a:rPr lang="es-ES" dirty="0"/>
              <a:t>Cianosis distal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202709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b="1" dirty="0"/>
              <a:t>PROBLEMAS</a:t>
            </a:r>
            <a:r>
              <a:rPr lang="es-ES" b="1" dirty="0" smtClean="0"/>
              <a:t>: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BO" dirty="0"/>
          </a:p>
          <a:p>
            <a:pPr lvl="0"/>
            <a:r>
              <a:rPr lang="es-ES" dirty="0"/>
              <a:t>Inconsciencia</a:t>
            </a:r>
            <a:endParaRPr lang="es-BO" dirty="0"/>
          </a:p>
          <a:p>
            <a:pPr lvl="0"/>
            <a:r>
              <a:rPr lang="es-ES" dirty="0"/>
              <a:t>Dificultad para autosatisfacer sus necesidades básicas</a:t>
            </a:r>
            <a:endParaRPr lang="es-BO" dirty="0"/>
          </a:p>
          <a:p>
            <a:pPr lvl="0"/>
            <a:r>
              <a:rPr lang="es-ES" dirty="0"/>
              <a:t>Incapacidad para realizar movimientos.</a:t>
            </a:r>
            <a:endParaRPr lang="es-BO" dirty="0"/>
          </a:p>
          <a:p>
            <a:pPr lvl="0"/>
            <a:r>
              <a:rPr lang="es-ES" dirty="0"/>
              <a:t>Potencial de adquirir infecciones</a:t>
            </a:r>
            <a:endParaRPr lang="es-BO" dirty="0"/>
          </a:p>
          <a:p>
            <a:pPr lvl="0"/>
            <a:r>
              <a:rPr lang="es-ES" dirty="0"/>
              <a:t>Potencial de zonas de presión.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112021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ES" b="1" dirty="0"/>
              <a:t>ANALISIS E </a:t>
            </a:r>
            <a:r>
              <a:rPr lang="es-ES" b="1" dirty="0" smtClean="0"/>
              <a:t>INTERPRETACIÓN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BO" dirty="0"/>
          </a:p>
          <a:p>
            <a:r>
              <a:rPr lang="es-ES" dirty="0"/>
              <a:t>Según los problemas encontrados en el paciente, el estado de conciencia limita sus movimientos, que pueda satisfacer sus necesidades básicas, o que pueda realizar cualquier actividad motora y esto lleva a que el cliente pueda llegar a presentar zonas de presión. 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4129751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s-ES" b="1" dirty="0"/>
              <a:t>DIAGNOSTICOS DE </a:t>
            </a:r>
            <a:r>
              <a:rPr lang="es-ES" b="1" dirty="0" smtClean="0"/>
              <a:t>ENFERMERÍA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s-ES" dirty="0" smtClean="0"/>
              <a:t>Potencial </a:t>
            </a:r>
            <a:r>
              <a:rPr lang="es-ES" dirty="0"/>
              <a:t>de atelectasias posoperatorias relacionadas con la inmovilidad y depresión ciliar debido a la anestesia.</a:t>
            </a:r>
            <a:endParaRPr lang="es-BO" dirty="0"/>
          </a:p>
          <a:p>
            <a:pPr lvl="0"/>
            <a:r>
              <a:rPr lang="es-ES" dirty="0"/>
              <a:t>Potencial de fenómenos </a:t>
            </a:r>
            <a:r>
              <a:rPr lang="es-ES" dirty="0" err="1"/>
              <a:t>tromboembólicos</a:t>
            </a:r>
            <a:r>
              <a:rPr lang="es-ES" dirty="0"/>
              <a:t> posoperatorios relacionados con la inmovilidad y deshidratación.</a:t>
            </a:r>
            <a:endParaRPr lang="es-BO" dirty="0"/>
          </a:p>
          <a:p>
            <a:pPr lvl="0"/>
            <a:r>
              <a:rPr lang="es-ES" dirty="0"/>
              <a:t>Alteración posoperatoria de la integridad cutánea relacionada con la intervención quirúrgica</a:t>
            </a:r>
            <a:r>
              <a:rPr lang="es-ES" dirty="0" smtClean="0"/>
              <a:t>.</a:t>
            </a:r>
            <a:endParaRPr lang="es-BO" dirty="0"/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576445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/>
              <a:t>JERARQUIZACIÓN DE DIAGNOSTICOS DE </a:t>
            </a:r>
            <a:r>
              <a:rPr lang="es-ES" b="1" dirty="0" smtClean="0"/>
              <a:t>ENFERMERÍA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b="1" dirty="0"/>
              <a:t> </a:t>
            </a:r>
            <a:endParaRPr lang="es-BO" dirty="0"/>
          </a:p>
          <a:p>
            <a:pPr lvl="0"/>
            <a:r>
              <a:rPr lang="es-ES" dirty="0"/>
              <a:t>Deterioro del intercambio gaseoso relacionado por cianosis y gasometría arterial anormal</a:t>
            </a:r>
            <a:endParaRPr lang="es-BO" dirty="0"/>
          </a:p>
          <a:p>
            <a:pPr lvl="0"/>
            <a:r>
              <a:rPr lang="es-ES" dirty="0"/>
              <a:t>Patrón respiratorio ineficaz relacionado con la presencia de secreciones </a:t>
            </a:r>
            <a:r>
              <a:rPr lang="es-ES" dirty="0" err="1"/>
              <a:t>orofaringeasabundantes</a:t>
            </a:r>
            <a:endParaRPr lang="es-BO" dirty="0"/>
          </a:p>
          <a:p>
            <a:pPr lvl="0"/>
            <a:r>
              <a:rPr lang="es-ES" dirty="0"/>
              <a:t>Alto riesgo de </a:t>
            </a:r>
            <a:r>
              <a:rPr lang="es-ES" dirty="0" err="1"/>
              <a:t>broncoaspiracion</a:t>
            </a:r>
            <a:r>
              <a:rPr lang="es-ES" dirty="0"/>
              <a:t> relacionado con la inconsciencia y la presencia de secreciones </a:t>
            </a:r>
            <a:r>
              <a:rPr lang="es-ES" dirty="0" err="1"/>
              <a:t>orofaringeas</a:t>
            </a:r>
            <a:r>
              <a:rPr lang="es-ES" dirty="0"/>
              <a:t> abundantes.</a:t>
            </a:r>
            <a:endParaRPr lang="es-BO" dirty="0"/>
          </a:p>
          <a:p>
            <a:pPr lvl="0"/>
            <a:r>
              <a:rPr lang="es-ES" dirty="0"/>
              <a:t>Desequilibrio nutricional por  ingesta inadecuada relacionado a su estado de salud.</a:t>
            </a:r>
            <a:endParaRPr lang="es-BO" dirty="0"/>
          </a:p>
          <a:p>
            <a:pPr lvl="0"/>
            <a:r>
              <a:rPr lang="es-ES" dirty="0"/>
              <a:t>Disminución en la ingesta de alimentos relacionado con inconsciencia por la patología que presenta.</a:t>
            </a:r>
            <a:endParaRPr lang="es-BO" dirty="0"/>
          </a:p>
          <a:p>
            <a:r>
              <a:rPr lang="es-ES" dirty="0"/>
              <a:t>Déficit nutricional relacionado con la incapacidad de ingerir nutrientes por vía oral, incapacidad para digerir los nutrientes de forma óptima y el incremento de la necesidad </a:t>
            </a:r>
            <a:r>
              <a:rPr lang="es-ES" dirty="0" err="1"/>
              <a:t>metabolica</a:t>
            </a:r>
            <a:r>
              <a:rPr lang="es-ES" dirty="0"/>
              <a:t> para los nutrientes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3674174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164</TotalTime>
  <Words>1105</Words>
  <Application>Microsoft Office PowerPoint</Application>
  <PresentationFormat>Presentación en pantalla (4:3)</PresentationFormat>
  <Paragraphs>194</Paragraphs>
  <Slides>25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Flujo</vt:lpstr>
      <vt:lpstr>DIAGNOSTICOS DE ENFERMERÍA</vt:lpstr>
      <vt:lpstr>VALORACIÓN DE NECESIDADES BÁSICAS (MASLOW, KALISH)</vt:lpstr>
      <vt:lpstr>DATOS ACTUALES: </vt:lpstr>
      <vt:lpstr>EXAMEN FISICO</vt:lpstr>
      <vt:lpstr>PRUEBAS DIAGNOSTICAS</vt:lpstr>
      <vt:lpstr>PROBLEMAS</vt:lpstr>
      <vt:lpstr>ANALISIS E INTERPRETACION</vt:lpstr>
      <vt:lpstr>DIAGNOSTICOS DE ENFERMERIA</vt:lpstr>
      <vt:lpstr>NECESIDAD NUTRICIONAL </vt:lpstr>
      <vt:lpstr>EXAMEN FISICO:</vt:lpstr>
      <vt:lpstr>PROBLEMA (s)</vt:lpstr>
      <vt:lpstr>ANALISIS E INTERPRETACION</vt:lpstr>
      <vt:lpstr>DIAGNOSTICOS DE ENFERMERÍA</vt:lpstr>
      <vt:lpstr>NECESIDAD DE LÍQUIDOS Y ELECTROLITOS, NECESIDAD DE ELIMINACIÓN</vt:lpstr>
      <vt:lpstr> EXAMEN FISICO</vt:lpstr>
      <vt:lpstr>PRUEBAS DIAGNOSTICAS</vt:lpstr>
      <vt:lpstr>PROBLEMA (s)</vt:lpstr>
      <vt:lpstr>ANALISIS E INTERPRETACIÓN:</vt:lpstr>
      <vt:lpstr>DIAGNOSTICOS DE ENFERMERÍA</vt:lpstr>
      <vt:lpstr>NECESIDAD DE MOVIMIENTO Y EJERCICIO, NECESIDAD DE PROTECCIÓN Y SEGURIDAD</vt:lpstr>
      <vt:lpstr>EXAMEN FISICO</vt:lpstr>
      <vt:lpstr>PROBLEMAS:</vt:lpstr>
      <vt:lpstr>ANALISIS E INTERPRETACIÓN</vt:lpstr>
      <vt:lpstr>DIAGNOSTICOS DE ENFERMERÍA</vt:lpstr>
      <vt:lpstr>JERARQUIZACIÓN DE DIAGNOSTICOS DE ENFERMERÍA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LILI</dc:creator>
  <cp:lastModifiedBy>LILI</cp:lastModifiedBy>
  <cp:revision>7</cp:revision>
  <dcterms:created xsi:type="dcterms:W3CDTF">2013-08-24T01:24:21Z</dcterms:created>
  <dcterms:modified xsi:type="dcterms:W3CDTF">2013-08-24T04:08:52Z</dcterms:modified>
</cp:coreProperties>
</file>