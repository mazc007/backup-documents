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303" r:id="rId3"/>
    <p:sldId id="304" r:id="rId4"/>
    <p:sldId id="306" r:id="rId5"/>
    <p:sldId id="305" r:id="rId6"/>
    <p:sldId id="302" r:id="rId7"/>
    <p:sldId id="257" r:id="rId8"/>
    <p:sldId id="291" r:id="rId9"/>
    <p:sldId id="292" r:id="rId10"/>
    <p:sldId id="258" r:id="rId11"/>
    <p:sldId id="259" r:id="rId12"/>
    <p:sldId id="296" r:id="rId13"/>
    <p:sldId id="272" r:id="rId14"/>
    <p:sldId id="299" r:id="rId15"/>
    <p:sldId id="275" r:id="rId16"/>
    <p:sldId id="273" r:id="rId17"/>
    <p:sldId id="284" r:id="rId18"/>
    <p:sldId id="271" r:id="rId19"/>
    <p:sldId id="301" r:id="rId20"/>
    <p:sldId id="300" r:id="rId21"/>
    <p:sldId id="295" r:id="rId22"/>
    <p:sldId id="269" r:id="rId23"/>
    <p:sldId id="280" r:id="rId24"/>
    <p:sldId id="281" r:id="rId25"/>
    <p:sldId id="282" r:id="rId26"/>
    <p:sldId id="286" r:id="rId27"/>
    <p:sldId id="287" r:id="rId28"/>
    <p:sldId id="288" r:id="rId29"/>
    <p:sldId id="290" r:id="rId30"/>
    <p:sldId id="285" r:id="rId31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1196" autoAdjust="0"/>
  </p:normalViewPr>
  <p:slideViewPr>
    <p:cSldViewPr>
      <p:cViewPr varScale="1">
        <p:scale>
          <a:sx n="84" d="100"/>
          <a:sy n="84" d="100"/>
        </p:scale>
        <p:origin x="-143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Título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6" name="15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7" name="26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s-BO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11" name="1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Título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5" name="24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8" name="27 Marcador de contenido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2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24" name="2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Título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29" name="2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Marcador de posición de imagen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7" name="16 Título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1" name="10 Marcador de fecha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8EA6AC6-1405-4BA3-A6B5-C22B7F2D7453}" type="datetimeFigureOut">
              <a:rPr lang="es-BO" smtClean="0"/>
              <a:pPr/>
              <a:t>23/05/2014</a:t>
            </a:fld>
            <a:endParaRPr lang="es-BO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351BAC1C-D7FD-44DF-832F-63D0BB4743E4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0" name="9 Marcador de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5576" y="1628800"/>
            <a:ext cx="7772400" cy="2664296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s-BO" sz="2800" dirty="0" smtClean="0"/>
              <a:t>ELABORACION DE  </a:t>
            </a:r>
            <a:r>
              <a:rPr lang="es-BO" sz="2800" dirty="0" smtClean="0"/>
              <a:t>PROTOCOLOS O SISTEMAS DE CUIDADOS PRIORITARIOS DE ENFERMERIA EN BASE A LAS TAXONOMIAS NANDA-NIC-NOC</a:t>
            </a:r>
            <a:br>
              <a:rPr lang="es-BO" sz="2800" dirty="0" smtClean="0"/>
            </a:br>
            <a:endParaRPr lang="es-BO" sz="28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203848" y="4725144"/>
            <a:ext cx="4568552" cy="1224136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es-BO" dirty="0" smtClean="0"/>
              <a:t>LIC. VICTORIA NICOLAS C.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91980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2400" b="1" dirty="0"/>
              <a:t>FORMULACIÓN DEL DIAGNÓSTICO</a:t>
            </a:r>
            <a:r>
              <a:rPr lang="es-BO" sz="2400" dirty="0"/>
              <a:t> Según la Dra. Marjory Gordon se realizará utilizando el Formato PES)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BO" dirty="0" smtClean="0"/>
              <a:t>DIAGNOSTICO REAL</a:t>
            </a:r>
            <a:endParaRPr lang="es-BO" dirty="0"/>
          </a:p>
          <a:p>
            <a:r>
              <a:rPr lang="es-BO" dirty="0"/>
              <a:t>Problema (alteración, afectación, déficit, dificultad)</a:t>
            </a:r>
          </a:p>
          <a:p>
            <a:r>
              <a:rPr lang="es-BO" dirty="0"/>
              <a:t>Etiología, son los factores relacionados que influyen o determinan la enfermedad.</a:t>
            </a:r>
          </a:p>
          <a:p>
            <a:r>
              <a:rPr lang="es-BO" dirty="0"/>
              <a:t>Signos y síntomas, son las manifestaciones de la </a:t>
            </a:r>
            <a:r>
              <a:rPr lang="es-BO" dirty="0" smtClean="0"/>
              <a:t>enfermedad.</a:t>
            </a:r>
          </a:p>
          <a:p>
            <a:r>
              <a:rPr lang="es-BO" dirty="0" smtClean="0"/>
              <a:t>Para </a:t>
            </a:r>
            <a:r>
              <a:rPr lang="es-BO" dirty="0"/>
              <a:t>la formulación de los diagnósticos de </a:t>
            </a:r>
            <a:r>
              <a:rPr lang="es-BO" b="1" dirty="0"/>
              <a:t>riesgo</a:t>
            </a:r>
            <a:r>
              <a:rPr lang="es-BO" dirty="0"/>
              <a:t> de escribirán sólo con dos partes: PE</a:t>
            </a:r>
            <a:r>
              <a:rPr lang="es-BO" dirty="0" smtClean="0"/>
              <a:t>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07966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188640"/>
            <a:ext cx="8686800" cy="864096"/>
          </a:xfrm>
        </p:spPr>
        <p:txBody>
          <a:bodyPr>
            <a:normAutofit/>
          </a:bodyPr>
          <a:lstStyle/>
          <a:p>
            <a:r>
              <a:rPr lang="es-BO" sz="2000" dirty="0" smtClean="0"/>
              <a:t>Proceso de evolución  de la clasificación de diagnósticos de enfermería</a:t>
            </a:r>
            <a:endParaRPr lang="es-BO" sz="2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1196752"/>
            <a:ext cx="8686800" cy="525658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BO" dirty="0" smtClean="0"/>
              <a:t>1073  Se convoca 1ra conferencia para la clasificación  </a:t>
            </a:r>
            <a:r>
              <a:rPr lang="es-BO" dirty="0" err="1" smtClean="0"/>
              <a:t>Dx</a:t>
            </a:r>
            <a:endParaRPr lang="es-BO" dirty="0" smtClean="0"/>
          </a:p>
          <a:p>
            <a:pPr algn="just"/>
            <a:r>
              <a:rPr lang="es-BO" dirty="0" smtClean="0"/>
              <a:t>1978 </a:t>
            </a:r>
            <a:r>
              <a:rPr lang="es-BO" dirty="0"/>
              <a:t>G</a:t>
            </a:r>
            <a:r>
              <a:rPr lang="es-BO" dirty="0" smtClean="0"/>
              <a:t>ordon ordena en patrones funcionales</a:t>
            </a:r>
          </a:p>
          <a:p>
            <a:pPr algn="just"/>
            <a:r>
              <a:rPr lang="es-BO" dirty="0" smtClean="0"/>
              <a:t>1982  </a:t>
            </a:r>
            <a:r>
              <a:rPr lang="es-BO" dirty="0"/>
              <a:t>En 1982 (se celebra la 5ª conferencia) nace formalmente la NANDA: con el fin de desarrollar, depurar y promover una taxonomía de Diagnósticos de Enfermería (la Presidenta es la Dra. Marjory Gordon</a:t>
            </a:r>
            <a:r>
              <a:rPr lang="es-BO" dirty="0" smtClean="0"/>
              <a:t>)</a:t>
            </a:r>
          </a:p>
          <a:p>
            <a:pPr algn="just"/>
            <a:r>
              <a:rPr lang="es-BO" dirty="0"/>
              <a:t>En 1986 (7ª conferencia) la NANDA se establece un mecanismo formal (una guía) para la revisión y aprobación de los nuevos diagnósticos, allí nació la Taxonomía I de la NANDA, basada en los Patrones de Respuesta Humana de la Dra. Marjory Gordon</a:t>
            </a:r>
            <a:r>
              <a:rPr lang="es-BO" dirty="0" smtClean="0"/>
              <a:t>.</a:t>
            </a:r>
            <a:r>
              <a:rPr lang="es-BO" dirty="0"/>
              <a:t> </a:t>
            </a:r>
            <a:endParaRPr lang="es-BO" dirty="0" smtClean="0"/>
          </a:p>
          <a:p>
            <a:pPr algn="just"/>
            <a:r>
              <a:rPr lang="es-BO" dirty="0" smtClean="0"/>
              <a:t>En </a:t>
            </a:r>
            <a:r>
              <a:rPr lang="es-BO" dirty="0"/>
              <a:t>1988 (8ª conferencia) se presenta la taxonomía a la OMS con la intención de incluir los Diagnósticos de Enfermería en la Clasificación Internacional de Enfermedades. La OMS no los acepta y recomienda incrementar los esfuerzos para organizarse y trabajar la Taxonomía Diagnóstica Enfermera a Nivel Internacional</a:t>
            </a:r>
            <a:r>
              <a:rPr lang="es-BO" dirty="0" smtClean="0"/>
              <a:t>.</a:t>
            </a:r>
          </a:p>
          <a:p>
            <a:pPr algn="just"/>
            <a:r>
              <a:rPr lang="es-BO" dirty="0"/>
              <a:t>En 1990 (9ª conferencia) aparecen problemas al intentar clasificar nuevos diagnósticos, en vista de ello se decide crear una nueva estructura taxonómica, se empieza a gestar Taxonomía II de la NANDA</a:t>
            </a:r>
            <a:r>
              <a:rPr lang="es-BO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670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548680"/>
            <a:ext cx="8686800" cy="5531445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BO" dirty="0"/>
              <a:t>En 1994 (11º conferencia) se identifica la permanente colaboración entre NANDA, ANA (Asociación Americana de Enfermeras) y el CIE (Consejo Internacional de Enfermeras) y se realiza la Clasificación en base a los PATRONES FUNCIONALES DE SALUD. Estos PATRONES pasan a denominarse DOMINIOS (Taxonomía II)</a:t>
            </a:r>
          </a:p>
          <a:p>
            <a:pPr algn="just"/>
            <a:r>
              <a:rPr lang="es-BO" dirty="0" smtClean="0"/>
              <a:t>En </a:t>
            </a:r>
            <a:r>
              <a:rPr lang="es-BO" dirty="0"/>
              <a:t>1996 (12ª conferencia) aparece los sistemas de </a:t>
            </a:r>
            <a:r>
              <a:rPr lang="es-BO" dirty="0" err="1"/>
              <a:t>clasificación:N.I.C</a:t>
            </a:r>
            <a:r>
              <a:rPr lang="es-BO" dirty="0"/>
              <a:t>: Sistema de Clasificación de Intervenciones de Enfermería. Para cada diagnóstico de Enfermería plantea actividades. Propone más de 300 tipos de </a:t>
            </a:r>
            <a:r>
              <a:rPr lang="es-BO" dirty="0" smtClean="0"/>
              <a:t>actividades. N.O.C</a:t>
            </a:r>
            <a:r>
              <a:rPr lang="es-BO" dirty="0"/>
              <a:t>: Sistema de Clasificación de Resultados.</a:t>
            </a:r>
          </a:p>
          <a:p>
            <a:pPr algn="just"/>
            <a:r>
              <a:rPr lang="es-BO" dirty="0"/>
              <a:t>En 1996, en España, aparece AENTDE (Asociación Española de Nomenclatura, Taxonomía y Diagnóstico de Enfermería), es una sociedad científica española, que se </a:t>
            </a:r>
            <a:r>
              <a:rPr lang="es-BO" dirty="0" err="1"/>
              <a:t>dió</a:t>
            </a:r>
            <a:r>
              <a:rPr lang="es-BO" dirty="0"/>
              <a:t> a conocer en el I </a:t>
            </a:r>
            <a:r>
              <a:rPr lang="es-BO" dirty="0" err="1"/>
              <a:t>Simposium</a:t>
            </a:r>
            <a:r>
              <a:rPr lang="es-BO" dirty="0"/>
              <a:t> Internacional de Diagnósticos de Enfermería, celebrado en Barcelona (mayo 1996)</a:t>
            </a:r>
          </a:p>
          <a:p>
            <a:pPr algn="just"/>
            <a:r>
              <a:rPr lang="es-BO" dirty="0"/>
              <a:t>En 2002 NANDA se convierte en NANDA INTERNACIONAL</a:t>
            </a:r>
            <a:r>
              <a:rPr lang="es-BO" dirty="0" smtClean="0"/>
              <a:t>.</a:t>
            </a:r>
            <a:r>
              <a:rPr lang="es-BO" dirty="0"/>
              <a:t> La 18ª conferencia de la NANDA se celebró los días 13 a 15 de noviembre de 2008, en Miami, Florida, EEUU.</a:t>
            </a:r>
          </a:p>
          <a:p>
            <a:pPr algn="just"/>
            <a:r>
              <a:rPr lang="es-BO" dirty="0"/>
              <a:t>La 19ª conferencia (año 2010) se celebró en Madrid, Conferencia conjunta NANDA-AENTDE.</a:t>
            </a:r>
          </a:p>
          <a:p>
            <a:pPr algn="just"/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41772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04800" y="620688"/>
            <a:ext cx="8686800" cy="545943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BO" dirty="0" smtClean="0"/>
              <a:t>La </a:t>
            </a:r>
            <a:r>
              <a:rPr lang="es-BO" dirty="0"/>
              <a:t>20 Conferencia Bienal, coincide con el 40º Aniversario de NANDA-I, y se celebró del 23 al 26 de Mayo de 2012 en Houston, Texas, EE.UU.</a:t>
            </a:r>
          </a:p>
          <a:p>
            <a:pPr algn="just"/>
            <a:r>
              <a:rPr lang="es-BO" dirty="0"/>
              <a:t>La Taxonomía II de la NANDA tiene un diseño </a:t>
            </a:r>
            <a:r>
              <a:rPr lang="es-BO" dirty="0" err="1"/>
              <a:t>multiaxial</a:t>
            </a:r>
            <a:r>
              <a:rPr lang="es-BO" dirty="0"/>
              <a:t>, lo que mejora sustancialmente la flexibilidad de la nomenclatura y permite, por una parte, hacer adiciones y modificaciones y, por otra, facilitar la inclusión en los sistemas informáticos.</a:t>
            </a:r>
          </a:p>
          <a:p>
            <a:pPr algn="just"/>
            <a:r>
              <a:rPr lang="es-BO" dirty="0"/>
              <a:t>El trabajo de la NANDA se publica cada año, en la edición 2008-2010, cuenta con 13 dominios, 47 clases y 188 diagnósticos (16 de nueva creación</a:t>
            </a:r>
            <a:r>
              <a:rPr lang="es-BO" dirty="0" smtClean="0"/>
              <a:t>)</a:t>
            </a:r>
          </a:p>
          <a:p>
            <a:pPr algn="just"/>
            <a:r>
              <a:rPr lang="es-BO" dirty="0"/>
              <a:t>En la edición 2010-2012, permanecen los 13 dominios y 47 clases, se establecen 206 diagnósticos enfermeros (18 de nueva creación y eliminación de 8 diagnósticos)</a:t>
            </a:r>
          </a:p>
          <a:p>
            <a:pPr algn="just"/>
            <a:r>
              <a:rPr lang="es-BO" dirty="0"/>
              <a:t>En la edición 2012-2014, se incorporan 16 nuevos diagnósticos.</a:t>
            </a:r>
          </a:p>
          <a:p>
            <a:pPr algn="just"/>
            <a:r>
              <a:rPr lang="es-BO" dirty="0"/>
              <a:t>En la actualidad (edición 2012-2014) el último diagnóstico aprobado por la NANDA tiene el código 00230, sin embargo en la taxonomía hay un total de 216 diagnósticos activos.</a:t>
            </a:r>
          </a:p>
          <a:p>
            <a:pPr algn="just"/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09653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>
            <a:normAutofit/>
          </a:bodyPr>
          <a:lstStyle/>
          <a:p>
            <a:r>
              <a:rPr lang="es-BO" dirty="0" smtClean="0"/>
              <a:t>TAXONOMIA DE DX DE </a:t>
            </a:r>
            <a:r>
              <a:rPr lang="es-BO" dirty="0" smtClean="0">
                <a:solidFill>
                  <a:srgbClr val="92D050"/>
                </a:solidFill>
              </a:rPr>
              <a:t>ENFERMERIA</a:t>
            </a:r>
            <a:endParaRPr lang="es-BO" dirty="0">
              <a:solidFill>
                <a:srgbClr val="92D05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BO" dirty="0" smtClean="0"/>
              <a:t>Es un tipo de estudio teórico de las clasificaciones ,incluyendo sus fundamentos, principios, procedimientos y normas</a:t>
            </a:r>
          </a:p>
          <a:p>
            <a:pPr algn="just"/>
            <a:r>
              <a:rPr lang="es-BO" dirty="0" smtClean="0"/>
              <a:t>Proporciona terminología propia, estructura, definida basada en los fenómenos propios que la enfermera percibe de la persona a su </a:t>
            </a:r>
            <a:r>
              <a:rPr lang="es-BO" dirty="0" smtClean="0"/>
              <a:t>cargo 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70157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s-BO" dirty="0" smtClean="0"/>
              <a:t>DIRECTRICES PARA LA ELABORACIÓN DE PROTOCOLOS DE ENFERMERIA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pPr marL="0" indent="0" algn="just">
              <a:buNone/>
            </a:pPr>
            <a:r>
              <a:rPr lang="es-BO" dirty="0" smtClean="0"/>
              <a:t>Es tan importante la elaboración de protocolos de enfermería con las </a:t>
            </a:r>
            <a:r>
              <a:rPr lang="es-BO" dirty="0" err="1" smtClean="0"/>
              <a:t>taxonomias</a:t>
            </a:r>
            <a:r>
              <a:rPr lang="es-BO" dirty="0" smtClean="0"/>
              <a:t> NANDA (asociación Norteamericana de diagnósticos de enfermería),NIC (clasificación de resultados de enfermería) y NOC (clasificación de intervenciones de enfermería). En pacientes con enfermedad  recto-anal?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27641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s-BO" sz="3100" dirty="0"/>
              <a:t>EL DIAGNOSTICO DE ENFERMERIA </a:t>
            </a:r>
            <a:r>
              <a:rPr lang="es-BO" sz="2000" dirty="0"/>
              <a:t/>
            </a:r>
            <a:br>
              <a:rPr lang="es-BO" sz="2000" dirty="0"/>
            </a:br>
            <a:endParaRPr lang="es-BO" sz="2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s-BO" dirty="0" smtClean="0"/>
              <a:t> </a:t>
            </a:r>
            <a:r>
              <a:rPr lang="es-BO" dirty="0"/>
              <a:t>“Es un Juicio Clínico sobre las respuestas de un individuo, familia o comunidad a problemas de salud</a:t>
            </a:r>
            <a:r>
              <a:rPr lang="es-BO" dirty="0" smtClean="0"/>
              <a:t>, </a:t>
            </a:r>
            <a:r>
              <a:rPr lang="es-BO" dirty="0"/>
              <a:t>que afecten en forma real o </a:t>
            </a:r>
            <a:r>
              <a:rPr lang="es-BO" dirty="0" smtClean="0"/>
              <a:t>potencial.</a:t>
            </a:r>
            <a:endParaRPr lang="es-BO" dirty="0"/>
          </a:p>
          <a:p>
            <a:pPr algn="just"/>
            <a:r>
              <a:rPr lang="es-BO" dirty="0"/>
              <a:t>Los diagnósticos de enfermería proporcionan la base para seleccionar las intervenciones de enfermería destinadas a conseguir resultados de los que es responsable el personal de enfermería </a:t>
            </a:r>
          </a:p>
          <a:p>
            <a:pPr algn="just"/>
            <a:endParaRPr lang="es-BO" dirty="0" smtClean="0"/>
          </a:p>
        </p:txBody>
      </p:sp>
    </p:spTree>
    <p:extLst>
      <p:ext uri="{BB962C8B-B14F-4D97-AF65-F5344CB8AC3E}">
        <p14:creationId xmlns:p14="http://schemas.microsoft.com/office/powerpoint/2010/main" val="331096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s-BO" sz="2800" dirty="0"/>
              <a:t>Es muy importante la inclusión de diagnósticos de enfermería en los protocolos de atención en las distintas </a:t>
            </a:r>
            <a:r>
              <a:rPr lang="es-BO" sz="2800" dirty="0" smtClean="0"/>
              <a:t>etapas de procesos de atención  </a:t>
            </a:r>
            <a:r>
              <a:rPr lang="es-BO" sz="2800" dirty="0"/>
              <a:t>de </a:t>
            </a:r>
            <a:r>
              <a:rPr lang="es-BO" sz="2800" dirty="0" smtClean="0"/>
              <a:t>enfermería :</a:t>
            </a:r>
            <a:endParaRPr lang="es-BO" sz="2800" dirty="0"/>
          </a:p>
          <a:p>
            <a:r>
              <a:rPr lang="es-BO" sz="2800" dirty="0"/>
              <a:t>Pre-quirúrgicas en salas de hospitalización.</a:t>
            </a:r>
          </a:p>
          <a:p>
            <a:r>
              <a:rPr lang="es-BO" sz="2800" dirty="0"/>
              <a:t>Pre-quirúrgicas en quirófano</a:t>
            </a:r>
          </a:p>
          <a:p>
            <a:r>
              <a:rPr lang="es-BO" sz="2800" dirty="0" err="1"/>
              <a:t>Trans</a:t>
            </a:r>
            <a:r>
              <a:rPr lang="es-BO" sz="2800" dirty="0"/>
              <a:t>-operatorias</a:t>
            </a:r>
          </a:p>
          <a:p>
            <a:r>
              <a:rPr lang="es-BO" sz="2800" dirty="0"/>
              <a:t>Post-</a:t>
            </a:r>
            <a:r>
              <a:rPr lang="es-BO" sz="2800" dirty="0" err="1"/>
              <a:t>quirurgicas</a:t>
            </a:r>
            <a:r>
              <a:rPr lang="es-BO" sz="2800" dirty="0"/>
              <a:t> inmediatas en el servicio de quirófano</a:t>
            </a:r>
          </a:p>
          <a:p>
            <a:r>
              <a:rPr lang="es-BO" sz="2800" dirty="0"/>
              <a:t>Mediatas en las salas de hospitalización</a:t>
            </a:r>
            <a:r>
              <a:rPr lang="es-BO" sz="2800" dirty="0" smtClean="0"/>
              <a:t>.</a:t>
            </a:r>
          </a:p>
          <a:p>
            <a:r>
              <a:rPr lang="es-BO" sz="2800" dirty="0" smtClean="0"/>
              <a:t>Cuidados en forma ambulatoria</a:t>
            </a:r>
          </a:p>
          <a:p>
            <a:endParaRPr lang="es-BO" sz="2800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15679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1875" y="274504"/>
            <a:ext cx="1738536" cy="1143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s-BO" sz="1600" dirty="0" smtClean="0">
                <a:latin typeface="Adobe Heiti Std R" pitchFamily="34" charset="-128"/>
                <a:ea typeface="Adobe Heiti Std R" pitchFamily="34" charset="-128"/>
              </a:rPr>
              <a:t>JUSTIFICACION</a:t>
            </a:r>
            <a:endParaRPr lang="es-BO" sz="1600" dirty="0">
              <a:latin typeface="Adobe Heiti Std R" pitchFamily="34" charset="-128"/>
              <a:ea typeface="Adobe Heiti Std R" pitchFamily="34" charset="-128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323528" y="1700808"/>
            <a:ext cx="2232248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BO" dirty="0" smtClean="0"/>
              <a:t>Permite a las enfermeras prestar cuidados oportunos</a:t>
            </a:r>
          </a:p>
          <a:p>
            <a:r>
              <a:rPr lang="es-BO" dirty="0" smtClean="0"/>
              <a:t>Y adecuados </a:t>
            </a:r>
            <a:endParaRPr lang="es-BO" dirty="0"/>
          </a:p>
        </p:txBody>
      </p:sp>
      <p:sp>
        <p:nvSpPr>
          <p:cNvPr id="9" name="8 CuadroTexto"/>
          <p:cNvSpPr txBox="1"/>
          <p:nvPr/>
        </p:nvSpPr>
        <p:spPr>
          <a:xfrm>
            <a:off x="3745632" y="651007"/>
            <a:ext cx="267913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Elaboración de protocolos </a:t>
            </a:r>
            <a:endParaRPr lang="es-BO" dirty="0"/>
          </a:p>
        </p:txBody>
      </p:sp>
      <p:sp>
        <p:nvSpPr>
          <p:cNvPr id="11" name="10 CuadroTexto"/>
          <p:cNvSpPr txBox="1"/>
          <p:nvPr/>
        </p:nvSpPr>
        <p:spPr>
          <a:xfrm>
            <a:off x="7670904" y="428604"/>
            <a:ext cx="1473096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TAXONOMIAS</a:t>
            </a:r>
            <a:endParaRPr lang="es-BO" dirty="0"/>
          </a:p>
        </p:txBody>
      </p:sp>
      <p:sp>
        <p:nvSpPr>
          <p:cNvPr id="12" name="11 CuadroTexto"/>
          <p:cNvSpPr txBox="1"/>
          <p:nvPr/>
        </p:nvSpPr>
        <p:spPr>
          <a:xfrm>
            <a:off x="7286644" y="1285860"/>
            <a:ext cx="1512168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BO" dirty="0" smtClean="0"/>
              <a:t>NANDA,NIC</a:t>
            </a:r>
          </a:p>
          <a:p>
            <a:r>
              <a:rPr lang="es-BO" dirty="0" smtClean="0"/>
              <a:t> </a:t>
            </a:r>
            <a:r>
              <a:rPr lang="es-BO" dirty="0" smtClean="0"/>
              <a:t>Y NOC</a:t>
            </a:r>
            <a:endParaRPr lang="es-BO" dirty="0"/>
          </a:p>
        </p:txBody>
      </p:sp>
      <p:sp>
        <p:nvSpPr>
          <p:cNvPr id="13" name="12 CuadroTexto"/>
          <p:cNvSpPr txBox="1"/>
          <p:nvPr/>
        </p:nvSpPr>
        <p:spPr>
          <a:xfrm>
            <a:off x="5004048" y="2780928"/>
            <a:ext cx="117872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pertinente</a:t>
            </a:r>
            <a:endParaRPr lang="es-BO" dirty="0"/>
          </a:p>
        </p:txBody>
      </p:sp>
      <p:sp>
        <p:nvSpPr>
          <p:cNvPr id="15" name="14 CuadroTexto"/>
          <p:cNvSpPr txBox="1"/>
          <p:nvPr/>
        </p:nvSpPr>
        <p:spPr>
          <a:xfrm>
            <a:off x="6598296" y="2758128"/>
            <a:ext cx="2441822" cy="7386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just"/>
            <a:r>
              <a:rPr lang="es-BO" sz="1400" dirty="0" err="1" smtClean="0"/>
              <a:t>Dx</a:t>
            </a:r>
            <a:r>
              <a:rPr lang="es-BO" sz="1400" dirty="0" smtClean="0"/>
              <a:t> </a:t>
            </a:r>
            <a:r>
              <a:rPr lang="es-BO" sz="1400" dirty="0" err="1" smtClean="0"/>
              <a:t>preoporciona</a:t>
            </a:r>
            <a:r>
              <a:rPr lang="es-BO" sz="1400" dirty="0" smtClean="0"/>
              <a:t> Un </a:t>
            </a:r>
            <a:r>
              <a:rPr lang="es-BO" sz="1400" dirty="0" err="1"/>
              <a:t>vehiculo</a:t>
            </a:r>
            <a:r>
              <a:rPr lang="es-BO" sz="1400" dirty="0"/>
              <a:t> </a:t>
            </a:r>
            <a:endParaRPr lang="es-BO" sz="1400" dirty="0" smtClean="0"/>
          </a:p>
          <a:p>
            <a:pPr algn="just"/>
            <a:r>
              <a:rPr lang="es-BO" sz="1400" dirty="0" smtClean="0"/>
              <a:t>entre un enfermero </a:t>
            </a:r>
          </a:p>
          <a:p>
            <a:pPr algn="just"/>
            <a:r>
              <a:rPr lang="es-BO" sz="1400" dirty="0" smtClean="0"/>
              <a:t>Y otros profesionales</a:t>
            </a:r>
            <a:endParaRPr lang="es-BO" sz="1400" dirty="0" smtClean="0"/>
          </a:p>
        </p:txBody>
      </p:sp>
      <p:sp>
        <p:nvSpPr>
          <p:cNvPr id="17" name="16 CuadroTexto"/>
          <p:cNvSpPr txBox="1"/>
          <p:nvPr/>
        </p:nvSpPr>
        <p:spPr>
          <a:xfrm>
            <a:off x="7312964" y="3975303"/>
            <a:ext cx="1608479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BO" sz="1400" dirty="0" smtClean="0"/>
              <a:t>Mejorar la atención directa </a:t>
            </a:r>
            <a:endParaRPr lang="es-BO" sz="1400" dirty="0"/>
          </a:p>
        </p:txBody>
      </p:sp>
      <p:sp>
        <p:nvSpPr>
          <p:cNvPr id="18" name="17 CuadroTexto"/>
          <p:cNvSpPr txBox="1"/>
          <p:nvPr/>
        </p:nvSpPr>
        <p:spPr>
          <a:xfrm>
            <a:off x="967758" y="3150260"/>
            <a:ext cx="727763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lógica</a:t>
            </a:r>
            <a:endParaRPr lang="es-BO" dirty="0"/>
          </a:p>
        </p:txBody>
      </p:sp>
      <p:sp>
        <p:nvSpPr>
          <p:cNvPr id="19" name="18 CuadroTexto"/>
          <p:cNvSpPr txBox="1"/>
          <p:nvPr/>
        </p:nvSpPr>
        <p:spPr>
          <a:xfrm>
            <a:off x="933680" y="3677223"/>
            <a:ext cx="928524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racional</a:t>
            </a:r>
            <a:endParaRPr lang="es-BO" dirty="0"/>
          </a:p>
        </p:txBody>
      </p:sp>
      <p:sp>
        <p:nvSpPr>
          <p:cNvPr id="20" name="19 CuadroTexto"/>
          <p:cNvSpPr txBox="1"/>
          <p:nvPr/>
        </p:nvSpPr>
        <p:spPr>
          <a:xfrm>
            <a:off x="901023" y="4230960"/>
            <a:ext cx="1080120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BO" sz="1600" dirty="0" smtClean="0"/>
              <a:t>ordenad</a:t>
            </a:r>
            <a:r>
              <a:rPr lang="es-BO" dirty="0" smtClean="0"/>
              <a:t>a</a:t>
            </a:r>
            <a:endParaRPr lang="es-BO" dirty="0"/>
          </a:p>
        </p:txBody>
      </p:sp>
      <p:sp>
        <p:nvSpPr>
          <p:cNvPr id="21" name="20 CuadroTexto"/>
          <p:cNvSpPr txBox="1"/>
          <p:nvPr/>
        </p:nvSpPr>
        <p:spPr>
          <a:xfrm>
            <a:off x="2628763" y="3582367"/>
            <a:ext cx="1151149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valoración</a:t>
            </a:r>
            <a:endParaRPr lang="es-BO" dirty="0"/>
          </a:p>
        </p:txBody>
      </p:sp>
      <p:sp>
        <p:nvSpPr>
          <p:cNvPr id="22" name="21 CuadroTexto"/>
          <p:cNvSpPr txBox="1"/>
          <p:nvPr/>
        </p:nvSpPr>
        <p:spPr>
          <a:xfrm>
            <a:off x="2622623" y="4089524"/>
            <a:ext cx="1156214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sz="1600" dirty="0" smtClean="0"/>
              <a:t>Método de </a:t>
            </a:r>
          </a:p>
          <a:p>
            <a:r>
              <a:rPr lang="es-BO" sz="1600" dirty="0" smtClean="0"/>
              <a:t>enfermería</a:t>
            </a:r>
            <a:endParaRPr lang="es-BO" sz="1600" dirty="0"/>
          </a:p>
        </p:txBody>
      </p:sp>
      <p:sp>
        <p:nvSpPr>
          <p:cNvPr id="23" name="22 CuadroTexto"/>
          <p:cNvSpPr txBox="1"/>
          <p:nvPr/>
        </p:nvSpPr>
        <p:spPr>
          <a:xfrm>
            <a:off x="4030179" y="4830543"/>
            <a:ext cx="957570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correcta</a:t>
            </a:r>
            <a:endParaRPr lang="es-BO" dirty="0"/>
          </a:p>
        </p:txBody>
      </p:sp>
      <p:sp>
        <p:nvSpPr>
          <p:cNvPr id="24" name="23 CuadroTexto"/>
          <p:cNvSpPr txBox="1"/>
          <p:nvPr/>
        </p:nvSpPr>
        <p:spPr>
          <a:xfrm>
            <a:off x="4003802" y="4281690"/>
            <a:ext cx="957634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holística</a:t>
            </a:r>
            <a:endParaRPr lang="es-BO" dirty="0"/>
          </a:p>
        </p:txBody>
      </p:sp>
      <p:sp>
        <p:nvSpPr>
          <p:cNvPr id="25" name="24 CuadroTexto"/>
          <p:cNvSpPr txBox="1"/>
          <p:nvPr/>
        </p:nvSpPr>
        <p:spPr>
          <a:xfrm>
            <a:off x="6286512" y="4429132"/>
            <a:ext cx="668453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físico</a:t>
            </a:r>
            <a:endParaRPr lang="es-BO" dirty="0"/>
          </a:p>
        </p:txBody>
      </p:sp>
      <p:sp>
        <p:nvSpPr>
          <p:cNvPr id="26" name="25 CuadroTexto"/>
          <p:cNvSpPr txBox="1"/>
          <p:nvPr/>
        </p:nvSpPr>
        <p:spPr>
          <a:xfrm>
            <a:off x="5962281" y="5015209"/>
            <a:ext cx="1220014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psicológico</a:t>
            </a:r>
            <a:endParaRPr lang="es-BO" dirty="0"/>
          </a:p>
        </p:txBody>
      </p:sp>
      <p:sp>
        <p:nvSpPr>
          <p:cNvPr id="27" name="26 CuadroTexto"/>
          <p:cNvSpPr txBox="1"/>
          <p:nvPr/>
        </p:nvSpPr>
        <p:spPr>
          <a:xfrm>
            <a:off x="6267750" y="5465074"/>
            <a:ext cx="71045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social</a:t>
            </a:r>
            <a:endParaRPr lang="es-BO" dirty="0"/>
          </a:p>
        </p:txBody>
      </p:sp>
      <p:cxnSp>
        <p:nvCxnSpPr>
          <p:cNvPr id="30" name="29 Conector recto de flecha"/>
          <p:cNvCxnSpPr/>
          <p:nvPr/>
        </p:nvCxnSpPr>
        <p:spPr>
          <a:xfrm>
            <a:off x="1695521" y="1369368"/>
            <a:ext cx="0" cy="331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467544" y="2909265"/>
            <a:ext cx="0" cy="1518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 de flecha"/>
          <p:cNvCxnSpPr>
            <a:endCxn id="20" idx="1"/>
          </p:cNvCxnSpPr>
          <p:nvPr/>
        </p:nvCxnSpPr>
        <p:spPr>
          <a:xfrm flipV="1">
            <a:off x="467544" y="4415626"/>
            <a:ext cx="433479" cy="119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>
            <a:endCxn id="19" idx="1"/>
          </p:cNvCxnSpPr>
          <p:nvPr/>
        </p:nvCxnSpPr>
        <p:spPr>
          <a:xfrm>
            <a:off x="467544" y="3861889"/>
            <a:ext cx="466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 de flecha"/>
          <p:cNvCxnSpPr>
            <a:endCxn id="18" idx="1"/>
          </p:cNvCxnSpPr>
          <p:nvPr/>
        </p:nvCxnSpPr>
        <p:spPr>
          <a:xfrm>
            <a:off x="467544" y="3316342"/>
            <a:ext cx="500214" cy="185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 de flecha"/>
          <p:cNvCxnSpPr>
            <a:stCxn id="2" idx="3"/>
          </p:cNvCxnSpPr>
          <p:nvPr/>
        </p:nvCxnSpPr>
        <p:spPr>
          <a:xfrm>
            <a:off x="2850411" y="846004"/>
            <a:ext cx="89522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 de flecha"/>
          <p:cNvCxnSpPr>
            <a:stCxn id="9" idx="3"/>
          </p:cNvCxnSpPr>
          <p:nvPr/>
        </p:nvCxnSpPr>
        <p:spPr>
          <a:xfrm flipV="1">
            <a:off x="6424763" y="651007"/>
            <a:ext cx="1171573" cy="184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 de flecha"/>
          <p:cNvCxnSpPr/>
          <p:nvPr/>
        </p:nvCxnSpPr>
        <p:spPr>
          <a:xfrm rot="16200000" flipH="1">
            <a:off x="7767314" y="986577"/>
            <a:ext cx="349029" cy="472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"/>
          <p:cNvCxnSpPr/>
          <p:nvPr/>
        </p:nvCxnSpPr>
        <p:spPr>
          <a:xfrm>
            <a:off x="2850411" y="1184702"/>
            <a:ext cx="65405" cy="1798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 de flecha"/>
          <p:cNvCxnSpPr/>
          <p:nvPr/>
        </p:nvCxnSpPr>
        <p:spPr>
          <a:xfrm>
            <a:off x="2915816" y="2982874"/>
            <a:ext cx="20882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 de flecha"/>
          <p:cNvCxnSpPr/>
          <p:nvPr/>
        </p:nvCxnSpPr>
        <p:spPr>
          <a:xfrm>
            <a:off x="6286512" y="3039203"/>
            <a:ext cx="33646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"/>
          <p:cNvCxnSpPr>
            <a:stCxn id="13" idx="2"/>
          </p:cNvCxnSpPr>
          <p:nvPr/>
        </p:nvCxnSpPr>
        <p:spPr>
          <a:xfrm>
            <a:off x="5593409" y="3150260"/>
            <a:ext cx="0" cy="9771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84 Conector recto de flecha"/>
          <p:cNvCxnSpPr>
            <a:endCxn id="17" idx="1"/>
          </p:cNvCxnSpPr>
          <p:nvPr/>
        </p:nvCxnSpPr>
        <p:spPr>
          <a:xfrm>
            <a:off x="5593409" y="4033375"/>
            <a:ext cx="1719555" cy="2035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>
            <a:stCxn id="18" idx="3"/>
          </p:cNvCxnSpPr>
          <p:nvPr/>
        </p:nvCxnSpPr>
        <p:spPr>
          <a:xfrm>
            <a:off x="1695521" y="3334926"/>
            <a:ext cx="860255" cy="432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>
            <a:stCxn id="19" idx="3"/>
            <a:endCxn id="21" idx="1"/>
          </p:cNvCxnSpPr>
          <p:nvPr/>
        </p:nvCxnSpPr>
        <p:spPr>
          <a:xfrm flipV="1">
            <a:off x="1862204" y="3767033"/>
            <a:ext cx="766559" cy="94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96 Conector recto de flecha"/>
          <p:cNvCxnSpPr>
            <a:stCxn id="20" idx="3"/>
            <a:endCxn id="21" idx="1"/>
          </p:cNvCxnSpPr>
          <p:nvPr/>
        </p:nvCxnSpPr>
        <p:spPr>
          <a:xfrm flipV="1">
            <a:off x="1981143" y="3767033"/>
            <a:ext cx="647620" cy="6485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100 Conector recto de flecha"/>
          <p:cNvCxnSpPr>
            <a:stCxn id="21" idx="2"/>
            <a:endCxn id="22" idx="0"/>
          </p:cNvCxnSpPr>
          <p:nvPr/>
        </p:nvCxnSpPr>
        <p:spPr>
          <a:xfrm flipH="1">
            <a:off x="3200730" y="3951699"/>
            <a:ext cx="3608" cy="1378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103 Conector recto de flecha"/>
          <p:cNvCxnSpPr/>
          <p:nvPr/>
        </p:nvCxnSpPr>
        <p:spPr>
          <a:xfrm>
            <a:off x="3784979" y="4402026"/>
            <a:ext cx="17495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106 Conector recto de flecha"/>
          <p:cNvCxnSpPr>
            <a:stCxn id="24" idx="3"/>
            <a:endCxn id="25" idx="1"/>
          </p:cNvCxnSpPr>
          <p:nvPr/>
        </p:nvCxnSpPr>
        <p:spPr>
          <a:xfrm>
            <a:off x="4961436" y="4466356"/>
            <a:ext cx="1325076" cy="1474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111 Conector recto"/>
          <p:cNvCxnSpPr/>
          <p:nvPr/>
        </p:nvCxnSpPr>
        <p:spPr>
          <a:xfrm>
            <a:off x="3419872" y="4719919"/>
            <a:ext cx="0" cy="327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115 Conector recto de flecha"/>
          <p:cNvCxnSpPr>
            <a:endCxn id="23" idx="1"/>
          </p:cNvCxnSpPr>
          <p:nvPr/>
        </p:nvCxnSpPr>
        <p:spPr>
          <a:xfrm>
            <a:off x="3419872" y="5015209"/>
            <a:ext cx="61030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120 Conector recto de flecha"/>
          <p:cNvCxnSpPr>
            <a:stCxn id="24" idx="3"/>
            <a:endCxn id="26" idx="1"/>
          </p:cNvCxnSpPr>
          <p:nvPr/>
        </p:nvCxnSpPr>
        <p:spPr>
          <a:xfrm>
            <a:off x="4961436" y="4466356"/>
            <a:ext cx="1000845" cy="7335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124 Conector recto de flecha"/>
          <p:cNvCxnSpPr>
            <a:stCxn id="24" idx="3"/>
            <a:endCxn id="27" idx="1"/>
          </p:cNvCxnSpPr>
          <p:nvPr/>
        </p:nvCxnSpPr>
        <p:spPr>
          <a:xfrm>
            <a:off x="4961436" y="4466356"/>
            <a:ext cx="1306314" cy="11833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 de flecha"/>
          <p:cNvCxnSpPr/>
          <p:nvPr/>
        </p:nvCxnSpPr>
        <p:spPr>
          <a:xfrm flipH="1">
            <a:off x="8117203" y="3638818"/>
            <a:ext cx="1" cy="3817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 de flecha"/>
          <p:cNvCxnSpPr>
            <a:stCxn id="12" idx="2"/>
          </p:cNvCxnSpPr>
          <p:nvPr/>
        </p:nvCxnSpPr>
        <p:spPr>
          <a:xfrm>
            <a:off x="8042728" y="1932191"/>
            <a:ext cx="0" cy="8259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57 CuadroTexto"/>
          <p:cNvSpPr txBox="1"/>
          <p:nvPr/>
        </p:nvSpPr>
        <p:spPr>
          <a:xfrm>
            <a:off x="7396301" y="4941854"/>
            <a:ext cx="1352163" cy="9541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BO" sz="1400" dirty="0" smtClean="0"/>
              <a:t>Mediante un proceso de atención de enfermería </a:t>
            </a:r>
            <a:endParaRPr lang="es-BO" sz="1400" dirty="0"/>
          </a:p>
        </p:txBody>
      </p:sp>
      <p:cxnSp>
        <p:nvCxnSpPr>
          <p:cNvPr id="59" name="58 Conector recto de flecha"/>
          <p:cNvCxnSpPr>
            <a:stCxn id="17" idx="2"/>
            <a:endCxn id="58" idx="0"/>
          </p:cNvCxnSpPr>
          <p:nvPr/>
        </p:nvCxnSpPr>
        <p:spPr>
          <a:xfrm flipH="1">
            <a:off x="8072383" y="4498523"/>
            <a:ext cx="44821" cy="4433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22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5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857232"/>
            <a:ext cx="8229600" cy="1143000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s-BO" dirty="0" smtClean="0"/>
              <a:t>OBJETIVO GENERAL</a:t>
            </a:r>
            <a:br>
              <a:rPr lang="es-BO" dirty="0" smtClean="0"/>
            </a:br>
            <a:endParaRPr lang="es-BO" dirty="0"/>
          </a:p>
        </p:txBody>
      </p:sp>
      <p:sp>
        <p:nvSpPr>
          <p:cNvPr id="4" name="3 CuadroTexto"/>
          <p:cNvSpPr txBox="1"/>
          <p:nvPr/>
        </p:nvSpPr>
        <p:spPr>
          <a:xfrm>
            <a:off x="571472" y="3286124"/>
            <a:ext cx="7560840" cy="209288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BO" sz="2800" dirty="0" smtClean="0"/>
              <a:t>Protocolizar los cuidados de enfermería para pacientes con enfermedades ano</a:t>
            </a:r>
            <a:r>
              <a:rPr lang="es-BO" sz="2800" dirty="0"/>
              <a:t>-</a:t>
            </a:r>
            <a:r>
              <a:rPr lang="es-BO" sz="2800" dirty="0" smtClean="0"/>
              <a:t>rectales a través de sistema de cuidados prioritarios con las taxonomías NANDA-NIC-NOC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79374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6" y="274638"/>
            <a:ext cx="6840760" cy="994122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s-BO" sz="3200" dirty="0"/>
              <a:t>OBJETIVOS </a:t>
            </a:r>
            <a:r>
              <a:rPr lang="es-BO" sz="3200" dirty="0" smtClean="0"/>
              <a:t>ESPECIFICOS DE </a:t>
            </a:r>
            <a:r>
              <a:rPr lang="es-BO" sz="3200" dirty="0"/>
              <a:t>LOS PROTOCOLOS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lang="es-BO" dirty="0"/>
              <a:t>Garantizar la calidad de atención y de los servicios ligados a la satisfacción del cliente.</a:t>
            </a:r>
          </a:p>
          <a:p>
            <a:r>
              <a:rPr lang="es-BO" dirty="0"/>
              <a:t>Garantizar la eficiencia de los recursos asignados a la producción compra de servicio.</a:t>
            </a:r>
          </a:p>
          <a:p>
            <a:r>
              <a:rPr lang="es-BO" dirty="0"/>
              <a:t>Utilizar de protección legal en casos específicos</a:t>
            </a:r>
          </a:p>
          <a:p>
            <a:r>
              <a:rPr lang="es-BO" dirty="0"/>
              <a:t>Reducir los costos de la atención  de salud de la atención de salud</a:t>
            </a:r>
          </a:p>
          <a:p>
            <a:r>
              <a:rPr lang="es-BO" dirty="0"/>
              <a:t>facilitar las comunicaciones entre el quipo de salud</a:t>
            </a:r>
          </a:p>
          <a:p>
            <a:r>
              <a:rPr lang="es-BO" dirty="0"/>
              <a:t>La de unificar  criterios del equipo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17471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s-ES" b="1" dirty="0" smtClean="0"/>
              <a:t>CONCEPTO DE PROTOCOLO.</a:t>
            </a:r>
            <a:r>
              <a:rPr lang="es-ES" dirty="0" smtClean="0"/>
              <a:t/>
            </a:r>
            <a:br>
              <a:rPr lang="es-ES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/>
          <a:p>
            <a:endParaRPr lang="es-ES" dirty="0" smtClean="0"/>
          </a:p>
          <a:p>
            <a:pPr lvl="1" algn="just"/>
            <a:r>
              <a:rPr lang="es-ES" dirty="0" smtClean="0"/>
              <a:t>Es una guía de atención individualizada para un grupo de pacientes con problemas predecibles, dirigidas al diagnóstico médico y de enfermería, incluyendo los problemas potenciales.</a:t>
            </a:r>
          </a:p>
          <a:p>
            <a:pPr lvl="1" algn="just"/>
            <a:r>
              <a:rPr lang="es-ES" dirty="0" smtClean="0"/>
              <a:t>Es una guía de atención  escrita, organizada en el proceso de atención de enfermería, que presenta problemas reales frecuentes, potenciales y probables de acuerdo a la patología común o más frecuente del servicio</a:t>
            </a:r>
          </a:p>
          <a:p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410395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08472" y="188640"/>
            <a:ext cx="7335936" cy="1143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s-BO" sz="2700" dirty="0" smtClean="0"/>
              <a:t/>
            </a:r>
            <a:br>
              <a:rPr lang="es-BO" sz="2700" dirty="0" smtClean="0"/>
            </a:br>
            <a:r>
              <a:rPr lang="es-BO" sz="2700" dirty="0" smtClean="0"/>
              <a:t/>
            </a:r>
            <a:br>
              <a:rPr lang="es-BO" sz="2700" dirty="0" smtClean="0"/>
            </a:br>
            <a:r>
              <a:rPr lang="es-BO" sz="2700" dirty="0" smtClean="0"/>
              <a:t>PROCESO </a:t>
            </a:r>
            <a:r>
              <a:rPr lang="es-BO" sz="2700" dirty="0"/>
              <a:t>DE ATENCION DE ENFERMERIA </a:t>
            </a:r>
            <a:br>
              <a:rPr lang="es-BO" sz="2700" dirty="0"/>
            </a:br>
            <a:r>
              <a:rPr lang="es-BO" sz="2700" dirty="0"/>
              <a:t>PROTOCOLIZADO</a:t>
            </a: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s-BO" dirty="0"/>
              <a:t>ES UN METODO SISTEMATICO, ORGANIZADO, CICLICO Y CONTINUO QUE PERMITE BRINDAR CUIDADOS ESPECIALIZADOS EN LAS ALTERACIONES  REALES O POTENCIALES DE LA SALUD DEL PACIENTE</a:t>
            </a:r>
          </a:p>
        </p:txBody>
      </p:sp>
    </p:spTree>
    <p:extLst>
      <p:ext uri="{BB962C8B-B14F-4D97-AF65-F5344CB8AC3E}">
        <p14:creationId xmlns:p14="http://schemas.microsoft.com/office/powerpoint/2010/main" val="7588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b="1" dirty="0" smtClean="0"/>
              <a:t> </a:t>
            </a:r>
            <a:r>
              <a:rPr lang="es-ES" dirty="0" smtClean="0"/>
              <a:t>Validez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s-ES" dirty="0" smtClean="0"/>
              <a:t>confiabilidad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s-ES" dirty="0" smtClean="0"/>
              <a:t>Aplicabilidad clínica- uso práctico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s-ES" dirty="0" smtClean="0"/>
              <a:t>Flexibilidad clínica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s-ES" dirty="0" smtClean="0"/>
              <a:t>Claridad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s-ES" dirty="0" smtClean="0"/>
              <a:t>Proceso multidisciplinario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s-ES" dirty="0" smtClean="0"/>
              <a:t>Revisión programada</a:t>
            </a:r>
          </a:p>
          <a:p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3557748" y="188640"/>
            <a:ext cx="1871218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sz="2800" dirty="0" smtClean="0"/>
              <a:t>ATRIBUTOS</a:t>
            </a:r>
            <a:r>
              <a:rPr lang="es-BO" dirty="0" smtClean="0"/>
              <a:t> 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260648"/>
            <a:ext cx="8686800" cy="648072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s-ES" sz="2700" b="1" dirty="0" smtClean="0"/>
              <a:t>POR QUE UN PROTOCOLO</a:t>
            </a:r>
            <a:r>
              <a:rPr lang="es-ES" dirty="0" smtClean="0"/>
              <a:t/>
            </a:r>
            <a:br>
              <a:rPr lang="es-ES" dirty="0" smtClean="0"/>
            </a:br>
            <a:endParaRPr lang="es-BO" dirty="0"/>
          </a:p>
        </p:txBody>
      </p:sp>
      <p:sp>
        <p:nvSpPr>
          <p:cNvPr id="4" name="3 CuadroTexto"/>
          <p:cNvSpPr txBox="1"/>
          <p:nvPr/>
        </p:nvSpPr>
        <p:spPr>
          <a:xfrm>
            <a:off x="395536" y="1643050"/>
            <a:ext cx="8176991" cy="34163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s-ES" sz="2400" dirty="0" smtClean="0"/>
              <a:t>Unifica los criterios de actuación de los trabajadores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s-ES" sz="2400" dirty="0" smtClean="0"/>
              <a:t> Facilita el trabajo, especialmente el de los profesionales de nueva incorporación y la docencia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s-ES" sz="2400" dirty="0" smtClean="0"/>
              <a:t>Abarata costes económicos, ya que estandariza la utilización de los medios y tiempos.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s-ES" sz="2400" dirty="0" smtClean="0"/>
              <a:t>Sistematiza la información, facilitando el registro de las </a:t>
            </a:r>
            <a:r>
              <a:rPr lang="es-ES" sz="2400" dirty="0" smtClean="0"/>
              <a:t>actividades.</a:t>
            </a:r>
            <a:endParaRPr lang="es-ES" sz="2400" dirty="0" smtClean="0"/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s-ES" sz="2400" dirty="0" smtClean="0"/>
              <a:t>Favorece la transmisión de la información referida a la propia actividad y a los resultados de la misma.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567035693"/>
      </p:ext>
    </p:extLst>
  </p:cSld>
  <p:clrMapOvr>
    <a:masterClrMapping/>
  </p:clrMapOvr>
  <p:transition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s-ES_tradnl" sz="2400" dirty="0" smtClean="0"/>
              <a:t>PROTOCOLOS DE ATENCIÓN DE ENFERMERIA  PARA TODOS LOS SERVICIOS</a:t>
            </a:r>
            <a:endParaRPr lang="es-ES" sz="2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77500" lnSpcReduction="2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s-BO" dirty="0" smtClean="0"/>
              <a:t>La elaboración de protocolos de atención de enfermería para   el proceso de atención del paciente </a:t>
            </a:r>
            <a:r>
              <a:rPr lang="es-BO" dirty="0"/>
              <a:t> </a:t>
            </a:r>
            <a:r>
              <a:rPr lang="es-BO" dirty="0" smtClean="0"/>
              <a:t>en los distintos servicios  es muy  importante y necesaria hacia lo que respecta la "buena" práctica de la enfermería. </a:t>
            </a:r>
          </a:p>
          <a:p>
            <a:pPr algn="just">
              <a:buFont typeface="Wingdings" pitchFamily="2" charset="2"/>
              <a:buChar char="§"/>
            </a:pPr>
            <a:endParaRPr lang="es-BO" dirty="0" smtClean="0"/>
          </a:p>
          <a:p>
            <a:pPr algn="just">
              <a:buFont typeface="Wingdings" pitchFamily="2" charset="2"/>
              <a:buChar char="§"/>
            </a:pPr>
            <a:r>
              <a:rPr lang="es-BO" dirty="0" smtClean="0"/>
              <a:t>Si se mejora la calidad  de atención en el proceso de atención de enfermería, se beneficiaran, tanto los pacientes como el personal de enfermería. </a:t>
            </a:r>
          </a:p>
          <a:p>
            <a:pPr algn="just">
              <a:buFont typeface="Wingdings" pitchFamily="2" charset="2"/>
              <a:buChar char="§"/>
            </a:pPr>
            <a:endParaRPr lang="es-BO" dirty="0" smtClean="0"/>
          </a:p>
          <a:p>
            <a:pPr algn="just">
              <a:buFont typeface="Wingdings" pitchFamily="2" charset="2"/>
              <a:buChar char="§"/>
            </a:pPr>
            <a:r>
              <a:rPr lang="es-BO" dirty="0" smtClean="0"/>
              <a:t>Se lograra  mejorar el  trato inadecuado del personal médico a la enfermera.</a:t>
            </a:r>
          </a:p>
          <a:p>
            <a:pPr algn="just">
              <a:buFont typeface="Wingdings" pitchFamily="2" charset="2"/>
              <a:buChar char="§"/>
            </a:pPr>
            <a:r>
              <a:rPr lang="es-BO" dirty="0" smtClean="0"/>
              <a:t>La imagen del servicio de o unidad estará representado positivamente.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3563888" y="188640"/>
            <a:ext cx="2032223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PROTOCOLIZACION </a:t>
            </a:r>
            <a:endParaRPr lang="es-BO" dirty="0"/>
          </a:p>
        </p:txBody>
      </p:sp>
      <p:sp>
        <p:nvSpPr>
          <p:cNvPr id="6" name="5 CuadroTexto"/>
          <p:cNvSpPr txBox="1"/>
          <p:nvPr/>
        </p:nvSpPr>
        <p:spPr>
          <a:xfrm>
            <a:off x="971600" y="836712"/>
            <a:ext cx="1890069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s-BO" dirty="0" smtClean="0"/>
              <a:t>TAXONOMIAS</a:t>
            </a:r>
          </a:p>
          <a:p>
            <a:pPr algn="ctr"/>
            <a:r>
              <a:rPr lang="es-BO" dirty="0" smtClean="0"/>
              <a:t> NANDA- NIC-NOC</a:t>
            </a:r>
            <a:endParaRPr lang="es-BO" dirty="0"/>
          </a:p>
        </p:txBody>
      </p:sp>
      <p:sp>
        <p:nvSpPr>
          <p:cNvPr id="7" name="6 CuadroTexto"/>
          <p:cNvSpPr txBox="1"/>
          <p:nvPr/>
        </p:nvSpPr>
        <p:spPr>
          <a:xfrm>
            <a:off x="3275856" y="975211"/>
            <a:ext cx="211000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MODELO A UTILIZAR</a:t>
            </a:r>
            <a:endParaRPr lang="es-BO" dirty="0"/>
          </a:p>
        </p:txBody>
      </p:sp>
      <p:sp>
        <p:nvSpPr>
          <p:cNvPr id="8" name="7 CuadroTexto"/>
          <p:cNvSpPr txBox="1"/>
          <p:nvPr/>
        </p:nvSpPr>
        <p:spPr>
          <a:xfrm>
            <a:off x="6289895" y="975211"/>
            <a:ext cx="1478803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s-BO" dirty="0" smtClean="0"/>
              <a:t>ESTRUCTURA </a:t>
            </a:r>
            <a:endParaRPr lang="es-BO" dirty="0"/>
          </a:p>
        </p:txBody>
      </p:sp>
      <p:sp>
        <p:nvSpPr>
          <p:cNvPr id="9" name="8 CuadroTexto"/>
          <p:cNvSpPr txBox="1"/>
          <p:nvPr/>
        </p:nvSpPr>
        <p:spPr>
          <a:xfrm>
            <a:off x="1428728" y="2060848"/>
            <a:ext cx="7024315" cy="406265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BO" sz="2000" dirty="0" smtClean="0"/>
              <a:t> </a:t>
            </a:r>
          </a:p>
          <a:p>
            <a:pPr algn="ctr"/>
            <a:endParaRPr lang="es-BO" sz="2000" dirty="0"/>
          </a:p>
          <a:p>
            <a:pPr algn="ctr"/>
            <a:r>
              <a:rPr lang="es-BO" sz="2000" dirty="0" smtClean="0"/>
              <a:t>TITULO DEL PROTOCOLO</a:t>
            </a:r>
          </a:p>
          <a:p>
            <a:pPr marL="342900" indent="-342900">
              <a:buAutoNum type="arabicPeriod"/>
            </a:pPr>
            <a:r>
              <a:rPr lang="es-BO" sz="2000" dirty="0" smtClean="0"/>
              <a:t>DEFINICION</a:t>
            </a:r>
          </a:p>
          <a:p>
            <a:pPr marL="342900" indent="-342900">
              <a:buAutoNum type="arabicPeriod"/>
            </a:pPr>
            <a:r>
              <a:rPr lang="es-BO" sz="2000" dirty="0" smtClean="0"/>
              <a:t>OBJETIVOS</a:t>
            </a:r>
          </a:p>
          <a:p>
            <a:pPr marL="342900" indent="-342900">
              <a:buAutoNum type="arabicPeriod"/>
            </a:pPr>
            <a:r>
              <a:rPr lang="es-BO" sz="2000" dirty="0" smtClean="0"/>
              <a:t>UNIDAD DE ATENCION</a:t>
            </a:r>
          </a:p>
          <a:p>
            <a:pPr marL="342900" indent="-342900">
              <a:buFontTx/>
              <a:buAutoNum type="arabicPeriod"/>
            </a:pPr>
            <a:r>
              <a:rPr lang="es-BO" sz="2000" dirty="0" smtClean="0"/>
              <a:t>VALORACION DE ENFERMERIA POR LOS  PATRONES FUNCIONALES </a:t>
            </a:r>
          </a:p>
          <a:p>
            <a:pPr marL="342900" indent="-342900">
              <a:buAutoNum type="arabicPeriod"/>
            </a:pPr>
            <a:r>
              <a:rPr lang="es-BO" sz="2000" dirty="0" smtClean="0"/>
              <a:t>ORGANIZACIÓN DEL SISTEMA DE CUIDADO PRIORIZANDO      DIAGNOSTICOS</a:t>
            </a:r>
          </a:p>
          <a:p>
            <a:pPr marL="342900" indent="-342900">
              <a:buAutoNum type="arabicPeriod"/>
            </a:pPr>
            <a:r>
              <a:rPr lang="es-BO" sz="2000" dirty="0" smtClean="0"/>
              <a:t>PROCESO DE ATENCION DE ENFERMERIA</a:t>
            </a:r>
          </a:p>
          <a:p>
            <a:r>
              <a:rPr lang="es-BO" sz="2000" dirty="0" smtClean="0"/>
              <a:t>7.   PRUEBAS DIAGNOSTICAS</a:t>
            </a:r>
          </a:p>
          <a:p>
            <a:pPr marL="342900" indent="-342900">
              <a:buAutoNum type="arabicPeriod" startAt="6"/>
            </a:pPr>
            <a:endParaRPr lang="es-BO" dirty="0" smtClean="0"/>
          </a:p>
        </p:txBody>
      </p:sp>
    </p:spTree>
    <p:extLst>
      <p:ext uri="{BB962C8B-B14F-4D97-AF65-F5344CB8AC3E}">
        <p14:creationId xmlns:p14="http://schemas.microsoft.com/office/powerpoint/2010/main" val="329779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 algn="just"/>
            <a:r>
              <a:rPr lang="es-BO" sz="2000" dirty="0"/>
              <a:t>OBJETIVOS </a:t>
            </a:r>
            <a:r>
              <a:rPr lang="es-BO" sz="2000" dirty="0" smtClean="0"/>
              <a:t>ESPECIFICOS DE PROTOCOLIZACION INTERVENCIONES DE ENFERMERIA PARA </a:t>
            </a:r>
            <a:r>
              <a:rPr lang="es-BO" sz="2000" dirty="0"/>
              <a:t>PACIENTES CON PATOLOGIAS </a:t>
            </a:r>
            <a:r>
              <a:rPr lang="es-BO" sz="2000" dirty="0" smtClean="0"/>
              <a:t>ANO-RECTALES</a:t>
            </a:r>
            <a:endParaRPr lang="es-BO" sz="2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85000" lnSpcReduction="20000"/>
          </a:bodyPr>
          <a:lstStyle/>
          <a:p>
            <a:endParaRPr lang="es-BO" dirty="0"/>
          </a:p>
          <a:p>
            <a:pPr algn="just"/>
            <a:r>
              <a:rPr lang="es-BO" dirty="0" smtClean="0"/>
              <a:t>Permitirá </a:t>
            </a:r>
            <a:r>
              <a:rPr lang="es-BO" dirty="0"/>
              <a:t>actualizar conocimientos en el tema  al profesional de enfermería, </a:t>
            </a:r>
            <a:r>
              <a:rPr lang="es-BO" dirty="0" smtClean="0"/>
              <a:t> </a:t>
            </a:r>
            <a:r>
              <a:rPr lang="es-BO" dirty="0"/>
              <a:t>incrementando, su competitividad </a:t>
            </a:r>
            <a:r>
              <a:rPr lang="es-BO" dirty="0" smtClean="0"/>
              <a:t>.</a:t>
            </a:r>
            <a:r>
              <a:rPr lang="es-BO" dirty="0"/>
              <a:t> </a:t>
            </a:r>
            <a:endParaRPr lang="es-BO" dirty="0" smtClean="0"/>
          </a:p>
          <a:p>
            <a:pPr algn="just"/>
            <a:r>
              <a:rPr lang="es-BO" dirty="0" smtClean="0"/>
              <a:t>Se  </a:t>
            </a:r>
            <a:r>
              <a:rPr lang="es-BO" dirty="0"/>
              <a:t>fortalecerá la estructura funcional del personal de enfermería  en los distintos servicios de atención de </a:t>
            </a:r>
            <a:r>
              <a:rPr lang="es-BO" dirty="0" smtClean="0"/>
              <a:t>Enfermería</a:t>
            </a:r>
          </a:p>
          <a:p>
            <a:pPr algn="just"/>
            <a:r>
              <a:rPr lang="es-BO" dirty="0" smtClean="0"/>
              <a:t>Elevara </a:t>
            </a:r>
            <a:r>
              <a:rPr lang="es-BO" dirty="0"/>
              <a:t>la calidad de la atención en los distintos  servicios de </a:t>
            </a:r>
            <a:r>
              <a:rPr lang="es-BO" dirty="0" smtClean="0"/>
              <a:t>atención</a:t>
            </a:r>
          </a:p>
          <a:p>
            <a:pPr algn="just"/>
            <a:r>
              <a:rPr lang="es-BO" b="1" dirty="0" smtClean="0"/>
              <a:t>Asegurar </a:t>
            </a:r>
            <a:r>
              <a:rPr lang="es-BO" b="1" dirty="0"/>
              <a:t>los parámetros mínimos de calidad de atención en salud y concluir con la satisfacción del paciente con </a:t>
            </a:r>
            <a:r>
              <a:rPr lang="es-BO" b="1" dirty="0" smtClean="0"/>
              <a:t> patologías  </a:t>
            </a:r>
            <a:r>
              <a:rPr lang="es-BO" b="1" dirty="0"/>
              <a:t>ano-rectales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77216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s-BO" sz="3600" dirty="0" smtClean="0"/>
              <a:t>PATOLOGIAS ANO-RECTALES</a:t>
            </a:r>
            <a:endParaRPr lang="es-BO" sz="36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s-BO" dirty="0" smtClean="0"/>
              <a:t>HEMORROIDES </a:t>
            </a:r>
          </a:p>
          <a:p>
            <a:r>
              <a:rPr lang="es-BO" dirty="0" smtClean="0"/>
              <a:t>HEMORROIDECTOMIA</a:t>
            </a:r>
          </a:p>
          <a:p>
            <a:r>
              <a:rPr lang="es-BO" dirty="0" smtClean="0"/>
              <a:t>HEMORROIDECTOMIZADOS</a:t>
            </a:r>
            <a:endParaRPr lang="es-BO" dirty="0"/>
          </a:p>
          <a:p>
            <a:r>
              <a:rPr lang="es-BO" dirty="0"/>
              <a:t>FISTULA </a:t>
            </a:r>
            <a:r>
              <a:rPr lang="es-BO" dirty="0" smtClean="0"/>
              <a:t>ANO-RECTAL</a:t>
            </a:r>
          </a:p>
          <a:p>
            <a:r>
              <a:rPr lang="es-BO" dirty="0" smtClean="0"/>
              <a:t>ABSCESO </a:t>
            </a:r>
            <a:r>
              <a:rPr lang="es-BO" dirty="0"/>
              <a:t>PERIANAL</a:t>
            </a:r>
          </a:p>
          <a:p>
            <a:r>
              <a:rPr lang="es-BO" dirty="0" smtClean="0"/>
              <a:t>INCONTINENCIA</a:t>
            </a:r>
          </a:p>
          <a:p>
            <a:r>
              <a:rPr lang="es-BO" dirty="0" smtClean="0"/>
              <a:t>PROLAPSO RECTAL</a:t>
            </a:r>
          </a:p>
          <a:p>
            <a:r>
              <a:rPr lang="es-BO" dirty="0" smtClean="0"/>
              <a:t>ESTENOSIS </a:t>
            </a:r>
            <a:r>
              <a:rPr lang="es-BO" dirty="0"/>
              <a:t>ANAL</a:t>
            </a:r>
          </a:p>
          <a:p>
            <a:r>
              <a:rPr lang="es-BO" dirty="0"/>
              <a:t>COLOSTOMIZADOS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20303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12776"/>
            <a:ext cx="1749704" cy="219624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3" y="1412776"/>
            <a:ext cx="2335213" cy="2076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412776"/>
            <a:ext cx="2925763" cy="2076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05064"/>
            <a:ext cx="2316163" cy="190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99" y="4077072"/>
            <a:ext cx="2157413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5" y="3883942"/>
            <a:ext cx="2709739" cy="201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034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928794" y="928670"/>
            <a:ext cx="5857916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PROTOCOLO DE ENFERMERÍA EN EL PACIENTE POSTOPERATORIO EN     LA SALA DE RECUPERACIÓN</a:t>
            </a:r>
            <a:endParaRPr kumimoji="0" lang="es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857224" y="2357430"/>
            <a:ext cx="7643866" cy="295465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b="1" dirty="0" smtClean="0"/>
              <a:t>DEFINICIÓN</a:t>
            </a:r>
            <a:endParaRPr lang="es-ES" dirty="0" smtClean="0"/>
          </a:p>
          <a:p>
            <a:pPr algn="just"/>
            <a:r>
              <a:rPr lang="es-ES" sz="2400" dirty="0" smtClean="0"/>
              <a:t>El postoperatorio, reanimación, o recuperación es lugar donde se recibe al paciente en el postoperatorio inmediato, son unidades de </a:t>
            </a:r>
            <a:r>
              <a:rPr lang="es-ES" sz="2400" dirty="0" err="1" smtClean="0"/>
              <a:t>semiintesivo</a:t>
            </a:r>
            <a:r>
              <a:rPr lang="es-ES" sz="2400" dirty="0" smtClean="0"/>
              <a:t>, en las cuales se debe controlar constantes vitales, cada 10 o 15 minutos. </a:t>
            </a:r>
          </a:p>
          <a:p>
            <a:pPr algn="just"/>
            <a:r>
              <a:rPr lang="es-ES" sz="2400" dirty="0" smtClean="0"/>
              <a:t>También se controla función respiratoria, estabilidad función cardiocirculatoria, nivel de conciencia, obstrucción respiratoria, hipoxia y hemorragia / shock</a:t>
            </a:r>
            <a:r>
              <a:rPr lang="es-ES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2491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85000" lnSpcReduction="10000"/>
          </a:bodyPr>
          <a:lstStyle/>
          <a:p>
            <a:pPr>
              <a:buNone/>
            </a:pPr>
            <a:endParaRPr lang="es-ES" dirty="0" smtClean="0"/>
          </a:p>
          <a:p>
            <a:pPr lvl="0"/>
            <a:r>
              <a:rPr lang="es-ES" dirty="0" smtClean="0"/>
              <a:t>El paciente no presentará aspiración.</a:t>
            </a:r>
          </a:p>
          <a:p>
            <a:pPr lvl="0"/>
            <a:r>
              <a:rPr lang="es-ES" dirty="0" smtClean="0"/>
              <a:t>El paciente mantendrá su integridad física, no sufrirá ninguna lesión.</a:t>
            </a:r>
          </a:p>
          <a:p>
            <a:pPr lvl="0"/>
            <a:r>
              <a:rPr lang="es-ES" dirty="0" smtClean="0"/>
              <a:t>El paciente mantendrá su temperatura corporal dentro de los límites normales.  </a:t>
            </a:r>
          </a:p>
          <a:p>
            <a:pPr lvl="0"/>
            <a:r>
              <a:rPr lang="es-ES" dirty="0" smtClean="0"/>
              <a:t>El paciente no presentará dolor o el dolor será tolerable.</a:t>
            </a:r>
          </a:p>
          <a:p>
            <a:pPr lvl="0"/>
            <a:r>
              <a:rPr lang="es-ES" dirty="0" smtClean="0"/>
              <a:t>El paciente presentara buena oxigenación tisular, buen control de vías aéreas. hemodinámicamente estable, buena orientación, tiempo espacial. </a:t>
            </a:r>
          </a:p>
          <a:p>
            <a:endParaRPr lang="es-ES" dirty="0"/>
          </a:p>
        </p:txBody>
      </p:sp>
      <p:sp>
        <p:nvSpPr>
          <p:cNvPr id="5" name="4 Rectángulo"/>
          <p:cNvSpPr/>
          <p:nvPr/>
        </p:nvSpPr>
        <p:spPr>
          <a:xfrm>
            <a:off x="3500430" y="642918"/>
            <a:ext cx="2300299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s-ES" sz="3200" b="1" dirty="0" smtClean="0">
                <a:solidFill>
                  <a:prstClr val="black"/>
                </a:solidFill>
              </a:rPr>
              <a:t>OBJETIVOS</a:t>
            </a:r>
            <a:endParaRPr lang="es-ES" sz="3200" dirty="0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14348" y="285728"/>
            <a:ext cx="7972452" cy="1000132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s-ES" b="1" dirty="0" smtClean="0"/>
              <a:t>DIAGNÓSTICOS DE ENFERMERÍA</a:t>
            </a:r>
            <a:r>
              <a:rPr lang="es-ES" dirty="0" smtClean="0"/>
              <a:t/>
            </a:r>
            <a:br>
              <a:rPr lang="es-ES" dirty="0" smtClean="0"/>
            </a:b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62500" lnSpcReduction="2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s-ES" b="1" dirty="0" smtClean="0"/>
              <a:t>1</a:t>
            </a:r>
            <a:r>
              <a:rPr lang="es-ES" b="1" dirty="0" smtClean="0"/>
              <a:t>.- </a:t>
            </a:r>
            <a:r>
              <a:rPr lang="es-ES" b="1" dirty="0" smtClean="0"/>
              <a:t>Posible deterioro de intercambio </a:t>
            </a:r>
            <a:r>
              <a:rPr lang="es-ES" b="1" dirty="0" err="1" smtClean="0"/>
              <a:t>gaseoso,Posible</a:t>
            </a:r>
            <a:r>
              <a:rPr lang="es-ES" b="1" dirty="0" smtClean="0"/>
              <a:t> </a:t>
            </a:r>
            <a:r>
              <a:rPr lang="es-ES" b="1" dirty="0"/>
              <a:t>complicación </a:t>
            </a:r>
            <a:r>
              <a:rPr lang="es-ES" b="1" dirty="0" err="1" smtClean="0"/>
              <a:t>cardio</a:t>
            </a:r>
            <a:r>
              <a:rPr lang="es-ES" b="1" dirty="0" smtClean="0"/>
              <a:t>-respiratorio</a:t>
            </a:r>
            <a:r>
              <a:rPr lang="es-ES" dirty="0" smtClean="0"/>
              <a:t>:</a:t>
            </a:r>
            <a:r>
              <a:rPr lang="es-ES" b="1" dirty="0" smtClean="0"/>
              <a:t> </a:t>
            </a:r>
            <a:r>
              <a:rPr lang="es-ES" dirty="0" smtClean="0"/>
              <a:t> </a:t>
            </a:r>
            <a:r>
              <a:rPr lang="es-ES" dirty="0" smtClean="0"/>
              <a:t>relacionado a medicamentos administrados para la inducción de los anestésicos, complicación  respiratoria,</a:t>
            </a:r>
            <a:r>
              <a:rPr lang="es-ES" b="1" dirty="0" smtClean="0"/>
              <a:t>  </a:t>
            </a:r>
            <a:r>
              <a:rPr lang="es-ES" dirty="0" smtClean="0"/>
              <a:t>a una hipoxia, hipercapnia, edema laringe, larigoespasmo, alergia a gases anestésicos, etc.</a:t>
            </a:r>
          </a:p>
          <a:p>
            <a:pPr algn="just">
              <a:buFont typeface="Wingdings" pitchFamily="2" charset="2"/>
              <a:buChar char="§"/>
            </a:pPr>
            <a:r>
              <a:rPr lang="es-ES" dirty="0" smtClean="0"/>
              <a:t>2.-</a:t>
            </a:r>
            <a:r>
              <a:rPr lang="es-ES" b="1" dirty="0" smtClean="0"/>
              <a:t> Riesgo de aspiración: </a:t>
            </a:r>
            <a:r>
              <a:rPr lang="es-ES" dirty="0" smtClean="0"/>
              <a:t> con   relación al aumento de secreciones, por efecto del uso de medicamentos para la reversión de los anestésicos y por ende para  la extubación, posible presencia de náuseas y vómitos. </a:t>
            </a:r>
          </a:p>
          <a:p>
            <a:pPr algn="just">
              <a:buFont typeface="Wingdings" pitchFamily="2" charset="2"/>
              <a:buChar char="§"/>
            </a:pPr>
            <a:r>
              <a:rPr lang="es-ES" b="1" dirty="0" smtClean="0"/>
              <a:t>3.- Riesgo  de lesión: </a:t>
            </a:r>
            <a:r>
              <a:rPr lang="es-ES" dirty="0" smtClean="0"/>
              <a:t>con relación a la somnolencia postanestésica, deficiencias sensoriales o motoras, despertar agitado.</a:t>
            </a:r>
          </a:p>
          <a:p>
            <a:pPr algn="just">
              <a:buFont typeface="Wingdings" pitchFamily="2" charset="2"/>
              <a:buChar char="§"/>
            </a:pPr>
            <a:r>
              <a:rPr lang="es-ES" b="1" dirty="0" smtClean="0"/>
              <a:t>4.-Riesgo de hipotermia:  </a:t>
            </a:r>
            <a:r>
              <a:rPr lang="es-ES" dirty="0" smtClean="0"/>
              <a:t>con relación a la exposición del cuerpo del paciente al ambiente quirúrgico frio, efectos de procedimientos invasivos, inhalación de gases anestésicos secos y no calentados. </a:t>
            </a:r>
          </a:p>
          <a:p>
            <a:pPr algn="just">
              <a:buFont typeface="Wingdings" pitchFamily="2" charset="2"/>
              <a:buChar char="§"/>
            </a:pPr>
            <a:r>
              <a:rPr lang="es-ES" b="1" dirty="0" smtClean="0"/>
              <a:t>5.-Dolor </a:t>
            </a:r>
            <a:r>
              <a:rPr lang="es-ES" dirty="0" smtClean="0"/>
              <a:t>con relación a los efectos de la cirugía sobre los tejidos, la inmovilidad o posición quirúrgica prolongada.</a:t>
            </a:r>
          </a:p>
          <a:p>
            <a:pPr algn="just">
              <a:buFont typeface="Wingdings" pitchFamily="2" charset="2"/>
              <a:buChar char="§"/>
            </a:pPr>
            <a:r>
              <a:rPr lang="es-ES" b="1" dirty="0" smtClean="0"/>
              <a:t>6.- Déficit del volumen de </a:t>
            </a:r>
            <a:r>
              <a:rPr lang="es-ES" b="1" dirty="0" smtClean="0"/>
              <a:t>líquidos: </a:t>
            </a:r>
            <a:r>
              <a:rPr lang="es-ES" dirty="0" smtClean="0"/>
              <a:t> </a:t>
            </a:r>
            <a:r>
              <a:rPr lang="es-ES" dirty="0" smtClean="0"/>
              <a:t>con relación a la pérdida de sangre durante la cirugía, pérdida de líquidos y exposición de los tejidos.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1560" y="2790056"/>
            <a:ext cx="8229600" cy="1143000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s-ES" b="1" dirty="0" smtClean="0"/>
              <a:t>MATERIAL, EQUIPOS  E INSUMOS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928662" y="428604"/>
            <a:ext cx="7929618" cy="15081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2000" dirty="0" smtClean="0"/>
              <a:t>PROCEDIMIENTO Y SECUENCIA DE ETAPAS DE LAS ACTIVIDADES DE ENFERMERIA EN RECUPERACIÓN </a:t>
            </a:r>
            <a:r>
              <a:rPr lang="es-BO" sz="2000" dirty="0" smtClean="0"/>
              <a:t>NOC (clasificación de intervenciones de enfermería).</a:t>
            </a:r>
            <a:endParaRPr lang="es-ES_tradnl" sz="2000" dirty="0" smtClean="0"/>
          </a:p>
          <a:p>
            <a:pPr algn="ctr"/>
            <a:endParaRPr lang="es-ES" sz="3200" dirty="0"/>
          </a:p>
        </p:txBody>
      </p:sp>
      <p:sp>
        <p:nvSpPr>
          <p:cNvPr id="7" name="6 CuadroTexto"/>
          <p:cNvSpPr txBox="1"/>
          <p:nvPr/>
        </p:nvSpPr>
        <p:spPr>
          <a:xfrm>
            <a:off x="1785918" y="1571612"/>
            <a:ext cx="428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9" name="8 Rectángulo"/>
          <p:cNvSpPr/>
          <p:nvPr/>
        </p:nvSpPr>
        <p:spPr>
          <a:xfrm>
            <a:off x="642910" y="2285992"/>
            <a:ext cx="8215370" cy="28623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Colocar en posición adecuada para evitar obstrucción de vías aéreas, aspiración oro faríngea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Colocar las barandillas de la camilla hasta que el paciente completamente despierto.</a:t>
            </a:r>
            <a:endParaRPr lang="es-E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Administrar de oxígeno. </a:t>
            </a:r>
            <a:endParaRPr lang="es-E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Monitorización </a:t>
            </a:r>
            <a:r>
              <a:rPr lang="es-ES" dirty="0" err="1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trans</a:t>
            </a: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 cutánea de oxigeno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Controlar temperatura corporal manteniendo, está por encima de 36º.</a:t>
            </a:r>
            <a:endParaRPr lang="es-E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Colocar mantas y mantener al paciente bien arropado. </a:t>
            </a:r>
            <a:endParaRPr lang="es-E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Colocar calefactor de aire caliente en la sala y cercano al paciente. </a:t>
            </a:r>
            <a:endParaRPr lang="es-E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Valorar el dolor y administrar fármacos.</a:t>
            </a:r>
            <a:endParaRPr lang="es-E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626121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77500" lnSpcReduction="20000"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Favorecer la relajación y si es necesario modificar la postura.</a:t>
            </a:r>
            <a:endParaRPr lang="es-E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Valorar las constantes vitales antes de administración de analgésicos indicados por el anestesiólogo.</a:t>
            </a:r>
            <a:endParaRPr lang="es-E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09575" algn="l"/>
              </a:tabLst>
            </a:pPr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Valorar posteriormente la eficacia de la medicación administrada.</a:t>
            </a:r>
            <a:endParaRPr lang="es-E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/>
            <a:r>
              <a:rPr lang="es-ES" dirty="0" smtClean="0">
                <a:solidFill>
                  <a:prstClr val="black"/>
                </a:solidFill>
                <a:latin typeface="Arial" pitchFamily="34" charset="0"/>
                <a:ea typeface="Times New Roman" pitchFamily="18" charset="0"/>
                <a:cs typeface="TimesNewRoman,Bold"/>
              </a:rPr>
              <a:t>Explicar al paciente los posibles  efectos secundarios que pueden producir los narcóticos (sequedad de la boca, somnolencia, confusión, etc.)</a:t>
            </a:r>
            <a:endParaRPr lang="es-ES" dirty="0" smtClean="0"/>
          </a:p>
          <a:p>
            <a:pPr lvl="0" algn="just"/>
            <a:r>
              <a:rPr lang="es-ES" dirty="0" smtClean="0"/>
              <a:t>Control de signos vitales cada 10 a 15 min. </a:t>
            </a:r>
          </a:p>
          <a:p>
            <a:pPr lvl="0" algn="just"/>
            <a:r>
              <a:rPr lang="es-ES" dirty="0" smtClean="0"/>
              <a:t>Mantener las vías aéreas libres.</a:t>
            </a:r>
            <a:endParaRPr lang="es-ES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/>
            <a:r>
              <a:rPr lang="es-ES" dirty="0" smtClean="0"/>
              <a:t>Controlar de la presión arterial, frecuencia cardiaca y frecuencia respiratoria.</a:t>
            </a:r>
          </a:p>
          <a:p>
            <a:pPr lvl="0" algn="just"/>
            <a:r>
              <a:rPr lang="es-ES" dirty="0" smtClean="0"/>
              <a:t>Valorar pulsos periféricos.</a:t>
            </a:r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85000" lnSpcReduction="20000"/>
          </a:bodyPr>
          <a:lstStyle/>
          <a:p>
            <a:pPr lvl="0"/>
            <a:r>
              <a:rPr lang="es-ES" dirty="0" smtClean="0"/>
              <a:t>Valorar la coloración de la piel, temperatura etc.</a:t>
            </a:r>
          </a:p>
          <a:p>
            <a:pPr lvl="0"/>
            <a:r>
              <a:rPr lang="es-ES" dirty="0" smtClean="0"/>
              <a:t>Controlar pérdidas hemáticas de las heridas u otras zonas</a:t>
            </a:r>
          </a:p>
          <a:p>
            <a:pPr lvl="0"/>
            <a:r>
              <a:rPr lang="es-ES" dirty="0" smtClean="0"/>
              <a:t>Realizar balance hídrico.</a:t>
            </a:r>
          </a:p>
          <a:p>
            <a:pPr lvl="0"/>
            <a:r>
              <a:rPr lang="es-ES" dirty="0" smtClean="0"/>
              <a:t>Observar la presencia </a:t>
            </a:r>
            <a:r>
              <a:rPr lang="es-ES" dirty="0"/>
              <a:t>d</a:t>
            </a:r>
            <a:r>
              <a:rPr lang="es-ES" dirty="0" smtClean="0"/>
              <a:t>e </a:t>
            </a:r>
            <a:r>
              <a:rPr lang="es-ES" dirty="0" smtClean="0"/>
              <a:t>globo vesical pues puede existir retención urinaria por efectos de la anestesia.</a:t>
            </a:r>
          </a:p>
          <a:p>
            <a:pPr lvl="0"/>
            <a:r>
              <a:rPr lang="es-ES" dirty="0" smtClean="0"/>
              <a:t>Valorar la presencia de obstrucción en la sonda vesical. </a:t>
            </a:r>
          </a:p>
          <a:p>
            <a:pPr lvl="0"/>
            <a:r>
              <a:rPr lang="es-ES" dirty="0" smtClean="0"/>
              <a:t>Control debito urinario.</a:t>
            </a:r>
          </a:p>
          <a:p>
            <a:pPr lvl="0"/>
            <a:r>
              <a:rPr lang="es-ES" dirty="0" smtClean="0"/>
              <a:t>Evitar hipovolemia, detectar la causa si existiera.</a:t>
            </a:r>
          </a:p>
          <a:p>
            <a:pPr lvl="0"/>
            <a:r>
              <a:rPr lang="es-ES" dirty="0" smtClean="0"/>
              <a:t>Administrar el tratamiento prescrito por su medico.</a:t>
            </a:r>
          </a:p>
          <a:p>
            <a:pPr lvl="0"/>
            <a:r>
              <a:rPr lang="es-ES" dirty="0" smtClean="0"/>
              <a:t>Valorar continuamente el estado del paciente, las complicaciones que pueden prestarse al paciente son numerosas e inesperadas.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411675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 fontScale="70000" lnSpcReduction="20000"/>
          </a:bodyPr>
          <a:lstStyle/>
          <a:p>
            <a:pPr lvl="0" algn="just"/>
            <a:r>
              <a:rPr lang="es-ES" dirty="0" smtClean="0"/>
              <a:t>Cuando el paciente está estabilizado proceder a su traslado a la unidad de hospitalización con los siguientes criterios de alta: </a:t>
            </a:r>
          </a:p>
          <a:p>
            <a:pPr lvl="0" algn="just"/>
            <a:r>
              <a:rPr lang="es-ES" dirty="0" smtClean="0"/>
              <a:t>Despierto o despertar fácil, con respuestas a estímulos  verbales.</a:t>
            </a:r>
          </a:p>
          <a:p>
            <a:pPr lvl="0" algn="just"/>
            <a:r>
              <a:rPr lang="es-ES" dirty="0" smtClean="0"/>
              <a:t>Buena oxigenación tisular Saturación 100%</a:t>
            </a:r>
          </a:p>
          <a:p>
            <a:pPr lvl="0" algn="just"/>
            <a:r>
              <a:rPr lang="es-ES" dirty="0" smtClean="0"/>
              <a:t>Buen control de vía aérea y presencia de reflejos nauseosos y </a:t>
            </a:r>
            <a:r>
              <a:rPr lang="es-ES" dirty="0" err="1" smtClean="0"/>
              <a:t>tusígeno</a:t>
            </a:r>
            <a:r>
              <a:rPr lang="es-ES" dirty="0" smtClean="0"/>
              <a:t>.</a:t>
            </a:r>
          </a:p>
          <a:p>
            <a:pPr lvl="0" algn="just"/>
            <a:r>
              <a:rPr lang="es-ES" dirty="0" err="1" smtClean="0"/>
              <a:t>Hemodinámicamente</a:t>
            </a:r>
            <a:r>
              <a:rPr lang="es-ES" dirty="0" smtClean="0"/>
              <a:t> estable, signos vitales dentro de parámetros normales, no sangrado  por la herida.</a:t>
            </a:r>
          </a:p>
          <a:p>
            <a:pPr lvl="0" algn="just"/>
            <a:r>
              <a:rPr lang="es-ES" dirty="0" smtClean="0"/>
              <a:t>Buena orientación, persona, tiempo y  espacio.</a:t>
            </a:r>
          </a:p>
          <a:p>
            <a:pPr lvl="0" algn="just"/>
            <a:r>
              <a:rPr lang="es-ES" dirty="0" smtClean="0"/>
              <a:t>Debito urinario en cantidades normales.</a:t>
            </a:r>
          </a:p>
          <a:p>
            <a:pPr lvl="0" algn="just"/>
            <a:r>
              <a:rPr lang="es-ES" dirty="0" smtClean="0"/>
              <a:t>Dolor controlado. </a:t>
            </a:r>
          </a:p>
          <a:p>
            <a:endParaRPr lang="es-ES" dirty="0"/>
          </a:p>
        </p:txBody>
      </p:sp>
      <p:sp>
        <p:nvSpPr>
          <p:cNvPr id="5" name="4 CuadroTexto"/>
          <p:cNvSpPr txBox="1"/>
          <p:nvPr/>
        </p:nvSpPr>
        <p:spPr>
          <a:xfrm>
            <a:off x="2071670" y="428604"/>
            <a:ext cx="5243358" cy="8309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_tradnl" sz="2400" dirty="0" smtClean="0">
                <a:latin typeface="Arial Rounded MT Bold" pitchFamily="34" charset="0"/>
              </a:rPr>
              <a:t>NIC : CLASIFICACIÓN DE RESULTADOS  DE  ENFERMERIA</a:t>
            </a:r>
            <a:endParaRPr lang="es-ES" sz="2400" dirty="0"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14348" y="357166"/>
            <a:ext cx="7972452" cy="4857784"/>
          </a:xfrm>
          <a:solidFill>
            <a:schemeClr val="bg1"/>
          </a:solidFill>
        </p:spPr>
        <p:txBody>
          <a:bodyPr/>
          <a:lstStyle/>
          <a:p>
            <a:pPr>
              <a:buNone/>
            </a:pPr>
            <a:r>
              <a:rPr lang="es-ES_tradnl" dirty="0" smtClean="0"/>
              <a:t> </a:t>
            </a:r>
            <a:endParaRPr lang="es-ES" dirty="0"/>
          </a:p>
        </p:txBody>
      </p:sp>
      <p:pic>
        <p:nvPicPr>
          <p:cNvPr id="36876" name="Picture 12" descr="C:\Program Files\Microsoft Office\MEDIA\CAGCAT10\j0090386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000108"/>
            <a:ext cx="6072230" cy="4085076"/>
          </a:xfrm>
          <a:prstGeom prst="rect">
            <a:avLst/>
          </a:prstGeom>
          <a:noFill/>
        </p:spPr>
      </p:pic>
      <p:sp>
        <p:nvSpPr>
          <p:cNvPr id="15" name="14 CuadroTexto"/>
          <p:cNvSpPr txBox="1"/>
          <p:nvPr/>
        </p:nvSpPr>
        <p:spPr>
          <a:xfrm>
            <a:off x="5572132" y="4857760"/>
            <a:ext cx="20163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 smtClean="0"/>
              <a:t>GRACIAS</a:t>
            </a:r>
            <a:endParaRPr lang="es-ES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706" y="3390853"/>
            <a:ext cx="2005013" cy="168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jes">
  <a:themeElements>
    <a:clrScheme name="Viajes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Viaj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ajes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1362</TotalTime>
  <Words>2053</Words>
  <Application>Microsoft Office PowerPoint</Application>
  <PresentationFormat>Presentación en pantalla (4:3)</PresentationFormat>
  <Paragraphs>188</Paragraphs>
  <Slides>30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1" baseType="lpstr">
      <vt:lpstr>Viajes</vt:lpstr>
      <vt:lpstr>ELABORACION DE  PROTOCOLOS O SISTEMAS DE CUIDADOS PRIORITARIOS DE ENFERMERIA EN BASE A LAS TAXONOMIAS NANDA-NIC-NOC </vt:lpstr>
      <vt:lpstr>FORMULACIÓN DEL DIAGNÓSTICO Según la Dra. Marjory Gordon se realizará utilizando el Formato PES)</vt:lpstr>
      <vt:lpstr>Proceso de evolución  de la clasificación de diagnósticos de enfermería</vt:lpstr>
      <vt:lpstr>Presentación de PowerPoint</vt:lpstr>
      <vt:lpstr>Presentación de PowerPoint</vt:lpstr>
      <vt:lpstr>TAXONOMIA DE DX DE ENFERMERIA</vt:lpstr>
      <vt:lpstr>DIRECTRICES PARA LA ELABORACIÓN DE PROTOCOLOS DE ENFERMERIA</vt:lpstr>
      <vt:lpstr>EL DIAGNOSTICO DE ENFERMERIA  </vt:lpstr>
      <vt:lpstr>Presentación de PowerPoint</vt:lpstr>
      <vt:lpstr>JUSTIFICACION</vt:lpstr>
      <vt:lpstr>OBJETIVO GENERAL </vt:lpstr>
      <vt:lpstr>OBJETIVOS ESPECIFICOS DE LOS PROTOCOLOS</vt:lpstr>
      <vt:lpstr>CONCEPTO DE PROTOCOLO. </vt:lpstr>
      <vt:lpstr>  PROCESO DE ATENCION DE ENFERMERIA  PROTOCOLIZADO </vt:lpstr>
      <vt:lpstr>Presentación de PowerPoint</vt:lpstr>
      <vt:lpstr>POR QUE UN PROTOCOLO </vt:lpstr>
      <vt:lpstr>PROTOCOLOS DE ATENCIÓN DE ENFERMERIA  PARA TODOS LOS SERVICIOS</vt:lpstr>
      <vt:lpstr>Presentación de PowerPoint</vt:lpstr>
      <vt:lpstr>OBJETIVOS ESPECIFICOS DE PROTOCOLIZACION INTERVENCIONES DE ENFERMERIA PARA PACIENTES CON PATOLOGIAS ANO-RECTALES</vt:lpstr>
      <vt:lpstr>PATOLOGIAS ANO-RECTALES</vt:lpstr>
      <vt:lpstr>Presentación de PowerPoint</vt:lpstr>
      <vt:lpstr>Presentación de PowerPoint</vt:lpstr>
      <vt:lpstr>Presentación de PowerPoint</vt:lpstr>
      <vt:lpstr>DIAGNÓSTICOS DE ENFERMERÍA </vt:lpstr>
      <vt:lpstr>MATERIAL, EQUIPOS  E INSUMOS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DE CUIDADOS PRIORITARIOS DE ENFERMERIA DE LAS TAXONOMIAS NANDA-NIC-NOC EN PACIENTES CON ENFERMEDAD RECTO-ANAL</dc:title>
  <dc:creator>Boris</dc:creator>
  <cp:lastModifiedBy>Boris</cp:lastModifiedBy>
  <cp:revision>112</cp:revision>
  <dcterms:created xsi:type="dcterms:W3CDTF">2013-12-03T03:46:37Z</dcterms:created>
  <dcterms:modified xsi:type="dcterms:W3CDTF">2014-05-24T05:05:38Z</dcterms:modified>
</cp:coreProperties>
</file>