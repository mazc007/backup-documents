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450" y="-7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PE"/>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PE"/>
          </a:p>
        </p:txBody>
      </p:sp>
      <p:sp>
        <p:nvSpPr>
          <p:cNvPr id="4" name="3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3543390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3105488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244098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4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41619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6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8" name="7 Marcador de pie de página"/>
          <p:cNvSpPr>
            <a:spLocks noGrp="1"/>
          </p:cNvSpPr>
          <p:nvPr>
            <p:ph type="ftr" sz="quarter" idx="11"/>
          </p:nvPr>
        </p:nvSpPr>
        <p:spPr/>
        <p:txBody>
          <a:bodyPr/>
          <a:lstStyle/>
          <a:p>
            <a:endParaRPr lang="es-PE"/>
          </a:p>
        </p:txBody>
      </p:sp>
      <p:sp>
        <p:nvSpPr>
          <p:cNvPr id="9" name="8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2073720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4" name="3 Marcador de pie de página"/>
          <p:cNvSpPr>
            <a:spLocks noGrp="1"/>
          </p:cNvSpPr>
          <p:nvPr>
            <p:ph type="ftr" sz="quarter" idx="11"/>
          </p:nvPr>
        </p:nvSpPr>
        <p:spPr/>
        <p:txBody>
          <a:bodyPr/>
          <a:lstStyle/>
          <a:p>
            <a:endParaRPr lang="es-PE"/>
          </a:p>
        </p:txBody>
      </p:sp>
      <p:sp>
        <p:nvSpPr>
          <p:cNvPr id="5" name="4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187409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3" name="2 Marcador de pie de página"/>
          <p:cNvSpPr>
            <a:spLocks noGrp="1"/>
          </p:cNvSpPr>
          <p:nvPr>
            <p:ph type="ftr" sz="quarter" idx="11"/>
          </p:nvPr>
        </p:nvSpPr>
        <p:spPr/>
        <p:txBody>
          <a:bodyPr/>
          <a:lstStyle/>
          <a:p>
            <a:endParaRPr lang="es-PE"/>
          </a:p>
        </p:txBody>
      </p:sp>
      <p:sp>
        <p:nvSpPr>
          <p:cNvPr id="4" name="3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427992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P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3157059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PE"/>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3309707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134087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1578300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AB2AA-8A9A-421E-A67A-3A80B1AECF42}" type="datetimeFigureOut">
              <a:rPr lang="es-PE" smtClean="0"/>
              <a:pPr/>
              <a:t>04/04/2014</a:t>
            </a:fld>
            <a:endParaRPr lang="es-PE"/>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C7198B-1458-4EA4-90AD-3F98B39C828E}" type="slidenum">
              <a:rPr lang="es-PE" smtClean="0"/>
              <a:pPr/>
              <a:t>‹Nº›</a:t>
            </a:fld>
            <a:endParaRPr lang="es-PE"/>
          </a:p>
        </p:txBody>
      </p:sp>
    </p:spTree>
    <p:extLst>
      <p:ext uri="{BB962C8B-B14F-4D97-AF65-F5344CB8AC3E}">
        <p14:creationId xmlns="" xmlns:p14="http://schemas.microsoft.com/office/powerpoint/2010/main" val="11873673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714357"/>
            <a:ext cx="7772400" cy="1071569"/>
          </a:xfrm>
        </p:spPr>
        <p:txBody>
          <a:bodyPr>
            <a:normAutofit/>
          </a:bodyPr>
          <a:lstStyle/>
          <a:p>
            <a:pPr algn="l"/>
            <a:r>
              <a:rPr lang="es-PE" sz="1600" dirty="0" smtClean="0"/>
              <a:t>ALSIE  CONSULTORES</a:t>
            </a:r>
            <a:br>
              <a:rPr lang="es-PE" sz="1600" dirty="0" smtClean="0"/>
            </a:br>
            <a:r>
              <a:rPr lang="es-PE" sz="1600" dirty="0" smtClean="0"/>
              <a:t>MAESTRIA EN MEDICO QUIRURGICO</a:t>
            </a:r>
            <a:endParaRPr lang="es-PE" sz="1600" dirty="0"/>
          </a:p>
        </p:txBody>
      </p:sp>
      <p:sp>
        <p:nvSpPr>
          <p:cNvPr id="3" name="2 Subtítulo"/>
          <p:cNvSpPr>
            <a:spLocks noGrp="1"/>
          </p:cNvSpPr>
          <p:nvPr>
            <p:ph type="subTitle" idx="1"/>
          </p:nvPr>
        </p:nvSpPr>
        <p:spPr>
          <a:xfrm>
            <a:off x="714348" y="2000240"/>
            <a:ext cx="7643866" cy="3638560"/>
          </a:xfrm>
        </p:spPr>
        <p:txBody>
          <a:bodyPr>
            <a:normAutofit/>
          </a:bodyPr>
          <a:lstStyle/>
          <a:p>
            <a:r>
              <a:rPr lang="es-PE" b="1" dirty="0" smtClean="0"/>
              <a:t>MIASTENIA GRAVIS</a:t>
            </a:r>
          </a:p>
          <a:p>
            <a:r>
              <a:rPr lang="es-PE" b="1" dirty="0" smtClean="0"/>
              <a:t>SHOCK NEUROGENICO</a:t>
            </a:r>
          </a:p>
          <a:p>
            <a:endParaRPr lang="es-PE" sz="2000" dirty="0" smtClean="0"/>
          </a:p>
          <a:p>
            <a:endParaRPr lang="es-PE" sz="2000" dirty="0" smtClean="0"/>
          </a:p>
          <a:p>
            <a:r>
              <a:rPr lang="es-PE" sz="1800" b="1" dirty="0" smtClean="0"/>
              <a:t>INTEGRANTES : LIC. CELIA MENDOZA VILLCA</a:t>
            </a:r>
          </a:p>
          <a:p>
            <a:r>
              <a:rPr lang="es-PE" sz="1800" b="1" dirty="0" smtClean="0"/>
              <a:t>                                 LIC. VERONICA ROCHA ORTEGA</a:t>
            </a:r>
          </a:p>
          <a:p>
            <a:r>
              <a:rPr lang="es-PE" sz="1800" b="1" dirty="0" smtClean="0"/>
              <a:t>                             LIC. MARIBEL CRUZ MAMANI</a:t>
            </a:r>
          </a:p>
          <a:p>
            <a:r>
              <a:rPr lang="es-PE" sz="1800" b="1" dirty="0" smtClean="0"/>
              <a:t>DOCENTE :        LIC. CINTYA SABIDO HERBAS</a:t>
            </a:r>
          </a:p>
          <a:p>
            <a:endParaRPr lang="es-PE" sz="2800" dirty="0"/>
          </a:p>
        </p:txBody>
      </p:sp>
    </p:spTree>
    <p:extLst>
      <p:ext uri="{BB962C8B-B14F-4D97-AF65-F5344CB8AC3E}">
        <p14:creationId xmlns="" xmlns:p14="http://schemas.microsoft.com/office/powerpoint/2010/main" val="30707266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PE" dirty="0"/>
              <a:t>MIASTEMIA </a:t>
            </a:r>
            <a:r>
              <a:rPr lang="es-PE" dirty="0" smtClean="0"/>
              <a:t>GRAVIS</a:t>
            </a:r>
            <a:endParaRPr lang="es-PE" dirty="0"/>
          </a:p>
        </p:txBody>
      </p:sp>
      <p:sp>
        <p:nvSpPr>
          <p:cNvPr id="3" name="2 Marcador de contenido"/>
          <p:cNvSpPr>
            <a:spLocks noGrp="1"/>
          </p:cNvSpPr>
          <p:nvPr>
            <p:ph idx="1"/>
          </p:nvPr>
        </p:nvSpPr>
        <p:spPr/>
        <p:txBody>
          <a:bodyPr/>
          <a:lstStyle/>
          <a:p>
            <a:pPr lvl="0"/>
            <a:r>
              <a:rPr lang="es-PE" b="1" dirty="0"/>
              <a:t>Definición:</a:t>
            </a:r>
            <a:endParaRPr lang="es-PE" dirty="0"/>
          </a:p>
          <a:p>
            <a:pPr marL="0" indent="0" algn="just">
              <a:buNone/>
            </a:pPr>
            <a:r>
              <a:rPr lang="es-PE" dirty="0"/>
              <a:t>La miastenia grave (MG) es un trastorno autonmunitario, que afecta la unión neuromuscular, se caracteriza por grados variables  de debilidad de los músculos voluntarios. Afecta con mayor frecuencia a las mujeres, que además  tienden a desarrollar la enfermedad a menor edad.</a:t>
            </a:r>
          </a:p>
          <a:p>
            <a:endParaRPr lang="es-PE" dirty="0"/>
          </a:p>
        </p:txBody>
      </p:sp>
    </p:spTree>
    <p:extLst>
      <p:ext uri="{BB962C8B-B14F-4D97-AF65-F5344CB8AC3E}">
        <p14:creationId xmlns="" xmlns:p14="http://schemas.microsoft.com/office/powerpoint/2010/main" val="1095901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Fisiopatología</a:t>
            </a:r>
            <a:endParaRPr lang="es-PE" dirty="0"/>
          </a:p>
        </p:txBody>
      </p:sp>
      <p:sp>
        <p:nvSpPr>
          <p:cNvPr id="3" name="2 Marcador de contenido"/>
          <p:cNvSpPr>
            <a:spLocks noGrp="1"/>
          </p:cNvSpPr>
          <p:nvPr>
            <p:ph idx="1"/>
          </p:nvPr>
        </p:nvSpPr>
        <p:spPr/>
        <p:txBody>
          <a:bodyPr>
            <a:normAutofit fontScale="92500" lnSpcReduction="10000"/>
          </a:bodyPr>
          <a:lstStyle/>
          <a:p>
            <a:pPr algn="just"/>
            <a:r>
              <a:rPr lang="es-PE" dirty="0" smtClean="0"/>
              <a:t>El </a:t>
            </a:r>
            <a:r>
              <a:rPr lang="es-PE" dirty="0"/>
              <a:t>movimiento voluntario depende de la transmisión de impulsos nerviosos a  los músculos en la unión </a:t>
            </a:r>
            <a:r>
              <a:rPr lang="es-PE" dirty="0" err="1"/>
              <a:t>mioneural</a:t>
            </a:r>
            <a:r>
              <a:rPr lang="es-PE" dirty="0"/>
              <a:t>.</a:t>
            </a:r>
          </a:p>
          <a:p>
            <a:pPr lvl="0" algn="just"/>
            <a:r>
              <a:rPr lang="es-PE" dirty="0"/>
              <a:t>Las neuronas motoras (motoneuronas) se comunican con la célula muscular inervada en la placa terminal de la membrana muscular.</a:t>
            </a:r>
          </a:p>
          <a:p>
            <a:pPr lvl="0" algn="just"/>
            <a:r>
              <a:rPr lang="es-PE" dirty="0"/>
              <a:t>En circunstancias normales, el neurotransmisor acetilcolina se une a sitios receptores en la placa terminal motora para crear el potencial de acción  que causa la contracción muscular</a:t>
            </a:r>
            <a:r>
              <a:rPr lang="es-PE" dirty="0" smtClean="0"/>
              <a:t>.</a:t>
            </a:r>
            <a:endParaRPr lang="es-PE" dirty="0"/>
          </a:p>
        </p:txBody>
      </p:sp>
    </p:spTree>
    <p:extLst>
      <p:ext uri="{BB962C8B-B14F-4D97-AF65-F5344CB8AC3E}">
        <p14:creationId xmlns="" xmlns:p14="http://schemas.microsoft.com/office/powerpoint/2010/main" val="25703108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Fisiopatología</a:t>
            </a:r>
            <a:endParaRPr lang="es-PE" dirty="0"/>
          </a:p>
        </p:txBody>
      </p:sp>
      <p:sp>
        <p:nvSpPr>
          <p:cNvPr id="3" name="2 Marcador de contenido"/>
          <p:cNvSpPr>
            <a:spLocks noGrp="1"/>
          </p:cNvSpPr>
          <p:nvPr>
            <p:ph idx="1"/>
          </p:nvPr>
        </p:nvSpPr>
        <p:spPr/>
        <p:txBody>
          <a:bodyPr>
            <a:normAutofit fontScale="92500" lnSpcReduction="10000"/>
          </a:bodyPr>
          <a:lstStyle/>
          <a:p>
            <a:pPr lvl="0" algn="just"/>
            <a:r>
              <a:rPr lang="es-PE" dirty="0" smtClean="0"/>
              <a:t>La acetilcolina solo se activa en la unión </a:t>
            </a:r>
            <a:r>
              <a:rPr lang="es-PE" dirty="0" err="1" smtClean="0"/>
              <a:t>mioneural</a:t>
            </a:r>
            <a:r>
              <a:rPr lang="es-PE" dirty="0" smtClean="0"/>
              <a:t> por un lapso muy breve.</a:t>
            </a:r>
          </a:p>
          <a:p>
            <a:pPr lvl="0" algn="just"/>
            <a:r>
              <a:rPr lang="es-PE" dirty="0" smtClean="0"/>
              <a:t>La enzima acetilcolinesterasa desactiva cualquier acetilcolina que permanezca después de la sinapsis.</a:t>
            </a:r>
          </a:p>
          <a:p>
            <a:pPr lvl="0" algn="just"/>
            <a:r>
              <a:rPr lang="es-PE" dirty="0" smtClean="0"/>
              <a:t>Las contracciones musculares repetidas o la variación  de la fuerza muscular requieren de desactivación, de modo que pueda generarse  otro potencial de acción en la célula muscular inervada.</a:t>
            </a:r>
          </a:p>
          <a:p>
            <a:endParaRPr lang="es-PE" dirty="0"/>
          </a:p>
        </p:txBody>
      </p:sp>
    </p:spTree>
    <p:extLst>
      <p:ext uri="{BB962C8B-B14F-4D97-AF65-F5344CB8AC3E}">
        <p14:creationId xmlns="" xmlns:p14="http://schemas.microsoft.com/office/powerpoint/2010/main" val="33328486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Manifestaciones clínicas</a:t>
            </a:r>
            <a:endParaRPr lang="es-PE" dirty="0"/>
          </a:p>
        </p:txBody>
      </p:sp>
      <p:sp>
        <p:nvSpPr>
          <p:cNvPr id="3" name="2 Marcador de contenido"/>
          <p:cNvSpPr>
            <a:spLocks noGrp="1"/>
          </p:cNvSpPr>
          <p:nvPr>
            <p:ph idx="1"/>
          </p:nvPr>
        </p:nvSpPr>
        <p:spPr/>
        <p:txBody>
          <a:bodyPr>
            <a:normAutofit fontScale="92500"/>
          </a:bodyPr>
          <a:lstStyle/>
          <a:p>
            <a:pPr algn="just"/>
            <a:r>
              <a:rPr lang="es-PE" dirty="0" smtClean="0"/>
              <a:t>La </a:t>
            </a:r>
            <a:r>
              <a:rPr lang="es-PE" dirty="0"/>
              <a:t>manifestación inicial de la MG en dos tercios de los pacientes afecta los </a:t>
            </a:r>
            <a:r>
              <a:rPr lang="es-PE" i="1" dirty="0"/>
              <a:t> </a:t>
            </a:r>
            <a:r>
              <a:rPr lang="es-PE" b="1" i="1" dirty="0"/>
              <a:t>músculos oculares</a:t>
            </a:r>
            <a:r>
              <a:rPr lang="es-PE" dirty="0"/>
              <a:t>. </a:t>
            </a:r>
          </a:p>
          <a:p>
            <a:pPr lvl="0" algn="just"/>
            <a:r>
              <a:rPr lang="es-PE" dirty="0"/>
              <a:t>La </a:t>
            </a:r>
            <a:r>
              <a:rPr lang="es-PE" i="1" dirty="0"/>
              <a:t>diplopía (</a:t>
            </a:r>
            <a:r>
              <a:rPr lang="es-PE" dirty="0"/>
              <a:t>visión doble</a:t>
            </a:r>
            <a:r>
              <a:rPr lang="es-PE" i="1" dirty="0"/>
              <a:t>) </a:t>
            </a:r>
            <a:r>
              <a:rPr lang="es-PE" dirty="0"/>
              <a:t>y la </a:t>
            </a:r>
            <a:r>
              <a:rPr lang="es-PE" i="1" dirty="0"/>
              <a:t>ptosis palpebral </a:t>
            </a:r>
            <a:r>
              <a:rPr lang="es-PE" dirty="0"/>
              <a:t>(caída de los párpados) son frecuentes. </a:t>
            </a:r>
          </a:p>
          <a:p>
            <a:pPr lvl="0" algn="just"/>
            <a:r>
              <a:rPr lang="es-PE" dirty="0"/>
              <a:t>Muchos pacientes también tienen debilidad de los </a:t>
            </a:r>
            <a:r>
              <a:rPr lang="es-PE" i="1" dirty="0"/>
              <a:t>músculos faciales</a:t>
            </a:r>
            <a:r>
              <a:rPr lang="es-PE" dirty="0"/>
              <a:t> y </a:t>
            </a:r>
            <a:r>
              <a:rPr lang="es-PE" i="1" dirty="0"/>
              <a:t>faríngeos</a:t>
            </a:r>
            <a:r>
              <a:rPr lang="es-PE" dirty="0"/>
              <a:t> (síntomas bulbares).</a:t>
            </a:r>
          </a:p>
          <a:p>
            <a:pPr lvl="0" algn="just"/>
            <a:r>
              <a:rPr lang="es-PE" dirty="0"/>
              <a:t>Además debilidad de los músculos de la cara produce facies inexpresivas.</a:t>
            </a:r>
          </a:p>
          <a:p>
            <a:endParaRPr lang="es-PE" dirty="0"/>
          </a:p>
        </p:txBody>
      </p:sp>
    </p:spTree>
    <p:extLst>
      <p:ext uri="{BB962C8B-B14F-4D97-AF65-F5344CB8AC3E}">
        <p14:creationId xmlns="" xmlns:p14="http://schemas.microsoft.com/office/powerpoint/2010/main" val="2186251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Manifestaciones clínicas</a:t>
            </a:r>
            <a:endParaRPr lang="es-PE" dirty="0"/>
          </a:p>
        </p:txBody>
      </p:sp>
      <p:sp>
        <p:nvSpPr>
          <p:cNvPr id="3" name="2 Marcador de contenido"/>
          <p:cNvSpPr>
            <a:spLocks noGrp="1"/>
          </p:cNvSpPr>
          <p:nvPr>
            <p:ph idx="1"/>
          </p:nvPr>
        </p:nvSpPr>
        <p:spPr/>
        <p:txBody>
          <a:bodyPr>
            <a:normAutofit/>
          </a:bodyPr>
          <a:lstStyle/>
          <a:p>
            <a:pPr lvl="0" algn="just"/>
            <a:r>
              <a:rPr lang="es-PE" dirty="0" smtClean="0"/>
              <a:t>El </a:t>
            </a:r>
            <a:r>
              <a:rPr lang="es-PE" dirty="0"/>
              <a:t>compromiso faríngeo causa </a:t>
            </a:r>
            <a:r>
              <a:rPr lang="es-PE" i="1" dirty="0"/>
              <a:t>disfonía (</a:t>
            </a:r>
            <a:r>
              <a:rPr lang="es-PE" dirty="0"/>
              <a:t>alteración de la voz</a:t>
            </a:r>
            <a:r>
              <a:rPr lang="es-PE" i="1" dirty="0"/>
              <a:t>)</a:t>
            </a:r>
            <a:r>
              <a:rPr lang="es-PE" dirty="0"/>
              <a:t> y aumenta el riesgo de atragantamiento y aspiración.</a:t>
            </a:r>
          </a:p>
          <a:p>
            <a:pPr lvl="0" algn="just"/>
            <a:r>
              <a:rPr lang="es-PE" dirty="0"/>
              <a:t>La </a:t>
            </a:r>
            <a:r>
              <a:rPr lang="es-PE" i="1" dirty="0"/>
              <a:t>debilidad generalizada</a:t>
            </a:r>
            <a:r>
              <a:rPr lang="es-PE" dirty="0"/>
              <a:t> afecta todas las extremidades y los músculos intercostales, lo que ocasiona disminución  de la capacidad vital e insuficiencia respiratoria.</a:t>
            </a:r>
          </a:p>
          <a:p>
            <a:pPr marL="0" indent="0">
              <a:buNone/>
            </a:pPr>
            <a:endParaRPr lang="es-PE" dirty="0"/>
          </a:p>
        </p:txBody>
      </p:sp>
    </p:spTree>
    <p:extLst>
      <p:ext uri="{BB962C8B-B14F-4D97-AF65-F5344CB8AC3E}">
        <p14:creationId xmlns="" xmlns:p14="http://schemas.microsoft.com/office/powerpoint/2010/main" val="18391256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Valoración y datos diagnósticos</a:t>
            </a:r>
            <a:endParaRPr lang="es-PE" dirty="0"/>
          </a:p>
        </p:txBody>
      </p:sp>
      <p:sp>
        <p:nvSpPr>
          <p:cNvPr id="3" name="2 Marcador de contenido"/>
          <p:cNvSpPr>
            <a:spLocks noGrp="1"/>
          </p:cNvSpPr>
          <p:nvPr>
            <p:ph idx="1"/>
          </p:nvPr>
        </p:nvSpPr>
        <p:spPr/>
        <p:txBody>
          <a:bodyPr>
            <a:normAutofit fontScale="92500" lnSpcReduction="20000"/>
          </a:bodyPr>
          <a:lstStyle/>
          <a:p>
            <a:pPr algn="just"/>
            <a:r>
              <a:rPr lang="es-PE" dirty="0" smtClean="0"/>
              <a:t>Para </a:t>
            </a:r>
            <a:r>
              <a:rPr lang="es-PE" dirty="0"/>
              <a:t>diagnosticar la MG se administra cloruro de </a:t>
            </a:r>
            <a:r>
              <a:rPr lang="es-PE" dirty="0" err="1"/>
              <a:t>edrofonio</a:t>
            </a:r>
            <a:r>
              <a:rPr lang="es-PE" dirty="0"/>
              <a:t> IV, un inhibidor  de la acetilcolinesterasa de acción rápida., 30 segundos después  de la inyección, la debilidad de los músculos faciales y la ptosis  se resuelven durante  5 minutos  aproximadamente. La mejoría inmediata en la fuerza muscular después de la administración del fármaco  indica un resultado positivo y confirma el diagnostico. Debe tenerse atropina disponible para controlar  los efectos colaterales del </a:t>
            </a:r>
            <a:r>
              <a:rPr lang="es-PE" dirty="0" err="1"/>
              <a:t>edrofonio</a:t>
            </a:r>
            <a:r>
              <a:rPr lang="es-PE" dirty="0"/>
              <a:t>, que incluyen bradicardia, transpiración y calambres</a:t>
            </a:r>
          </a:p>
          <a:p>
            <a:endParaRPr lang="es-PE" dirty="0"/>
          </a:p>
        </p:txBody>
      </p:sp>
    </p:spTree>
    <p:extLst>
      <p:ext uri="{BB962C8B-B14F-4D97-AF65-F5344CB8AC3E}">
        <p14:creationId xmlns="" xmlns:p14="http://schemas.microsoft.com/office/powerpoint/2010/main" val="2960529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Tratamiento</a:t>
            </a:r>
            <a:endParaRPr lang="es-PE" dirty="0"/>
          </a:p>
        </p:txBody>
      </p:sp>
      <p:sp>
        <p:nvSpPr>
          <p:cNvPr id="3" name="2 Marcador de contenido"/>
          <p:cNvSpPr>
            <a:spLocks noGrp="1"/>
          </p:cNvSpPr>
          <p:nvPr>
            <p:ph idx="1"/>
          </p:nvPr>
        </p:nvSpPr>
        <p:spPr>
          <a:xfrm>
            <a:off x="457200" y="1268760"/>
            <a:ext cx="8229600" cy="4857403"/>
          </a:xfrm>
        </p:spPr>
        <p:txBody>
          <a:bodyPr>
            <a:normAutofit fontScale="85000" lnSpcReduction="20000"/>
          </a:bodyPr>
          <a:lstStyle/>
          <a:p>
            <a:pPr algn="just"/>
            <a:r>
              <a:rPr lang="es-PE" dirty="0" smtClean="0"/>
              <a:t>El </a:t>
            </a:r>
            <a:r>
              <a:rPr lang="es-PE" dirty="0"/>
              <a:t>bromuro de piridostigmina, un agente anticolinesterásico, es la primera línea terapéutica. Produce alivio sintomático porque inhibe la degradación de la acetilcolina y aumenta la concentración relativa de la acetilcolina disponible  en la unión neuromuscular. La dosis se incrementa de forma gradual hasta un máximo diario y se divide en varias tomas (casi siempre cuatro veces al día). Fasciculaciones, dolor abdominal, diarrea y aumento de las secreciones bucofaríngeas son algunos de los efectos adversos de los anticolinesterásicos. La  piridostigmina tiende a tener menos efectos colaterales que otros inhibidores de la acetilcolinesterasa. </a:t>
            </a:r>
          </a:p>
          <a:p>
            <a:endParaRPr lang="es-PE" dirty="0"/>
          </a:p>
        </p:txBody>
      </p:sp>
    </p:spTree>
    <p:extLst>
      <p:ext uri="{BB962C8B-B14F-4D97-AF65-F5344CB8AC3E}">
        <p14:creationId xmlns="" xmlns:p14="http://schemas.microsoft.com/office/powerpoint/2010/main" val="5628061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92500" lnSpcReduction="20000"/>
          </a:bodyPr>
          <a:lstStyle/>
          <a:p>
            <a:pPr algn="just"/>
            <a:r>
              <a:rPr lang="es-PE" dirty="0"/>
              <a:t>Si el bromuro de piridostigmina no mejora la fuerza muscular y controla la fatiga, los siguientes fármacos son los inmunomodulares. El objetivo del tratamiento inmunosupresor es reducir la producción  de anticuerpos. Los corticoides suprimen la respuesta  inmunitaria del paciente, lo que disminuye la síntesis de anticuerpos y deriva en mejoría clínica. Se administra una dosis inicial de prednisona al día, conforme los síntomas mejoran, la dosis se reduce de modo gradual y puede usarse una dosis de mantenimiento por tiempo indefinido.</a:t>
            </a:r>
          </a:p>
          <a:p>
            <a:endParaRPr lang="es-PE" dirty="0"/>
          </a:p>
        </p:txBody>
      </p:sp>
    </p:spTree>
    <p:extLst>
      <p:ext uri="{BB962C8B-B14F-4D97-AF65-F5344CB8AC3E}">
        <p14:creationId xmlns="" xmlns:p14="http://schemas.microsoft.com/office/powerpoint/2010/main" val="453083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92500" lnSpcReduction="20000"/>
          </a:bodyPr>
          <a:lstStyle/>
          <a:p>
            <a:pPr algn="just"/>
            <a:r>
              <a:rPr lang="es-PE" dirty="0"/>
              <a:t>Los fármacos citotóxicos se usan para tratar la miastenia grave cuando no se obtiene una respuesta adecuada con los corticoesteroides. Azatioprina  inhibe los linfocitos T y reduce la concentración de anticuerpos contra el receptor de  acetilcolina. Es posible que los efectos terapéuticos  sean evidentes  hasta 3 a 12 meses después. Los efectos colaterales graves incluyen leucopenia y hepatotoxicidad, por lo que es necesaria la valoración de enzimas hepáticas y leucocitos</a:t>
            </a:r>
            <a:r>
              <a:rPr lang="es-PE" dirty="0" smtClean="0"/>
              <a:t>.</a:t>
            </a:r>
            <a:endParaRPr lang="es-PE" dirty="0"/>
          </a:p>
        </p:txBody>
      </p:sp>
    </p:spTree>
    <p:extLst>
      <p:ext uri="{BB962C8B-B14F-4D97-AF65-F5344CB8AC3E}">
        <p14:creationId xmlns="" xmlns:p14="http://schemas.microsoft.com/office/powerpoint/2010/main" val="21824566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lstStyle/>
          <a:p>
            <a:pPr algn="just"/>
            <a:r>
              <a:rPr lang="es-PE" dirty="0"/>
              <a:t>También se emplea Inmunoglobulina intravenosa durante las exacerbaciones, en algunos pacientes se usa como adjunto por tiempo prolongado. La Ig. EV es fácil de administrar, implica la aplicación de gammaglobulina humana acumulada y la mejoría se observa en unos cuantos días.</a:t>
            </a:r>
          </a:p>
          <a:p>
            <a:endParaRPr lang="es-PE" dirty="0"/>
          </a:p>
        </p:txBody>
      </p:sp>
    </p:spTree>
    <p:extLst>
      <p:ext uri="{BB962C8B-B14F-4D97-AF65-F5344CB8AC3E}">
        <p14:creationId xmlns="" xmlns:p14="http://schemas.microsoft.com/office/powerpoint/2010/main" val="28455983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PE" b="1" i="1" dirty="0" smtClean="0"/>
              <a:t>Plasmaféresis </a:t>
            </a:r>
            <a:r>
              <a:rPr lang="es-PE" sz="3200" dirty="0" smtClean="0"/>
              <a:t>(intercambio plasmático) </a:t>
            </a:r>
            <a:endParaRPr lang="es-PE" sz="3200" dirty="0"/>
          </a:p>
        </p:txBody>
      </p:sp>
      <p:sp>
        <p:nvSpPr>
          <p:cNvPr id="3" name="2 Marcador de contenido"/>
          <p:cNvSpPr>
            <a:spLocks noGrp="1"/>
          </p:cNvSpPr>
          <p:nvPr>
            <p:ph idx="1"/>
          </p:nvPr>
        </p:nvSpPr>
        <p:spPr/>
        <p:txBody>
          <a:bodyPr>
            <a:normAutofit fontScale="85000" lnSpcReduction="20000"/>
          </a:bodyPr>
          <a:lstStyle/>
          <a:p>
            <a:pPr algn="just"/>
            <a:r>
              <a:rPr lang="es-PE" dirty="0"/>
              <a:t>E</a:t>
            </a:r>
            <a:r>
              <a:rPr lang="es-PE" dirty="0" smtClean="0"/>
              <a:t>s </a:t>
            </a:r>
            <a:r>
              <a:rPr lang="es-PE" dirty="0"/>
              <a:t>una técnica usada para tratar las exacerbaciones. Se extrae el plasma del paciente y sus componentes a través de un catéter central de calibre grande  y doble luz. Se separan las células sanguíneas del plasma que contiene anticuerpos, luego se infunden de nuevo las células y un sustituto de plasma. El intercambio plasmático produce una reducción transitoria de los anticuerpos circulantes. Un curso típico de plasmaféresis consiste en tratamiento diario o en días alternos, el número de sesiones depende de la respuesta del paciente. Esta técnica mejora  los síntomas en 75% de los casos, pero la mayoría solo dura unas semanas después de completar el régimen.</a:t>
            </a:r>
          </a:p>
          <a:p>
            <a:endParaRPr lang="es-PE" dirty="0"/>
          </a:p>
        </p:txBody>
      </p:sp>
    </p:spTree>
    <p:extLst>
      <p:ext uri="{BB962C8B-B14F-4D97-AF65-F5344CB8AC3E}">
        <p14:creationId xmlns="" xmlns:p14="http://schemas.microsoft.com/office/powerpoint/2010/main" val="21086879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PE" b="1" dirty="0" smtClean="0"/>
              <a:t>Intervenciones de Enfermería </a:t>
            </a:r>
            <a:endParaRPr lang="es-PE" dirty="0"/>
          </a:p>
        </p:txBody>
      </p:sp>
      <p:sp>
        <p:nvSpPr>
          <p:cNvPr id="3" name="2 Marcador de contenido"/>
          <p:cNvSpPr>
            <a:spLocks noGrp="1"/>
          </p:cNvSpPr>
          <p:nvPr>
            <p:ph idx="1"/>
          </p:nvPr>
        </p:nvSpPr>
        <p:spPr/>
        <p:txBody>
          <a:bodyPr>
            <a:normAutofit fontScale="77500" lnSpcReduction="20000"/>
          </a:bodyPr>
          <a:lstStyle/>
          <a:p>
            <a:pPr algn="just"/>
            <a:r>
              <a:rPr lang="es-PE" dirty="0" smtClean="0"/>
              <a:t>El </a:t>
            </a:r>
            <a:r>
              <a:rPr lang="es-PE" dirty="0"/>
              <a:t>estrés de la enfermedad o la cirugía puede exacerbar la MG, por lo cual se recurre a la vigilancia de la actividad respiratoria para predecir insuficiencia respiratoria inminente:</a:t>
            </a:r>
          </a:p>
          <a:p>
            <a:pPr lvl="0" algn="just"/>
            <a:r>
              <a:rPr lang="es-PE" dirty="0"/>
              <a:t>Capacidad vital</a:t>
            </a:r>
          </a:p>
          <a:p>
            <a:pPr lvl="0" algn="just"/>
            <a:r>
              <a:rPr lang="es-PE" dirty="0"/>
              <a:t>Fuerza inspiratoria negativa.</a:t>
            </a:r>
          </a:p>
          <a:p>
            <a:pPr algn="just"/>
            <a:r>
              <a:rPr lang="es-PE" dirty="0"/>
              <a:t>La oxigenación es la necesidad prioritaria del paciente con MG durante una exacerbación o una crisis colinérgica. Como resultado de la debilidad muscular extrema, el ingreso de oxigeno esta afectado, pues el diafragma y los músculos intercostales están demasiado débiles para impulsar la entrada de aire en los pulmones. Por ello es necesario:  </a:t>
            </a:r>
          </a:p>
          <a:p>
            <a:endParaRPr lang="es-PE" dirty="0"/>
          </a:p>
        </p:txBody>
      </p:sp>
    </p:spTree>
    <p:extLst>
      <p:ext uri="{BB962C8B-B14F-4D97-AF65-F5344CB8AC3E}">
        <p14:creationId xmlns="" xmlns:p14="http://schemas.microsoft.com/office/powerpoint/2010/main" val="780554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62500" lnSpcReduction="20000"/>
          </a:bodyPr>
          <a:lstStyle/>
          <a:p>
            <a:pPr marL="514350" lvl="0" indent="-514350" algn="just">
              <a:buFont typeface="+mj-lt"/>
              <a:buAutoNum type="arabicPeriod"/>
            </a:pPr>
            <a:r>
              <a:rPr lang="es-PE" dirty="0"/>
              <a:t>Proteger la vía respiratoria con intubación endotraqueal.</a:t>
            </a:r>
          </a:p>
          <a:p>
            <a:pPr marL="514350" lvl="0" indent="-514350" algn="just">
              <a:buFont typeface="+mj-lt"/>
              <a:buAutoNum type="arabicPeriod"/>
            </a:pPr>
            <a:r>
              <a:rPr lang="es-PE" dirty="0"/>
              <a:t>Apoyar las respiraciones con ventilación mecánica.</a:t>
            </a:r>
          </a:p>
          <a:p>
            <a:pPr marL="514350" lvl="0" indent="-514350" algn="just">
              <a:buFont typeface="+mj-lt"/>
              <a:buAutoNum type="arabicPeriod"/>
            </a:pPr>
            <a:r>
              <a:rPr lang="es-PE" dirty="0"/>
              <a:t>Vigilar al paciente que recibe plasmaféresis.</a:t>
            </a:r>
          </a:p>
          <a:p>
            <a:pPr marL="514350" lvl="0" indent="-514350" algn="just">
              <a:buFont typeface="+mj-lt"/>
              <a:buAutoNum type="arabicPeriod"/>
            </a:pPr>
            <a:r>
              <a:rPr lang="es-PE" dirty="0"/>
              <a:t>Administrar inmunoglobulina IV según se prescriba.</a:t>
            </a:r>
          </a:p>
          <a:p>
            <a:pPr marL="514350" lvl="0" indent="-514350" algn="just">
              <a:buFont typeface="+mj-lt"/>
              <a:buAutoNum type="arabicPeriod"/>
            </a:pPr>
            <a:r>
              <a:rPr lang="es-PE" dirty="0"/>
              <a:t>Proporcionar corticoesteroides según se indique.</a:t>
            </a:r>
          </a:p>
          <a:p>
            <a:pPr marL="514350" lvl="0" indent="-514350" algn="just">
              <a:buFont typeface="+mj-lt"/>
              <a:buAutoNum type="arabicPeriod"/>
            </a:pPr>
            <a:r>
              <a:rPr lang="es-PE" dirty="0"/>
              <a:t>Dar los anticolinesterásicos prescritos:</a:t>
            </a:r>
          </a:p>
          <a:p>
            <a:pPr lvl="0" algn="just"/>
            <a:r>
              <a:rPr lang="es-PE" dirty="0" err="1"/>
              <a:t>Neostigmina</a:t>
            </a:r>
            <a:endParaRPr lang="es-PE" dirty="0"/>
          </a:p>
          <a:p>
            <a:pPr lvl="0" algn="just"/>
            <a:r>
              <a:rPr lang="es-PE" dirty="0"/>
              <a:t>Piridostigmina</a:t>
            </a:r>
          </a:p>
          <a:p>
            <a:pPr lvl="0" algn="just"/>
            <a:r>
              <a:rPr lang="es-PE" dirty="0" err="1"/>
              <a:t>Ambenonio</a:t>
            </a:r>
            <a:endParaRPr lang="es-PE" dirty="0"/>
          </a:p>
          <a:p>
            <a:pPr marL="0" indent="0" algn="just">
              <a:buNone/>
            </a:pPr>
            <a:r>
              <a:rPr lang="es-PE" dirty="0"/>
              <a:t>Se administra terapia inmunosupresora, que se prescribe al no obtenerse el efecto deseado con anticolinesterásicos o </a:t>
            </a:r>
            <a:r>
              <a:rPr lang="es-PE" dirty="0" err="1"/>
              <a:t>timectomia</a:t>
            </a:r>
            <a:r>
              <a:rPr lang="es-PE" dirty="0"/>
              <a:t>:</a:t>
            </a:r>
          </a:p>
          <a:p>
            <a:pPr lvl="0" algn="just"/>
            <a:r>
              <a:rPr lang="es-PE" dirty="0"/>
              <a:t>Prednisona</a:t>
            </a:r>
          </a:p>
          <a:p>
            <a:pPr lvl="0" algn="just"/>
            <a:r>
              <a:rPr lang="es-PE" dirty="0"/>
              <a:t>Azatioprina</a:t>
            </a:r>
          </a:p>
          <a:p>
            <a:pPr lvl="0" algn="just"/>
            <a:r>
              <a:rPr lang="es-PE" dirty="0" err="1"/>
              <a:t>Ciclofosfamida</a:t>
            </a:r>
            <a:r>
              <a:rPr lang="es-PE" dirty="0"/>
              <a:t>.</a:t>
            </a:r>
          </a:p>
          <a:p>
            <a:endParaRPr lang="es-PE" dirty="0"/>
          </a:p>
        </p:txBody>
      </p:sp>
    </p:spTree>
    <p:extLst>
      <p:ext uri="{BB962C8B-B14F-4D97-AF65-F5344CB8AC3E}">
        <p14:creationId xmlns="" xmlns:p14="http://schemas.microsoft.com/office/powerpoint/2010/main" val="15028693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85000" lnSpcReduction="10000"/>
          </a:bodyPr>
          <a:lstStyle/>
          <a:p>
            <a:pPr marL="0" indent="0" algn="just">
              <a:buNone/>
            </a:pPr>
            <a:r>
              <a:rPr lang="es-PE" dirty="0"/>
              <a:t>Una vez que cede la exacerbación aguda de los síntomas graves, el plan de enfermería  se centra en las siguientes necesidades básicas:</a:t>
            </a:r>
          </a:p>
          <a:p>
            <a:pPr lvl="0" algn="just">
              <a:buFont typeface="Wingdings" pitchFamily="2" charset="2"/>
              <a:buChar char="q"/>
            </a:pPr>
            <a:r>
              <a:rPr lang="es-PE" dirty="0"/>
              <a:t>Conservación de energía:</a:t>
            </a:r>
          </a:p>
          <a:p>
            <a:pPr lvl="0" algn="just"/>
            <a:r>
              <a:rPr lang="es-PE" dirty="0"/>
              <a:t>Incorporar periodos  de reposo antes y después de cada actividad de la vida diaria.</a:t>
            </a:r>
          </a:p>
          <a:p>
            <a:pPr lvl="0" algn="just"/>
            <a:r>
              <a:rPr lang="es-PE" dirty="0"/>
              <a:t>Desarrollar estrategias de conservación de energía para reducir  la fatiga y optimizar la actividad.</a:t>
            </a:r>
          </a:p>
          <a:p>
            <a:pPr lvl="0" algn="just"/>
            <a:r>
              <a:rPr lang="es-PE" dirty="0"/>
              <a:t>Programar las actividades durante los momentos en que el nivel de energía y la resistencia son máximos.</a:t>
            </a:r>
          </a:p>
          <a:p>
            <a:endParaRPr lang="es-PE" dirty="0"/>
          </a:p>
        </p:txBody>
      </p:sp>
    </p:spTree>
    <p:extLst>
      <p:ext uri="{BB962C8B-B14F-4D97-AF65-F5344CB8AC3E}">
        <p14:creationId xmlns="" xmlns:p14="http://schemas.microsoft.com/office/powerpoint/2010/main" val="24096471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92500"/>
          </a:bodyPr>
          <a:lstStyle/>
          <a:p>
            <a:pPr lvl="0">
              <a:buFont typeface="Wingdings" pitchFamily="2" charset="2"/>
              <a:buChar char="q"/>
            </a:pPr>
            <a:r>
              <a:rPr lang="es-PE" dirty="0"/>
              <a:t>Nutrición:</a:t>
            </a:r>
          </a:p>
          <a:p>
            <a:pPr lvl="0"/>
            <a:r>
              <a:rPr lang="es-PE" dirty="0"/>
              <a:t>Consumir una dieta blanda con alimentos viscosos y líquidos espesados, debido a episodios de atragantamiento son mas frecuentes.</a:t>
            </a:r>
          </a:p>
          <a:p>
            <a:pPr lvl="0"/>
            <a:r>
              <a:rPr lang="es-PE" dirty="0"/>
              <a:t>El paciente debe colocarse erecto con la cabeza inclinada  un poco hacia adelante   para las comidas. Comer con lentitud bocados pequeños, masticar de manera adecuada los alimentos y beber  sorbos pequeños.</a:t>
            </a:r>
          </a:p>
          <a:p>
            <a:endParaRPr lang="es-PE" dirty="0"/>
          </a:p>
        </p:txBody>
      </p:sp>
    </p:spTree>
    <p:extLst>
      <p:ext uri="{BB962C8B-B14F-4D97-AF65-F5344CB8AC3E}">
        <p14:creationId xmlns="" xmlns:p14="http://schemas.microsoft.com/office/powerpoint/2010/main" val="15382811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77500" lnSpcReduction="20000"/>
          </a:bodyPr>
          <a:lstStyle/>
          <a:p>
            <a:pPr lvl="0" algn="just">
              <a:buFont typeface="Wingdings" pitchFamily="2" charset="2"/>
              <a:buChar char="q"/>
            </a:pPr>
            <a:r>
              <a:rPr lang="es-PE" dirty="0"/>
              <a:t>Para evitar el riesgo de lesión a causa de la debilidad muscular y las alteraciones visuales (caídas), la deglución deficiente (posible aspiración) y la debilidad o demora del reflejo de parpadeo y el cierre palpebral:</a:t>
            </a:r>
          </a:p>
          <a:p>
            <a:pPr lvl="0" algn="just"/>
            <a:r>
              <a:rPr lang="es-PE" dirty="0"/>
              <a:t>Colocar un parche en un ojo para eliminar la diplopía y el mareo resultante.</a:t>
            </a:r>
          </a:p>
          <a:p>
            <a:pPr lvl="0" algn="just"/>
            <a:r>
              <a:rPr lang="es-PE" dirty="0"/>
              <a:t>Administrar cuidado oftálmico frecuente  con gotas (verificar las fechas de aspiración) y un apósito protector durante el sueño.</a:t>
            </a:r>
          </a:p>
          <a:p>
            <a:pPr lvl="0" algn="just"/>
            <a:r>
              <a:rPr lang="es-PE" dirty="0"/>
              <a:t>Ayudar al paciente en el baño e instruirlo sobre el uso del barandal (para usar el retrete y bañarse).</a:t>
            </a:r>
          </a:p>
          <a:p>
            <a:pPr lvl="0" algn="just"/>
            <a:r>
              <a:rPr lang="es-PE" dirty="0"/>
              <a:t>En caso de ser necesario, colaborar en la fisioterapia y la enseñanza del uso de dispositivos auxiliares</a:t>
            </a:r>
            <a:r>
              <a:rPr lang="es-PE" dirty="0" smtClean="0"/>
              <a:t>.</a:t>
            </a:r>
            <a:endParaRPr lang="es-PE" dirty="0"/>
          </a:p>
        </p:txBody>
      </p:sp>
    </p:spTree>
    <p:extLst>
      <p:ext uri="{BB962C8B-B14F-4D97-AF65-F5344CB8AC3E}">
        <p14:creationId xmlns="" xmlns:p14="http://schemas.microsoft.com/office/powerpoint/2010/main" val="35575234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85000" lnSpcReduction="10000"/>
          </a:bodyPr>
          <a:lstStyle/>
          <a:p>
            <a:pPr lvl="0" algn="just"/>
            <a:r>
              <a:rPr lang="es-PE" dirty="0" smtClean="0"/>
              <a:t>Mantener </a:t>
            </a:r>
            <a:r>
              <a:rPr lang="es-PE" dirty="0"/>
              <a:t>el camino a la habitación libre de obstáculos, con espacio amplio para el uso de dispositivos auxiliares.</a:t>
            </a:r>
          </a:p>
          <a:p>
            <a:pPr lvl="0" algn="just"/>
            <a:r>
              <a:rPr lang="es-PE" dirty="0"/>
              <a:t>Instruir al paciente para que no intente movilizarse por si solo, sino que use el timbre de urgencia en caso que la debilidad empeore.</a:t>
            </a:r>
          </a:p>
          <a:p>
            <a:pPr lvl="0" algn="just"/>
            <a:r>
              <a:rPr lang="es-PE" dirty="0"/>
              <a:t>Colaborar en el estudio de  deglución antes de la toma oral ante una sospecha de alto riesgo de aspiración.</a:t>
            </a:r>
          </a:p>
          <a:p>
            <a:pPr lvl="0" algn="just"/>
            <a:r>
              <a:rPr lang="es-PE" dirty="0"/>
              <a:t>Diferir las comidas durante lapsos de debilidad extrema y alimentar al paciente en momentos de fuerza optima. </a:t>
            </a:r>
          </a:p>
          <a:p>
            <a:endParaRPr lang="es-PE" dirty="0"/>
          </a:p>
        </p:txBody>
      </p:sp>
    </p:spTree>
    <p:extLst>
      <p:ext uri="{BB962C8B-B14F-4D97-AF65-F5344CB8AC3E}">
        <p14:creationId xmlns="" xmlns:p14="http://schemas.microsoft.com/office/powerpoint/2010/main" val="37935762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lstStyle/>
          <a:p>
            <a:pPr lvl="0">
              <a:buFont typeface="Wingdings" pitchFamily="2" charset="2"/>
              <a:buChar char="q"/>
            </a:pPr>
            <a:r>
              <a:rPr lang="es-PE" dirty="0"/>
              <a:t>Para prevenir la fatiga excesiva y el empeoramiento de los síntomas:</a:t>
            </a:r>
          </a:p>
          <a:p>
            <a:pPr lvl="0"/>
            <a:r>
              <a:rPr lang="es-PE" dirty="0"/>
              <a:t>Tomar los inhibidores de colinesterasa prescritos a la hora exacta para mantener las concentraciones sanguíneas y la eficacia.</a:t>
            </a:r>
          </a:p>
          <a:p>
            <a:pPr lvl="0"/>
            <a:r>
              <a:rPr lang="es-PE" dirty="0"/>
              <a:t>Tomar los inhibidores de colinesterasa  30 a 40 minutos antes de las comidas a fin de maximizar la fuerza para masticar y deglutir.</a:t>
            </a:r>
          </a:p>
          <a:p>
            <a:endParaRPr lang="es-PE" dirty="0"/>
          </a:p>
        </p:txBody>
      </p:sp>
    </p:spTree>
    <p:extLst>
      <p:ext uri="{BB962C8B-B14F-4D97-AF65-F5344CB8AC3E}">
        <p14:creationId xmlns="" xmlns:p14="http://schemas.microsoft.com/office/powerpoint/2010/main" val="3465588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3" name="2 Marcador de contenido"/>
          <p:cNvSpPr>
            <a:spLocks noGrp="1"/>
          </p:cNvSpPr>
          <p:nvPr>
            <p:ph idx="1"/>
          </p:nvPr>
        </p:nvSpPr>
        <p:spPr/>
        <p:txBody>
          <a:bodyPr>
            <a:normAutofit fontScale="85000" lnSpcReduction="10000"/>
          </a:bodyPr>
          <a:lstStyle/>
          <a:p>
            <a:pPr lvl="0">
              <a:buFont typeface="Wingdings" pitchFamily="2" charset="2"/>
              <a:buChar char="q"/>
            </a:pPr>
            <a:r>
              <a:rPr lang="es-PE" dirty="0"/>
              <a:t>Deben prevenirse las crisis miasténicas, de modo que se enseña al paciente a evitar el estrés psicológico  o fisiológico que podría causar insuficiencia respiratoria:</a:t>
            </a:r>
          </a:p>
          <a:p>
            <a:pPr lvl="0"/>
            <a:r>
              <a:rPr lang="es-PE" dirty="0"/>
              <a:t>Infección</a:t>
            </a:r>
          </a:p>
          <a:p>
            <a:pPr lvl="0"/>
            <a:r>
              <a:rPr lang="es-PE" dirty="0"/>
              <a:t>Embarazo</a:t>
            </a:r>
          </a:p>
          <a:p>
            <a:pPr lvl="0"/>
            <a:r>
              <a:rPr lang="es-PE" dirty="0"/>
              <a:t>Malestar emocional</a:t>
            </a:r>
          </a:p>
          <a:p>
            <a:pPr lvl="0"/>
            <a:r>
              <a:rPr lang="es-PE" dirty="0"/>
              <a:t>Consumo de alcohol</a:t>
            </a:r>
          </a:p>
          <a:p>
            <a:pPr lvl="0"/>
            <a:r>
              <a:rPr lang="es-PE" dirty="0"/>
              <a:t>Actividad física vigorosa</a:t>
            </a:r>
          </a:p>
          <a:p>
            <a:pPr lvl="0"/>
            <a:r>
              <a:rPr lang="es-PE" dirty="0"/>
              <a:t>Exposición a frio o a calor intenso</a:t>
            </a:r>
          </a:p>
          <a:p>
            <a:pPr lvl="0"/>
            <a:r>
              <a:rPr lang="es-PE" dirty="0"/>
              <a:t>Anticolinesterásicos (en exceso o insuficientes)</a:t>
            </a:r>
          </a:p>
          <a:p>
            <a:endParaRPr lang="es-PE" dirty="0"/>
          </a:p>
        </p:txBody>
      </p:sp>
    </p:spTree>
    <p:extLst>
      <p:ext uri="{BB962C8B-B14F-4D97-AF65-F5344CB8AC3E}">
        <p14:creationId xmlns="" xmlns:p14="http://schemas.microsoft.com/office/powerpoint/2010/main" val="112821827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TotalTime>
  <Words>1447</Words>
  <Application>Microsoft Office PowerPoint</Application>
  <PresentationFormat>Presentación en pantalla (4:3)</PresentationFormat>
  <Paragraphs>83</Paragraphs>
  <Slides>20</Slides>
  <Notes>0</Notes>
  <HiddenSlides>0</HiddenSlides>
  <MMClips>0</MMClips>
  <ScaleCrop>false</ScaleCrop>
  <HeadingPairs>
    <vt:vector size="4" baseType="variant">
      <vt:variant>
        <vt:lpstr>Tema</vt:lpstr>
      </vt:variant>
      <vt:variant>
        <vt:i4>1</vt:i4>
      </vt:variant>
      <vt:variant>
        <vt:lpstr>Títulos de diapositiva</vt:lpstr>
      </vt:variant>
      <vt:variant>
        <vt:i4>20</vt:i4>
      </vt:variant>
    </vt:vector>
  </HeadingPairs>
  <TitlesOfParts>
    <vt:vector size="21" baseType="lpstr">
      <vt:lpstr>Tema de Office</vt:lpstr>
      <vt:lpstr>ALSIE  CONSULTORES MAESTRIA EN MEDICO QUIRURGICO</vt:lpstr>
      <vt:lpstr>MIASTEMIA GRAVIS</vt:lpstr>
      <vt:lpstr>Fisiopatología</vt:lpstr>
      <vt:lpstr>Fisiopatología</vt:lpstr>
      <vt:lpstr>Manifestaciones clínicas</vt:lpstr>
      <vt:lpstr>Manifestaciones clínicas</vt:lpstr>
      <vt:lpstr>Valoración y datos diagnósticos</vt:lpstr>
      <vt:lpstr>Tratamiento</vt:lpstr>
      <vt:lpstr>Diapositiva 9</vt:lpstr>
      <vt:lpstr>Diapositiva 10</vt:lpstr>
      <vt:lpstr>Diapositiva 11</vt:lpstr>
      <vt:lpstr>Plasmaféresis (intercambio plasmático) </vt:lpstr>
      <vt:lpstr>Intervenciones de Enfermería </vt:lpstr>
      <vt:lpstr>Diapositiva 14</vt:lpstr>
      <vt:lpstr>Diapositiva 15</vt:lpstr>
      <vt:lpstr>Diapositiva 16</vt:lpstr>
      <vt:lpstr>Diapositiva 17</vt:lpstr>
      <vt:lpstr>Diapositiva 18</vt:lpstr>
      <vt:lpstr>Diapositiva 19</vt:lpstr>
      <vt:lpstr>Diapositiva 20</vt:lpstr>
    </vt:vector>
  </TitlesOfParts>
  <Company>M&amp;V</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Mendoza</dc:creator>
  <cp:lastModifiedBy>UserXP</cp:lastModifiedBy>
  <cp:revision>4</cp:revision>
  <dcterms:created xsi:type="dcterms:W3CDTF">2014-04-04T23:13:05Z</dcterms:created>
  <dcterms:modified xsi:type="dcterms:W3CDTF">2014-04-05T01:49:26Z</dcterms:modified>
</cp:coreProperties>
</file>