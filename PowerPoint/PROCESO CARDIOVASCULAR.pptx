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63" r:id="rId2"/>
    <p:sldId id="261" r:id="rId3"/>
    <p:sldId id="264" r:id="rId4"/>
    <p:sldId id="265" r:id="rId5"/>
    <p:sldId id="266" r:id="rId6"/>
    <p:sldId id="278" r:id="rId7"/>
    <p:sldId id="267" r:id="rId8"/>
    <p:sldId id="268" r:id="rId9"/>
    <p:sldId id="262" r:id="rId10"/>
    <p:sldId id="257" r:id="rId11"/>
    <p:sldId id="258" r:id="rId12"/>
    <p:sldId id="269" r:id="rId13"/>
    <p:sldId id="270" r:id="rId14"/>
    <p:sldId id="271" r:id="rId15"/>
    <p:sldId id="260" r:id="rId16"/>
    <p:sldId id="280" r:id="rId17"/>
    <p:sldId id="281" r:id="rId18"/>
    <p:sldId id="272" r:id="rId19"/>
    <p:sldId id="273" r:id="rId20"/>
    <p:sldId id="274" r:id="rId21"/>
    <p:sldId id="275" r:id="rId22"/>
    <p:sldId id="276" r:id="rId23"/>
    <p:sldId id="277" r:id="rId24"/>
    <p:sldId id="279" r:id="rId25"/>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2" autoAdjust="0"/>
    <p:restoredTop sz="94684" autoAdjust="0"/>
  </p:normalViewPr>
  <p:slideViewPr>
    <p:cSldViewPr>
      <p:cViewPr>
        <p:scale>
          <a:sx n="50" d="100"/>
          <a:sy n="50" d="100"/>
        </p:scale>
        <p:origin x="-1002" y="-1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B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00CD8-F308-4658-BD00-AF069C19EF12}" type="datetimeFigureOut">
              <a:rPr lang="es-BO" smtClean="0"/>
              <a:t>15/03/2014</a:t>
            </a:fld>
            <a:endParaRPr lang="es-B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B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B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C10A1E-E307-4485-9B3C-1E4145EDF0F1}" type="slidenum">
              <a:rPr lang="es-BO" smtClean="0"/>
              <a:t>‹Nº›</a:t>
            </a:fld>
            <a:endParaRPr lang="es-BO"/>
          </a:p>
        </p:txBody>
      </p:sp>
    </p:spTree>
    <p:extLst>
      <p:ext uri="{BB962C8B-B14F-4D97-AF65-F5344CB8AC3E}">
        <p14:creationId xmlns:p14="http://schemas.microsoft.com/office/powerpoint/2010/main" val="2443697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BO" dirty="0"/>
          </a:p>
        </p:txBody>
      </p:sp>
      <p:sp>
        <p:nvSpPr>
          <p:cNvPr id="4" name="3 Marcador de número de diapositiva"/>
          <p:cNvSpPr>
            <a:spLocks noGrp="1"/>
          </p:cNvSpPr>
          <p:nvPr>
            <p:ph type="sldNum" sz="quarter" idx="10"/>
          </p:nvPr>
        </p:nvSpPr>
        <p:spPr/>
        <p:txBody>
          <a:bodyPr/>
          <a:lstStyle/>
          <a:p>
            <a:fld id="{D4C10A1E-E307-4485-9B3C-1E4145EDF0F1}" type="slidenum">
              <a:rPr lang="es-BO" smtClean="0"/>
              <a:t>18</a:t>
            </a:fld>
            <a:endParaRPr lang="es-BO"/>
          </a:p>
        </p:txBody>
      </p:sp>
    </p:spTree>
    <p:extLst>
      <p:ext uri="{BB962C8B-B14F-4D97-AF65-F5344CB8AC3E}">
        <p14:creationId xmlns:p14="http://schemas.microsoft.com/office/powerpoint/2010/main" val="3744078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009442" y="3307355"/>
            <a:ext cx="7117180" cy="1470025"/>
          </a:xfrm>
        </p:spPr>
        <p:txBody>
          <a:bodyPr anchor="b"/>
          <a:lstStyle>
            <a:lvl1pPr>
              <a:defRPr sz="40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009442" y="4777380"/>
            <a:ext cx="7117180" cy="861420"/>
          </a:xfrm>
        </p:spPr>
        <p:txBody>
          <a:bodyPr anchor="t">
            <a:normAutofit/>
          </a:bodyPr>
          <a:lstStyle>
            <a:lvl1pPr marL="0" indent="0" algn="l">
              <a:buNone/>
              <a:defRPr sz="20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smtClean="0"/>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09443" y="3308581"/>
            <a:ext cx="7117178" cy="1468800"/>
          </a:xfrm>
        </p:spPr>
        <p:txBody>
          <a:bodyPr anchor="b"/>
          <a:lstStyle>
            <a:lvl1pPr algn="r">
              <a:defRPr sz="3200" b="0" cap="none"/>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09443" y="4777381"/>
            <a:ext cx="7117178" cy="860400"/>
          </a:xfrm>
        </p:spPr>
        <p:txBody>
          <a:bodyPr anchor="t">
            <a:normAutofit/>
          </a:bodyPr>
          <a:lstStyle>
            <a:lvl1pPr marL="0" indent="0" algn="r">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09443" y="675724"/>
            <a:ext cx="7123080" cy="924475"/>
          </a:xfrm>
        </p:spPr>
        <p:txBody>
          <a:bodyPr/>
          <a:lstStyle/>
          <a:p>
            <a:r>
              <a:rPr lang="es-ES" smtClean="0"/>
              <a:t>Haga clic para modificar el estilo de título del patrón</a:t>
            </a:r>
            <a:endParaRPr lang="en-US"/>
          </a:p>
        </p:txBody>
      </p:sp>
      <p:sp>
        <p:nvSpPr>
          <p:cNvPr id="3" name="Content Placeholder 2"/>
          <p:cNvSpPr>
            <a:spLocks noGrp="1"/>
          </p:cNvSpPr>
          <p:nvPr>
            <p:ph sz="half" idx="1"/>
          </p:nvPr>
        </p:nvSpPr>
        <p:spPr>
          <a:xfrm>
            <a:off x="1009442" y="1809749"/>
            <a:ext cx="3471277" cy="405130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Content Placeholder 3"/>
          <p:cNvSpPr>
            <a:spLocks noGrp="1"/>
          </p:cNvSpPr>
          <p:nvPr>
            <p:ph sz="half" idx="2"/>
          </p:nvPr>
        </p:nvSpPr>
        <p:spPr>
          <a:xfrm>
            <a:off x="4663281" y="1809749"/>
            <a:ext cx="3469242" cy="4051302"/>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D8413D-509B-4BFD-AE2A-D9820170EF70}" type="datetimeFigureOut">
              <a:rPr lang="es-BO" smtClean="0"/>
              <a:t>15/03/2014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09442" y="1812927"/>
            <a:ext cx="347127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09442" y="2389189"/>
            <a:ext cx="3471277"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Text Placeholder 4"/>
          <p:cNvSpPr>
            <a:spLocks noGrp="1"/>
          </p:cNvSpPr>
          <p:nvPr>
            <p:ph type="body" sz="quarter" idx="3"/>
          </p:nvPr>
        </p:nvSpPr>
        <p:spPr>
          <a:xfrm>
            <a:off x="4663280" y="1812927"/>
            <a:ext cx="347127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63280" y="2389189"/>
            <a:ext cx="3471275"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Date Placeholder 6"/>
          <p:cNvSpPr>
            <a:spLocks noGrp="1"/>
          </p:cNvSpPr>
          <p:nvPr>
            <p:ph type="dt" sz="half" idx="10"/>
          </p:nvPr>
        </p:nvSpPr>
        <p:spPr/>
        <p:txBody>
          <a:bodyPr/>
          <a:lstStyle/>
          <a:p>
            <a:fld id="{EBD8413D-509B-4BFD-AE2A-D9820170EF70}" type="datetimeFigureOut">
              <a:rPr lang="es-BO" smtClean="0"/>
              <a:t>15/03/2014</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EBD8413D-509B-4BFD-AE2A-D9820170EF70}" type="datetimeFigureOut">
              <a:rPr lang="es-BO" smtClean="0"/>
              <a:t>15/03/2014</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D8413D-509B-4BFD-AE2A-D9820170EF70}" type="datetimeFigureOut">
              <a:rPr lang="es-BO" smtClean="0"/>
              <a:t>15/03/2014</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09442" y="446087"/>
            <a:ext cx="2660650" cy="1185861"/>
          </a:xfrm>
        </p:spPr>
        <p:txBody>
          <a:bodyPr anchor="b"/>
          <a:lstStyle>
            <a:lvl1pPr algn="l">
              <a:defRPr sz="24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3852654" y="446087"/>
            <a:ext cx="4279869" cy="5414963"/>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Text Placeholder 3"/>
          <p:cNvSpPr>
            <a:spLocks noGrp="1"/>
          </p:cNvSpPr>
          <p:nvPr>
            <p:ph type="body" sz="half" idx="2"/>
          </p:nvPr>
        </p:nvSpPr>
        <p:spPr>
          <a:xfrm>
            <a:off x="1009442" y="1631949"/>
            <a:ext cx="2660650" cy="4229099"/>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BD8413D-509B-4BFD-AE2A-D9820170EF70}" type="datetimeFigureOut">
              <a:rPr lang="es-BO" smtClean="0"/>
              <a:t>15/03/2014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09443" y="1387058"/>
            <a:ext cx="3297953" cy="1113254"/>
          </a:xfrm>
        </p:spPr>
        <p:txBody>
          <a:bodyPr anchor="b">
            <a:normAutofit/>
          </a:bodyPr>
          <a:lstStyle>
            <a:lvl1pPr algn="l">
              <a:defRPr sz="2400" b="0"/>
            </a:lvl1pPr>
          </a:lstStyle>
          <a:p>
            <a:r>
              <a:rPr lang="es-ES" smtClean="0"/>
              <a:t>Haga clic para modificar el estilo de título del patrón</a:t>
            </a:r>
            <a:endParaRPr lang="en-US"/>
          </a:p>
        </p:txBody>
      </p:sp>
      <p:sp>
        <p:nvSpPr>
          <p:cNvPr id="4" name="Text Placeholder 3"/>
          <p:cNvSpPr>
            <a:spLocks noGrp="1"/>
          </p:cNvSpPr>
          <p:nvPr>
            <p:ph type="body" sz="half" idx="2"/>
          </p:nvPr>
        </p:nvSpPr>
        <p:spPr>
          <a:xfrm>
            <a:off x="1009443" y="2500312"/>
            <a:ext cx="3297954" cy="253020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BD8413D-509B-4BFD-AE2A-D9820170EF70}" type="datetimeFigureOut">
              <a:rPr lang="es-BO" smtClean="0"/>
              <a:t>15/03/2014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719ACD2A-BEB6-4EA0-98F1-E0B0E5A7F5F5}" type="slidenum">
              <a:rPr lang="es-BO" smtClean="0"/>
              <a:t>‹Nº›</a:t>
            </a:fld>
            <a:endParaRPr lang="es-BO"/>
          </a:p>
        </p:txBody>
      </p:sp>
      <p:grpSp>
        <p:nvGrpSpPr>
          <p:cNvPr id="16" name="Group 15"/>
          <p:cNvGrpSpPr/>
          <p:nvPr/>
        </p:nvGrpSpPr>
        <p:grpSpPr>
          <a:xfrm>
            <a:off x="4516154" y="994387"/>
            <a:ext cx="1847138" cy="1530439"/>
            <a:chOff x="4718762" y="993075"/>
            <a:chExt cx="1847138" cy="1530439"/>
          </a:xfrm>
        </p:grpSpPr>
        <p:sp>
          <p:nvSpPr>
            <p:cNvPr id="32" name="Oval 31"/>
            <p:cNvSpPr/>
            <p:nvPr/>
          </p:nvSpPr>
          <p:spPr>
            <a:xfrm>
              <a:off x="5479247" y="1436861"/>
              <a:ext cx="1086653" cy="1086653"/>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5650541" y="1411791"/>
              <a:ext cx="830365" cy="830365"/>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5256184" y="1894454"/>
              <a:ext cx="602364" cy="602364"/>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5424145" y="1811313"/>
              <a:ext cx="489588" cy="489588"/>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4718762" y="2083426"/>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6132091" y="993075"/>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5059596" y="1894454"/>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p:cNvSpPr/>
            <p:nvPr/>
          </p:nvSpPr>
          <p:spPr>
            <a:xfrm>
              <a:off x="6148801" y="1060593"/>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Picture Placeholder 17"/>
          <p:cNvSpPr>
            <a:spLocks noGrp="1"/>
          </p:cNvSpPr>
          <p:nvPr>
            <p:ph type="pic" sz="quarter" idx="14"/>
          </p:nvPr>
        </p:nvSpPr>
        <p:spPr>
          <a:xfrm>
            <a:off x="4674192" y="1601512"/>
            <a:ext cx="3429000" cy="3429000"/>
          </a:xfrm>
          <a:prstGeom prst="ellipse">
            <a:avLst/>
          </a:prstGeom>
          <a:ln w="76200">
            <a:solidFill>
              <a:schemeClr val="tx2">
                <a:lumMod val="75000"/>
              </a:schemeClr>
            </a:solidFill>
          </a:ln>
        </p:spPr>
        <p:txBody>
          <a:bodyPr/>
          <a:lstStyle/>
          <a:p>
            <a:r>
              <a:rPr lang="es-ES" smtClean="0"/>
              <a:t>Haga clic en el icono para agregar una imagen</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09443" y="1807361"/>
            <a:ext cx="7123080" cy="405143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1" y="675723"/>
            <a:ext cx="1472962" cy="5185328"/>
          </a:xfrm>
        </p:spPr>
        <p:txBody>
          <a:bodyPr vert="eaVert"/>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09442" y="675723"/>
            <a:ext cx="5467557" cy="518532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EBD8413D-509B-4BFD-AE2A-D9820170EF70}" type="datetimeFigureOut">
              <a:rPr lang="es-BO" smtClean="0"/>
              <a:t>15/03/2014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719ACD2A-BEB6-4EA0-98F1-E0B0E5A7F5F5}" type="slidenum">
              <a:rPr lang="es-BO" smtClean="0"/>
              <a:t>‹Nº›</a:t>
            </a:fld>
            <a:endParaRPr lang="es-BO"/>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56" name="Oval 55"/>
          <p:cNvSpPr>
            <a:spLocks noChangeAspect="1"/>
          </p:cNvSpPr>
          <p:nvPr/>
        </p:nvSpPr>
        <p:spPr>
          <a:xfrm>
            <a:off x="-69625" y="4042576"/>
            <a:ext cx="1743945" cy="1909234"/>
          </a:xfrm>
          <a:custGeom>
            <a:avLst/>
            <a:gdLst/>
            <a:ahLst/>
            <a:cxnLst/>
            <a:rect l="l" t="t" r="r" b="b"/>
            <a:pathLst>
              <a:path w="1743945" h="1909234">
                <a:moveTo>
                  <a:pt x="789328" y="0"/>
                </a:moveTo>
                <a:cubicBezTo>
                  <a:pt x="1316548" y="0"/>
                  <a:pt x="1743945" y="427397"/>
                  <a:pt x="1743945" y="954617"/>
                </a:cubicBezTo>
                <a:cubicBezTo>
                  <a:pt x="1743945" y="1481837"/>
                  <a:pt x="1316548" y="1909234"/>
                  <a:pt x="789328" y="1909234"/>
                </a:cubicBezTo>
                <a:cubicBezTo>
                  <a:pt x="461080" y="1909234"/>
                  <a:pt x="171527" y="1743562"/>
                  <a:pt x="0" y="1491086"/>
                </a:cubicBezTo>
                <a:lnTo>
                  <a:pt x="0" y="418149"/>
                </a:lnTo>
                <a:cubicBezTo>
                  <a:pt x="171527" y="165673"/>
                  <a:pt x="461080" y="0"/>
                  <a:pt x="789328"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3" name="Oval 52"/>
          <p:cNvSpPr>
            <a:spLocks noChangeAspect="1"/>
          </p:cNvSpPr>
          <p:nvPr/>
        </p:nvSpPr>
        <p:spPr>
          <a:xfrm>
            <a:off x="520638" y="1095310"/>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2" name="Oval 51"/>
          <p:cNvSpPr>
            <a:spLocks noChangeAspect="1"/>
          </p:cNvSpPr>
          <p:nvPr/>
        </p:nvSpPr>
        <p:spPr>
          <a:xfrm>
            <a:off x="1878729" y="282933"/>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4" name="Oval 53"/>
          <p:cNvSpPr>
            <a:spLocks noChangeAspect="1"/>
          </p:cNvSpPr>
          <p:nvPr/>
        </p:nvSpPr>
        <p:spPr>
          <a:xfrm>
            <a:off x="520637" y="5729135"/>
            <a:ext cx="1909234" cy="1193756"/>
          </a:xfrm>
          <a:custGeom>
            <a:avLst/>
            <a:gdLst/>
            <a:ahLst/>
            <a:cxnLst/>
            <a:rect l="l" t="t" r="r" b="b"/>
            <a:pathLst>
              <a:path w="1909234" h="1193756">
                <a:moveTo>
                  <a:pt x="954617" y="0"/>
                </a:moveTo>
                <a:cubicBezTo>
                  <a:pt x="1481837" y="0"/>
                  <a:pt x="1909234" y="427397"/>
                  <a:pt x="1909234" y="954617"/>
                </a:cubicBezTo>
                <a:cubicBezTo>
                  <a:pt x="1909234" y="1037305"/>
                  <a:pt x="1898721" y="1117537"/>
                  <a:pt x="1877819" y="1193756"/>
                </a:cubicBezTo>
                <a:lnTo>
                  <a:pt x="31415" y="1193756"/>
                </a:lnTo>
                <a:cubicBezTo>
                  <a:pt x="10513" y="1117537"/>
                  <a:pt x="0" y="1037305"/>
                  <a:pt x="0" y="954617"/>
                </a:cubicBezTo>
                <a:cubicBezTo>
                  <a:pt x="0" y="427397"/>
                  <a:pt x="427397" y="0"/>
                  <a:pt x="954617"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0" name="Oval 129"/>
          <p:cNvSpPr>
            <a:spLocks noChangeAspect="1"/>
          </p:cNvSpPr>
          <p:nvPr/>
        </p:nvSpPr>
        <p:spPr>
          <a:xfrm>
            <a:off x="-46711" y="-61709"/>
            <a:ext cx="1449107" cy="1677064"/>
          </a:xfrm>
          <a:custGeom>
            <a:avLst/>
            <a:gdLst/>
            <a:ahLst/>
            <a:cxnLst/>
            <a:rect l="l" t="t" r="r" b="b"/>
            <a:pathLst>
              <a:path w="1449107" h="1677064">
                <a:moveTo>
                  <a:pt x="0" y="0"/>
                </a:moveTo>
                <a:lnTo>
                  <a:pt x="1112019" y="0"/>
                </a:lnTo>
                <a:cubicBezTo>
                  <a:pt x="1319407" y="171874"/>
                  <a:pt x="1449107" y="432014"/>
                  <a:pt x="1449107" y="722447"/>
                </a:cubicBezTo>
                <a:cubicBezTo>
                  <a:pt x="1449107" y="1249667"/>
                  <a:pt x="1021710" y="1677064"/>
                  <a:pt x="494490" y="1677064"/>
                </a:cubicBezTo>
                <a:cubicBezTo>
                  <a:pt x="313232" y="1677064"/>
                  <a:pt x="143772" y="1626546"/>
                  <a:pt x="0" y="1537872"/>
                </a:cubicBezTo>
                <a:close/>
              </a:path>
            </a:pathLst>
          </a:custGeom>
          <a:solidFill>
            <a:schemeClr val="tx2">
              <a:lumMod val="75000"/>
              <a:alpha val="14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1" name="Oval 130"/>
          <p:cNvSpPr>
            <a:spLocks noChangeAspect="1"/>
          </p:cNvSpPr>
          <p:nvPr/>
        </p:nvSpPr>
        <p:spPr>
          <a:xfrm>
            <a:off x="924113" y="-161623"/>
            <a:ext cx="1909233" cy="1909233"/>
          </a:xfrm>
          <a:prstGeom prst="ellipse">
            <a:avLst/>
          </a:prstGeom>
          <a:solidFill>
            <a:schemeClr val="tx2">
              <a:lumMod val="75000"/>
              <a:alpha val="2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2" name="Oval 131"/>
          <p:cNvSpPr>
            <a:spLocks noChangeAspect="1"/>
          </p:cNvSpPr>
          <p:nvPr/>
        </p:nvSpPr>
        <p:spPr>
          <a:xfrm>
            <a:off x="0" y="660738"/>
            <a:ext cx="1909233" cy="1909233"/>
          </a:xfrm>
          <a:prstGeom prst="ellipse">
            <a:avLst/>
          </a:pr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3" name="Oval 132"/>
          <p:cNvSpPr>
            <a:spLocks noChangeAspect="1"/>
          </p:cNvSpPr>
          <p:nvPr/>
        </p:nvSpPr>
        <p:spPr>
          <a:xfrm>
            <a:off x="7497531" y="-61709"/>
            <a:ext cx="1694467" cy="1677064"/>
          </a:xfrm>
          <a:custGeom>
            <a:avLst/>
            <a:gdLst/>
            <a:ahLst/>
            <a:cxnLst/>
            <a:rect l="l" t="t" r="r" b="b"/>
            <a:pathLst>
              <a:path w="1694467" h="1677064">
                <a:moveTo>
                  <a:pt x="337088" y="0"/>
                </a:moveTo>
                <a:lnTo>
                  <a:pt x="1573463" y="0"/>
                </a:lnTo>
                <a:cubicBezTo>
                  <a:pt x="1618202" y="37449"/>
                  <a:pt x="1658454" y="79950"/>
                  <a:pt x="1694467" y="126010"/>
                </a:cubicBezTo>
                <a:lnTo>
                  <a:pt x="1694467" y="1318884"/>
                </a:lnTo>
                <a:cubicBezTo>
                  <a:pt x="1522840" y="1538397"/>
                  <a:pt x="1254922" y="1677064"/>
                  <a:pt x="954617" y="1677064"/>
                </a:cubicBezTo>
                <a:cubicBezTo>
                  <a:pt x="427397" y="1677064"/>
                  <a:pt x="0" y="1249667"/>
                  <a:pt x="0" y="722447"/>
                </a:cubicBezTo>
                <a:cubicBezTo>
                  <a:pt x="0" y="432014"/>
                  <a:pt x="129700" y="171874"/>
                  <a:pt x="337088" y="0"/>
                </a:cubicBezTo>
                <a:close/>
              </a:path>
            </a:pathLst>
          </a:custGeom>
          <a:solidFill>
            <a:schemeClr val="accent3">
              <a:lumMod val="60000"/>
              <a:lumOff val="40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4" name="Oval 133"/>
          <p:cNvSpPr>
            <a:spLocks noChangeAspect="1"/>
          </p:cNvSpPr>
          <p:nvPr/>
        </p:nvSpPr>
        <p:spPr>
          <a:xfrm>
            <a:off x="6117502" y="-61708"/>
            <a:ext cx="1909234" cy="1705448"/>
          </a:xfrm>
          <a:custGeom>
            <a:avLst/>
            <a:gdLst/>
            <a:ahLst/>
            <a:cxnLst/>
            <a:rect l="l" t="t" r="r" b="b"/>
            <a:pathLst>
              <a:path w="1909234" h="1705448">
                <a:moveTo>
                  <a:pt x="371490" y="0"/>
                </a:moveTo>
                <a:lnTo>
                  <a:pt x="1537745" y="0"/>
                </a:lnTo>
                <a:cubicBezTo>
                  <a:pt x="1764760" y="171517"/>
                  <a:pt x="1909234" y="444302"/>
                  <a:pt x="1909234" y="750831"/>
                </a:cubicBezTo>
                <a:cubicBezTo>
                  <a:pt x="1909234" y="1278051"/>
                  <a:pt x="1481837" y="1705448"/>
                  <a:pt x="954617" y="1705448"/>
                </a:cubicBezTo>
                <a:cubicBezTo>
                  <a:pt x="427397" y="1705448"/>
                  <a:pt x="0" y="1278051"/>
                  <a:pt x="0" y="750831"/>
                </a:cubicBezTo>
                <a:cubicBezTo>
                  <a:pt x="0" y="444302"/>
                  <a:pt x="144474" y="171517"/>
                  <a:pt x="371490" y="0"/>
                </a:cubicBezTo>
                <a:close/>
              </a:path>
            </a:pathLst>
          </a:cu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5" name="Oval 134"/>
          <p:cNvSpPr>
            <a:spLocks noChangeAspect="1"/>
          </p:cNvSpPr>
          <p:nvPr/>
        </p:nvSpPr>
        <p:spPr>
          <a:xfrm>
            <a:off x="7494454" y="1095309"/>
            <a:ext cx="1697544" cy="1909234"/>
          </a:xfrm>
          <a:custGeom>
            <a:avLst/>
            <a:gdLst/>
            <a:ahLst/>
            <a:cxnLst/>
            <a:rect l="l" t="t" r="r" b="b"/>
            <a:pathLst>
              <a:path w="1697544" h="1909234">
                <a:moveTo>
                  <a:pt x="954617" y="0"/>
                </a:moveTo>
                <a:cubicBezTo>
                  <a:pt x="1256666" y="0"/>
                  <a:pt x="1525952" y="140283"/>
                  <a:pt x="1697544" y="361910"/>
                </a:cubicBezTo>
                <a:lnTo>
                  <a:pt x="1697544" y="1547324"/>
                </a:lnTo>
                <a:cubicBezTo>
                  <a:pt x="1525952" y="1768951"/>
                  <a:pt x="1256666" y="1909234"/>
                  <a:pt x="954617" y="1909234"/>
                </a:cubicBezTo>
                <a:cubicBezTo>
                  <a:pt x="427397" y="1909234"/>
                  <a:pt x="0" y="1481837"/>
                  <a:pt x="0" y="954617"/>
                </a:cubicBezTo>
                <a:cubicBezTo>
                  <a:pt x="0" y="427397"/>
                  <a:pt x="427397" y="0"/>
                  <a:pt x="954617" y="0"/>
                </a:cubicBezTo>
                <a:close/>
              </a:path>
            </a:pathLst>
          </a:cu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6" name="Oval 135"/>
          <p:cNvSpPr>
            <a:spLocks noChangeAspect="1"/>
          </p:cNvSpPr>
          <p:nvPr/>
        </p:nvSpPr>
        <p:spPr>
          <a:xfrm>
            <a:off x="8056674" y="5140346"/>
            <a:ext cx="1137194" cy="1759729"/>
          </a:xfrm>
          <a:custGeom>
            <a:avLst/>
            <a:gdLst/>
            <a:ahLst/>
            <a:cxnLst/>
            <a:rect l="l" t="t" r="r" b="b"/>
            <a:pathLst>
              <a:path w="1137194" h="1759729">
                <a:moveTo>
                  <a:pt x="954617" y="0"/>
                </a:moveTo>
                <a:cubicBezTo>
                  <a:pt x="1017088" y="0"/>
                  <a:pt x="1078157" y="6001"/>
                  <a:pt x="1137194" y="17897"/>
                </a:cubicBezTo>
                <a:lnTo>
                  <a:pt x="1137194" y="1759729"/>
                </a:lnTo>
                <a:lnTo>
                  <a:pt x="443151" y="1759729"/>
                </a:lnTo>
                <a:cubicBezTo>
                  <a:pt x="176544" y="1591075"/>
                  <a:pt x="0" y="1293463"/>
                  <a:pt x="0" y="954617"/>
                </a:cubicBezTo>
                <a:cubicBezTo>
                  <a:pt x="0" y="427397"/>
                  <a:pt x="427397" y="0"/>
                  <a:pt x="954617"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7" name="Oval 136"/>
          <p:cNvSpPr>
            <a:spLocks noChangeAspect="1"/>
          </p:cNvSpPr>
          <p:nvPr/>
        </p:nvSpPr>
        <p:spPr>
          <a:xfrm>
            <a:off x="6661711" y="4362912"/>
            <a:ext cx="1909233" cy="1909233"/>
          </a:xfrm>
          <a:prstGeom prst="ellipse">
            <a:avLst/>
          </a:prstGeom>
          <a:solidFill>
            <a:schemeClr val="tx2">
              <a:lumMod val="75000"/>
              <a:alpha val="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8" name="Oval 137"/>
          <p:cNvSpPr>
            <a:spLocks noChangeAspect="1"/>
          </p:cNvSpPr>
          <p:nvPr/>
        </p:nvSpPr>
        <p:spPr>
          <a:xfrm>
            <a:off x="-69625" y="4948766"/>
            <a:ext cx="1353860" cy="1909234"/>
          </a:xfrm>
          <a:custGeom>
            <a:avLst/>
            <a:gdLst/>
            <a:ahLst/>
            <a:cxnLst/>
            <a:rect l="l" t="t" r="r" b="b"/>
            <a:pathLst>
              <a:path w="1353860" h="1909234">
                <a:moveTo>
                  <a:pt x="399243" y="0"/>
                </a:moveTo>
                <a:cubicBezTo>
                  <a:pt x="926463" y="0"/>
                  <a:pt x="1353860" y="427397"/>
                  <a:pt x="1353860" y="954617"/>
                </a:cubicBezTo>
                <a:cubicBezTo>
                  <a:pt x="1353860" y="1481837"/>
                  <a:pt x="926463" y="1909234"/>
                  <a:pt x="399243" y="1909234"/>
                </a:cubicBezTo>
                <a:cubicBezTo>
                  <a:pt x="256544" y="1909234"/>
                  <a:pt x="121158" y="1877924"/>
                  <a:pt x="0" y="1820890"/>
                </a:cubicBezTo>
                <a:lnTo>
                  <a:pt x="0" y="88345"/>
                </a:lnTo>
                <a:cubicBezTo>
                  <a:pt x="121158" y="31311"/>
                  <a:pt x="256544" y="0"/>
                  <a:pt x="399243" y="0"/>
                </a:cubicBezTo>
                <a:close/>
              </a:path>
            </a:pathLst>
          </a:custGeom>
          <a:solidFill>
            <a:schemeClr val="tx2">
              <a:lumMod val="75000"/>
              <a:alpha val="16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39" name="Oval 138"/>
          <p:cNvSpPr>
            <a:spLocks noChangeAspect="1"/>
          </p:cNvSpPr>
          <p:nvPr/>
        </p:nvSpPr>
        <p:spPr>
          <a:xfrm>
            <a:off x="708471" y="4790336"/>
            <a:ext cx="1909233" cy="1909233"/>
          </a:xfrm>
          <a:prstGeom prst="ellipse">
            <a:avLst/>
          </a:pr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40" name="Oval 139"/>
          <p:cNvSpPr>
            <a:spLocks noChangeAspect="1"/>
          </p:cNvSpPr>
          <p:nvPr/>
        </p:nvSpPr>
        <p:spPr>
          <a:xfrm>
            <a:off x="6117503" y="783988"/>
            <a:ext cx="1909233" cy="1909233"/>
          </a:xfrm>
          <a:prstGeom prst="ellipse">
            <a:avLst/>
          </a:prstGeom>
          <a:solidFill>
            <a:schemeClr val="tx2">
              <a:lumMod val="75000"/>
              <a:alpha val="15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41" name="Oval 140"/>
          <p:cNvSpPr>
            <a:spLocks noChangeAspect="1"/>
          </p:cNvSpPr>
          <p:nvPr/>
        </p:nvSpPr>
        <p:spPr>
          <a:xfrm>
            <a:off x="6459053" y="5140346"/>
            <a:ext cx="1909233" cy="1909233"/>
          </a:xfrm>
          <a:prstGeom prst="ellipse">
            <a:avLst/>
          </a:prstGeom>
          <a:solidFill>
            <a:schemeClr val="tx2">
              <a:lumMod val="75000"/>
              <a:alpha val="10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118" name="Oval 117"/>
          <p:cNvSpPr>
            <a:spLocks noChangeAspect="1"/>
          </p:cNvSpPr>
          <p:nvPr/>
        </p:nvSpPr>
        <p:spPr>
          <a:xfrm>
            <a:off x="8398204" y="597861"/>
            <a:ext cx="793794" cy="1252918"/>
          </a:xfrm>
          <a:custGeom>
            <a:avLst/>
            <a:gdLst/>
            <a:ahLst/>
            <a:cxnLst/>
            <a:rect l="l" t="t" r="r" b="b"/>
            <a:pathLst>
              <a:path w="793794" h="1252918">
                <a:moveTo>
                  <a:pt x="626459" y="0"/>
                </a:moveTo>
                <a:cubicBezTo>
                  <a:pt x="684682" y="0"/>
                  <a:pt x="741049" y="7943"/>
                  <a:pt x="793794" y="25480"/>
                </a:cubicBezTo>
                <a:lnTo>
                  <a:pt x="793794" y="1227438"/>
                </a:lnTo>
                <a:cubicBezTo>
                  <a:pt x="741049" y="1244975"/>
                  <a:pt x="684682" y="1252918"/>
                  <a:pt x="626459" y="1252918"/>
                </a:cubicBezTo>
                <a:cubicBezTo>
                  <a:pt x="280475" y="1252918"/>
                  <a:pt x="0" y="972443"/>
                  <a:pt x="0" y="626459"/>
                </a:cubicBezTo>
                <a:cubicBezTo>
                  <a:pt x="0" y="280475"/>
                  <a:pt x="280475" y="0"/>
                  <a:pt x="626459" y="0"/>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9" name="Oval 118"/>
          <p:cNvSpPr>
            <a:spLocks noChangeAspect="1"/>
          </p:cNvSpPr>
          <p:nvPr/>
        </p:nvSpPr>
        <p:spPr>
          <a:xfrm>
            <a:off x="6350100" y="206512"/>
            <a:ext cx="1041276" cy="1041276"/>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0" name="Oval 119"/>
          <p:cNvSpPr>
            <a:spLocks noChangeAspect="1"/>
          </p:cNvSpPr>
          <p:nvPr/>
        </p:nvSpPr>
        <p:spPr>
          <a:xfrm>
            <a:off x="6872127" y="1450645"/>
            <a:ext cx="1218253" cy="1218253"/>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1" name="Oval 120"/>
          <p:cNvSpPr>
            <a:spLocks noChangeAspect="1"/>
          </p:cNvSpPr>
          <p:nvPr/>
        </p:nvSpPr>
        <p:spPr>
          <a:xfrm>
            <a:off x="7219068" y="2049927"/>
            <a:ext cx="1041276" cy="1041276"/>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2" name="Oval 121"/>
          <p:cNvSpPr>
            <a:spLocks noChangeAspect="1"/>
          </p:cNvSpPr>
          <p:nvPr/>
        </p:nvSpPr>
        <p:spPr>
          <a:xfrm>
            <a:off x="7749416" y="2661634"/>
            <a:ext cx="721308" cy="721308"/>
          </a:xfrm>
          <a:prstGeom prst="ellipse">
            <a:avLst/>
          </a:pr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3" name="Oval 122"/>
          <p:cNvSpPr>
            <a:spLocks noChangeAspect="1"/>
          </p:cNvSpPr>
          <p:nvPr/>
        </p:nvSpPr>
        <p:spPr>
          <a:xfrm>
            <a:off x="685054" y="-100976"/>
            <a:ext cx="1193676" cy="697815"/>
          </a:xfrm>
          <a:custGeom>
            <a:avLst/>
            <a:gdLst/>
            <a:ahLst/>
            <a:cxnLst/>
            <a:rect l="l" t="t" r="r" b="b"/>
            <a:pathLst>
              <a:path w="1193676" h="697815">
                <a:moveTo>
                  <a:pt x="10179" y="0"/>
                </a:moveTo>
                <a:lnTo>
                  <a:pt x="1183497" y="0"/>
                </a:lnTo>
                <a:cubicBezTo>
                  <a:pt x="1190746" y="32633"/>
                  <a:pt x="1193676" y="66463"/>
                  <a:pt x="1193676" y="100977"/>
                </a:cubicBezTo>
                <a:cubicBezTo>
                  <a:pt x="1193676" y="430602"/>
                  <a:pt x="926463" y="697815"/>
                  <a:pt x="596838" y="697815"/>
                </a:cubicBezTo>
                <a:cubicBezTo>
                  <a:pt x="267213" y="697815"/>
                  <a:pt x="0" y="430602"/>
                  <a:pt x="0" y="100977"/>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4" name="Oval 123"/>
          <p:cNvSpPr>
            <a:spLocks noChangeAspect="1"/>
          </p:cNvSpPr>
          <p:nvPr/>
        </p:nvSpPr>
        <p:spPr>
          <a:xfrm>
            <a:off x="1502638" y="-100976"/>
            <a:ext cx="1029028" cy="459889"/>
          </a:xfrm>
          <a:custGeom>
            <a:avLst/>
            <a:gdLst/>
            <a:ahLst/>
            <a:cxnLst/>
            <a:rect l="l" t="t" r="r" b="b"/>
            <a:pathLst>
              <a:path w="1029028" h="459889">
                <a:moveTo>
                  <a:pt x="0" y="0"/>
                </a:moveTo>
                <a:lnTo>
                  <a:pt x="1029028" y="0"/>
                </a:lnTo>
                <a:cubicBezTo>
                  <a:pt x="1001386" y="259074"/>
                  <a:pt x="781401" y="459889"/>
                  <a:pt x="514514" y="459889"/>
                </a:cubicBezTo>
                <a:cubicBezTo>
                  <a:pt x="247627" y="459889"/>
                  <a:pt x="27642" y="259074"/>
                  <a:pt x="0" y="0"/>
                </a:cubicBez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5" name="Oval 124"/>
          <p:cNvSpPr>
            <a:spLocks noChangeAspect="1"/>
          </p:cNvSpPr>
          <p:nvPr/>
        </p:nvSpPr>
        <p:spPr>
          <a:xfrm>
            <a:off x="-69624" y="-100976"/>
            <a:ext cx="590263" cy="612289"/>
          </a:xfrm>
          <a:custGeom>
            <a:avLst/>
            <a:gdLst/>
            <a:ahLst/>
            <a:cxnLst/>
            <a:rect l="l" t="t" r="r" b="b"/>
            <a:pathLst>
              <a:path w="590263" h="612289">
                <a:moveTo>
                  <a:pt x="0" y="0"/>
                </a:moveTo>
                <a:lnTo>
                  <a:pt x="581024" y="0"/>
                </a:lnTo>
                <a:cubicBezTo>
                  <a:pt x="587493" y="29611"/>
                  <a:pt x="590263" y="60308"/>
                  <a:pt x="590263" y="91651"/>
                </a:cubicBezTo>
                <a:cubicBezTo>
                  <a:pt x="590263" y="379191"/>
                  <a:pt x="357165" y="612289"/>
                  <a:pt x="69625" y="612289"/>
                </a:cubicBezTo>
                <a:lnTo>
                  <a:pt x="0" y="605270"/>
                </a:lnTo>
                <a:close/>
              </a:path>
            </a:pathLst>
          </a:custGeom>
          <a:solidFill>
            <a:schemeClr val="tx2">
              <a:lumMod val="75000"/>
              <a:alpha val="10000"/>
            </a:schemeClr>
          </a:solidFill>
          <a:ln w="177800" cap="rnd" cmpd="sng" algn="ctr">
            <a:solidFill>
              <a:schemeClr val="tx2">
                <a:lumMod val="60000"/>
                <a:lumOff val="40000"/>
                <a:alpha val="6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6" name="Oval 125"/>
          <p:cNvSpPr>
            <a:spLocks noChangeAspect="1"/>
          </p:cNvSpPr>
          <p:nvPr/>
        </p:nvSpPr>
        <p:spPr>
          <a:xfrm>
            <a:off x="277432" y="4321783"/>
            <a:ext cx="1396887" cy="1396887"/>
          </a:xfrm>
          <a:prstGeom prst="ellipse">
            <a:avLst/>
          </a:pr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7" name="Oval 126"/>
          <p:cNvSpPr>
            <a:spLocks noChangeAspect="1"/>
          </p:cNvSpPr>
          <p:nvPr/>
        </p:nvSpPr>
        <p:spPr>
          <a:xfrm>
            <a:off x="5792131" y="6489965"/>
            <a:ext cx="1115939" cy="443769"/>
          </a:xfrm>
          <a:custGeom>
            <a:avLst/>
            <a:gdLst/>
            <a:ahLst/>
            <a:cxnLst/>
            <a:rect l="l" t="t" r="r" b="b"/>
            <a:pathLst>
              <a:path w="1115939" h="443769">
                <a:moveTo>
                  <a:pt x="557969" y="0"/>
                </a:moveTo>
                <a:cubicBezTo>
                  <a:pt x="830120" y="0"/>
                  <a:pt x="1058049" y="189335"/>
                  <a:pt x="1115939" y="443769"/>
                </a:cubicBezTo>
                <a:lnTo>
                  <a:pt x="0" y="443769"/>
                </a:lnTo>
                <a:cubicBezTo>
                  <a:pt x="57889" y="189335"/>
                  <a:pt x="285818" y="0"/>
                  <a:pt x="557969"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8" name="Oval 127"/>
          <p:cNvSpPr>
            <a:spLocks noChangeAspect="1"/>
          </p:cNvSpPr>
          <p:nvPr/>
        </p:nvSpPr>
        <p:spPr>
          <a:xfrm>
            <a:off x="6127999" y="6408840"/>
            <a:ext cx="1237019" cy="524894"/>
          </a:xfrm>
          <a:custGeom>
            <a:avLst/>
            <a:gdLst/>
            <a:ahLst/>
            <a:cxnLst/>
            <a:rect l="l" t="t" r="r" b="b"/>
            <a:pathLst>
              <a:path w="1237019" h="524894">
                <a:moveTo>
                  <a:pt x="618509" y="0"/>
                </a:moveTo>
                <a:cubicBezTo>
                  <a:pt x="930325" y="0"/>
                  <a:pt x="1189147" y="226891"/>
                  <a:pt x="1237019" y="524894"/>
                </a:cubicBezTo>
                <a:lnTo>
                  <a:pt x="0" y="524894"/>
                </a:lnTo>
                <a:cubicBezTo>
                  <a:pt x="47872" y="226891"/>
                  <a:pt x="306694" y="0"/>
                  <a:pt x="618509"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29" name="Oval 128"/>
          <p:cNvSpPr>
            <a:spLocks noChangeAspect="1"/>
          </p:cNvSpPr>
          <p:nvPr/>
        </p:nvSpPr>
        <p:spPr>
          <a:xfrm>
            <a:off x="7577655" y="6408841"/>
            <a:ext cx="1211408" cy="524893"/>
          </a:xfrm>
          <a:custGeom>
            <a:avLst/>
            <a:gdLst/>
            <a:ahLst/>
            <a:cxnLst/>
            <a:rect l="l" t="t" r="r" b="b"/>
            <a:pathLst>
              <a:path w="1211408" h="524893">
                <a:moveTo>
                  <a:pt x="605704" y="0"/>
                </a:moveTo>
                <a:cubicBezTo>
                  <a:pt x="914574" y="0"/>
                  <a:pt x="1170243" y="227782"/>
                  <a:pt x="1211408" y="524893"/>
                </a:cubicBezTo>
                <a:lnTo>
                  <a:pt x="0" y="524893"/>
                </a:lnTo>
                <a:cubicBezTo>
                  <a:pt x="41165" y="227782"/>
                  <a:pt x="296834" y="0"/>
                  <a:pt x="605704" y="0"/>
                </a:cubicBezTo>
                <a:close/>
              </a:path>
            </a:pathLst>
          </a:custGeom>
          <a:solidFill>
            <a:schemeClr val="tx2">
              <a:lumMod val="75000"/>
              <a:alpha val="6000"/>
            </a:schemeClr>
          </a:solidFill>
          <a:ln w="177800" cap="rnd" cmpd="sng" algn="ctr">
            <a:solidFill>
              <a:schemeClr val="tx2">
                <a:lumMod val="60000"/>
                <a:lumOff val="40000"/>
                <a:alpha val="400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7" name="Oval 96"/>
          <p:cNvSpPr>
            <a:spLocks noChangeAspect="1"/>
          </p:cNvSpPr>
          <p:nvPr/>
        </p:nvSpPr>
        <p:spPr>
          <a:xfrm>
            <a:off x="11073" y="4941986"/>
            <a:ext cx="611230" cy="611230"/>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8" name="Oval 97"/>
          <p:cNvSpPr>
            <a:spLocks noChangeAspect="1"/>
          </p:cNvSpPr>
          <p:nvPr/>
        </p:nvSpPr>
        <p:spPr>
          <a:xfrm>
            <a:off x="-69625" y="6172569"/>
            <a:ext cx="778097" cy="750322"/>
          </a:xfrm>
          <a:custGeom>
            <a:avLst/>
            <a:gdLst/>
            <a:ahLst/>
            <a:cxnLst/>
            <a:rect l="l" t="t" r="r" b="b"/>
            <a:pathLst>
              <a:path w="778097" h="750322">
                <a:moveTo>
                  <a:pt x="261411" y="0"/>
                </a:moveTo>
                <a:cubicBezTo>
                  <a:pt x="546769" y="0"/>
                  <a:pt x="778097" y="231328"/>
                  <a:pt x="778097" y="516686"/>
                </a:cubicBezTo>
                <a:cubicBezTo>
                  <a:pt x="778097" y="601179"/>
                  <a:pt x="757816" y="680934"/>
                  <a:pt x="719843" y="750322"/>
                </a:cubicBezTo>
                <a:lnTo>
                  <a:pt x="0" y="750322"/>
                </a:lnTo>
                <a:lnTo>
                  <a:pt x="0" y="73330"/>
                </a:lnTo>
                <a:cubicBezTo>
                  <a:pt x="75863" y="26083"/>
                  <a:pt x="165591" y="0"/>
                  <a:pt x="261411"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99" name="Oval 98"/>
          <p:cNvSpPr>
            <a:spLocks noChangeAspect="1"/>
          </p:cNvSpPr>
          <p:nvPr/>
        </p:nvSpPr>
        <p:spPr>
          <a:xfrm>
            <a:off x="-69625" y="5158575"/>
            <a:ext cx="563524" cy="897560"/>
          </a:xfrm>
          <a:custGeom>
            <a:avLst/>
            <a:gdLst/>
            <a:ahLst/>
            <a:cxnLst/>
            <a:rect l="l" t="t" r="r" b="b"/>
            <a:pathLst>
              <a:path w="563524" h="897560">
                <a:moveTo>
                  <a:pt x="114744" y="0"/>
                </a:moveTo>
                <a:cubicBezTo>
                  <a:pt x="362598" y="0"/>
                  <a:pt x="563524" y="200926"/>
                  <a:pt x="563524" y="448780"/>
                </a:cubicBezTo>
                <a:cubicBezTo>
                  <a:pt x="563524" y="696634"/>
                  <a:pt x="362598" y="897560"/>
                  <a:pt x="114744" y="897560"/>
                </a:cubicBezTo>
                <a:cubicBezTo>
                  <a:pt x="74918" y="897560"/>
                  <a:pt x="36304" y="892373"/>
                  <a:pt x="0" y="880900"/>
                </a:cubicBezTo>
                <a:lnTo>
                  <a:pt x="0" y="16661"/>
                </a:lnTo>
                <a:cubicBezTo>
                  <a:pt x="36304" y="5188"/>
                  <a:pt x="74918" y="0"/>
                  <a:pt x="114744"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0" name="Oval 99"/>
          <p:cNvSpPr>
            <a:spLocks noChangeAspect="1"/>
          </p:cNvSpPr>
          <p:nvPr/>
        </p:nvSpPr>
        <p:spPr>
          <a:xfrm>
            <a:off x="-25758" y="482386"/>
            <a:ext cx="598416" cy="905704"/>
          </a:xfrm>
          <a:custGeom>
            <a:avLst/>
            <a:gdLst/>
            <a:ahLst/>
            <a:cxnLst/>
            <a:rect l="l" t="t" r="r" b="b"/>
            <a:pathLst>
              <a:path w="598416" h="905704">
                <a:moveTo>
                  <a:pt x="145564" y="0"/>
                </a:moveTo>
                <a:cubicBezTo>
                  <a:pt x="395667" y="0"/>
                  <a:pt x="598416" y="202749"/>
                  <a:pt x="598416" y="452852"/>
                </a:cubicBezTo>
                <a:cubicBezTo>
                  <a:pt x="598416" y="702955"/>
                  <a:pt x="395667" y="905704"/>
                  <a:pt x="145564" y="905704"/>
                </a:cubicBezTo>
                <a:cubicBezTo>
                  <a:pt x="94398" y="905704"/>
                  <a:pt x="45214" y="897218"/>
                  <a:pt x="0" y="879648"/>
                </a:cubicBezTo>
                <a:lnTo>
                  <a:pt x="0" y="26056"/>
                </a:lnTo>
                <a:cubicBezTo>
                  <a:pt x="45214" y="8486"/>
                  <a:pt x="94398" y="0"/>
                  <a:pt x="145564" y="0"/>
                </a:cubicBezTo>
                <a:close/>
              </a:path>
            </a:pathLst>
          </a:cu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1" name="Oval 100"/>
          <p:cNvSpPr>
            <a:spLocks noChangeAspect="1"/>
          </p:cNvSpPr>
          <p:nvPr/>
        </p:nvSpPr>
        <p:spPr>
          <a:xfrm>
            <a:off x="474208" y="836793"/>
            <a:ext cx="910817" cy="910817"/>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2" name="Oval 101"/>
          <p:cNvSpPr>
            <a:spLocks noChangeAspect="1"/>
          </p:cNvSpPr>
          <p:nvPr/>
        </p:nvSpPr>
        <p:spPr>
          <a:xfrm>
            <a:off x="319223" y="1452260"/>
            <a:ext cx="772993" cy="772993"/>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3" name="Oval 102"/>
          <p:cNvSpPr>
            <a:spLocks noChangeAspect="1"/>
          </p:cNvSpPr>
          <p:nvPr/>
        </p:nvSpPr>
        <p:spPr>
          <a:xfrm>
            <a:off x="371257" y="1886983"/>
            <a:ext cx="610366" cy="610366"/>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4" name="Oval 103"/>
          <p:cNvSpPr>
            <a:spLocks noChangeAspect="1"/>
          </p:cNvSpPr>
          <p:nvPr/>
        </p:nvSpPr>
        <p:spPr>
          <a:xfrm>
            <a:off x="154676" y="1919682"/>
            <a:ext cx="521764" cy="521764"/>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5" name="Oval 104"/>
          <p:cNvSpPr>
            <a:spLocks noChangeAspect="1"/>
          </p:cNvSpPr>
          <p:nvPr/>
        </p:nvSpPr>
        <p:spPr>
          <a:xfrm>
            <a:off x="7302517" y="-61709"/>
            <a:ext cx="910818" cy="750833"/>
          </a:xfrm>
          <a:custGeom>
            <a:avLst/>
            <a:gdLst/>
            <a:ahLst/>
            <a:cxnLst/>
            <a:rect l="l" t="t" r="r" b="b"/>
            <a:pathLst>
              <a:path w="910818" h="750833">
                <a:moveTo>
                  <a:pt x="111441" y="0"/>
                </a:moveTo>
                <a:lnTo>
                  <a:pt x="799378" y="0"/>
                </a:lnTo>
                <a:cubicBezTo>
                  <a:pt x="869408" y="78400"/>
                  <a:pt x="910818" y="182076"/>
                  <a:pt x="910818" y="295424"/>
                </a:cubicBezTo>
                <a:cubicBezTo>
                  <a:pt x="910818" y="546939"/>
                  <a:pt x="706924" y="750833"/>
                  <a:pt x="455409" y="750833"/>
                </a:cubicBezTo>
                <a:cubicBezTo>
                  <a:pt x="203894" y="750833"/>
                  <a:pt x="0" y="546939"/>
                  <a:pt x="0" y="295424"/>
                </a:cubicBezTo>
                <a:cubicBezTo>
                  <a:pt x="0" y="182076"/>
                  <a:pt x="41410" y="78400"/>
                  <a:pt x="111441"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6" name="Oval 105"/>
          <p:cNvSpPr>
            <a:spLocks noChangeAspect="1"/>
          </p:cNvSpPr>
          <p:nvPr/>
        </p:nvSpPr>
        <p:spPr>
          <a:xfrm>
            <a:off x="8718124" y="-61709"/>
            <a:ext cx="473874" cy="613011"/>
          </a:xfrm>
          <a:custGeom>
            <a:avLst/>
            <a:gdLst/>
            <a:ahLst/>
            <a:cxnLst/>
            <a:rect l="l" t="t" r="r" b="b"/>
            <a:pathLst>
              <a:path w="473874" h="613011">
                <a:moveTo>
                  <a:pt x="29684" y="0"/>
                </a:moveTo>
                <a:lnTo>
                  <a:pt x="473874" y="0"/>
                </a:lnTo>
                <a:lnTo>
                  <a:pt x="473874" y="611150"/>
                </a:lnTo>
                <a:cubicBezTo>
                  <a:pt x="467789" y="612887"/>
                  <a:pt x="461614" y="613011"/>
                  <a:pt x="455409" y="613011"/>
                </a:cubicBezTo>
                <a:cubicBezTo>
                  <a:pt x="203894" y="613011"/>
                  <a:pt x="0" y="409117"/>
                  <a:pt x="0" y="157602"/>
                </a:cubicBezTo>
                <a:cubicBezTo>
                  <a:pt x="0" y="101995"/>
                  <a:pt x="9966" y="48716"/>
                  <a:pt x="29684"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7" name="Oval 106"/>
          <p:cNvSpPr>
            <a:spLocks noChangeAspect="1"/>
          </p:cNvSpPr>
          <p:nvPr/>
        </p:nvSpPr>
        <p:spPr>
          <a:xfrm>
            <a:off x="7748238" y="282933"/>
            <a:ext cx="1128521" cy="1128521"/>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8" name="Oval 107"/>
          <p:cNvSpPr>
            <a:spLocks noChangeAspect="1"/>
          </p:cNvSpPr>
          <p:nvPr/>
        </p:nvSpPr>
        <p:spPr>
          <a:xfrm>
            <a:off x="8914718" y="749603"/>
            <a:ext cx="277280" cy="907992"/>
          </a:xfrm>
          <a:custGeom>
            <a:avLst/>
            <a:gdLst/>
            <a:ahLst/>
            <a:cxnLst/>
            <a:rect l="l" t="t" r="r" b="b"/>
            <a:pathLst>
              <a:path w="277280" h="907992">
                <a:moveTo>
                  <a:pt x="277280" y="0"/>
                </a:moveTo>
                <a:lnTo>
                  <a:pt x="277280" y="907992"/>
                </a:lnTo>
                <a:cubicBezTo>
                  <a:pt x="112021" y="824131"/>
                  <a:pt x="0" y="652146"/>
                  <a:pt x="0" y="453996"/>
                </a:cubicBezTo>
                <a:cubicBezTo>
                  <a:pt x="0" y="255847"/>
                  <a:pt x="112021" y="83861"/>
                  <a:pt x="277280" y="0"/>
                </a:cubicBezTo>
                <a:close/>
              </a:path>
            </a:pathLst>
          </a:cu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09" name="Oval 108"/>
          <p:cNvSpPr>
            <a:spLocks noChangeAspect="1"/>
          </p:cNvSpPr>
          <p:nvPr/>
        </p:nvSpPr>
        <p:spPr>
          <a:xfrm>
            <a:off x="7590871" y="728498"/>
            <a:ext cx="969734" cy="969734"/>
          </a:xfrm>
          <a:prstGeom prst="ellipse">
            <a:avLst/>
          </a:prstGeom>
          <a:solidFill>
            <a:schemeClr val="accent3">
              <a:lumMod val="60000"/>
              <a:lumOff val="40000"/>
              <a:alpha val="5000"/>
            </a:schemeClr>
          </a:solidFill>
          <a:ln w="63500" cap="rnd" cmpd="sng" algn="ctr">
            <a:solidFill>
              <a:schemeClr val="accent3">
                <a:lumMod val="60000"/>
                <a:lumOff val="40000"/>
                <a:alpha val="30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0" name="Oval 109"/>
          <p:cNvSpPr>
            <a:spLocks noChangeAspect="1"/>
          </p:cNvSpPr>
          <p:nvPr/>
        </p:nvSpPr>
        <p:spPr>
          <a:xfrm>
            <a:off x="7470041" y="1326476"/>
            <a:ext cx="608190" cy="608190"/>
          </a:xfrm>
          <a:prstGeom prst="ellipse">
            <a:avLst/>
          </a:prstGeom>
          <a:solidFill>
            <a:schemeClr val="accent3">
              <a:lumMod val="60000"/>
              <a:lumOff val="40000"/>
              <a:alpha val="5000"/>
            </a:schemeClr>
          </a:solidFill>
          <a:ln w="12700" cap="rnd" cmpd="sng" algn="ctr">
            <a:solidFill>
              <a:schemeClr val="accent3">
                <a:lumMod val="60000"/>
                <a:lumOff val="40000"/>
                <a:alpha val="30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1" name="Oval 110"/>
          <p:cNvSpPr>
            <a:spLocks noChangeAspect="1"/>
          </p:cNvSpPr>
          <p:nvPr/>
        </p:nvSpPr>
        <p:spPr>
          <a:xfrm>
            <a:off x="7629941" y="5611427"/>
            <a:ext cx="738345" cy="738345"/>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2" name="Oval 111"/>
          <p:cNvSpPr>
            <a:spLocks noChangeAspect="1"/>
          </p:cNvSpPr>
          <p:nvPr/>
        </p:nvSpPr>
        <p:spPr>
          <a:xfrm>
            <a:off x="6972882" y="5242254"/>
            <a:ext cx="738345" cy="738345"/>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3" name="Oval 112"/>
          <p:cNvSpPr>
            <a:spLocks noChangeAspect="1"/>
          </p:cNvSpPr>
          <p:nvPr/>
        </p:nvSpPr>
        <p:spPr>
          <a:xfrm>
            <a:off x="7494454" y="4928166"/>
            <a:ext cx="738345" cy="738345"/>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4" name="Oval 113"/>
          <p:cNvSpPr>
            <a:spLocks noChangeAspect="1"/>
          </p:cNvSpPr>
          <p:nvPr/>
        </p:nvSpPr>
        <p:spPr>
          <a:xfrm>
            <a:off x="8229034" y="5666511"/>
            <a:ext cx="605634" cy="605634"/>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5" name="Oval 114"/>
          <p:cNvSpPr>
            <a:spLocks noChangeAspect="1"/>
          </p:cNvSpPr>
          <p:nvPr/>
        </p:nvSpPr>
        <p:spPr>
          <a:xfrm>
            <a:off x="8078231" y="4097842"/>
            <a:ext cx="553549" cy="553549"/>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6" name="Oval 115"/>
          <p:cNvSpPr>
            <a:spLocks noChangeAspect="1"/>
          </p:cNvSpPr>
          <p:nvPr/>
        </p:nvSpPr>
        <p:spPr>
          <a:xfrm>
            <a:off x="8411816" y="5057878"/>
            <a:ext cx="553549" cy="553549"/>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117" name="Oval 116"/>
          <p:cNvSpPr>
            <a:spLocks noChangeAspect="1"/>
          </p:cNvSpPr>
          <p:nvPr/>
        </p:nvSpPr>
        <p:spPr>
          <a:xfrm>
            <a:off x="8688590" y="4790335"/>
            <a:ext cx="503408" cy="553550"/>
          </a:xfrm>
          <a:custGeom>
            <a:avLst/>
            <a:gdLst/>
            <a:ahLst/>
            <a:cxnLst/>
            <a:rect l="l" t="t" r="r" b="b"/>
            <a:pathLst>
              <a:path w="503408" h="553550">
                <a:moveTo>
                  <a:pt x="276775" y="0"/>
                </a:moveTo>
                <a:cubicBezTo>
                  <a:pt x="370698" y="0"/>
                  <a:pt x="453694" y="46784"/>
                  <a:pt x="503408" y="118545"/>
                </a:cubicBezTo>
                <a:lnTo>
                  <a:pt x="503408" y="435005"/>
                </a:lnTo>
                <a:cubicBezTo>
                  <a:pt x="453694" y="506767"/>
                  <a:pt x="370698" y="553550"/>
                  <a:pt x="276775" y="553550"/>
                </a:cubicBezTo>
                <a:cubicBezTo>
                  <a:pt x="123916" y="553550"/>
                  <a:pt x="0" y="429634"/>
                  <a:pt x="0" y="276775"/>
                </a:cubicBezTo>
                <a:cubicBezTo>
                  <a:pt x="0" y="123916"/>
                  <a:pt x="123916" y="0"/>
                  <a:pt x="276775" y="0"/>
                </a:cubicBezTo>
                <a:close/>
              </a:path>
            </a:pathLst>
          </a:cu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09442" y="675724"/>
            <a:ext cx="7125113" cy="924475"/>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09443" y="1807361"/>
            <a:ext cx="7125112" cy="4051437"/>
          </a:xfrm>
          <a:prstGeom prst="rect">
            <a:avLst/>
          </a:prstGeom>
        </p:spPr>
        <p:txBody>
          <a:bodyPr vert="horz" lIns="91440" tIns="45720" rIns="91440" bIns="45720" rtlCol="0"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2"/>
          </p:nvPr>
        </p:nvSpPr>
        <p:spPr>
          <a:xfrm>
            <a:off x="6437344" y="5951810"/>
            <a:ext cx="2133600" cy="365125"/>
          </a:xfrm>
          <a:prstGeom prst="rect">
            <a:avLst/>
          </a:prstGeom>
        </p:spPr>
        <p:txBody>
          <a:bodyPr vert="horz" lIns="91440" tIns="45720" rIns="91440" bIns="45720" rtlCol="0" anchor="b"/>
          <a:lstStyle>
            <a:lvl1pPr algn="r">
              <a:defRPr sz="900">
                <a:solidFill>
                  <a:schemeClr val="tx1">
                    <a:tint val="75000"/>
                  </a:schemeClr>
                </a:solidFill>
              </a:defRPr>
            </a:lvl1pPr>
          </a:lstStyle>
          <a:p>
            <a:fld id="{EBD8413D-509B-4BFD-AE2A-D9820170EF70}" type="datetimeFigureOut">
              <a:rPr lang="es-BO" smtClean="0"/>
              <a:t>15/03/2014</a:t>
            </a:fld>
            <a:endParaRPr lang="es-BO"/>
          </a:p>
        </p:txBody>
      </p:sp>
      <p:sp>
        <p:nvSpPr>
          <p:cNvPr id="5" name="Footer Placeholder 4"/>
          <p:cNvSpPr>
            <a:spLocks noGrp="1"/>
          </p:cNvSpPr>
          <p:nvPr>
            <p:ph type="ftr" sz="quarter" idx="3"/>
          </p:nvPr>
        </p:nvSpPr>
        <p:spPr>
          <a:xfrm>
            <a:off x="1180945" y="5951810"/>
            <a:ext cx="5256399" cy="365125"/>
          </a:xfrm>
          <a:prstGeom prst="rect">
            <a:avLst/>
          </a:prstGeom>
        </p:spPr>
        <p:txBody>
          <a:bodyPr vert="horz" lIns="91440" tIns="45720" rIns="91440" bIns="45720" rtlCol="0" anchor="b"/>
          <a:lstStyle>
            <a:lvl1pPr algn="l">
              <a:defRPr sz="900">
                <a:solidFill>
                  <a:schemeClr val="tx1">
                    <a:tint val="75000"/>
                  </a:schemeClr>
                </a:solidFill>
              </a:defRPr>
            </a:lvl1pPr>
          </a:lstStyle>
          <a:p>
            <a:endParaRPr lang="es-BO"/>
          </a:p>
        </p:txBody>
      </p:sp>
      <p:sp>
        <p:nvSpPr>
          <p:cNvPr id="6" name="Slide Number Placeholder 5"/>
          <p:cNvSpPr>
            <a:spLocks noGrp="1"/>
          </p:cNvSpPr>
          <p:nvPr>
            <p:ph type="sldNum" sz="quarter" idx="4"/>
          </p:nvPr>
        </p:nvSpPr>
        <p:spPr>
          <a:xfrm>
            <a:off x="572658" y="5951810"/>
            <a:ext cx="608287" cy="365125"/>
          </a:xfrm>
          <a:prstGeom prst="rect">
            <a:avLst/>
          </a:prstGeom>
        </p:spPr>
        <p:txBody>
          <a:bodyPr vert="horz" lIns="91440" tIns="45720" rIns="91440" bIns="45720" rtlCol="0" anchor="b"/>
          <a:lstStyle>
            <a:lvl1pPr algn="l">
              <a:defRPr sz="1800">
                <a:solidFill>
                  <a:schemeClr val="tx1">
                    <a:tint val="75000"/>
                  </a:schemeClr>
                </a:solidFill>
              </a:defRPr>
            </a:lvl1pPr>
          </a:lstStyle>
          <a:p>
            <a:fld id="{719ACD2A-BEB6-4EA0-98F1-E0B0E5A7F5F5}" type="slidenum">
              <a:rPr lang="es-BO" smtClean="0"/>
              <a:t>‹Nº›</a:t>
            </a:fld>
            <a:endParaRPr lang="es-BO"/>
          </a:p>
        </p:txBody>
      </p:sp>
      <p:sp>
        <p:nvSpPr>
          <p:cNvPr id="55" name="Oval 54"/>
          <p:cNvSpPr>
            <a:spLocks noChangeAspect="1"/>
          </p:cNvSpPr>
          <p:nvPr/>
        </p:nvSpPr>
        <p:spPr>
          <a:xfrm>
            <a:off x="1583172" y="5454223"/>
            <a:ext cx="1909234" cy="1468668"/>
          </a:xfrm>
          <a:custGeom>
            <a:avLst/>
            <a:gdLst/>
            <a:ahLst/>
            <a:cxnLst/>
            <a:rect l="l" t="t" r="r" b="b"/>
            <a:pathLst>
              <a:path w="1909234" h="1468668">
                <a:moveTo>
                  <a:pt x="954617" y="0"/>
                </a:moveTo>
                <a:cubicBezTo>
                  <a:pt x="1481837" y="0"/>
                  <a:pt x="1909234" y="427397"/>
                  <a:pt x="1909234" y="954617"/>
                </a:cubicBezTo>
                <a:cubicBezTo>
                  <a:pt x="1909234" y="1144075"/>
                  <a:pt x="1854043" y="1320642"/>
                  <a:pt x="1758159" y="1468668"/>
                </a:cubicBezTo>
                <a:lnTo>
                  <a:pt x="151075" y="1468668"/>
                </a:lnTo>
                <a:cubicBezTo>
                  <a:pt x="55192" y="1320642"/>
                  <a:pt x="0" y="1144075"/>
                  <a:pt x="0" y="954617"/>
                </a:cubicBezTo>
                <a:cubicBezTo>
                  <a:pt x="0" y="427397"/>
                  <a:pt x="427397" y="0"/>
                  <a:pt x="954617"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57" name="Oval 56"/>
          <p:cNvSpPr>
            <a:spLocks noChangeAspect="1"/>
          </p:cNvSpPr>
          <p:nvPr/>
        </p:nvSpPr>
        <p:spPr>
          <a:xfrm>
            <a:off x="8570944" y="3382942"/>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58" name="Oval 57"/>
          <p:cNvSpPr>
            <a:spLocks noChangeAspect="1"/>
          </p:cNvSpPr>
          <p:nvPr/>
        </p:nvSpPr>
        <p:spPr>
          <a:xfrm>
            <a:off x="8398204" y="3536097"/>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59" name="Oval 58"/>
          <p:cNvSpPr>
            <a:spLocks noChangeAspect="1"/>
          </p:cNvSpPr>
          <p:nvPr/>
        </p:nvSpPr>
        <p:spPr>
          <a:xfrm>
            <a:off x="8608408" y="3688497"/>
            <a:ext cx="306310" cy="306310"/>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0" name="Oval 59"/>
          <p:cNvSpPr>
            <a:spLocks noChangeAspect="1"/>
          </p:cNvSpPr>
          <p:nvPr/>
        </p:nvSpPr>
        <p:spPr>
          <a:xfrm>
            <a:off x="154676" y="2698928"/>
            <a:ext cx="467627" cy="467627"/>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1" name="Oval 60"/>
          <p:cNvSpPr>
            <a:spLocks noChangeAspect="1"/>
          </p:cNvSpPr>
          <p:nvPr/>
        </p:nvSpPr>
        <p:spPr>
          <a:xfrm>
            <a:off x="474208" y="3166555"/>
            <a:ext cx="458770" cy="458770"/>
          </a:xfrm>
          <a:prstGeom prst="ellipse">
            <a:avLst/>
          </a:prstGeom>
          <a:solidFill>
            <a:schemeClr val="accent3">
              <a:lumMod val="60000"/>
              <a:lumOff val="40000"/>
              <a:alpha val="5000"/>
            </a:schemeClr>
          </a:solidFill>
          <a:ln w="12700" cap="rnd" cmpd="sng" algn="ctr">
            <a:solidFill>
              <a:schemeClr val="accent3">
                <a:lumMod val="60000"/>
                <a:lumOff val="40000"/>
                <a:alpha val="15000"/>
              </a:schemeClr>
            </a:solidFill>
            <a:prstDash val="solid"/>
            <a:round/>
            <a:headEnd type="none" w="med" len="med"/>
            <a:tailEnd type="none" w="med" len="med"/>
          </a:ln>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2" name="Oval 61"/>
          <p:cNvSpPr>
            <a:spLocks noChangeAspect="1"/>
          </p:cNvSpPr>
          <p:nvPr/>
        </p:nvSpPr>
        <p:spPr>
          <a:xfrm>
            <a:off x="270258" y="3382942"/>
            <a:ext cx="352045" cy="352045"/>
          </a:xfrm>
          <a:prstGeom prst="ellipse">
            <a:avLst/>
          </a:prstGeom>
          <a:solidFill>
            <a:schemeClr val="accent3">
              <a:lumMod val="60000"/>
              <a:lumOff val="40000"/>
              <a:alpha val="5000"/>
            </a:schemeClr>
          </a:solidFill>
          <a:ln w="63500" cap="rnd" cmpd="sng" algn="ctr">
            <a:solidFill>
              <a:schemeClr val="accent3">
                <a:lumMod val="60000"/>
                <a:lumOff val="40000"/>
                <a:alpha val="15000"/>
              </a:schemeClr>
            </a:solidFill>
            <a:prstDash val="solid"/>
            <a:round/>
            <a:headEnd type="none" w="med" len="med"/>
            <a:tailEnd type="none" w="med" len="med"/>
          </a:ln>
          <a:effectLst>
            <a:softEdge rad="63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63" name="Oval 62"/>
          <p:cNvSpPr>
            <a:spLocks noChangeAspect="1"/>
          </p:cNvSpPr>
          <p:nvPr/>
        </p:nvSpPr>
        <p:spPr>
          <a:xfrm>
            <a:off x="-86601" y="2581479"/>
            <a:ext cx="1360441" cy="1909234"/>
          </a:xfrm>
          <a:custGeom>
            <a:avLst/>
            <a:gdLst/>
            <a:ahLst/>
            <a:cxnLst/>
            <a:rect l="l" t="t" r="r" b="b"/>
            <a:pathLst>
              <a:path w="1360441" h="1909234">
                <a:moveTo>
                  <a:pt x="405824" y="0"/>
                </a:moveTo>
                <a:cubicBezTo>
                  <a:pt x="933044" y="0"/>
                  <a:pt x="1360441" y="427397"/>
                  <a:pt x="1360441" y="954617"/>
                </a:cubicBezTo>
                <a:cubicBezTo>
                  <a:pt x="1360441" y="1481837"/>
                  <a:pt x="933044" y="1909234"/>
                  <a:pt x="405824" y="1909234"/>
                </a:cubicBezTo>
                <a:cubicBezTo>
                  <a:pt x="260527" y="1909234"/>
                  <a:pt x="122812" y="1876773"/>
                  <a:pt x="0" y="1817719"/>
                </a:cubicBezTo>
                <a:lnTo>
                  <a:pt x="0" y="91515"/>
                </a:lnTo>
                <a:cubicBezTo>
                  <a:pt x="122812" y="32461"/>
                  <a:pt x="260527" y="0"/>
                  <a:pt x="405824" y="0"/>
                </a:cubicBezTo>
                <a:close/>
              </a:path>
            </a:pathLst>
          </a:custGeom>
          <a:solidFill>
            <a:schemeClr val="tx2">
              <a:lumMod val="75000"/>
              <a:alpha val="8000"/>
            </a:schemeClr>
          </a:solidFill>
          <a:ln w="330200" cap="rnd" cmpd="sng" algn="ctr">
            <a:solidFill>
              <a:schemeClr val="accent3">
                <a:lumMod val="60000"/>
                <a:lumOff val="40000"/>
                <a:alpha val="0"/>
              </a:schemeClr>
            </a:solidFill>
            <a:prstDash val="solid"/>
            <a:round/>
            <a:headEnd type="none" w="med" len="med"/>
            <a:tailEnd type="none" w="med" len="med"/>
          </a:ln>
          <a:effectLst>
            <a:softEdge rad="3175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ln w="317500">
                <a:solidFill>
                  <a:schemeClr val="tx1"/>
                </a:solidFill>
              </a:ln>
            </a:endParaRPr>
          </a:p>
        </p:txBody>
      </p:sp>
      <p:sp>
        <p:nvSpPr>
          <p:cNvPr id="64" name="Oval 63"/>
          <p:cNvSpPr>
            <a:spLocks noChangeAspect="1"/>
          </p:cNvSpPr>
          <p:nvPr/>
        </p:nvSpPr>
        <p:spPr>
          <a:xfrm>
            <a:off x="6173123" y="2395416"/>
            <a:ext cx="1218253" cy="1218253"/>
          </a:xfrm>
          <a:prstGeom prst="ellipse">
            <a:avLst/>
          </a:prstGeom>
          <a:solidFill>
            <a:schemeClr val="tx2">
              <a:lumMod val="75000"/>
              <a:alpha val="10000"/>
            </a:schemeClr>
          </a:solidFill>
          <a:ln w="177800" cap="rnd" cmpd="sng" algn="ctr">
            <a:solidFill>
              <a:schemeClr val="tx2">
                <a:lumMod val="60000"/>
                <a:lumOff val="40000"/>
                <a:alpha val="0"/>
              </a:schemeClr>
            </a:solidFill>
            <a:prstDash val="solid"/>
            <a:round/>
            <a:headEnd type="none" w="med" len="med"/>
            <a:tailEnd type="none" w="med" len="med"/>
          </a:ln>
          <a:effectLst>
            <a:softEdge rad="152400"/>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txStyles>
    <p:titleStyle>
      <a:lvl1pPr algn="l" defTabSz="457200" rtl="0" eaLnBrk="1" latinLnBrk="0" hangingPunct="1">
        <a:spcBef>
          <a:spcPct val="0"/>
        </a:spcBef>
        <a:buNone/>
        <a:defRPr sz="3200" kern="1200">
          <a:solidFill>
            <a:schemeClr val="tx1"/>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2"/>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2"/>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2"/>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009442" y="1628801"/>
            <a:ext cx="7667014" cy="3148580"/>
          </a:xfrm>
        </p:spPr>
        <p:txBody>
          <a:bodyPr/>
          <a:lstStyle/>
          <a:p>
            <a:pPr algn="ctr"/>
            <a:r>
              <a:rPr lang="es-BO" sz="7200" b="1" dirty="0" smtClean="0">
                <a:solidFill>
                  <a:srgbClr val="7030A0"/>
                </a:solidFill>
              </a:rPr>
              <a:t>MINI PAE</a:t>
            </a:r>
            <a:br>
              <a:rPr lang="es-BO" sz="7200" b="1" dirty="0" smtClean="0">
                <a:solidFill>
                  <a:srgbClr val="7030A0"/>
                </a:solidFill>
              </a:rPr>
            </a:br>
            <a:r>
              <a:rPr lang="es-BO" sz="7200" b="1" dirty="0" smtClean="0">
                <a:solidFill>
                  <a:srgbClr val="7030A0"/>
                </a:solidFill>
              </a:rPr>
              <a:t>CARDIOLOGIA </a:t>
            </a:r>
            <a:endParaRPr lang="es-BO" sz="7200" b="1" dirty="0">
              <a:solidFill>
                <a:srgbClr val="7030A0"/>
              </a:solidFill>
            </a:endParaRPr>
          </a:p>
        </p:txBody>
      </p:sp>
      <p:sp>
        <p:nvSpPr>
          <p:cNvPr id="4" name="3 Subtítulo"/>
          <p:cNvSpPr>
            <a:spLocks noGrp="1"/>
          </p:cNvSpPr>
          <p:nvPr>
            <p:ph type="subTitle" idx="1"/>
          </p:nvPr>
        </p:nvSpPr>
        <p:spPr>
          <a:xfrm>
            <a:off x="1835696" y="5733256"/>
            <a:ext cx="7117180" cy="861420"/>
          </a:xfrm>
        </p:spPr>
        <p:txBody>
          <a:bodyPr>
            <a:normAutofit fontScale="70000" lnSpcReduction="20000"/>
          </a:bodyPr>
          <a:lstStyle/>
          <a:p>
            <a:r>
              <a:rPr lang="es-BO" dirty="0" smtClean="0"/>
              <a:t>                            Docente: Lic. Cinthia Sabido</a:t>
            </a:r>
          </a:p>
          <a:p>
            <a:r>
              <a:rPr lang="es-BO" dirty="0"/>
              <a:t> </a:t>
            </a:r>
            <a:r>
              <a:rPr lang="es-BO" dirty="0" smtClean="0"/>
              <a:t>                            Integrantes: </a:t>
            </a:r>
            <a:r>
              <a:rPr lang="es-BO" dirty="0" err="1" smtClean="0"/>
              <a:t>Arminda</a:t>
            </a:r>
            <a:r>
              <a:rPr lang="es-BO" dirty="0" smtClean="0"/>
              <a:t> Vargas M.</a:t>
            </a:r>
          </a:p>
          <a:p>
            <a:r>
              <a:rPr lang="es-BO" dirty="0"/>
              <a:t> </a:t>
            </a:r>
            <a:r>
              <a:rPr lang="es-BO" dirty="0" smtClean="0"/>
              <a:t>                                                Lilian Zapata C.</a:t>
            </a:r>
            <a:endParaRPr lang="es-BO" dirty="0"/>
          </a:p>
        </p:txBody>
      </p:sp>
    </p:spTree>
    <p:extLst>
      <p:ext uri="{BB962C8B-B14F-4D97-AF65-F5344CB8AC3E}">
        <p14:creationId xmlns:p14="http://schemas.microsoft.com/office/powerpoint/2010/main" val="3239213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DATOS GENERALES</a:t>
            </a:r>
            <a:endParaRPr lang="es-BO" b="1" dirty="0">
              <a:solidFill>
                <a:srgbClr val="7030A0"/>
              </a:solidFill>
            </a:endParaRPr>
          </a:p>
        </p:txBody>
      </p:sp>
      <p:sp>
        <p:nvSpPr>
          <p:cNvPr id="3" name="2 Marcador de contenido"/>
          <p:cNvSpPr>
            <a:spLocks noGrp="1"/>
          </p:cNvSpPr>
          <p:nvPr>
            <p:ph idx="1"/>
          </p:nvPr>
        </p:nvSpPr>
        <p:spPr/>
        <p:txBody>
          <a:bodyPr/>
          <a:lstStyle/>
          <a:p>
            <a:r>
              <a:rPr lang="es-BO" b="1" dirty="0"/>
              <a:t>Nombre: </a:t>
            </a:r>
            <a:r>
              <a:rPr lang="es-BO" dirty="0"/>
              <a:t>J.M.I</a:t>
            </a:r>
          </a:p>
          <a:p>
            <a:r>
              <a:rPr lang="es-BO" b="1" dirty="0"/>
              <a:t>Edad: </a:t>
            </a:r>
            <a:r>
              <a:rPr lang="es-BO" dirty="0"/>
              <a:t>34 años.</a:t>
            </a:r>
          </a:p>
          <a:p>
            <a:r>
              <a:rPr lang="es-BO" b="1" dirty="0"/>
              <a:t>Procedencia: </a:t>
            </a:r>
            <a:r>
              <a:rPr lang="es-BO" dirty="0"/>
              <a:t>Sacaba</a:t>
            </a:r>
          </a:p>
          <a:p>
            <a:r>
              <a:rPr lang="es-BO" b="1" dirty="0"/>
              <a:t>Sexo:</a:t>
            </a:r>
            <a:r>
              <a:rPr lang="es-BO" dirty="0"/>
              <a:t> Femenino.</a:t>
            </a:r>
          </a:p>
          <a:p>
            <a:r>
              <a:rPr lang="es-BO" b="1" dirty="0"/>
              <a:t>Estado Civil:</a:t>
            </a:r>
            <a:r>
              <a:rPr lang="es-BO" dirty="0"/>
              <a:t> Soltera</a:t>
            </a:r>
          </a:p>
          <a:p>
            <a:r>
              <a:rPr lang="es-BO" b="1" dirty="0"/>
              <a:t>Ocupación: </a:t>
            </a:r>
            <a:r>
              <a:rPr lang="es-BO" dirty="0"/>
              <a:t>Comerciante</a:t>
            </a:r>
          </a:p>
          <a:p>
            <a:r>
              <a:rPr lang="es-BO" b="1" dirty="0"/>
              <a:t>Fecha de Ingreso:</a:t>
            </a:r>
            <a:r>
              <a:rPr lang="es-BO" dirty="0"/>
              <a:t> 8-03-14</a:t>
            </a:r>
          </a:p>
          <a:p>
            <a:r>
              <a:rPr lang="es-BO" b="1" dirty="0"/>
              <a:t>Hora:</a:t>
            </a:r>
            <a:r>
              <a:rPr lang="es-BO" dirty="0"/>
              <a:t> 07:00 AM</a:t>
            </a:r>
          </a:p>
          <a:p>
            <a:r>
              <a:rPr lang="es-BO" b="1" dirty="0"/>
              <a:t>Fecha de valoración: </a:t>
            </a:r>
            <a:r>
              <a:rPr lang="es-BO" dirty="0"/>
              <a:t>09-03-2014</a:t>
            </a:r>
          </a:p>
        </p:txBody>
      </p:sp>
    </p:spTree>
    <p:extLst>
      <p:ext uri="{BB962C8B-B14F-4D97-AF65-F5344CB8AC3E}">
        <p14:creationId xmlns:p14="http://schemas.microsoft.com/office/powerpoint/2010/main" val="2047602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27584" y="1124745"/>
            <a:ext cx="7306971" cy="4734054"/>
          </a:xfrm>
        </p:spPr>
        <p:txBody>
          <a:bodyPr/>
          <a:lstStyle/>
          <a:p>
            <a:r>
              <a:rPr lang="es-BO" b="1" dirty="0">
                <a:solidFill>
                  <a:schemeClr val="bg1"/>
                </a:solidFill>
              </a:rPr>
              <a:t>DIAGNÓSTICO MEDICO DE INGRESO: </a:t>
            </a:r>
            <a:r>
              <a:rPr lang="es-BO" dirty="0"/>
              <a:t>8-03-14    </a:t>
            </a:r>
            <a:endParaRPr lang="es-BO" dirty="0" smtClean="0"/>
          </a:p>
          <a:p>
            <a:pPr marL="0" indent="0">
              <a:buNone/>
            </a:pPr>
            <a:endParaRPr lang="es-BO" dirty="0"/>
          </a:p>
          <a:p>
            <a:pPr lvl="0"/>
            <a:r>
              <a:rPr lang="es-BO" b="1" dirty="0"/>
              <a:t>TRAUMA VASCULAR</a:t>
            </a:r>
          </a:p>
          <a:p>
            <a:pPr lvl="0"/>
            <a:r>
              <a:rPr lang="es-BO" b="1" dirty="0"/>
              <a:t>CHOQUE HIPOVOLEMICO</a:t>
            </a:r>
          </a:p>
          <a:p>
            <a:pPr marL="0" indent="0">
              <a:buNone/>
            </a:pPr>
            <a:endParaRPr lang="es-BO" b="1" dirty="0">
              <a:solidFill>
                <a:schemeClr val="bg1"/>
              </a:solidFill>
            </a:endParaRPr>
          </a:p>
          <a:p>
            <a:pPr lvl="0"/>
            <a:r>
              <a:rPr lang="es-BO" b="1" dirty="0">
                <a:solidFill>
                  <a:schemeClr val="bg1"/>
                </a:solidFill>
              </a:rPr>
              <a:t>INTERVENCION QUIRURGICA ACTUAL</a:t>
            </a:r>
            <a:r>
              <a:rPr lang="es-BO" b="1" dirty="0" smtClean="0"/>
              <a:t>: 03-02-14</a:t>
            </a:r>
          </a:p>
          <a:p>
            <a:pPr marL="0" lvl="0" indent="0">
              <a:buNone/>
            </a:pPr>
            <a:endParaRPr lang="es-BO" dirty="0"/>
          </a:p>
          <a:p>
            <a:pPr lvl="0"/>
            <a:r>
              <a:rPr lang="es-BO" b="1" dirty="0" smtClean="0"/>
              <a:t>RECONSTRUCCION   </a:t>
            </a:r>
            <a:r>
              <a:rPr lang="es-BO" b="1" dirty="0"/>
              <a:t>ARTERIAL</a:t>
            </a:r>
          </a:p>
          <a:p>
            <a:pPr marL="0" indent="0">
              <a:buNone/>
            </a:pPr>
            <a:endParaRPr lang="es-BO" dirty="0"/>
          </a:p>
        </p:txBody>
      </p:sp>
    </p:spTree>
    <p:extLst>
      <p:ext uri="{BB962C8B-B14F-4D97-AF65-F5344CB8AC3E}">
        <p14:creationId xmlns:p14="http://schemas.microsoft.com/office/powerpoint/2010/main" val="1132855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MOTIVO DE CONSULTA Y ENFERMEDAD ACTUAL</a:t>
            </a:r>
            <a:endParaRPr lang="es-BO" b="1" dirty="0">
              <a:solidFill>
                <a:srgbClr val="7030A0"/>
              </a:solidFill>
            </a:endParaRPr>
          </a:p>
        </p:txBody>
      </p:sp>
      <p:sp>
        <p:nvSpPr>
          <p:cNvPr id="3" name="2 Marcador de contenido"/>
          <p:cNvSpPr>
            <a:spLocks noGrp="1"/>
          </p:cNvSpPr>
          <p:nvPr>
            <p:ph idx="1"/>
          </p:nvPr>
        </p:nvSpPr>
        <p:spPr/>
        <p:txBody>
          <a:bodyPr/>
          <a:lstStyle/>
          <a:p>
            <a:pPr lvl="0"/>
            <a:r>
              <a:rPr lang="es-BO" b="1" dirty="0">
                <a:solidFill>
                  <a:schemeClr val="bg1"/>
                </a:solidFill>
              </a:rPr>
              <a:t>MOTIVO DE CONSULTA:</a:t>
            </a:r>
          </a:p>
          <a:p>
            <a:r>
              <a:rPr lang="es-BO" dirty="0"/>
              <a:t>Paciente ingresa  al servicio de emergencia transferido de Sacaba posterior a accidente en motocicleta contra un automóvil, llegando al servicio con pérdida masiva de sangre en shock, con lesión en la femoral de pie derecho con sangrado abundante.</a:t>
            </a:r>
          </a:p>
          <a:p>
            <a:pPr lvl="0"/>
            <a:r>
              <a:rPr lang="es-BO" b="1" dirty="0">
                <a:solidFill>
                  <a:schemeClr val="bg1"/>
                </a:solidFill>
              </a:rPr>
              <a:t>ENFERMEDAD ACTUAL:</a:t>
            </a:r>
          </a:p>
          <a:p>
            <a:r>
              <a:rPr lang="es-BO" dirty="0"/>
              <a:t> Paciente ingresa al servicio de emergencia transferido de Sacaba posterior a accidente en motocicleta contra un automóvil, llegando al servicio con pérdida masiva de sangre en shock, con lesión en la femoral de pie derecho con sangrado abundante.</a:t>
            </a:r>
          </a:p>
          <a:p>
            <a:endParaRPr lang="es-BO" dirty="0"/>
          </a:p>
        </p:txBody>
      </p:sp>
    </p:spTree>
    <p:extLst>
      <p:ext uri="{BB962C8B-B14F-4D97-AF65-F5344CB8AC3E}">
        <p14:creationId xmlns:p14="http://schemas.microsoft.com/office/powerpoint/2010/main" val="79700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DESCRIPCION DEL DIAGNOSTICO MEDICO</a:t>
            </a:r>
            <a:endParaRPr lang="es-BO" b="1" dirty="0">
              <a:solidFill>
                <a:srgbClr val="7030A0"/>
              </a:solidFill>
            </a:endParaRPr>
          </a:p>
        </p:txBody>
      </p:sp>
      <p:sp>
        <p:nvSpPr>
          <p:cNvPr id="3" name="2 Marcador de contenido"/>
          <p:cNvSpPr>
            <a:spLocks noGrp="1"/>
          </p:cNvSpPr>
          <p:nvPr>
            <p:ph idx="1"/>
          </p:nvPr>
        </p:nvSpPr>
        <p:spPr/>
        <p:txBody>
          <a:bodyPr>
            <a:normAutofit/>
          </a:bodyPr>
          <a:lstStyle/>
          <a:p>
            <a:pPr marL="0" indent="0">
              <a:buNone/>
            </a:pPr>
            <a:r>
              <a:rPr lang="es-BO" sz="2800" dirty="0">
                <a:latin typeface="Times New Roman"/>
                <a:ea typeface="Calibri"/>
              </a:rPr>
              <a:t>Los traumatismos vasculares son cada vez más frecuentes en la vida civil como consecuencia de los accidentes de circulación. El aumento de la violencia en nuestra sociedad ha incrementado de forma importante las heridas vasculares provocadas por armas blancas y por proyectiles con un tipo de heridas que anteriormente sólo se veían en las guerras. </a:t>
            </a:r>
            <a:endParaRPr lang="es-BO" sz="2800" dirty="0"/>
          </a:p>
        </p:txBody>
      </p:sp>
    </p:spTree>
    <p:extLst>
      <p:ext uri="{BB962C8B-B14F-4D97-AF65-F5344CB8AC3E}">
        <p14:creationId xmlns:p14="http://schemas.microsoft.com/office/powerpoint/2010/main" val="25834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TRAUMA DE LA ARTERIA FEMORAL</a:t>
            </a:r>
            <a:endParaRPr lang="es-BO" b="1" dirty="0">
              <a:solidFill>
                <a:srgbClr val="7030A0"/>
              </a:solidFill>
            </a:endParaRPr>
          </a:p>
        </p:txBody>
      </p:sp>
      <p:sp>
        <p:nvSpPr>
          <p:cNvPr id="3" name="2 Marcador de contenido"/>
          <p:cNvSpPr>
            <a:spLocks noGrp="1"/>
          </p:cNvSpPr>
          <p:nvPr>
            <p:ph idx="1"/>
          </p:nvPr>
        </p:nvSpPr>
        <p:spPr/>
        <p:txBody>
          <a:bodyPr>
            <a:normAutofit/>
          </a:bodyPr>
          <a:lstStyle/>
          <a:p>
            <a:pPr marL="0" indent="0" algn="just">
              <a:buNone/>
            </a:pPr>
            <a:r>
              <a:rPr lang="es-BO" sz="3600" b="1" dirty="0" smtClean="0">
                <a:solidFill>
                  <a:schemeClr val="bg1"/>
                </a:solidFill>
              </a:rPr>
              <a:t>CONCEPTO</a:t>
            </a:r>
            <a:r>
              <a:rPr lang="es-BO" sz="3600" dirty="0" smtClean="0"/>
              <a:t>: Es un trauma que puede afectar al sistema arterial, venoso o linfático, su localización frecuente es en las extremidades.</a:t>
            </a:r>
            <a:endParaRPr lang="es-BO" sz="3600" dirty="0"/>
          </a:p>
        </p:txBody>
      </p:sp>
    </p:spTree>
    <p:extLst>
      <p:ext uri="{BB962C8B-B14F-4D97-AF65-F5344CB8AC3E}">
        <p14:creationId xmlns:p14="http://schemas.microsoft.com/office/powerpoint/2010/main" val="791430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09442" y="188641"/>
            <a:ext cx="7125113" cy="936104"/>
          </a:xfrm>
        </p:spPr>
        <p:txBody>
          <a:bodyPr/>
          <a:lstStyle/>
          <a:p>
            <a:r>
              <a:rPr lang="es-BO" b="1" dirty="0" smtClean="0">
                <a:solidFill>
                  <a:srgbClr val="7030A0"/>
                </a:solidFill>
              </a:rPr>
              <a:t>CLASIFICACION</a:t>
            </a:r>
            <a:endParaRPr lang="es-BO" b="1" dirty="0">
              <a:solidFill>
                <a:srgbClr val="7030A0"/>
              </a:solidFill>
            </a:endParaRPr>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910443007"/>
              </p:ext>
            </p:extLst>
          </p:nvPr>
        </p:nvGraphicFramePr>
        <p:xfrm>
          <a:off x="755576" y="1340768"/>
          <a:ext cx="7523237" cy="4543374"/>
        </p:xfrm>
        <a:graphic>
          <a:graphicData uri="http://schemas.openxmlformats.org/drawingml/2006/table">
            <a:tbl>
              <a:tblPr firstRow="1" firstCol="1" bandRow="1">
                <a:tableStyleId>{9D7B26C5-4107-4FEC-AEDC-1716B250A1EF}</a:tableStyleId>
              </a:tblPr>
              <a:tblGrid>
                <a:gridCol w="7523237"/>
              </a:tblGrid>
              <a:tr h="744083">
                <a:tc>
                  <a:txBody>
                    <a:bodyPr/>
                    <a:lstStyle/>
                    <a:p>
                      <a:pPr algn="just">
                        <a:lnSpc>
                          <a:spcPct val="150000"/>
                        </a:lnSpc>
                        <a:spcAft>
                          <a:spcPts val="0"/>
                        </a:spcAft>
                      </a:pPr>
                      <a:r>
                        <a:rPr lang="es-ES" sz="1800">
                          <a:effectLst/>
                        </a:rPr>
                        <a:t>Heridas penetrantes.</a:t>
                      </a:r>
                      <a:endParaRPr lang="es-BO" sz="1800">
                        <a:effectLst/>
                        <a:latin typeface="Calibri"/>
                        <a:ea typeface="Calibri"/>
                        <a:cs typeface="Times New Roman"/>
                      </a:endParaRPr>
                    </a:p>
                  </a:txBody>
                  <a:tcPr marL="68580" marR="68580" marT="0" marB="0"/>
                </a:tc>
              </a:tr>
              <a:tr h="2232248">
                <a:tc>
                  <a:txBody>
                    <a:bodyPr/>
                    <a:lstStyle/>
                    <a:p>
                      <a:pPr algn="just">
                        <a:lnSpc>
                          <a:spcPct val="150000"/>
                        </a:lnSpc>
                        <a:spcAft>
                          <a:spcPts val="1000"/>
                        </a:spcAft>
                      </a:pPr>
                      <a:r>
                        <a:rPr lang="es-ES" sz="1800" dirty="0">
                          <a:effectLst/>
                        </a:rPr>
                        <a:t>- En las heridas por arma de fuego, la severidad depende del tipo y de la velocidad del proyectil.</a:t>
                      </a:r>
                      <a:br>
                        <a:rPr lang="es-ES" sz="1800" dirty="0">
                          <a:effectLst/>
                        </a:rPr>
                      </a:br>
                      <a:r>
                        <a:rPr lang="es-ES" sz="1800" dirty="0">
                          <a:effectLst/>
                        </a:rPr>
                        <a:t/>
                      </a:r>
                      <a:br>
                        <a:rPr lang="es-ES" sz="1800" dirty="0">
                          <a:effectLst/>
                        </a:rPr>
                      </a:br>
                      <a:r>
                        <a:rPr lang="es-ES" sz="1800" dirty="0">
                          <a:effectLst/>
                        </a:rPr>
                        <a:t>- Herida por armas corto punzantes son las producidas por arma blanca u objetos corto-punzantes (vidrios).</a:t>
                      </a:r>
                      <a:endParaRPr lang="es-BO" sz="1800" dirty="0">
                        <a:effectLst/>
                        <a:latin typeface="Calibri"/>
                        <a:ea typeface="Calibri"/>
                        <a:cs typeface="Times New Roman"/>
                      </a:endParaRPr>
                    </a:p>
                  </a:txBody>
                  <a:tcPr marL="68580" marR="68580" marT="0" marB="0"/>
                </a:tc>
              </a:tr>
              <a:tr h="744083">
                <a:tc>
                  <a:txBody>
                    <a:bodyPr/>
                    <a:lstStyle/>
                    <a:p>
                      <a:pPr algn="just">
                        <a:lnSpc>
                          <a:spcPct val="150000"/>
                        </a:lnSpc>
                        <a:spcAft>
                          <a:spcPts val="0"/>
                        </a:spcAft>
                      </a:pPr>
                      <a:r>
                        <a:rPr lang="es-ES" sz="1800">
                          <a:effectLst/>
                        </a:rPr>
                        <a:t>Heridas no penetrantes.</a:t>
                      </a:r>
                      <a:endParaRPr lang="es-BO" sz="1800">
                        <a:effectLst/>
                        <a:latin typeface="Calibri"/>
                        <a:ea typeface="Calibri"/>
                        <a:cs typeface="Times New Roman"/>
                      </a:endParaRPr>
                    </a:p>
                  </a:txBody>
                  <a:tcPr marL="68580" marR="68580" marT="0" marB="0"/>
                </a:tc>
              </a:tr>
              <a:tr h="744083">
                <a:tc>
                  <a:txBody>
                    <a:bodyPr/>
                    <a:lstStyle/>
                    <a:p>
                      <a:pPr algn="just">
                        <a:lnSpc>
                          <a:spcPct val="150000"/>
                        </a:lnSpc>
                        <a:spcAft>
                          <a:spcPts val="1000"/>
                        </a:spcAft>
                      </a:pPr>
                      <a:r>
                        <a:rPr lang="es-ES" sz="1800" dirty="0">
                          <a:effectLst/>
                        </a:rPr>
                        <a:t>- Son menos frecuentes y son más difíciles de diagnosticar, ejemplo lesiones por aplastamiento.</a:t>
                      </a:r>
                      <a:endParaRPr lang="es-BO" sz="18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148331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09442" y="675725"/>
            <a:ext cx="7125113" cy="449019"/>
          </a:xfrm>
        </p:spPr>
        <p:txBody>
          <a:bodyPr/>
          <a:lstStyle/>
          <a:p>
            <a:pPr algn="just">
              <a:lnSpc>
                <a:spcPct val="150000"/>
              </a:lnSpc>
              <a:spcAft>
                <a:spcPts val="1000"/>
              </a:spcAft>
            </a:pPr>
            <a:r>
              <a:rPr lang="es-BO" b="1" dirty="0">
                <a:latin typeface="Times New Roman"/>
                <a:ea typeface="Times New Roman"/>
                <a:cs typeface="Times New Roman"/>
              </a:rPr>
              <a:t>Tipos de lesión vascular.</a:t>
            </a:r>
            <a:r>
              <a:rPr lang="es-BO" sz="2800" dirty="0">
                <a:latin typeface="Calibri"/>
                <a:ea typeface="Calibri"/>
                <a:cs typeface="Times New Roman"/>
              </a:rPr>
              <a:t/>
            </a:r>
            <a:br>
              <a:rPr lang="es-BO" sz="2800" dirty="0">
                <a:latin typeface="Calibri"/>
                <a:ea typeface="Calibri"/>
                <a:cs typeface="Times New Roman"/>
              </a:rPr>
            </a:br>
            <a:endParaRPr lang="es-BO"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271918026"/>
              </p:ext>
            </p:extLst>
          </p:nvPr>
        </p:nvGraphicFramePr>
        <p:xfrm>
          <a:off x="323528" y="764704"/>
          <a:ext cx="8640960" cy="6720840"/>
        </p:xfrm>
        <a:graphic>
          <a:graphicData uri="http://schemas.openxmlformats.org/drawingml/2006/table">
            <a:tbl>
              <a:tblPr firstRow="1" firstCol="1" bandRow="1">
                <a:tableStyleId>{E8B1032C-EA38-4F05-BA0D-38AFFFC7BED3}</a:tableStyleId>
              </a:tblPr>
              <a:tblGrid>
                <a:gridCol w="2592288"/>
                <a:gridCol w="6048672"/>
              </a:tblGrid>
              <a:tr h="269550">
                <a:tc gridSpan="2">
                  <a:txBody>
                    <a:bodyPr/>
                    <a:lstStyle/>
                    <a:p>
                      <a:pPr algn="just">
                        <a:lnSpc>
                          <a:spcPct val="150000"/>
                        </a:lnSpc>
                        <a:spcAft>
                          <a:spcPts val="0"/>
                        </a:spcAft>
                      </a:pPr>
                      <a:r>
                        <a:rPr lang="es-BO" sz="1400" dirty="0">
                          <a:effectLst/>
                        </a:rPr>
                        <a:t>Lesión penetrante </a:t>
                      </a:r>
                      <a:endParaRPr lang="es-BO" sz="1400" dirty="0">
                        <a:effectLst/>
                        <a:latin typeface="Calibri"/>
                        <a:ea typeface="Calibri"/>
                        <a:cs typeface="Times New Roman"/>
                      </a:endParaRPr>
                    </a:p>
                  </a:txBody>
                  <a:tcPr marL="59448" marR="59448" marT="0" marB="0"/>
                </a:tc>
                <a:tc hMerge="1">
                  <a:txBody>
                    <a:bodyPr/>
                    <a:lstStyle/>
                    <a:p>
                      <a:endParaRPr lang="es-BO"/>
                    </a:p>
                  </a:txBody>
                  <a:tcPr/>
                </a:tc>
              </a:tr>
              <a:tr h="572388">
                <a:tc>
                  <a:txBody>
                    <a:bodyPr/>
                    <a:lstStyle/>
                    <a:p>
                      <a:pPr algn="just">
                        <a:lnSpc>
                          <a:spcPct val="150000"/>
                        </a:lnSpc>
                        <a:spcAft>
                          <a:spcPts val="0"/>
                        </a:spcAft>
                      </a:pPr>
                      <a:r>
                        <a:rPr lang="es-BO" sz="1400">
                          <a:effectLst/>
                        </a:rPr>
                        <a:t>Laceración.</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a:effectLst/>
                        </a:rPr>
                        <a:t>Puede ser desde la simple lesión por punción a la sección completa arterial.</a:t>
                      </a:r>
                      <a:endParaRPr lang="es-BO" sz="1400">
                        <a:effectLst/>
                        <a:latin typeface="Calibri"/>
                        <a:ea typeface="Calibri"/>
                        <a:cs typeface="Times New Roman"/>
                      </a:endParaRPr>
                    </a:p>
                  </a:txBody>
                  <a:tcPr marL="59448" marR="59448" marT="0" marB="0"/>
                </a:tc>
              </a:tr>
              <a:tr h="1178064">
                <a:tc>
                  <a:txBody>
                    <a:bodyPr/>
                    <a:lstStyle/>
                    <a:p>
                      <a:pPr algn="just">
                        <a:lnSpc>
                          <a:spcPct val="150000"/>
                        </a:lnSpc>
                        <a:spcAft>
                          <a:spcPts val="0"/>
                        </a:spcAft>
                      </a:pPr>
                      <a:r>
                        <a:rPr lang="es-BO" sz="1400" dirty="0">
                          <a:effectLst/>
                        </a:rPr>
                        <a:t>Fístula </a:t>
                      </a:r>
                      <a:r>
                        <a:rPr lang="es-BO" sz="1400" dirty="0" err="1">
                          <a:effectLst/>
                        </a:rPr>
                        <a:t>arterio</a:t>
                      </a:r>
                      <a:r>
                        <a:rPr lang="es-BO" sz="1400" dirty="0">
                          <a:effectLst/>
                        </a:rPr>
                        <a:t>-venosa.</a:t>
                      </a:r>
                      <a:endParaRPr lang="es-BO" sz="1400" dirty="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Es la comunicación entre la circulación arterial y el sistema venoso, y puede ser una complicación inmediata o tardía de un trauma vascular sea este penetrante o iatrogénico. Y su manejo puede ser quirúrgico o por utilización de balones o </a:t>
                      </a:r>
                      <a:r>
                        <a:rPr lang="es-BO" sz="1400" dirty="0" err="1">
                          <a:effectLst/>
                        </a:rPr>
                        <a:t>embolización</a:t>
                      </a:r>
                      <a:r>
                        <a:rPr lang="es-BO" sz="1400" dirty="0">
                          <a:effectLst/>
                        </a:rPr>
                        <a:t>.</a:t>
                      </a:r>
                      <a:endParaRPr lang="es-BO" sz="1400" dirty="0">
                        <a:effectLst/>
                        <a:latin typeface="Calibri"/>
                        <a:ea typeface="Calibri"/>
                        <a:cs typeface="Times New Roman"/>
                      </a:endParaRPr>
                    </a:p>
                  </a:txBody>
                  <a:tcPr marL="59448" marR="59448" marT="0" marB="0"/>
                </a:tc>
              </a:tr>
              <a:tr h="572388">
                <a:tc>
                  <a:txBody>
                    <a:bodyPr/>
                    <a:lstStyle/>
                    <a:p>
                      <a:pPr algn="just">
                        <a:lnSpc>
                          <a:spcPct val="150000"/>
                        </a:lnSpc>
                        <a:spcAft>
                          <a:spcPts val="0"/>
                        </a:spcAft>
                      </a:pPr>
                      <a:r>
                        <a:rPr lang="es-BO" sz="1400">
                          <a:effectLst/>
                        </a:rPr>
                        <a:t>Falso aneurisma.</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a:effectLst/>
                        </a:rPr>
                        <a:t>Son laceraciones selladas parcialmente por un coágulo que sufre licuefacción, expansión o embolización posterior</a:t>
                      </a:r>
                      <a:endParaRPr lang="es-BO" sz="1400">
                        <a:effectLst/>
                        <a:latin typeface="Calibri"/>
                        <a:ea typeface="Calibri"/>
                        <a:cs typeface="Times New Roman"/>
                      </a:endParaRPr>
                    </a:p>
                  </a:txBody>
                  <a:tcPr marL="59448" marR="59448" marT="0" marB="0"/>
                </a:tc>
              </a:tr>
              <a:tr h="269550">
                <a:tc gridSpan="2">
                  <a:txBody>
                    <a:bodyPr/>
                    <a:lstStyle/>
                    <a:p>
                      <a:pPr algn="just">
                        <a:lnSpc>
                          <a:spcPct val="150000"/>
                        </a:lnSpc>
                        <a:spcAft>
                          <a:spcPts val="1000"/>
                        </a:spcAft>
                      </a:pPr>
                      <a:r>
                        <a:rPr lang="es-BO" sz="1400">
                          <a:effectLst/>
                        </a:rPr>
                        <a:t>Lesión no penetrante</a:t>
                      </a:r>
                      <a:endParaRPr lang="es-BO" sz="1400">
                        <a:effectLst/>
                        <a:latin typeface="Calibri"/>
                        <a:ea typeface="Calibri"/>
                        <a:cs typeface="Times New Roman"/>
                      </a:endParaRPr>
                    </a:p>
                  </a:txBody>
                  <a:tcPr marL="59448" marR="59448" marT="0" marB="0"/>
                </a:tc>
                <a:tc hMerge="1">
                  <a:txBody>
                    <a:bodyPr/>
                    <a:lstStyle/>
                    <a:p>
                      <a:endParaRPr lang="es-BO"/>
                    </a:p>
                  </a:txBody>
                  <a:tcPr/>
                </a:tc>
              </a:tr>
              <a:tr h="572388">
                <a:tc>
                  <a:txBody>
                    <a:bodyPr/>
                    <a:lstStyle/>
                    <a:p>
                      <a:pPr algn="just">
                        <a:lnSpc>
                          <a:spcPct val="150000"/>
                        </a:lnSpc>
                        <a:spcAft>
                          <a:spcPts val="1000"/>
                        </a:spcAft>
                      </a:pPr>
                      <a:r>
                        <a:rPr lang="es-BO" sz="1400">
                          <a:effectLst/>
                        </a:rPr>
                        <a:t>Desgarro de la íntima.</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Se presenta cuando por tracción vascular se diseca la intima provocando prolapso </a:t>
                      </a:r>
                      <a:r>
                        <a:rPr lang="es-BO" sz="1400" dirty="0" err="1">
                          <a:effectLst/>
                        </a:rPr>
                        <a:t>intraluminal</a:t>
                      </a:r>
                      <a:r>
                        <a:rPr lang="es-BO" sz="1400" dirty="0">
                          <a:effectLst/>
                        </a:rPr>
                        <a:t> y trombosis posterior.</a:t>
                      </a:r>
                      <a:endParaRPr lang="es-BO" sz="1400" dirty="0">
                        <a:effectLst/>
                        <a:latin typeface="Calibri"/>
                        <a:ea typeface="Calibri"/>
                        <a:cs typeface="Times New Roman"/>
                      </a:endParaRPr>
                    </a:p>
                  </a:txBody>
                  <a:tcPr marL="59448" marR="59448" marT="0" marB="0"/>
                </a:tc>
              </a:tr>
              <a:tr h="2086579">
                <a:tc>
                  <a:txBody>
                    <a:bodyPr/>
                    <a:lstStyle/>
                    <a:p>
                      <a:pPr algn="just">
                        <a:lnSpc>
                          <a:spcPct val="150000"/>
                        </a:lnSpc>
                        <a:spcAft>
                          <a:spcPts val="0"/>
                        </a:spcAft>
                      </a:pPr>
                      <a:r>
                        <a:rPr lang="es-BO" sz="1400">
                          <a:effectLst/>
                        </a:rPr>
                        <a:t>Espasmo.</a:t>
                      </a:r>
                      <a:endParaRPr lang="es-BO" sz="140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Se puede asociar con lesiones adyacentes de tejidos blandos, trauma cerrado sobre la pared vascular y hemorragia dentro del tejido que lo rodea, así mismo el espasmo como causa de ausencia distal es poco común, y desaparece al rededor de 3 horas, si el espasmo es mayor de este tiempo y persiste la ausencia de pulsos entonces se debe pensar que estamos frente una trombosis y/o una sección vascular.</a:t>
                      </a:r>
                      <a:endParaRPr lang="es-BO" sz="1400" dirty="0">
                        <a:effectLst/>
                        <a:latin typeface="Calibri"/>
                        <a:ea typeface="Calibri"/>
                        <a:cs typeface="Times New Roman"/>
                      </a:endParaRPr>
                    </a:p>
                  </a:txBody>
                  <a:tcPr marL="59448" marR="59448" marT="0" marB="0"/>
                </a:tc>
              </a:tr>
              <a:tr h="572388">
                <a:tc>
                  <a:txBody>
                    <a:bodyPr/>
                    <a:lstStyle/>
                    <a:p>
                      <a:pPr algn="just">
                        <a:lnSpc>
                          <a:spcPct val="150000"/>
                        </a:lnSpc>
                        <a:spcAft>
                          <a:spcPts val="0"/>
                        </a:spcAft>
                      </a:pPr>
                      <a:r>
                        <a:rPr lang="es-BO" sz="1400" dirty="0">
                          <a:effectLst/>
                        </a:rPr>
                        <a:t>Contusión.</a:t>
                      </a:r>
                      <a:endParaRPr lang="es-BO" sz="1400" dirty="0">
                        <a:effectLst/>
                        <a:latin typeface="Calibri"/>
                        <a:ea typeface="Calibri"/>
                        <a:cs typeface="Times New Roman"/>
                      </a:endParaRPr>
                    </a:p>
                  </a:txBody>
                  <a:tcPr marL="59448" marR="59448" marT="0" marB="0"/>
                </a:tc>
                <a:tc>
                  <a:txBody>
                    <a:bodyPr/>
                    <a:lstStyle/>
                    <a:p>
                      <a:pPr algn="just">
                        <a:lnSpc>
                          <a:spcPct val="150000"/>
                        </a:lnSpc>
                        <a:spcAft>
                          <a:spcPts val="0"/>
                        </a:spcAft>
                      </a:pPr>
                      <a:r>
                        <a:rPr lang="es-BO" sz="1400" dirty="0">
                          <a:effectLst/>
                        </a:rPr>
                        <a:t>Hematoma de la adventicia que puede llevar a trombosis o disección y posteriormente a ruptura.</a:t>
                      </a:r>
                      <a:endParaRPr lang="es-BO" sz="1400" dirty="0">
                        <a:effectLst/>
                        <a:latin typeface="Calibri"/>
                        <a:ea typeface="Calibri"/>
                        <a:cs typeface="Times New Roman"/>
                      </a:endParaRPr>
                    </a:p>
                  </a:txBody>
                  <a:tcPr marL="59448" marR="59448" marT="0" marB="0"/>
                </a:tc>
              </a:tr>
            </a:tbl>
          </a:graphicData>
        </a:graphic>
      </p:graphicFrame>
      <p:sp>
        <p:nvSpPr>
          <p:cNvPr id="5" name="Rectangle 3"/>
          <p:cNvSpPr>
            <a:spLocks noChangeArrowheads="1"/>
          </p:cNvSpPr>
          <p:nvPr/>
        </p:nvSpPr>
        <p:spPr bwMode="auto">
          <a:xfrm>
            <a:off x="1484313" y="13414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BO" altLang="es-BO"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958626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99592" y="764704"/>
            <a:ext cx="8064896" cy="6186309"/>
          </a:xfrm>
          <a:prstGeom prst="rect">
            <a:avLst/>
          </a:prstGeom>
        </p:spPr>
        <p:txBody>
          <a:bodyPr wrap="square">
            <a:spAutoFit/>
          </a:bodyPr>
          <a:lstStyle/>
          <a:p>
            <a:r>
              <a:rPr lang="es-BO" sz="2400" b="1" dirty="0" smtClean="0">
                <a:solidFill>
                  <a:srgbClr val="7030A0"/>
                </a:solidFill>
              </a:rPr>
              <a:t>Signos </a:t>
            </a:r>
            <a:r>
              <a:rPr lang="es-BO" sz="2400" b="1" dirty="0">
                <a:solidFill>
                  <a:srgbClr val="7030A0"/>
                </a:solidFill>
              </a:rPr>
              <a:t>y síntomas sospechosos de lesiones </a:t>
            </a:r>
            <a:r>
              <a:rPr lang="es-BO" sz="2400" b="1" dirty="0" smtClean="0">
                <a:solidFill>
                  <a:srgbClr val="7030A0"/>
                </a:solidFill>
              </a:rPr>
              <a:t>arteriales</a:t>
            </a:r>
          </a:p>
          <a:p>
            <a:endParaRPr lang="es-BO" sz="2400" dirty="0"/>
          </a:p>
          <a:p>
            <a:pPr>
              <a:lnSpc>
                <a:spcPct val="150000"/>
              </a:lnSpc>
            </a:pPr>
            <a:r>
              <a:rPr lang="es-BO" sz="2400" dirty="0"/>
              <a:t>1. Proximidad de la herida a una arteria mayor</a:t>
            </a:r>
          </a:p>
          <a:p>
            <a:pPr>
              <a:lnSpc>
                <a:spcPct val="150000"/>
              </a:lnSpc>
            </a:pPr>
            <a:r>
              <a:rPr lang="pt-BR" sz="2400" dirty="0"/>
              <a:t>2. Pulsos </a:t>
            </a:r>
            <a:r>
              <a:rPr lang="pt-BR" sz="2400" dirty="0" err="1"/>
              <a:t>distales</a:t>
            </a:r>
            <a:r>
              <a:rPr lang="pt-BR" sz="2400" dirty="0"/>
              <a:t> ausentes o </a:t>
            </a:r>
            <a:r>
              <a:rPr lang="pt-BR" sz="2400" dirty="0" err="1"/>
              <a:t>disminuídos</a:t>
            </a:r>
            <a:endParaRPr lang="pt-BR" sz="2400" dirty="0"/>
          </a:p>
          <a:p>
            <a:pPr>
              <a:lnSpc>
                <a:spcPct val="150000"/>
              </a:lnSpc>
            </a:pPr>
            <a:r>
              <a:rPr lang="pt-BR" sz="2400" dirty="0"/>
              <a:t>3. Historia de/o sangrado arterial persistente</a:t>
            </a:r>
          </a:p>
          <a:p>
            <a:pPr>
              <a:lnSpc>
                <a:spcPct val="150000"/>
              </a:lnSpc>
            </a:pPr>
            <a:r>
              <a:rPr lang="es-BO" sz="2400" dirty="0"/>
              <a:t>4. Hemorragia mayor con hipotensión o shock</a:t>
            </a:r>
          </a:p>
          <a:p>
            <a:pPr>
              <a:lnSpc>
                <a:spcPct val="150000"/>
              </a:lnSpc>
            </a:pPr>
            <a:r>
              <a:rPr lang="es-BO" sz="2400" dirty="0"/>
              <a:t>5. Hematoma grande o creciente</a:t>
            </a:r>
          </a:p>
          <a:p>
            <a:pPr>
              <a:lnSpc>
                <a:spcPct val="150000"/>
              </a:lnSpc>
            </a:pPr>
            <a:r>
              <a:rPr lang="es-BO" sz="2400" dirty="0"/>
              <a:t>6. Lesión de nervios anatómicamente próximos</a:t>
            </a:r>
          </a:p>
          <a:p>
            <a:pPr>
              <a:lnSpc>
                <a:spcPct val="150000"/>
              </a:lnSpc>
            </a:pPr>
            <a:r>
              <a:rPr lang="es-BO" sz="2400" dirty="0"/>
              <a:t>7. Auscultación de soplos sobre el trayecto arterial afectado</a:t>
            </a:r>
          </a:p>
          <a:p>
            <a:pPr>
              <a:lnSpc>
                <a:spcPct val="150000"/>
              </a:lnSpc>
            </a:pPr>
            <a:r>
              <a:rPr lang="es-BO" sz="2400" dirty="0"/>
              <a:t>8. Isquemia distal a la zona afectada</a:t>
            </a:r>
          </a:p>
        </p:txBody>
      </p:sp>
    </p:spTree>
    <p:extLst>
      <p:ext uri="{BB962C8B-B14F-4D97-AF65-F5344CB8AC3E}">
        <p14:creationId xmlns:p14="http://schemas.microsoft.com/office/powerpoint/2010/main" val="3000523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467544" y="476672"/>
            <a:ext cx="8064896" cy="6124754"/>
          </a:xfrm>
          <a:prstGeom prst="rect">
            <a:avLst/>
          </a:prstGeom>
        </p:spPr>
        <p:txBody>
          <a:bodyPr wrap="square">
            <a:spAutoFit/>
          </a:bodyPr>
          <a:lstStyle/>
          <a:p>
            <a:r>
              <a:rPr lang="es-BO" sz="2800" b="1" dirty="0" smtClean="0"/>
              <a:t> </a:t>
            </a:r>
            <a:r>
              <a:rPr lang="es-BO" sz="2800" b="1" dirty="0">
                <a:solidFill>
                  <a:srgbClr val="7030A0"/>
                </a:solidFill>
              </a:rPr>
              <a:t>Tratamiento de las heridas </a:t>
            </a:r>
            <a:r>
              <a:rPr lang="es-BO" sz="2800" b="1" dirty="0" smtClean="0">
                <a:solidFill>
                  <a:srgbClr val="7030A0"/>
                </a:solidFill>
              </a:rPr>
              <a:t>vasculares</a:t>
            </a:r>
          </a:p>
          <a:p>
            <a:endParaRPr lang="es-BO" sz="2800" dirty="0"/>
          </a:p>
          <a:p>
            <a:r>
              <a:rPr lang="es-BO" sz="2800" b="1" dirty="0">
                <a:solidFill>
                  <a:srgbClr val="00B050"/>
                </a:solidFill>
              </a:rPr>
              <a:t>I. Prioridades</a:t>
            </a:r>
          </a:p>
          <a:p>
            <a:pPr marL="352425"/>
            <a:r>
              <a:rPr lang="es-BO" sz="2800" dirty="0"/>
              <a:t>– Control de la hemorragia.</a:t>
            </a:r>
          </a:p>
          <a:p>
            <a:pPr marL="352425"/>
            <a:r>
              <a:rPr lang="es-BO" sz="2800" dirty="0"/>
              <a:t>– Traslado urgente.</a:t>
            </a:r>
          </a:p>
          <a:p>
            <a:pPr marL="352425"/>
            <a:r>
              <a:rPr lang="es-BO" sz="2800" dirty="0"/>
              <a:t>– Tratamiento del shock.</a:t>
            </a:r>
          </a:p>
          <a:p>
            <a:pPr marL="352425"/>
            <a:r>
              <a:rPr lang="es-BO" sz="2800" dirty="0"/>
              <a:t>– Reconstrucción arterial urgente.</a:t>
            </a:r>
          </a:p>
          <a:p>
            <a:r>
              <a:rPr lang="es-BO" sz="2800" b="1" dirty="0">
                <a:solidFill>
                  <a:srgbClr val="00B050"/>
                </a:solidFill>
              </a:rPr>
              <a:t>II. Claves en el manejo quirúrgico</a:t>
            </a:r>
          </a:p>
          <a:p>
            <a:pPr marL="352425"/>
            <a:r>
              <a:rPr lang="es-BO" sz="2800" dirty="0"/>
              <a:t>A. Tratamiento de la herida</a:t>
            </a:r>
          </a:p>
          <a:p>
            <a:pPr marL="1077913" indent="-280988"/>
            <a:r>
              <a:rPr lang="es-BO" sz="2800" dirty="0"/>
              <a:t>- Tratamiento antibiótico.</a:t>
            </a:r>
          </a:p>
          <a:p>
            <a:pPr marL="1077913" indent="-280988"/>
            <a:r>
              <a:rPr lang="es-BO" sz="2800" dirty="0"/>
              <a:t>- Desbridamiento extenso de los tejidos desvitalizados.</a:t>
            </a:r>
          </a:p>
          <a:p>
            <a:pPr marL="1077913" indent="-280988"/>
            <a:r>
              <a:rPr lang="es-BO" sz="2800" dirty="0"/>
              <a:t>- Evacuación de los hematomas.</a:t>
            </a:r>
          </a:p>
          <a:p>
            <a:pPr marL="1077913" indent="-280988"/>
            <a:r>
              <a:rPr lang="es-BO" sz="2800" dirty="0"/>
              <a:t>- Irrigación abundante de la herida</a:t>
            </a:r>
            <a:r>
              <a:rPr lang="es-BO" sz="2800" dirty="0" smtClean="0"/>
              <a:t>.</a:t>
            </a:r>
            <a:endParaRPr lang="es-BO" sz="2800" dirty="0"/>
          </a:p>
        </p:txBody>
      </p:sp>
    </p:spTree>
    <p:extLst>
      <p:ext uri="{BB962C8B-B14F-4D97-AF65-F5344CB8AC3E}">
        <p14:creationId xmlns:p14="http://schemas.microsoft.com/office/powerpoint/2010/main" val="963503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66546" y="163661"/>
            <a:ext cx="8568952" cy="6001643"/>
          </a:xfrm>
          <a:prstGeom prst="rect">
            <a:avLst/>
          </a:prstGeom>
        </p:spPr>
        <p:txBody>
          <a:bodyPr wrap="square">
            <a:spAutoFit/>
          </a:bodyPr>
          <a:lstStyle/>
          <a:p>
            <a:pPr>
              <a:lnSpc>
                <a:spcPct val="150000"/>
              </a:lnSpc>
            </a:pPr>
            <a:r>
              <a:rPr lang="es-BO" sz="2400" b="1" dirty="0" smtClean="0">
                <a:solidFill>
                  <a:srgbClr val="00B050"/>
                </a:solidFill>
              </a:rPr>
              <a:t>B. Reconstrucción arterial</a:t>
            </a:r>
          </a:p>
          <a:p>
            <a:pPr marL="352425"/>
            <a:r>
              <a:rPr lang="es-BO" sz="2400" dirty="0" smtClean="0"/>
              <a:t>- Control y exposición de la arteria.</a:t>
            </a:r>
          </a:p>
          <a:p>
            <a:pPr marL="352425"/>
            <a:r>
              <a:rPr lang="es-BO" sz="2400" dirty="0" smtClean="0"/>
              <a:t>- Resección de las partes dañadas de la arteria.</a:t>
            </a:r>
          </a:p>
          <a:p>
            <a:pPr marL="352425"/>
            <a:r>
              <a:rPr lang="es-BO" sz="2400" dirty="0" smtClean="0"/>
              <a:t>- Extracción de trombos distales.</a:t>
            </a:r>
          </a:p>
          <a:p>
            <a:pPr marL="352425"/>
            <a:r>
              <a:rPr lang="es-BO" sz="2400" dirty="0" smtClean="0"/>
              <a:t>- </a:t>
            </a:r>
            <a:r>
              <a:rPr lang="es-BO" sz="2400" dirty="0" err="1" smtClean="0"/>
              <a:t>Heparinización</a:t>
            </a:r>
            <a:r>
              <a:rPr lang="es-BO" sz="2400" dirty="0" smtClean="0"/>
              <a:t> general o distal.</a:t>
            </a:r>
          </a:p>
          <a:p>
            <a:pPr marL="352425"/>
            <a:r>
              <a:rPr lang="es-BO" sz="2400" dirty="0" smtClean="0"/>
              <a:t>- Reparación de la arteria.</a:t>
            </a:r>
          </a:p>
          <a:p>
            <a:pPr marL="352425"/>
            <a:r>
              <a:rPr lang="es-BO" sz="2400" dirty="0" smtClean="0"/>
              <a:t>- Recubrimiento de la arteria con tejidos blandos.</a:t>
            </a:r>
          </a:p>
          <a:p>
            <a:pPr>
              <a:lnSpc>
                <a:spcPct val="150000"/>
              </a:lnSpc>
            </a:pPr>
            <a:r>
              <a:rPr lang="es-BO" sz="2400" dirty="0" smtClean="0"/>
              <a:t>C. Tratamiento de los daños asociados</a:t>
            </a:r>
          </a:p>
          <a:p>
            <a:pPr marL="352425">
              <a:lnSpc>
                <a:spcPct val="150000"/>
              </a:lnSpc>
            </a:pPr>
            <a:r>
              <a:rPr lang="es-BO" sz="2400" dirty="0" smtClean="0"/>
              <a:t>(Venas, huesos, nervios y tejidos blandos)</a:t>
            </a:r>
          </a:p>
          <a:p>
            <a:pPr>
              <a:lnSpc>
                <a:spcPct val="150000"/>
              </a:lnSpc>
            </a:pPr>
            <a:r>
              <a:rPr lang="es-BO" sz="2400" b="1" dirty="0" smtClean="0">
                <a:solidFill>
                  <a:srgbClr val="00B050"/>
                </a:solidFill>
              </a:rPr>
              <a:t>III. Postoperatorio</a:t>
            </a:r>
          </a:p>
          <a:p>
            <a:pPr marL="352425"/>
            <a:r>
              <a:rPr lang="es-BO" sz="2400" dirty="0" smtClean="0"/>
              <a:t>– Vigilancia de la permeabilidad arterial.</a:t>
            </a:r>
          </a:p>
          <a:p>
            <a:pPr marL="352425"/>
            <a:r>
              <a:rPr lang="es-BO" sz="2400" dirty="0" smtClean="0"/>
              <a:t>– Vigilancia de posibles hemorragias.</a:t>
            </a:r>
          </a:p>
          <a:p>
            <a:pPr marL="352425"/>
            <a:r>
              <a:rPr lang="es-BO" sz="2400" dirty="0" smtClean="0"/>
              <a:t>– Necrosis muscular.</a:t>
            </a:r>
          </a:p>
          <a:p>
            <a:pPr marL="352425"/>
            <a:r>
              <a:rPr lang="es-BO" sz="2400" dirty="0" smtClean="0"/>
              <a:t>– Infecciones de la herida.</a:t>
            </a:r>
            <a:endParaRPr lang="es-BO" sz="2400" dirty="0"/>
          </a:p>
        </p:txBody>
      </p:sp>
    </p:spTree>
    <p:extLst>
      <p:ext uri="{BB962C8B-B14F-4D97-AF65-F5344CB8AC3E}">
        <p14:creationId xmlns:p14="http://schemas.microsoft.com/office/powerpoint/2010/main" val="2205616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just">
              <a:lnSpc>
                <a:spcPct val="150000"/>
              </a:lnSpc>
              <a:spcAft>
                <a:spcPts val="0"/>
              </a:spcAft>
            </a:pPr>
            <a:r>
              <a:rPr lang="es-BO" b="1" dirty="0" smtClean="0">
                <a:solidFill>
                  <a:srgbClr val="7030A0"/>
                </a:solidFill>
                <a:latin typeface="Times New Roman"/>
                <a:ea typeface="Calibri"/>
                <a:cs typeface="Times New Roman"/>
              </a:rPr>
              <a:t>DIAGNÓSTICO</a:t>
            </a:r>
            <a:endParaRPr lang="es-BO" sz="2800" dirty="0">
              <a:solidFill>
                <a:srgbClr val="7030A0"/>
              </a:solidFill>
              <a:effectLst/>
              <a:latin typeface="Calibri"/>
              <a:ea typeface="Calibri"/>
              <a:cs typeface="Times New Roman"/>
            </a:endParaRPr>
          </a:p>
        </p:txBody>
      </p:sp>
      <p:sp>
        <p:nvSpPr>
          <p:cNvPr id="3" name="2 Marcador de contenido"/>
          <p:cNvSpPr>
            <a:spLocks noGrp="1"/>
          </p:cNvSpPr>
          <p:nvPr>
            <p:ph idx="1"/>
          </p:nvPr>
        </p:nvSpPr>
        <p:spPr/>
        <p:txBody>
          <a:bodyPr/>
          <a:lstStyle/>
          <a:p>
            <a:pPr algn="just">
              <a:lnSpc>
                <a:spcPct val="150000"/>
              </a:lnSpc>
              <a:spcAft>
                <a:spcPts val="0"/>
              </a:spcAft>
            </a:pPr>
            <a:r>
              <a:rPr lang="es-BO" sz="2400" dirty="0">
                <a:latin typeface="Times New Roman"/>
                <a:ea typeface="Calibri"/>
                <a:cs typeface="Times New Roman"/>
              </a:rPr>
              <a:t>En muchos casos el diagnóstico es </a:t>
            </a:r>
            <a:r>
              <a:rPr lang="es-BO" sz="2400" dirty="0" err="1" smtClean="0">
                <a:latin typeface="Times New Roman"/>
                <a:ea typeface="Calibri"/>
                <a:cs typeface="Times New Roman"/>
              </a:rPr>
              <a:t>comun</a:t>
            </a:r>
            <a:r>
              <a:rPr lang="es-BO" sz="2400" dirty="0" smtClean="0">
                <a:latin typeface="Times New Roman"/>
                <a:ea typeface="Calibri"/>
                <a:cs typeface="Times New Roman"/>
              </a:rPr>
              <a:t>, </a:t>
            </a:r>
            <a:r>
              <a:rPr lang="es-BO" sz="2400" dirty="0">
                <a:latin typeface="Times New Roman"/>
                <a:ea typeface="Calibri"/>
                <a:cs typeface="Times New Roman"/>
              </a:rPr>
              <a:t>sobre todo en presencia de heridas profundas situadas sobre el trayecto de los vasos o cuando se observa una franca hemorragia a través de ellas. En otras ocasiones el diagnóstico puede no ser tan evidente e incluso estar enmascarado por las lesiones asociadas.</a:t>
            </a:r>
            <a:endParaRPr lang="es-BO" sz="2400" dirty="0">
              <a:latin typeface="Calibri"/>
              <a:ea typeface="Calibri"/>
              <a:cs typeface="Times New Roman"/>
            </a:endParaRPr>
          </a:p>
          <a:p>
            <a:endParaRPr lang="es-BO" dirty="0"/>
          </a:p>
        </p:txBody>
      </p:sp>
    </p:spTree>
    <p:extLst>
      <p:ext uri="{BB962C8B-B14F-4D97-AF65-F5344CB8AC3E}">
        <p14:creationId xmlns:p14="http://schemas.microsoft.com/office/powerpoint/2010/main" val="31194082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09443" y="908721"/>
            <a:ext cx="7125112" cy="4950078"/>
          </a:xfrm>
        </p:spPr>
        <p:txBody>
          <a:bodyPr>
            <a:noAutofit/>
          </a:bodyPr>
          <a:lstStyle/>
          <a:p>
            <a:pPr marL="0" indent="0" algn="just">
              <a:lnSpc>
                <a:spcPct val="150000"/>
              </a:lnSpc>
              <a:spcAft>
                <a:spcPts val="1000"/>
              </a:spcAft>
              <a:buNone/>
            </a:pPr>
            <a:r>
              <a:rPr lang="es-BO" sz="1600" b="1" i="1" dirty="0">
                <a:solidFill>
                  <a:srgbClr val="7030A0"/>
                </a:solidFill>
                <a:latin typeface="Times New Roman"/>
                <a:ea typeface="Times New Roman"/>
                <a:cs typeface="Times New Roman"/>
              </a:rPr>
              <a:t>Tratamiento quirúrgico:</a:t>
            </a:r>
            <a:endParaRPr lang="es-BO" sz="1600" b="1" dirty="0">
              <a:solidFill>
                <a:srgbClr val="7030A0"/>
              </a:solidFill>
              <a:latin typeface="Calibri"/>
              <a:ea typeface="Calibri"/>
              <a:cs typeface="Times New Roman"/>
            </a:endParaRPr>
          </a:p>
          <a:p>
            <a:pPr algn="just">
              <a:lnSpc>
                <a:spcPct val="150000"/>
              </a:lnSpc>
              <a:spcAft>
                <a:spcPts val="0"/>
              </a:spcAft>
            </a:pPr>
            <a:r>
              <a:rPr lang="es-BO" sz="1600" dirty="0">
                <a:latin typeface="Times New Roman"/>
                <a:ea typeface="Calibri"/>
                <a:cs typeface="Times New Roman"/>
              </a:rPr>
              <a:t>Los objetivos básicos de la reconstrucción arterial son el desbridamiento de la arteria dañada, la extracción de trombos distales, la restauración de la continuidad sin estenosis ni tensiones de la anastomosis y el recubrimiento con tejidos blandos de la arteria reparada.</a:t>
            </a:r>
            <a:endParaRPr lang="es-BO" sz="1600" dirty="0">
              <a:latin typeface="Calibri"/>
              <a:ea typeface="Calibri"/>
              <a:cs typeface="Times New Roman"/>
            </a:endParaRPr>
          </a:p>
          <a:p>
            <a:pPr algn="just">
              <a:lnSpc>
                <a:spcPct val="150000"/>
              </a:lnSpc>
              <a:spcAft>
                <a:spcPts val="0"/>
              </a:spcAft>
            </a:pPr>
            <a:r>
              <a:rPr lang="es-BO" sz="1600" dirty="0">
                <a:latin typeface="Times New Roman"/>
                <a:ea typeface="Calibri"/>
                <a:cs typeface="Times New Roman"/>
              </a:rPr>
              <a:t>Dependiendo del tipo de herida se suelen utilizar como técnicas la sutura lateral, la sutura lateral con parche de </a:t>
            </a:r>
            <a:r>
              <a:rPr lang="es-BO" sz="1600" dirty="0" smtClean="0">
                <a:latin typeface="Times New Roman"/>
                <a:ea typeface="Calibri"/>
                <a:cs typeface="Times New Roman"/>
              </a:rPr>
              <a:t>vena, la </a:t>
            </a:r>
            <a:r>
              <a:rPr lang="es-BO" sz="1600" dirty="0">
                <a:latin typeface="Times New Roman"/>
                <a:ea typeface="Calibri"/>
                <a:cs typeface="Times New Roman"/>
              </a:rPr>
              <a:t>anastomosis </a:t>
            </a:r>
            <a:r>
              <a:rPr lang="es-BO" sz="1600" dirty="0" err="1">
                <a:latin typeface="Times New Roman"/>
                <a:ea typeface="Calibri"/>
                <a:cs typeface="Times New Roman"/>
              </a:rPr>
              <a:t>terminoterminal</a:t>
            </a:r>
            <a:r>
              <a:rPr lang="es-BO" sz="1600" dirty="0">
                <a:latin typeface="Times New Roman"/>
                <a:ea typeface="Calibri"/>
                <a:cs typeface="Times New Roman"/>
              </a:rPr>
              <a:t> o la inserción de un injerto </a:t>
            </a:r>
            <a:r>
              <a:rPr lang="es-BO" sz="1600" dirty="0" smtClean="0">
                <a:latin typeface="Times New Roman"/>
                <a:ea typeface="Calibri"/>
                <a:cs typeface="Times New Roman"/>
              </a:rPr>
              <a:t>vascular</a:t>
            </a:r>
            <a:endParaRPr lang="es-BO" sz="1600" dirty="0" smtClean="0">
              <a:latin typeface="Times New Roman"/>
              <a:ea typeface="Times New Roman"/>
              <a:cs typeface="Times New Roman"/>
            </a:endParaRPr>
          </a:p>
          <a:p>
            <a:pPr algn="just">
              <a:lnSpc>
                <a:spcPct val="150000"/>
              </a:lnSpc>
              <a:spcAft>
                <a:spcPts val="1000"/>
              </a:spcAft>
            </a:pPr>
            <a:r>
              <a:rPr lang="es-BO" sz="1600" dirty="0" smtClean="0">
                <a:latin typeface="Times New Roman"/>
                <a:ea typeface="Times New Roman"/>
                <a:cs typeface="Times New Roman"/>
              </a:rPr>
              <a:t>La </a:t>
            </a:r>
            <a:r>
              <a:rPr lang="es-BO" sz="1600" dirty="0">
                <a:latin typeface="Times New Roman"/>
                <a:ea typeface="Times New Roman"/>
                <a:cs typeface="Times New Roman"/>
              </a:rPr>
              <a:t>reparación quirúrgica previo </a:t>
            </a:r>
            <a:r>
              <a:rPr lang="es-BO" sz="1600" dirty="0" err="1">
                <a:latin typeface="Times New Roman"/>
                <a:ea typeface="Times New Roman"/>
                <a:cs typeface="Times New Roman"/>
              </a:rPr>
              <a:t>debridamiento</a:t>
            </a:r>
            <a:r>
              <a:rPr lang="es-BO" sz="1600" dirty="0">
                <a:latin typeface="Times New Roman"/>
                <a:ea typeface="Times New Roman"/>
                <a:cs typeface="Times New Roman"/>
              </a:rPr>
              <a:t> del área afectada y anastomosis termino- terminal es la preferida y se debe una sutura sin tensión. Si hay perdida de tejido mayor de 2 cm se debe utilizar injertos autógenos o prostéticos.</a:t>
            </a:r>
            <a:br>
              <a:rPr lang="es-BO" sz="1600" dirty="0">
                <a:latin typeface="Times New Roman"/>
                <a:ea typeface="Times New Roman"/>
                <a:cs typeface="Times New Roman"/>
              </a:rPr>
            </a:br>
            <a:r>
              <a:rPr lang="es-BO" sz="1600" dirty="0">
                <a:latin typeface="Times New Roman"/>
                <a:ea typeface="Times New Roman"/>
                <a:cs typeface="Times New Roman"/>
              </a:rPr>
              <a:t>La anticoagulación solo se realiza durante la reparación quirúrgica y si el estado del paciente lo permite, con ello se disminuye el riesgo de trombosis distal y se optimiza el éxito de la revascularización. Además se pasa un catéter de </a:t>
            </a:r>
            <a:r>
              <a:rPr lang="es-BO" sz="1600" dirty="0" err="1">
                <a:latin typeface="Times New Roman"/>
                <a:ea typeface="Times New Roman"/>
                <a:cs typeface="Times New Roman"/>
              </a:rPr>
              <a:t>fogarty</a:t>
            </a:r>
            <a:r>
              <a:rPr lang="es-BO" sz="1600" dirty="0">
                <a:latin typeface="Times New Roman"/>
                <a:ea typeface="Times New Roman"/>
                <a:cs typeface="Times New Roman"/>
              </a:rPr>
              <a:t> para verificar que no existan trombos dístales.</a:t>
            </a:r>
            <a:endParaRPr lang="es-BO" sz="1600" dirty="0">
              <a:effectLst/>
              <a:latin typeface="Calibri"/>
              <a:ea typeface="Calibri"/>
              <a:cs typeface="Times New Roman"/>
            </a:endParaRPr>
          </a:p>
        </p:txBody>
      </p:sp>
    </p:spTree>
    <p:extLst>
      <p:ext uri="{BB962C8B-B14F-4D97-AF65-F5344CB8AC3E}">
        <p14:creationId xmlns:p14="http://schemas.microsoft.com/office/powerpoint/2010/main" val="18533295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solidFill>
                  <a:srgbClr val="7030A0"/>
                </a:solidFill>
                <a:latin typeface="Times New Roman"/>
                <a:ea typeface="Times New Roman"/>
              </a:rPr>
              <a:t>Complicaciones del manejo del trauma vascular</a:t>
            </a:r>
            <a:endParaRPr lang="es-BO" b="1" dirty="0">
              <a:solidFill>
                <a:srgbClr val="7030A0"/>
              </a:solidFill>
            </a:endParaRPr>
          </a:p>
        </p:txBody>
      </p:sp>
      <p:sp>
        <p:nvSpPr>
          <p:cNvPr id="3" name="2 Marcador de contenido"/>
          <p:cNvSpPr>
            <a:spLocks noGrp="1"/>
          </p:cNvSpPr>
          <p:nvPr>
            <p:ph idx="1"/>
          </p:nvPr>
        </p:nvSpPr>
        <p:spPr>
          <a:xfrm>
            <a:off x="1009443" y="2636912"/>
            <a:ext cx="7125112" cy="3221886"/>
          </a:xfrm>
        </p:spPr>
        <p:txBody>
          <a:bodyPr>
            <a:noAutofit/>
          </a:bodyPr>
          <a:lstStyle/>
          <a:p>
            <a:pPr marL="0" indent="0" algn="just">
              <a:lnSpc>
                <a:spcPct val="150000"/>
              </a:lnSpc>
              <a:spcAft>
                <a:spcPts val="1000"/>
              </a:spcAft>
              <a:buNone/>
            </a:pPr>
            <a:r>
              <a:rPr lang="es-BO" i="1" dirty="0">
                <a:latin typeface="Times New Roman"/>
                <a:ea typeface="Times New Roman"/>
                <a:cs typeface="Times New Roman"/>
              </a:rPr>
              <a:t>- Trombosis:</a:t>
            </a:r>
            <a:r>
              <a:rPr lang="es-BO" dirty="0">
                <a:latin typeface="Times New Roman"/>
                <a:ea typeface="Times New Roman"/>
                <a:cs typeface="Times New Roman"/>
              </a:rPr>
              <a:t> Es la más importante complicación y es relativamente frecuente, puede ser secundaria a un desbridamiento inadecuado, trombos dístales residuales, o una zona de estenosis secundario a la línea de sutura.</a:t>
            </a:r>
            <a:endParaRPr lang="es-BO" dirty="0">
              <a:latin typeface="Calibri"/>
              <a:ea typeface="Calibri"/>
              <a:cs typeface="Times New Roman"/>
            </a:endParaRPr>
          </a:p>
          <a:p>
            <a:pPr marL="0" indent="0" algn="just">
              <a:lnSpc>
                <a:spcPct val="150000"/>
              </a:lnSpc>
              <a:spcAft>
                <a:spcPts val="1000"/>
              </a:spcAft>
              <a:buNone/>
            </a:pPr>
            <a:r>
              <a:rPr lang="es-BO" i="1" dirty="0">
                <a:latin typeface="Times New Roman"/>
                <a:ea typeface="Times New Roman"/>
                <a:cs typeface="Times New Roman"/>
              </a:rPr>
              <a:t>- Infección:</a:t>
            </a:r>
            <a:r>
              <a:rPr lang="es-BO" dirty="0">
                <a:latin typeface="Times New Roman"/>
                <a:ea typeface="Times New Roman"/>
                <a:cs typeface="Times New Roman"/>
              </a:rPr>
              <a:t> Puede llevar a una dehiscencia de sutura y sangrado </a:t>
            </a:r>
            <a:r>
              <a:rPr lang="es-BO" dirty="0" err="1">
                <a:latin typeface="Times New Roman"/>
                <a:ea typeface="Times New Roman"/>
                <a:cs typeface="Times New Roman"/>
              </a:rPr>
              <a:t>porterior</a:t>
            </a:r>
            <a:r>
              <a:rPr lang="es-BO" dirty="0">
                <a:latin typeface="Times New Roman"/>
                <a:ea typeface="Times New Roman"/>
                <a:cs typeface="Times New Roman"/>
              </a:rPr>
              <a:t> agudo que puede amenazar la vida del paciente. Cuando la infección se asocia a sangrado debe explorarse el paciente por riesgo de </a:t>
            </a:r>
            <a:r>
              <a:rPr lang="es-BO" dirty="0" err="1">
                <a:latin typeface="Times New Roman"/>
                <a:ea typeface="Times New Roman"/>
                <a:cs typeface="Times New Roman"/>
              </a:rPr>
              <a:t>resangrado</a:t>
            </a:r>
            <a:r>
              <a:rPr lang="es-BO" dirty="0">
                <a:latin typeface="Times New Roman"/>
                <a:ea typeface="Times New Roman"/>
                <a:cs typeface="Times New Roman"/>
              </a:rPr>
              <a:t> que amenace la vida del paciente.</a:t>
            </a:r>
            <a:endParaRPr lang="es-BO" dirty="0">
              <a:latin typeface="Calibri"/>
              <a:ea typeface="Calibri"/>
              <a:cs typeface="Times New Roman"/>
            </a:endParaRPr>
          </a:p>
          <a:p>
            <a:pPr marL="0" indent="0" algn="just">
              <a:lnSpc>
                <a:spcPct val="150000"/>
              </a:lnSpc>
              <a:spcAft>
                <a:spcPts val="1000"/>
              </a:spcAft>
              <a:buNone/>
            </a:pPr>
            <a:r>
              <a:rPr lang="es-BO" i="1" dirty="0">
                <a:latin typeface="Times New Roman"/>
                <a:ea typeface="Times New Roman"/>
                <a:cs typeface="Times New Roman"/>
              </a:rPr>
              <a:t>- Estenosis:</a:t>
            </a:r>
            <a:r>
              <a:rPr lang="es-BO" dirty="0">
                <a:latin typeface="Times New Roman"/>
                <a:ea typeface="Times New Roman"/>
                <a:cs typeface="Times New Roman"/>
              </a:rPr>
              <a:t> Se presenta como consecuencia de una sutura muy ajustada.</a:t>
            </a:r>
            <a:endParaRPr lang="es-BO" dirty="0">
              <a:latin typeface="Calibri"/>
              <a:ea typeface="Calibri"/>
              <a:cs typeface="Times New Roman"/>
            </a:endParaRPr>
          </a:p>
          <a:p>
            <a:pPr marL="0" indent="0">
              <a:buNone/>
            </a:pPr>
            <a:r>
              <a:rPr lang="es-BO" i="1" dirty="0">
                <a:latin typeface="Times New Roman"/>
                <a:ea typeface="Times New Roman"/>
              </a:rPr>
              <a:t>- Otras complicaciones: </a:t>
            </a:r>
            <a:r>
              <a:rPr lang="es-BO" dirty="0">
                <a:latin typeface="Times New Roman"/>
                <a:ea typeface="Times New Roman"/>
              </a:rPr>
              <a:t>Edema, </a:t>
            </a:r>
            <a:r>
              <a:rPr lang="es-BO" dirty="0" smtClean="0">
                <a:latin typeface="Times New Roman"/>
                <a:ea typeface="Times New Roman"/>
              </a:rPr>
              <a:t>embolismos, </a:t>
            </a:r>
            <a:r>
              <a:rPr lang="es-BO" dirty="0">
                <a:latin typeface="Times New Roman"/>
                <a:ea typeface="Times New Roman"/>
              </a:rPr>
              <a:t>dolor crónico</a:t>
            </a:r>
            <a:endParaRPr lang="es-BO" dirty="0"/>
          </a:p>
        </p:txBody>
      </p:sp>
    </p:spTree>
    <p:extLst>
      <p:ext uri="{BB962C8B-B14F-4D97-AF65-F5344CB8AC3E}">
        <p14:creationId xmlns:p14="http://schemas.microsoft.com/office/powerpoint/2010/main" val="23799937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259632" y="751344"/>
            <a:ext cx="5598368" cy="5632311"/>
          </a:xfrm>
          <a:prstGeom prst="rect">
            <a:avLst/>
          </a:prstGeom>
        </p:spPr>
        <p:txBody>
          <a:bodyPr wrap="square">
            <a:spAutoFit/>
          </a:bodyPr>
          <a:lstStyle/>
          <a:p>
            <a:r>
              <a:rPr lang="es-BO" b="1" dirty="0" smtClean="0">
                <a:solidFill>
                  <a:srgbClr val="00B050"/>
                </a:solidFill>
              </a:rPr>
              <a:t>Vigilancia postoperatoria</a:t>
            </a:r>
          </a:p>
          <a:p>
            <a:endParaRPr lang="es-BO" b="1" dirty="0">
              <a:solidFill>
                <a:srgbClr val="002060"/>
              </a:solidFill>
            </a:endParaRPr>
          </a:p>
          <a:p>
            <a:r>
              <a:rPr lang="es-BO" b="1" dirty="0">
                <a:solidFill>
                  <a:srgbClr val="002060"/>
                </a:solidFill>
              </a:rPr>
              <a:t>Estado general del paciente</a:t>
            </a:r>
          </a:p>
          <a:p>
            <a:pPr marL="179388"/>
            <a:r>
              <a:rPr lang="es-BO" dirty="0"/>
              <a:t>– Presión arterial</a:t>
            </a:r>
          </a:p>
          <a:p>
            <a:pPr marL="179388"/>
            <a:r>
              <a:rPr lang="es-BO" dirty="0"/>
              <a:t>– Presión venosa central o capilar pulmonar</a:t>
            </a:r>
          </a:p>
          <a:p>
            <a:pPr marL="179388"/>
            <a:r>
              <a:rPr lang="es-BO" dirty="0"/>
              <a:t>– Diuresis</a:t>
            </a:r>
          </a:p>
          <a:p>
            <a:pPr marL="179388"/>
            <a:r>
              <a:rPr lang="es-BO" dirty="0"/>
              <a:t>– Función respiratoria</a:t>
            </a:r>
          </a:p>
          <a:p>
            <a:pPr marL="179388"/>
            <a:r>
              <a:rPr lang="es-BO" dirty="0"/>
              <a:t>– Vigilancia de las lesiones asociadas</a:t>
            </a:r>
          </a:p>
          <a:p>
            <a:pPr marL="179388"/>
            <a:r>
              <a:rPr lang="es-BO" dirty="0"/>
              <a:t>– Análisis y otras exploraciones</a:t>
            </a:r>
          </a:p>
          <a:p>
            <a:r>
              <a:rPr lang="es-BO" b="1" dirty="0">
                <a:solidFill>
                  <a:srgbClr val="002060"/>
                </a:solidFill>
              </a:rPr>
              <a:t>Estado de la extremidad</a:t>
            </a:r>
          </a:p>
          <a:p>
            <a:pPr marL="263525"/>
            <a:r>
              <a:rPr lang="es-BO" dirty="0"/>
              <a:t>– Llenado capilar en los dedos</a:t>
            </a:r>
          </a:p>
          <a:p>
            <a:pPr marL="263525"/>
            <a:r>
              <a:rPr lang="es-BO" dirty="0"/>
              <a:t>– Pulsos distales (marcarlos)</a:t>
            </a:r>
          </a:p>
          <a:p>
            <a:pPr marL="263525"/>
            <a:r>
              <a:rPr lang="es-BO" dirty="0"/>
              <a:t>– Temperatura y color de la piel</a:t>
            </a:r>
          </a:p>
          <a:p>
            <a:pPr marL="263525"/>
            <a:r>
              <a:rPr lang="es-BO" dirty="0"/>
              <a:t>– Llenado venoso</a:t>
            </a:r>
          </a:p>
          <a:p>
            <a:pPr marL="263525"/>
            <a:r>
              <a:rPr lang="es-BO" dirty="0"/>
              <a:t>– Aparición de edema</a:t>
            </a:r>
          </a:p>
          <a:p>
            <a:pPr marL="263525"/>
            <a:r>
              <a:rPr lang="es-BO" dirty="0"/>
              <a:t>– Hemorragia en la herida</a:t>
            </a:r>
          </a:p>
          <a:p>
            <a:pPr marL="263525"/>
            <a:r>
              <a:rPr lang="es-BO" dirty="0"/>
              <a:t>– Infección en la herida</a:t>
            </a:r>
          </a:p>
          <a:p>
            <a:pPr marL="263525"/>
            <a:r>
              <a:rPr lang="es-BO" dirty="0"/>
              <a:t>– Si es necesario: Exploraciones especiales:</a:t>
            </a:r>
          </a:p>
          <a:p>
            <a:pPr marL="442913"/>
            <a:r>
              <a:rPr lang="es-BO" dirty="0"/>
              <a:t>- </a:t>
            </a:r>
            <a:r>
              <a:rPr lang="es-BO" dirty="0" err="1"/>
              <a:t>Doppler</a:t>
            </a:r>
            <a:endParaRPr lang="es-BO" dirty="0"/>
          </a:p>
          <a:p>
            <a:pPr marL="442913"/>
            <a:r>
              <a:rPr lang="es-BO" dirty="0"/>
              <a:t>- Arteriografía</a:t>
            </a:r>
          </a:p>
        </p:txBody>
      </p:sp>
    </p:spTree>
    <p:extLst>
      <p:ext uri="{BB962C8B-B14F-4D97-AF65-F5344CB8AC3E}">
        <p14:creationId xmlns:p14="http://schemas.microsoft.com/office/powerpoint/2010/main" val="220322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solidFill>
                  <a:srgbClr val="7030A0"/>
                </a:solidFill>
              </a:rPr>
              <a:t>SINDROME COMPARTIMENTAL</a:t>
            </a:r>
            <a:endParaRPr lang="es-BO" b="1" dirty="0">
              <a:solidFill>
                <a:srgbClr val="7030A0"/>
              </a:solidFill>
            </a:endParaRPr>
          </a:p>
        </p:txBody>
      </p:sp>
      <p:sp>
        <p:nvSpPr>
          <p:cNvPr id="3" name="2 Marcador de contenido"/>
          <p:cNvSpPr>
            <a:spLocks noGrp="1"/>
          </p:cNvSpPr>
          <p:nvPr>
            <p:ph idx="1"/>
          </p:nvPr>
        </p:nvSpPr>
        <p:spPr/>
        <p:txBody>
          <a:bodyPr/>
          <a:lstStyle/>
          <a:p>
            <a:r>
              <a:rPr lang="es-BO" b="1" dirty="0" smtClean="0">
                <a:solidFill>
                  <a:schemeClr val="bg1"/>
                </a:solidFill>
              </a:rPr>
              <a:t>CONCEPTO.-</a:t>
            </a:r>
          </a:p>
          <a:p>
            <a:r>
              <a:rPr lang="es-BO" dirty="0" smtClean="0"/>
              <a:t>Es el conjunto de signos y síntomas que se producen cuando aumenta la presión dentro .de un compartimiento muscular. Los sitios mas comunes pierna y antebrazo.</a:t>
            </a:r>
          </a:p>
          <a:p>
            <a:r>
              <a:rPr lang="es-BO" dirty="0" smtClean="0"/>
              <a:t>Existen tres tipos de compartimientos:</a:t>
            </a:r>
          </a:p>
          <a:p>
            <a:pPr>
              <a:buFont typeface="Wingdings" panose="05000000000000000000" pitchFamily="2" charset="2"/>
              <a:buChar char="§"/>
            </a:pPr>
            <a:r>
              <a:rPr lang="es-BO" dirty="0" smtClean="0"/>
              <a:t>Lateral</a:t>
            </a:r>
          </a:p>
          <a:p>
            <a:pPr>
              <a:buFont typeface="Wingdings" panose="05000000000000000000" pitchFamily="2" charset="2"/>
              <a:buChar char="§"/>
            </a:pPr>
            <a:r>
              <a:rPr lang="es-BO" dirty="0" smtClean="0"/>
              <a:t>Anterior</a:t>
            </a:r>
          </a:p>
          <a:p>
            <a:pPr>
              <a:buFont typeface="Wingdings" panose="05000000000000000000" pitchFamily="2" charset="2"/>
              <a:buChar char="§"/>
            </a:pPr>
            <a:r>
              <a:rPr lang="es-BO" dirty="0" smtClean="0"/>
              <a:t>Posterior. </a:t>
            </a:r>
            <a:endParaRPr lang="es-BO" dirty="0"/>
          </a:p>
        </p:txBody>
      </p:sp>
    </p:spTree>
    <p:extLst>
      <p:ext uri="{BB962C8B-B14F-4D97-AF65-F5344CB8AC3E}">
        <p14:creationId xmlns:p14="http://schemas.microsoft.com/office/powerpoint/2010/main" val="4176050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Autofit/>
          </a:bodyPr>
          <a:lstStyle/>
          <a:p>
            <a:pPr algn="just"/>
            <a:r>
              <a:rPr lang="es-BO" sz="3200" dirty="0" smtClean="0"/>
              <a:t>Al producirse edema dentro de un compartimiento aumenta la presión, lo cual inicialmente impide el drenaje venoso y final mente  impide también el flujo arterial produciendo isquemia tisular que genera mas edema produciéndose un circulo viciosos si no es liberado  produce necrosis de las  estructuras musculares y nerviosas con secuelas severas y tardías.</a:t>
            </a:r>
            <a:endParaRPr lang="es-BO" sz="3200" dirty="0"/>
          </a:p>
        </p:txBody>
      </p:sp>
    </p:spTree>
    <p:extLst>
      <p:ext uri="{BB962C8B-B14F-4D97-AF65-F5344CB8AC3E}">
        <p14:creationId xmlns:p14="http://schemas.microsoft.com/office/powerpoint/2010/main" val="1815089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15616" y="36713"/>
            <a:ext cx="7125113" cy="655983"/>
          </a:xfrm>
        </p:spPr>
        <p:txBody>
          <a:bodyPr/>
          <a:lstStyle/>
          <a:p>
            <a:r>
              <a:rPr lang="es-BO" sz="2000" b="1" dirty="0"/>
              <a:t>PATRON DE PERCEPCION – MANEJO DE SALUD</a:t>
            </a:r>
            <a:r>
              <a:rPr lang="es-BO" sz="2000" dirty="0"/>
              <a:t/>
            </a:r>
            <a:br>
              <a:rPr lang="es-BO" sz="2000" dirty="0"/>
            </a:br>
            <a:endParaRPr lang="es-BO" sz="20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1874058516"/>
              </p:ext>
            </p:extLst>
          </p:nvPr>
        </p:nvGraphicFramePr>
        <p:xfrm>
          <a:off x="755574" y="563480"/>
          <a:ext cx="7776865" cy="5889856"/>
        </p:xfrm>
        <a:graphic>
          <a:graphicData uri="http://schemas.openxmlformats.org/drawingml/2006/table">
            <a:tbl>
              <a:tblPr firstRow="1" firstCol="1" lastRow="1" lastCol="1" bandRow="1" bandCol="1">
                <a:tableStyleId>{D113A9D2-9D6B-4929-AA2D-F23B5EE8CBE7}</a:tableStyleId>
              </a:tblPr>
              <a:tblGrid>
                <a:gridCol w="1423037"/>
                <a:gridCol w="1706709"/>
                <a:gridCol w="2420570"/>
                <a:gridCol w="2226549"/>
              </a:tblGrid>
              <a:tr h="406197">
                <a:tc>
                  <a:txBody>
                    <a:bodyPr/>
                    <a:lstStyle/>
                    <a:p>
                      <a:pPr algn="l">
                        <a:lnSpc>
                          <a:spcPct val="115000"/>
                        </a:lnSpc>
                        <a:spcAft>
                          <a:spcPts val="0"/>
                        </a:spcAft>
                      </a:pPr>
                      <a:r>
                        <a:rPr lang="es-BO" sz="900" dirty="0">
                          <a:effectLst/>
                        </a:rPr>
                        <a:t>DX DE ENFERMERIA</a:t>
                      </a:r>
                      <a:endParaRPr lang="es-BO" sz="800" dirty="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OBJETIVO</a:t>
                      </a:r>
                      <a:endParaRPr lang="es-BO" sz="80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INTERVENSIONES</a:t>
                      </a:r>
                      <a:endParaRPr lang="es-BO" sz="80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PRINCIPIO CIENTIFICO</a:t>
                      </a:r>
                      <a:endParaRPr lang="es-BO" sz="800">
                        <a:effectLst/>
                        <a:latin typeface="Calibri"/>
                        <a:ea typeface="Calibri"/>
                        <a:cs typeface="Times New Roman"/>
                      </a:endParaRPr>
                    </a:p>
                  </a:txBody>
                  <a:tcPr marL="45572" marR="45572" marT="0" marB="0"/>
                </a:tc>
              </a:tr>
              <a:tr h="5483659">
                <a:tc>
                  <a:txBody>
                    <a:bodyPr/>
                    <a:lstStyle/>
                    <a:p>
                      <a:pPr algn="l">
                        <a:lnSpc>
                          <a:spcPct val="115000"/>
                        </a:lnSpc>
                        <a:spcAft>
                          <a:spcPts val="0"/>
                        </a:spcAft>
                      </a:pPr>
                      <a:r>
                        <a:rPr lang="es-BO" sz="900">
                          <a:effectLst/>
                        </a:rPr>
                        <a:t>Alto riego de cursar un cuadro infeccioso  relacionado</a:t>
                      </a:r>
                      <a:endParaRPr lang="es-BO" sz="800">
                        <a:effectLst/>
                      </a:endParaRPr>
                    </a:p>
                    <a:p>
                      <a:pPr algn="just">
                        <a:lnSpc>
                          <a:spcPct val="115000"/>
                        </a:lnSpc>
                        <a:spcAft>
                          <a:spcPts val="0"/>
                        </a:spcAft>
                      </a:pPr>
                      <a:r>
                        <a:rPr lang="es-BO" sz="900">
                          <a:effectLst/>
                        </a:rPr>
                        <a:t>a pérdida de solución de continuidad secundario a procedimiento quirúrgico</a:t>
                      </a:r>
                      <a:endParaRPr lang="es-BO" sz="800">
                        <a:effectLst/>
                      </a:endParaRPr>
                    </a:p>
                    <a:p>
                      <a:pPr algn="just">
                        <a:lnSpc>
                          <a:spcPct val="115000"/>
                        </a:lnSpc>
                        <a:spcAft>
                          <a:spcPts val="0"/>
                        </a:spcAft>
                      </a:pPr>
                      <a:r>
                        <a:rPr lang="es-BO" sz="900">
                          <a:effectLst/>
                        </a:rPr>
                        <a:t> </a:t>
                      </a:r>
                      <a:endParaRPr lang="es-BO" sz="800">
                        <a:effectLst/>
                        <a:latin typeface="Calibri"/>
                        <a:ea typeface="Calibri"/>
                        <a:cs typeface="Times New Roman"/>
                      </a:endParaRPr>
                    </a:p>
                  </a:txBody>
                  <a:tcPr marL="45572" marR="45572" marT="0" marB="0"/>
                </a:tc>
                <a:tc>
                  <a:txBody>
                    <a:bodyPr/>
                    <a:lstStyle/>
                    <a:p>
                      <a:pPr algn="l">
                        <a:lnSpc>
                          <a:spcPct val="115000"/>
                        </a:lnSpc>
                        <a:spcAft>
                          <a:spcPts val="0"/>
                        </a:spcAft>
                      </a:pPr>
                      <a:r>
                        <a:rPr lang="es-BO" sz="900">
                          <a:effectLst/>
                        </a:rPr>
                        <a:t>Disminuir  el proceso infeccioso por el que cursa actualmente. Y prevenir  mayores complicaciones como una sepsis durante su hospitalización  a mediano  plazo.</a:t>
                      </a:r>
                      <a:endParaRPr lang="es-BO" sz="800">
                        <a:effectLst/>
                        <a:latin typeface="Calibri"/>
                        <a:ea typeface="Calibri"/>
                        <a:cs typeface="Times New Roman"/>
                      </a:endParaRPr>
                    </a:p>
                  </a:txBody>
                  <a:tcPr marL="45572" marR="45572" marT="0" marB="0"/>
                </a:tc>
                <a:tc>
                  <a:txBody>
                    <a:bodyPr/>
                    <a:lstStyle/>
                    <a:p>
                      <a:pPr algn="just">
                        <a:lnSpc>
                          <a:spcPct val="115000"/>
                        </a:lnSpc>
                        <a:spcAft>
                          <a:spcPts val="0"/>
                        </a:spcAft>
                      </a:pPr>
                      <a:r>
                        <a:rPr lang="es-BO" sz="900" dirty="0">
                          <a:effectLst/>
                        </a:rPr>
                        <a:t>1.- control de signos vitales:</a:t>
                      </a:r>
                      <a:endParaRPr lang="es-BO" sz="800" dirty="0">
                        <a:effectLst/>
                      </a:endParaRPr>
                    </a:p>
                    <a:p>
                      <a:pPr algn="just">
                        <a:lnSpc>
                          <a:spcPct val="115000"/>
                        </a:lnSpc>
                        <a:spcAft>
                          <a:spcPts val="0"/>
                        </a:spcAft>
                      </a:pPr>
                      <a:r>
                        <a:rPr lang="es-BO" sz="900" dirty="0" err="1">
                          <a:effectLst/>
                        </a:rPr>
                        <a:t>Tº</a:t>
                      </a:r>
                      <a:r>
                        <a:rPr lang="es-BO" sz="900" dirty="0">
                          <a:effectLst/>
                        </a:rPr>
                        <a:t>-  P</a:t>
                      </a:r>
                      <a:endParaRPr lang="es-BO" sz="800" dirty="0">
                        <a:effectLst/>
                      </a:endParaRPr>
                    </a:p>
                    <a:p>
                      <a:pPr algn="just">
                        <a:lnSpc>
                          <a:spcPct val="115000"/>
                        </a:lnSpc>
                        <a:spcAft>
                          <a:spcPts val="0"/>
                        </a:spcAft>
                      </a:pPr>
                      <a:r>
                        <a:rPr lang="es-BO" sz="900" dirty="0">
                          <a:effectLst/>
                        </a:rPr>
                        <a:t>2.- si hay hipertermia realizar medios físicos, alivio de ropa.</a:t>
                      </a:r>
                      <a:endParaRPr lang="es-BO" sz="800" dirty="0">
                        <a:effectLst/>
                      </a:endParaRPr>
                    </a:p>
                    <a:p>
                      <a:pPr algn="just">
                        <a:lnSpc>
                          <a:spcPct val="115000"/>
                        </a:lnSpc>
                        <a:spcAft>
                          <a:spcPts val="0"/>
                        </a:spcAft>
                      </a:pPr>
                      <a:r>
                        <a:rPr lang="es-BO" sz="900" dirty="0">
                          <a:effectLst/>
                        </a:rPr>
                        <a:t>3.-administrar su antipirético según indicación médica.</a:t>
                      </a:r>
                      <a:endParaRPr lang="es-BO" sz="800" dirty="0">
                        <a:effectLst/>
                      </a:endParaRPr>
                    </a:p>
                    <a:p>
                      <a:pPr algn="just">
                        <a:lnSpc>
                          <a:spcPct val="115000"/>
                        </a:lnSpc>
                        <a:spcAft>
                          <a:spcPts val="0"/>
                        </a:spcAft>
                      </a:pPr>
                      <a:r>
                        <a:rPr lang="es-BO" sz="900" dirty="0">
                          <a:effectLst/>
                        </a:rPr>
                        <a:t>3.- administrar su antibiótico según prescripción medica.</a:t>
                      </a:r>
                      <a:endParaRPr lang="es-BO" sz="800" dirty="0">
                        <a:effectLst/>
                      </a:endParaRPr>
                    </a:p>
                    <a:p>
                      <a:pPr algn="just">
                        <a:lnSpc>
                          <a:spcPct val="115000"/>
                        </a:lnSpc>
                        <a:spcAft>
                          <a:spcPts val="0"/>
                        </a:spcAft>
                      </a:pPr>
                      <a:r>
                        <a:rPr lang="es-BO" sz="900" dirty="0">
                          <a:effectLst/>
                        </a:rPr>
                        <a:t>4.-asistir en  los   procedimientos  médicos con  medidas  asépticas:</a:t>
                      </a:r>
                      <a:endParaRPr lang="es-BO" sz="800" dirty="0">
                        <a:effectLst/>
                      </a:endParaRPr>
                    </a:p>
                    <a:p>
                      <a:pPr marL="342900" lvl="0" indent="-342900" algn="just">
                        <a:lnSpc>
                          <a:spcPct val="115000"/>
                        </a:lnSpc>
                        <a:spcAft>
                          <a:spcPts val="0"/>
                        </a:spcAft>
                        <a:buFont typeface="Wingdings"/>
                        <a:buChar char=""/>
                      </a:pPr>
                      <a:r>
                        <a:rPr lang="es-BO" sz="900" dirty="0">
                          <a:effectLst/>
                        </a:rPr>
                        <a:t>Curación.</a:t>
                      </a:r>
                      <a:endParaRPr lang="es-BO" sz="800" dirty="0">
                        <a:effectLst/>
                      </a:endParaRPr>
                    </a:p>
                    <a:p>
                      <a:pPr algn="just">
                        <a:lnSpc>
                          <a:spcPct val="115000"/>
                        </a:lnSpc>
                        <a:spcAft>
                          <a:spcPts val="0"/>
                        </a:spcAft>
                      </a:pPr>
                      <a:r>
                        <a:rPr lang="es-BO" sz="900" dirty="0">
                          <a:effectLst/>
                        </a:rPr>
                        <a:t>5.- Observar signos de infección en herida quirúrgica durante las curaciones tetralogía de Celsius:</a:t>
                      </a:r>
                      <a:endParaRPr lang="es-BO" sz="800" dirty="0">
                        <a:effectLst/>
                      </a:endParaRPr>
                    </a:p>
                    <a:p>
                      <a:pPr marL="342900" lvl="0" indent="-342900" algn="just">
                        <a:lnSpc>
                          <a:spcPct val="115000"/>
                        </a:lnSpc>
                        <a:spcAft>
                          <a:spcPts val="0"/>
                        </a:spcAft>
                        <a:buFont typeface="Wingdings"/>
                        <a:buChar char=""/>
                      </a:pPr>
                      <a:r>
                        <a:rPr lang="es-BO" sz="900" dirty="0">
                          <a:effectLst/>
                        </a:rPr>
                        <a:t>Calor </a:t>
                      </a:r>
                      <a:endParaRPr lang="es-BO" sz="800" dirty="0">
                        <a:effectLst/>
                      </a:endParaRPr>
                    </a:p>
                    <a:p>
                      <a:pPr marL="342900" lvl="0" indent="-342900" algn="just">
                        <a:lnSpc>
                          <a:spcPct val="115000"/>
                        </a:lnSpc>
                        <a:spcAft>
                          <a:spcPts val="0"/>
                        </a:spcAft>
                        <a:buFont typeface="Wingdings"/>
                        <a:buChar char=""/>
                      </a:pPr>
                      <a:r>
                        <a:rPr lang="es-BO" sz="900" dirty="0">
                          <a:effectLst/>
                        </a:rPr>
                        <a:t>rubor </a:t>
                      </a:r>
                      <a:endParaRPr lang="es-BO" sz="800" dirty="0">
                        <a:effectLst/>
                      </a:endParaRPr>
                    </a:p>
                    <a:p>
                      <a:pPr marL="342900" lvl="0" indent="-342900" algn="just">
                        <a:lnSpc>
                          <a:spcPct val="115000"/>
                        </a:lnSpc>
                        <a:spcAft>
                          <a:spcPts val="0"/>
                        </a:spcAft>
                        <a:buFont typeface="Wingdings"/>
                        <a:buChar char=""/>
                      </a:pPr>
                      <a:r>
                        <a:rPr lang="es-BO" sz="900" dirty="0">
                          <a:effectLst/>
                        </a:rPr>
                        <a:t>tumefacción</a:t>
                      </a:r>
                      <a:endParaRPr lang="es-BO" sz="800" dirty="0">
                        <a:effectLst/>
                      </a:endParaRPr>
                    </a:p>
                    <a:p>
                      <a:pPr marL="342900" lvl="0" indent="-342900" algn="just">
                        <a:lnSpc>
                          <a:spcPct val="115000"/>
                        </a:lnSpc>
                        <a:spcAft>
                          <a:spcPts val="0"/>
                        </a:spcAft>
                        <a:buFont typeface="Wingdings"/>
                        <a:buChar char=""/>
                      </a:pPr>
                      <a:r>
                        <a:rPr lang="es-BO" sz="900" dirty="0">
                          <a:effectLst/>
                        </a:rPr>
                        <a:t>inflamación.</a:t>
                      </a:r>
                      <a:endParaRPr lang="es-BO" sz="800" dirty="0">
                        <a:effectLst/>
                      </a:endParaRPr>
                    </a:p>
                    <a:p>
                      <a:pPr algn="just">
                        <a:lnSpc>
                          <a:spcPct val="115000"/>
                        </a:lnSpc>
                        <a:spcAft>
                          <a:spcPts val="0"/>
                        </a:spcAft>
                      </a:pPr>
                      <a:r>
                        <a:rPr lang="es-BO" sz="900" dirty="0">
                          <a:effectLst/>
                        </a:rPr>
                        <a:t>6.- lavado de manos antes y después de cada procedimiento.</a:t>
                      </a:r>
                      <a:endParaRPr lang="es-BO" sz="800" dirty="0">
                        <a:effectLst/>
                      </a:endParaRPr>
                    </a:p>
                    <a:p>
                      <a:pPr algn="just">
                        <a:lnSpc>
                          <a:spcPct val="115000"/>
                        </a:lnSpc>
                        <a:spcAft>
                          <a:spcPts val="0"/>
                        </a:spcAft>
                      </a:pPr>
                      <a:r>
                        <a:rPr lang="es-BO" sz="900" dirty="0">
                          <a:effectLst/>
                        </a:rPr>
                        <a:t> </a:t>
                      </a:r>
                      <a:endParaRPr lang="es-BO" sz="800" dirty="0">
                        <a:effectLst/>
                      </a:endParaRPr>
                    </a:p>
                    <a:p>
                      <a:pPr algn="just">
                        <a:lnSpc>
                          <a:spcPct val="115000"/>
                        </a:lnSpc>
                        <a:spcAft>
                          <a:spcPts val="0"/>
                        </a:spcAft>
                      </a:pPr>
                      <a:r>
                        <a:rPr lang="es-BO" sz="900" dirty="0">
                          <a:effectLst/>
                        </a:rPr>
                        <a:t>7.- valorar resultados de laboratorios y comunicar am medico tratante, serie blanca segmentados, linfocitos.</a:t>
                      </a:r>
                      <a:r>
                        <a:rPr lang="es-BO" sz="800" dirty="0">
                          <a:effectLst/>
                        </a:rPr>
                        <a:t> </a:t>
                      </a:r>
                      <a:r>
                        <a:rPr lang="es-BO" sz="900" dirty="0">
                          <a:effectLst/>
                        </a:rPr>
                        <a:t>Mantener una técnica aséptica. </a:t>
                      </a:r>
                      <a:endParaRPr lang="es-BO" sz="800" dirty="0">
                        <a:effectLst/>
                      </a:endParaRPr>
                    </a:p>
                    <a:p>
                      <a:pPr algn="just">
                        <a:lnSpc>
                          <a:spcPct val="115000"/>
                        </a:lnSpc>
                        <a:spcAft>
                          <a:spcPts val="0"/>
                        </a:spcAft>
                      </a:pPr>
                      <a:r>
                        <a:rPr lang="es-BO" sz="900" dirty="0">
                          <a:effectLst/>
                        </a:rPr>
                        <a:t> </a:t>
                      </a:r>
                      <a:endParaRPr lang="es-BO" sz="800" dirty="0">
                        <a:effectLst/>
                        <a:latin typeface="Calibri"/>
                        <a:ea typeface="Calibri"/>
                        <a:cs typeface="Times New Roman"/>
                      </a:endParaRPr>
                    </a:p>
                  </a:txBody>
                  <a:tcPr marL="45572" marR="45572" marT="0" marB="0"/>
                </a:tc>
                <a:tc>
                  <a:txBody>
                    <a:bodyPr/>
                    <a:lstStyle/>
                    <a:p>
                      <a:pPr algn="just">
                        <a:lnSpc>
                          <a:spcPct val="115000"/>
                        </a:lnSpc>
                        <a:spcAft>
                          <a:spcPts val="0"/>
                        </a:spcAft>
                      </a:pPr>
                      <a:r>
                        <a:rPr lang="es-BO" sz="900" dirty="0">
                          <a:effectLst/>
                        </a:rPr>
                        <a:t>1.- la fiebre es un signo que indica un proceso infeccioso</a:t>
                      </a:r>
                      <a:endParaRPr lang="es-BO" sz="800" dirty="0">
                        <a:effectLst/>
                      </a:endParaRPr>
                    </a:p>
                    <a:p>
                      <a:pPr algn="just">
                        <a:lnSpc>
                          <a:spcPct val="115000"/>
                        </a:lnSpc>
                        <a:spcAft>
                          <a:spcPts val="0"/>
                        </a:spcAft>
                      </a:pPr>
                      <a:r>
                        <a:rPr lang="es-BO" sz="900" dirty="0">
                          <a:effectLst/>
                        </a:rPr>
                        <a:t>2.-Los medios físicos ayudaran a disminuir la temperatura corporal.</a:t>
                      </a:r>
                      <a:endParaRPr lang="es-BO" sz="800" dirty="0">
                        <a:effectLst/>
                      </a:endParaRPr>
                    </a:p>
                    <a:p>
                      <a:pPr algn="just">
                        <a:lnSpc>
                          <a:spcPct val="115000"/>
                        </a:lnSpc>
                        <a:spcAft>
                          <a:spcPts val="0"/>
                        </a:spcAft>
                      </a:pPr>
                      <a:r>
                        <a:rPr lang="es-BO" sz="900" dirty="0">
                          <a:effectLst/>
                        </a:rPr>
                        <a:t>3.-los antipiréticos tienen la finalidad de disminuir la temperatura corporal.</a:t>
                      </a:r>
                      <a:endParaRPr lang="es-BO" sz="800" dirty="0">
                        <a:effectLst/>
                      </a:endParaRPr>
                    </a:p>
                    <a:p>
                      <a:pPr algn="just">
                        <a:lnSpc>
                          <a:spcPct val="115000"/>
                        </a:lnSpc>
                        <a:spcAft>
                          <a:spcPts val="0"/>
                        </a:spcAft>
                      </a:pPr>
                      <a:r>
                        <a:rPr lang="es-BO" sz="900" dirty="0">
                          <a:effectLst/>
                        </a:rPr>
                        <a:t>4.-muchos   gérmenes que se encuentran en el ambiente  y  en el cuerpo son oportunistas y se tornan infecciosos ante la posibilidad de hacerlo.</a:t>
                      </a:r>
                      <a:endParaRPr lang="es-BO" sz="800" dirty="0">
                        <a:effectLst/>
                      </a:endParaRPr>
                    </a:p>
                    <a:p>
                      <a:pPr marL="201295" algn="just">
                        <a:spcAft>
                          <a:spcPts val="0"/>
                        </a:spcAft>
                      </a:pPr>
                      <a:r>
                        <a:rPr lang="es-BO" sz="900" dirty="0">
                          <a:effectLst/>
                        </a:rPr>
                        <a:t> </a:t>
                      </a:r>
                      <a:endParaRPr lang="es-BO" sz="800" dirty="0">
                        <a:effectLst/>
                      </a:endParaRPr>
                    </a:p>
                    <a:p>
                      <a:pPr algn="just">
                        <a:lnSpc>
                          <a:spcPct val="115000"/>
                        </a:lnSpc>
                        <a:spcAft>
                          <a:spcPts val="0"/>
                        </a:spcAft>
                      </a:pPr>
                      <a:r>
                        <a:rPr lang="es-BO" sz="900" dirty="0">
                          <a:effectLst/>
                        </a:rPr>
                        <a:t>5.-la tetralogía de Celsius ayuda a identificar  infecciones y el lugar donde puede estar ocurriendo.</a:t>
                      </a:r>
                      <a:endParaRPr lang="es-BO" sz="800" dirty="0">
                        <a:effectLst/>
                      </a:endParaRPr>
                    </a:p>
                    <a:p>
                      <a:pPr algn="just">
                        <a:lnSpc>
                          <a:spcPct val="115000"/>
                        </a:lnSpc>
                        <a:spcAft>
                          <a:spcPts val="0"/>
                        </a:spcAft>
                      </a:pPr>
                      <a:r>
                        <a:rPr lang="es-BO" sz="900" dirty="0">
                          <a:effectLst/>
                        </a:rPr>
                        <a:t>6.-prevenir infecciones cruzadas.</a:t>
                      </a:r>
                      <a:endParaRPr lang="es-BO" sz="800" dirty="0">
                        <a:effectLst/>
                      </a:endParaRPr>
                    </a:p>
                    <a:p>
                      <a:pPr algn="just">
                        <a:lnSpc>
                          <a:spcPct val="115000"/>
                        </a:lnSpc>
                        <a:spcAft>
                          <a:spcPts val="0"/>
                        </a:spcAft>
                      </a:pPr>
                      <a:r>
                        <a:rPr lang="es-BO" sz="900" dirty="0">
                          <a:effectLst/>
                        </a:rPr>
                        <a:t>7.- la alteración en la serie blanca indica  la presencia de una infección.</a:t>
                      </a:r>
                      <a:endParaRPr lang="es-BO" sz="800" dirty="0">
                        <a:effectLst/>
                        <a:latin typeface="Calibri"/>
                        <a:ea typeface="Calibri"/>
                        <a:cs typeface="Times New Roman"/>
                      </a:endParaRPr>
                    </a:p>
                  </a:txBody>
                  <a:tcPr marL="45572" marR="45572" marT="0" marB="0"/>
                </a:tc>
              </a:tr>
            </a:tbl>
          </a:graphicData>
        </a:graphic>
      </p:graphicFrame>
    </p:spTree>
    <p:extLst>
      <p:ext uri="{BB962C8B-B14F-4D97-AF65-F5344CB8AC3E}">
        <p14:creationId xmlns:p14="http://schemas.microsoft.com/office/powerpoint/2010/main" val="2877793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09442" y="-99392"/>
            <a:ext cx="7125113" cy="924475"/>
          </a:xfrm>
        </p:spPr>
        <p:txBody>
          <a:bodyPr/>
          <a:lstStyle/>
          <a:p>
            <a:r>
              <a:rPr lang="es-ES_tradnl" sz="2400" b="1" dirty="0"/>
              <a:t>PATRON  </a:t>
            </a:r>
            <a:r>
              <a:rPr lang="es-BO" sz="2400" b="1" dirty="0"/>
              <a:t>NUTRICION Y METABOLISMO</a:t>
            </a:r>
            <a:endParaRPr lang="es-BO" sz="24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1045255440"/>
              </p:ext>
            </p:extLst>
          </p:nvPr>
        </p:nvGraphicFramePr>
        <p:xfrm>
          <a:off x="251520" y="620689"/>
          <a:ext cx="8568952" cy="6530973"/>
        </p:xfrm>
        <a:graphic>
          <a:graphicData uri="http://schemas.openxmlformats.org/drawingml/2006/table">
            <a:tbl>
              <a:tblPr>
                <a:tableStyleId>{284E427A-3D55-4303-BF80-6455036E1DE7}</a:tableStyleId>
              </a:tblPr>
              <a:tblGrid>
                <a:gridCol w="1893399"/>
                <a:gridCol w="1627838"/>
                <a:gridCol w="2300866"/>
                <a:gridCol w="2746849"/>
              </a:tblGrid>
              <a:tr h="386967">
                <a:tc>
                  <a:txBody>
                    <a:bodyPr/>
                    <a:lstStyle/>
                    <a:p>
                      <a:pPr algn="l">
                        <a:lnSpc>
                          <a:spcPct val="115000"/>
                        </a:lnSpc>
                        <a:spcAft>
                          <a:spcPts val="0"/>
                        </a:spcAft>
                      </a:pPr>
                      <a:r>
                        <a:rPr lang="es-ES" sz="1100" dirty="0" smtClean="0">
                          <a:effectLst/>
                        </a:rPr>
                        <a:t>DIAGNOSTICO</a:t>
                      </a:r>
                      <a:endParaRPr lang="es-BO" sz="1100" dirty="0">
                        <a:effectLst/>
                        <a:latin typeface="Calibri"/>
                        <a:ea typeface="Calibri"/>
                        <a:cs typeface="Times New Roman"/>
                      </a:endParaRPr>
                    </a:p>
                  </a:txBody>
                  <a:tcPr marL="41453" marR="41453" marT="0" marB="0"/>
                </a:tc>
                <a:tc>
                  <a:txBody>
                    <a:bodyPr/>
                    <a:lstStyle/>
                    <a:p>
                      <a:pPr algn="l">
                        <a:lnSpc>
                          <a:spcPct val="115000"/>
                        </a:lnSpc>
                        <a:spcAft>
                          <a:spcPts val="0"/>
                        </a:spcAft>
                      </a:pPr>
                      <a:r>
                        <a:rPr lang="es-ES" sz="1100" dirty="0">
                          <a:effectLst/>
                        </a:rPr>
                        <a:t>OBJETIVO</a:t>
                      </a:r>
                      <a:endParaRPr lang="es-BO" sz="1100" dirty="0">
                        <a:effectLst/>
                        <a:latin typeface="Calibri"/>
                        <a:ea typeface="Calibri"/>
                        <a:cs typeface="Times New Roman"/>
                      </a:endParaRPr>
                    </a:p>
                  </a:txBody>
                  <a:tcPr marL="41453" marR="41453" marT="0" marB="0"/>
                </a:tc>
                <a:tc>
                  <a:txBody>
                    <a:bodyPr/>
                    <a:lstStyle/>
                    <a:p>
                      <a:pPr algn="l">
                        <a:lnSpc>
                          <a:spcPct val="115000"/>
                        </a:lnSpc>
                        <a:spcAft>
                          <a:spcPts val="0"/>
                        </a:spcAft>
                      </a:pPr>
                      <a:r>
                        <a:rPr lang="es-ES" sz="1100" dirty="0">
                          <a:effectLst/>
                        </a:rPr>
                        <a:t>INTERVENCIONES</a:t>
                      </a:r>
                      <a:endParaRPr lang="es-BO" sz="1100" dirty="0">
                        <a:effectLst/>
                        <a:latin typeface="Calibri"/>
                        <a:ea typeface="Calibri"/>
                        <a:cs typeface="Times New Roman"/>
                      </a:endParaRPr>
                    </a:p>
                  </a:txBody>
                  <a:tcPr marL="41453" marR="41453" marT="0" marB="0"/>
                </a:tc>
                <a:tc>
                  <a:txBody>
                    <a:bodyPr/>
                    <a:lstStyle/>
                    <a:p>
                      <a:pPr algn="l">
                        <a:lnSpc>
                          <a:spcPct val="115000"/>
                        </a:lnSpc>
                        <a:spcAft>
                          <a:spcPts val="0"/>
                        </a:spcAft>
                      </a:pPr>
                      <a:r>
                        <a:rPr lang="es-ES" sz="1100" dirty="0">
                          <a:effectLst/>
                        </a:rPr>
                        <a:t>PRINCIPIOSCIENTIFICOS</a:t>
                      </a:r>
                      <a:endParaRPr lang="es-BO" sz="1100" dirty="0">
                        <a:effectLst/>
                        <a:latin typeface="Calibri"/>
                        <a:ea typeface="Calibri"/>
                        <a:cs typeface="Times New Roman"/>
                      </a:endParaRPr>
                    </a:p>
                  </a:txBody>
                  <a:tcPr marL="41453" marR="41453" marT="0" marB="0"/>
                </a:tc>
              </a:tr>
              <a:tr h="5589697">
                <a:tc>
                  <a:txBody>
                    <a:bodyPr/>
                    <a:lstStyle/>
                    <a:p>
                      <a:pPr algn="just">
                        <a:spcAft>
                          <a:spcPts val="0"/>
                        </a:spcAft>
                      </a:pPr>
                      <a:r>
                        <a:rPr lang="es-ES" sz="1100" dirty="0" smtClean="0">
                          <a:effectLst/>
                        </a:rPr>
                        <a:t>Potencial de</a:t>
                      </a:r>
                      <a:r>
                        <a:rPr lang="es-ES" sz="1100" baseline="0" dirty="0" smtClean="0">
                          <a:effectLst/>
                        </a:rPr>
                        <a:t> d</a:t>
                      </a:r>
                      <a:r>
                        <a:rPr lang="es-ES" sz="1100" dirty="0" smtClean="0">
                          <a:effectLst/>
                        </a:rPr>
                        <a:t>éficit </a:t>
                      </a:r>
                      <a:r>
                        <a:rPr lang="es-ES" sz="1100" dirty="0">
                          <a:effectLst/>
                        </a:rPr>
                        <a:t>del volumen de líquidos en relación a la hemorragia </a:t>
                      </a:r>
                      <a:endParaRPr lang="es-BO" sz="1100" dirty="0">
                        <a:effectLst/>
                      </a:endParaRPr>
                    </a:p>
                    <a:p>
                      <a:pPr algn="just">
                        <a:spcAft>
                          <a:spcPts val="0"/>
                        </a:spcAft>
                      </a:pPr>
                      <a:r>
                        <a:rPr lang="es-ES" sz="1100" dirty="0">
                          <a:effectLst/>
                        </a:rPr>
                        <a:t>Perfusión tisular ineficaz relacionada con la hipovolemia.</a:t>
                      </a:r>
                      <a:endParaRPr lang="es-BO" sz="1100" dirty="0">
                        <a:effectLst/>
                      </a:endParaRPr>
                    </a:p>
                    <a:p>
                      <a:pPr algn="just">
                        <a:lnSpc>
                          <a:spcPct val="115000"/>
                        </a:lnSpc>
                        <a:spcAft>
                          <a:spcPts val="0"/>
                        </a:spcAft>
                      </a:pPr>
                      <a:r>
                        <a:rPr lang="es-ES" sz="1100" dirty="0">
                          <a:effectLst/>
                        </a:rPr>
                        <a:t> </a:t>
                      </a:r>
                      <a:endParaRPr lang="es-BO" sz="1100" dirty="0">
                        <a:effectLst/>
                      </a:endParaRPr>
                    </a:p>
                    <a:p>
                      <a:pPr algn="just">
                        <a:lnSpc>
                          <a:spcPct val="115000"/>
                        </a:lnSpc>
                        <a:spcAft>
                          <a:spcPts val="0"/>
                        </a:spcAft>
                      </a:pPr>
                      <a:r>
                        <a:rPr lang="es-ES_tradnl" sz="1100" dirty="0">
                          <a:effectLst/>
                        </a:rPr>
                        <a:t> </a:t>
                      </a:r>
                      <a:endParaRPr lang="es-BO" sz="1100" dirty="0">
                        <a:effectLst/>
                      </a:endParaRPr>
                    </a:p>
                    <a:p>
                      <a:pPr algn="just">
                        <a:lnSpc>
                          <a:spcPct val="115000"/>
                        </a:lnSpc>
                        <a:spcAft>
                          <a:spcPts val="0"/>
                        </a:spcAft>
                      </a:pPr>
                      <a:r>
                        <a:rPr lang="es-ES_tradnl" sz="1100" dirty="0">
                          <a:effectLst/>
                        </a:rPr>
                        <a:t> </a:t>
                      </a:r>
                      <a:endParaRPr lang="es-BO" sz="1100" dirty="0">
                        <a:effectLst/>
                        <a:latin typeface="Calibri"/>
                        <a:ea typeface="Calibri"/>
                        <a:cs typeface="Times New Roman"/>
                      </a:endParaRPr>
                    </a:p>
                  </a:txBody>
                  <a:tcPr marL="41453" marR="41453" marT="0" marB="0"/>
                </a:tc>
                <a:tc>
                  <a:txBody>
                    <a:bodyPr/>
                    <a:lstStyle/>
                    <a:p>
                      <a:pPr algn="just">
                        <a:spcAft>
                          <a:spcPts val="0"/>
                        </a:spcAft>
                      </a:pPr>
                      <a:r>
                        <a:rPr lang="es-ES" sz="1100">
                          <a:effectLst/>
                        </a:rPr>
                        <a:t>Mantener una reposición adecuada de líquidos  con los cuidados de enfermería a corto plazo</a:t>
                      </a:r>
                      <a:endParaRPr lang="es-BO" sz="1100">
                        <a:effectLst/>
                      </a:endParaRPr>
                    </a:p>
                    <a:p>
                      <a:pPr algn="just">
                        <a:spcAft>
                          <a:spcPts val="0"/>
                        </a:spcAft>
                      </a:pPr>
                      <a:r>
                        <a:rPr lang="es-ES" sz="1100">
                          <a:effectLst/>
                        </a:rPr>
                        <a:t>Mantener una perfusión  adecuada </a:t>
                      </a:r>
                      <a:endParaRPr lang="es-BO" sz="1100">
                        <a:effectLst/>
                        <a:latin typeface="Calibri"/>
                      </a:endParaRPr>
                    </a:p>
                  </a:txBody>
                  <a:tcPr marL="41453" marR="41453" marT="0" marB="0"/>
                </a:tc>
                <a:tc>
                  <a:txBody>
                    <a:bodyPr/>
                    <a:lstStyle/>
                    <a:p>
                      <a:pPr algn="just">
                        <a:spcAft>
                          <a:spcPts val="0"/>
                        </a:spcAft>
                      </a:pPr>
                      <a:r>
                        <a:rPr lang="es-ES" sz="1100" dirty="0">
                          <a:effectLst/>
                        </a:rPr>
                        <a:t>1.- control de los signos vitales.</a:t>
                      </a:r>
                      <a:endParaRPr lang="es-BO" sz="1100" dirty="0">
                        <a:effectLst/>
                      </a:endParaRPr>
                    </a:p>
                    <a:p>
                      <a:pPr algn="just">
                        <a:spcAft>
                          <a:spcPts val="0"/>
                        </a:spcAft>
                      </a:pPr>
                      <a:r>
                        <a:rPr lang="es-ES" sz="1100" dirty="0" err="1">
                          <a:effectLst/>
                        </a:rPr>
                        <a:t>Tº,P</a:t>
                      </a:r>
                      <a:r>
                        <a:rPr lang="es-ES" sz="1100" dirty="0">
                          <a:effectLst/>
                        </a:rPr>
                        <a:t>/A,FC.</a:t>
                      </a:r>
                      <a:endParaRPr lang="es-BO" sz="1100" dirty="0">
                        <a:effectLst/>
                      </a:endParaRPr>
                    </a:p>
                    <a:p>
                      <a:pPr algn="just">
                        <a:spcAft>
                          <a:spcPts val="0"/>
                        </a:spcAft>
                      </a:pPr>
                      <a:r>
                        <a:rPr lang="es-ES" sz="1100" dirty="0">
                          <a:effectLst/>
                        </a:rPr>
                        <a:t>2.-valorar  mucosas, turgencia de la piel, disminución de llenado capilar.</a:t>
                      </a:r>
                      <a:endParaRPr lang="es-BO" sz="1100" dirty="0">
                        <a:effectLst/>
                      </a:endParaRPr>
                    </a:p>
                    <a:p>
                      <a:pPr algn="just">
                        <a:spcAft>
                          <a:spcPts val="0"/>
                        </a:spcAft>
                      </a:pPr>
                      <a:r>
                        <a:rPr lang="es-ES" sz="1100" dirty="0">
                          <a:effectLst/>
                        </a:rPr>
                        <a:t>3.-valorar  si hay disminución del gasto urinario, orina concentrada.</a:t>
                      </a:r>
                      <a:endParaRPr lang="es-BO" sz="1100" dirty="0">
                        <a:effectLst/>
                      </a:endParaRPr>
                    </a:p>
                    <a:p>
                      <a:pPr algn="just">
                        <a:spcAft>
                          <a:spcPts val="0"/>
                        </a:spcAft>
                      </a:pPr>
                      <a:r>
                        <a:rPr lang="es-ES" sz="1100" dirty="0">
                          <a:effectLst/>
                        </a:rPr>
                        <a:t>4.- valorar Glasgow.</a:t>
                      </a:r>
                      <a:endParaRPr lang="es-BO" sz="1100" dirty="0">
                        <a:effectLst/>
                      </a:endParaRPr>
                    </a:p>
                    <a:p>
                      <a:pPr algn="just">
                        <a:spcAft>
                          <a:spcPts val="0"/>
                        </a:spcAft>
                      </a:pPr>
                      <a:r>
                        <a:rPr lang="es-ES" sz="1100" dirty="0">
                          <a:effectLst/>
                        </a:rPr>
                        <a:t>5.-administrar  líquidos intravenosos (soluciones cristaloides y coloides según prescripción medica.</a:t>
                      </a:r>
                      <a:endParaRPr lang="es-BO" sz="1100" dirty="0">
                        <a:effectLst/>
                      </a:endParaRPr>
                    </a:p>
                    <a:p>
                      <a:pPr algn="just">
                        <a:spcAft>
                          <a:spcPts val="0"/>
                        </a:spcAft>
                      </a:pPr>
                      <a:r>
                        <a:rPr lang="es-ES" sz="1100" dirty="0">
                          <a:effectLst/>
                        </a:rPr>
                        <a:t>6.- si se administra concentrado de glóbulos rojos tener en cuenta si fuera necesario:</a:t>
                      </a:r>
                      <a:endParaRPr lang="es-BO" sz="1100" dirty="0">
                        <a:effectLst/>
                      </a:endParaRPr>
                    </a:p>
                    <a:p>
                      <a:pPr marL="342900" lvl="0" indent="-342900" algn="just">
                        <a:lnSpc>
                          <a:spcPct val="115000"/>
                        </a:lnSpc>
                        <a:spcAft>
                          <a:spcPts val="0"/>
                        </a:spcAft>
                        <a:buFont typeface="Wingdings"/>
                        <a:buChar char=""/>
                      </a:pPr>
                      <a:r>
                        <a:rPr lang="es-ES" sz="1100" dirty="0">
                          <a:effectLst/>
                        </a:rPr>
                        <a:t>Administrar en 2- 4 horas por paquete.</a:t>
                      </a:r>
                      <a:endParaRPr lang="es-BO" sz="1100" dirty="0">
                        <a:effectLst/>
                      </a:endParaRPr>
                    </a:p>
                    <a:p>
                      <a:pPr marL="342900" lvl="0" indent="-342900" algn="just">
                        <a:lnSpc>
                          <a:spcPct val="115000"/>
                        </a:lnSpc>
                        <a:spcAft>
                          <a:spcPts val="0"/>
                        </a:spcAft>
                        <a:buFont typeface="Wingdings"/>
                        <a:buChar char=""/>
                      </a:pPr>
                      <a:r>
                        <a:rPr lang="es-ES" sz="1100" dirty="0">
                          <a:effectLst/>
                        </a:rPr>
                        <a:t>Canalizar una vía periférica de grueso calibre.</a:t>
                      </a:r>
                      <a:endParaRPr lang="es-BO" sz="1100" dirty="0">
                        <a:effectLst/>
                      </a:endParaRPr>
                    </a:p>
                    <a:p>
                      <a:pPr marL="342900" lvl="0" indent="-342900" algn="just">
                        <a:lnSpc>
                          <a:spcPct val="115000"/>
                        </a:lnSpc>
                        <a:spcAft>
                          <a:spcPts val="0"/>
                        </a:spcAft>
                        <a:buFont typeface="Wingdings"/>
                        <a:buChar char=""/>
                      </a:pPr>
                      <a:r>
                        <a:rPr lang="es-ES" sz="1100" dirty="0">
                          <a:effectLst/>
                        </a:rPr>
                        <a:t>Controlar signos vitales antes, durante y después de la trasfusión.</a:t>
                      </a:r>
                      <a:endParaRPr lang="es-BO" sz="1100" dirty="0">
                        <a:effectLst/>
                      </a:endParaRPr>
                    </a:p>
                    <a:p>
                      <a:pPr marL="342900" lvl="0" indent="-342900" algn="just">
                        <a:lnSpc>
                          <a:spcPct val="115000"/>
                        </a:lnSpc>
                        <a:spcAft>
                          <a:spcPts val="0"/>
                        </a:spcAft>
                        <a:buFont typeface="Wingdings"/>
                        <a:buChar char=""/>
                      </a:pPr>
                      <a:r>
                        <a:rPr lang="es-ES" sz="1100" dirty="0">
                          <a:effectLst/>
                        </a:rPr>
                        <a:t>tener en cuenta que la </a:t>
                      </a:r>
                      <a:r>
                        <a:rPr lang="es-ES" sz="1100" dirty="0" err="1">
                          <a:effectLst/>
                        </a:rPr>
                        <a:t>Hb</a:t>
                      </a:r>
                      <a:r>
                        <a:rPr lang="es-ES" sz="1100" dirty="0">
                          <a:effectLst/>
                        </a:rPr>
                        <a:t> aumenta 1g/100ml y el HCT3% por unidad.</a:t>
                      </a:r>
                      <a:endParaRPr lang="es-BO" sz="1100" dirty="0">
                        <a:effectLst/>
                      </a:endParaRPr>
                    </a:p>
                    <a:p>
                      <a:pPr algn="just">
                        <a:spcAft>
                          <a:spcPts val="0"/>
                        </a:spcAft>
                      </a:pPr>
                      <a:r>
                        <a:rPr lang="es-ES" sz="1100" dirty="0">
                          <a:effectLst/>
                        </a:rPr>
                        <a:t> </a:t>
                      </a:r>
                      <a:endParaRPr lang="es-BO" sz="1100" dirty="0">
                        <a:effectLst/>
                      </a:endParaRPr>
                    </a:p>
                    <a:p>
                      <a:pPr algn="just">
                        <a:spcAft>
                          <a:spcPts val="0"/>
                        </a:spcAft>
                      </a:pPr>
                      <a:r>
                        <a:rPr lang="es-ES" sz="1100" dirty="0">
                          <a:effectLst/>
                        </a:rPr>
                        <a:t>7.- realizar balance hídrico estricto.</a:t>
                      </a:r>
                      <a:endParaRPr lang="es-BO" sz="1100" dirty="0">
                        <a:effectLst/>
                      </a:endParaRPr>
                    </a:p>
                    <a:p>
                      <a:pPr algn="just">
                        <a:spcAft>
                          <a:spcPts val="0"/>
                        </a:spcAft>
                      </a:pPr>
                      <a:r>
                        <a:rPr lang="es-ES" sz="1100" dirty="0">
                          <a:effectLst/>
                        </a:rPr>
                        <a:t>8.- observar si hay sangrado  en herida quirúrgica.</a:t>
                      </a:r>
                      <a:endParaRPr lang="es-BO" sz="1100" dirty="0">
                        <a:effectLst/>
                      </a:endParaRPr>
                    </a:p>
                    <a:p>
                      <a:pPr algn="just">
                        <a:spcAft>
                          <a:spcPts val="0"/>
                        </a:spcAft>
                      </a:pPr>
                      <a:r>
                        <a:rPr lang="es-ES" sz="1100" dirty="0">
                          <a:effectLst/>
                        </a:rPr>
                        <a:t> </a:t>
                      </a:r>
                      <a:endParaRPr lang="es-BO" sz="1100" dirty="0">
                        <a:effectLst/>
                        <a:latin typeface="Calibri"/>
                      </a:endParaRPr>
                    </a:p>
                  </a:txBody>
                  <a:tcPr marL="41453" marR="41453" marT="0" marB="0"/>
                </a:tc>
                <a:tc>
                  <a:txBody>
                    <a:bodyPr/>
                    <a:lstStyle/>
                    <a:p>
                      <a:pPr algn="just">
                        <a:spcAft>
                          <a:spcPts val="0"/>
                        </a:spcAft>
                      </a:pPr>
                      <a:r>
                        <a:rPr lang="es-ES" sz="1100" dirty="0">
                          <a:effectLst/>
                        </a:rPr>
                        <a:t>1.-la valoración deberá establecer una base  para subsiguientes comparaciones  con el fin de detectar cualquier cambio.</a:t>
                      </a:r>
                      <a:endParaRPr lang="es-BO" sz="1100" dirty="0">
                        <a:effectLst/>
                      </a:endParaRPr>
                    </a:p>
                    <a:p>
                      <a:pPr algn="l">
                        <a:lnSpc>
                          <a:spcPct val="115000"/>
                        </a:lnSpc>
                        <a:spcAft>
                          <a:spcPts val="0"/>
                        </a:spcAft>
                      </a:pPr>
                      <a:r>
                        <a:rPr lang="es-ES" sz="1100" dirty="0">
                          <a:effectLst/>
                        </a:rPr>
                        <a:t>2.- el nivel de hidratación  se refleja  en la mucosa  oral y en la turgencia cutánea.</a:t>
                      </a:r>
                      <a:endParaRPr lang="es-BO" sz="1100" dirty="0">
                        <a:effectLst/>
                      </a:endParaRPr>
                    </a:p>
                    <a:p>
                      <a:pPr algn="l">
                        <a:lnSpc>
                          <a:spcPct val="115000"/>
                        </a:lnSpc>
                        <a:spcAft>
                          <a:spcPts val="0"/>
                        </a:spcAft>
                      </a:pPr>
                      <a:r>
                        <a:rPr lang="es-ES" sz="1100" dirty="0">
                          <a:effectLst/>
                        </a:rPr>
                        <a:t>3.-cuando hay déficit  de volumen  el sistema renal   compensará  disminuyendo la </a:t>
                      </a:r>
                      <a:r>
                        <a:rPr lang="es-ES" sz="1100" dirty="0" smtClean="0">
                          <a:effectLst/>
                        </a:rPr>
                        <a:t>filtración</a:t>
                      </a:r>
                      <a:r>
                        <a:rPr lang="es-ES" sz="1100" baseline="0" dirty="0" smtClean="0">
                          <a:effectLst/>
                        </a:rPr>
                        <a:t> y el aumentara el gasto cardiaco.</a:t>
                      </a:r>
                      <a:endParaRPr lang="es-BO" sz="1100" dirty="0">
                        <a:effectLst/>
                      </a:endParaRPr>
                    </a:p>
                    <a:p>
                      <a:pPr algn="l">
                        <a:lnSpc>
                          <a:spcPct val="115000"/>
                        </a:lnSpc>
                        <a:spcAft>
                          <a:spcPts val="0"/>
                        </a:spcAft>
                      </a:pPr>
                      <a:r>
                        <a:rPr lang="es-ES" sz="1100" dirty="0" smtClean="0">
                          <a:effectLst/>
                        </a:rPr>
                        <a:t>4.Valora</a:t>
                      </a:r>
                      <a:r>
                        <a:rPr lang="es-ES" sz="1100" baseline="0" dirty="0" smtClean="0">
                          <a:effectLst/>
                        </a:rPr>
                        <a:t> el nivel de conciencia, cuando hay déficit de volumen el nivel de conciencia se ve alterado</a:t>
                      </a:r>
                      <a:endParaRPr lang="es-BO" sz="1100" dirty="0">
                        <a:effectLst/>
                      </a:endParaRPr>
                    </a:p>
                    <a:p>
                      <a:pPr algn="l">
                        <a:lnSpc>
                          <a:spcPct val="115000"/>
                        </a:lnSpc>
                        <a:spcAft>
                          <a:spcPts val="0"/>
                        </a:spcAft>
                      </a:pPr>
                      <a:r>
                        <a:rPr lang="es-ES" sz="1100" dirty="0">
                          <a:effectLst/>
                        </a:rPr>
                        <a:t>5.-las soluciones  tienen la finalidad de restituir del déficit de volumen</a:t>
                      </a:r>
                      <a:endParaRPr lang="es-BO" sz="1100" dirty="0">
                        <a:effectLst/>
                      </a:endParaRPr>
                    </a:p>
                    <a:p>
                      <a:pPr algn="l">
                        <a:lnSpc>
                          <a:spcPct val="115000"/>
                        </a:lnSpc>
                        <a:spcAft>
                          <a:spcPts val="0"/>
                        </a:spcAft>
                      </a:pPr>
                      <a:r>
                        <a:rPr lang="es-ES" sz="1100" dirty="0">
                          <a:effectLst/>
                        </a:rPr>
                        <a:t>Las soluciones coloides son expensares </a:t>
                      </a:r>
                      <a:r>
                        <a:rPr lang="es-ES" sz="1100" dirty="0" smtClean="0">
                          <a:effectLst/>
                        </a:rPr>
                        <a:t>plasmáticos,</a:t>
                      </a:r>
                      <a:r>
                        <a:rPr lang="es-ES" sz="1100" baseline="0" dirty="0" smtClean="0">
                          <a:effectLst/>
                        </a:rPr>
                        <a:t> el gasto cardiaco se  regularizara.</a:t>
                      </a:r>
                      <a:endParaRPr lang="es-BO" sz="1100" dirty="0">
                        <a:effectLst/>
                      </a:endParaRPr>
                    </a:p>
                    <a:p>
                      <a:pPr algn="l">
                        <a:lnSpc>
                          <a:spcPct val="115000"/>
                        </a:lnSpc>
                        <a:spcAft>
                          <a:spcPts val="0"/>
                        </a:spcAft>
                      </a:pPr>
                      <a:r>
                        <a:rPr lang="es-ES" sz="1100" dirty="0">
                          <a:effectLst/>
                        </a:rPr>
                        <a:t>6.-la administración de CGR  100ml aumentara 1g y3% de hematocrito.</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pPr>
                      <a:r>
                        <a:rPr lang="es-ES" sz="1100" dirty="0">
                          <a:effectLst/>
                        </a:rPr>
                        <a:t> </a:t>
                      </a:r>
                      <a:endParaRPr lang="es-BO" sz="1100" dirty="0">
                        <a:effectLst/>
                      </a:endParaRPr>
                    </a:p>
                    <a:p>
                      <a:pPr algn="l">
                        <a:lnSpc>
                          <a:spcPct val="115000"/>
                        </a:lnSpc>
                        <a:spcAft>
                          <a:spcPts val="0"/>
                        </a:spcAft>
                        <a:tabLst>
                          <a:tab pos="775970" algn="l"/>
                        </a:tabLst>
                      </a:pPr>
                      <a:r>
                        <a:rPr lang="es-ES" sz="1100" dirty="0">
                          <a:effectLst/>
                        </a:rPr>
                        <a:t>7.- el objetico de realizar el balance hídrico  es de conocer los líquidos eliminados y los </a:t>
                      </a:r>
                      <a:r>
                        <a:rPr lang="es-ES" sz="1100" dirty="0" smtClean="0">
                          <a:effectLst/>
                        </a:rPr>
                        <a:t>administrar.</a:t>
                      </a:r>
                      <a:r>
                        <a:rPr lang="es-ES" sz="1100" dirty="0">
                          <a:effectLst/>
                        </a:rPr>
                        <a:t>	</a:t>
                      </a:r>
                      <a:endParaRPr lang="es-BO" sz="1100" dirty="0">
                        <a:effectLst/>
                        <a:latin typeface="Calibri"/>
                        <a:ea typeface="Calibri"/>
                        <a:cs typeface="Times New Roman"/>
                      </a:endParaRPr>
                    </a:p>
                  </a:txBody>
                  <a:tcPr marL="41453" marR="41453" marT="0" marB="0"/>
                </a:tc>
              </a:tr>
            </a:tbl>
          </a:graphicData>
        </a:graphic>
      </p:graphicFrame>
    </p:spTree>
    <p:extLst>
      <p:ext uri="{BB962C8B-B14F-4D97-AF65-F5344CB8AC3E}">
        <p14:creationId xmlns:p14="http://schemas.microsoft.com/office/powerpoint/2010/main" val="13552348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2389704066"/>
              </p:ext>
            </p:extLst>
          </p:nvPr>
        </p:nvGraphicFramePr>
        <p:xfrm>
          <a:off x="179512" y="476672"/>
          <a:ext cx="8640961" cy="6035040"/>
        </p:xfrm>
        <a:graphic>
          <a:graphicData uri="http://schemas.openxmlformats.org/drawingml/2006/table">
            <a:tbl>
              <a:tblPr firstRow="1" firstCol="1" bandRow="1">
                <a:tableStyleId>{5C22544A-7EE6-4342-B048-85BDC9FD1C3A}</a:tableStyleId>
              </a:tblPr>
              <a:tblGrid>
                <a:gridCol w="1920817"/>
                <a:gridCol w="1632287"/>
                <a:gridCol w="2495840"/>
                <a:gridCol w="2592017"/>
              </a:tblGrid>
              <a:tr h="135506">
                <a:tc>
                  <a:txBody>
                    <a:bodyPr/>
                    <a:lstStyle/>
                    <a:p>
                      <a:pPr algn="ctr">
                        <a:lnSpc>
                          <a:spcPct val="115000"/>
                        </a:lnSpc>
                        <a:spcAft>
                          <a:spcPts val="0"/>
                        </a:spcAft>
                      </a:pPr>
                      <a:r>
                        <a:rPr lang="es-BO" sz="800" dirty="0">
                          <a:effectLst/>
                        </a:rPr>
                        <a:t>DXENFERMERÍA</a:t>
                      </a:r>
                      <a:endParaRPr lang="es-BO" sz="800" dirty="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800">
                          <a:effectLst/>
                        </a:rPr>
                        <a:t>OBJETIVO</a:t>
                      </a:r>
                      <a:endParaRPr lang="es-BO" sz="8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800">
                          <a:effectLst/>
                        </a:rPr>
                        <a:t>INTERVENCIONES</a:t>
                      </a:r>
                      <a:endParaRPr lang="es-BO" sz="8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800">
                          <a:effectLst/>
                        </a:rPr>
                        <a:t>PRINCIPIO CIENTÍFICO</a:t>
                      </a:r>
                      <a:endParaRPr lang="es-BO" sz="800">
                        <a:effectLst/>
                        <a:latin typeface="Calibri"/>
                        <a:ea typeface="Calibri"/>
                        <a:cs typeface="Times New Roman"/>
                      </a:endParaRPr>
                    </a:p>
                  </a:txBody>
                  <a:tcPr marL="18351" marR="18351" marT="0" marB="0"/>
                </a:tc>
              </a:tr>
              <a:tr h="5697142">
                <a:tc>
                  <a:txBody>
                    <a:bodyPr/>
                    <a:lstStyle/>
                    <a:p>
                      <a:pPr algn="just">
                        <a:lnSpc>
                          <a:spcPct val="115000"/>
                        </a:lnSpc>
                        <a:spcAft>
                          <a:spcPts val="0"/>
                        </a:spcAft>
                      </a:pPr>
                      <a:r>
                        <a:rPr lang="es-BO" sz="800" dirty="0">
                          <a:effectLst/>
                        </a:rPr>
                        <a:t>Alto riesgo sufrir  perdida de la sensibilidad, parálisis  (</a:t>
                      </a:r>
                      <a:r>
                        <a:rPr lang="es-BO" sz="800" dirty="0" err="1">
                          <a:effectLst/>
                        </a:rPr>
                        <a:t>sindrome</a:t>
                      </a:r>
                      <a:r>
                        <a:rPr lang="es-BO" sz="800" dirty="0">
                          <a:effectLst/>
                        </a:rPr>
                        <a:t> </a:t>
                      </a:r>
                      <a:r>
                        <a:rPr lang="es-BO" sz="800" dirty="0" err="1">
                          <a:effectLst/>
                        </a:rPr>
                        <a:t>compartimental</a:t>
                      </a:r>
                      <a:r>
                        <a:rPr lang="es-BO" sz="800" dirty="0">
                          <a:effectLst/>
                        </a:rPr>
                        <a:t> relacionado a  l incremento de la presión secundario a procedimiento quirúrgico.</a:t>
                      </a:r>
                    </a:p>
                    <a:p>
                      <a:pPr algn="l">
                        <a:lnSpc>
                          <a:spcPct val="115000"/>
                        </a:lnSpc>
                        <a:spcAft>
                          <a:spcPts val="0"/>
                        </a:spcAft>
                      </a:pPr>
                      <a:r>
                        <a:rPr lang="es-BO" sz="800" dirty="0">
                          <a:effectLst/>
                        </a:rPr>
                        <a:t> </a:t>
                      </a:r>
                    </a:p>
                    <a:p>
                      <a:pPr algn="l">
                        <a:lnSpc>
                          <a:spcPct val="115000"/>
                        </a:lnSpc>
                        <a:spcAft>
                          <a:spcPts val="0"/>
                        </a:spcAft>
                      </a:pPr>
                      <a:r>
                        <a:rPr lang="es-BO" sz="800" dirty="0">
                          <a:effectLst/>
                        </a:rPr>
                        <a:t> </a:t>
                      </a:r>
                    </a:p>
                    <a:p>
                      <a:pPr algn="l">
                        <a:lnSpc>
                          <a:spcPct val="115000"/>
                        </a:lnSpc>
                        <a:spcAft>
                          <a:spcPts val="0"/>
                        </a:spcAft>
                      </a:pPr>
                      <a:r>
                        <a:rPr lang="es-BO" sz="800" dirty="0">
                          <a:effectLst/>
                        </a:rPr>
                        <a:t> </a:t>
                      </a:r>
                    </a:p>
                    <a:p>
                      <a:pPr algn="l">
                        <a:lnSpc>
                          <a:spcPct val="115000"/>
                        </a:lnSpc>
                        <a:spcAft>
                          <a:spcPts val="0"/>
                        </a:spcAft>
                      </a:pPr>
                      <a:r>
                        <a:rPr lang="es-BO" sz="800" dirty="0">
                          <a:effectLst/>
                        </a:rPr>
                        <a:t> </a:t>
                      </a:r>
                      <a:endParaRPr lang="es-BO" sz="800" dirty="0">
                        <a:effectLst/>
                        <a:latin typeface="Calibri"/>
                        <a:ea typeface="Calibri"/>
                        <a:cs typeface="Times New Roman"/>
                      </a:endParaRPr>
                    </a:p>
                  </a:txBody>
                  <a:tcPr marL="18351" marR="18351" marT="0" marB="0"/>
                </a:tc>
                <a:tc>
                  <a:txBody>
                    <a:bodyPr/>
                    <a:lstStyle/>
                    <a:p>
                      <a:pPr algn="just">
                        <a:lnSpc>
                          <a:spcPct val="115000"/>
                        </a:lnSpc>
                        <a:spcAft>
                          <a:spcPts val="0"/>
                        </a:spcAft>
                      </a:pPr>
                      <a:r>
                        <a:rPr lang="es-BO" sz="800" dirty="0">
                          <a:effectLst/>
                        </a:rPr>
                        <a:t>prevenir  y detectar oportunamente la  aparición de  síndrome  </a:t>
                      </a:r>
                      <a:r>
                        <a:rPr lang="es-BO" sz="800" dirty="0" err="1">
                          <a:effectLst/>
                        </a:rPr>
                        <a:t>compartimental</a:t>
                      </a:r>
                      <a:r>
                        <a:rPr lang="es-BO" sz="800" dirty="0">
                          <a:effectLst/>
                        </a:rPr>
                        <a:t> y valorar la circulación del miembro comprometido   con los cuidados de enfermería  a corto plazo</a:t>
                      </a:r>
                      <a:endParaRPr lang="es-BO" sz="800" dirty="0">
                        <a:effectLst/>
                        <a:latin typeface="Calibri"/>
                        <a:ea typeface="Calibri"/>
                        <a:cs typeface="Times New Roman"/>
                      </a:endParaRPr>
                    </a:p>
                  </a:txBody>
                  <a:tcPr marL="18351" marR="18351" marT="0" marB="0"/>
                </a:tc>
                <a:tc>
                  <a:txBody>
                    <a:bodyPr/>
                    <a:lstStyle/>
                    <a:p>
                      <a:pPr algn="l">
                        <a:lnSpc>
                          <a:spcPct val="115000"/>
                        </a:lnSpc>
                        <a:spcAft>
                          <a:spcPts val="1000"/>
                        </a:spcAft>
                      </a:pPr>
                      <a:r>
                        <a:rPr lang="es-BO" sz="800" dirty="0">
                          <a:effectLst/>
                        </a:rPr>
                        <a:t>1.-control de signos vitales: </a:t>
                      </a:r>
                    </a:p>
                    <a:p>
                      <a:pPr algn="l">
                        <a:lnSpc>
                          <a:spcPct val="115000"/>
                        </a:lnSpc>
                        <a:spcAft>
                          <a:spcPts val="1000"/>
                        </a:spcAft>
                      </a:pPr>
                      <a:r>
                        <a:rPr lang="es-BO" sz="800" dirty="0">
                          <a:effectLst/>
                        </a:rPr>
                        <a:t>T, P/A.FC,FR</a:t>
                      </a:r>
                    </a:p>
                    <a:p>
                      <a:pPr algn="l">
                        <a:lnSpc>
                          <a:spcPct val="115000"/>
                        </a:lnSpc>
                        <a:spcAft>
                          <a:spcPts val="1000"/>
                        </a:spcAft>
                      </a:pPr>
                      <a:r>
                        <a:rPr lang="es-BO" sz="800" dirty="0">
                          <a:effectLst/>
                        </a:rPr>
                        <a:t>2.-mantener  el miembro afectado en ligera elevación:</a:t>
                      </a:r>
                    </a:p>
                    <a:p>
                      <a:pPr marL="342900" lvl="0" indent="-342900" algn="l">
                        <a:lnSpc>
                          <a:spcPct val="115000"/>
                        </a:lnSpc>
                        <a:spcAft>
                          <a:spcPts val="0"/>
                        </a:spcAft>
                        <a:buFont typeface="Wingdings"/>
                        <a:buChar char=""/>
                      </a:pPr>
                      <a:r>
                        <a:rPr lang="es-BO" sz="800" dirty="0">
                          <a:effectLst/>
                        </a:rPr>
                        <a:t>Con almohada.</a:t>
                      </a:r>
                    </a:p>
                    <a:p>
                      <a:pPr marL="342900" lvl="0" indent="-342900" algn="l">
                        <a:lnSpc>
                          <a:spcPct val="115000"/>
                        </a:lnSpc>
                        <a:spcAft>
                          <a:spcPts val="1000"/>
                        </a:spcAft>
                        <a:buFont typeface="Wingdings"/>
                        <a:buChar char=""/>
                      </a:pPr>
                      <a:r>
                        <a:rPr lang="es-BO" sz="800" dirty="0">
                          <a:effectLst/>
                        </a:rPr>
                        <a:t>Con una frazada doblada.</a:t>
                      </a:r>
                    </a:p>
                    <a:p>
                      <a:pPr algn="l">
                        <a:lnSpc>
                          <a:spcPct val="115000"/>
                        </a:lnSpc>
                        <a:spcAft>
                          <a:spcPts val="1000"/>
                        </a:spcAft>
                      </a:pPr>
                      <a:r>
                        <a:rPr lang="es-BO" sz="800" dirty="0">
                          <a:effectLst/>
                        </a:rPr>
                        <a:t>3.-mantener al paciente en un estricto reposo.</a:t>
                      </a:r>
                    </a:p>
                    <a:p>
                      <a:pPr algn="l">
                        <a:lnSpc>
                          <a:spcPct val="115000"/>
                        </a:lnSpc>
                        <a:spcAft>
                          <a:spcPts val="1000"/>
                        </a:spcAft>
                      </a:pPr>
                      <a:r>
                        <a:rPr lang="es-BO" sz="800" dirty="0">
                          <a:effectLst/>
                        </a:rPr>
                        <a:t>4.-administrar su analgésico según prescripción  médica.</a:t>
                      </a:r>
                    </a:p>
                    <a:p>
                      <a:pPr algn="l">
                        <a:lnSpc>
                          <a:spcPct val="115000"/>
                        </a:lnSpc>
                        <a:spcAft>
                          <a:spcPts val="1000"/>
                        </a:spcAft>
                      </a:pPr>
                      <a:r>
                        <a:rPr lang="es-BO" sz="800" dirty="0">
                          <a:effectLst/>
                        </a:rPr>
                        <a:t>5.-buscar signos que indiquen un síndrome  </a:t>
                      </a:r>
                      <a:r>
                        <a:rPr lang="es-BO" sz="800" dirty="0" err="1">
                          <a:effectLst/>
                        </a:rPr>
                        <a:t>compartimental</a:t>
                      </a:r>
                      <a:r>
                        <a:rPr lang="es-BO" sz="800" dirty="0">
                          <a:effectLst/>
                        </a:rPr>
                        <a:t>  cada hora:</a:t>
                      </a:r>
                    </a:p>
                    <a:p>
                      <a:pPr marL="342900" lvl="0" indent="-342900" algn="l">
                        <a:lnSpc>
                          <a:spcPct val="115000"/>
                        </a:lnSpc>
                        <a:spcAft>
                          <a:spcPts val="0"/>
                        </a:spcAft>
                        <a:buFont typeface="Wingdings"/>
                        <a:buChar char=""/>
                      </a:pPr>
                      <a:r>
                        <a:rPr lang="es-BO" sz="800" dirty="0">
                          <a:effectLst/>
                        </a:rPr>
                        <a:t>Dolor </a:t>
                      </a:r>
                    </a:p>
                    <a:p>
                      <a:pPr marL="342900" lvl="0" indent="-342900" algn="l">
                        <a:lnSpc>
                          <a:spcPct val="115000"/>
                        </a:lnSpc>
                        <a:spcAft>
                          <a:spcPts val="0"/>
                        </a:spcAft>
                        <a:buFont typeface="Wingdings"/>
                        <a:buChar char=""/>
                      </a:pPr>
                      <a:r>
                        <a:rPr lang="es-BO" sz="800" dirty="0">
                          <a:effectLst/>
                        </a:rPr>
                        <a:t>Tensión </a:t>
                      </a:r>
                    </a:p>
                    <a:p>
                      <a:pPr marL="342900" lvl="0" indent="-342900" algn="l">
                        <a:lnSpc>
                          <a:spcPct val="115000"/>
                        </a:lnSpc>
                        <a:spcAft>
                          <a:spcPts val="0"/>
                        </a:spcAft>
                        <a:buFont typeface="Wingdings"/>
                        <a:buChar char=""/>
                      </a:pPr>
                      <a:r>
                        <a:rPr lang="es-BO" sz="800" dirty="0">
                          <a:effectLst/>
                        </a:rPr>
                        <a:t>Parestesia </a:t>
                      </a:r>
                    </a:p>
                    <a:p>
                      <a:pPr marL="342900" lvl="0" indent="-342900" algn="l">
                        <a:lnSpc>
                          <a:spcPct val="115000"/>
                        </a:lnSpc>
                        <a:spcAft>
                          <a:spcPts val="0"/>
                        </a:spcAft>
                        <a:buFont typeface="Wingdings"/>
                        <a:buChar char=""/>
                      </a:pPr>
                      <a:r>
                        <a:rPr lang="es-BO" sz="800" dirty="0">
                          <a:effectLst/>
                        </a:rPr>
                        <a:t>Parálisis </a:t>
                      </a:r>
                    </a:p>
                    <a:p>
                      <a:pPr marL="342900" lvl="0" indent="-342900" algn="l">
                        <a:lnSpc>
                          <a:spcPct val="115000"/>
                        </a:lnSpc>
                        <a:spcAft>
                          <a:spcPts val="0"/>
                        </a:spcAft>
                        <a:buFont typeface="Wingdings"/>
                        <a:buChar char=""/>
                      </a:pPr>
                      <a:r>
                        <a:rPr lang="es-BO" sz="800" dirty="0">
                          <a:effectLst/>
                        </a:rPr>
                        <a:t>Pulsos ausentes </a:t>
                      </a:r>
                    </a:p>
                    <a:p>
                      <a:pPr marL="342900" lvl="0" indent="-342900" algn="l">
                        <a:lnSpc>
                          <a:spcPct val="115000"/>
                        </a:lnSpc>
                        <a:spcAft>
                          <a:spcPts val="0"/>
                        </a:spcAft>
                        <a:buFont typeface="Wingdings"/>
                        <a:buChar char=""/>
                      </a:pPr>
                      <a:r>
                        <a:rPr lang="es-BO" sz="800" dirty="0">
                          <a:effectLst/>
                        </a:rPr>
                        <a:t>Palidez </a:t>
                      </a:r>
                    </a:p>
                    <a:p>
                      <a:pPr marL="342900" lvl="0" indent="-342900" algn="l">
                        <a:lnSpc>
                          <a:spcPct val="115000"/>
                        </a:lnSpc>
                        <a:spcAft>
                          <a:spcPts val="1000"/>
                        </a:spcAft>
                        <a:buFont typeface="Wingdings"/>
                        <a:buChar char=""/>
                      </a:pPr>
                      <a:r>
                        <a:rPr lang="es-BO" sz="800" dirty="0">
                          <a:effectLst/>
                        </a:rPr>
                        <a:t>piel fría distal</a:t>
                      </a:r>
                    </a:p>
                    <a:p>
                      <a:pPr algn="l">
                        <a:lnSpc>
                          <a:spcPct val="115000"/>
                        </a:lnSpc>
                        <a:spcAft>
                          <a:spcPts val="1000"/>
                        </a:spcAft>
                      </a:pPr>
                      <a:r>
                        <a:rPr lang="es-BO" sz="800" dirty="0">
                          <a:effectLst/>
                        </a:rPr>
                        <a:t>6.- buscar signos que indiquen  trombosis:</a:t>
                      </a:r>
                    </a:p>
                    <a:p>
                      <a:pPr marL="342900" lvl="0" indent="-342900" algn="l">
                        <a:lnSpc>
                          <a:spcPct val="115000"/>
                        </a:lnSpc>
                        <a:spcAft>
                          <a:spcPts val="0"/>
                        </a:spcAft>
                        <a:buFont typeface="Wingdings"/>
                        <a:buChar char=""/>
                      </a:pPr>
                      <a:r>
                        <a:rPr lang="es-BO" sz="800" dirty="0">
                          <a:effectLst/>
                        </a:rPr>
                        <a:t>Frialdad distal.</a:t>
                      </a:r>
                    </a:p>
                    <a:p>
                      <a:pPr marL="342900" lvl="0" indent="-342900" algn="l">
                        <a:lnSpc>
                          <a:spcPct val="115000"/>
                        </a:lnSpc>
                        <a:spcAft>
                          <a:spcPts val="0"/>
                        </a:spcAft>
                        <a:buFont typeface="Wingdings"/>
                        <a:buChar char=""/>
                      </a:pPr>
                      <a:r>
                        <a:rPr lang="es-BO" sz="800" dirty="0">
                          <a:effectLst/>
                        </a:rPr>
                        <a:t>cianosis</a:t>
                      </a:r>
                    </a:p>
                    <a:p>
                      <a:pPr marL="342900" lvl="0" indent="-342900" algn="l">
                        <a:lnSpc>
                          <a:spcPct val="115000"/>
                        </a:lnSpc>
                        <a:spcAft>
                          <a:spcPts val="1000"/>
                        </a:spcAft>
                        <a:buFont typeface="Wingdings"/>
                        <a:buChar char=""/>
                      </a:pPr>
                      <a:r>
                        <a:rPr lang="es-BO" sz="800" dirty="0">
                          <a:effectLst/>
                        </a:rPr>
                        <a:t>ausencia de </a:t>
                      </a:r>
                      <a:r>
                        <a:rPr lang="es-BO" sz="800" dirty="0" smtClean="0">
                          <a:effectLst/>
                        </a:rPr>
                        <a:t>pulsos</a:t>
                      </a:r>
                      <a:endParaRPr lang="es-BO" sz="800" dirty="0">
                        <a:effectLst/>
                      </a:endParaRPr>
                    </a:p>
                  </a:txBody>
                  <a:tcPr marL="18351" marR="18351" marT="0" marB="0"/>
                </a:tc>
                <a:tc>
                  <a:txBody>
                    <a:bodyPr/>
                    <a:lstStyle/>
                    <a:p>
                      <a:pPr algn="just">
                        <a:spcAft>
                          <a:spcPts val="0"/>
                        </a:spcAft>
                      </a:pPr>
                      <a:r>
                        <a:rPr lang="es-BO" sz="800" dirty="0">
                          <a:effectLst/>
                        </a:rPr>
                        <a:t>1.-la valoración deberá establecer una base  para subsiguientes comparaciones  con el fin de detectar cualquier cambio.</a:t>
                      </a:r>
                    </a:p>
                    <a:p>
                      <a:pPr algn="l">
                        <a:lnSpc>
                          <a:spcPct val="115000"/>
                        </a:lnSpc>
                        <a:spcAft>
                          <a:spcPts val="0"/>
                        </a:spcAft>
                      </a:pPr>
                      <a:r>
                        <a:rPr lang="es-BO" sz="800" dirty="0">
                          <a:effectLst/>
                        </a:rPr>
                        <a:t> </a:t>
                      </a:r>
                    </a:p>
                    <a:p>
                      <a:pPr algn="l">
                        <a:lnSpc>
                          <a:spcPct val="115000"/>
                        </a:lnSpc>
                        <a:spcAft>
                          <a:spcPts val="0"/>
                        </a:spcAft>
                      </a:pPr>
                      <a:r>
                        <a:rPr lang="es-BO" sz="800" dirty="0">
                          <a:effectLst/>
                        </a:rPr>
                        <a:t>2.-  ligera elevación del miembro afectado  favorecerá al mejor retorno venoso, la formación de trombos</a:t>
                      </a:r>
                    </a:p>
                    <a:p>
                      <a:pPr algn="l">
                        <a:lnSpc>
                          <a:spcPct val="115000"/>
                        </a:lnSpc>
                        <a:spcAft>
                          <a:spcPts val="0"/>
                        </a:spcAft>
                      </a:pPr>
                      <a:r>
                        <a:rPr lang="es-BO" sz="800" dirty="0">
                          <a:effectLst/>
                        </a:rPr>
                        <a:t> </a:t>
                      </a:r>
                    </a:p>
                    <a:p>
                      <a:pPr algn="l">
                        <a:lnSpc>
                          <a:spcPct val="115000"/>
                        </a:lnSpc>
                        <a:spcAft>
                          <a:spcPts val="0"/>
                        </a:spcAft>
                      </a:pPr>
                      <a:r>
                        <a:rPr lang="es-BO" sz="800" dirty="0">
                          <a:effectLst/>
                        </a:rPr>
                        <a:t>3.- la posición recostada favorece el drenaje venoso.</a:t>
                      </a:r>
                    </a:p>
                    <a:p>
                      <a:pPr algn="l">
                        <a:lnSpc>
                          <a:spcPct val="115000"/>
                        </a:lnSpc>
                        <a:spcAft>
                          <a:spcPts val="0"/>
                        </a:spcAft>
                      </a:pPr>
                      <a:r>
                        <a:rPr lang="es-BO" sz="800" dirty="0">
                          <a:effectLst/>
                        </a:rPr>
                        <a:t> </a:t>
                      </a:r>
                    </a:p>
                    <a:p>
                      <a:pPr algn="l">
                        <a:lnSpc>
                          <a:spcPct val="115000"/>
                        </a:lnSpc>
                        <a:spcAft>
                          <a:spcPts val="0"/>
                        </a:spcAft>
                      </a:pPr>
                      <a:r>
                        <a:rPr lang="es-BO" sz="800" dirty="0">
                          <a:effectLst/>
                        </a:rPr>
                        <a:t>4.- la administración de analgésico  tiene la finalidad de disminuir el dolor en  el post- operatorio</a:t>
                      </a:r>
                    </a:p>
                    <a:p>
                      <a:pPr algn="l">
                        <a:lnSpc>
                          <a:spcPct val="115000"/>
                        </a:lnSpc>
                        <a:spcAft>
                          <a:spcPts val="1000"/>
                        </a:spcAft>
                      </a:pPr>
                      <a:r>
                        <a:rPr lang="es-BO" sz="800" dirty="0">
                          <a:effectLst/>
                        </a:rPr>
                        <a:t>5.-</a:t>
                      </a:r>
                    </a:p>
                    <a:p>
                      <a:pPr algn="l">
                        <a:lnSpc>
                          <a:spcPct val="115000"/>
                        </a:lnSpc>
                        <a:spcAft>
                          <a:spcPts val="1000"/>
                        </a:spcAft>
                      </a:pPr>
                      <a:r>
                        <a:rPr lang="es-ES" sz="800" dirty="0">
                          <a:effectLst/>
                        </a:rPr>
                        <a:t>Dolor : es el síntoma más sensible</a:t>
                      </a:r>
                      <a:endParaRPr lang="es-BO" sz="800" dirty="0">
                        <a:effectLst/>
                      </a:endParaRPr>
                    </a:p>
                    <a:p>
                      <a:pPr algn="l">
                        <a:lnSpc>
                          <a:spcPct val="115000"/>
                        </a:lnSpc>
                        <a:spcAft>
                          <a:spcPts val="1000"/>
                        </a:spcAft>
                      </a:pPr>
                      <a:r>
                        <a:rPr lang="es-ES" sz="800" dirty="0">
                          <a:effectLst/>
                        </a:rPr>
                        <a:t>Tensión: es la tensión de los compartimentos durante la palpación de la extremidad.</a:t>
                      </a:r>
                      <a:endParaRPr lang="es-BO" sz="800" dirty="0">
                        <a:effectLst/>
                      </a:endParaRPr>
                    </a:p>
                    <a:p>
                      <a:pPr algn="l">
                        <a:lnSpc>
                          <a:spcPct val="115000"/>
                        </a:lnSpc>
                        <a:spcAft>
                          <a:spcPts val="1000"/>
                        </a:spcAft>
                      </a:pPr>
                      <a:r>
                        <a:rPr lang="es-ES" sz="800" dirty="0">
                          <a:effectLst/>
                        </a:rPr>
                        <a:t>Parestesia: es uno de los síntomas más importante y uno de los primeros en ser identificados al examen.</a:t>
                      </a:r>
                      <a:endParaRPr lang="es-BO" sz="800" dirty="0">
                        <a:effectLst/>
                      </a:endParaRPr>
                    </a:p>
                    <a:p>
                      <a:pPr algn="l">
                        <a:lnSpc>
                          <a:spcPct val="115000"/>
                        </a:lnSpc>
                        <a:spcAft>
                          <a:spcPts val="1000"/>
                        </a:spcAft>
                      </a:pPr>
                      <a:r>
                        <a:rPr lang="es-ES" sz="800" dirty="0">
                          <a:effectLst/>
                        </a:rPr>
                        <a:t>Parálisis: se presenta por la compresión prolongada o el daño muscular irreversible, y cuando se da es indicación de que se hizo un diagnóstico tardío</a:t>
                      </a:r>
                      <a:endParaRPr lang="es-BO" sz="800" dirty="0">
                        <a:effectLst/>
                      </a:endParaRPr>
                    </a:p>
                    <a:p>
                      <a:pPr algn="l">
                        <a:lnSpc>
                          <a:spcPct val="115000"/>
                        </a:lnSpc>
                        <a:spcAft>
                          <a:spcPts val="1000"/>
                        </a:spcAft>
                      </a:pPr>
                      <a:r>
                        <a:rPr lang="es-ES" sz="800" dirty="0">
                          <a:effectLst/>
                        </a:rPr>
                        <a:t>Pulsos ausentes: es un signo clínico que no se presenta si se hace un diagnostico precoz de lesión vascular y de síndrome de </a:t>
                      </a:r>
                      <a:r>
                        <a:rPr lang="es-ES" sz="800" dirty="0" err="1">
                          <a:effectLst/>
                        </a:rPr>
                        <a:t>compartimental</a:t>
                      </a:r>
                      <a:r>
                        <a:rPr lang="es-ES" sz="800" dirty="0">
                          <a:effectLst/>
                        </a:rPr>
                        <a:t> a tiempo, ya que la ausencia de pulso se presenta solo en estadios tardíos del síndrome </a:t>
                      </a:r>
                      <a:r>
                        <a:rPr lang="es-ES" sz="800" dirty="0" err="1">
                          <a:effectLst/>
                        </a:rPr>
                        <a:t>compartimental</a:t>
                      </a:r>
                      <a:r>
                        <a:rPr lang="es-ES" sz="800" dirty="0">
                          <a:effectLst/>
                        </a:rPr>
                        <a:t>.</a:t>
                      </a:r>
                      <a:endParaRPr lang="es-BO" sz="800" dirty="0">
                        <a:effectLst/>
                      </a:endParaRPr>
                    </a:p>
                    <a:p>
                      <a:pPr algn="just">
                        <a:lnSpc>
                          <a:spcPct val="115000"/>
                        </a:lnSpc>
                        <a:spcAft>
                          <a:spcPts val="0"/>
                        </a:spcAft>
                      </a:pPr>
                      <a:r>
                        <a:rPr lang="es-ES" sz="800" dirty="0">
                          <a:effectLst/>
                        </a:rPr>
                        <a:t>Palidez: Se presenta cuando hay lesión vascular arterial, se encuentra la extremidad distal con palidez y frialdad.</a:t>
                      </a:r>
                      <a:endParaRPr lang="es-BO" sz="800" dirty="0">
                        <a:effectLst/>
                      </a:endParaRPr>
                    </a:p>
                    <a:p>
                      <a:pPr algn="l">
                        <a:lnSpc>
                          <a:spcPct val="115000"/>
                        </a:lnSpc>
                        <a:spcAft>
                          <a:spcPts val="0"/>
                        </a:spcAft>
                      </a:pPr>
                      <a:r>
                        <a:rPr lang="es-BO" sz="800" dirty="0">
                          <a:effectLst/>
                        </a:rPr>
                        <a:t>7.-el control </a:t>
                      </a:r>
                      <a:r>
                        <a:rPr lang="es-BO" sz="800" dirty="0" err="1">
                          <a:effectLst/>
                        </a:rPr>
                        <a:t>neurocirculatorio</a:t>
                      </a:r>
                      <a:r>
                        <a:rPr lang="es-BO" sz="800" dirty="0">
                          <a:effectLst/>
                        </a:rPr>
                        <a:t> tiene el objetivo de valorar  la circulación  de la sangre.</a:t>
                      </a:r>
                    </a:p>
                    <a:p>
                      <a:pPr algn="l">
                        <a:lnSpc>
                          <a:spcPct val="115000"/>
                        </a:lnSpc>
                        <a:spcAft>
                          <a:spcPts val="0"/>
                        </a:spcAft>
                      </a:pPr>
                      <a:r>
                        <a:rPr lang="es-BO" sz="800" dirty="0">
                          <a:effectLst/>
                        </a:rPr>
                        <a:t> </a:t>
                      </a:r>
                    </a:p>
                  </a:txBody>
                  <a:tcPr marL="18351" marR="18351" marT="0" marB="0"/>
                </a:tc>
              </a:tr>
            </a:tbl>
          </a:graphicData>
        </a:graphic>
      </p:graphicFrame>
      <p:sp>
        <p:nvSpPr>
          <p:cNvPr id="7" name="1 Título"/>
          <p:cNvSpPr txBox="1">
            <a:spLocks/>
          </p:cNvSpPr>
          <p:nvPr/>
        </p:nvSpPr>
        <p:spPr>
          <a:xfrm>
            <a:off x="1979712" y="-27384"/>
            <a:ext cx="7125113" cy="50405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200" kern="1200">
                <a:solidFill>
                  <a:schemeClr val="tx1"/>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2000" b="1" dirty="0" smtClean="0"/>
              <a:t>PATRON DE ACTIVIDAD Y EJERCICIO</a:t>
            </a:r>
            <a:endParaRPr lang="es-BO" sz="2000" dirty="0"/>
          </a:p>
        </p:txBody>
      </p:sp>
    </p:spTree>
    <p:extLst>
      <p:ext uri="{BB962C8B-B14F-4D97-AF65-F5344CB8AC3E}">
        <p14:creationId xmlns:p14="http://schemas.microsoft.com/office/powerpoint/2010/main" val="17506272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623351" y="332656"/>
            <a:ext cx="7125113" cy="504056"/>
          </a:xfrm>
        </p:spPr>
        <p:txBody>
          <a:bodyPr/>
          <a:lstStyle/>
          <a:p>
            <a:r>
              <a:rPr lang="es-ES" sz="2000" b="1" dirty="0"/>
              <a:t>PATRON DE ACTIVIDAD Y EJERCICIO</a:t>
            </a:r>
            <a:endParaRPr lang="es-BO" sz="20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393435944"/>
              </p:ext>
            </p:extLst>
          </p:nvPr>
        </p:nvGraphicFramePr>
        <p:xfrm>
          <a:off x="323528" y="908720"/>
          <a:ext cx="8424936" cy="5305552"/>
        </p:xfrm>
        <a:graphic>
          <a:graphicData uri="http://schemas.openxmlformats.org/drawingml/2006/table">
            <a:tbl>
              <a:tblPr firstRow="1" firstCol="1" bandRow="1">
                <a:tableStyleId>{5C22544A-7EE6-4342-B048-85BDC9FD1C3A}</a:tableStyleId>
              </a:tblPr>
              <a:tblGrid>
                <a:gridCol w="1608965"/>
                <a:gridCol w="1367279"/>
                <a:gridCol w="2090632"/>
                <a:gridCol w="2171194"/>
                <a:gridCol w="1186866"/>
              </a:tblGrid>
              <a:tr h="51586">
                <a:tc>
                  <a:txBody>
                    <a:bodyPr/>
                    <a:lstStyle/>
                    <a:p>
                      <a:pPr algn="ctr">
                        <a:lnSpc>
                          <a:spcPct val="115000"/>
                        </a:lnSpc>
                        <a:spcAft>
                          <a:spcPts val="0"/>
                        </a:spcAft>
                      </a:pPr>
                      <a:r>
                        <a:rPr lang="es-BO" sz="900" dirty="0">
                          <a:effectLst/>
                        </a:rPr>
                        <a:t>DXENFERMERÍA</a:t>
                      </a:r>
                      <a:endParaRPr lang="es-BO" sz="900" dirty="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OBJETIVO</a:t>
                      </a:r>
                      <a:endParaRPr lang="es-BO" sz="9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INTERVENCIONES</a:t>
                      </a:r>
                      <a:endParaRPr lang="es-BO" sz="9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PRINCIPIO CIENTÍFICO</a:t>
                      </a:r>
                      <a:endParaRPr lang="es-BO" sz="900">
                        <a:effectLst/>
                        <a:latin typeface="Calibri"/>
                        <a:ea typeface="Calibri"/>
                        <a:cs typeface="Times New Roman"/>
                      </a:endParaRPr>
                    </a:p>
                  </a:txBody>
                  <a:tcPr marL="18351" marR="18351" marT="0" marB="0"/>
                </a:tc>
                <a:tc>
                  <a:txBody>
                    <a:bodyPr/>
                    <a:lstStyle/>
                    <a:p>
                      <a:pPr algn="ctr">
                        <a:lnSpc>
                          <a:spcPct val="115000"/>
                        </a:lnSpc>
                        <a:spcAft>
                          <a:spcPts val="0"/>
                        </a:spcAft>
                      </a:pPr>
                      <a:r>
                        <a:rPr lang="es-BO" sz="900">
                          <a:effectLst/>
                        </a:rPr>
                        <a:t>EVALUACIÓN</a:t>
                      </a:r>
                      <a:endParaRPr lang="es-BO" sz="900">
                        <a:effectLst/>
                        <a:latin typeface="Calibri"/>
                        <a:ea typeface="Calibri"/>
                        <a:cs typeface="Times New Roman"/>
                      </a:endParaRPr>
                    </a:p>
                  </a:txBody>
                  <a:tcPr marL="18351" marR="18351" marT="0" marB="0"/>
                </a:tc>
              </a:tr>
              <a:tr h="4001302">
                <a:tc>
                  <a:txBody>
                    <a:bodyPr/>
                    <a:lstStyle/>
                    <a:p>
                      <a:pPr algn="just">
                        <a:lnSpc>
                          <a:spcPct val="115000"/>
                        </a:lnSpc>
                        <a:spcAft>
                          <a:spcPts val="0"/>
                        </a:spcAft>
                      </a:pPr>
                      <a:endParaRPr lang="es-BO" sz="900" dirty="0">
                        <a:effectLst/>
                      </a:endParaRP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endParaRPr lang="es-BO" sz="900" dirty="0">
                        <a:effectLst/>
                        <a:latin typeface="Calibri"/>
                        <a:ea typeface="Calibri"/>
                        <a:cs typeface="Times New Roman"/>
                      </a:endParaRPr>
                    </a:p>
                  </a:txBody>
                  <a:tcPr marL="18351" marR="18351" marT="0" marB="0"/>
                </a:tc>
                <a:tc>
                  <a:txBody>
                    <a:bodyPr/>
                    <a:lstStyle/>
                    <a:p>
                      <a:pPr algn="just">
                        <a:lnSpc>
                          <a:spcPct val="115000"/>
                        </a:lnSpc>
                        <a:spcAft>
                          <a:spcPts val="0"/>
                        </a:spcAft>
                      </a:pPr>
                      <a:endParaRPr lang="es-BO" sz="900" dirty="0">
                        <a:effectLst/>
                        <a:latin typeface="Calibri"/>
                        <a:ea typeface="Calibri"/>
                        <a:cs typeface="Times New Roman"/>
                      </a:endParaRPr>
                    </a:p>
                  </a:txBody>
                  <a:tcPr marL="18351" marR="18351" marT="0" marB="0"/>
                </a:tc>
                <a:tc>
                  <a:txBody>
                    <a:bodyPr/>
                    <a:lstStyle/>
                    <a:p>
                      <a:pPr algn="l">
                        <a:lnSpc>
                          <a:spcPct val="115000"/>
                        </a:lnSpc>
                        <a:spcAft>
                          <a:spcPts val="1000"/>
                        </a:spcAft>
                      </a:pPr>
                      <a:r>
                        <a:rPr lang="es-BO" sz="900" dirty="0" smtClean="0">
                          <a:effectLst/>
                        </a:rPr>
                        <a:t>7</a:t>
                      </a:r>
                      <a:r>
                        <a:rPr lang="es-BO" sz="900" dirty="0">
                          <a:effectLst/>
                        </a:rPr>
                        <a:t>.-valorar </a:t>
                      </a:r>
                      <a:r>
                        <a:rPr lang="es-BO" sz="900" dirty="0" err="1">
                          <a:effectLst/>
                        </a:rPr>
                        <a:t>neurocirculatorio</a:t>
                      </a:r>
                      <a:r>
                        <a:rPr lang="es-BO" sz="900" dirty="0">
                          <a:effectLst/>
                        </a:rPr>
                        <a:t> cada dos  horas:</a:t>
                      </a:r>
                    </a:p>
                    <a:p>
                      <a:pPr marL="342900" lvl="0" indent="-342900" algn="l">
                        <a:lnSpc>
                          <a:spcPct val="115000"/>
                        </a:lnSpc>
                        <a:spcAft>
                          <a:spcPts val="0"/>
                        </a:spcAft>
                        <a:buFont typeface="Wingdings"/>
                        <a:buChar char=""/>
                      </a:pPr>
                      <a:r>
                        <a:rPr lang="es-BO" sz="900" dirty="0">
                          <a:effectLst/>
                        </a:rPr>
                        <a:t>Llenado capilar</a:t>
                      </a:r>
                    </a:p>
                    <a:p>
                      <a:pPr marL="342900" lvl="0" indent="-342900" algn="l">
                        <a:lnSpc>
                          <a:spcPct val="115000"/>
                        </a:lnSpc>
                        <a:spcAft>
                          <a:spcPts val="0"/>
                        </a:spcAft>
                        <a:buFont typeface="Wingdings"/>
                        <a:buChar char=""/>
                      </a:pPr>
                      <a:r>
                        <a:rPr lang="es-BO" sz="900" dirty="0">
                          <a:effectLst/>
                        </a:rPr>
                        <a:t>Sensibilidad con  una aguja</a:t>
                      </a:r>
                    </a:p>
                    <a:p>
                      <a:pPr marL="342900" lvl="0" indent="-342900" algn="l">
                        <a:lnSpc>
                          <a:spcPct val="115000"/>
                        </a:lnSpc>
                        <a:spcAft>
                          <a:spcPts val="1000"/>
                        </a:spcAft>
                        <a:buFont typeface="Wingdings"/>
                        <a:buChar char=""/>
                      </a:pPr>
                      <a:r>
                        <a:rPr lang="es-BO" sz="900" dirty="0">
                          <a:effectLst/>
                        </a:rPr>
                        <a:t>Movimientos</a:t>
                      </a:r>
                    </a:p>
                    <a:p>
                      <a:pPr algn="l">
                        <a:lnSpc>
                          <a:spcPct val="115000"/>
                        </a:lnSpc>
                        <a:spcAft>
                          <a:spcPts val="1000"/>
                        </a:spcAft>
                      </a:pPr>
                      <a:r>
                        <a:rPr lang="es-BO" sz="900" dirty="0">
                          <a:effectLst/>
                        </a:rPr>
                        <a:t>8.-no masajear  en el miembro  afectado miembro inferior derecho.</a:t>
                      </a:r>
                    </a:p>
                    <a:p>
                      <a:pPr algn="l">
                        <a:lnSpc>
                          <a:spcPct val="115000"/>
                        </a:lnSpc>
                        <a:spcAft>
                          <a:spcPts val="1000"/>
                        </a:spcAft>
                      </a:pPr>
                      <a:r>
                        <a:rPr lang="es-BO" sz="900" dirty="0">
                          <a:effectLst/>
                        </a:rPr>
                        <a:t>9.- medir  la circunferencia  de la pierna 10cm por arriba  y por debajo de la rodilla. Informar inmediatamente  cualquier aumento.</a:t>
                      </a:r>
                    </a:p>
                    <a:p>
                      <a:pPr algn="l">
                        <a:lnSpc>
                          <a:spcPct val="115000"/>
                        </a:lnSpc>
                        <a:spcAft>
                          <a:spcPts val="1000"/>
                        </a:spcAft>
                      </a:pPr>
                      <a:r>
                        <a:rPr lang="es-BO" sz="900" dirty="0">
                          <a:effectLst/>
                        </a:rPr>
                        <a:t>10.- paciente con alta probabilidad de  trombosis venosa – embolia pulmonar, buscar  signos y síntomas  de embolia pulmonar: </a:t>
                      </a:r>
                    </a:p>
                    <a:p>
                      <a:pPr marL="342900" lvl="0" indent="-342900" algn="l">
                        <a:lnSpc>
                          <a:spcPct val="115000"/>
                        </a:lnSpc>
                        <a:spcAft>
                          <a:spcPts val="0"/>
                        </a:spcAft>
                        <a:buFont typeface="Wingdings"/>
                        <a:buChar char=""/>
                      </a:pPr>
                      <a:r>
                        <a:rPr lang="es-BO" sz="900" dirty="0">
                          <a:effectLst/>
                        </a:rPr>
                        <a:t>dolor torácico </a:t>
                      </a:r>
                    </a:p>
                    <a:p>
                      <a:pPr marL="342900" lvl="0" indent="-342900" algn="l">
                        <a:lnSpc>
                          <a:spcPct val="115000"/>
                        </a:lnSpc>
                        <a:spcAft>
                          <a:spcPts val="0"/>
                        </a:spcAft>
                        <a:buFont typeface="Wingdings"/>
                        <a:buChar char=""/>
                      </a:pPr>
                      <a:r>
                        <a:rPr lang="es-BO" sz="900" dirty="0">
                          <a:effectLst/>
                        </a:rPr>
                        <a:t>taquicardia </a:t>
                      </a:r>
                    </a:p>
                    <a:p>
                      <a:pPr marL="342900" lvl="0" indent="-342900" algn="l">
                        <a:lnSpc>
                          <a:spcPct val="115000"/>
                        </a:lnSpc>
                        <a:spcAft>
                          <a:spcPts val="0"/>
                        </a:spcAft>
                        <a:buFont typeface="Wingdings"/>
                        <a:buChar char=""/>
                      </a:pPr>
                      <a:r>
                        <a:rPr lang="es-BO" sz="900" dirty="0">
                          <a:effectLst/>
                        </a:rPr>
                        <a:t>disnea </a:t>
                      </a:r>
                    </a:p>
                    <a:p>
                      <a:pPr marL="342900" lvl="0" indent="-342900" algn="l">
                        <a:lnSpc>
                          <a:spcPct val="115000"/>
                        </a:lnSpc>
                        <a:spcAft>
                          <a:spcPts val="0"/>
                        </a:spcAft>
                        <a:buFont typeface="Wingdings"/>
                        <a:buChar char=""/>
                      </a:pPr>
                      <a:r>
                        <a:rPr lang="es-BO" sz="900" dirty="0">
                          <a:effectLst/>
                        </a:rPr>
                        <a:t>palidez</a:t>
                      </a:r>
                    </a:p>
                    <a:p>
                      <a:pPr marL="342900" lvl="0" indent="-342900" algn="l">
                        <a:lnSpc>
                          <a:spcPct val="115000"/>
                        </a:lnSpc>
                        <a:spcAft>
                          <a:spcPts val="0"/>
                        </a:spcAft>
                        <a:buFont typeface="Wingdings"/>
                        <a:buChar char=""/>
                      </a:pPr>
                      <a:r>
                        <a:rPr lang="es-BO" sz="900" dirty="0">
                          <a:effectLst/>
                        </a:rPr>
                        <a:t>agitación </a:t>
                      </a:r>
                    </a:p>
                    <a:p>
                      <a:pPr marL="342900" lvl="0" indent="-342900" algn="l">
                        <a:lnSpc>
                          <a:spcPct val="115000"/>
                        </a:lnSpc>
                        <a:spcAft>
                          <a:spcPts val="1000"/>
                        </a:spcAft>
                        <a:buFont typeface="Wingdings"/>
                        <a:buChar char=""/>
                      </a:pPr>
                      <a:r>
                        <a:rPr lang="es-BO" sz="900" dirty="0">
                          <a:effectLst/>
                        </a:rPr>
                        <a:t>descenso de la p O2</a:t>
                      </a:r>
                    </a:p>
                    <a:p>
                      <a:pPr algn="l">
                        <a:lnSpc>
                          <a:spcPct val="115000"/>
                        </a:lnSpc>
                        <a:spcAft>
                          <a:spcPts val="1000"/>
                        </a:spcAft>
                      </a:pPr>
                      <a:r>
                        <a:rPr lang="es-BO" sz="900" dirty="0">
                          <a:effectLst/>
                        </a:rPr>
                        <a:t>11.-decir al paciente  que notifique  inmediatamente cualquier  dolor torácico.</a:t>
                      </a:r>
                    </a:p>
                    <a:p>
                      <a:pPr algn="just">
                        <a:lnSpc>
                          <a:spcPct val="115000"/>
                        </a:lnSpc>
                        <a:spcAft>
                          <a:spcPts val="1000"/>
                        </a:spcAft>
                      </a:pPr>
                      <a:r>
                        <a:rPr lang="es-BO" sz="900" dirty="0">
                          <a:effectLst/>
                        </a:rPr>
                        <a:t>12.-administrar </a:t>
                      </a:r>
                      <a:r>
                        <a:rPr lang="es-BO" sz="900" dirty="0" err="1">
                          <a:effectLst/>
                        </a:rPr>
                        <a:t>antiguagulantes</a:t>
                      </a:r>
                      <a:r>
                        <a:rPr lang="es-BO" sz="900" dirty="0">
                          <a:effectLst/>
                        </a:rPr>
                        <a:t> según prescripción médica.</a:t>
                      </a:r>
                      <a:endParaRPr lang="es-BO" sz="900" dirty="0">
                        <a:effectLst/>
                        <a:latin typeface="Calibri"/>
                        <a:ea typeface="Calibri"/>
                        <a:cs typeface="Times New Roman"/>
                      </a:endParaRPr>
                    </a:p>
                  </a:txBody>
                  <a:tcPr marL="18351" marR="18351" marT="0" marB="0"/>
                </a:tc>
                <a:tc>
                  <a:txBody>
                    <a:bodyPr/>
                    <a:lstStyle/>
                    <a:p>
                      <a:pPr algn="l">
                        <a:lnSpc>
                          <a:spcPct val="115000"/>
                        </a:lnSpc>
                        <a:spcAft>
                          <a:spcPts val="0"/>
                        </a:spcAft>
                      </a:pPr>
                      <a:r>
                        <a:rPr lang="es-BO" sz="900" dirty="0">
                          <a:effectLst/>
                        </a:rPr>
                        <a:t> </a:t>
                      </a:r>
                    </a:p>
                    <a:p>
                      <a:pPr algn="l">
                        <a:lnSpc>
                          <a:spcPct val="115000"/>
                        </a:lnSpc>
                        <a:spcAft>
                          <a:spcPts val="0"/>
                        </a:spcAft>
                      </a:pPr>
                      <a:r>
                        <a:rPr lang="es-BO" sz="900" dirty="0">
                          <a:effectLst/>
                        </a:rPr>
                        <a:t>8.- el masaje puede desplazar el coagulo.</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9.-esta medida ayuda a seguir  la posible progresión del coagulo y  el incremento  entre compartimientos.</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 </a:t>
                      </a:r>
                    </a:p>
                    <a:p>
                      <a:pPr algn="l">
                        <a:lnSpc>
                          <a:spcPct val="115000"/>
                        </a:lnSpc>
                        <a:spcAft>
                          <a:spcPts val="0"/>
                        </a:spcAft>
                      </a:pPr>
                      <a:r>
                        <a:rPr lang="es-BO" sz="900" dirty="0">
                          <a:effectLst/>
                        </a:rPr>
                        <a:t>10- estos signos  y síntomas  pueden indicar obstrucción en el sistema arterial pulmonar,  debido a un coagulo  originado  en una vena periférica.</a:t>
                      </a:r>
                    </a:p>
                    <a:p>
                      <a:pPr algn="l">
                        <a:lnSpc>
                          <a:spcPct val="115000"/>
                        </a:lnSpc>
                        <a:spcAft>
                          <a:spcPts val="0"/>
                        </a:spcAft>
                      </a:pPr>
                      <a:r>
                        <a:rPr lang="es-BO" sz="900" dirty="0">
                          <a:effectLst/>
                        </a:rPr>
                        <a:t>11.-la rápida notificación  permite  una pronta evaluación  y tratamiento.</a:t>
                      </a:r>
                    </a:p>
                    <a:p>
                      <a:pPr algn="just">
                        <a:lnSpc>
                          <a:spcPct val="115000"/>
                        </a:lnSpc>
                        <a:spcAft>
                          <a:spcPts val="0"/>
                        </a:spcAft>
                      </a:pPr>
                      <a:r>
                        <a:rPr lang="es-BO" sz="900" dirty="0">
                          <a:effectLst/>
                        </a:rPr>
                        <a:t>12.-la  administración de anticoagulantes prevendrá la formación de trombos.</a:t>
                      </a:r>
                      <a:endParaRPr lang="es-BO" sz="900" dirty="0">
                        <a:effectLst/>
                        <a:latin typeface="Calibri"/>
                        <a:ea typeface="Calibri"/>
                        <a:cs typeface="Times New Roman"/>
                      </a:endParaRPr>
                    </a:p>
                  </a:txBody>
                  <a:tcPr marL="18351" marR="18351" marT="0" marB="0"/>
                </a:tc>
                <a:tc>
                  <a:txBody>
                    <a:bodyPr/>
                    <a:lstStyle/>
                    <a:p>
                      <a:pPr algn="just">
                        <a:lnSpc>
                          <a:spcPct val="115000"/>
                        </a:lnSpc>
                        <a:spcAft>
                          <a:spcPts val="0"/>
                        </a:spcAft>
                      </a:pPr>
                      <a:endParaRPr lang="es-BO" sz="900" dirty="0">
                        <a:effectLst/>
                        <a:latin typeface="Calibri"/>
                        <a:ea typeface="Calibri"/>
                        <a:cs typeface="Times New Roman"/>
                      </a:endParaRPr>
                    </a:p>
                  </a:txBody>
                  <a:tcPr marL="18351" marR="18351" marT="0" marB="0"/>
                </a:tc>
              </a:tr>
            </a:tbl>
          </a:graphicData>
        </a:graphic>
      </p:graphicFrame>
    </p:spTree>
    <p:extLst>
      <p:ext uri="{BB962C8B-B14F-4D97-AF65-F5344CB8AC3E}">
        <p14:creationId xmlns:p14="http://schemas.microsoft.com/office/powerpoint/2010/main" val="34403760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05586" y="27652"/>
            <a:ext cx="4426654" cy="521028"/>
          </a:xfrm>
        </p:spPr>
        <p:txBody>
          <a:bodyPr/>
          <a:lstStyle/>
          <a:p>
            <a:r>
              <a:rPr lang="es-ES" sz="1800" b="1" dirty="0"/>
              <a:t>PATRON DE DESCANSO Y SUEÑO</a:t>
            </a:r>
            <a:r>
              <a:rPr lang="es-BO" sz="1800" dirty="0"/>
              <a:t/>
            </a:r>
            <a:br>
              <a:rPr lang="es-BO" sz="1800" dirty="0"/>
            </a:br>
            <a:endParaRPr lang="es-BO" sz="18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789117124"/>
              </p:ext>
            </p:extLst>
          </p:nvPr>
        </p:nvGraphicFramePr>
        <p:xfrm>
          <a:off x="611560" y="476672"/>
          <a:ext cx="7992888" cy="6189028"/>
        </p:xfrm>
        <a:graphic>
          <a:graphicData uri="http://schemas.openxmlformats.org/drawingml/2006/table">
            <a:tbl>
              <a:tblPr firstRow="1" firstCol="1" bandRow="1">
                <a:tableStyleId>{5C22544A-7EE6-4342-B048-85BDC9FD1C3A}</a:tableStyleId>
              </a:tblPr>
              <a:tblGrid>
                <a:gridCol w="1509907"/>
                <a:gridCol w="1014232"/>
                <a:gridCol w="3059046"/>
                <a:gridCol w="2409703"/>
              </a:tblGrid>
              <a:tr h="122075">
                <a:tc>
                  <a:txBody>
                    <a:bodyPr/>
                    <a:lstStyle/>
                    <a:p>
                      <a:pPr algn="just">
                        <a:lnSpc>
                          <a:spcPct val="150000"/>
                        </a:lnSpc>
                        <a:spcAft>
                          <a:spcPts val="0"/>
                        </a:spcAft>
                      </a:pPr>
                      <a:r>
                        <a:rPr lang="es-ES" sz="900" dirty="0">
                          <a:effectLst/>
                        </a:rPr>
                        <a:t>DX ENFERMERÍA</a:t>
                      </a:r>
                      <a:endParaRPr lang="es-BO" sz="900" dirty="0">
                        <a:effectLst/>
                        <a:latin typeface="Calibri"/>
                        <a:ea typeface="Calibri"/>
                        <a:cs typeface="Times New Roman"/>
                      </a:endParaRPr>
                    </a:p>
                  </a:txBody>
                  <a:tcPr marL="30519" marR="30519" marT="0" marB="0"/>
                </a:tc>
                <a:tc>
                  <a:txBody>
                    <a:bodyPr/>
                    <a:lstStyle/>
                    <a:p>
                      <a:pPr algn="just">
                        <a:lnSpc>
                          <a:spcPct val="150000"/>
                        </a:lnSpc>
                        <a:spcAft>
                          <a:spcPts val="0"/>
                        </a:spcAft>
                      </a:pPr>
                      <a:r>
                        <a:rPr lang="es-ES" sz="900">
                          <a:effectLst/>
                        </a:rPr>
                        <a:t>OBJETIVO</a:t>
                      </a:r>
                      <a:endParaRPr lang="es-BO" sz="900">
                        <a:effectLst/>
                        <a:latin typeface="Calibri"/>
                        <a:ea typeface="Calibri"/>
                        <a:cs typeface="Times New Roman"/>
                      </a:endParaRPr>
                    </a:p>
                  </a:txBody>
                  <a:tcPr marL="30519" marR="30519" marT="0" marB="0"/>
                </a:tc>
                <a:tc>
                  <a:txBody>
                    <a:bodyPr/>
                    <a:lstStyle/>
                    <a:p>
                      <a:pPr algn="just">
                        <a:lnSpc>
                          <a:spcPct val="150000"/>
                        </a:lnSpc>
                        <a:spcAft>
                          <a:spcPts val="0"/>
                        </a:spcAft>
                      </a:pPr>
                      <a:r>
                        <a:rPr lang="es-ES" sz="900">
                          <a:effectLst/>
                        </a:rPr>
                        <a:t>INTERVENCIONES</a:t>
                      </a:r>
                      <a:endParaRPr lang="es-BO" sz="900">
                        <a:effectLst/>
                        <a:latin typeface="Calibri"/>
                        <a:ea typeface="Calibri"/>
                        <a:cs typeface="Times New Roman"/>
                      </a:endParaRPr>
                    </a:p>
                  </a:txBody>
                  <a:tcPr marL="30519" marR="30519" marT="0" marB="0"/>
                </a:tc>
                <a:tc>
                  <a:txBody>
                    <a:bodyPr/>
                    <a:lstStyle/>
                    <a:p>
                      <a:pPr algn="just">
                        <a:lnSpc>
                          <a:spcPct val="150000"/>
                        </a:lnSpc>
                        <a:spcAft>
                          <a:spcPts val="0"/>
                        </a:spcAft>
                      </a:pPr>
                      <a:r>
                        <a:rPr lang="es-ES" sz="900">
                          <a:effectLst/>
                        </a:rPr>
                        <a:t>PRINCIPIO CIENTÍFICO</a:t>
                      </a:r>
                      <a:endParaRPr lang="es-BO" sz="900">
                        <a:effectLst/>
                        <a:latin typeface="Calibri"/>
                        <a:ea typeface="Calibri"/>
                        <a:cs typeface="Times New Roman"/>
                      </a:endParaRPr>
                    </a:p>
                  </a:txBody>
                  <a:tcPr marL="30519" marR="30519" marT="0" marB="0"/>
                </a:tc>
              </a:tr>
              <a:tr h="3930813">
                <a:tc>
                  <a:txBody>
                    <a:bodyPr/>
                    <a:lstStyle/>
                    <a:p>
                      <a:pPr algn="just">
                        <a:lnSpc>
                          <a:spcPct val="115000"/>
                        </a:lnSpc>
                        <a:spcAft>
                          <a:spcPts val="0"/>
                        </a:spcAft>
                      </a:pPr>
                      <a:r>
                        <a:rPr lang="es-ES" sz="900">
                          <a:effectLst/>
                        </a:rPr>
                        <a:t>Real alteración  del patrón de sueño relacionados al dolor y factores del entorno (p.ej., ruido ambiental, exposición</a:t>
                      </a:r>
                      <a:endParaRPr lang="es-BO" sz="900">
                        <a:effectLst/>
                      </a:endParaRPr>
                    </a:p>
                    <a:p>
                      <a:pPr algn="just">
                        <a:lnSpc>
                          <a:spcPct val="115000"/>
                        </a:lnSpc>
                        <a:spcAft>
                          <a:spcPts val="0"/>
                        </a:spcAft>
                      </a:pPr>
                      <a:r>
                        <a:rPr lang="es-ES" sz="900">
                          <a:effectLst/>
                        </a:rPr>
                        <a:t>a la luz del día, /oscuridad, temperatura/humedad</a:t>
                      </a:r>
                      <a:endParaRPr lang="es-BO" sz="900">
                        <a:effectLst/>
                      </a:endParaRPr>
                    </a:p>
                    <a:p>
                      <a:pPr algn="just">
                        <a:lnSpc>
                          <a:spcPct val="115000"/>
                        </a:lnSpc>
                        <a:spcAft>
                          <a:spcPts val="0"/>
                        </a:spcAft>
                      </a:pPr>
                      <a:r>
                        <a:rPr lang="es-ES" sz="900">
                          <a:effectLst/>
                        </a:rPr>
                        <a:t>Ambiental, entorno no familiar).</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latin typeface="Calibri"/>
                        <a:ea typeface="Calibri"/>
                        <a:cs typeface="Times New Roman"/>
                      </a:endParaRPr>
                    </a:p>
                  </a:txBody>
                  <a:tcPr marL="30519" marR="30519" marT="0" marB="0"/>
                </a:tc>
                <a:tc>
                  <a:txBody>
                    <a:bodyPr/>
                    <a:lstStyle/>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Favorecer las horas de sueño en la paciente durante su tiempo de internación </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endParaRPr>
                    </a:p>
                    <a:p>
                      <a:pPr algn="just">
                        <a:lnSpc>
                          <a:spcPct val="115000"/>
                        </a:lnSpc>
                        <a:spcAft>
                          <a:spcPts val="0"/>
                        </a:spcAft>
                      </a:pPr>
                      <a:r>
                        <a:rPr lang="es-ES" sz="900">
                          <a:effectLst/>
                        </a:rPr>
                        <a:t> </a:t>
                      </a:r>
                      <a:endParaRPr lang="es-BO" sz="900">
                        <a:effectLst/>
                        <a:latin typeface="Calibri"/>
                        <a:ea typeface="Calibri"/>
                        <a:cs typeface="Times New Roman"/>
                      </a:endParaRPr>
                    </a:p>
                  </a:txBody>
                  <a:tcPr marL="30519" marR="30519" marT="0" marB="0"/>
                </a:tc>
                <a:tc>
                  <a:txBody>
                    <a:bodyPr/>
                    <a:lstStyle/>
                    <a:p>
                      <a:pPr marL="342900" lvl="0" indent="-342900" algn="just">
                        <a:spcAft>
                          <a:spcPts val="0"/>
                        </a:spcAft>
                        <a:buFont typeface="+mj-lt"/>
                        <a:buAutoNum type="arabicPeriod"/>
                      </a:pPr>
                      <a:r>
                        <a:rPr lang="es-ES" sz="900" dirty="0">
                          <a:effectLst/>
                        </a:rPr>
                        <a:t>Observar y registrar el número de horas de sueño.</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Explicar la importancia de mantener un sueño adecuado para una mejor y pronta recuperación.</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Explicar a familiares los horarios más adecuados para las visitas.</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Ventilar el ambiente</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Administrar analgésico antes de dormir según prescripción médica.</a:t>
                      </a:r>
                      <a:endParaRPr lang="es-BO" sz="900" dirty="0">
                        <a:effectLst/>
                      </a:endParaRPr>
                    </a:p>
                    <a:p>
                      <a:pPr marL="228600" algn="just">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marL="228600" algn="just">
                        <a:spcAft>
                          <a:spcPts val="0"/>
                        </a:spcAft>
                      </a:pPr>
                      <a:r>
                        <a:rPr lang="es-ES" sz="900" dirty="0">
                          <a:effectLst/>
                        </a:rPr>
                        <a:t> </a:t>
                      </a:r>
                      <a:endParaRPr lang="es-BO" sz="900" dirty="0">
                        <a:effectLst/>
                      </a:endParaRPr>
                    </a:p>
                    <a:p>
                      <a:pPr marL="342900" lvl="0" indent="-342900" algn="just">
                        <a:spcAft>
                          <a:spcPts val="0"/>
                        </a:spcAft>
                        <a:buFont typeface="+mj-lt"/>
                        <a:buAutoNum type="arabicPeriod"/>
                      </a:pPr>
                      <a:r>
                        <a:rPr lang="es-ES" sz="900" dirty="0">
                          <a:effectLst/>
                        </a:rPr>
                        <a:t> Realizar actividades recreativas durante el día como ser:</a:t>
                      </a:r>
                      <a:endParaRPr lang="es-BO" sz="900" dirty="0">
                        <a:effectLst/>
                      </a:endParaRPr>
                    </a:p>
                    <a:p>
                      <a:pPr marL="342900" lvl="0" indent="-342900" algn="just">
                        <a:spcAft>
                          <a:spcPts val="0"/>
                        </a:spcAft>
                        <a:buFont typeface="Wingdings"/>
                        <a:buChar char=""/>
                      </a:pPr>
                      <a:r>
                        <a:rPr lang="es-ES" sz="900" dirty="0">
                          <a:effectLst/>
                        </a:rPr>
                        <a:t>Proporcionarle un periódico para que pueda leer.</a:t>
                      </a:r>
                      <a:endParaRPr lang="es-BO" sz="900" dirty="0">
                        <a:effectLst/>
                      </a:endParaRPr>
                    </a:p>
                    <a:p>
                      <a:pPr marL="342900" lvl="0" indent="-342900" algn="just">
                        <a:spcAft>
                          <a:spcPts val="0"/>
                        </a:spcAft>
                        <a:buFont typeface="Wingdings"/>
                        <a:buChar char=""/>
                      </a:pPr>
                      <a:r>
                        <a:rPr lang="es-ES" sz="900" dirty="0">
                          <a:effectLst/>
                        </a:rPr>
                        <a:t>Explicar a los familiares que durante la visita  mantengan a la paciente distraída, conversando.</a:t>
                      </a:r>
                      <a:endParaRPr lang="es-BO" sz="900" dirty="0">
                        <a:effectLst/>
                      </a:endParaRPr>
                    </a:p>
                    <a:p>
                      <a:pPr marL="342900" lvl="0" indent="-342900" algn="just">
                        <a:spcAft>
                          <a:spcPts val="0"/>
                        </a:spcAft>
                        <a:buFont typeface="Wingdings"/>
                        <a:buChar char=""/>
                      </a:pPr>
                      <a:r>
                        <a:rPr lang="es-ES" sz="900" dirty="0">
                          <a:effectLst/>
                        </a:rPr>
                        <a:t>Evitar que la paciente duerma en el día.</a:t>
                      </a:r>
                      <a:endParaRPr lang="es-BO" sz="900" dirty="0">
                        <a:effectLst/>
                      </a:endParaRPr>
                    </a:p>
                    <a:p>
                      <a:pPr marL="342900" lvl="0" indent="-342900" algn="just">
                        <a:spcAft>
                          <a:spcPts val="0"/>
                        </a:spcAft>
                        <a:buFont typeface="Wingdings"/>
                        <a:buChar char=""/>
                      </a:pPr>
                      <a:r>
                        <a:rPr lang="es-ES" sz="900" dirty="0">
                          <a:effectLst/>
                        </a:rPr>
                        <a:t>Hablar con la paciente durante cada procedimiento e informarle para mantenerla distraída.</a:t>
                      </a:r>
                      <a:endParaRPr lang="es-BO" sz="900" dirty="0">
                        <a:effectLst/>
                      </a:endParaRPr>
                    </a:p>
                    <a:p>
                      <a:pPr marL="342900" lvl="0" indent="-342900" algn="just">
                        <a:spcAft>
                          <a:spcPts val="0"/>
                        </a:spcAft>
                        <a:buFont typeface="Wingdings"/>
                        <a:buChar char=""/>
                      </a:pPr>
                      <a:r>
                        <a:rPr lang="es-ES" sz="900" dirty="0">
                          <a:effectLst/>
                        </a:rPr>
                        <a:t>Realizar  los ejercicios planteados  durante la tarde 20 pm para producir cansancio en la paciente.</a:t>
                      </a:r>
                      <a:endParaRPr lang="es-BO" sz="900" dirty="0">
                        <a:effectLst/>
                      </a:endParaRPr>
                    </a:p>
                    <a:p>
                      <a:pPr marL="342900" lvl="0" indent="-342900" algn="just">
                        <a:spcAft>
                          <a:spcPts val="0"/>
                        </a:spcAft>
                        <a:buFont typeface="Wingdings"/>
                        <a:buChar char=""/>
                      </a:pPr>
                      <a:r>
                        <a:rPr lang="es-ES" sz="900" dirty="0">
                          <a:effectLst/>
                        </a:rPr>
                        <a:t>Realizar  las  actividades de enfermería  sin realizar ruido.</a:t>
                      </a:r>
                      <a:endParaRPr lang="es-BO" sz="900" dirty="0">
                        <a:effectLst/>
                      </a:endParaRPr>
                    </a:p>
                    <a:p>
                      <a:pPr marL="342900" lvl="0" indent="-342900" algn="just">
                        <a:spcAft>
                          <a:spcPts val="0"/>
                        </a:spcAft>
                        <a:buFont typeface="Wingdings"/>
                        <a:buChar char=""/>
                      </a:pPr>
                      <a:r>
                        <a:rPr lang="es-ES" sz="900" dirty="0">
                          <a:effectLst/>
                        </a:rPr>
                        <a:t>Mantener el ambiente con la puerta cerrada para disminuir  los ruidos externos.</a:t>
                      </a:r>
                      <a:endParaRPr lang="es-BO" sz="900" dirty="0">
                        <a:effectLst/>
                      </a:endParaRPr>
                    </a:p>
                    <a:p>
                      <a:pPr algn="just">
                        <a:lnSpc>
                          <a:spcPct val="115000"/>
                        </a:lnSpc>
                        <a:spcAft>
                          <a:spcPts val="0"/>
                        </a:spcAft>
                      </a:pPr>
                      <a:r>
                        <a:rPr lang="es-ES" sz="900" dirty="0">
                          <a:effectLst/>
                        </a:rPr>
                        <a:t>7.-preguntar  a la paciente  los ritos que realiza antes de dormir:</a:t>
                      </a:r>
                      <a:endParaRPr lang="es-BO" sz="900" dirty="0">
                        <a:effectLst/>
                      </a:endParaRPr>
                    </a:p>
                    <a:p>
                      <a:pPr marL="342900" lvl="0" indent="-342900" algn="just">
                        <a:spcAft>
                          <a:spcPts val="0"/>
                        </a:spcAft>
                        <a:buFont typeface="Wingdings"/>
                        <a:buChar char=""/>
                      </a:pPr>
                      <a:r>
                        <a:rPr lang="es-ES" sz="900" dirty="0">
                          <a:effectLst/>
                        </a:rPr>
                        <a:t>Tomar un vaso de leche.</a:t>
                      </a:r>
                      <a:endParaRPr lang="es-BO" sz="900" dirty="0">
                        <a:effectLst/>
                      </a:endParaRPr>
                    </a:p>
                    <a:p>
                      <a:pPr marL="342900" lvl="0" indent="-342900" algn="just">
                        <a:spcAft>
                          <a:spcPts val="0"/>
                        </a:spcAft>
                        <a:buFont typeface="Wingdings"/>
                        <a:buChar char=""/>
                      </a:pPr>
                      <a:r>
                        <a:rPr lang="es-ES" sz="900" dirty="0">
                          <a:effectLst/>
                        </a:rPr>
                        <a:t>Bañarse.</a:t>
                      </a:r>
                      <a:endParaRPr lang="es-BO" sz="900" dirty="0">
                        <a:effectLst/>
                      </a:endParaRPr>
                    </a:p>
                    <a:p>
                      <a:pPr marL="342900" lvl="0" indent="-342900" algn="just">
                        <a:spcAft>
                          <a:spcPts val="0"/>
                        </a:spcAft>
                        <a:buFont typeface="Wingdings"/>
                        <a:buChar char=""/>
                      </a:pPr>
                      <a:r>
                        <a:rPr lang="es-ES" sz="900" dirty="0">
                          <a:effectLst/>
                        </a:rPr>
                        <a:t>Orar.</a:t>
                      </a:r>
                      <a:endParaRPr lang="es-BO" sz="900" dirty="0">
                        <a:effectLst/>
                      </a:endParaRPr>
                    </a:p>
                    <a:p>
                      <a:pPr marL="342900" lvl="0" indent="-342900" algn="just">
                        <a:spcAft>
                          <a:spcPts val="0"/>
                        </a:spcAft>
                        <a:buFont typeface="Wingdings"/>
                        <a:buChar char=""/>
                      </a:pPr>
                      <a:r>
                        <a:rPr lang="es-ES" sz="900" dirty="0">
                          <a:effectLst/>
                        </a:rPr>
                        <a:t>Tomar algún mate.</a:t>
                      </a:r>
                      <a:endParaRPr lang="es-BO" sz="900" dirty="0">
                        <a:effectLst/>
                        <a:latin typeface="Calibri"/>
                        <a:ea typeface="Times New Roman"/>
                      </a:endParaRPr>
                    </a:p>
                  </a:txBody>
                  <a:tcPr marL="30519" marR="30519" marT="0" marB="0"/>
                </a:tc>
                <a:tc>
                  <a:txBody>
                    <a:bodyPr/>
                    <a:lstStyle/>
                    <a:p>
                      <a:pPr algn="just">
                        <a:lnSpc>
                          <a:spcPct val="115000"/>
                        </a:lnSpc>
                        <a:spcAft>
                          <a:spcPts val="0"/>
                        </a:spcAft>
                      </a:pPr>
                      <a:r>
                        <a:rPr lang="es-ES" sz="900" dirty="0">
                          <a:effectLst/>
                        </a:rPr>
                        <a:t>1.2.3.4. El sueño restablece el equilibrio normal entre las distintas partes del sistema nervioso. Cuando existen periodos de aumento o disminución de la excitabilidad nerviosa todo el organismo se encuentra afectado durante el sueno</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5.- los patrones de sueño pueden alterarse por cambios en las actividades diarias normales de las personas, problemas sociales y emocionales, trastornos físicos, irritaciones o incomodidades menores y también por el dolor.</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6.- las actividades recreativas, durante el día mantienen despierta a la paciente, para poder conciliar el sueño durante la noche.</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 </a:t>
                      </a:r>
                      <a:endParaRPr lang="es-BO" sz="900" dirty="0">
                        <a:effectLst/>
                      </a:endParaRPr>
                    </a:p>
                    <a:p>
                      <a:pPr algn="just">
                        <a:lnSpc>
                          <a:spcPct val="115000"/>
                        </a:lnSpc>
                        <a:spcAft>
                          <a:spcPts val="0"/>
                        </a:spcAft>
                      </a:pPr>
                      <a:r>
                        <a:rPr lang="es-ES" sz="900" dirty="0">
                          <a:effectLst/>
                        </a:rPr>
                        <a:t>7.- las costumbres individuales varían en lo que se refiere a los rituales para acostarse.</a:t>
                      </a:r>
                      <a:endParaRPr lang="es-BO" sz="900" dirty="0">
                        <a:effectLst/>
                        <a:latin typeface="Calibri"/>
                        <a:ea typeface="Calibri"/>
                        <a:cs typeface="Times New Roman"/>
                      </a:endParaRPr>
                    </a:p>
                  </a:txBody>
                  <a:tcPr marL="30519" marR="30519" marT="0" marB="0"/>
                </a:tc>
              </a:tr>
            </a:tbl>
          </a:graphicData>
        </a:graphic>
      </p:graphicFrame>
    </p:spTree>
    <p:extLst>
      <p:ext uri="{BB962C8B-B14F-4D97-AF65-F5344CB8AC3E}">
        <p14:creationId xmlns:p14="http://schemas.microsoft.com/office/powerpoint/2010/main" val="41437154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69483" y="-99393"/>
            <a:ext cx="5218741" cy="504057"/>
          </a:xfrm>
        </p:spPr>
        <p:txBody>
          <a:bodyPr/>
          <a:lstStyle/>
          <a:p>
            <a:r>
              <a:rPr lang="es-ES" sz="1800" b="1" dirty="0" smtClean="0"/>
              <a:t>PATRON </a:t>
            </a:r>
            <a:r>
              <a:rPr lang="es-ES" sz="1800" b="1" dirty="0"/>
              <a:t>COGNOSITIVO PERCEPTUAL</a:t>
            </a:r>
            <a:endParaRPr lang="es-BO" sz="1800"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3934229642"/>
              </p:ext>
            </p:extLst>
          </p:nvPr>
        </p:nvGraphicFramePr>
        <p:xfrm>
          <a:off x="179512" y="548680"/>
          <a:ext cx="8424937" cy="6048672"/>
        </p:xfrm>
        <a:graphic>
          <a:graphicData uri="http://schemas.openxmlformats.org/drawingml/2006/table">
            <a:tbl>
              <a:tblPr firstRow="1" firstCol="1" lastRow="1" lastCol="1" bandRow="1" bandCol="1">
                <a:tableStyleId>{5C22544A-7EE6-4342-B048-85BDC9FD1C3A}</a:tableStyleId>
              </a:tblPr>
              <a:tblGrid>
                <a:gridCol w="2106048"/>
                <a:gridCol w="2106048"/>
                <a:gridCol w="2106048"/>
                <a:gridCol w="2106793"/>
              </a:tblGrid>
              <a:tr h="291484">
                <a:tc>
                  <a:txBody>
                    <a:bodyPr/>
                    <a:lstStyle/>
                    <a:p>
                      <a:pPr algn="just">
                        <a:lnSpc>
                          <a:spcPct val="115000"/>
                        </a:lnSpc>
                        <a:spcAft>
                          <a:spcPts val="0"/>
                        </a:spcAft>
                      </a:pPr>
                      <a:r>
                        <a:rPr lang="es-ES" sz="1050" dirty="0">
                          <a:effectLst/>
                        </a:rPr>
                        <a:t>DIAGNOSTICO</a:t>
                      </a:r>
                      <a:endParaRPr lang="es-BO" sz="1000" dirty="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OBJETIVOS</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INTERVENCIONES</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PRINCIPIOS CIENTIFICOS</a:t>
                      </a:r>
                      <a:endParaRPr lang="es-BO" sz="1000">
                        <a:effectLst/>
                        <a:latin typeface="Calibri"/>
                        <a:ea typeface="Calibri"/>
                        <a:cs typeface="Times New Roman"/>
                      </a:endParaRPr>
                    </a:p>
                  </a:txBody>
                  <a:tcPr marL="44053" marR="44053" marT="0" marB="0"/>
                </a:tc>
              </a:tr>
              <a:tr h="5757188">
                <a:tc>
                  <a:txBody>
                    <a:bodyPr/>
                    <a:lstStyle/>
                    <a:p>
                      <a:pPr algn="just">
                        <a:lnSpc>
                          <a:spcPct val="115000"/>
                        </a:lnSpc>
                        <a:spcAft>
                          <a:spcPts val="1000"/>
                        </a:spcAft>
                      </a:pPr>
                      <a:r>
                        <a:rPr lang="es-ES" sz="1050" dirty="0">
                          <a:effectLst/>
                        </a:rPr>
                        <a:t>Estrés y preocupación relacionada a hospitalización e incertidumbre sobre cuidados posoperatorios en casa.</a:t>
                      </a:r>
                      <a:endParaRPr lang="es-BO" sz="1000" dirty="0">
                        <a:effectLst/>
                      </a:endParaRPr>
                    </a:p>
                    <a:p>
                      <a:pPr algn="just">
                        <a:lnSpc>
                          <a:spcPct val="115000"/>
                        </a:lnSpc>
                        <a:spcAft>
                          <a:spcPts val="0"/>
                        </a:spcAft>
                      </a:pPr>
                      <a:r>
                        <a:rPr lang="es-BO" sz="1050" dirty="0">
                          <a:effectLst/>
                        </a:rPr>
                        <a:t> </a:t>
                      </a:r>
                      <a:endParaRPr lang="es-BO" sz="1000" dirty="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disminuir el estrés  y la preocupación mediante las intervenciones de enfermería durante los días de internación  </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a:effectLst/>
                        </a:rPr>
                        <a:t>1.- control de estado neurológico</a:t>
                      </a:r>
                      <a:endParaRPr lang="es-BO" sz="1000">
                        <a:effectLst/>
                      </a:endParaRPr>
                    </a:p>
                    <a:p>
                      <a:pPr algn="just">
                        <a:lnSpc>
                          <a:spcPct val="115000"/>
                        </a:lnSpc>
                        <a:spcAft>
                          <a:spcPts val="0"/>
                        </a:spcAft>
                      </a:pPr>
                      <a:r>
                        <a:rPr lang="es-ES" sz="1050">
                          <a:effectLst/>
                        </a:rPr>
                        <a:t>2.- Brindar orientación continua sobre su estado de salud.</a:t>
                      </a:r>
                      <a:endParaRPr lang="es-BO" sz="1000">
                        <a:effectLst/>
                      </a:endParaRPr>
                    </a:p>
                    <a:p>
                      <a:pPr algn="just">
                        <a:lnSpc>
                          <a:spcPct val="115000"/>
                        </a:lnSpc>
                        <a:spcAft>
                          <a:spcPts val="0"/>
                        </a:spcAft>
                      </a:pPr>
                      <a:r>
                        <a:rPr lang="es-ES" sz="1050">
                          <a:effectLst/>
                        </a:rPr>
                        <a:t>3.- Explicar al paciente con palabras sencillas su tratamiento.</a:t>
                      </a:r>
                      <a:endParaRPr lang="es-BO" sz="1000">
                        <a:effectLst/>
                      </a:endParaRPr>
                    </a:p>
                    <a:p>
                      <a:pPr algn="just">
                        <a:lnSpc>
                          <a:spcPct val="115000"/>
                        </a:lnSpc>
                        <a:spcAft>
                          <a:spcPts val="0"/>
                        </a:spcAft>
                      </a:pPr>
                      <a:r>
                        <a:rPr lang="es-ES" sz="1050">
                          <a:effectLst/>
                        </a:rPr>
                        <a:t>4.- Mantener informado sobre su estado de salud.</a:t>
                      </a:r>
                      <a:endParaRPr lang="es-BO" sz="1000">
                        <a:effectLst/>
                      </a:endParaRPr>
                    </a:p>
                    <a:p>
                      <a:pPr algn="just">
                        <a:lnSpc>
                          <a:spcPct val="115000"/>
                        </a:lnSpc>
                        <a:spcAft>
                          <a:spcPts val="0"/>
                        </a:spcAft>
                      </a:pPr>
                      <a:r>
                        <a:rPr lang="es-ES" sz="1050">
                          <a:effectLst/>
                        </a:rPr>
                        <a:t>5.- Brindar un ambiente tranquilo.</a:t>
                      </a:r>
                      <a:endParaRPr lang="es-BO" sz="1000">
                        <a:effectLst/>
                      </a:endParaRPr>
                    </a:p>
                    <a:p>
                      <a:pPr algn="just">
                        <a:lnSpc>
                          <a:spcPct val="115000"/>
                        </a:lnSpc>
                        <a:spcAft>
                          <a:spcPts val="0"/>
                        </a:spcAft>
                      </a:pPr>
                      <a:r>
                        <a:rPr lang="es-ES" sz="1050">
                          <a:effectLst/>
                        </a:rPr>
                        <a:t>6.- mantener bien informados a los familiares, sobre el estado de salud del paciente.</a:t>
                      </a:r>
                      <a:endParaRPr lang="es-BO" sz="1000">
                        <a:effectLst/>
                      </a:endParaRPr>
                    </a:p>
                    <a:p>
                      <a:pPr algn="just">
                        <a:lnSpc>
                          <a:spcPct val="115000"/>
                        </a:lnSpc>
                        <a:spcAft>
                          <a:spcPts val="0"/>
                        </a:spcAft>
                      </a:pPr>
                      <a:r>
                        <a:rPr lang="es-ES" sz="1050">
                          <a:effectLst/>
                        </a:rPr>
                        <a:t>7.- Evitar confusiones por el paciente aclarar todas sus dudas.</a:t>
                      </a:r>
                      <a:endParaRPr lang="es-BO" sz="1000">
                        <a:effectLst/>
                      </a:endParaRPr>
                    </a:p>
                    <a:p>
                      <a:pPr algn="just">
                        <a:lnSpc>
                          <a:spcPct val="115000"/>
                        </a:lnSpc>
                        <a:spcAft>
                          <a:spcPts val="0"/>
                        </a:spcAft>
                      </a:pPr>
                      <a:r>
                        <a:rPr lang="es-ES" sz="1050">
                          <a:effectLst/>
                        </a:rPr>
                        <a:t> </a:t>
                      </a:r>
                      <a:endParaRPr lang="es-BO" sz="1000">
                        <a:effectLst/>
                        <a:latin typeface="Calibri"/>
                        <a:ea typeface="Calibri"/>
                        <a:cs typeface="Times New Roman"/>
                      </a:endParaRPr>
                    </a:p>
                  </a:txBody>
                  <a:tcPr marL="44053" marR="44053" marT="0" marB="0"/>
                </a:tc>
                <a:tc>
                  <a:txBody>
                    <a:bodyPr/>
                    <a:lstStyle/>
                    <a:p>
                      <a:pPr algn="just">
                        <a:lnSpc>
                          <a:spcPct val="115000"/>
                        </a:lnSpc>
                        <a:spcAft>
                          <a:spcPts val="0"/>
                        </a:spcAft>
                      </a:pPr>
                      <a:r>
                        <a:rPr lang="es-ES" sz="1050" dirty="0">
                          <a:effectLst/>
                        </a:rPr>
                        <a:t>1.- Con el control del estado neurológico se logra identificar el estado de ánimo el paciente. </a:t>
                      </a:r>
                      <a:endParaRPr lang="es-BO" sz="1000" dirty="0">
                        <a:effectLst/>
                      </a:endParaRPr>
                    </a:p>
                    <a:p>
                      <a:pPr algn="just">
                        <a:lnSpc>
                          <a:spcPct val="115000"/>
                        </a:lnSpc>
                        <a:spcAft>
                          <a:spcPts val="0"/>
                        </a:spcAft>
                      </a:pPr>
                      <a:r>
                        <a:rPr lang="es-ES" sz="1050" dirty="0">
                          <a:effectLst/>
                        </a:rPr>
                        <a:t>2.- La orientación continua sobre su estado de salud del paciente evitara temor, dudas y ansiedad.</a:t>
                      </a:r>
                      <a:endParaRPr lang="es-BO" sz="1000" dirty="0">
                        <a:effectLst/>
                      </a:endParaRPr>
                    </a:p>
                    <a:p>
                      <a:pPr algn="just">
                        <a:lnSpc>
                          <a:spcPct val="115000"/>
                        </a:lnSpc>
                        <a:spcAft>
                          <a:spcPts val="0"/>
                        </a:spcAft>
                      </a:pPr>
                      <a:r>
                        <a:rPr lang="es-ES" sz="1050" dirty="0">
                          <a:effectLst/>
                        </a:rPr>
                        <a:t> 3.- Se debe explicar al paciente con palabras sencillas y claras, para que pueda comprender el paciente y así sentirse en confianza, evitando la ansiedad.</a:t>
                      </a:r>
                      <a:endParaRPr lang="es-BO" sz="1000" dirty="0">
                        <a:effectLst/>
                      </a:endParaRPr>
                    </a:p>
                    <a:p>
                      <a:pPr algn="just">
                        <a:lnSpc>
                          <a:spcPct val="115000"/>
                        </a:lnSpc>
                        <a:spcAft>
                          <a:spcPts val="0"/>
                        </a:spcAft>
                      </a:pPr>
                      <a:r>
                        <a:rPr lang="es-ES" sz="1050" dirty="0">
                          <a:effectLst/>
                        </a:rPr>
                        <a:t>4.- La comunicación a los familiares es muy importante ya que son el eje principal para su recuperación.</a:t>
                      </a:r>
                      <a:endParaRPr lang="es-BO" sz="1000" dirty="0">
                        <a:effectLst/>
                      </a:endParaRPr>
                    </a:p>
                    <a:p>
                      <a:pPr algn="just">
                        <a:lnSpc>
                          <a:spcPct val="115000"/>
                        </a:lnSpc>
                        <a:spcAft>
                          <a:spcPts val="0"/>
                        </a:spcAft>
                      </a:pPr>
                      <a:r>
                        <a:rPr lang="es-ES" sz="1050" dirty="0">
                          <a:effectLst/>
                        </a:rPr>
                        <a:t> 5.- 6.- 7.- La comunicación es muy importante para el ser humano, gracias a ella logramos acceder a otros pensamientos que nos trasmite el resto de la humanidad.</a:t>
                      </a:r>
                      <a:endParaRPr lang="es-BO" sz="1000" dirty="0">
                        <a:effectLst/>
                        <a:latin typeface="Calibri"/>
                        <a:ea typeface="Calibri"/>
                        <a:cs typeface="Times New Roman"/>
                      </a:endParaRPr>
                    </a:p>
                  </a:txBody>
                  <a:tcPr marL="44053" marR="44053" marT="0" marB="0"/>
                </a:tc>
              </a:tr>
            </a:tbl>
          </a:graphicData>
        </a:graphic>
      </p:graphicFrame>
    </p:spTree>
    <p:extLst>
      <p:ext uri="{BB962C8B-B14F-4D97-AF65-F5344CB8AC3E}">
        <p14:creationId xmlns:p14="http://schemas.microsoft.com/office/powerpoint/2010/main" val="48003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9068"/>
            <a:ext cx="7378979" cy="792088"/>
          </a:xfrm>
        </p:spPr>
        <p:txBody>
          <a:bodyPr/>
          <a:lstStyle/>
          <a:p>
            <a:r>
              <a:rPr lang="es-ES" sz="2400" b="1" dirty="0"/>
              <a:t>PATRON DE ENFRENTAMIENTO Y </a:t>
            </a:r>
            <a:r>
              <a:rPr lang="es-ES" sz="2400" b="1" dirty="0" smtClean="0"/>
              <a:t>TOLERANCIA AL </a:t>
            </a:r>
            <a:r>
              <a:rPr lang="es-ES" sz="2400" b="1" dirty="0"/>
              <a:t>ESTRÉS</a:t>
            </a:r>
            <a:r>
              <a:rPr lang="es-BO" dirty="0"/>
              <a:t/>
            </a:r>
            <a:br>
              <a:rPr lang="es-BO" dirty="0"/>
            </a:br>
            <a:endParaRPr lang="es-BO" dirty="0"/>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343946757"/>
              </p:ext>
            </p:extLst>
          </p:nvPr>
        </p:nvGraphicFramePr>
        <p:xfrm>
          <a:off x="179512" y="620687"/>
          <a:ext cx="8784976" cy="6062931"/>
        </p:xfrm>
        <a:graphic>
          <a:graphicData uri="http://schemas.openxmlformats.org/drawingml/2006/table">
            <a:tbl>
              <a:tblPr>
                <a:tableStyleId>{284E427A-3D55-4303-BF80-6455036E1DE7}</a:tableStyleId>
              </a:tblPr>
              <a:tblGrid>
                <a:gridCol w="1330240"/>
                <a:gridCol w="1330240"/>
                <a:gridCol w="3521514"/>
                <a:gridCol w="2602982"/>
              </a:tblGrid>
              <a:tr h="370600">
                <a:tc>
                  <a:txBody>
                    <a:bodyPr/>
                    <a:lstStyle/>
                    <a:p>
                      <a:pPr algn="just">
                        <a:lnSpc>
                          <a:spcPct val="115000"/>
                        </a:lnSpc>
                        <a:spcAft>
                          <a:spcPts val="0"/>
                        </a:spcAft>
                      </a:pPr>
                      <a:r>
                        <a:rPr lang="es-ES" sz="1050" dirty="0">
                          <a:effectLst/>
                        </a:rPr>
                        <a:t>DIAGNOSTICO</a:t>
                      </a:r>
                      <a:endParaRPr lang="es-BO" sz="1050" dirty="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a:effectLst/>
                        </a:rPr>
                        <a:t>OBJETIVO</a:t>
                      </a:r>
                      <a:endParaRPr lang="es-BO" sz="105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a:effectLst/>
                        </a:rPr>
                        <a:t>INTERVENCIONES</a:t>
                      </a:r>
                      <a:endParaRPr lang="es-BO" sz="105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a:effectLst/>
                        </a:rPr>
                        <a:t>PRINCIPIOS</a:t>
                      </a:r>
                      <a:endParaRPr lang="es-BO" sz="1050">
                        <a:effectLst/>
                      </a:endParaRPr>
                    </a:p>
                    <a:p>
                      <a:pPr algn="just">
                        <a:lnSpc>
                          <a:spcPct val="115000"/>
                        </a:lnSpc>
                        <a:spcAft>
                          <a:spcPts val="0"/>
                        </a:spcAft>
                      </a:pPr>
                      <a:r>
                        <a:rPr lang="es-ES" sz="1050">
                          <a:effectLst/>
                        </a:rPr>
                        <a:t>CIENTIFICOS</a:t>
                      </a:r>
                      <a:endParaRPr lang="es-BO" sz="1050">
                        <a:effectLst/>
                        <a:latin typeface="Calibri"/>
                        <a:ea typeface="Calibri"/>
                        <a:cs typeface="Times New Roman"/>
                      </a:endParaRPr>
                    </a:p>
                  </a:txBody>
                  <a:tcPr marL="32234" marR="32234" marT="0" marB="0"/>
                </a:tc>
              </a:tr>
              <a:tr h="5530225">
                <a:tc>
                  <a:txBody>
                    <a:bodyPr/>
                    <a:lstStyle/>
                    <a:p>
                      <a:pPr algn="just">
                        <a:lnSpc>
                          <a:spcPct val="115000"/>
                        </a:lnSpc>
                        <a:spcAft>
                          <a:spcPts val="0"/>
                        </a:spcAft>
                      </a:pPr>
                      <a:r>
                        <a:rPr lang="es-ES_tradnl" sz="1050">
                          <a:effectLst/>
                        </a:rPr>
                        <a:t> </a:t>
                      </a:r>
                      <a:endParaRPr lang="es-BO" sz="1050">
                        <a:effectLst/>
                      </a:endParaRPr>
                    </a:p>
                    <a:p>
                      <a:pPr algn="just">
                        <a:lnSpc>
                          <a:spcPct val="115000"/>
                        </a:lnSpc>
                        <a:spcAft>
                          <a:spcPts val="0"/>
                        </a:spcAft>
                      </a:pPr>
                      <a:r>
                        <a:rPr lang="es-ES_tradnl" sz="1050">
                          <a:effectLst/>
                        </a:rPr>
                        <a:t> </a:t>
                      </a:r>
                      <a:endParaRPr lang="es-BO" sz="1050">
                        <a:effectLst/>
                      </a:endParaRPr>
                    </a:p>
                    <a:p>
                      <a:pPr algn="just">
                        <a:lnSpc>
                          <a:spcPct val="115000"/>
                        </a:lnSpc>
                        <a:spcAft>
                          <a:spcPts val="0"/>
                        </a:spcAft>
                      </a:pPr>
                      <a:r>
                        <a:rPr lang="es-ES" sz="1050">
                          <a:effectLst/>
                        </a:rPr>
                        <a:t>Ansiedad relacionado con ambiente y rutinas desconocidas, conocimiento insuficiente de sud diagnostico. </a:t>
                      </a:r>
                      <a:endParaRPr lang="es-BO" sz="1050">
                        <a:effectLst/>
                      </a:endParaRPr>
                    </a:p>
                    <a:p>
                      <a:pPr algn="just">
                        <a:lnSpc>
                          <a:spcPct val="115000"/>
                        </a:lnSpc>
                        <a:spcAft>
                          <a:spcPts val="0"/>
                        </a:spcAft>
                      </a:pPr>
                      <a:r>
                        <a:rPr lang="es-ES_tradnl" sz="1050">
                          <a:effectLst/>
                        </a:rPr>
                        <a:t> </a:t>
                      </a:r>
                      <a:endParaRPr lang="es-BO" sz="1050">
                        <a:effectLst/>
                        <a:latin typeface="Calibri"/>
                        <a:ea typeface="Calibri"/>
                        <a:cs typeface="Times New Roman"/>
                      </a:endParaRPr>
                    </a:p>
                  </a:txBody>
                  <a:tcPr marL="32234" marR="32234" marT="0" marB="0"/>
                </a:tc>
                <a:tc>
                  <a:txBody>
                    <a:bodyPr/>
                    <a:lstStyle/>
                    <a:p>
                      <a:pPr marL="228600" algn="just">
                        <a:spcAft>
                          <a:spcPts val="0"/>
                        </a:spcAft>
                      </a:pPr>
                      <a:r>
                        <a:rPr lang="es-ES" sz="1050">
                          <a:effectLst/>
                        </a:rPr>
                        <a:t> </a:t>
                      </a:r>
                      <a:endParaRPr lang="es-BO" sz="1050">
                        <a:effectLst/>
                      </a:endParaRPr>
                    </a:p>
                    <a:p>
                      <a:pPr marL="228600" algn="just">
                        <a:spcAft>
                          <a:spcPts val="0"/>
                        </a:spcAft>
                      </a:pPr>
                      <a:r>
                        <a:rPr lang="es-ES" sz="1050">
                          <a:effectLst/>
                        </a:rPr>
                        <a:t>Proporcionar informacion sobre los porcedimientos que se realizaran en la paciente.</a:t>
                      </a:r>
                      <a:endParaRPr lang="es-BO" sz="1050">
                        <a:effectLst/>
                        <a:latin typeface="Calibri"/>
                      </a:endParaRPr>
                    </a:p>
                  </a:txBody>
                  <a:tcPr marL="32234" marR="32234" marT="0" marB="0"/>
                </a:tc>
                <a:tc>
                  <a:txBody>
                    <a:bodyPr/>
                    <a:lstStyle/>
                    <a:p>
                      <a:pPr algn="just">
                        <a:lnSpc>
                          <a:spcPct val="115000"/>
                        </a:lnSpc>
                        <a:spcAft>
                          <a:spcPts val="0"/>
                        </a:spcAft>
                      </a:pPr>
                      <a:r>
                        <a:rPr lang="es-ES" sz="1050" dirty="0">
                          <a:effectLst/>
                        </a:rPr>
                        <a:t>1.-Disminución de la ansiedad.</a:t>
                      </a:r>
                      <a:endParaRPr lang="es-BO" sz="1050" dirty="0">
                        <a:effectLst/>
                      </a:endParaRPr>
                    </a:p>
                    <a:p>
                      <a:pPr algn="just">
                        <a:lnSpc>
                          <a:spcPct val="115000"/>
                        </a:lnSpc>
                        <a:spcAft>
                          <a:spcPts val="0"/>
                        </a:spcAft>
                      </a:pPr>
                      <a:r>
                        <a:rPr lang="es-ES" sz="1050" dirty="0">
                          <a:effectLst/>
                        </a:rPr>
                        <a:t>- Proporcionar información objetiva respecto al diagnóstico, tratamiento.</a:t>
                      </a:r>
                      <a:endParaRPr lang="es-BO" sz="1050" dirty="0">
                        <a:effectLst/>
                      </a:endParaRPr>
                    </a:p>
                    <a:p>
                      <a:pPr algn="just">
                        <a:lnSpc>
                          <a:spcPct val="115000"/>
                        </a:lnSpc>
                        <a:spcAft>
                          <a:spcPts val="0"/>
                        </a:spcAft>
                      </a:pPr>
                      <a:r>
                        <a:rPr lang="es-ES" sz="1050" dirty="0">
                          <a:effectLst/>
                        </a:rPr>
                        <a:t>-Reforzar la información suministrada por los otros miembros del equipo de cuidados, si procede.</a:t>
                      </a:r>
                      <a:endParaRPr lang="es-BO" sz="1050" dirty="0">
                        <a:effectLst/>
                      </a:endParaRPr>
                    </a:p>
                    <a:p>
                      <a:pPr algn="just">
                        <a:lnSpc>
                          <a:spcPct val="115000"/>
                        </a:lnSpc>
                        <a:spcAft>
                          <a:spcPts val="0"/>
                        </a:spcAft>
                      </a:pPr>
                      <a:r>
                        <a:rPr lang="es-ES" sz="1050" dirty="0">
                          <a:effectLst/>
                        </a:rPr>
                        <a:t>-informar al paciente sobre todos los procedimientos a realizar.</a:t>
                      </a:r>
                      <a:endParaRPr lang="es-BO" sz="1050" dirty="0">
                        <a:effectLst/>
                      </a:endParaRPr>
                    </a:p>
                    <a:p>
                      <a:pPr algn="just">
                        <a:lnSpc>
                          <a:spcPct val="115000"/>
                        </a:lnSpc>
                        <a:spcAft>
                          <a:spcPts val="0"/>
                        </a:spcAft>
                      </a:pPr>
                      <a:r>
                        <a:rPr lang="es-ES" sz="1050" dirty="0">
                          <a:effectLst/>
                        </a:rPr>
                        <a:t>2.-Presencia del profesional de enfermería</a:t>
                      </a:r>
                      <a:endParaRPr lang="es-BO" sz="1050" dirty="0">
                        <a:effectLst/>
                      </a:endParaRPr>
                    </a:p>
                    <a:p>
                      <a:pPr algn="just">
                        <a:lnSpc>
                          <a:spcPct val="115000"/>
                        </a:lnSpc>
                        <a:spcAft>
                          <a:spcPts val="0"/>
                        </a:spcAft>
                      </a:pPr>
                      <a:r>
                        <a:rPr lang="es-ES" sz="1050" dirty="0">
                          <a:effectLst/>
                        </a:rPr>
                        <a:t>- Escuchar las preocupaciones de la paciente.</a:t>
                      </a:r>
                      <a:endParaRPr lang="es-BO" sz="1050" dirty="0">
                        <a:effectLst/>
                      </a:endParaRPr>
                    </a:p>
                    <a:p>
                      <a:pPr algn="just">
                        <a:lnSpc>
                          <a:spcPct val="115000"/>
                        </a:lnSpc>
                        <a:spcAft>
                          <a:spcPts val="0"/>
                        </a:spcAft>
                      </a:pPr>
                      <a:r>
                        <a:rPr lang="es-ES" sz="1050" dirty="0">
                          <a:effectLst/>
                        </a:rPr>
                        <a:t>- Permanecer con la paciente para fomentar seguridad y disminuir los miedos.</a:t>
                      </a:r>
                      <a:endParaRPr lang="es-BO" sz="1050" dirty="0">
                        <a:effectLst/>
                      </a:endParaRPr>
                    </a:p>
                    <a:p>
                      <a:pPr algn="just">
                        <a:lnSpc>
                          <a:spcPct val="115000"/>
                        </a:lnSpc>
                        <a:spcAft>
                          <a:spcPts val="0"/>
                        </a:spcAft>
                      </a:pPr>
                      <a:r>
                        <a:rPr lang="es-ES" sz="1050" dirty="0">
                          <a:effectLst/>
                        </a:rPr>
                        <a:t>3.-Potenciación de la seguridad.</a:t>
                      </a:r>
                      <a:endParaRPr lang="es-BO" sz="1050" dirty="0">
                        <a:effectLst/>
                      </a:endParaRPr>
                    </a:p>
                    <a:p>
                      <a:pPr algn="just">
                        <a:lnSpc>
                          <a:spcPct val="115000"/>
                        </a:lnSpc>
                        <a:spcAft>
                          <a:spcPts val="0"/>
                        </a:spcAft>
                      </a:pPr>
                      <a:r>
                        <a:rPr lang="es-ES" sz="1050" dirty="0">
                          <a:effectLst/>
                        </a:rPr>
                        <a:t>- Permanecer con el paciente para fomentar su seguridad durante los periodos de ansiedad.</a:t>
                      </a:r>
                      <a:endParaRPr lang="es-BO" sz="1050" dirty="0">
                        <a:effectLst/>
                      </a:endParaRPr>
                    </a:p>
                    <a:p>
                      <a:pPr algn="just">
                        <a:lnSpc>
                          <a:spcPct val="115000"/>
                        </a:lnSpc>
                        <a:spcAft>
                          <a:spcPts val="0"/>
                        </a:spcAft>
                      </a:pPr>
                      <a:r>
                        <a:rPr lang="es-ES" sz="1050" dirty="0">
                          <a:effectLst/>
                        </a:rPr>
                        <a:t>- Explicar a la paciente y familia todas las pruebas y procedimientos.</a:t>
                      </a:r>
                      <a:endParaRPr lang="es-BO" sz="1050" dirty="0">
                        <a:effectLst/>
                      </a:endParaRPr>
                    </a:p>
                    <a:p>
                      <a:pPr algn="just">
                        <a:lnSpc>
                          <a:spcPct val="115000"/>
                        </a:lnSpc>
                        <a:spcAft>
                          <a:spcPts val="0"/>
                        </a:spcAft>
                      </a:pPr>
                      <a:r>
                        <a:rPr lang="es-ES" sz="1050" dirty="0">
                          <a:effectLst/>
                        </a:rPr>
                        <a:t>- Responder a las preguntas sobre su salud de una manera sincera.</a:t>
                      </a:r>
                      <a:endParaRPr lang="es-BO" sz="1050" dirty="0">
                        <a:effectLst/>
                      </a:endParaRPr>
                    </a:p>
                    <a:p>
                      <a:pPr algn="just">
                        <a:lnSpc>
                          <a:spcPct val="115000"/>
                        </a:lnSpc>
                        <a:spcAft>
                          <a:spcPts val="0"/>
                        </a:spcAft>
                      </a:pPr>
                      <a:r>
                        <a:rPr lang="es-ES" sz="1050" dirty="0">
                          <a:effectLst/>
                        </a:rPr>
                        <a:t>4.- Aumentar el afrontamiento.</a:t>
                      </a:r>
                      <a:endParaRPr lang="es-BO" sz="1050" dirty="0">
                        <a:effectLst/>
                      </a:endParaRPr>
                    </a:p>
                    <a:p>
                      <a:pPr algn="just">
                        <a:lnSpc>
                          <a:spcPct val="115000"/>
                        </a:lnSpc>
                        <a:spcAft>
                          <a:spcPts val="0"/>
                        </a:spcAft>
                      </a:pPr>
                      <a:r>
                        <a:rPr lang="es-ES" sz="1050" dirty="0">
                          <a:effectLst/>
                        </a:rPr>
                        <a:t>- Ayudar a la paciente a identificar la información que más le interesa obtener.</a:t>
                      </a:r>
                      <a:endParaRPr lang="es-BO" sz="1050" dirty="0">
                        <a:effectLst/>
                      </a:endParaRPr>
                    </a:p>
                    <a:p>
                      <a:pPr algn="just">
                        <a:lnSpc>
                          <a:spcPct val="115000"/>
                        </a:lnSpc>
                        <a:spcAft>
                          <a:spcPts val="0"/>
                        </a:spcAft>
                      </a:pPr>
                      <a:r>
                        <a:rPr lang="es-ES" sz="1050" dirty="0">
                          <a:effectLst/>
                        </a:rPr>
                        <a:t>- Evaluar la capacidad de la paciente para tomar decisiones.</a:t>
                      </a:r>
                      <a:endParaRPr lang="es-BO" sz="1050" dirty="0">
                        <a:effectLst/>
                      </a:endParaRPr>
                    </a:p>
                    <a:p>
                      <a:pPr algn="just">
                        <a:lnSpc>
                          <a:spcPct val="115000"/>
                        </a:lnSpc>
                        <a:spcAft>
                          <a:spcPts val="0"/>
                        </a:spcAft>
                      </a:pPr>
                      <a:r>
                        <a:rPr lang="es-ES" sz="1050" dirty="0">
                          <a:effectLst/>
                        </a:rPr>
                        <a:t>5.-Apoyo emocional</a:t>
                      </a:r>
                      <a:endParaRPr lang="es-BO" sz="1050" dirty="0">
                        <a:effectLst/>
                      </a:endParaRPr>
                    </a:p>
                    <a:p>
                      <a:pPr algn="just">
                        <a:lnSpc>
                          <a:spcPct val="115000"/>
                        </a:lnSpc>
                        <a:spcAft>
                          <a:spcPts val="0"/>
                        </a:spcAft>
                      </a:pPr>
                      <a:r>
                        <a:rPr lang="es-ES" sz="1050" dirty="0">
                          <a:effectLst/>
                        </a:rPr>
                        <a:t>- Animar a la paciente a que exprese los sentimientos de ansiedad, ira, tristeza y impotencia.</a:t>
                      </a:r>
                      <a:endParaRPr lang="es-BO" sz="1050" dirty="0">
                        <a:effectLst/>
                      </a:endParaRPr>
                    </a:p>
                    <a:p>
                      <a:pPr algn="just">
                        <a:lnSpc>
                          <a:spcPct val="115000"/>
                        </a:lnSpc>
                        <a:spcAft>
                          <a:spcPts val="0"/>
                        </a:spcAft>
                      </a:pPr>
                      <a:r>
                        <a:rPr lang="es-ES" sz="1050" dirty="0">
                          <a:effectLst/>
                        </a:rPr>
                        <a:t>- Escuchar las expresiones de sentimiento y creencias.</a:t>
                      </a:r>
                      <a:endParaRPr lang="es-BO" sz="1050" dirty="0">
                        <a:effectLst/>
                      </a:endParaRPr>
                    </a:p>
                    <a:p>
                      <a:pPr algn="just">
                        <a:lnSpc>
                          <a:spcPct val="115000"/>
                        </a:lnSpc>
                        <a:spcAft>
                          <a:spcPts val="0"/>
                        </a:spcAft>
                      </a:pPr>
                      <a:r>
                        <a:rPr lang="es-ES" sz="1050" dirty="0">
                          <a:effectLst/>
                        </a:rPr>
                        <a:t>- Remitir a servicios de asesoramiento si se precisa.</a:t>
                      </a:r>
                      <a:endParaRPr lang="es-BO" sz="1050" dirty="0">
                        <a:effectLst/>
                        <a:latin typeface="Calibri"/>
                        <a:ea typeface="Calibri"/>
                        <a:cs typeface="Times New Roman"/>
                      </a:endParaRPr>
                    </a:p>
                  </a:txBody>
                  <a:tcPr marL="32234" marR="32234" marT="0" marB="0"/>
                </a:tc>
                <a:tc>
                  <a:txBody>
                    <a:bodyPr/>
                    <a:lstStyle/>
                    <a:p>
                      <a:pPr algn="just">
                        <a:lnSpc>
                          <a:spcPct val="115000"/>
                        </a:lnSpc>
                        <a:spcAft>
                          <a:spcPts val="0"/>
                        </a:spcAft>
                      </a:pPr>
                      <a:r>
                        <a:rPr lang="es-ES" sz="1050" dirty="0">
                          <a:effectLst/>
                        </a:rPr>
                        <a:t>1.-El darle una información correcta puede ayudar a disminuir la ansiedad del paciente asociada a lo desconocida y extraño.</a:t>
                      </a:r>
                      <a:endParaRPr lang="es-BO" sz="1050" dirty="0">
                        <a:effectLst/>
                      </a:endParaRPr>
                    </a:p>
                    <a:p>
                      <a:pPr algn="just">
                        <a:lnSpc>
                          <a:spcPct val="115000"/>
                        </a:lnSpc>
                        <a:spcAft>
                          <a:spcPts val="0"/>
                        </a:spcAft>
                      </a:pPr>
                      <a:r>
                        <a:rPr lang="es-ES" sz="1050" dirty="0">
                          <a:effectLst/>
                        </a:rPr>
                        <a:t>1.-Un proceso de admisión tranquilo y profesional y una presentación puede aliviar al paciente y establecer un tono positivo para su estancia  en el hospital.</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3.-El apoyo a las personas de apoyo del paciente pueden fomentar su capacidad de ayudar a éste.</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4.-La enseñanza del paciente  sobre las pruebas  y medidas de tratamiento pueden ayudar a disminuir su miedo y ansiedad asociados a lo desconocido y mejorar su sensación de control sobre la situación.</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 </a:t>
                      </a:r>
                      <a:endParaRPr lang="es-BO" sz="1050" dirty="0">
                        <a:effectLst/>
                      </a:endParaRPr>
                    </a:p>
                    <a:p>
                      <a:pPr algn="just">
                        <a:lnSpc>
                          <a:spcPct val="115000"/>
                        </a:lnSpc>
                        <a:spcAft>
                          <a:spcPts val="0"/>
                        </a:spcAft>
                      </a:pPr>
                      <a:r>
                        <a:rPr lang="es-ES" sz="1050" dirty="0">
                          <a:effectLst/>
                        </a:rPr>
                        <a:t>2-5.- El proporcionarle apoyo emocional  y el animarle a compartir puede ayudar al cliente a aclarar y expresar sus temores, permitiendo a la enfermera  conocer sus sentimientos.</a:t>
                      </a:r>
                      <a:endParaRPr lang="es-BO" sz="1050" dirty="0">
                        <a:effectLst/>
                        <a:latin typeface="Calibri"/>
                        <a:ea typeface="Calibri"/>
                        <a:cs typeface="Times New Roman"/>
                      </a:endParaRPr>
                    </a:p>
                  </a:txBody>
                  <a:tcPr marL="32234" marR="32234" marT="0" marB="0"/>
                </a:tc>
              </a:tr>
            </a:tbl>
          </a:graphicData>
        </a:graphic>
      </p:graphicFrame>
    </p:spTree>
    <p:extLst>
      <p:ext uri="{BB962C8B-B14F-4D97-AF65-F5344CB8AC3E}">
        <p14:creationId xmlns:p14="http://schemas.microsoft.com/office/powerpoint/2010/main" val="1746329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Verano">
  <a:themeElements>
    <a:clrScheme name="Verano">
      <a:dk1>
        <a:sysClr val="windowText" lastClr="000000"/>
      </a:dk1>
      <a:lt1>
        <a:sysClr val="window" lastClr="FFFFFF"/>
      </a:lt1>
      <a:dk2>
        <a:srgbClr val="E89117"/>
      </a:dk2>
      <a:lt2>
        <a:srgbClr val="FEDD78"/>
      </a:lt2>
      <a:accent1>
        <a:srgbClr val="A1B633"/>
      </a:accent1>
      <a:accent2>
        <a:srgbClr val="C4D73F"/>
      </a:accent2>
      <a:accent3>
        <a:srgbClr val="FFCE2D"/>
      </a:accent3>
      <a:accent4>
        <a:srgbClr val="FFA600"/>
      </a:accent4>
      <a:accent5>
        <a:srgbClr val="ED5E00"/>
      </a:accent5>
      <a:accent6>
        <a:srgbClr val="C62D03"/>
      </a:accent6>
      <a:hlink>
        <a:srgbClr val="408080"/>
      </a:hlink>
      <a:folHlink>
        <a:srgbClr val="5EAEAE"/>
      </a:folHlink>
    </a:clrScheme>
    <a:fontScheme name="Verano">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ano">
      <a:fillStyleLst>
        <a:solidFill>
          <a:schemeClr val="phClr"/>
        </a:solidFill>
        <a:gradFill rotWithShape="1">
          <a:gsLst>
            <a:gs pos="0">
              <a:schemeClr val="phClr">
                <a:tint val="70000"/>
                <a:lumMod val="110000"/>
              </a:schemeClr>
            </a:gs>
            <a:gs pos="100000">
              <a:schemeClr val="phClr">
                <a:tint val="90000"/>
              </a:schemeClr>
            </a:gs>
          </a:gsLst>
          <a:lin ang="5400000" scaled="1"/>
        </a:gradFill>
        <a:gradFill rotWithShape="1">
          <a:gsLst>
            <a:gs pos="0">
              <a:schemeClr val="phClr">
                <a:tint val="98000"/>
                <a:satMod val="120000"/>
                <a:lumMod val="110000"/>
              </a:schemeClr>
            </a:gs>
            <a:gs pos="100000">
              <a:schemeClr val="phClr">
                <a:shade val="90000"/>
                <a:lumMod val="90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88900" dist="38100" dir="5400000" algn="ctr" rotWithShape="0">
              <a:srgbClr val="000000">
                <a:alpha val="65000"/>
              </a:srgbClr>
            </a:outerShdw>
          </a:effectLst>
          <a:scene3d>
            <a:camera prst="orthographicFront">
              <a:rot lat="0" lon="0" rev="0"/>
            </a:camera>
            <a:lightRig rig="threePt" dir="tl">
              <a:rot lat="0" lon="0" rev="5400000"/>
            </a:lightRig>
          </a:scene3d>
          <a:sp3d>
            <a:bevelT w="25400" h="38100"/>
          </a:sp3d>
        </a:effectStyle>
      </a:effectStyleLst>
      <a:bgFillStyleLst>
        <a:solidFill>
          <a:schemeClr val="phClr"/>
        </a:solidFill>
        <a:gradFill rotWithShape="1">
          <a:gsLst>
            <a:gs pos="0">
              <a:schemeClr val="phClr">
                <a:tint val="97000"/>
                <a:shade val="80000"/>
                <a:hueMod val="110000"/>
                <a:satMod val="120000"/>
              </a:schemeClr>
            </a:gs>
            <a:gs pos="100000">
              <a:schemeClr val="phClr">
                <a:shade val="60000"/>
                <a:hueMod val="40000"/>
                <a:satMod val="120000"/>
                <a:lumMod val="103000"/>
              </a:schemeClr>
            </a:gs>
          </a:gsLst>
          <a:lin ang="5400000" scaled="1"/>
        </a:gradFill>
        <a:gradFill rotWithShape="1">
          <a:gsLst>
            <a:gs pos="0">
              <a:schemeClr val="phClr">
                <a:tint val="97000"/>
                <a:shade val="80000"/>
                <a:hueMod val="110000"/>
                <a:satMod val="130000"/>
                <a:lumMod val="100000"/>
              </a:schemeClr>
            </a:gs>
            <a:gs pos="100000">
              <a:schemeClr val="phClr">
                <a:shade val="60000"/>
                <a:hueMod val="40000"/>
                <a:satMod val="120000"/>
                <a:lumMod val="103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Verano</Template>
  <TotalTime>254</TotalTime>
  <Words>2550</Words>
  <Application>Microsoft Office PowerPoint</Application>
  <PresentationFormat>Presentación en pantalla (4:3)</PresentationFormat>
  <Paragraphs>408</Paragraphs>
  <Slides>24</Slides>
  <Notes>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Verano</vt:lpstr>
      <vt:lpstr>MINI PAE CARDIOLOGIA </vt:lpstr>
      <vt:lpstr>DATOS GENERALES</vt:lpstr>
      <vt:lpstr>Presentación de PowerPoint</vt:lpstr>
      <vt:lpstr>MOTIVO DE CONSULTA Y ENFERMEDAD ACTUAL</vt:lpstr>
      <vt:lpstr>DESCRIPCION DEL DIAGNOSTICO MEDICO</vt:lpstr>
      <vt:lpstr>TRAUMA DE LA ARTERIA FEMORAL</vt:lpstr>
      <vt:lpstr>CLASIFICACION</vt:lpstr>
      <vt:lpstr>Tipos de lesión vascular. </vt:lpstr>
      <vt:lpstr>Presentación de PowerPoint</vt:lpstr>
      <vt:lpstr>Presentación de PowerPoint</vt:lpstr>
      <vt:lpstr>Presentación de PowerPoint</vt:lpstr>
      <vt:lpstr>DIAGNÓSTICO</vt:lpstr>
      <vt:lpstr>Presentación de PowerPoint</vt:lpstr>
      <vt:lpstr>Complicaciones del manejo del trauma vascular</vt:lpstr>
      <vt:lpstr>Presentación de PowerPoint</vt:lpstr>
      <vt:lpstr>SINDROME COMPARTIMENTAL</vt:lpstr>
      <vt:lpstr>Presentación de PowerPoint</vt:lpstr>
      <vt:lpstr>PATRON DE PERCEPCION – MANEJO DE SALUD </vt:lpstr>
      <vt:lpstr>PATRON  NUTRICION Y METABOLISMO</vt:lpstr>
      <vt:lpstr>Presentación de PowerPoint</vt:lpstr>
      <vt:lpstr>PATRON DE ACTIVIDAD Y EJERCICIO</vt:lpstr>
      <vt:lpstr>PATRON DE DESCANSO Y SUEÑO </vt:lpstr>
      <vt:lpstr>PATRON COGNOSITIVO PERCEPTUAL</vt:lpstr>
      <vt:lpstr>PATRON DE ENFRENTAMIENTO Y TOLERANCIA AL ESTRÉS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LILI</dc:creator>
  <cp:lastModifiedBy>LILI</cp:lastModifiedBy>
  <cp:revision>31</cp:revision>
  <dcterms:created xsi:type="dcterms:W3CDTF">2014-03-15T04:01:05Z</dcterms:created>
  <dcterms:modified xsi:type="dcterms:W3CDTF">2014-03-15T14:47:18Z</dcterms:modified>
</cp:coreProperties>
</file>