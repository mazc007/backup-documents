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266" r:id="rId3"/>
    <p:sldId id="267" r:id="rId4"/>
    <p:sldId id="268" r:id="rId5"/>
    <p:sldId id="269" r:id="rId6"/>
    <p:sldId id="270" r:id="rId7"/>
    <p:sldId id="271" r:id="rId8"/>
    <p:sldId id="272" r:id="rId9"/>
    <p:sldId id="273" r:id="rId10"/>
    <p:sldId id="274" r:id="rId11"/>
    <p:sldId id="275" r:id="rId12"/>
    <p:sldId id="265" r:id="rId13"/>
    <p:sldId id="257" r:id="rId14"/>
    <p:sldId id="258" r:id="rId15"/>
    <p:sldId id="259" r:id="rId16"/>
    <p:sldId id="260" r:id="rId17"/>
    <p:sldId id="261" r:id="rId18"/>
    <p:sldId id="262" r:id="rId19"/>
    <p:sldId id="263" r:id="rId20"/>
    <p:sldId id="276" r:id="rId21"/>
    <p:sldId id="277" r:id="rId22"/>
    <p:sldId id="278" r:id="rId23"/>
    <p:sldId id="279" r:id="rId24"/>
    <p:sldId id="280" r:id="rId25"/>
    <p:sldId id="281" r:id="rId26"/>
    <p:sldId id="282" r:id="rId27"/>
    <p:sldId id="283" r:id="rId28"/>
    <p:sldId id="284" r:id="rId29"/>
    <p:sldId id="285" r:id="rId30"/>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45" d="100"/>
          <a:sy n="45" d="100"/>
        </p:scale>
        <p:origin x="-123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sp>
        <p:nvSpPr>
          <p:cNvPr id="9" name="8 Título"/>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29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19" name="18 Marcador de pie de página"/>
          <p:cNvSpPr>
            <a:spLocks noGrp="1"/>
          </p:cNvSpPr>
          <p:nvPr>
            <p:ph type="ftr" sz="quarter" idx="11"/>
          </p:nvPr>
        </p:nvSpPr>
        <p:spPr/>
        <p:txBody>
          <a:bodyPr/>
          <a:lstStyle/>
          <a:p>
            <a:endParaRPr lang="es-BO"/>
          </a:p>
        </p:txBody>
      </p:sp>
      <p:sp>
        <p:nvSpPr>
          <p:cNvPr id="27" name="26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6" name="5 Marcador de pie de página"/>
          <p:cNvSpPr>
            <a:spLocks noGrp="1"/>
          </p:cNvSpPr>
          <p:nvPr>
            <p:ph type="ftr" sz="quarter" idx="11"/>
          </p:nvPr>
        </p:nvSpPr>
        <p:spPr/>
        <p:txBody>
          <a:bodyPr/>
          <a:lstStyle/>
          <a:p>
            <a:endParaRPr lang="es-BO"/>
          </a:p>
        </p:txBody>
      </p:sp>
      <p:sp>
        <p:nvSpPr>
          <p:cNvPr id="7" name="6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tIns="45720" anchor="b"/>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8" name="7 Marcador de pie de página"/>
          <p:cNvSpPr>
            <a:spLocks noGrp="1"/>
          </p:cNvSpPr>
          <p:nvPr>
            <p:ph type="ftr" sz="quarter" idx="11"/>
          </p:nvPr>
        </p:nvSpPr>
        <p:spPr/>
        <p:txBody>
          <a:bodyPr/>
          <a:lstStyle/>
          <a:p>
            <a:endParaRPr lang="es-BO"/>
          </a:p>
        </p:txBody>
      </p:sp>
      <p:sp>
        <p:nvSpPr>
          <p:cNvPr id="9" name="8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4" name="3 Marcador de pie de página"/>
          <p:cNvSpPr>
            <a:spLocks noGrp="1"/>
          </p:cNvSpPr>
          <p:nvPr>
            <p:ph type="ftr" sz="quarter" idx="11"/>
          </p:nvPr>
        </p:nvSpPr>
        <p:spPr/>
        <p:txBody>
          <a:bodyPr/>
          <a:lstStyle/>
          <a:p>
            <a:endParaRPr lang="es-BO"/>
          </a:p>
        </p:txBody>
      </p:sp>
      <p:sp>
        <p:nvSpPr>
          <p:cNvPr id="5" name="4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3" name="2 Marcador de pie de página"/>
          <p:cNvSpPr>
            <a:spLocks noGrp="1"/>
          </p:cNvSpPr>
          <p:nvPr>
            <p:ph type="ftr" sz="quarter" idx="11"/>
          </p:nvPr>
        </p:nvSpPr>
        <p:spPr/>
        <p:txBody>
          <a:bodyPr/>
          <a:lstStyle/>
          <a:p>
            <a:endParaRPr lang="es-BO"/>
          </a:p>
        </p:txBody>
      </p:sp>
      <p:sp>
        <p:nvSpPr>
          <p:cNvPr id="4" name="3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6" name="5 Marcador de pie de página"/>
          <p:cNvSpPr>
            <a:spLocks noGrp="1"/>
          </p:cNvSpPr>
          <p:nvPr>
            <p:ph type="ftr" sz="quarter" idx="11"/>
          </p:nvPr>
        </p:nvSpPr>
        <p:spPr/>
        <p:txBody>
          <a:bodyPr/>
          <a:lstStyle/>
          <a:p>
            <a:endParaRPr lang="es-BO"/>
          </a:p>
        </p:txBody>
      </p:sp>
      <p:sp>
        <p:nvSpPr>
          <p:cNvPr id="7" name="6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Recortar y redondear rectángulo de esquina sencilla"/>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11 Triángulo rectángulo"/>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1 Título"/>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6" name="5 Marcador de pie de página"/>
          <p:cNvSpPr>
            <a:spLocks noGrp="1"/>
          </p:cNvSpPr>
          <p:nvPr>
            <p:ph type="ftr" sz="quarter" idx="11"/>
          </p:nvPr>
        </p:nvSpPr>
        <p:spPr/>
        <p:txBody>
          <a:bodyPr/>
          <a:lstStyle/>
          <a:p>
            <a:endParaRPr lang="es-BO"/>
          </a:p>
        </p:txBody>
      </p:sp>
      <p:sp>
        <p:nvSpPr>
          <p:cNvPr id="7" name="6 Marcador de número de diapositiva"/>
          <p:cNvSpPr>
            <a:spLocks noGrp="1"/>
          </p:cNvSpPr>
          <p:nvPr>
            <p:ph type="sldNum" sz="quarter" idx="12"/>
          </p:nvPr>
        </p:nvSpPr>
        <p:spPr>
          <a:xfrm>
            <a:off x="8077200" y="6356350"/>
            <a:ext cx="609600" cy="365125"/>
          </a:xfrm>
        </p:spPr>
        <p:txBody>
          <a:bodyPr/>
          <a:lstStyle/>
          <a:p>
            <a:fld id="{44B95EBC-4546-4207-A014-BBA344B3BB6B}" type="slidenum">
              <a:rPr lang="es-BO" smtClean="0"/>
              <a:pPr/>
              <a:t>‹Nº›</a:t>
            </a:fld>
            <a:endParaRPr lang="es-BO"/>
          </a:p>
        </p:txBody>
      </p:sp>
      <p:sp>
        <p:nvSpPr>
          <p:cNvPr id="3" name="2 Marcador de posición de imagen"/>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s-ES" smtClean="0"/>
              <a:t>Haga clic en el icono para agregar una imagen</a:t>
            </a:r>
            <a:endParaRPr kumimoji="0" lang="en-US" dirty="0"/>
          </a:p>
        </p:txBody>
      </p:sp>
      <p:sp>
        <p:nvSpPr>
          <p:cNvPr id="10" name="9 Forma libre"/>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10 Forma libre"/>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914401"/>
            <a:ext cx="2057400" cy="5211763"/>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914401"/>
            <a:ext cx="6019800" cy="5211763"/>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59734699-8B4A-4AC0-9C83-846AF986068B}" type="datetimeFigureOut">
              <a:rPr lang="es-BO" smtClean="0"/>
              <a:pPr/>
              <a:t>11/09/2010</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44B95EBC-4546-4207-A014-BBA344B3BB6B}" type="slidenum">
              <a:rPr lang="es-BO" smtClean="0"/>
              <a:pPr/>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6 Forma libre"/>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7 Forma libre"/>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8 Marcador de título"/>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9734699-8B4A-4AC0-9C83-846AF986068B}" type="datetimeFigureOut">
              <a:rPr lang="es-BO" smtClean="0"/>
              <a:pPr/>
              <a:t>11/09/2010</a:t>
            </a:fld>
            <a:endParaRPr lang="es-BO"/>
          </a:p>
        </p:txBody>
      </p:sp>
      <p:sp>
        <p:nvSpPr>
          <p:cNvPr id="22" name="21 Marcador de pie de página"/>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s-BO"/>
          </a:p>
        </p:txBody>
      </p:sp>
      <p:sp>
        <p:nvSpPr>
          <p:cNvPr id="18" name="17 Marcador de número de diapositiva"/>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4B95EBC-4546-4207-A014-BBA344B3BB6B}" type="slidenum">
              <a:rPr lang="es-BO" smtClean="0"/>
              <a:pPr/>
              <a:t>‹Nº›</a:t>
            </a:fld>
            <a:endParaRPr lang="es-BO"/>
          </a:p>
        </p:txBody>
      </p:sp>
      <p:grpSp>
        <p:nvGrpSpPr>
          <p:cNvPr id="2" name="1 Grupo"/>
          <p:cNvGrpSpPr/>
          <p:nvPr/>
        </p:nvGrpSpPr>
        <p:grpSpPr>
          <a:xfrm>
            <a:off x="-19017" y="202408"/>
            <a:ext cx="9180548" cy="649224"/>
            <a:chOff x="-19045" y="216550"/>
            <a:chExt cx="9180548" cy="649224"/>
          </a:xfrm>
        </p:grpSpPr>
        <p:sp>
          <p:nvSpPr>
            <p:cNvPr id="12" name="11 Forma libre"/>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Forma libre"/>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www.google.com.bo/imgres?imgurl=http://img260.imageshack.us/img260/414/pesticidas3wj.jpg&amp;imgrefurl=http://fenixdiamondutopia.spaces.live.com/%3F_c11_BlogPart_pagedir%3DLast%26_c11_BlogPart_BlogPart%3Dblogview%26_c%3DBlogPart%26partqs%3Dcat%253DNATURALEZA&amp;usg=__57_TGxUlUWywIYCyqw8c6MW6V7A=&amp;h=414&amp;w=300&amp;sz=39&amp;hl=es&amp;start=59&amp;zoom=1&amp;tbnid=b7ebZIa1lirlTM:&amp;tbnh=125&amp;tbnw=91&amp;prev=/images%3Fq%3DPLAGUICIDAS%2BENVENENAMIENTO%2BDE%2BANIMALES%26start%3D40%26hl%3Des%26sa%3DN%26gbv%3D2%26tbs%3Disch:1&amp;itbs=1"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www.google.com.bo/imgres?imgurl=http://www.bayresnoproblem.com.ar/catalog/images/plagas.jpg&amp;imgrefurl=http://www.bayresnoproblem.com.ar/catalog/index.php%3FcPath%3D21&amp;usg=__Cq6im0q-x_h3NkTHU4Nsxsi6GuQ=&amp;h=292&amp;w=293&amp;sz=68&amp;hl=es&amp;start=732&amp;zoom=1&amp;tbnid=F93Ffp1mM519WM:&amp;tbnh=115&amp;tbnw=115&amp;prev=/images%3Fq%3DPLAGUICIDAS%26start%3D720%26hl%3Des%26sa%3DN%26gbv%3D2%26tbs%3Disch:1&amp;itbs=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www.google.com.bo/imgres?imgurl=http://farm1.static.flickr.com/151/345374681_530edfd92c_m.jpg&amp;imgrefurl=http://www.chilepotenciaalimentaria.cl/content/view/2709/Limites-a-los-pesticidas.html&amp;usg=__ZAw_TgjlIBO-IhWJXbQkXcLg28s=&amp;h=240&amp;w=182&amp;sz=23&amp;hl=es&amp;start=554&amp;zoom=1&amp;tbnid=5-JKcSzG-q96-M:&amp;tbnh=110&amp;tbnw=83&amp;prev=/images%3Fq%3DPLAGUICIDAS%26start%3D540%26hl%3Des%26sa%3DN%26gbv%3D2%26tbs%3Disch:1&amp;itbs=1" TargetMode="Externa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hyperlink" Target="http://www.google.com.bo/imgres?imgurl=http://www.hoyendiachacabuco.com.ar/includes/hed.php%3Fn%3D6478_1_1271166043.jpg%26s%3D400&amp;imgrefurl=http://www.hoyendiachacabuco.com.ar/%3Fp%3D6478&amp;usg=__UaVKwYc9xBTzBkQ2HUlWj_63-kA=&amp;h=213&amp;w=400&amp;sz=92&amp;hl=es&amp;start=546&amp;zoom=1&amp;tbnid=eFiYFA0VXUKxGM:&amp;tbnh=66&amp;tbnw=124&amp;prev=/images%3Fq%3DPLAGUICIDAS%26start%3D540%26hl%3Des%26sa%3DN%26gbv%3D2%26tbs%3Disch:1&amp;itbs=1"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www.google.com.bo/imgres?imgurl=http://www.editlegado.com/images/plantas-plaguicidas-en-cr.jpg&amp;imgrefurl=http://www.editlegado.com/advanced_search_result.php%3Fkeywords%3D%2520%26categories_id%3D96%26inc_subcat%3D1%26sort%3D3d%26page%3D3&amp;usg=__pMkkO2yj3tOpyaAuieKQhhG9qDU=&amp;h=283&amp;w=199&amp;sz=15&amp;hl=es&amp;start=367&amp;zoom=0&amp;tbnid=VqwvdtwchNQgEM:&amp;tbnh=114&amp;tbnw=80&amp;prev=/images%3Fq%3DPLAGUICIDAS%26start%3D360%26hl%3Des%26sa%3DN%26gbv%3D2%26tbs%3Disch:1&amp;itbs=1"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www.google.com.bo/imgres?imgurl=http://www.paritarios.cl/images/esp_plaguicida01.gif&amp;imgrefurl=http://www.paritarios.cl/especial_plaguicida.htm&amp;usg=__ny9XyS-nzQvJmlicV_uJ1X3xSFc=&amp;h=329&amp;w=270&amp;sz=23&amp;hl=es&amp;start=3&amp;zoom=1&amp;tbnid=sw9iYQ9NZyu4CM:&amp;tbnh=119&amp;tbnw=98&amp;prev=/images%3Fq%3DPLAGUICIDAS%26hl%3Des%26sa%3DG%26gbv%3D2%26tbs%3Disch:1&amp;itbs=1"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www.google.com.bo/imgres?imgurl=http://www.fmbolivia.com.bo/noticias/fotos/640px/22818-1265887875-5821.jpg&amp;imgrefurl=http://www.fmbolivia.com.bo/noticia22818-inadecuado-uso-de-plaguicidas-causa-cancer-y-contamina-el-medio-ambiente.html&amp;usg=__tuk7wf9Rq5B_lBykzAMZwtVoFX4=&amp;h=195&amp;w=260&amp;sz=12&amp;hl=es&amp;start=378&amp;zoom=1&amp;tbnid=cilqB0exNeFrfM:&amp;tbnh=84&amp;tbnw=112&amp;prev=/images%3Fq%3DPLAGUICIDAS%26start%3D360%26hl%3Des%26sa%3DN%26gbv%3D2%26tbs%3Disch:1&amp;itbs=1"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hyperlink" Target="http://www.google.com.bo/imgres?imgurl=http://i324.photobucket.com/albums/k327/sandesucks/plaguicidas.gif&amp;imgrefurl=http://whocaresaboutphysics.blogspot.com/&amp;usg=__UMYRMiPtN4Jm8pLkYxwbaffWsH0=&amp;h=157&amp;w=218&amp;sz=21&amp;hl=es&amp;start=914&amp;zoom=1&amp;tbnid=NQplRKhXy5sygM:&amp;tbnh=77&amp;tbnw=107&amp;prev=/images%3Fq%3DPLAGUICIDAS%26start%3D900%26hl%3Des%26sa%3DN%26gbv%3D2%26tbs%3Disch:1&amp;itbs=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p:txBody>
          <a:bodyPr>
            <a:normAutofit/>
          </a:bodyPr>
          <a:lstStyle/>
          <a:p>
            <a:pPr algn="ctr"/>
            <a:r>
              <a:rPr lang="es-BO" dirty="0" smtClean="0"/>
              <a:t>PLAGUICIDAS</a:t>
            </a:r>
            <a:br>
              <a:rPr lang="es-BO" dirty="0" smtClean="0"/>
            </a:br>
            <a:r>
              <a:rPr lang="es-BO" dirty="0" smtClean="0"/>
              <a:t>Lecturas de apoyo</a:t>
            </a:r>
            <a:endParaRPr lang="es-BO" dirty="0"/>
          </a:p>
        </p:txBody>
      </p:sp>
      <p:sp>
        <p:nvSpPr>
          <p:cNvPr id="5" name="4 Subtítulo"/>
          <p:cNvSpPr>
            <a:spLocks noGrp="1"/>
          </p:cNvSpPr>
          <p:nvPr>
            <p:ph type="subTitle" idx="1"/>
          </p:nvPr>
        </p:nvSpPr>
        <p:spPr>
          <a:xfrm>
            <a:off x="533400" y="3857628"/>
            <a:ext cx="7854696" cy="2357454"/>
          </a:xfrm>
        </p:spPr>
        <p:txBody>
          <a:bodyPr>
            <a:normAutofit/>
          </a:bodyPr>
          <a:lstStyle/>
          <a:p>
            <a:r>
              <a:rPr lang="es-BO" dirty="0" smtClean="0"/>
              <a:t>Elaborado por.- Cecilia Rafael</a:t>
            </a:r>
          </a:p>
          <a:p>
            <a:r>
              <a:rPr lang="es-BO" dirty="0" smtClean="0"/>
              <a:t>Lourdes Rosales</a:t>
            </a:r>
          </a:p>
          <a:p>
            <a:r>
              <a:rPr lang="es-BO" dirty="0" smtClean="0"/>
              <a:t>Carla Sánchez</a:t>
            </a:r>
          </a:p>
          <a:p>
            <a:r>
              <a:rPr lang="es-BO" dirty="0" err="1" smtClean="0"/>
              <a:t>Lilian</a:t>
            </a:r>
            <a:r>
              <a:rPr lang="es-BO" dirty="0" smtClean="0"/>
              <a:t> Zapata  </a:t>
            </a:r>
            <a:endParaRPr lang="es-B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28625" y="0"/>
            <a:ext cx="8229600" cy="1928813"/>
          </a:xfrm>
        </p:spPr>
        <p:txBody>
          <a:bodyPr rtlCol="0">
            <a:normAutofit fontScale="90000"/>
          </a:bodyPr>
          <a:lstStyle/>
          <a:p>
            <a:pPr fontAlgn="auto">
              <a:spcAft>
                <a:spcPts val="0"/>
              </a:spcAft>
              <a:defRPr/>
            </a:pPr>
            <a:r>
              <a:rPr lang="es-ES" b="1" dirty="0" smtClean="0">
                <a:solidFill>
                  <a:srgbClr val="7030A0"/>
                </a:solidFill>
                <a:latin typeface="Monotype Corsiva" pitchFamily="66" charset="0"/>
              </a:rPr>
              <a:t>El envenenamiento  por plaguicidas engañan puede parecerse a otra enfermedades</a:t>
            </a:r>
          </a:p>
        </p:txBody>
      </p:sp>
      <p:sp>
        <p:nvSpPr>
          <p:cNvPr id="7" name="6 Marcador de contenido"/>
          <p:cNvSpPr>
            <a:spLocks noGrp="1"/>
          </p:cNvSpPr>
          <p:nvPr>
            <p:ph idx="1"/>
          </p:nvPr>
        </p:nvSpPr>
        <p:spPr>
          <a:xfrm>
            <a:off x="457200" y="1857375"/>
            <a:ext cx="8229600" cy="4268788"/>
          </a:xfrm>
        </p:spPr>
        <p:txBody>
          <a:bodyPr rtlCol="0">
            <a:normAutofit lnSpcReduction="10000"/>
          </a:bodyPr>
          <a:lstStyle/>
          <a:p>
            <a:pPr fontAlgn="auto">
              <a:spcAft>
                <a:spcPts val="0"/>
              </a:spcAft>
              <a:buFont typeface="Arial" pitchFamily="34" charset="0"/>
              <a:buNone/>
              <a:defRPr/>
            </a:pPr>
            <a:r>
              <a:rPr lang="es-ES" dirty="0" smtClean="0"/>
              <a:t> </a:t>
            </a:r>
            <a:r>
              <a:rPr lang="es-ES" sz="2800" dirty="0" smtClean="0">
                <a:latin typeface="Monotype Corsiva" pitchFamily="66" charset="0"/>
              </a:rPr>
              <a:t>Muchas veces, estos se pueden confundirse con el resfrió común, el paludismo, una reacción alérgica, enfermedades del pulmón, o diferentes tipos del estomago.</a:t>
            </a:r>
          </a:p>
          <a:p>
            <a:pPr fontAlgn="auto">
              <a:spcAft>
                <a:spcPts val="0"/>
              </a:spcAft>
              <a:buFont typeface="Arial" pitchFamily="34" charset="0"/>
              <a:buNone/>
              <a:defRPr/>
            </a:pPr>
            <a:endParaRPr lang="es-ES" sz="2800" dirty="0" smtClean="0">
              <a:latin typeface="Monotype Corsiva" pitchFamily="66" charset="0"/>
            </a:endParaRPr>
          </a:p>
          <a:p>
            <a:pPr fontAlgn="auto">
              <a:spcAft>
                <a:spcPts val="0"/>
              </a:spcAft>
              <a:buFont typeface="Arial" pitchFamily="34" charset="0"/>
              <a:buNone/>
              <a:defRPr/>
            </a:pPr>
            <a:r>
              <a:rPr lang="es-ES" sz="2800" dirty="0" smtClean="0">
                <a:latin typeface="Monotype Corsiva" pitchFamily="66" charset="0"/>
              </a:rPr>
              <a:t>Rara vez se tiene una sola seña la mayoría de las veces se presentan muchas señas al mismo tiempo.</a:t>
            </a:r>
          </a:p>
          <a:p>
            <a:pPr fontAlgn="auto">
              <a:spcAft>
                <a:spcPts val="0"/>
              </a:spcAft>
              <a:buFont typeface="Arial" pitchFamily="34" charset="0"/>
              <a:buNone/>
              <a:defRPr/>
            </a:pPr>
            <a:endParaRPr lang="es-ES" sz="2800" dirty="0" smtClean="0">
              <a:latin typeface="Monotype Corsiva" pitchFamily="66" charset="0"/>
            </a:endParaRPr>
          </a:p>
          <a:p>
            <a:pPr fontAlgn="auto">
              <a:spcAft>
                <a:spcPts val="0"/>
              </a:spcAft>
              <a:buFont typeface="Arial" pitchFamily="34" charset="0"/>
              <a:buNone/>
              <a:defRPr/>
            </a:pPr>
            <a:r>
              <a:rPr lang="es-ES" sz="2800" dirty="0" smtClean="0">
                <a:latin typeface="Monotype Corsiva" pitchFamily="66" charset="0"/>
              </a:rPr>
              <a:t>Es  posible no tener idea que alguien ha sido envenenado, porque las señales pueden manifestarse muy lentamente</a:t>
            </a:r>
            <a:r>
              <a:rPr lang="es-ES" sz="2800" dirty="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oc-enf3"/>
          <p:cNvPicPr>
            <a:picLocks noChangeAspect="1" noChangeArrowheads="1"/>
          </p:cNvPicPr>
          <p:nvPr/>
        </p:nvPicPr>
        <p:blipFill>
          <a:blip r:embed="rId2"/>
          <a:srcRect/>
          <a:stretch>
            <a:fillRect/>
          </a:stretch>
        </p:blipFill>
        <p:spPr bwMode="auto">
          <a:xfrm>
            <a:off x="6500813" y="1571625"/>
            <a:ext cx="2214562" cy="4286250"/>
          </a:xfrm>
          <a:prstGeom prst="rect">
            <a:avLst/>
          </a:prstGeom>
          <a:noFill/>
          <a:ln w="9525">
            <a:noFill/>
            <a:miter lim="800000"/>
            <a:headEnd/>
            <a:tailEnd/>
          </a:ln>
        </p:spPr>
      </p:pic>
      <p:sp>
        <p:nvSpPr>
          <p:cNvPr id="3075" name="1 Título"/>
          <p:cNvSpPr>
            <a:spLocks noGrp="1"/>
          </p:cNvSpPr>
          <p:nvPr>
            <p:ph type="title"/>
          </p:nvPr>
        </p:nvSpPr>
        <p:spPr>
          <a:xfrm>
            <a:off x="457200" y="0"/>
            <a:ext cx="8229600" cy="1500188"/>
          </a:xfrm>
        </p:spPr>
        <p:txBody>
          <a:bodyPr/>
          <a:lstStyle/>
          <a:p>
            <a:pPr algn="l"/>
            <a:r>
              <a:rPr lang="es-ES" sz="3200" smtClean="0"/>
              <a:t> </a:t>
            </a:r>
            <a:r>
              <a:rPr lang="es-ES" sz="3200" b="1" smtClean="0">
                <a:solidFill>
                  <a:srgbClr val="7030A0"/>
                </a:solidFill>
                <a:latin typeface="Monotype Corsiva" pitchFamily="66" charset="0"/>
              </a:rPr>
              <a:t>Como se sabe si un problema de salud es causado por placiguicidas</a:t>
            </a:r>
          </a:p>
        </p:txBody>
      </p:sp>
      <p:sp>
        <p:nvSpPr>
          <p:cNvPr id="3" name="2 Marcador de contenido"/>
          <p:cNvSpPr>
            <a:spLocks noGrp="1"/>
          </p:cNvSpPr>
          <p:nvPr>
            <p:ph idx="1"/>
          </p:nvPr>
        </p:nvSpPr>
        <p:spPr>
          <a:xfrm>
            <a:off x="285750" y="1285875"/>
            <a:ext cx="8572500" cy="5214938"/>
          </a:xfrm>
        </p:spPr>
        <p:txBody>
          <a:bodyPr rtlCol="0">
            <a:normAutofit/>
          </a:bodyPr>
          <a:lstStyle/>
          <a:p>
            <a:pPr fontAlgn="auto">
              <a:spcAft>
                <a:spcPts val="0"/>
              </a:spcAft>
              <a:buFont typeface="Arial" pitchFamily="34" charset="0"/>
              <a:buNone/>
              <a:defRPr/>
            </a:pPr>
            <a:r>
              <a:rPr lang="es-ES" dirty="0" smtClean="0"/>
              <a:t> </a:t>
            </a:r>
          </a:p>
          <a:p>
            <a:pPr fontAlgn="auto">
              <a:spcAft>
                <a:spcPts val="0"/>
              </a:spcAft>
              <a:buFont typeface="Arial" pitchFamily="34" charset="0"/>
              <a:buNone/>
              <a:defRPr/>
            </a:pPr>
            <a:r>
              <a:rPr lang="es-ES" dirty="0" smtClean="0">
                <a:latin typeface="Monotype Corsiva" pitchFamily="66" charset="0"/>
              </a:rPr>
              <a:t>Si una enfermedad es causada por plaguicidas </a:t>
            </a:r>
          </a:p>
          <a:p>
            <a:pPr fontAlgn="auto">
              <a:spcAft>
                <a:spcPts val="0"/>
              </a:spcAft>
              <a:buFont typeface="Arial" pitchFamily="34" charset="0"/>
              <a:buNone/>
              <a:defRPr/>
            </a:pPr>
            <a:r>
              <a:rPr lang="es-ES" dirty="0" smtClean="0">
                <a:latin typeface="Monotype Corsiva" pitchFamily="66" charset="0"/>
              </a:rPr>
              <a:t>es hablar con las personas que tiene </a:t>
            </a:r>
          </a:p>
          <a:p>
            <a:pPr fontAlgn="auto">
              <a:spcAft>
                <a:spcPts val="0"/>
              </a:spcAft>
              <a:buFont typeface="Arial" pitchFamily="34" charset="0"/>
              <a:buNone/>
              <a:defRPr/>
            </a:pPr>
            <a:r>
              <a:rPr lang="es-ES" dirty="0" smtClean="0">
                <a:latin typeface="Monotype Corsiva" pitchFamily="66" charset="0"/>
              </a:rPr>
              <a:t>la misma enfermedad o que trabajan </a:t>
            </a:r>
          </a:p>
          <a:p>
            <a:pPr fontAlgn="auto">
              <a:spcAft>
                <a:spcPts val="0"/>
              </a:spcAft>
              <a:buFont typeface="Arial" pitchFamily="34" charset="0"/>
              <a:buNone/>
              <a:defRPr/>
            </a:pPr>
            <a:r>
              <a:rPr lang="es-ES" dirty="0" smtClean="0">
                <a:latin typeface="Monotype Corsiva" pitchFamily="66" charset="0"/>
              </a:rPr>
              <a:t>con los mismos plaguicidas.</a:t>
            </a:r>
          </a:p>
          <a:p>
            <a:pPr fontAlgn="auto">
              <a:spcAft>
                <a:spcPts val="0"/>
              </a:spcAft>
              <a:buFont typeface="Arial" pitchFamily="34" charset="0"/>
              <a:buNone/>
              <a:defRPr/>
            </a:pPr>
            <a:endParaRPr lang="es-ES" dirty="0" smtClean="0">
              <a:latin typeface="Monotype Corsiva" pitchFamily="66" charset="0"/>
            </a:endParaRPr>
          </a:p>
          <a:p>
            <a:pPr fontAlgn="auto">
              <a:spcAft>
                <a:spcPts val="0"/>
              </a:spcAft>
              <a:buFont typeface="Arial" pitchFamily="34" charset="0"/>
              <a:buNone/>
              <a:defRPr/>
            </a:pPr>
            <a:r>
              <a:rPr lang="es-ES" dirty="0" smtClean="0">
                <a:latin typeface="Monotype Corsiva" pitchFamily="66" charset="0"/>
              </a:rPr>
              <a:t>Si comparten las mismas señas de </a:t>
            </a:r>
          </a:p>
          <a:p>
            <a:pPr fontAlgn="auto">
              <a:spcAft>
                <a:spcPts val="0"/>
              </a:spcAft>
              <a:buFont typeface="Arial" pitchFamily="34" charset="0"/>
              <a:buNone/>
              <a:defRPr/>
            </a:pPr>
            <a:r>
              <a:rPr lang="es-ES" dirty="0" smtClean="0">
                <a:latin typeface="Monotype Corsiva" pitchFamily="66" charset="0"/>
              </a:rPr>
              <a:t>envenenamiento y si plaguicidas cerca,</a:t>
            </a:r>
          </a:p>
          <a:p>
            <a:pPr fontAlgn="auto">
              <a:spcAft>
                <a:spcPts val="0"/>
              </a:spcAft>
              <a:buFont typeface="Arial" pitchFamily="34" charset="0"/>
              <a:buNone/>
              <a:defRPr/>
            </a:pPr>
            <a:r>
              <a:rPr lang="es-ES" dirty="0" smtClean="0">
                <a:latin typeface="Monotype Corsiva" pitchFamily="66" charset="0"/>
              </a:rPr>
              <a:t> puede ser que estén enfermos a causa de los plaguicidas.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Título"/>
          <p:cNvSpPr>
            <a:spLocks noGrp="1"/>
          </p:cNvSpPr>
          <p:nvPr>
            <p:ph type="title"/>
          </p:nvPr>
        </p:nvSpPr>
        <p:spPr/>
        <p:txBody>
          <a:bodyPr/>
          <a:lstStyle/>
          <a:p>
            <a:r>
              <a:rPr lang="es-ES" sz="3200" smtClean="0">
                <a:solidFill>
                  <a:srgbClr val="7030A0"/>
                </a:solidFill>
                <a:latin typeface="Monotype Corsiva" pitchFamily="66" charset="0"/>
              </a:rPr>
              <a:t>Como reducir los peligros del uso de plaguicidas</a:t>
            </a:r>
          </a:p>
        </p:txBody>
      </p:sp>
      <p:sp>
        <p:nvSpPr>
          <p:cNvPr id="3" name="2 Marcador de contenido"/>
          <p:cNvSpPr>
            <a:spLocks noGrp="1"/>
          </p:cNvSpPr>
          <p:nvPr>
            <p:ph idx="1"/>
          </p:nvPr>
        </p:nvSpPr>
        <p:spPr>
          <a:xfrm>
            <a:off x="4643438" y="273050"/>
            <a:ext cx="4214812" cy="6156325"/>
          </a:xfrm>
        </p:spPr>
        <p:txBody>
          <a:bodyPr rtlCol="0">
            <a:normAutofit/>
          </a:bodyPr>
          <a:lstStyle/>
          <a:p>
            <a:pPr fontAlgn="auto">
              <a:spcAft>
                <a:spcPts val="0"/>
              </a:spcAft>
              <a:buFont typeface="Arial" pitchFamily="34" charset="0"/>
              <a:buNone/>
              <a:defRPr/>
            </a:pPr>
            <a:endParaRPr lang="es-ES" dirty="0" smtClean="0">
              <a:latin typeface="Monotype Corsiva" pitchFamily="66" charset="0"/>
            </a:endParaRPr>
          </a:p>
          <a:p>
            <a:pPr fontAlgn="auto">
              <a:spcAft>
                <a:spcPts val="0"/>
              </a:spcAft>
              <a:buFont typeface="Arial" pitchFamily="34" charset="0"/>
              <a:buNone/>
              <a:defRPr/>
            </a:pPr>
            <a:r>
              <a:rPr lang="es-ES" dirty="0" smtClean="0">
                <a:latin typeface="Monotype Corsiva" pitchFamily="66" charset="0"/>
              </a:rPr>
              <a:t>Pero parece no haber otra alternativa para los agricultores que deben producir cosechas para el mercado y para los campesinos que trabajan la tierra de otros.</a:t>
            </a:r>
          </a:p>
          <a:p>
            <a:pPr fontAlgn="auto">
              <a:spcAft>
                <a:spcPts val="0"/>
              </a:spcAft>
              <a:buFont typeface="Arial" pitchFamily="34" charset="0"/>
              <a:buNone/>
              <a:defRPr/>
            </a:pPr>
            <a:endParaRPr lang="es-ES" dirty="0" smtClean="0">
              <a:latin typeface="Monotype Corsiva" pitchFamily="66" charset="0"/>
            </a:endParaRPr>
          </a:p>
          <a:p>
            <a:pPr fontAlgn="auto">
              <a:spcAft>
                <a:spcPts val="0"/>
              </a:spcAft>
              <a:buFont typeface="Arial" pitchFamily="34" charset="0"/>
              <a:buNone/>
              <a:defRPr/>
            </a:pPr>
            <a:r>
              <a:rPr lang="es-ES" dirty="0" smtClean="0">
                <a:latin typeface="Monotype Corsiva" pitchFamily="66" charset="0"/>
              </a:rPr>
              <a:t>Si usted trabaja con plaguicidas, úselos con cuidado.</a:t>
            </a:r>
          </a:p>
        </p:txBody>
      </p:sp>
      <p:sp>
        <p:nvSpPr>
          <p:cNvPr id="4100" name="3 Marcador de texto"/>
          <p:cNvSpPr>
            <a:spLocks noGrp="1"/>
          </p:cNvSpPr>
          <p:nvPr>
            <p:ph type="body" sz="half" idx="2"/>
          </p:nvPr>
        </p:nvSpPr>
        <p:spPr>
          <a:xfrm>
            <a:off x="357188" y="1435100"/>
            <a:ext cx="3857625" cy="5065713"/>
          </a:xfrm>
        </p:spPr>
        <p:txBody>
          <a:bodyPr/>
          <a:lstStyle/>
          <a:p>
            <a:endParaRPr lang="es-BO" smtClean="0"/>
          </a:p>
        </p:txBody>
      </p:sp>
      <p:pic>
        <p:nvPicPr>
          <p:cNvPr id="4101" name="4 Imagen"/>
          <p:cNvPicPr>
            <a:picLocks noChangeAspect="1" noChangeArrowheads="1"/>
          </p:cNvPicPr>
          <p:nvPr/>
        </p:nvPicPr>
        <p:blipFill>
          <a:blip r:embed="rId2"/>
          <a:srcRect/>
          <a:stretch>
            <a:fillRect/>
          </a:stretch>
        </p:blipFill>
        <p:spPr bwMode="auto">
          <a:xfrm>
            <a:off x="500063" y="1500188"/>
            <a:ext cx="3500437" cy="478631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4 Imagen"/>
          <p:cNvPicPr>
            <a:picLocks noChangeAspect="1" noChangeArrowheads="1"/>
          </p:cNvPicPr>
          <p:nvPr/>
        </p:nvPicPr>
        <p:blipFill>
          <a:blip r:embed="rId2"/>
          <a:srcRect/>
          <a:stretch>
            <a:fillRect/>
          </a:stretch>
        </p:blipFill>
        <p:spPr bwMode="auto">
          <a:xfrm>
            <a:off x="4648200" y="642938"/>
            <a:ext cx="3995738" cy="5929312"/>
          </a:xfrm>
          <a:prstGeom prst="rect">
            <a:avLst/>
          </a:prstGeom>
          <a:noFill/>
          <a:ln w="9525">
            <a:noFill/>
            <a:miter lim="800000"/>
            <a:headEnd/>
            <a:tailEnd/>
          </a:ln>
        </p:spPr>
      </p:pic>
      <p:sp>
        <p:nvSpPr>
          <p:cNvPr id="5123" name="1 Título"/>
          <p:cNvSpPr>
            <a:spLocks noGrp="1"/>
          </p:cNvSpPr>
          <p:nvPr>
            <p:ph type="title"/>
          </p:nvPr>
        </p:nvSpPr>
        <p:spPr/>
        <p:txBody>
          <a:bodyPr/>
          <a:lstStyle/>
          <a:p>
            <a:r>
              <a:rPr lang="es-ES" sz="2400" smtClean="0">
                <a:solidFill>
                  <a:srgbClr val="7030A0"/>
                </a:solidFill>
                <a:latin typeface="Monotype Corsiva" pitchFamily="66" charset="0"/>
              </a:rPr>
              <a:t>Que  puede hacer para protegerse y proteger ala gente cercana:</a:t>
            </a:r>
          </a:p>
        </p:txBody>
      </p:sp>
      <p:sp>
        <p:nvSpPr>
          <p:cNvPr id="5124" name="2 Marcador de contenido"/>
          <p:cNvSpPr>
            <a:spLocks noGrp="1"/>
          </p:cNvSpPr>
          <p:nvPr>
            <p:ph idx="1"/>
          </p:nvPr>
        </p:nvSpPr>
        <p:spPr>
          <a:xfrm>
            <a:off x="6000750" y="642938"/>
            <a:ext cx="2686050" cy="5483225"/>
          </a:xfrm>
        </p:spPr>
        <p:txBody>
          <a:bodyPr/>
          <a:lstStyle/>
          <a:p>
            <a:pPr>
              <a:buFont typeface="Arial" charset="0"/>
              <a:buNone/>
            </a:pPr>
            <a:endParaRPr lang="es-BO" smtClean="0"/>
          </a:p>
        </p:txBody>
      </p:sp>
      <p:sp>
        <p:nvSpPr>
          <p:cNvPr id="5125" name="3 Marcador de texto"/>
          <p:cNvSpPr>
            <a:spLocks noGrp="1"/>
          </p:cNvSpPr>
          <p:nvPr>
            <p:ph type="body" sz="half" idx="2"/>
          </p:nvPr>
        </p:nvSpPr>
        <p:spPr>
          <a:xfrm>
            <a:off x="428625" y="1428750"/>
            <a:ext cx="3643313" cy="5065713"/>
          </a:xfrm>
        </p:spPr>
        <p:txBody>
          <a:bodyPr/>
          <a:lstStyle/>
          <a:p>
            <a:r>
              <a:rPr lang="es-ES" sz="2400" smtClean="0">
                <a:latin typeface="Monotype Corsiva" pitchFamily="66" charset="0"/>
              </a:rPr>
              <a:t>Si es posible controle las plagas sin utilizar plaguicidas.</a:t>
            </a:r>
          </a:p>
          <a:p>
            <a:r>
              <a:rPr lang="es-ES" sz="2400" smtClean="0">
                <a:latin typeface="Monotype Corsiva" pitchFamily="66" charset="0"/>
              </a:rPr>
              <a:t>No trabaje a solas con los plaguicidas.</a:t>
            </a:r>
          </a:p>
          <a:p>
            <a:r>
              <a:rPr lang="es-ES" sz="2400" smtClean="0">
                <a:latin typeface="Monotype Corsiva" pitchFamily="66" charset="0"/>
              </a:rPr>
              <a:t>Use el plaguicida solo en cultivo para el cual esta indicado.</a:t>
            </a:r>
          </a:p>
          <a:p>
            <a:r>
              <a:rPr lang="es-ES" sz="2400" smtClean="0">
                <a:latin typeface="Monotype Corsiva" pitchFamily="66" charset="0"/>
              </a:rPr>
              <a:t>Use la cantidad mínima posible</a:t>
            </a:r>
          </a:p>
          <a:p>
            <a:r>
              <a:rPr lang="es-ES" sz="2400" smtClean="0">
                <a:latin typeface="Monotype Corsiva" pitchFamily="66" charset="0"/>
              </a:rPr>
              <a:t>No mezcle diferentes plaguicidas.</a:t>
            </a:r>
          </a:p>
          <a:p>
            <a:r>
              <a:rPr lang="es-ES" sz="2400" smtClean="0">
                <a:latin typeface="Monotype Corsiva" pitchFamily="66" charset="0"/>
              </a:rPr>
              <a:t>Mantenga los plaguicidas fuera de cuerpo.</a:t>
            </a:r>
          </a:p>
          <a:p>
            <a:endParaRPr lang="es-ES" sz="2400" smtClean="0">
              <a:latin typeface="Monotype Corsiva" pitchFamily="66"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50" y="273050"/>
            <a:ext cx="4000500" cy="84138"/>
          </a:xfrm>
        </p:spPr>
        <p:txBody>
          <a:bodyPr rtlCol="0">
            <a:normAutofit fontScale="90000"/>
          </a:bodyPr>
          <a:lstStyle/>
          <a:p>
            <a:pPr fontAlgn="auto">
              <a:spcAft>
                <a:spcPts val="0"/>
              </a:spcAft>
              <a:defRPr/>
            </a:pPr>
            <a:endParaRPr lang="es-ES" dirty="0" smtClean="0"/>
          </a:p>
        </p:txBody>
      </p:sp>
      <p:sp>
        <p:nvSpPr>
          <p:cNvPr id="6147" name="2 Marcador de contenido"/>
          <p:cNvSpPr>
            <a:spLocks noGrp="1"/>
          </p:cNvSpPr>
          <p:nvPr>
            <p:ph idx="1"/>
          </p:nvPr>
        </p:nvSpPr>
        <p:spPr>
          <a:xfrm>
            <a:off x="4786313" y="273050"/>
            <a:ext cx="4000500" cy="6227763"/>
          </a:xfrm>
        </p:spPr>
        <p:txBody>
          <a:bodyPr/>
          <a:lstStyle/>
          <a:p>
            <a:pPr>
              <a:buFont typeface="Arial" charset="0"/>
              <a:buNone/>
            </a:pPr>
            <a:endParaRPr lang="es-BO" smtClean="0"/>
          </a:p>
        </p:txBody>
      </p:sp>
      <p:sp>
        <p:nvSpPr>
          <p:cNvPr id="6148" name="3 Marcador de texto"/>
          <p:cNvSpPr>
            <a:spLocks noGrp="1"/>
          </p:cNvSpPr>
          <p:nvPr>
            <p:ph type="body" sz="half" idx="2"/>
          </p:nvPr>
        </p:nvSpPr>
        <p:spPr>
          <a:xfrm>
            <a:off x="357188" y="285750"/>
            <a:ext cx="4143375" cy="6215063"/>
          </a:xfrm>
        </p:spPr>
        <p:txBody>
          <a:bodyPr/>
          <a:lstStyle/>
          <a:p>
            <a:endParaRPr lang="es-ES" smtClean="0"/>
          </a:p>
          <a:p>
            <a:r>
              <a:rPr lang="es-ES" sz="2400" smtClean="0">
                <a:latin typeface="Monotype Corsiva" pitchFamily="66" charset="0"/>
              </a:rPr>
              <a:t>Mantenga los plaguicidas alejados de las fuentes de agua.</a:t>
            </a:r>
          </a:p>
          <a:p>
            <a:r>
              <a:rPr lang="es-ES" sz="2400" smtClean="0">
                <a:latin typeface="Monotype Corsiva" pitchFamily="66" charset="0"/>
              </a:rPr>
              <a:t>No use plaguicidas cuando hace viento, cuando llueve o esta por llover.</a:t>
            </a:r>
          </a:p>
          <a:p>
            <a:r>
              <a:rPr lang="es-ES" sz="2400" smtClean="0">
                <a:latin typeface="Monotype Corsiva" pitchFamily="66" charset="0"/>
              </a:rPr>
              <a:t>Asegúrese que su ropa lo cubra completamente.</a:t>
            </a:r>
          </a:p>
          <a:p>
            <a:r>
              <a:rPr lang="es-ES" sz="2400" smtClean="0">
                <a:latin typeface="Monotype Corsiva" pitchFamily="66" charset="0"/>
              </a:rPr>
              <a:t>Trate de no tocarse los ojos la cara o el cuello cuando maneja plaguicidas.</a:t>
            </a:r>
          </a:p>
          <a:p>
            <a:r>
              <a:rPr lang="es-ES" sz="2400" smtClean="0">
                <a:latin typeface="Monotype Corsiva" pitchFamily="66" charset="0"/>
              </a:rPr>
              <a:t>Use ropa y equipo protector, si lo puede conseguir.</a:t>
            </a:r>
          </a:p>
          <a:p>
            <a:r>
              <a:rPr lang="es-ES" sz="2400" smtClean="0">
                <a:latin typeface="Monotype Corsiva" pitchFamily="66" charset="0"/>
              </a:rPr>
              <a:t>No ingrese en campos recién fumigados hasta que sea seguro hacerlo.</a:t>
            </a:r>
          </a:p>
          <a:p>
            <a:endParaRPr lang="es-ES" sz="2400" smtClean="0">
              <a:latin typeface="Monotype Corsiva" pitchFamily="66" charset="0"/>
            </a:endParaRPr>
          </a:p>
          <a:p>
            <a:endParaRPr lang="es-ES" sz="2400" smtClean="0">
              <a:latin typeface="Monotype Corsiva" pitchFamily="66" charset="0"/>
            </a:endParaRPr>
          </a:p>
        </p:txBody>
      </p:sp>
      <p:pic>
        <p:nvPicPr>
          <p:cNvPr id="6149" name="4 Imagen"/>
          <p:cNvPicPr>
            <a:picLocks noChangeAspect="1" noChangeArrowheads="1"/>
          </p:cNvPicPr>
          <p:nvPr/>
        </p:nvPicPr>
        <p:blipFill>
          <a:blip r:embed="rId2"/>
          <a:srcRect/>
          <a:stretch>
            <a:fillRect/>
          </a:stretch>
        </p:blipFill>
        <p:spPr bwMode="auto">
          <a:xfrm>
            <a:off x="4714875" y="0"/>
            <a:ext cx="4429125" cy="6858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1 Título"/>
          <p:cNvSpPr>
            <a:spLocks noGrp="1"/>
          </p:cNvSpPr>
          <p:nvPr>
            <p:ph type="title"/>
          </p:nvPr>
        </p:nvSpPr>
        <p:spPr>
          <a:xfrm>
            <a:off x="285750" y="0"/>
            <a:ext cx="3179763" cy="928688"/>
          </a:xfrm>
        </p:spPr>
        <p:txBody>
          <a:bodyPr/>
          <a:lstStyle/>
          <a:p>
            <a:r>
              <a:rPr lang="es-ES" sz="2800" smtClean="0">
                <a:solidFill>
                  <a:srgbClr val="7030A0"/>
                </a:solidFill>
                <a:latin typeface="Monotype Corsiva" pitchFamily="66" charset="0"/>
              </a:rPr>
              <a:t>Cuando usted trabaja en el campo</a:t>
            </a:r>
          </a:p>
        </p:txBody>
      </p:sp>
      <p:sp>
        <p:nvSpPr>
          <p:cNvPr id="7171" name="2 Marcador de contenido"/>
          <p:cNvSpPr>
            <a:spLocks noGrp="1"/>
          </p:cNvSpPr>
          <p:nvPr>
            <p:ph idx="1"/>
          </p:nvPr>
        </p:nvSpPr>
        <p:spPr>
          <a:xfrm>
            <a:off x="4786313" y="273050"/>
            <a:ext cx="4071937" cy="6227763"/>
          </a:xfrm>
        </p:spPr>
        <p:txBody>
          <a:bodyPr/>
          <a:lstStyle/>
          <a:p>
            <a:pPr>
              <a:buFont typeface="Arial" charset="0"/>
              <a:buNone/>
            </a:pPr>
            <a:endParaRPr lang="es-ES" smtClean="0">
              <a:latin typeface="Monotype Corsiva" pitchFamily="66" charset="0"/>
            </a:endParaRPr>
          </a:p>
          <a:p>
            <a:pPr>
              <a:buFont typeface="Arial" charset="0"/>
              <a:buNone/>
            </a:pPr>
            <a:endParaRPr lang="es-ES" smtClean="0">
              <a:latin typeface="Monotype Corsiva" pitchFamily="66" charset="0"/>
            </a:endParaRPr>
          </a:p>
          <a:p>
            <a:pPr>
              <a:buFont typeface="Arial" charset="0"/>
              <a:buNone/>
            </a:pPr>
            <a:endParaRPr lang="es-ES" smtClean="0">
              <a:latin typeface="Monotype Corsiva" pitchFamily="66" charset="0"/>
            </a:endParaRPr>
          </a:p>
          <a:p>
            <a:pPr>
              <a:buFont typeface="Arial" charset="0"/>
              <a:buNone/>
            </a:pPr>
            <a:r>
              <a:rPr lang="es-ES" smtClean="0">
                <a:latin typeface="Monotype Corsiva" pitchFamily="66" charset="0"/>
              </a:rPr>
              <a:t>Use ropa protectora: si usted trabaja con plaguicidas o ingresa en un campo recién fumigado, debe usar:</a:t>
            </a:r>
          </a:p>
        </p:txBody>
      </p:sp>
      <p:sp>
        <p:nvSpPr>
          <p:cNvPr id="7172" name="3 Marcador de texto"/>
          <p:cNvSpPr>
            <a:spLocks noGrp="1"/>
          </p:cNvSpPr>
          <p:nvPr>
            <p:ph type="body" sz="half" idx="2"/>
          </p:nvPr>
        </p:nvSpPr>
        <p:spPr>
          <a:xfrm>
            <a:off x="285750" y="1143000"/>
            <a:ext cx="3714750" cy="5429250"/>
          </a:xfrm>
        </p:spPr>
        <p:txBody>
          <a:bodyPr/>
          <a:lstStyle/>
          <a:p>
            <a:endParaRPr lang="es-BO" smtClean="0"/>
          </a:p>
        </p:txBody>
      </p:sp>
      <p:pic>
        <p:nvPicPr>
          <p:cNvPr id="7173" name="4 Imagen"/>
          <p:cNvPicPr>
            <a:picLocks noChangeAspect="1" noChangeArrowheads="1"/>
          </p:cNvPicPr>
          <p:nvPr/>
        </p:nvPicPr>
        <p:blipFill>
          <a:blip r:embed="rId2"/>
          <a:srcRect/>
          <a:stretch>
            <a:fillRect/>
          </a:stretch>
        </p:blipFill>
        <p:spPr bwMode="auto">
          <a:xfrm>
            <a:off x="0" y="928688"/>
            <a:ext cx="4143375" cy="592931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8 Título"/>
          <p:cNvSpPr>
            <a:spLocks noGrp="1"/>
          </p:cNvSpPr>
          <p:nvPr>
            <p:ph type="title"/>
          </p:nvPr>
        </p:nvSpPr>
        <p:spPr/>
        <p:txBody>
          <a:bodyPr/>
          <a:lstStyle/>
          <a:p>
            <a:endParaRPr lang="es-BO" smtClean="0"/>
          </a:p>
        </p:txBody>
      </p:sp>
      <p:pic>
        <p:nvPicPr>
          <p:cNvPr id="8195" name="6 Imagen"/>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57200" y="273050"/>
            <a:ext cx="3008313" cy="46038"/>
          </a:xfrm>
        </p:spPr>
        <p:txBody>
          <a:bodyPr rtlCol="0">
            <a:normAutofit fontScale="90000"/>
          </a:bodyPr>
          <a:lstStyle/>
          <a:p>
            <a:pPr fontAlgn="auto">
              <a:spcAft>
                <a:spcPts val="0"/>
              </a:spcAft>
              <a:defRPr/>
            </a:pPr>
            <a:endParaRPr lang="es-ES" dirty="0" smtClean="0"/>
          </a:p>
        </p:txBody>
      </p:sp>
      <p:sp>
        <p:nvSpPr>
          <p:cNvPr id="9219" name="4 Marcador de contenido"/>
          <p:cNvSpPr>
            <a:spLocks noGrp="1"/>
          </p:cNvSpPr>
          <p:nvPr>
            <p:ph idx="1"/>
          </p:nvPr>
        </p:nvSpPr>
        <p:spPr>
          <a:xfrm>
            <a:off x="4214813" y="273050"/>
            <a:ext cx="4643437" cy="6227763"/>
          </a:xfrm>
        </p:spPr>
        <p:txBody>
          <a:bodyPr/>
          <a:lstStyle/>
          <a:p>
            <a:endParaRPr lang="es-BO" smtClean="0"/>
          </a:p>
        </p:txBody>
      </p:sp>
      <p:sp>
        <p:nvSpPr>
          <p:cNvPr id="9220" name="5 Marcador de texto"/>
          <p:cNvSpPr>
            <a:spLocks noGrp="1"/>
          </p:cNvSpPr>
          <p:nvPr>
            <p:ph type="body" sz="half" idx="2"/>
          </p:nvPr>
        </p:nvSpPr>
        <p:spPr>
          <a:xfrm>
            <a:off x="285750" y="0"/>
            <a:ext cx="3786188" cy="6572250"/>
          </a:xfrm>
        </p:spPr>
        <p:txBody>
          <a:bodyPr/>
          <a:lstStyle/>
          <a:p>
            <a:endParaRPr lang="es-ES" sz="2800" smtClean="0">
              <a:latin typeface="Monotype Corsiva" pitchFamily="66" charset="0"/>
            </a:endParaRPr>
          </a:p>
          <a:p>
            <a:endParaRPr lang="es-ES" sz="2800" smtClean="0">
              <a:latin typeface="Monotype Corsiva" pitchFamily="66" charset="0"/>
            </a:endParaRPr>
          </a:p>
          <a:p>
            <a:endParaRPr lang="es-ES" sz="2800" smtClean="0">
              <a:latin typeface="Monotype Corsiva" pitchFamily="66" charset="0"/>
            </a:endParaRPr>
          </a:p>
          <a:p>
            <a:r>
              <a:rPr lang="es-ES" sz="3200" smtClean="0">
                <a:latin typeface="Monotype Corsiva" pitchFamily="66" charset="0"/>
              </a:rPr>
              <a:t>Gafas </a:t>
            </a:r>
          </a:p>
          <a:p>
            <a:r>
              <a:rPr lang="es-ES" sz="3200" smtClean="0">
                <a:latin typeface="Monotype Corsiva" pitchFamily="66" charset="0"/>
              </a:rPr>
              <a:t>Camisa de manga larga</a:t>
            </a:r>
          </a:p>
          <a:p>
            <a:r>
              <a:rPr lang="es-ES" sz="3200" smtClean="0">
                <a:latin typeface="Monotype Corsiva" pitchFamily="66" charset="0"/>
              </a:rPr>
              <a:t>Guantes de goma gruesa </a:t>
            </a:r>
          </a:p>
          <a:p>
            <a:r>
              <a:rPr lang="es-ES" sz="3200" smtClean="0">
                <a:latin typeface="Monotype Corsiva" pitchFamily="66" charset="0"/>
              </a:rPr>
              <a:t>( no cuero porque absorbe plaguicidas)</a:t>
            </a:r>
          </a:p>
          <a:p>
            <a:r>
              <a:rPr lang="es-ES" sz="3200" smtClean="0">
                <a:latin typeface="Monotype Corsiva" pitchFamily="66" charset="0"/>
              </a:rPr>
              <a:t>Pantalones largos  </a:t>
            </a:r>
          </a:p>
          <a:p>
            <a:r>
              <a:rPr lang="es-ES" sz="3200" smtClean="0">
                <a:latin typeface="Monotype Corsiva" pitchFamily="66" charset="0"/>
              </a:rPr>
              <a:t>( las mujeres también )</a:t>
            </a:r>
          </a:p>
        </p:txBody>
      </p:sp>
      <p:pic>
        <p:nvPicPr>
          <p:cNvPr id="9221" name="2 Imagen"/>
          <p:cNvPicPr>
            <a:picLocks noChangeAspect="1" noChangeArrowheads="1"/>
          </p:cNvPicPr>
          <p:nvPr/>
        </p:nvPicPr>
        <p:blipFill>
          <a:blip r:embed="rId2"/>
          <a:srcRect/>
          <a:stretch>
            <a:fillRect/>
          </a:stretch>
        </p:blipFill>
        <p:spPr bwMode="auto">
          <a:xfrm>
            <a:off x="4071938" y="0"/>
            <a:ext cx="5072062" cy="6858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55575"/>
          </a:xfrm>
        </p:spPr>
        <p:txBody>
          <a:bodyPr rtlCol="0">
            <a:normAutofit fontScale="90000"/>
          </a:bodyPr>
          <a:lstStyle/>
          <a:p>
            <a:pPr fontAlgn="auto">
              <a:spcAft>
                <a:spcPts val="0"/>
              </a:spcAft>
              <a:defRPr/>
            </a:pPr>
            <a:endParaRPr lang="es-ES" dirty="0" smtClean="0"/>
          </a:p>
        </p:txBody>
      </p:sp>
      <p:pic>
        <p:nvPicPr>
          <p:cNvPr id="10243" name="4 Marcador de contenido"/>
          <p:cNvPicPr>
            <a:picLocks noGrp="1"/>
          </p:cNvPicPr>
          <p:nvPr>
            <p:ph idx="1"/>
          </p:nvPr>
        </p:nvPicPr>
        <p:blipFill>
          <a:blip r:embed="rId2"/>
          <a:srcRect/>
          <a:stretch>
            <a:fillRect/>
          </a:stretch>
        </p:blipFill>
        <p:spPr>
          <a:xfrm>
            <a:off x="4940300" y="1928813"/>
            <a:ext cx="2381250" cy="2543175"/>
          </a:xfrm>
        </p:spPr>
      </p:pic>
      <p:sp>
        <p:nvSpPr>
          <p:cNvPr id="4" name="3 Marcador de texto"/>
          <p:cNvSpPr>
            <a:spLocks noGrp="1"/>
          </p:cNvSpPr>
          <p:nvPr>
            <p:ph type="body" sz="half" idx="2"/>
          </p:nvPr>
        </p:nvSpPr>
        <p:spPr>
          <a:xfrm>
            <a:off x="457200" y="642938"/>
            <a:ext cx="3543300" cy="5483225"/>
          </a:xfrm>
        </p:spPr>
        <p:txBody>
          <a:bodyPr rtlCol="0">
            <a:normAutofit lnSpcReduction="10000"/>
          </a:bodyPr>
          <a:lstStyle/>
          <a:p>
            <a:pPr fontAlgn="auto">
              <a:spcAft>
                <a:spcPts val="0"/>
              </a:spcAft>
              <a:buFont typeface="Arial" pitchFamily="34" charset="0"/>
              <a:buNone/>
              <a:defRPr/>
            </a:pPr>
            <a:endParaRPr lang="es-ES" dirty="0" smtClean="0">
              <a:latin typeface="Monotype Corsiva" pitchFamily="66" charset="0"/>
            </a:endParaRPr>
          </a:p>
          <a:p>
            <a:pPr fontAlgn="auto">
              <a:spcAft>
                <a:spcPts val="0"/>
              </a:spcAft>
              <a:buFont typeface="Arial" pitchFamily="34" charset="0"/>
              <a:buNone/>
              <a:defRPr/>
            </a:pPr>
            <a:r>
              <a:rPr lang="es-ES" sz="3600" dirty="0" smtClean="0">
                <a:latin typeface="Monotype Corsiva" pitchFamily="66" charset="0"/>
              </a:rPr>
              <a:t>Zapatos o botas de goma, con medias.</a:t>
            </a:r>
          </a:p>
          <a:p>
            <a:pPr fontAlgn="auto">
              <a:spcAft>
                <a:spcPts val="0"/>
              </a:spcAft>
              <a:buFont typeface="Arial" pitchFamily="34" charset="0"/>
              <a:buNone/>
              <a:defRPr/>
            </a:pPr>
            <a:r>
              <a:rPr lang="es-ES" sz="3600" dirty="0" smtClean="0">
                <a:latin typeface="Monotype Corsiva" pitchFamily="66" charset="0"/>
              </a:rPr>
              <a:t>Delantal de goma, de plástico o de lona.</a:t>
            </a:r>
          </a:p>
          <a:p>
            <a:pPr fontAlgn="auto">
              <a:spcAft>
                <a:spcPts val="0"/>
              </a:spcAft>
              <a:buFont typeface="Arial" pitchFamily="34" charset="0"/>
              <a:buNone/>
              <a:defRPr/>
            </a:pPr>
            <a:r>
              <a:rPr lang="es-ES" sz="3600" dirty="0" smtClean="0">
                <a:latin typeface="Monotype Corsiva" pitchFamily="66" charset="0"/>
              </a:rPr>
              <a:t>Mantenga los pantalones encima de las botas</a:t>
            </a:r>
          </a:p>
          <a:p>
            <a:pPr fontAlgn="auto">
              <a:spcAft>
                <a:spcPts val="0"/>
              </a:spcAft>
              <a:buFont typeface="Arial" pitchFamily="34" charset="0"/>
              <a:buNone/>
              <a:defRPr/>
            </a:pPr>
            <a:r>
              <a:rPr lang="es-ES" sz="3600" dirty="0" smtClean="0">
                <a:latin typeface="Monotype Corsiva" pitchFamily="66" charset="0"/>
              </a:rPr>
              <a:t>Sombrero de ala ancha</a:t>
            </a:r>
          </a:p>
          <a:p>
            <a:pPr fontAlgn="auto">
              <a:spcAft>
                <a:spcPts val="0"/>
              </a:spcAft>
              <a:buFont typeface="Arial" pitchFamily="34" charset="0"/>
              <a:buNone/>
              <a:defRPr/>
            </a:pPr>
            <a:endParaRPr lang="es-ES" sz="3600" dirty="0" smtClean="0"/>
          </a:p>
          <a:p>
            <a:pPr fontAlgn="auto">
              <a:spcAft>
                <a:spcPts val="0"/>
              </a:spcAft>
              <a:buFont typeface="Arial" pitchFamily="34" charset="0"/>
              <a:buNone/>
              <a:defRPr/>
            </a:pPr>
            <a:endParaRPr lang="es-E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Título"/>
          <p:cNvSpPr>
            <a:spLocks noGrp="1"/>
          </p:cNvSpPr>
          <p:nvPr>
            <p:ph type="title"/>
          </p:nvPr>
        </p:nvSpPr>
        <p:spPr>
          <a:xfrm>
            <a:off x="6572250" y="3714750"/>
            <a:ext cx="1071563" cy="1143000"/>
          </a:xfrm>
        </p:spPr>
        <p:txBody>
          <a:bodyPr/>
          <a:lstStyle/>
          <a:p>
            <a:endParaRPr lang="es-BO" smtClean="0"/>
          </a:p>
        </p:txBody>
      </p:sp>
      <p:pic>
        <p:nvPicPr>
          <p:cNvPr id="11267" name="2 Imagen"/>
          <p:cNvPicPr>
            <a:picLocks noChangeAspect="1" noChangeArrowheads="1"/>
          </p:cNvPicPr>
          <p:nvPr/>
        </p:nvPicPr>
        <p:blipFill>
          <a:blip r:embed="rId2"/>
          <a:srcRect/>
          <a:stretch>
            <a:fillRect/>
          </a:stretch>
        </p:blipFill>
        <p:spPr bwMode="auto">
          <a:xfrm>
            <a:off x="1357313" y="0"/>
            <a:ext cx="6643687" cy="68580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t>Protección a los niños de los plaguicidas</a:t>
            </a:r>
            <a:endParaRPr lang="es-BO" dirty="0"/>
          </a:p>
        </p:txBody>
      </p:sp>
      <p:sp>
        <p:nvSpPr>
          <p:cNvPr id="3" name="2 Subtítulo"/>
          <p:cNvSpPr>
            <a:spLocks noGrp="1"/>
          </p:cNvSpPr>
          <p:nvPr>
            <p:ph type="subTitle" idx="1"/>
          </p:nvPr>
        </p:nvSpPr>
        <p:spPr/>
        <p:txBody>
          <a:bodyPr/>
          <a:lstStyle/>
          <a:p>
            <a:endParaRPr lang="es-BO"/>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Recomendaciones </a:t>
            </a:r>
            <a:endParaRPr lang="es-BO" dirty="0"/>
          </a:p>
        </p:txBody>
      </p:sp>
      <p:sp>
        <p:nvSpPr>
          <p:cNvPr id="3" name="2 Marcador de contenido"/>
          <p:cNvSpPr>
            <a:spLocks noGrp="1"/>
          </p:cNvSpPr>
          <p:nvPr>
            <p:ph idx="1"/>
          </p:nvPr>
        </p:nvSpPr>
        <p:spPr/>
        <p:txBody>
          <a:bodyPr/>
          <a:lstStyle/>
          <a:p>
            <a:r>
              <a:rPr lang="es-BO" dirty="0" smtClean="0"/>
              <a:t>No jugar con los envases o siquiera tocarlos.</a:t>
            </a:r>
          </a:p>
          <a:p>
            <a:r>
              <a:rPr lang="es-BO" dirty="0" smtClean="0"/>
              <a:t>No jugar con el equipo </a:t>
            </a:r>
            <a:r>
              <a:rPr lang="es-BO" dirty="0" err="1" smtClean="0"/>
              <a:t>agricola</a:t>
            </a:r>
            <a:r>
              <a:rPr lang="es-BO" dirty="0" smtClean="0"/>
              <a:t> que se usa para fumigar</a:t>
            </a:r>
          </a:p>
          <a:p>
            <a:r>
              <a:rPr lang="es-BO" dirty="0" smtClean="0"/>
              <a:t>No caminar en las sequias o canales</a:t>
            </a:r>
          </a:p>
          <a:p>
            <a:r>
              <a:rPr lang="es-BO" dirty="0" smtClean="0"/>
              <a:t>No entrar en cultivos </a:t>
            </a:r>
            <a:r>
              <a:rPr lang="es-BO" dirty="0" err="1" smtClean="0"/>
              <a:t>recien</a:t>
            </a:r>
            <a:r>
              <a:rPr lang="es-BO" dirty="0" smtClean="0"/>
              <a:t> fumigados.</a:t>
            </a:r>
            <a:endParaRPr lang="es-BO" dirty="0"/>
          </a:p>
        </p:txBody>
      </p:sp>
      <p:pic>
        <p:nvPicPr>
          <p:cNvPr id="4" name="3 Imagen" descr="5.jpg"/>
          <p:cNvPicPr>
            <a:picLocks noChangeAspect="1"/>
          </p:cNvPicPr>
          <p:nvPr/>
        </p:nvPicPr>
        <p:blipFill>
          <a:blip r:embed="rId2"/>
          <a:stretch>
            <a:fillRect/>
          </a:stretch>
        </p:blipFill>
        <p:spPr>
          <a:xfrm>
            <a:off x="3428992" y="4071942"/>
            <a:ext cx="2428892" cy="2149462"/>
          </a:xfrm>
          <a:prstGeom prst="rect">
            <a:avLst/>
          </a:prstGeom>
        </p:spPr>
      </p:pic>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Los adultos a los niños</a:t>
            </a:r>
            <a:endParaRPr lang="es-BO" dirty="0"/>
          </a:p>
        </p:txBody>
      </p:sp>
      <p:sp>
        <p:nvSpPr>
          <p:cNvPr id="3" name="2 Marcador de contenido"/>
          <p:cNvSpPr>
            <a:spLocks noGrp="1"/>
          </p:cNvSpPr>
          <p:nvPr>
            <p:ph idx="1"/>
          </p:nvPr>
        </p:nvSpPr>
        <p:spPr/>
        <p:txBody>
          <a:bodyPr/>
          <a:lstStyle/>
          <a:p>
            <a:r>
              <a:rPr lang="es-BO" dirty="0" smtClean="0"/>
              <a:t>Lavando su ropa  antes de entrar en la casa</a:t>
            </a:r>
          </a:p>
          <a:p>
            <a:r>
              <a:rPr lang="es-BO" dirty="0" smtClean="0"/>
              <a:t>Lavando la ropa separada de los hijos</a:t>
            </a:r>
          </a:p>
          <a:p>
            <a:r>
              <a:rPr lang="es-BO" dirty="0" smtClean="0"/>
              <a:t>Lavando las frutas entes de comerlas</a:t>
            </a:r>
          </a:p>
          <a:p>
            <a:pPr>
              <a:buNone/>
            </a:pPr>
            <a:endParaRPr lang="es-BO" dirty="0"/>
          </a:p>
        </p:txBody>
      </p:sp>
      <p:pic>
        <p:nvPicPr>
          <p:cNvPr id="4" name="3 Imagen" descr="11.jpg"/>
          <p:cNvPicPr>
            <a:picLocks noChangeAspect="1"/>
          </p:cNvPicPr>
          <p:nvPr/>
        </p:nvPicPr>
        <p:blipFill>
          <a:blip r:embed="rId2"/>
          <a:stretch>
            <a:fillRect/>
          </a:stretch>
        </p:blipFill>
        <p:spPr>
          <a:xfrm>
            <a:off x="3286116" y="3286124"/>
            <a:ext cx="2928958" cy="2855734"/>
          </a:xfrm>
          <a:prstGeom prst="rect">
            <a:avLst/>
          </a:prstGeom>
        </p:spPr>
      </p:pic>
    </p:spTree>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t>Plaguicidas en los alimentos</a:t>
            </a:r>
            <a:endParaRPr lang="es-BO" dirty="0"/>
          </a:p>
        </p:txBody>
      </p:sp>
      <p:sp>
        <p:nvSpPr>
          <p:cNvPr id="3" name="2 Marcador de contenido"/>
          <p:cNvSpPr>
            <a:spLocks noGrp="1"/>
          </p:cNvSpPr>
          <p:nvPr>
            <p:ph idx="1"/>
          </p:nvPr>
        </p:nvSpPr>
        <p:spPr/>
        <p:txBody>
          <a:bodyPr/>
          <a:lstStyle/>
          <a:p>
            <a:r>
              <a:rPr lang="es-BO" dirty="0" smtClean="0"/>
              <a:t>Muchas frutas y verduras llevan plaguicidas.</a:t>
            </a:r>
          </a:p>
          <a:p>
            <a:r>
              <a:rPr lang="es-BO" dirty="0" smtClean="0"/>
              <a:t>Cuando la gente consume o bebe pequeñas cantidades de plaguicidas se van acumulando en el organismo y pueden causar grandes problemas a largo plazo.</a:t>
            </a:r>
            <a:endParaRPr lang="es-BO" dirty="0"/>
          </a:p>
        </p:txBody>
      </p:sp>
      <p:pic>
        <p:nvPicPr>
          <p:cNvPr id="4" name="3 Imagen" descr="2.jpg"/>
          <p:cNvPicPr>
            <a:picLocks noChangeAspect="1"/>
          </p:cNvPicPr>
          <p:nvPr/>
        </p:nvPicPr>
        <p:blipFill>
          <a:blip r:embed="rId2"/>
          <a:stretch>
            <a:fillRect/>
          </a:stretch>
        </p:blipFill>
        <p:spPr>
          <a:xfrm>
            <a:off x="3714744" y="3643314"/>
            <a:ext cx="2361587" cy="2857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Control de plagas en el hogar</a:t>
            </a:r>
            <a:endParaRPr lang="es-BO" dirty="0"/>
          </a:p>
        </p:txBody>
      </p:sp>
      <p:sp>
        <p:nvSpPr>
          <p:cNvPr id="3" name="2 Marcador de contenido"/>
          <p:cNvSpPr>
            <a:spLocks noGrp="1"/>
          </p:cNvSpPr>
          <p:nvPr>
            <p:ph idx="1"/>
          </p:nvPr>
        </p:nvSpPr>
        <p:spPr/>
        <p:txBody>
          <a:bodyPr/>
          <a:lstStyle/>
          <a:p>
            <a:r>
              <a:rPr lang="es-BO" dirty="0" smtClean="0"/>
              <a:t>En todas partes la gente usa venenos en el hogar para matar mosquitos, etc. Muchos de estos insecticidas producen daño.</a:t>
            </a:r>
          </a:p>
          <a:p>
            <a:r>
              <a:rPr lang="es-BO" dirty="0" smtClean="0"/>
              <a:t>Existen otros métodos menos peligrosos y menos peligrosos que igual pueden ser efectivos.</a:t>
            </a:r>
            <a:endParaRPr lang="es-BO"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Control de plagas</a:t>
            </a:r>
            <a:endParaRPr lang="es-BO" dirty="0"/>
          </a:p>
        </p:txBody>
      </p:sp>
      <p:sp>
        <p:nvSpPr>
          <p:cNvPr id="3" name="2 Marcador de contenido"/>
          <p:cNvSpPr>
            <a:spLocks noGrp="1"/>
          </p:cNvSpPr>
          <p:nvPr>
            <p:ph idx="1"/>
          </p:nvPr>
        </p:nvSpPr>
        <p:spPr/>
        <p:txBody>
          <a:bodyPr/>
          <a:lstStyle/>
          <a:p>
            <a:pPr>
              <a:buNone/>
            </a:pPr>
            <a:r>
              <a:rPr lang="es-BO" dirty="0"/>
              <a:t> </a:t>
            </a:r>
            <a:r>
              <a:rPr lang="es-BO" dirty="0" smtClean="0"/>
              <a:t>Primero prevención </a:t>
            </a:r>
          </a:p>
          <a:p>
            <a:r>
              <a:rPr lang="es-BO" dirty="0" smtClean="0"/>
              <a:t>Mantener limpia la cocina</a:t>
            </a:r>
          </a:p>
          <a:p>
            <a:r>
              <a:rPr lang="es-BO" dirty="0" smtClean="0"/>
              <a:t>Mantener limpios a los animales y las plantas del hogar</a:t>
            </a:r>
          </a:p>
          <a:p>
            <a:r>
              <a:rPr lang="es-BO" dirty="0" smtClean="0"/>
              <a:t>Limpiar al aire con frecuencia las sabanas de la cama.</a:t>
            </a:r>
          </a:p>
          <a:p>
            <a:r>
              <a:rPr lang="es-BO" dirty="0" smtClean="0"/>
              <a:t>Almacenar la leña lejos del hogar.</a:t>
            </a:r>
          </a:p>
          <a:p>
            <a:endParaRPr lang="es-BO" dirty="0"/>
          </a:p>
        </p:txBody>
      </p:sp>
      <p:pic>
        <p:nvPicPr>
          <p:cNvPr id="4" name="3 Imagen" descr="3.jpg"/>
          <p:cNvPicPr>
            <a:picLocks noChangeAspect="1"/>
          </p:cNvPicPr>
          <p:nvPr/>
        </p:nvPicPr>
        <p:blipFill>
          <a:blip r:embed="rId2"/>
          <a:stretch>
            <a:fillRect/>
          </a:stretch>
        </p:blipFill>
        <p:spPr>
          <a:xfrm>
            <a:off x="6500826" y="4214818"/>
            <a:ext cx="1571636" cy="234935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t>Si usa plaguicidas en el hogar</a:t>
            </a:r>
            <a:endParaRPr lang="es-BO" dirty="0"/>
          </a:p>
        </p:txBody>
      </p:sp>
      <p:sp>
        <p:nvSpPr>
          <p:cNvPr id="3" name="2 Marcador de contenido"/>
          <p:cNvSpPr>
            <a:spLocks noGrp="1"/>
          </p:cNvSpPr>
          <p:nvPr>
            <p:ph idx="1"/>
          </p:nvPr>
        </p:nvSpPr>
        <p:spPr/>
        <p:txBody>
          <a:bodyPr/>
          <a:lstStyle/>
          <a:p>
            <a:r>
              <a:rPr lang="es-BO" dirty="0" smtClean="0"/>
              <a:t>Leer bien las instrucciones</a:t>
            </a:r>
          </a:p>
          <a:p>
            <a:r>
              <a:rPr lang="es-BO" dirty="0" smtClean="0"/>
              <a:t>No aplicar plaguicidas en lugar cerrados</a:t>
            </a:r>
          </a:p>
          <a:p>
            <a:r>
              <a:rPr lang="es-BO" dirty="0" smtClean="0"/>
              <a:t>Mantener los plaguicidas fuera del alcance de los niños.</a:t>
            </a:r>
          </a:p>
          <a:p>
            <a:r>
              <a:rPr lang="es-BO" dirty="0" smtClean="0"/>
              <a:t>Nunca rociar plaguicidas sobre los colchones.</a:t>
            </a:r>
          </a:p>
          <a:p>
            <a:pPr>
              <a:buNone/>
            </a:pPr>
            <a:endParaRPr lang="es-BO" dirty="0"/>
          </a:p>
        </p:txBody>
      </p:sp>
      <p:pic>
        <p:nvPicPr>
          <p:cNvPr id="4" name="3 Imagen" descr="4.bmp"/>
          <p:cNvPicPr>
            <a:picLocks noChangeAspect="1"/>
          </p:cNvPicPr>
          <p:nvPr/>
        </p:nvPicPr>
        <p:blipFill>
          <a:blip r:embed="rId2"/>
          <a:stretch>
            <a:fillRect/>
          </a:stretch>
        </p:blipFill>
        <p:spPr>
          <a:xfrm>
            <a:off x="5572132" y="4429132"/>
            <a:ext cx="2071702" cy="18573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BO" dirty="0" smtClean="0"/>
              <a:t>Lea y comprenda las instrucciones </a:t>
            </a:r>
            <a:endParaRPr lang="es-BO" dirty="0"/>
          </a:p>
        </p:txBody>
      </p:sp>
      <p:sp>
        <p:nvSpPr>
          <p:cNvPr id="3" name="2 Marcador de contenido"/>
          <p:cNvSpPr>
            <a:spLocks noGrp="1"/>
          </p:cNvSpPr>
          <p:nvPr>
            <p:ph idx="1"/>
          </p:nvPr>
        </p:nvSpPr>
        <p:spPr/>
        <p:txBody>
          <a:bodyPr/>
          <a:lstStyle/>
          <a:p>
            <a:r>
              <a:rPr lang="es-BO" dirty="0" smtClean="0"/>
              <a:t>Muchas etiquetas de los plaguicidas son difíciles de leer.</a:t>
            </a:r>
          </a:p>
          <a:p>
            <a:r>
              <a:rPr lang="es-BO" dirty="0" smtClean="0"/>
              <a:t>Todos los agricultores tienen derecho de saber a que químicos se exponen</a:t>
            </a:r>
            <a:endParaRPr lang="es-BO" dirty="0"/>
          </a:p>
        </p:txBody>
      </p:sp>
      <p:pic>
        <p:nvPicPr>
          <p:cNvPr id="4" name="3 Imagen" descr="8.jpg"/>
          <p:cNvPicPr>
            <a:picLocks noChangeAspect="1"/>
          </p:cNvPicPr>
          <p:nvPr/>
        </p:nvPicPr>
        <p:blipFill>
          <a:blip r:embed="rId2"/>
          <a:stretch>
            <a:fillRect/>
          </a:stretch>
        </p:blipFill>
        <p:spPr>
          <a:xfrm>
            <a:off x="4000496" y="3929066"/>
            <a:ext cx="2857520" cy="2527806"/>
          </a:xfrm>
          <a:prstGeom prst="rect">
            <a:avLst/>
          </a:prstGeom>
        </p:spPr>
      </p:pic>
    </p:spTree>
  </p:cSld>
  <p:clrMapOvr>
    <a:masterClrMapping/>
  </p:clrMapOvr>
  <p:transition>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4213" y="620713"/>
            <a:ext cx="7772400" cy="1439862"/>
          </a:xfrm>
        </p:spPr>
        <p:txBody>
          <a:bodyPr/>
          <a:lstStyle/>
          <a:p>
            <a:r>
              <a:rPr lang="es-BO" sz="3200" b="1"/>
              <a:t>LOS PLAGUICIDAS DAÑAN EL MEDIO AMBIENTE EN DIFERENTES FORMAS</a:t>
            </a:r>
            <a:endParaRPr lang="es-ES" sz="3200" b="1"/>
          </a:p>
        </p:txBody>
      </p:sp>
      <p:sp>
        <p:nvSpPr>
          <p:cNvPr id="2051" name="Rectangle 3"/>
          <p:cNvSpPr>
            <a:spLocks noGrp="1" noChangeArrowheads="1"/>
          </p:cNvSpPr>
          <p:nvPr>
            <p:ph type="subTitle" idx="1"/>
          </p:nvPr>
        </p:nvSpPr>
        <p:spPr>
          <a:xfrm>
            <a:off x="468313" y="2133600"/>
            <a:ext cx="7705725" cy="3240088"/>
          </a:xfrm>
        </p:spPr>
        <p:txBody>
          <a:bodyPr/>
          <a:lstStyle/>
          <a:p>
            <a:pPr>
              <a:lnSpc>
                <a:spcPct val="80000"/>
              </a:lnSpc>
            </a:pPr>
            <a:r>
              <a:rPr lang="es-BO" sz="2800"/>
              <a:t>Los plaguicidas tienen un costo que es conocido por el agricultor, pero este desconoce el costo de de la salud , de las aguas, los suelos contaminados y el costo del medio ambiente alterando en ciclo de la fauna y flora que cuanto más grande más contaminado, almacenándose en la grasa de estos animales, incluyendo las personas.</a:t>
            </a:r>
            <a:endParaRPr lang="es-ES" sz="2800"/>
          </a:p>
        </p:txBody>
      </p:sp>
      <p:pic>
        <p:nvPicPr>
          <p:cNvPr id="2055" name="Picture 7" descr="pesticidas3wj">
            <a:hlinkClick r:id="rId2"/>
          </p:cNvPr>
          <p:cNvPicPr>
            <a:picLocks noChangeAspect="1" noChangeArrowheads="1"/>
          </p:cNvPicPr>
          <p:nvPr/>
        </p:nvPicPr>
        <p:blipFill>
          <a:blip r:embed="rId3"/>
          <a:srcRect/>
          <a:stretch>
            <a:fillRect/>
          </a:stretch>
        </p:blipFill>
        <p:spPr bwMode="auto">
          <a:xfrm>
            <a:off x="6227763" y="4724400"/>
            <a:ext cx="2232025" cy="187325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flipH="1">
            <a:off x="395288" y="836613"/>
            <a:ext cx="8388350" cy="581025"/>
          </a:xfrm>
        </p:spPr>
        <p:txBody>
          <a:bodyPr>
            <a:normAutofit fontScale="90000"/>
          </a:bodyPr>
          <a:lstStyle/>
          <a:p>
            <a:r>
              <a:rPr lang="es-BO" sz="3600" b="1"/>
              <a:t>LOS PLAGUICIDAS ENVENENAN:</a:t>
            </a:r>
            <a:r>
              <a:rPr lang="es-BO" sz="3600"/>
              <a:t> </a:t>
            </a:r>
            <a:br>
              <a:rPr lang="es-BO" sz="3600"/>
            </a:br>
            <a:endParaRPr lang="es-ES" sz="3600"/>
          </a:p>
        </p:txBody>
      </p:sp>
      <p:sp>
        <p:nvSpPr>
          <p:cNvPr id="8195" name="Rectangle 3"/>
          <p:cNvSpPr>
            <a:spLocks noGrp="1" noChangeArrowheads="1"/>
          </p:cNvSpPr>
          <p:nvPr>
            <p:ph type="body" idx="1"/>
          </p:nvPr>
        </p:nvSpPr>
        <p:spPr>
          <a:xfrm>
            <a:off x="457200" y="1052513"/>
            <a:ext cx="8229600" cy="4464050"/>
          </a:xfrm>
        </p:spPr>
        <p:txBody>
          <a:bodyPr/>
          <a:lstStyle/>
          <a:p>
            <a:pPr>
              <a:buFontTx/>
              <a:buNone/>
            </a:pPr>
            <a:r>
              <a:rPr lang="es-BO" sz="2800"/>
              <a:t> </a:t>
            </a:r>
          </a:p>
          <a:p>
            <a:r>
              <a:rPr lang="es-BO" sz="2800" b="1"/>
              <a:t>LA TIERRA.-</a:t>
            </a:r>
            <a:r>
              <a:rPr lang="es-BO" sz="2800"/>
              <a:t> La tierra es saludable, está llena de vida (hongos, insectos, gusanos y bacteria) que mantienen viva a la tierra creando nutrientes. Cuando los plaguicidas matan estos criaturas la tierra ya no puede sostener plantas saludables, estas plantas no tienen la habilidad natural para protegerse de las plagas, los agricultores entonces usan más plaguicidas empeorando el problema.</a:t>
            </a:r>
            <a:r>
              <a:rPr lang="es-ES" sz="2800"/>
              <a:t> </a:t>
            </a:r>
            <a:endParaRPr lang="es-BO" sz="2800"/>
          </a:p>
        </p:txBody>
      </p:sp>
      <p:pic>
        <p:nvPicPr>
          <p:cNvPr id="8198" name="Picture 6" descr="plagas">
            <a:hlinkClick r:id="rId2"/>
          </p:cNvPr>
          <p:cNvPicPr>
            <a:picLocks noChangeAspect="1" noChangeArrowheads="1"/>
          </p:cNvPicPr>
          <p:nvPr/>
        </p:nvPicPr>
        <p:blipFill>
          <a:blip r:embed="rId3"/>
          <a:srcRect/>
          <a:stretch>
            <a:fillRect/>
          </a:stretch>
        </p:blipFill>
        <p:spPr bwMode="auto">
          <a:xfrm>
            <a:off x="6227763" y="5084763"/>
            <a:ext cx="2232025" cy="1512887"/>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ChangeArrowheads="1"/>
          </p:cNvSpPr>
          <p:nvPr/>
        </p:nvSpPr>
        <p:spPr bwMode="auto">
          <a:xfrm>
            <a:off x="323850" y="692150"/>
            <a:ext cx="8569325" cy="5584825"/>
          </a:xfrm>
          <a:prstGeom prst="rect">
            <a:avLst/>
          </a:prstGeom>
          <a:noFill/>
          <a:ln w="9525">
            <a:noFill/>
            <a:miter lim="800000"/>
            <a:headEnd/>
            <a:tailEnd/>
          </a:ln>
          <a:effectLst/>
        </p:spPr>
        <p:txBody>
          <a:bodyPr>
            <a:spAutoFit/>
          </a:bodyPr>
          <a:lstStyle/>
          <a:p>
            <a:r>
              <a:rPr lang="es-BO" sz="3600" b="1"/>
              <a:t>EL AGUA.-</a:t>
            </a:r>
            <a:r>
              <a:rPr lang="es-BO" sz="3600"/>
              <a:t> Contaminan el agua donde viven animales, que ha de ser bebida por los animales, y consumida por los hombres.</a:t>
            </a:r>
          </a:p>
          <a:p>
            <a:endParaRPr lang="es-BO" sz="3600"/>
          </a:p>
          <a:p>
            <a:endParaRPr lang="es-BO" sz="3600"/>
          </a:p>
          <a:p>
            <a:endParaRPr lang="es-BO" sz="3600"/>
          </a:p>
          <a:p>
            <a:r>
              <a:rPr lang="es-BO" sz="3600"/>
              <a:t> </a:t>
            </a:r>
            <a:r>
              <a:rPr lang="es-BO" sz="3600" b="1"/>
              <a:t>EL AIRE.-</a:t>
            </a:r>
            <a:r>
              <a:rPr lang="es-BO" sz="3600"/>
              <a:t> Los plaguicidas son arrastrados por el aire el cual es inhalado por los seres vivos.</a:t>
            </a:r>
            <a:endParaRPr lang="es-ES" sz="3600"/>
          </a:p>
        </p:txBody>
      </p:sp>
      <p:pic>
        <p:nvPicPr>
          <p:cNvPr id="3080" name="Picture 8" descr="345374681_530edfd92c_m">
            <a:hlinkClick r:id="rId2"/>
          </p:cNvPr>
          <p:cNvPicPr>
            <a:picLocks noChangeAspect="1" noChangeArrowheads="1"/>
          </p:cNvPicPr>
          <p:nvPr/>
        </p:nvPicPr>
        <p:blipFill>
          <a:blip r:embed="rId3"/>
          <a:srcRect/>
          <a:stretch>
            <a:fillRect/>
          </a:stretch>
        </p:blipFill>
        <p:spPr bwMode="auto">
          <a:xfrm>
            <a:off x="2411413" y="2492375"/>
            <a:ext cx="3097212" cy="1944688"/>
          </a:xfrm>
          <a:prstGeom prst="rect">
            <a:avLst/>
          </a:prstGeom>
          <a:noFill/>
        </p:spPr>
      </p:pic>
      <p:pic>
        <p:nvPicPr>
          <p:cNvPr id="3081" name="Picture 9" descr="hed">
            <a:hlinkClick r:id="rId4"/>
          </p:cNvPr>
          <p:cNvPicPr>
            <a:picLocks noChangeAspect="1" noChangeArrowheads="1"/>
          </p:cNvPicPr>
          <p:nvPr/>
        </p:nvPicPr>
        <p:blipFill>
          <a:blip r:embed="rId5"/>
          <a:srcRect/>
          <a:stretch>
            <a:fillRect/>
          </a:stretch>
        </p:blipFill>
        <p:spPr bwMode="auto">
          <a:xfrm>
            <a:off x="5867400" y="2492375"/>
            <a:ext cx="2952750" cy="201612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765175"/>
            <a:ext cx="8229600" cy="652463"/>
          </a:xfrm>
        </p:spPr>
        <p:txBody>
          <a:bodyPr>
            <a:normAutofit fontScale="90000"/>
          </a:bodyPr>
          <a:lstStyle/>
          <a:p>
            <a:r>
              <a:rPr lang="es-BO" sz="3600" b="1"/>
              <a:t>RESISTENCIA ALOS PLAGUICIDAS</a:t>
            </a:r>
            <a:r>
              <a:rPr lang="es-BO" sz="3600"/>
              <a:t>:</a:t>
            </a:r>
            <a:br>
              <a:rPr lang="es-BO" sz="3600"/>
            </a:br>
            <a:endParaRPr lang="es-ES" sz="3600"/>
          </a:p>
        </p:txBody>
      </p:sp>
      <p:sp>
        <p:nvSpPr>
          <p:cNvPr id="4099" name="Rectangle 3"/>
          <p:cNvSpPr>
            <a:spLocks noGrp="1" noChangeArrowheads="1"/>
          </p:cNvSpPr>
          <p:nvPr>
            <p:ph type="body" idx="1"/>
          </p:nvPr>
        </p:nvSpPr>
        <p:spPr>
          <a:xfrm>
            <a:off x="457200" y="1600200"/>
            <a:ext cx="8229600" cy="4997450"/>
          </a:xfrm>
        </p:spPr>
        <p:txBody>
          <a:bodyPr/>
          <a:lstStyle/>
          <a:p>
            <a:r>
              <a:rPr lang="es-BO"/>
              <a:t>Los plaguicidas matan a insectos y plagas, pero de estas no todas mueren, a pesar de ser fumigadas, estos se reproducen, dando lugar a otras plagas que no son afectadas por los plaguicidas, a esto se llama RESISTENCIA AL PLAGUICIDA.</a:t>
            </a:r>
            <a:endParaRPr lang="es-ES"/>
          </a:p>
        </p:txBody>
      </p:sp>
      <p:pic>
        <p:nvPicPr>
          <p:cNvPr id="4100" name="Picture 4" descr="plantas-plaguicidas-en-cr">
            <a:hlinkClick r:id="rId2"/>
          </p:cNvPr>
          <p:cNvPicPr>
            <a:picLocks noChangeAspect="1" noChangeArrowheads="1"/>
          </p:cNvPicPr>
          <p:nvPr/>
        </p:nvPicPr>
        <p:blipFill>
          <a:blip r:embed="rId3"/>
          <a:srcRect/>
          <a:stretch>
            <a:fillRect/>
          </a:stretch>
        </p:blipFill>
        <p:spPr bwMode="auto">
          <a:xfrm>
            <a:off x="6659563" y="4941888"/>
            <a:ext cx="2305050" cy="17272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68313" y="274638"/>
            <a:ext cx="8218487" cy="2362200"/>
          </a:xfrm>
        </p:spPr>
        <p:txBody>
          <a:bodyPr/>
          <a:lstStyle/>
          <a:p>
            <a:r>
              <a:rPr lang="es-BO" sz="3600" b="1"/>
              <a:t>PROGRAMA EDUCATIVO SOBRE PLAGUICIDAS EN SU COMUNIDAD.</a:t>
            </a:r>
            <a:r>
              <a:rPr lang="es-BO" sz="3600"/>
              <a:t/>
            </a:r>
            <a:br>
              <a:rPr lang="es-BO" sz="3600"/>
            </a:br>
            <a:endParaRPr lang="es-ES" sz="3600"/>
          </a:p>
        </p:txBody>
      </p:sp>
      <p:sp>
        <p:nvSpPr>
          <p:cNvPr id="5123" name="Rectangle 3"/>
          <p:cNvSpPr>
            <a:spLocks noGrp="1" noChangeArrowheads="1"/>
          </p:cNvSpPr>
          <p:nvPr>
            <p:ph type="body" idx="1"/>
          </p:nvPr>
        </p:nvSpPr>
        <p:spPr>
          <a:xfrm>
            <a:off x="457200" y="2133600"/>
            <a:ext cx="8229600" cy="3992563"/>
          </a:xfrm>
        </p:spPr>
        <p:txBody>
          <a:bodyPr/>
          <a:lstStyle/>
          <a:p>
            <a:r>
              <a:rPr lang="es-BO" sz="2800"/>
              <a:t>Reunir a la gente y hablar de la comunidad, la salud personal, del uso de plaguicidas, el precio de estos, la contaminación de estos, como nos oponemos a los plaguicidas?, que problemas de salud existen ante la exposición a estos plaguicidas?, conducta?, afección a los niños?, otros usos de los envases de plaguicidas, se siente obligada a usar plaguicidas, conoce a otras personas con métodos alternativos?.</a:t>
            </a:r>
            <a:endParaRPr lang="es-ES"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395288" y="476250"/>
            <a:ext cx="8229600" cy="5576888"/>
          </a:xfrm>
        </p:spPr>
        <p:txBody>
          <a:bodyPr/>
          <a:lstStyle/>
          <a:p>
            <a:pPr>
              <a:lnSpc>
                <a:spcPct val="90000"/>
              </a:lnSpc>
              <a:buFontTx/>
              <a:buNone/>
            </a:pPr>
            <a:r>
              <a:rPr lang="es-BO"/>
              <a:t>    </a:t>
            </a:r>
            <a:r>
              <a:rPr lang="es-BO" sz="3600" b="1"/>
              <a:t>ACTIVIDADES COMUNITARIAS</a:t>
            </a:r>
          </a:p>
          <a:p>
            <a:pPr>
              <a:lnSpc>
                <a:spcPct val="90000"/>
              </a:lnSpc>
              <a:buFontTx/>
              <a:buNone/>
            </a:pPr>
            <a:endParaRPr lang="es-BO" sz="3600"/>
          </a:p>
          <a:p>
            <a:pPr>
              <a:lnSpc>
                <a:spcPct val="90000"/>
              </a:lnSpc>
            </a:pPr>
            <a:r>
              <a:rPr lang="es-BO"/>
              <a:t>Las personas tienen conocimiento de cómo protegerse y proteger a la comunidad.</a:t>
            </a:r>
          </a:p>
          <a:p>
            <a:pPr>
              <a:lnSpc>
                <a:spcPct val="90000"/>
              </a:lnSpc>
            </a:pPr>
            <a:endParaRPr lang="es-BO"/>
          </a:p>
          <a:p>
            <a:pPr>
              <a:lnSpc>
                <a:spcPct val="90000"/>
              </a:lnSpc>
            </a:pPr>
            <a:r>
              <a:rPr lang="es-BO"/>
              <a:t>Su efecto de los plaguicidas sobre el cuerpo.</a:t>
            </a:r>
          </a:p>
          <a:p>
            <a:pPr>
              <a:lnSpc>
                <a:spcPct val="90000"/>
              </a:lnSpc>
              <a:buFontTx/>
              <a:buNone/>
            </a:pPr>
            <a:endParaRPr lang="es-BO"/>
          </a:p>
          <a:p>
            <a:pPr>
              <a:lnSpc>
                <a:spcPct val="90000"/>
              </a:lnSpc>
            </a:pPr>
            <a:r>
              <a:rPr lang="es-BO"/>
              <a:t>Soluciones.</a:t>
            </a:r>
            <a:endParaRPr lang="es-ES"/>
          </a:p>
        </p:txBody>
      </p:sp>
      <p:pic>
        <p:nvPicPr>
          <p:cNvPr id="6149" name="Picture 5" descr="esp_plaguicida01">
            <a:hlinkClick r:id="rId2"/>
          </p:cNvPr>
          <p:cNvPicPr>
            <a:picLocks noChangeAspect="1" noChangeArrowheads="1"/>
          </p:cNvPicPr>
          <p:nvPr/>
        </p:nvPicPr>
        <p:blipFill>
          <a:blip r:embed="rId3"/>
          <a:srcRect/>
          <a:stretch>
            <a:fillRect/>
          </a:stretch>
        </p:blipFill>
        <p:spPr bwMode="auto">
          <a:xfrm>
            <a:off x="6156325" y="4076700"/>
            <a:ext cx="2546350" cy="259238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s-BO" sz="3600" b="1"/>
              <a:t>LEY DE LOS PLAGUICIDAS.</a:t>
            </a:r>
            <a:endParaRPr lang="es-ES" sz="3600" b="1"/>
          </a:p>
        </p:txBody>
      </p:sp>
      <p:sp>
        <p:nvSpPr>
          <p:cNvPr id="9219" name="Rectangle 3"/>
          <p:cNvSpPr>
            <a:spLocks noGrp="1" noChangeArrowheads="1"/>
          </p:cNvSpPr>
          <p:nvPr>
            <p:ph type="body" idx="1"/>
          </p:nvPr>
        </p:nvSpPr>
        <p:spPr>
          <a:xfrm>
            <a:off x="457200" y="1600200"/>
            <a:ext cx="8229600" cy="4852988"/>
          </a:xfrm>
        </p:spPr>
        <p:txBody>
          <a:bodyPr/>
          <a:lstStyle/>
          <a:p>
            <a:pPr>
              <a:lnSpc>
                <a:spcPct val="90000"/>
              </a:lnSpc>
            </a:pPr>
            <a:r>
              <a:rPr lang="es-BO" sz="2800"/>
              <a:t>La mayoría de los países cuentan con leyes que protegen a los agricultores del envenenamiento por los plaguicidas.</a:t>
            </a:r>
          </a:p>
          <a:p>
            <a:pPr>
              <a:lnSpc>
                <a:spcPct val="90000"/>
              </a:lnSpc>
            </a:pPr>
            <a:r>
              <a:rPr lang="es-BO" sz="2800"/>
              <a:t>Algunas leyes prohíben la venta de algunos plaguicidas.</a:t>
            </a:r>
          </a:p>
          <a:p>
            <a:pPr>
              <a:lnSpc>
                <a:spcPct val="90000"/>
              </a:lnSpc>
            </a:pPr>
            <a:r>
              <a:rPr lang="es-BO" sz="2800"/>
              <a:t>Exige que los productores de plaguicidas información completa sobre medidas de seguridad.</a:t>
            </a:r>
          </a:p>
          <a:p>
            <a:pPr>
              <a:lnSpc>
                <a:spcPct val="90000"/>
              </a:lnSpc>
            </a:pPr>
            <a:r>
              <a:rPr lang="es-BO" sz="2800"/>
              <a:t>Exigen que las empresas doten de a los trabajadores con equipo protector y capacitación.</a:t>
            </a:r>
            <a:endParaRPr lang="es-ES" sz="2800"/>
          </a:p>
        </p:txBody>
      </p:sp>
      <p:pic>
        <p:nvPicPr>
          <p:cNvPr id="9221" name="Picture 5" descr="22818-1265887875-5821">
            <a:hlinkClick r:id="rId2"/>
          </p:cNvPr>
          <p:cNvPicPr>
            <a:picLocks noChangeAspect="1" noChangeArrowheads="1"/>
          </p:cNvPicPr>
          <p:nvPr/>
        </p:nvPicPr>
        <p:blipFill>
          <a:blip r:embed="rId3"/>
          <a:srcRect/>
          <a:stretch>
            <a:fillRect/>
          </a:stretch>
        </p:blipFill>
        <p:spPr bwMode="auto">
          <a:xfrm>
            <a:off x="155575" y="46038"/>
            <a:ext cx="1320800" cy="122237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457200" y="765175"/>
            <a:ext cx="8229600" cy="6092825"/>
          </a:xfrm>
        </p:spPr>
        <p:txBody>
          <a:bodyPr/>
          <a:lstStyle/>
          <a:p>
            <a:pPr>
              <a:buFontTx/>
              <a:buNone/>
            </a:pPr>
            <a:r>
              <a:rPr lang="es-BO"/>
              <a:t>   </a:t>
            </a:r>
            <a:r>
              <a:rPr lang="es-BO" sz="3600" b="1"/>
              <a:t>LEY INTERNACIONAL SOBRE PLAGUICIDAS</a:t>
            </a:r>
          </a:p>
          <a:p>
            <a:pPr>
              <a:buFontTx/>
              <a:buNone/>
            </a:pPr>
            <a:endParaRPr lang="es-BO" sz="3600" b="1"/>
          </a:p>
          <a:p>
            <a:r>
              <a:rPr lang="es-BO"/>
              <a:t>Los países miembros de la FAO y del programa de Naciones 	Unidas para el medio ambiente cumplen  con el código de Conducta sobre la Distribución y uso de plaguicidas.</a:t>
            </a:r>
            <a:endParaRPr lang="es-E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body" idx="1"/>
          </p:nvPr>
        </p:nvSpPr>
        <p:spPr>
          <a:xfrm>
            <a:off x="457200" y="692150"/>
            <a:ext cx="8229600" cy="5434013"/>
          </a:xfrm>
        </p:spPr>
        <p:txBody>
          <a:bodyPr/>
          <a:lstStyle/>
          <a:p>
            <a:pPr>
              <a:lnSpc>
                <a:spcPct val="90000"/>
              </a:lnSpc>
            </a:pPr>
            <a:r>
              <a:rPr lang="es-BO" sz="2800"/>
              <a:t>El gobierno esta obligado hacer cumplir con las siguientes medidas:</a:t>
            </a:r>
          </a:p>
          <a:p>
            <a:pPr>
              <a:lnSpc>
                <a:spcPct val="90000"/>
              </a:lnSpc>
            </a:pPr>
            <a:r>
              <a:rPr lang="es-BO" sz="2800"/>
              <a:t>Dejar de vender los plaguicidas más peligrosos.</a:t>
            </a:r>
          </a:p>
          <a:p>
            <a:pPr>
              <a:lnSpc>
                <a:spcPct val="90000"/>
              </a:lnSpc>
            </a:pPr>
            <a:r>
              <a:rPr lang="es-BO" sz="2800"/>
              <a:t>Educar a las personas sobre la forma segura de usar plaguicidas.</a:t>
            </a:r>
          </a:p>
          <a:p>
            <a:pPr>
              <a:lnSpc>
                <a:spcPct val="90000"/>
              </a:lnSpc>
            </a:pPr>
            <a:r>
              <a:rPr lang="es-BO" sz="2800"/>
              <a:t>Entrenara todas las personas que venden plaguicidas.</a:t>
            </a:r>
          </a:p>
          <a:p>
            <a:pPr>
              <a:lnSpc>
                <a:spcPct val="90000"/>
              </a:lnSpc>
            </a:pPr>
            <a:r>
              <a:rPr lang="es-BO" sz="2800"/>
              <a:t>Cumplir con las normas internacionales de  producción, empaque, almacenaje, etiquetado y promoción.</a:t>
            </a:r>
          </a:p>
          <a:p>
            <a:pPr>
              <a:lnSpc>
                <a:spcPct val="90000"/>
              </a:lnSpc>
            </a:pPr>
            <a:r>
              <a:rPr lang="es-BO" sz="2800"/>
              <a:t>Asegurar que el empaque y el reempaque sean realizados en lugares seguros y autorizados.</a:t>
            </a:r>
            <a:endParaRPr lang="es-ES" sz="2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457200" y="549275"/>
            <a:ext cx="8229600" cy="5576888"/>
          </a:xfrm>
        </p:spPr>
        <p:txBody>
          <a:bodyPr/>
          <a:lstStyle/>
          <a:p>
            <a:pPr>
              <a:buFontTx/>
              <a:buNone/>
            </a:pPr>
            <a:r>
              <a:rPr lang="es-BO"/>
              <a:t>   </a:t>
            </a:r>
            <a:r>
              <a:rPr lang="es-BO" sz="3600" b="1"/>
              <a:t>CONSENTIMIENTO FUNDAMENTADO PREVIO </a:t>
            </a:r>
          </a:p>
          <a:p>
            <a:pPr>
              <a:buFontTx/>
              <a:buNone/>
            </a:pPr>
            <a:endParaRPr lang="es-BO" sz="3600" b="1"/>
          </a:p>
          <a:p>
            <a:r>
              <a:rPr lang="es-BO"/>
              <a:t>Es  código de la FAO que otorga a los países el derecho a saber los peligros de los plaguicidas  y los químicos que ingresan a su país                                                                                                                                                                                                                                                                                                                                                                                                                                                                                                                                                                                                                                                                                                                                                                                                                                                                                                              </a:t>
            </a:r>
          </a:p>
          <a:p>
            <a:pPr>
              <a:buFontTx/>
              <a:buNone/>
            </a:pPr>
            <a:r>
              <a:rPr lang="es-BO"/>
              <a:t> </a:t>
            </a:r>
            <a:endParaRPr lang="es-ES"/>
          </a:p>
        </p:txBody>
      </p:sp>
      <p:pic>
        <p:nvPicPr>
          <p:cNvPr id="12293" name="Picture 5" descr="plaguicidas">
            <a:hlinkClick r:id="rId2"/>
          </p:cNvPr>
          <p:cNvPicPr>
            <a:picLocks noChangeAspect="1" noChangeArrowheads="1"/>
          </p:cNvPicPr>
          <p:nvPr/>
        </p:nvPicPr>
        <p:blipFill>
          <a:blip r:embed="rId3"/>
          <a:srcRect/>
          <a:stretch>
            <a:fillRect/>
          </a:stretch>
        </p:blipFill>
        <p:spPr bwMode="auto">
          <a:xfrm>
            <a:off x="5292725" y="4365625"/>
            <a:ext cx="3167063" cy="2087563"/>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jo">
  <a:themeElements>
    <a:clrScheme name="Fluj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uj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j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2445</TotalTime>
  <Words>1183</Words>
  <Application>Microsoft Office PowerPoint</Application>
  <PresentationFormat>Presentación en pantalla (4:3)</PresentationFormat>
  <Paragraphs>128</Paragraphs>
  <Slides>29</Slides>
  <Notes>0</Notes>
  <HiddenSlides>0</HiddenSlides>
  <MMClips>0</MMClips>
  <ScaleCrop>false</ScaleCrop>
  <HeadingPairs>
    <vt:vector size="4" baseType="variant">
      <vt:variant>
        <vt:lpstr>Tema</vt:lpstr>
      </vt:variant>
      <vt:variant>
        <vt:i4>1</vt:i4>
      </vt:variant>
      <vt:variant>
        <vt:lpstr>Títulos de diapositiva</vt:lpstr>
      </vt:variant>
      <vt:variant>
        <vt:i4>29</vt:i4>
      </vt:variant>
    </vt:vector>
  </HeadingPairs>
  <TitlesOfParts>
    <vt:vector size="30" baseType="lpstr">
      <vt:lpstr>Flujo</vt:lpstr>
      <vt:lpstr>PLAGUICIDAS Lecturas de apoyo</vt:lpstr>
      <vt:lpstr>El envenenamiento  por plaguicidas engañan puede parecerse a otra enfermedades</vt:lpstr>
      <vt:lpstr> Como se sabe si un problema de salud es causado por placiguicidas</vt:lpstr>
      <vt:lpstr>Como reducir los peligros del uso de plaguicidas</vt:lpstr>
      <vt:lpstr>Que  puede hacer para protegerse y proteger ala gente cercana:</vt:lpstr>
      <vt:lpstr>Diapositiva 6</vt:lpstr>
      <vt:lpstr>Cuando usted trabaja en el campo</vt:lpstr>
      <vt:lpstr>Diapositiva 8</vt:lpstr>
      <vt:lpstr>Diapositiva 9</vt:lpstr>
      <vt:lpstr>Diapositiva 10</vt:lpstr>
      <vt:lpstr>Diapositiva 11</vt:lpstr>
      <vt:lpstr>Protección a los niños de los plaguicidas</vt:lpstr>
      <vt:lpstr>Recomendaciones </vt:lpstr>
      <vt:lpstr>Los adultos a los niños</vt:lpstr>
      <vt:lpstr>Plaguicidas en los alimentos</vt:lpstr>
      <vt:lpstr>Control de plagas en el hogar</vt:lpstr>
      <vt:lpstr>Control de plagas</vt:lpstr>
      <vt:lpstr>Si usa plaguicidas en el hogar</vt:lpstr>
      <vt:lpstr>Lea y comprenda las instrucciones </vt:lpstr>
      <vt:lpstr>LOS PLAGUICIDAS DAÑAN EL MEDIO AMBIENTE EN DIFERENTES FORMAS</vt:lpstr>
      <vt:lpstr>LOS PLAGUICIDAS ENVENENAN:  </vt:lpstr>
      <vt:lpstr>Diapositiva 22</vt:lpstr>
      <vt:lpstr>RESISTENCIA ALOS PLAGUICIDAS: </vt:lpstr>
      <vt:lpstr>PROGRAMA EDUCATIVO SOBRE PLAGUICIDAS EN SU COMUNIDAD. </vt:lpstr>
      <vt:lpstr>Diapositiva 25</vt:lpstr>
      <vt:lpstr>LEY DE LOS PLAGUICIDAS.</vt:lpstr>
      <vt:lpstr>Diapositiva 27</vt:lpstr>
      <vt:lpstr>Diapositiva 28</vt:lpstr>
      <vt:lpstr>Diapositiva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Protección a los niños de los plaguicidas</dc:title>
  <dc:creator>Lilian</dc:creator>
  <cp:lastModifiedBy>Lilian</cp:lastModifiedBy>
  <cp:revision>10</cp:revision>
  <dcterms:created xsi:type="dcterms:W3CDTF">2010-09-09T20:45:22Z</dcterms:created>
  <dcterms:modified xsi:type="dcterms:W3CDTF">2010-09-11T13:46:26Z</dcterms:modified>
</cp:coreProperties>
</file>