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7" r:id="rId21"/>
    <p:sldId id="278" r:id="rId22"/>
    <p:sldId id="279" r:id="rId23"/>
    <p:sldId id="281" r:id="rId24"/>
    <p:sldId id="282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DA42D4C-BFEB-445B-9817-B932C9B0D145}" type="datetimeFigureOut">
              <a:rPr lang="en-US" smtClean="0"/>
              <a:pPr/>
              <a:t>5/31/2014</a:t>
            </a:fld>
            <a:endParaRPr lang="en-U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21 Conector recto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26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23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Elipse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24 Elipse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2A9D660B-89B2-4D15-B021-081A91B13ECD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DA42D4C-BFEB-445B-9817-B932C9B0D145}" type="datetimeFigureOut">
              <a:rPr lang="en-US" smtClean="0"/>
              <a:pPr/>
              <a:t>5/31/2014</a:t>
            </a:fld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A9D660B-89B2-4D15-B021-081A91B13EC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DA42D4C-BFEB-445B-9817-B932C9B0D145}" type="datetimeFigureOut">
              <a:rPr lang="en-US" smtClean="0"/>
              <a:pPr/>
              <a:t>5/31/2014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8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16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19 Elipse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Elipse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Conector recto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2A9D660B-89B2-4D15-B021-081A91B13ECD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42D4C-BFEB-445B-9817-B932C9B0D145}" type="datetimeFigureOut">
              <a:rPr lang="en-US" smtClean="0"/>
              <a:pPr/>
              <a:t>5/31/2014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D660B-89B2-4D15-B021-081A91B13EC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42D4C-BFEB-445B-9817-B932C9B0D145}" type="datetimeFigureOut">
              <a:rPr lang="en-US" smtClean="0"/>
              <a:pPr/>
              <a:t>5/31/2014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D660B-89B2-4D15-B021-081A91B13EC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DA42D4C-BFEB-445B-9817-B932C9B0D145}" type="datetimeFigureOut">
              <a:rPr lang="en-US" smtClean="0"/>
              <a:pPr/>
              <a:t>5/31/2014</a:t>
            </a:fld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A9D660B-89B2-4D15-B021-081A91B13EC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42D4C-BFEB-445B-9817-B932C9B0D145}" type="datetimeFigureOut">
              <a:rPr lang="en-US" smtClean="0"/>
              <a:pPr/>
              <a:t>5/31/2014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D660B-89B2-4D15-B021-081A91B13ECD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17 Marcador de contenido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DA42D4C-BFEB-445B-9817-B932C9B0D145}" type="datetimeFigureOut">
              <a:rPr lang="en-US" smtClean="0"/>
              <a:pPr/>
              <a:t>5/31/2014</a:t>
            </a:fld>
            <a:endParaRPr lang="en-US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A9D660B-89B2-4D15-B021-081A91B13EC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3" name="22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18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DA42D4C-BFEB-445B-9817-B932C9B0D145}" type="datetimeFigureOut">
              <a:rPr lang="en-US" smtClean="0"/>
              <a:pPr/>
              <a:t>5/31/2014</a:t>
            </a:fld>
            <a:endParaRPr lang="en-US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A9D660B-89B2-4D15-B021-081A91B13ECD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42D4C-BFEB-445B-9817-B932C9B0D145}" type="datetimeFigureOut">
              <a:rPr lang="en-US" smtClean="0"/>
              <a:pPr/>
              <a:t>5/31/2014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D660B-89B2-4D15-B021-081A91B13ECD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42D4C-BFEB-445B-9817-B932C9B0D145}" type="datetimeFigureOut">
              <a:rPr lang="en-US" smtClean="0"/>
              <a:pPr/>
              <a:t>5/31/2014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D660B-89B2-4D15-B021-081A91B13ECD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DA42D4C-BFEB-445B-9817-B932C9B0D145}" type="datetimeFigureOut">
              <a:rPr lang="en-US" smtClean="0"/>
              <a:pPr/>
              <a:t>5/31/2014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A9D660B-89B2-4D15-B021-081A91B13ECD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848600" cy="2990850"/>
          </a:xfrm>
        </p:spPr>
        <p:txBody>
          <a:bodyPr/>
          <a:lstStyle/>
          <a:p>
            <a:r>
              <a:rPr lang="en-US" dirty="0" smtClean="0"/>
              <a:t>PROTOCOLO DE ENFERMERIA EN HEMORROIDES</a:t>
            </a:r>
            <a:endParaRPr lang="en-U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438400" y="3733800"/>
            <a:ext cx="6172200" cy="2209800"/>
          </a:xfrm>
        </p:spPr>
        <p:txBody>
          <a:bodyPr/>
          <a:lstStyle/>
          <a:p>
            <a:r>
              <a:rPr lang="en-US" dirty="0" smtClean="0"/>
              <a:t>INTEGRANTES:                    </a:t>
            </a:r>
          </a:p>
          <a:p>
            <a:r>
              <a:rPr lang="en-US" dirty="0" smtClean="0"/>
              <a:t>ARGOTE ZUBIETA LIZZETH NILDA </a:t>
            </a:r>
          </a:p>
          <a:p>
            <a:r>
              <a:rPr lang="en-US" dirty="0" smtClean="0"/>
              <a:t>CALDERON CAMPOVERDE BEATRIZ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360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 algn="ctr"/>
            <a:r>
              <a:rPr lang="en-US" b="1" dirty="0" smtClean="0"/>
              <a:t>HEMORROIDES</a:t>
            </a:r>
            <a:endParaRPr lang="en-US" b="1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7467600" cy="5407152"/>
          </a:xfrm>
        </p:spPr>
        <p:txBody>
          <a:bodyPr>
            <a:noAutofit/>
          </a:bodyPr>
          <a:lstStyle/>
          <a:p>
            <a:pPr marL="514350" indent="-514350" algn="just">
              <a:buAutoNum type="arabicPeriod"/>
            </a:pPr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DEFINICION.- </a:t>
            </a:r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Las hemorroides, son porciones dilatadas de venas en el conducto anal</a:t>
            </a:r>
          </a:p>
          <a:p>
            <a:pPr marL="514350" indent="-514350" algn="just">
              <a:buAutoNum type="arabicPeriod"/>
            </a:pP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ETIOLOGÍA: </a:t>
            </a:r>
          </a:p>
          <a:p>
            <a:pPr algn="just"/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Sin obstrucción orgánica del retorno venoso: Baja ingesta de fibra, herencia, constipación, diarrea, factores anatómicos-fisiológicos (mecánica postural), alteraciones del tono </a:t>
            </a:r>
            <a:r>
              <a:rPr lang="es-ES" sz="2600" dirty="0" err="1" smtClean="0">
                <a:latin typeface="Times New Roman" pitchFamily="18" charset="0"/>
                <a:cs typeface="Times New Roman" pitchFamily="18" charset="0"/>
              </a:rPr>
              <a:t>esfinteriano</a:t>
            </a:r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Con obstrucción orgánica del retorno venoso: Embarazo, cirrosis hepática, trombosis de la vena porta</a:t>
            </a:r>
          </a:p>
        </p:txBody>
      </p:sp>
    </p:spTree>
    <p:extLst>
      <p:ext uri="{BB962C8B-B14F-4D97-AF65-F5344CB8AC3E}">
        <p14:creationId xmlns:p14="http://schemas.microsoft.com/office/powerpoint/2010/main" val="3581913776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28600" y="304800"/>
            <a:ext cx="8458200" cy="6324600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CLASIFICACION:</a:t>
            </a:r>
          </a:p>
          <a:p>
            <a:pPr marL="0" indent="0">
              <a:buNone/>
            </a:pPr>
            <a:r>
              <a:rPr lang="en-US" sz="2600" b="1" dirty="0" err="1" smtClean="0">
                <a:latin typeface="Times New Roman" pitchFamily="18" charset="0"/>
                <a:cs typeface="Times New Roman" pitchFamily="18" charset="0"/>
              </a:rPr>
              <a:t>Hemorroides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b="1" dirty="0" err="1" smtClean="0">
                <a:latin typeface="Times New Roman" pitchFamily="18" charset="0"/>
                <a:cs typeface="Times New Roman" pitchFamily="18" charset="0"/>
              </a:rPr>
              <a:t>internas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marL="0" indent="0">
              <a:buNone/>
            </a:pPr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Grado 1: </a:t>
            </a:r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No descienden por debajo del esfínter interno.</a:t>
            </a:r>
          </a:p>
          <a:p>
            <a:pPr marL="0" indent="0">
              <a:buNone/>
            </a:pPr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Grado 2: </a:t>
            </a:r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s-ES" sz="2600" dirty="0" err="1" smtClean="0">
                <a:latin typeface="Times New Roman" pitchFamily="18" charset="0"/>
                <a:cs typeface="Times New Roman" pitchFamily="18" charset="0"/>
              </a:rPr>
              <a:t>prolapsan</a:t>
            </a:r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 por el canal anal durante el esfuerzo de evacuación y desaparecen al terminar el esfuerzo de forma espontánea. </a:t>
            </a:r>
          </a:p>
          <a:p>
            <a:pPr marL="0" indent="0">
              <a:buNone/>
            </a:pPr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Grado 3</a:t>
            </a:r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: Se </a:t>
            </a:r>
            <a:r>
              <a:rPr lang="es-ES" sz="2600" dirty="0" err="1" smtClean="0">
                <a:latin typeface="Times New Roman" pitchFamily="18" charset="0"/>
                <a:cs typeface="Times New Roman" pitchFamily="18" charset="0"/>
              </a:rPr>
              <a:t>prolapsan</a:t>
            </a:r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 durante el esfuerzo y sólo se reducen con maniobras de reducción digital. </a:t>
            </a:r>
          </a:p>
          <a:p>
            <a:pPr marL="0" indent="0">
              <a:buNone/>
            </a:pP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Grado 4</a:t>
            </a:r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: las hemorroides están permanentemente fuera del ano y no pueden ser reintroducidas de forma manual (prolapso fijo).</a:t>
            </a:r>
            <a:r>
              <a:rPr lang="es-ES" sz="2600" dirty="0" smtClean="0"/>
              <a:t> </a:t>
            </a:r>
          </a:p>
          <a:p>
            <a:endParaRPr lang="en-US" dirty="0"/>
          </a:p>
        </p:txBody>
      </p:sp>
      <p:pic>
        <p:nvPicPr>
          <p:cNvPr id="4" name="3 Imagen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440940"/>
            <a:ext cx="2819400" cy="44170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32457872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04800" y="381000"/>
            <a:ext cx="8382000" cy="6019800"/>
          </a:xfrm>
        </p:spPr>
        <p:txBody>
          <a:bodyPr numCol="2"/>
          <a:lstStyle/>
          <a:p>
            <a:pPr>
              <a:buNone/>
            </a:pPr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Hemorroides externas: </a:t>
            </a:r>
          </a:p>
          <a:p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Derivan del plexo hemorroidal externo. Están recubiertas de la piel perianal, ricas en fibras sensitivas, por lo que se manifiestan con dolor. </a:t>
            </a:r>
          </a:p>
          <a:p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Hemorroides </a:t>
            </a:r>
            <a:r>
              <a:rPr lang="es-ES" sz="2600" b="1" dirty="0" err="1" smtClean="0">
                <a:latin typeface="Times New Roman" pitchFamily="18" charset="0"/>
                <a:cs typeface="Times New Roman" pitchFamily="18" charset="0"/>
              </a:rPr>
              <a:t>trombosado</a:t>
            </a:r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: presencia de trombo o coágulo dentro del lumen venoso.</a:t>
            </a:r>
          </a:p>
          <a:p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Fluxión Hemorroidal: </a:t>
            </a:r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Gran hipertonía del esfínter interno que impide la reducción del prolapso</a:t>
            </a:r>
            <a:r>
              <a:rPr lang="es-ES" sz="2800" dirty="0" smtClean="0"/>
              <a:t>. </a:t>
            </a:r>
            <a:endParaRPr lang="en-US" sz="2800" dirty="0"/>
          </a:p>
        </p:txBody>
      </p:sp>
      <p:pic>
        <p:nvPicPr>
          <p:cNvPr id="4" name="3 Imagen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371600"/>
            <a:ext cx="3886200" cy="41789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05336155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04800" y="457200"/>
            <a:ext cx="8458200" cy="566896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Síntomas</a:t>
            </a:r>
          </a:p>
          <a:p>
            <a:pPr algn="just">
              <a:buNone/>
            </a:pP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Hemorroides grado I</a:t>
            </a: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aparición de sangre en heces o en el papel higiénico; alguna vez también por picores en la zona anal.  </a:t>
            </a:r>
          </a:p>
          <a:p>
            <a:pPr algn="just">
              <a:buNone/>
            </a:pPr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Hemorroides grado II</a:t>
            </a: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Sangrados indoloros al defecar.</a:t>
            </a:r>
          </a:p>
          <a:p>
            <a:pPr lvl="0" algn="just"/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Quemazón, picor, piel inflamada y enrojecida y exudado de la zona anal.</a:t>
            </a:r>
          </a:p>
          <a:p>
            <a:pPr lvl="0" algn="just"/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Aparece una sensación de vaciado rectal incompleto tras la defecación y, en ocasiones, sensación de cuerpo extraño.</a:t>
            </a:r>
          </a:p>
          <a:p>
            <a:endParaRPr lang="es-E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68697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381000"/>
            <a:ext cx="8229600" cy="5745163"/>
          </a:xfrm>
        </p:spPr>
        <p:txBody>
          <a:bodyPr>
            <a:noAutofit/>
          </a:bodyPr>
          <a:lstStyle/>
          <a:p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Si las hemorroides aparecen en el canal anal, estas pueden quedar atrapadas, lo que se denomina </a:t>
            </a:r>
            <a:r>
              <a:rPr lang="es-ES" sz="2600" dirty="0" err="1" smtClean="0">
                <a:latin typeface="Times New Roman" pitchFamily="18" charset="0"/>
                <a:cs typeface="Times New Roman" pitchFamily="18" charset="0"/>
              </a:rPr>
              <a:t>incarceración</a:t>
            </a:r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 o estrangulamiento.</a:t>
            </a:r>
          </a:p>
          <a:p>
            <a:pPr>
              <a:buNone/>
            </a:pPr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Hemorroides grado III y IV</a:t>
            </a: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están presentes tras la defecación o a veces, incluso, de forma espontánea en el ano, y así permanecerán si no son tratadas.</a:t>
            </a:r>
          </a:p>
          <a:p>
            <a:pPr lvl="0"/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Pinchazos y sensación de comezón en la zona anal</a:t>
            </a:r>
          </a:p>
          <a:p>
            <a:pPr lvl="0"/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Picor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en el 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ano</a:t>
            </a: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Producción de un exudado que mancha la ropa interior</a:t>
            </a:r>
          </a:p>
          <a:p>
            <a:pPr lvl="0"/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Incontinencia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ocasional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heces</a:t>
            </a: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Sensación permanente de cuerpo extraño en el canal anal</a:t>
            </a:r>
          </a:p>
          <a:p>
            <a:pPr lvl="0"/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Sangrados</a:t>
            </a: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Dolor</a:t>
            </a: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8382000" cy="6172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Tratamiento</a:t>
            </a: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s-ES" sz="2500" dirty="0" smtClean="0">
                <a:latin typeface="Times New Roman" pitchFamily="18" charset="0"/>
                <a:cs typeface="Times New Roman" pitchFamily="18" charset="0"/>
              </a:rPr>
              <a:t>Las cremas </a:t>
            </a:r>
            <a:r>
              <a:rPr lang="es-ES" sz="2500" dirty="0" err="1" smtClean="0">
                <a:latin typeface="Times New Roman" pitchFamily="18" charset="0"/>
                <a:cs typeface="Times New Roman" pitchFamily="18" charset="0"/>
              </a:rPr>
              <a:t>corticosteroides</a:t>
            </a:r>
            <a:r>
              <a:rPr lang="es-ES" sz="2500" dirty="0" smtClean="0">
                <a:latin typeface="Times New Roman" pitchFamily="18" charset="0"/>
                <a:cs typeface="Times New Roman" pitchFamily="18" charset="0"/>
              </a:rPr>
              <a:t> de venta libre para ayudar a disminuir el dolor y la hinchazón.</a:t>
            </a:r>
          </a:p>
          <a:p>
            <a:pPr lvl="0" algn="just"/>
            <a:r>
              <a:rPr lang="es-ES" sz="2500" dirty="0" smtClean="0">
                <a:latin typeface="Times New Roman" pitchFamily="18" charset="0"/>
                <a:cs typeface="Times New Roman" pitchFamily="18" charset="0"/>
              </a:rPr>
              <a:t>Las cremas para hemorroides que contienen lidocaína para ayudar reducir el dolor.</a:t>
            </a:r>
          </a:p>
          <a:p>
            <a:pPr lvl="0" algn="just"/>
            <a:r>
              <a:rPr lang="es-ES" sz="2500" dirty="0" smtClean="0">
                <a:latin typeface="Times New Roman" pitchFamily="18" charset="0"/>
                <a:cs typeface="Times New Roman" pitchFamily="18" charset="0"/>
              </a:rPr>
              <a:t>Los ablandadores de heces ayudan a reducir el esfuerzo y el estreñimiento.</a:t>
            </a:r>
          </a:p>
          <a:p>
            <a:pPr algn="just"/>
            <a:r>
              <a:rPr lang="es-ES" sz="2500" dirty="0" smtClean="0">
                <a:latin typeface="Times New Roman" pitchFamily="18" charset="0"/>
                <a:cs typeface="Times New Roman" pitchFamily="18" charset="0"/>
              </a:rPr>
              <a:t>Otras medidas que se pueden tomar para reducir esta picazón abarcan:</a:t>
            </a:r>
          </a:p>
          <a:p>
            <a:pPr lvl="0" algn="just"/>
            <a:r>
              <a:rPr lang="es-ES" sz="2500" dirty="0" smtClean="0">
                <a:latin typeface="Times New Roman" pitchFamily="18" charset="0"/>
                <a:cs typeface="Times New Roman" pitchFamily="18" charset="0"/>
              </a:rPr>
              <a:t>Utilizar ropa interior de algodón.</a:t>
            </a:r>
          </a:p>
          <a:p>
            <a:pPr lvl="0" algn="just"/>
            <a:r>
              <a:rPr lang="es-ES" sz="2500" dirty="0" smtClean="0">
                <a:latin typeface="Times New Roman" pitchFamily="18" charset="0"/>
                <a:cs typeface="Times New Roman" pitchFamily="18" charset="0"/>
              </a:rPr>
              <a:t>Evitar el papel higiénico con perfumes o colores; usar toallitas para bebés en lugar de esto.</a:t>
            </a:r>
          </a:p>
          <a:p>
            <a:pPr lvl="0" algn="just"/>
            <a:r>
              <a:rPr lang="es-ES" sz="2500" dirty="0" smtClean="0">
                <a:latin typeface="Times New Roman" pitchFamily="18" charset="0"/>
                <a:cs typeface="Times New Roman" pitchFamily="18" charset="0"/>
              </a:rPr>
              <a:t>Tratar de no rascarse el área.</a:t>
            </a:r>
          </a:p>
          <a:p>
            <a:pPr lvl="0" algn="just"/>
            <a:r>
              <a:rPr lang="es-ES" sz="2500" dirty="0" smtClean="0">
                <a:latin typeface="Times New Roman" pitchFamily="18" charset="0"/>
                <a:cs typeface="Times New Roman" pitchFamily="18" charset="0"/>
              </a:rPr>
              <a:t>Los baños de asiento, en agua tibia durante 10 a 15 minutos, ayuda a sentirse mejor.</a:t>
            </a: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Si no mejoran con los tratamientos</a:t>
            </a:r>
          </a:p>
          <a:p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La cirugía que se puede hacer para tratar las hemorroides incluye ligadura con banda de caucho o la </a:t>
            </a:r>
            <a:r>
              <a:rPr lang="es-ES" sz="2600" dirty="0" err="1" smtClean="0">
                <a:latin typeface="Times New Roman" pitchFamily="18" charset="0"/>
                <a:cs typeface="Times New Roman" pitchFamily="18" charset="0"/>
              </a:rPr>
              <a:t>hemorroidectomía</a:t>
            </a:r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 quirúrgica.</a:t>
            </a:r>
          </a:p>
          <a:p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Complicaciones</a:t>
            </a:r>
          </a:p>
          <a:p>
            <a:pPr>
              <a:buNone/>
            </a:pP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Fisuras anales</a:t>
            </a:r>
          </a:p>
          <a:p>
            <a:pPr lvl="0" algn="just"/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Abscesos </a:t>
            </a:r>
          </a:p>
          <a:p>
            <a:pPr lvl="0" algn="just"/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Fistulas anales </a:t>
            </a:r>
          </a:p>
          <a:p>
            <a:endParaRPr lang="es-ES" dirty="0" smtClean="0"/>
          </a:p>
          <a:p>
            <a:endParaRPr lang="es-ES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lvl="0">
              <a:buNone/>
            </a:pPr>
            <a:r>
              <a:rPr lang="es-BO" b="1" dirty="0" smtClean="0"/>
              <a:t>2. OBJETIVOS</a:t>
            </a:r>
          </a:p>
          <a:p>
            <a:pPr lvl="0">
              <a:buNone/>
            </a:pPr>
            <a:endParaRPr lang="es-BO" b="1" dirty="0" smtClean="0"/>
          </a:p>
          <a:p>
            <a:pPr lvl="0">
              <a:buNone/>
            </a:pPr>
            <a:endParaRPr lang="es-ES" dirty="0" smtClean="0"/>
          </a:p>
        </p:txBody>
      </p:sp>
      <p:sp>
        <p:nvSpPr>
          <p:cNvPr id="4" name="3 Elipse"/>
          <p:cNvSpPr/>
          <p:nvPr/>
        </p:nvSpPr>
        <p:spPr>
          <a:xfrm>
            <a:off x="609600" y="1447800"/>
            <a:ext cx="7924800" cy="43434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s-ES" sz="3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Aliviar el dolor y la inflamación local.</a:t>
            </a:r>
          </a:p>
          <a:p>
            <a:pPr lvl="0"/>
            <a:r>
              <a:rPr lang="es-ES" sz="3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Disminuir la ansiedad del paciente.</a:t>
            </a:r>
          </a:p>
          <a:p>
            <a:pPr lvl="0"/>
            <a:r>
              <a:rPr lang="es-ES" sz="3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Prevenir complicaciones.</a:t>
            </a: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381000"/>
            <a:ext cx="8382000" cy="6172200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rPr lang="es-BO" sz="2600" b="1" dirty="0" smtClean="0"/>
              <a:t>3. UNIDAD DE ATENCION</a:t>
            </a:r>
            <a:endParaRPr lang="es-ES" sz="2600" dirty="0" smtClean="0"/>
          </a:p>
          <a:p>
            <a:endParaRPr lang="es-ES" dirty="0"/>
          </a:p>
        </p:txBody>
      </p:sp>
      <p:sp>
        <p:nvSpPr>
          <p:cNvPr id="4" name="3 Rectángulo redondeado"/>
          <p:cNvSpPr/>
          <p:nvPr/>
        </p:nvSpPr>
        <p:spPr>
          <a:xfrm>
            <a:off x="304800" y="914400"/>
            <a:ext cx="8382000" cy="16764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2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Dieta rica en fibra y abundante líquido: Ciruela, kiwi, avena, legumbres, acelgas, espinaca, lechuga, completando al menos 5 porciones y 2 litros de líquidos al día.</a:t>
            </a:r>
          </a:p>
        </p:txBody>
      </p:sp>
      <p:sp>
        <p:nvSpPr>
          <p:cNvPr id="5" name="4 Rectángulo redondeado"/>
          <p:cNvSpPr/>
          <p:nvPr/>
        </p:nvSpPr>
        <p:spPr>
          <a:xfrm>
            <a:off x="304800" y="2667000"/>
            <a:ext cx="8382000" cy="20574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2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Laxante (del tipo ablandador de heces): </a:t>
            </a:r>
            <a:r>
              <a:rPr lang="es-ES" sz="26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lactulosa</a:t>
            </a:r>
            <a:r>
              <a:rPr lang="es-ES" sz="2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vaselina, fibras naturales. Preparados tópicos con anestésicos y corticoides: en caso de dolor, aplicar en la zona afectada, previo aseo, 1-2 veces al día. No más de 5 días.</a:t>
            </a:r>
          </a:p>
        </p:txBody>
      </p:sp>
      <p:sp>
        <p:nvSpPr>
          <p:cNvPr id="6" name="3 Marcador de contenido"/>
          <p:cNvSpPr txBox="1">
            <a:spLocks/>
          </p:cNvSpPr>
          <p:nvPr/>
        </p:nvSpPr>
        <p:spPr>
          <a:xfrm>
            <a:off x="381000" y="4800600"/>
            <a:ext cx="8229600" cy="1752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E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Baños de asiento: previo a defecar, colocar 1 </a:t>
            </a:r>
            <a:r>
              <a:rPr kumimoji="0" lang="es-ES" sz="26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lt</a:t>
            </a:r>
            <a:r>
              <a:rPr kumimoji="0" lang="es-E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de agua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E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templada en recipiente limpio (manzanilla), sumergir la</a:t>
            </a:r>
            <a:r>
              <a:rPr kumimoji="0" lang="es-ES" sz="26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s-E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zona afectada </a:t>
            </a:r>
            <a:r>
              <a:rPr kumimoji="0" lang="es-ES" sz="2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por </a:t>
            </a:r>
            <a:r>
              <a:rPr kumimoji="0" lang="es-ES" sz="2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10 a 15 </a:t>
            </a:r>
            <a:r>
              <a:rPr kumimoji="0" lang="es-E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minutos</a:t>
            </a: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3 Marcador de contenido"/>
          <p:cNvSpPr txBox="1">
            <a:spLocks/>
          </p:cNvSpPr>
          <p:nvPr/>
        </p:nvSpPr>
        <p:spPr>
          <a:xfrm>
            <a:off x="457200" y="381000"/>
            <a:ext cx="8229600" cy="6858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s-ES" sz="2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Analgésicos vía oral, Reposo, Hielo.</a:t>
            </a:r>
          </a:p>
        </p:txBody>
      </p:sp>
      <p:sp>
        <p:nvSpPr>
          <p:cNvPr id="6" name="3 Marcador de contenido"/>
          <p:cNvSpPr txBox="1">
            <a:spLocks/>
          </p:cNvSpPr>
          <p:nvPr/>
        </p:nvSpPr>
        <p:spPr>
          <a:xfrm>
            <a:off x="381000" y="1143000"/>
            <a:ext cx="8229600" cy="3048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just"/>
            <a:r>
              <a:rPr lang="es-ES" sz="2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 caso de existir hemorroides </a:t>
            </a:r>
            <a:r>
              <a:rPr lang="es-ES" sz="26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trombosado</a:t>
            </a:r>
            <a:r>
              <a:rPr lang="es-ES" sz="2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relativamente indolora, de tamaño moderado o trombosis acompañadas de edema. Se sugiere manejo médico, ya que desaparece el dolor en aproximadamente 1 semana y la tumefacción entre 1 y 6 semanas después. Si el paciente está muy sintomático, se recomienda </a:t>
            </a:r>
            <a:r>
              <a:rPr lang="es-ES" sz="26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trombectomía</a:t>
            </a:r>
            <a:r>
              <a:rPr lang="es-ES" sz="2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8" name="3 Marcador de contenido"/>
          <p:cNvSpPr txBox="1">
            <a:spLocks/>
          </p:cNvSpPr>
          <p:nvPr/>
        </p:nvSpPr>
        <p:spPr>
          <a:xfrm>
            <a:off x="304800" y="4343400"/>
            <a:ext cx="8382000" cy="2133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lvl="1" algn="just"/>
            <a:r>
              <a:rPr lang="es-ES" sz="2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 Fluxión Hemorroidal será evaluada Servicio de Urgencia de Hospital de Mayor Complejidad, para la reducción manual con anestesia local y sedación. Si están necróticos, tienen indicación de </a:t>
            </a:r>
            <a:r>
              <a:rPr lang="es-ES" sz="26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hemorroidectomía</a:t>
            </a:r>
            <a:r>
              <a:rPr lang="es-ES" sz="2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de urgencia.</a:t>
            </a: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381000"/>
            <a:ext cx="8229600" cy="60960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lvl="0">
              <a:buNone/>
            </a:pPr>
            <a:r>
              <a:rPr lang="es-BO" sz="2600" b="1" dirty="0" smtClean="0"/>
              <a:t>4. </a:t>
            </a:r>
            <a:r>
              <a:rPr lang="es-BO" sz="2600" b="1" dirty="0" smtClean="0">
                <a:latin typeface="Times New Roman" pitchFamily="18" charset="0"/>
                <a:cs typeface="Times New Roman" pitchFamily="18" charset="0"/>
              </a:rPr>
              <a:t>VALORACION DE ENFERMERIA POR LOS  PATRONES FUNCIONALES </a:t>
            </a: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s-BO" sz="2600" dirty="0" smtClean="0">
                <a:latin typeface="Times New Roman" pitchFamily="18" charset="0"/>
                <a:cs typeface="Times New Roman" pitchFamily="18" charset="0"/>
              </a:rPr>
              <a:t>Percepción / Control de la salud: Determinar el grado de</a:t>
            </a:r>
          </a:p>
          <a:p>
            <a:pPr lvl="0">
              <a:buNone/>
            </a:pPr>
            <a:r>
              <a:rPr lang="es-BO" sz="2600" dirty="0" smtClean="0">
                <a:latin typeface="Times New Roman" pitchFamily="18" charset="0"/>
                <a:cs typeface="Times New Roman" pitchFamily="18" charset="0"/>
              </a:rPr>
              <a:t>dolor referido por el paciente, así como la duración de cada</a:t>
            </a:r>
          </a:p>
          <a:p>
            <a:pPr lvl="0">
              <a:buNone/>
            </a:pPr>
            <a:r>
              <a:rPr lang="es-BO" sz="2600" dirty="0" smtClean="0">
                <a:latin typeface="Times New Roman" pitchFamily="18" charset="0"/>
                <a:cs typeface="Times New Roman" pitchFamily="18" charset="0"/>
              </a:rPr>
              <a:t>episodio de dolor. Determinar las consecuencias que tiene</a:t>
            </a:r>
          </a:p>
          <a:p>
            <a:pPr lvl="0">
              <a:buNone/>
            </a:pPr>
            <a:r>
              <a:rPr lang="es-BO" sz="2600" dirty="0" smtClean="0">
                <a:latin typeface="Times New Roman" pitchFamily="18" charset="0"/>
                <a:cs typeface="Times New Roman" pitchFamily="18" charset="0"/>
              </a:rPr>
              <a:t>para el paciente el dolor que sufre. Valorar los signos de</a:t>
            </a:r>
          </a:p>
          <a:p>
            <a:pPr lvl="0">
              <a:buNone/>
            </a:pPr>
            <a:r>
              <a:rPr lang="es-BO" sz="2600" dirty="0" smtClean="0">
                <a:latin typeface="Times New Roman" pitchFamily="18" charset="0"/>
                <a:cs typeface="Times New Roman" pitchFamily="18" charset="0"/>
              </a:rPr>
              <a:t>infección relacionados con la lesión anal. </a:t>
            </a: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s-ES" dirty="0"/>
          </a:p>
        </p:txBody>
      </p:sp>
      <p:sp>
        <p:nvSpPr>
          <p:cNvPr id="4" name="3 Redondear rectángulo de esquina diagonal"/>
          <p:cNvSpPr/>
          <p:nvPr/>
        </p:nvSpPr>
        <p:spPr>
          <a:xfrm>
            <a:off x="304800" y="3657600"/>
            <a:ext cx="8305800" cy="2895600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/>
            <a:r>
              <a:rPr lang="es-BO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00132 - Dolor agudo r/c agente lesivos (biológicos, químicos, físicos y/o psicológicos).</a:t>
            </a:r>
            <a:endParaRPr lang="es-ES" sz="24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s-BO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00044 - Deterioro de la integridad tisular r/c factores mecánicos, factores nutricionales, alteración de la circulación y/o entre otros factores</a:t>
            </a:r>
            <a:endParaRPr lang="es-ES" sz="24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s-BO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00004 - Riesgo de infección Defensas primarias inadecuadas (herida)</a:t>
            </a:r>
            <a:endParaRPr lang="es-ES" sz="24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304800"/>
            <a:ext cx="8305800" cy="6169152"/>
          </a:xfrm>
        </p:spPr>
        <p:txBody>
          <a:bodyPr/>
          <a:lstStyle/>
          <a:p>
            <a:pPr lvl="1">
              <a:buFont typeface="Courier New" pitchFamily="49" charset="0"/>
              <a:buChar char="o"/>
            </a:pPr>
            <a:r>
              <a:rPr lang="es-BO" sz="2600" dirty="0" smtClean="0">
                <a:latin typeface="Times New Roman" pitchFamily="18" charset="0"/>
                <a:cs typeface="Times New Roman" pitchFamily="18" charset="0"/>
              </a:rPr>
              <a:t>Nutricional / Metabólico: Determinar el consumo diario de fibra, cantidad de líquidos ingeridos en 24 hrs.</a:t>
            </a:r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>
              <a:buFont typeface="Courier New" pitchFamily="49" charset="0"/>
              <a:buChar char="o"/>
            </a:pPr>
            <a:r>
              <a:rPr lang="es-BO" sz="2600" dirty="0" smtClean="0">
                <a:latin typeface="Times New Roman" pitchFamily="18" charset="0"/>
                <a:cs typeface="Times New Roman" pitchFamily="18" charset="0"/>
              </a:rPr>
              <a:t>Eliminación: Determinar el número de defecaciones, si hay dolor al defecar. Valorar la posibilidad de estreñimiento, provocado por la molestia del paso de heces.</a:t>
            </a: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s-ES" dirty="0"/>
          </a:p>
        </p:txBody>
      </p:sp>
      <p:sp>
        <p:nvSpPr>
          <p:cNvPr id="4" name="3 Redondear rectángulo de esquina sencilla"/>
          <p:cNvSpPr/>
          <p:nvPr/>
        </p:nvSpPr>
        <p:spPr>
          <a:xfrm>
            <a:off x="228600" y="2819400"/>
            <a:ext cx="8458200" cy="3733800"/>
          </a:xfrm>
          <a:prstGeom prst="round1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/>
            <a:r>
              <a:rPr lang="es-BO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00015 -Riesgo de estreñimiento r/c hemorroides, absceso rectal, fisura rectal o anal, úlcera rectal, estenosis rectal o anal, </a:t>
            </a:r>
            <a:r>
              <a:rPr lang="es-BO" sz="24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rectocele</a:t>
            </a:r>
            <a:r>
              <a:rPr lang="es-BO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prolapso rectal, úlcera rectal y/o tumores</a:t>
            </a:r>
            <a:endParaRPr lang="es-ES" sz="24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s-BO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00011 - Estreñimiento r/c actividad física insuficiente, estrés emocional, hemorroides, opiáceos, embarazo, cambio en el patrón de alimentación habitual, deshidratación, malos hábitos alimentarios y/o entre otros factores</a:t>
            </a:r>
            <a:endParaRPr lang="es-ES" sz="24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s-BO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00011 - Estreñimiento r/c hemorroides, absceso rectal, fisura rectal o anal, úlcera rectal, estenosis rectal o anal, </a:t>
            </a:r>
            <a:r>
              <a:rPr lang="es-BO" sz="24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rectocele</a:t>
            </a:r>
            <a:r>
              <a:rPr lang="es-BO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prolapso rectal, úlcera rectal y/o tumores</a:t>
            </a:r>
            <a:endParaRPr lang="es-ES" sz="24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81000" y="381000"/>
            <a:ext cx="8305800" cy="6092952"/>
          </a:xfrm>
        </p:spPr>
        <p:txBody>
          <a:bodyPr/>
          <a:lstStyle/>
          <a:p>
            <a:pPr lvl="1">
              <a:buFont typeface="Courier New" pitchFamily="49" charset="0"/>
              <a:buChar char="o"/>
            </a:pPr>
            <a:r>
              <a:rPr lang="es-BO" sz="2400" dirty="0" smtClean="0">
                <a:latin typeface="Times New Roman" pitchFamily="18" charset="0"/>
                <a:cs typeface="Times New Roman" pitchFamily="18" charset="0"/>
              </a:rPr>
              <a:t>Actividad / Ejercicio: Sin alteraciones.</a:t>
            </a:r>
            <a:endParaRPr lang="es-ES" sz="1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Courier New" pitchFamily="49" charset="0"/>
              <a:buChar char="o"/>
            </a:pPr>
            <a:r>
              <a:rPr lang="es-BO" sz="2400" dirty="0" smtClean="0">
                <a:latin typeface="Times New Roman" pitchFamily="18" charset="0"/>
                <a:cs typeface="Times New Roman" pitchFamily="18" charset="0"/>
              </a:rPr>
              <a:t>Reposo / Sueño: Sin alteraciones.</a:t>
            </a:r>
            <a:endParaRPr lang="es-ES" sz="1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Courier New" pitchFamily="49" charset="0"/>
              <a:buChar char="o"/>
            </a:pPr>
            <a:r>
              <a:rPr lang="es-BO" sz="2400" dirty="0" smtClean="0">
                <a:latin typeface="Times New Roman" pitchFamily="18" charset="0"/>
                <a:cs typeface="Times New Roman" pitchFamily="18" charset="0"/>
              </a:rPr>
              <a:t>Cognoscitivo / Perceptual: Sin alteraciones</a:t>
            </a:r>
            <a:endParaRPr lang="es-ES" sz="1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Courier New" pitchFamily="49" charset="0"/>
              <a:buChar char="o"/>
            </a:pPr>
            <a:r>
              <a:rPr lang="es-BO" sz="2400" dirty="0" err="1" smtClean="0">
                <a:latin typeface="Times New Roman" pitchFamily="18" charset="0"/>
                <a:cs typeface="Times New Roman" pitchFamily="18" charset="0"/>
              </a:rPr>
              <a:t>Autopercepción</a:t>
            </a:r>
            <a:r>
              <a:rPr lang="es-BO" sz="2400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s-BO" sz="2400" dirty="0" err="1" smtClean="0">
                <a:latin typeface="Times New Roman" pitchFamily="18" charset="0"/>
                <a:cs typeface="Times New Roman" pitchFamily="18" charset="0"/>
              </a:rPr>
              <a:t>Autoconcepto</a:t>
            </a:r>
            <a:r>
              <a:rPr lang="es-BO" sz="2400" dirty="0" smtClean="0">
                <a:latin typeface="Times New Roman" pitchFamily="18" charset="0"/>
                <a:cs typeface="Times New Roman" pitchFamily="18" charset="0"/>
              </a:rPr>
              <a:t>: Sin alteraciones</a:t>
            </a:r>
            <a:endParaRPr lang="es-ES" sz="1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Courier New" pitchFamily="49" charset="0"/>
              <a:buChar char="o"/>
            </a:pPr>
            <a:r>
              <a:rPr lang="es-BO" sz="2400" dirty="0" smtClean="0">
                <a:latin typeface="Times New Roman" pitchFamily="18" charset="0"/>
                <a:cs typeface="Times New Roman" pitchFamily="18" charset="0"/>
              </a:rPr>
              <a:t>Rol / Relaciones: Sin alteraciones</a:t>
            </a:r>
            <a:endParaRPr lang="es-ES" sz="1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Courier New" pitchFamily="49" charset="0"/>
              <a:buChar char="o"/>
            </a:pPr>
            <a:r>
              <a:rPr lang="es-BO" sz="2400" dirty="0" smtClean="0">
                <a:latin typeface="Times New Roman" pitchFamily="18" charset="0"/>
                <a:cs typeface="Times New Roman" pitchFamily="18" charset="0"/>
              </a:rPr>
              <a:t>Sexualidad / Reproducción: Sin alteraciones</a:t>
            </a:r>
            <a:endParaRPr lang="es-ES" sz="1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Courier New" pitchFamily="49" charset="0"/>
              <a:buChar char="o"/>
            </a:pPr>
            <a:r>
              <a:rPr lang="es-BO" sz="2400" dirty="0" smtClean="0"/>
              <a:t>Afrontamiento / Tolerancia al estrés: Valorar el nivel de ansiedad o estrés verbalizado, así como la existencia de inquietud e irritabilidad.</a:t>
            </a:r>
          </a:p>
          <a:p>
            <a:pPr lvl="1">
              <a:buFont typeface="Courier New" pitchFamily="49" charset="0"/>
              <a:buChar char="o"/>
            </a:pPr>
            <a:endParaRPr lang="es-ES" sz="1400" dirty="0" smtClean="0"/>
          </a:p>
          <a:p>
            <a:pPr lvl="0"/>
            <a:endParaRPr lang="es-BO" sz="1400" dirty="0" smtClean="0"/>
          </a:p>
          <a:p>
            <a:pPr lvl="0"/>
            <a:endParaRPr lang="es-BO" sz="1400" dirty="0" smtClean="0"/>
          </a:p>
          <a:p>
            <a:pPr lvl="0"/>
            <a:endParaRPr lang="es-ES" sz="1400" dirty="0" smtClean="0"/>
          </a:p>
          <a:p>
            <a:pPr lvl="1"/>
            <a:r>
              <a:rPr lang="es-BO" sz="2400" dirty="0" smtClean="0"/>
              <a:t>Valores / Creencias: Sin alteraciones</a:t>
            </a:r>
            <a:endParaRPr lang="es-ES" sz="1400" dirty="0" smtClean="0"/>
          </a:p>
          <a:p>
            <a:endParaRPr lang="es-ES" dirty="0"/>
          </a:p>
        </p:txBody>
      </p:sp>
      <p:sp>
        <p:nvSpPr>
          <p:cNvPr id="4" name="3 Redondear rectángulo de esquina sencilla"/>
          <p:cNvSpPr/>
          <p:nvPr/>
        </p:nvSpPr>
        <p:spPr>
          <a:xfrm>
            <a:off x="914400" y="4267200"/>
            <a:ext cx="7086600" cy="914400"/>
          </a:xfrm>
          <a:prstGeom prst="round1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/>
            <a:r>
              <a:rPr lang="es-BO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00146 - Ansiedad r/c crisis situacional, estrés y/o entre otros factores</a:t>
            </a: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81000" y="304800"/>
            <a:ext cx="8382000" cy="6169152"/>
          </a:xfrm>
        </p:spPr>
        <p:txBody>
          <a:bodyPr/>
          <a:lstStyle/>
          <a:p>
            <a:pPr lvl="0">
              <a:buNone/>
            </a:pPr>
            <a:r>
              <a:rPr lang="es-BO" sz="2000" b="1" dirty="0" smtClean="0">
                <a:latin typeface="Times New Roman" pitchFamily="18" charset="0"/>
                <a:cs typeface="Times New Roman" pitchFamily="18" charset="0"/>
              </a:rPr>
              <a:t>5. ORGANIZACIÓN DEL SISTEMA DE CUIDADO PRIORIZANDO      DIAGNOSTICOS</a:t>
            </a:r>
            <a:endParaRPr lang="es-E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s-ES" dirty="0"/>
          </a:p>
        </p:txBody>
      </p:sp>
      <p:sp>
        <p:nvSpPr>
          <p:cNvPr id="4" name="3 Rectángulo"/>
          <p:cNvSpPr/>
          <p:nvPr/>
        </p:nvSpPr>
        <p:spPr>
          <a:xfrm>
            <a:off x="381000" y="1066800"/>
            <a:ext cx="7924800" cy="4648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just"/>
            <a:r>
              <a:rPr lang="es-E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00132 - Dolor agudo r/c agente lesivos (biológicos, químicos, físicos y/o psicológicos).</a:t>
            </a:r>
          </a:p>
          <a:p>
            <a:pPr lvl="1" algn="just"/>
            <a:r>
              <a:rPr lang="es-E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00011 - Estreñimiento r/c actividad física insuficiente, estrés emocional, hemorroides, opiáceos, embarazo, cambio en el patrón de alimentación habitual, deshidratación, malos hábitos alimentarios y/o entre otros factores</a:t>
            </a:r>
          </a:p>
          <a:p>
            <a:pPr lvl="1" algn="just"/>
            <a:r>
              <a:rPr lang="es-E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00011 - Estreñimiento r/c hemorroides, </a:t>
            </a:r>
            <a:r>
              <a:rPr lang="es-ES" sz="24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abceso</a:t>
            </a:r>
            <a:r>
              <a:rPr lang="es-E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rectal, fisura rectal o anal, úlcera rectal, estenosis rectal o anal, </a:t>
            </a:r>
            <a:r>
              <a:rPr lang="es-ES" sz="24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rectocele</a:t>
            </a:r>
            <a:r>
              <a:rPr lang="es-E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prolapso rectal, úlcera rectal y/o tumores</a:t>
            </a: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533400"/>
            <a:ext cx="7467600" cy="5940552"/>
          </a:xfrm>
        </p:spPr>
        <p:txBody>
          <a:bodyPr/>
          <a:lstStyle/>
          <a:p>
            <a:r>
              <a:rPr lang="es-BO" b="1" dirty="0" smtClean="0">
                <a:latin typeface="Times New Roman" pitchFamily="18" charset="0"/>
                <a:cs typeface="Times New Roman" pitchFamily="18" charset="0"/>
              </a:rPr>
              <a:t>5 . ORGANIZACIÓN DEL SISTEMA DE CUIDADO PRIORIZANDO      DIAGNOSTICOS</a:t>
            </a:r>
            <a:endParaRPr lang="es-ES" dirty="0"/>
          </a:p>
        </p:txBody>
      </p:sp>
      <p:sp>
        <p:nvSpPr>
          <p:cNvPr id="4" name="3 Rectángulo"/>
          <p:cNvSpPr/>
          <p:nvPr/>
        </p:nvSpPr>
        <p:spPr>
          <a:xfrm>
            <a:off x="381000" y="1295400"/>
            <a:ext cx="7924800" cy="441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just"/>
            <a:r>
              <a:rPr lang="es-E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00044 - Deterioro de la integridad tisular r/c factores mecánicos, factores nutricionales, alteración de la circulación y/o entre otros factores</a:t>
            </a:r>
          </a:p>
          <a:p>
            <a:pPr lvl="1" algn="just"/>
            <a:r>
              <a:rPr lang="es-E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00146 - Ansiedad r/c crisis situacional, estrés y/o entre otros factores</a:t>
            </a:r>
          </a:p>
          <a:p>
            <a:pPr lvl="1" algn="just"/>
            <a:r>
              <a:rPr lang="es-E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00004 - Riesgo de infección Defensas primarias inadecuadas (herida)</a:t>
            </a:r>
          </a:p>
          <a:p>
            <a:pPr lvl="1" algn="just"/>
            <a:r>
              <a:rPr lang="es-E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00015 -Riesgo de estreñimiento r/c hemorroides, </a:t>
            </a:r>
            <a:r>
              <a:rPr lang="es-ES" sz="24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abceso</a:t>
            </a:r>
            <a:r>
              <a:rPr lang="es-E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rectal, fisura rectal o anal, úlcera rectal, estenosis rectal o anal, </a:t>
            </a:r>
            <a:r>
              <a:rPr lang="es-ES" sz="24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rectocele</a:t>
            </a:r>
            <a:r>
              <a:rPr lang="es-E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prolapso rectal, úlcera rectal y/o tumores</a:t>
            </a: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381000"/>
            <a:ext cx="8305800" cy="6096000"/>
          </a:xfrm>
        </p:spPr>
        <p:txBody>
          <a:bodyPr>
            <a:normAutofit lnSpcReduction="10000"/>
          </a:bodyPr>
          <a:lstStyle/>
          <a:p>
            <a:pPr lvl="0">
              <a:buNone/>
            </a:pPr>
            <a:r>
              <a:rPr lang="es-BO" b="1" dirty="0" smtClean="0">
                <a:latin typeface="Times New Roman" pitchFamily="18" charset="0"/>
                <a:cs typeface="Times New Roman" pitchFamily="18" charset="0"/>
              </a:rPr>
              <a:t>6. PROCESO DE ATENCION DE ENFERMERIA NANDA -  NIC NOC</a:t>
            </a:r>
          </a:p>
          <a:p>
            <a:pPr lvl="0">
              <a:buNone/>
            </a:pPr>
            <a:endParaRPr lang="es-BO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00132 - Dolor agudo r/c agente lesivos (biológicos, químicos, físicos y/o psicológicos).</a:t>
            </a:r>
          </a:p>
          <a:p>
            <a:pPr lvl="0">
              <a:buNone/>
            </a:pP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Resultados NOC</a:t>
            </a: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•	002102 - Nivel del dolor</a:t>
            </a:r>
          </a:p>
          <a:p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•	2101 - Dolor: efectos nocivos</a:t>
            </a:r>
          </a:p>
          <a:p>
            <a:pPr>
              <a:buNone/>
            </a:pPr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Intervenciones NIC</a:t>
            </a: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•	001400 - Manejo del dolor</a:t>
            </a:r>
          </a:p>
          <a:p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•	2210 - Administración de analgésicos</a:t>
            </a:r>
          </a:p>
          <a:p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•	1800 - Ayuda al </a:t>
            </a:r>
            <a:r>
              <a:rPr lang="es-ES" sz="2600" dirty="0" err="1" smtClean="0">
                <a:latin typeface="Times New Roman" pitchFamily="18" charset="0"/>
                <a:cs typeface="Times New Roman" pitchFamily="18" charset="0"/>
              </a:rPr>
              <a:t>autocuidado</a:t>
            </a: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•	2390 - Prescribir medicación</a:t>
            </a:r>
          </a:p>
          <a:p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s-E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609600"/>
            <a:ext cx="7467600" cy="5864352"/>
          </a:xfrm>
        </p:spPr>
        <p:txBody>
          <a:bodyPr/>
          <a:lstStyle/>
          <a:p>
            <a:pPr lvl="1" algn="just">
              <a:buNone/>
            </a:pPr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00011 - Estreñimiento r/c actividad física insuficiente, estrés emocional, hemorroides, opiáceos, embarazo, cambio en el patrón de alimentación habitual, deshidratación, malos hábitos alimentarios y/o entre otros factores.</a:t>
            </a:r>
          </a:p>
          <a:p>
            <a:pPr lvl="1" algn="just">
              <a:buNone/>
            </a:pPr>
            <a:endParaRPr lang="es-ES" sz="26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Resultados NOC</a:t>
            </a: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•	0501 - Eliminación intestinal</a:t>
            </a:r>
          </a:p>
          <a:p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Intervenciones NIC</a:t>
            </a: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•	0450 - Manejo del estreñimiento / impactación</a:t>
            </a:r>
          </a:p>
          <a:p>
            <a:endParaRPr lang="es-ES" dirty="0"/>
          </a:p>
        </p:txBody>
      </p:sp>
    </p:spTree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" y="304800"/>
            <a:ext cx="8458200" cy="2362200"/>
          </a:xfrm>
        </p:spPr>
        <p:txBody>
          <a:bodyPr>
            <a:normAutofit fontScale="90000"/>
          </a:bodyPr>
          <a:lstStyle/>
          <a:p>
            <a:pPr lvl="1" algn="just"/>
            <a:r>
              <a:rPr lang="es-ES" sz="2400" b="1" dirty="0" smtClean="0">
                <a:latin typeface="Times New Roman" pitchFamily="18" charset="0"/>
                <a:cs typeface="Times New Roman" pitchFamily="18" charset="0"/>
              </a:rPr>
              <a:t>00044 - Deterioro de la integridad tisular r/c factores mecánicos, factores nutricionales, alteración de la circulación y/o entre otros factores</a:t>
            </a:r>
            <a:r>
              <a:rPr lang="es-ES" sz="14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s-ES" sz="1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s-ES" sz="2400" b="1" dirty="0" smtClean="0">
                <a:latin typeface="Times New Roman" pitchFamily="18" charset="0"/>
                <a:cs typeface="Times New Roman" pitchFamily="18" charset="0"/>
              </a:rPr>
              <a:t>00004 - Riesgo de infección Defensas primarias inadecuadas (herida)</a:t>
            </a:r>
            <a:r>
              <a:rPr lang="es-ES" sz="14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s-ES" sz="1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s-ES" sz="2400" b="1" dirty="0" smtClean="0">
                <a:latin typeface="Times New Roman" pitchFamily="18" charset="0"/>
                <a:cs typeface="Times New Roman" pitchFamily="18" charset="0"/>
              </a:rPr>
              <a:t>00015 -Riesgo de estreñimiento r/c hemorroides, </a:t>
            </a:r>
            <a:r>
              <a:rPr lang="es-ES" sz="2400" b="1" dirty="0" err="1" smtClean="0">
                <a:latin typeface="Times New Roman" pitchFamily="18" charset="0"/>
                <a:cs typeface="Times New Roman" pitchFamily="18" charset="0"/>
              </a:rPr>
              <a:t>abceso</a:t>
            </a:r>
            <a:r>
              <a:rPr lang="es-ES" sz="2400" b="1" dirty="0" smtClean="0">
                <a:latin typeface="Times New Roman" pitchFamily="18" charset="0"/>
                <a:cs typeface="Times New Roman" pitchFamily="18" charset="0"/>
              </a:rPr>
              <a:t> rectal, fisura rectal o anal, úlcera rectal, estenosis rectal o anal, </a:t>
            </a:r>
            <a:r>
              <a:rPr lang="es-ES" sz="2400" b="1" dirty="0" err="1" smtClean="0">
                <a:latin typeface="Times New Roman" pitchFamily="18" charset="0"/>
                <a:cs typeface="Times New Roman" pitchFamily="18" charset="0"/>
              </a:rPr>
              <a:t>rectocele</a:t>
            </a:r>
            <a:r>
              <a:rPr lang="es-ES" sz="2400" b="1" dirty="0" smtClean="0">
                <a:latin typeface="Times New Roman" pitchFamily="18" charset="0"/>
                <a:cs typeface="Times New Roman" pitchFamily="18" charset="0"/>
              </a:rPr>
              <a:t>, prolapso rectal, úlcera rectal y/o tumores</a:t>
            </a:r>
            <a:r>
              <a:rPr lang="es-ES" sz="1400" b="1" dirty="0">
                <a:latin typeface="Times New Roman" pitchFamily="18" charset="0"/>
                <a:cs typeface="Times New Roman" pitchFamily="18" charset="0"/>
              </a:rPr>
              <a:t>.</a:t>
            </a:r>
            <a:endParaRPr lang="es-E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28600" y="2819400"/>
            <a:ext cx="8534400" cy="3733800"/>
          </a:xfrm>
        </p:spPr>
        <p:txBody>
          <a:bodyPr numCol="2">
            <a:normAutofit fontScale="85000" lnSpcReduction="20000"/>
          </a:bodyPr>
          <a:lstStyle/>
          <a:p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Resultados NOC</a:t>
            </a: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•	1103 - Curación de la herida: por segunda intención</a:t>
            </a:r>
          </a:p>
          <a:p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•	0702 - Estado inmune</a:t>
            </a:r>
          </a:p>
          <a:p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•	2102 - Nivel de dolor</a:t>
            </a:r>
          </a:p>
          <a:p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•	0500 - Continencia intestinal</a:t>
            </a:r>
          </a:p>
          <a:p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•	0501 - Eliminación intestinal</a:t>
            </a:r>
          </a:p>
          <a:p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Intervenciones NIC</a:t>
            </a: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•	1750 - Cuidados perineales</a:t>
            </a:r>
          </a:p>
          <a:p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•	3660 - Cuidados de las heridas</a:t>
            </a:r>
          </a:p>
          <a:p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•	6550 - Protección contra las infecciones</a:t>
            </a:r>
          </a:p>
          <a:p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•	001400 - Manejo del dolor</a:t>
            </a:r>
          </a:p>
          <a:p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•	0410 - Cuidados de incontinencia intestinal</a:t>
            </a:r>
          </a:p>
          <a:p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•	0450 - Manejo del estreñimiento/impactación</a:t>
            </a: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533400"/>
            <a:ext cx="8229600" cy="5940552"/>
          </a:xfrm>
        </p:spPr>
        <p:txBody>
          <a:bodyPr>
            <a:normAutofit/>
          </a:bodyPr>
          <a:lstStyle/>
          <a:p>
            <a:pPr lvl="1" algn="just">
              <a:buNone/>
            </a:pPr>
            <a:r>
              <a:rPr lang="es-ES" sz="2400" b="1" dirty="0" smtClean="0">
                <a:latin typeface="Times New Roman" pitchFamily="18" charset="0"/>
                <a:cs typeface="Times New Roman" pitchFamily="18" charset="0"/>
              </a:rPr>
              <a:t>00146 - Ansiedad r/c crisis situacional, estrés y/o entre otros factores</a:t>
            </a:r>
          </a:p>
          <a:p>
            <a:pPr lvl="1" algn="just">
              <a:buNone/>
            </a:pPr>
            <a:endParaRPr lang="es-E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s-ES" b="1" dirty="0" smtClean="0">
                <a:latin typeface="Times New Roman" pitchFamily="18" charset="0"/>
                <a:cs typeface="Times New Roman" pitchFamily="18" charset="0"/>
              </a:rPr>
              <a:t>Resultados NOC</a:t>
            </a:r>
            <a:endParaRPr lang="es-E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s-ES" dirty="0" smtClean="0">
                <a:latin typeface="Times New Roman" pitchFamily="18" charset="0"/>
                <a:cs typeface="Times New Roman" pitchFamily="18" charset="0"/>
              </a:rPr>
              <a:t>    1211 - Nivel de ansiedad</a:t>
            </a:r>
          </a:p>
          <a:p>
            <a:r>
              <a:rPr lang="es-ES" dirty="0" smtClean="0">
                <a:latin typeface="Times New Roman" pitchFamily="18" charset="0"/>
                <a:cs typeface="Times New Roman" pitchFamily="18" charset="0"/>
              </a:rPr>
              <a:t>    1212 - Nivel de estrés</a:t>
            </a:r>
          </a:p>
          <a:p>
            <a:r>
              <a:rPr lang="es-ES" dirty="0" smtClean="0">
                <a:latin typeface="Times New Roman" pitchFamily="18" charset="0"/>
                <a:cs typeface="Times New Roman" pitchFamily="18" charset="0"/>
              </a:rPr>
              <a:t>    0500 - Continencia intestinal</a:t>
            </a:r>
          </a:p>
          <a:p>
            <a:pPr>
              <a:buNone/>
            </a:pPr>
            <a:r>
              <a:rPr lang="es-ES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None/>
            </a:pPr>
            <a:r>
              <a:rPr lang="es-ES" b="1" dirty="0" smtClean="0">
                <a:latin typeface="Times New Roman" pitchFamily="18" charset="0"/>
                <a:cs typeface="Times New Roman" pitchFamily="18" charset="0"/>
              </a:rPr>
              <a:t>Intervenciones NIC</a:t>
            </a:r>
            <a:endParaRPr lang="es-E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s-ES" dirty="0" smtClean="0">
                <a:latin typeface="Times New Roman" pitchFamily="18" charset="0"/>
                <a:cs typeface="Times New Roman" pitchFamily="18" charset="0"/>
              </a:rPr>
              <a:t>    5820 - Disminución de la ansiedad</a:t>
            </a:r>
          </a:p>
          <a:p>
            <a:r>
              <a:rPr lang="es-ES" dirty="0" smtClean="0">
                <a:latin typeface="Times New Roman" pitchFamily="18" charset="0"/>
                <a:cs typeface="Times New Roman" pitchFamily="18" charset="0"/>
              </a:rPr>
              <a:t>    2300 - Administración de medicación</a:t>
            </a:r>
          </a:p>
          <a:p>
            <a:endParaRPr lang="es-ES" dirty="0"/>
          </a:p>
        </p:txBody>
      </p:sp>
    </p:spTree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7467600" cy="5711952"/>
          </a:xfrm>
        </p:spPr>
        <p:txBody>
          <a:bodyPr/>
          <a:lstStyle/>
          <a:p>
            <a:pPr lvl="0" algn="just">
              <a:buNone/>
            </a:pPr>
            <a:r>
              <a:rPr lang="es-BO" sz="2600" b="1" dirty="0" smtClean="0">
                <a:latin typeface="Times New Roman" pitchFamily="18" charset="0"/>
                <a:cs typeface="Times New Roman" pitchFamily="18" charset="0"/>
              </a:rPr>
              <a:t>PRUEBAS DIAGNOSTICAS</a:t>
            </a:r>
          </a:p>
          <a:p>
            <a:pPr lvl="0" algn="just">
              <a:buNone/>
            </a:pPr>
            <a:endParaRPr lang="es-ES" sz="26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s-ES" sz="2600" b="1" dirty="0" smtClean="0">
                <a:latin typeface="Times New Roman" pitchFamily="18" charset="0"/>
                <a:cs typeface="Times New Roman" pitchFamily="18" charset="0"/>
              </a:rPr>
              <a:t>Tacto rectal:</a:t>
            </a:r>
            <a:r>
              <a:rPr lang="es-ES" sz="2600" dirty="0" smtClean="0">
                <a:latin typeface="Times New Roman" pitchFamily="18" charset="0"/>
                <a:cs typeface="Times New Roman" pitchFamily="18" charset="0"/>
              </a:rPr>
              <a:t> Es una exploración clínica, es decir, consiste en un examen físico realizado directamente por el médico, sin necesidad de aparatos o técnicas sofisticadas. Para ello el médico introducirá un dedo a través del ano y palpará el interior del final del tubo digestivo, el recto, en busca de signos patológicos de interés. No sólo se puede explorar el recto, gracias a la anatomía de la zona se puede palpar indirectamente la próstata en el varón y la pared vaginal posterior en la mujer.</a:t>
            </a:r>
          </a:p>
          <a:p>
            <a:endParaRPr lang="es-ES" dirty="0"/>
          </a:p>
        </p:txBody>
      </p:sp>
    </p:spTree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8382000" cy="6248400"/>
          </a:xfrm>
        </p:spPr>
        <p:txBody>
          <a:bodyPr>
            <a:noAutofit/>
          </a:bodyPr>
          <a:lstStyle/>
          <a:p>
            <a:pPr lvl="0" algn="just"/>
            <a:r>
              <a:rPr lang="es-ES" b="1" dirty="0" smtClean="0">
                <a:latin typeface="Times New Roman" pitchFamily="18" charset="0"/>
                <a:cs typeface="Times New Roman" pitchFamily="18" charset="0"/>
              </a:rPr>
              <a:t>Proctoscopia:</a:t>
            </a:r>
            <a:r>
              <a:rPr lang="es-ES" dirty="0" smtClean="0">
                <a:latin typeface="Times New Roman" pitchFamily="18" charset="0"/>
                <a:cs typeface="Times New Roman" pitchFamily="18" charset="0"/>
              </a:rPr>
              <a:t> Técnica de exploración mediante el rectoscopio que consiste en el examen visual del ano y del recto.</a:t>
            </a:r>
          </a:p>
          <a:p>
            <a:pPr lvl="0" algn="just"/>
            <a:r>
              <a:rPr lang="es-ES" b="1" dirty="0" smtClean="0">
                <a:latin typeface="Times New Roman" pitchFamily="18" charset="0"/>
                <a:cs typeface="Times New Roman" pitchFamily="18" charset="0"/>
              </a:rPr>
              <a:t>Rectoscopia: </a:t>
            </a:r>
            <a:r>
              <a:rPr lang="es-ES" dirty="0" smtClean="0">
                <a:latin typeface="Times New Roman" pitchFamily="18" charset="0"/>
                <a:cs typeface="Times New Roman" pitchFamily="18" charset="0"/>
              </a:rPr>
              <a:t>Es un procedimiento endoscópico mediante el cual se examinan los últimos 25 cm del intestino grueso. Se realiza mediante un tubo rígido que se acopla a una fuente de luz. Permite identificar alteraciones o lesiones en la mucosa de la zona examinada y también obtener muestras para biopsias. </a:t>
            </a:r>
          </a:p>
          <a:p>
            <a:pPr algn="just"/>
            <a:r>
              <a:rPr lang="es-ES" b="1" dirty="0" smtClean="0"/>
              <a:t>Colonoscopia:</a:t>
            </a:r>
            <a:r>
              <a:rPr lang="es-ES" dirty="0" smtClean="0"/>
              <a:t> La colonoscopía es un procedimiento que permite al médico ver dentro del colon para detectar ciertas enfermedades. Se realiza en forma ambulatoria, tiene una duración aproximada de 20 minutos y es opcional realizarlo bajo sedación </a:t>
            </a:r>
            <a:r>
              <a:rPr lang="es-ES" dirty="0" err="1" smtClean="0"/>
              <a:t>endovenosa</a:t>
            </a:r>
            <a:r>
              <a:rPr lang="es-ES" dirty="0" smtClean="0"/>
              <a:t>. Si durante el examen se encuentra un pólipo, se puede extirpar y evitar el desarrollo de un tumor o toman muestras de tejido para examinarlas (biopsias).</a:t>
            </a: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533400"/>
            <a:ext cx="7467600" cy="5940552"/>
          </a:xfrm>
        </p:spPr>
        <p:txBody>
          <a:bodyPr>
            <a:normAutofit lnSpcReduction="10000"/>
          </a:bodyPr>
          <a:lstStyle/>
          <a:p>
            <a:pPr lvl="0"/>
            <a:r>
              <a:rPr lang="es-ES" b="1" dirty="0" err="1" smtClean="0"/>
              <a:t>Endosonografía</a:t>
            </a:r>
            <a:r>
              <a:rPr lang="es-ES" b="1" dirty="0" smtClean="0"/>
              <a:t> Ano Rectal:</a:t>
            </a:r>
            <a:r>
              <a:rPr lang="es-ES" dirty="0" smtClean="0"/>
              <a:t> Consiste en realizar una ecografía del recto y/o ano que permite tener una visión anatómica de las paredes del recto y del esfínter anal.</a:t>
            </a:r>
          </a:p>
          <a:p>
            <a:r>
              <a:rPr lang="es-ES" dirty="0" smtClean="0"/>
              <a:t>Dura aproximadamente 15 minutos y es muy útil en el estudio de pacientes con tumores de recto, donde se evalúa la profundidad que alcanzan los tumores en la pared del recto y permite ver la presencia de ganglios linfáticos comprometidos por el tumor.</a:t>
            </a:r>
          </a:p>
          <a:p>
            <a:endParaRPr lang="es-ES" dirty="0" smtClean="0"/>
          </a:p>
          <a:p>
            <a:r>
              <a:rPr lang="es-ES" dirty="0" smtClean="0"/>
              <a:t>También es útil en pacientes con incontinencia fecal, ya que permite visualizar zonas de ruptura del esfínter anal, en casos de fístulas o abscesos perianales y además en pacientes con dolor anal, buscando la causa que origina el dolor.</a:t>
            </a:r>
          </a:p>
          <a:p>
            <a:endParaRPr lang="es-ES" dirty="0"/>
          </a:p>
        </p:txBody>
      </p:sp>
    </p:spTree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 Marcador de contenido" descr="https://encrypted-tbn2.gstatic.com/images?q=tbn:ANd9GcRj10lESbxpb5dBMsRfJlb3Wf4rKIUMXmi2ii4VEk8TIcixndJA"/>
          <p:cNvPicPr>
            <a:picLocks noGrp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838200" y="457200"/>
            <a:ext cx="7086600" cy="5419725"/>
          </a:xfr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irador">
  <a:themeElements>
    <a:clrScheme name="Mirador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Mirador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Mirador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131</TotalTime>
  <Words>1736</Words>
  <Application>Microsoft Office PowerPoint</Application>
  <PresentationFormat>Presentación en pantalla (4:3)</PresentationFormat>
  <Paragraphs>161</Paragraphs>
  <Slides>24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Mirador</vt:lpstr>
      <vt:lpstr>PROTOCOLO DE ENFERMERIA EN HEMORROIDES</vt:lpstr>
      <vt:lpstr>HEMORROIDES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00044 - Deterioro de la integridad tisular r/c factores mecánicos, factores nutricionales, alteración de la circulación y/o entre otros factores 00004 - Riesgo de infección Defensas primarias inadecuadas (herida) 00015 -Riesgo de estreñimiento r/c hemorroides, abceso rectal, fisura rectal o anal, úlcera rectal, estenosis rectal o anal, rectocele, prolapso rectal, úlcera rectal y/o tumores.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GP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PROTOCOLO DE ENFERMERIA EN HEMORROIDES</dc:title>
  <dc:creator>hp</dc:creator>
  <cp:lastModifiedBy>hp</cp:lastModifiedBy>
  <cp:revision>16</cp:revision>
  <dcterms:created xsi:type="dcterms:W3CDTF">2014-05-29T21:46:34Z</dcterms:created>
  <dcterms:modified xsi:type="dcterms:W3CDTF">2014-05-31T12:41:26Z</dcterms:modified>
</cp:coreProperties>
</file>