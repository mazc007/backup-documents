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1" r:id="rId6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08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34A1-85F2-42AF-B5E2-25C0FD2D90F7}" type="datetimeFigureOut">
              <a:rPr lang="es-BO" smtClean="0"/>
              <a:pPr/>
              <a:t>05/07/2010</a:t>
            </a:fld>
            <a:endParaRPr lang="es-BO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EFA58-BDD0-43A1-83AC-52016EA0F66E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34A1-85F2-42AF-B5E2-25C0FD2D90F7}" type="datetimeFigureOut">
              <a:rPr lang="es-BO" smtClean="0"/>
              <a:pPr/>
              <a:t>05/07/2010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EFA58-BDD0-43A1-83AC-52016EA0F66E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34A1-85F2-42AF-B5E2-25C0FD2D90F7}" type="datetimeFigureOut">
              <a:rPr lang="es-BO" smtClean="0"/>
              <a:pPr/>
              <a:t>05/07/2010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EFA58-BDD0-43A1-83AC-52016EA0F66E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34A1-85F2-42AF-B5E2-25C0FD2D90F7}" type="datetimeFigureOut">
              <a:rPr lang="es-BO" smtClean="0"/>
              <a:pPr/>
              <a:t>05/07/2010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EFA58-BDD0-43A1-83AC-52016EA0F66E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34A1-85F2-42AF-B5E2-25C0FD2D90F7}" type="datetimeFigureOut">
              <a:rPr lang="es-BO" smtClean="0"/>
              <a:pPr/>
              <a:t>05/07/2010</a:t>
            </a:fld>
            <a:endParaRPr lang="es-B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EFA58-BDD0-43A1-83AC-52016EA0F66E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34A1-85F2-42AF-B5E2-25C0FD2D90F7}" type="datetimeFigureOut">
              <a:rPr lang="es-BO" smtClean="0"/>
              <a:pPr/>
              <a:t>05/07/2010</a:t>
            </a:fld>
            <a:endParaRPr lang="es-B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EFA58-BDD0-43A1-83AC-52016EA0F66E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34A1-85F2-42AF-B5E2-25C0FD2D90F7}" type="datetimeFigureOut">
              <a:rPr lang="es-BO" smtClean="0"/>
              <a:pPr/>
              <a:t>05/07/2010</a:t>
            </a:fld>
            <a:endParaRPr lang="es-B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EFA58-BDD0-43A1-83AC-52016EA0F66E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34A1-85F2-42AF-B5E2-25C0FD2D90F7}" type="datetimeFigureOut">
              <a:rPr lang="es-BO" smtClean="0"/>
              <a:pPr/>
              <a:t>05/07/2010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EFA58-BDD0-43A1-83AC-52016EA0F66E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34A1-85F2-42AF-B5E2-25C0FD2D90F7}" type="datetimeFigureOut">
              <a:rPr lang="es-BO" smtClean="0"/>
              <a:pPr/>
              <a:t>05/07/2010</a:t>
            </a:fld>
            <a:endParaRPr lang="es-B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90EFA58-BDD0-43A1-83AC-52016EA0F66E}" type="slidenum">
              <a:rPr lang="es-BO" smtClean="0"/>
              <a:pPr/>
              <a:t>‹Nº›</a:t>
            </a:fld>
            <a:endParaRPr lang="es-B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34A1-85F2-42AF-B5E2-25C0FD2D90F7}" type="datetimeFigureOut">
              <a:rPr lang="es-BO" smtClean="0"/>
              <a:pPr/>
              <a:t>05/07/2010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EFA58-BDD0-43A1-83AC-52016EA0F66E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534A1-85F2-42AF-B5E2-25C0FD2D90F7}" type="datetimeFigureOut">
              <a:rPr lang="es-BO" smtClean="0"/>
              <a:pPr/>
              <a:t>05/07/2010</a:t>
            </a:fld>
            <a:endParaRPr lang="es-B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EFA58-BDD0-43A1-83AC-52016EA0F66E}" type="slidenum">
              <a:rPr lang="es-BO" smtClean="0"/>
              <a:pPr/>
              <a:t>‹Nº›</a:t>
            </a:fld>
            <a:endParaRPr lang="es-B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23534A1-85F2-42AF-B5E2-25C0FD2D90F7}" type="datetimeFigureOut">
              <a:rPr lang="es-BO" smtClean="0"/>
              <a:pPr/>
              <a:t>05/07/2010</a:t>
            </a:fld>
            <a:endParaRPr lang="es-BO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90EFA58-BDD0-43A1-83AC-52016EA0F66E}" type="slidenum">
              <a:rPr lang="es-BO" smtClean="0"/>
              <a:pPr/>
              <a:t>‹Nº›</a:t>
            </a:fld>
            <a:endParaRPr lang="es-BO"/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 descr="EMBLEMA NEGRO 2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78" y="1928802"/>
            <a:ext cx="3072223" cy="2928958"/>
          </a:xfrm>
          <a:prstGeom prst="rect">
            <a:avLst/>
          </a:prstGeom>
        </p:spPr>
      </p:pic>
      <p:sp>
        <p:nvSpPr>
          <p:cNvPr id="6" name="WordArt 60" descr="Imagen3"/>
          <p:cNvSpPr>
            <a:spLocks noChangeArrowheads="1" noChangeShapeType="1" noTextEdit="1"/>
          </p:cNvSpPr>
          <p:nvPr/>
        </p:nvSpPr>
        <p:spPr bwMode="auto">
          <a:xfrm>
            <a:off x="785786" y="214314"/>
            <a:ext cx="7786742" cy="100010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66"/>
              </a:avLst>
            </a:prstTxWarp>
          </a:bodyPr>
          <a:lstStyle/>
          <a:p>
            <a:pPr algn="ctr"/>
            <a:r>
              <a:rPr lang="es-CR" sz="7200" kern="10" dirty="0" smtClean="0">
                <a:ln w="9525">
                  <a:noFill/>
                  <a:round/>
                  <a:headEnd/>
                  <a:tailEnd/>
                </a:ln>
                <a:blipFill dpi="0" rotWithShape="0">
                  <a:blip r:embed="rId3"/>
                  <a:srcRect/>
                  <a:stretch>
                    <a:fillRect/>
                  </a:stretch>
                </a:blipFill>
                <a:effectLst>
                  <a:outerShdw dist="35921" dir="2700000" algn="ctr" rotWithShape="0">
                    <a:srgbClr val="A57D0D">
                      <a:alpha val="80000"/>
                    </a:srgbClr>
                  </a:outerShdw>
                </a:effectLst>
                <a:latin typeface="Goudy Stout"/>
              </a:rPr>
              <a:t>OPERACIÓN “PUÑO DE HIERRO”</a:t>
            </a:r>
            <a:endParaRPr lang="es-BO" sz="3600" kern="10" dirty="0">
              <a:ln w="9525">
                <a:noFill/>
                <a:round/>
                <a:headEnd/>
                <a:tailEnd/>
              </a:ln>
              <a:blipFill dpi="0" rotWithShape="0">
                <a:blip r:embed="rId3"/>
                <a:srcRect/>
                <a:stretch>
                  <a:fillRect/>
                </a:stretch>
              </a:blipFill>
              <a:effectLst>
                <a:outerShdw dist="35921" dir="2700000" algn="ctr" rotWithShape="0">
                  <a:srgbClr val="A57D0D">
                    <a:alpha val="80000"/>
                  </a:srgbClr>
                </a:outerShdw>
              </a:effectLst>
              <a:latin typeface="Goudy Stout"/>
            </a:endParaRPr>
          </a:p>
        </p:txBody>
      </p:sp>
      <p:sp>
        <p:nvSpPr>
          <p:cNvPr id="7" name="Text Box 59"/>
          <p:cNvSpPr txBox="1">
            <a:spLocks noChangeArrowheads="1"/>
          </p:cNvSpPr>
          <p:nvPr/>
        </p:nvSpPr>
        <p:spPr bwMode="auto">
          <a:xfrm>
            <a:off x="1643042" y="1428736"/>
            <a:ext cx="614748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s-ES" sz="1800" i="1" dirty="0">
                <a:latin typeface="Rockwell Extra Bold" pitchFamily="18" charset="0"/>
              </a:rPr>
              <a:t>“La </a:t>
            </a:r>
            <a:r>
              <a:rPr lang="es-ES" sz="1800" i="1" dirty="0" smtClean="0">
                <a:latin typeface="Rockwell Extra Bold" pitchFamily="18" charset="0"/>
              </a:rPr>
              <a:t>Unión es la Fuerza, Todo por la Patria “</a:t>
            </a:r>
            <a:endParaRPr lang="es-ES" sz="1800" i="1" dirty="0">
              <a:latin typeface="Rockwell Extra Bold" pitchFamily="18" charset="0"/>
            </a:endParaRPr>
          </a:p>
        </p:txBody>
      </p:sp>
      <p:sp>
        <p:nvSpPr>
          <p:cNvPr id="8" name="WordArt 60" descr="Imagen3"/>
          <p:cNvSpPr>
            <a:spLocks noChangeArrowheads="1" noChangeShapeType="1" noTextEdit="1"/>
          </p:cNvSpPr>
          <p:nvPr/>
        </p:nvSpPr>
        <p:spPr bwMode="auto">
          <a:xfrm>
            <a:off x="785786" y="5072074"/>
            <a:ext cx="7786742" cy="150017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66"/>
              </a:avLst>
            </a:prstTxWarp>
          </a:bodyPr>
          <a:lstStyle/>
          <a:p>
            <a:pPr algn="ctr"/>
            <a:r>
              <a:rPr lang="es-CR" sz="7200" kern="10" dirty="0" smtClean="0">
                <a:ln w="9525">
                  <a:noFill/>
                  <a:round/>
                  <a:headEnd/>
                  <a:tailEnd/>
                </a:ln>
                <a:blipFill dpi="0" rotWithShape="0">
                  <a:blip r:embed="rId3"/>
                  <a:srcRect/>
                  <a:stretch>
                    <a:fillRect/>
                  </a:stretch>
                </a:blipFill>
                <a:effectLst>
                  <a:outerShdw dist="35921" dir="2700000" algn="ctr" rotWithShape="0">
                    <a:srgbClr val="A57D0D">
                      <a:alpha val="80000"/>
                    </a:srgbClr>
                  </a:outerShdw>
                </a:effectLst>
                <a:latin typeface="Goudy Stout"/>
              </a:rPr>
              <a:t>ORDEN TIPO CALCO Nº 01 /10</a:t>
            </a:r>
          </a:p>
          <a:p>
            <a:pPr algn="ctr"/>
            <a:endParaRPr lang="es-CR" sz="7200" kern="10" dirty="0" smtClean="0">
              <a:ln w="9525">
                <a:noFill/>
                <a:round/>
                <a:headEnd/>
                <a:tailEnd/>
              </a:ln>
              <a:blipFill dpi="0" rotWithShape="0">
                <a:blip r:embed="rId3"/>
                <a:srcRect/>
                <a:stretch>
                  <a:fillRect/>
                </a:stretch>
              </a:blipFill>
              <a:effectLst>
                <a:outerShdw dist="35921" dir="2700000" algn="ctr" rotWithShape="0">
                  <a:srgbClr val="A57D0D">
                    <a:alpha val="80000"/>
                  </a:srgbClr>
                </a:outerShdw>
              </a:effectLst>
              <a:latin typeface="Goudy Stout"/>
            </a:endParaRPr>
          </a:p>
          <a:p>
            <a:pPr algn="ctr"/>
            <a:r>
              <a:rPr lang="es-CR" sz="7200" kern="10" dirty="0" smtClean="0">
                <a:ln w="9525">
                  <a:noFill/>
                  <a:round/>
                  <a:headEnd/>
                  <a:tailEnd/>
                </a:ln>
                <a:blipFill dpi="0" rotWithShape="0">
                  <a:blip r:embed="rId3"/>
                  <a:srcRect/>
                  <a:stretch>
                    <a:fillRect/>
                  </a:stretch>
                </a:blipFill>
                <a:effectLst>
                  <a:outerShdw dist="35921" dir="2700000" algn="ctr" rotWithShape="0">
                    <a:srgbClr val="A57D0D">
                      <a:alpha val="80000"/>
                    </a:srgbClr>
                  </a:outerShdw>
                </a:effectLst>
                <a:latin typeface="Goudy Stout"/>
              </a:rPr>
              <a:t>JEFE DE OPERACIONES</a:t>
            </a:r>
            <a:endParaRPr lang="es-BO" sz="3600" kern="10" dirty="0">
              <a:ln w="9525">
                <a:noFill/>
                <a:round/>
                <a:headEnd/>
                <a:tailEnd/>
              </a:ln>
              <a:blipFill dpi="0" rotWithShape="0">
                <a:blip r:embed="rId3"/>
                <a:srcRect/>
                <a:stretch>
                  <a:fillRect/>
                </a:stretch>
              </a:blipFill>
              <a:effectLst>
                <a:outerShdw dist="35921" dir="2700000" algn="ctr" rotWithShape="0">
                  <a:srgbClr val="A57D0D">
                    <a:alpha val="80000"/>
                  </a:srgbClr>
                </a:outerShdw>
              </a:effectLst>
              <a:latin typeface="Goudy Stou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Marcador de contenido" descr="ogo 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954310" cy="6858000"/>
          </a:xfrm>
        </p:spPr>
      </p:pic>
      <p:sp>
        <p:nvSpPr>
          <p:cNvPr id="8" name="7 CuadroTexto"/>
          <p:cNvSpPr txBox="1"/>
          <p:nvPr/>
        </p:nvSpPr>
        <p:spPr>
          <a:xfrm>
            <a:off x="4929190" y="0"/>
            <a:ext cx="4214810" cy="694036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CR" sz="900" dirty="0" smtClean="0">
                <a:latin typeface="Arial" pitchFamily="34" charset="0"/>
                <a:cs typeface="Arial" pitchFamily="34" charset="0"/>
              </a:rPr>
              <a:t>SECRETO</a:t>
            </a:r>
          </a:p>
          <a:p>
            <a:pPr algn="just"/>
            <a:r>
              <a:rPr lang="es-CR" sz="900" dirty="0" err="1" smtClean="0">
                <a:latin typeface="Arial" pitchFamily="34" charset="0"/>
                <a:cs typeface="Arial" pitchFamily="34" charset="0"/>
              </a:rPr>
              <a:t>CMDO</a:t>
            </a:r>
            <a:r>
              <a:rPr lang="es-CR" sz="900" dirty="0" smtClean="0">
                <a:latin typeface="Arial" pitchFamily="34" charset="0"/>
                <a:cs typeface="Arial" pitchFamily="34" charset="0"/>
              </a:rPr>
              <a:t> EN JEFE</a:t>
            </a:r>
          </a:p>
          <a:p>
            <a:pPr algn="just"/>
            <a:r>
              <a:rPr lang="es-CR" sz="900" dirty="0" smtClean="0">
                <a:latin typeface="Arial" pitchFamily="34" charset="0"/>
                <a:cs typeface="Arial" pitchFamily="34" charset="0"/>
              </a:rPr>
              <a:t>C.C.FF.EE.</a:t>
            </a:r>
          </a:p>
          <a:p>
            <a:pPr algn="just"/>
            <a:r>
              <a:rPr lang="es-CR" sz="900" dirty="0" smtClean="0">
                <a:latin typeface="Arial" pitchFamily="34" charset="0"/>
                <a:cs typeface="Arial" pitchFamily="34" charset="0"/>
              </a:rPr>
              <a:t>P-3	                </a:t>
            </a:r>
            <a:r>
              <a:rPr lang="es-BO" sz="800" dirty="0" err="1" smtClean="0">
                <a:latin typeface="Arial" pitchFamily="34" charset="0"/>
                <a:cs typeface="Arial" pitchFamily="34" charset="0"/>
              </a:rPr>
              <a:t>P.C.COTAPACHI</a:t>
            </a:r>
            <a:r>
              <a:rPr lang="es-BO" sz="800" dirty="0" smtClean="0">
                <a:latin typeface="Arial" pitchFamily="34" charset="0"/>
                <a:cs typeface="Arial" pitchFamily="34" charset="0"/>
              </a:rPr>
              <a:t> 060800-JUL-10</a:t>
            </a:r>
            <a:endParaRPr lang="es-CR" sz="9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CR" sz="900" dirty="0" smtClean="0">
                <a:latin typeface="Arial" pitchFamily="34" charset="0"/>
                <a:cs typeface="Arial" pitchFamily="34" charset="0"/>
              </a:rPr>
              <a:t>Nº01/10</a:t>
            </a:r>
            <a:r>
              <a:rPr lang="es-CR" sz="1100" dirty="0" smtClean="0">
                <a:latin typeface="Arial" pitchFamily="34" charset="0"/>
                <a:cs typeface="Arial" pitchFamily="34" charset="0"/>
              </a:rPr>
              <a:t>	</a:t>
            </a:r>
          </a:p>
          <a:p>
            <a:pPr algn="just"/>
            <a:endParaRPr lang="es-CR" sz="1100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s-CR" sz="1100" b="1" u="sng" dirty="0" err="1" smtClean="0">
                <a:latin typeface="Arial" pitchFamily="34" charset="0"/>
                <a:cs typeface="Arial" pitchFamily="34" charset="0"/>
              </a:rPr>
              <a:t>OGO</a:t>
            </a:r>
            <a:r>
              <a:rPr lang="es-CR" sz="1100" b="1" u="sng" dirty="0" smtClean="0">
                <a:latin typeface="Arial" pitchFamily="34" charset="0"/>
                <a:cs typeface="Arial" pitchFamily="34" charset="0"/>
              </a:rPr>
              <a:t> Nº 01/10</a:t>
            </a:r>
          </a:p>
          <a:p>
            <a:r>
              <a:rPr lang="es-CR" sz="800" dirty="0">
                <a:latin typeface="Arial" pitchFamily="34" charset="0"/>
                <a:cs typeface="Arial" pitchFamily="34" charset="0"/>
              </a:rPr>
              <a:t> </a:t>
            </a:r>
            <a:r>
              <a:rPr lang="es-CR" sz="800" dirty="0" smtClean="0">
                <a:latin typeface="Arial" pitchFamily="34" charset="0"/>
                <a:cs typeface="Arial" pitchFamily="34" charset="0"/>
              </a:rPr>
              <a:t>            OBJETO: LA C.C.FF.EE. EN </a:t>
            </a:r>
            <a:r>
              <a:rPr lang="es-CR" sz="800" dirty="0" err="1" smtClean="0">
                <a:latin typeface="Arial" pitchFamily="34" charset="0"/>
                <a:cs typeface="Arial" pitchFamily="34" charset="0"/>
              </a:rPr>
              <a:t>OP</a:t>
            </a:r>
            <a:r>
              <a:rPr lang="es-CR" sz="800" dirty="0" smtClean="0">
                <a:latin typeface="Arial" pitchFamily="34" charset="0"/>
                <a:cs typeface="Arial" pitchFamily="34" charset="0"/>
              </a:rPr>
              <a:t>. ESPECIALES</a:t>
            </a:r>
          </a:p>
          <a:p>
            <a:r>
              <a:rPr lang="es-CR" sz="800" dirty="0" smtClean="0">
                <a:latin typeface="Arial" pitchFamily="34" charset="0"/>
                <a:cs typeface="Arial" pitchFamily="34" charset="0"/>
              </a:rPr>
              <a:t>             CARTA   : FOTO SATELITAL  </a:t>
            </a:r>
          </a:p>
          <a:p>
            <a:r>
              <a:rPr lang="es-CR" sz="800" dirty="0" smtClean="0">
                <a:latin typeface="Arial" pitchFamily="34" charset="0"/>
                <a:cs typeface="Arial" pitchFamily="34" charset="0"/>
              </a:rPr>
              <a:t>             ANEXO   : S/A</a:t>
            </a:r>
          </a:p>
          <a:p>
            <a:endParaRPr lang="es-CR" sz="11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ü"/>
            </a:pPr>
            <a:r>
              <a:rPr lang="es-CR" sz="1100" b="1" dirty="0" smtClean="0">
                <a:latin typeface="Arial" pitchFamily="34" charset="0"/>
                <a:cs typeface="Arial" pitchFamily="34" charset="0"/>
              </a:rPr>
              <a:t>ORGANIZACIÓN</a:t>
            </a:r>
            <a:r>
              <a:rPr lang="es-CR" sz="11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s-CR" sz="1100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AutoNum type="romanUcPeriod"/>
            </a:pPr>
            <a:r>
              <a:rPr lang="es-CR" sz="1100" b="1" dirty="0" smtClean="0">
                <a:latin typeface="Arial" pitchFamily="34" charset="0"/>
                <a:cs typeface="Arial" pitchFamily="34" charset="0"/>
              </a:rPr>
              <a:t>SITUACIÓN</a:t>
            </a:r>
            <a:r>
              <a:rPr lang="es-CR" sz="11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285750" indent="-285750"/>
            <a:r>
              <a:rPr lang="es-CR" sz="1100" dirty="0">
                <a:latin typeface="Arial" pitchFamily="34" charset="0"/>
                <a:cs typeface="Arial" pitchFamily="34" charset="0"/>
              </a:rPr>
              <a:t>	</a:t>
            </a:r>
            <a:r>
              <a:rPr lang="es-CR" sz="1100" dirty="0" smtClean="0">
                <a:latin typeface="Arial" pitchFamily="34" charset="0"/>
                <a:cs typeface="Arial" pitchFamily="34" charset="0"/>
              </a:rPr>
              <a:t>A. Amenaza.</a:t>
            </a:r>
          </a:p>
          <a:p>
            <a:pPr marL="285750" indent="-285750"/>
            <a:r>
              <a:rPr lang="es-CR" sz="1100" dirty="0">
                <a:latin typeface="Arial" pitchFamily="34" charset="0"/>
                <a:cs typeface="Arial" pitchFamily="34" charset="0"/>
              </a:rPr>
              <a:t>	</a:t>
            </a:r>
            <a:r>
              <a:rPr lang="es-CR" sz="1100" dirty="0" smtClean="0">
                <a:latin typeface="Arial" pitchFamily="34" charset="0"/>
                <a:cs typeface="Arial" pitchFamily="34" charset="0"/>
              </a:rPr>
              <a:t>B. Propia.</a:t>
            </a:r>
            <a:endParaRPr lang="es-CR" sz="1100" dirty="0">
              <a:latin typeface="Arial" pitchFamily="34" charset="0"/>
              <a:cs typeface="Arial" pitchFamily="34" charset="0"/>
            </a:endParaRPr>
          </a:p>
          <a:p>
            <a:pPr marL="285750" indent="-285750">
              <a:buAutoNum type="romanUcPeriod" startAt="2"/>
            </a:pPr>
            <a:r>
              <a:rPr lang="es-CR" sz="1100" b="1" dirty="0" smtClean="0">
                <a:latin typeface="Arial" pitchFamily="34" charset="0"/>
                <a:cs typeface="Arial" pitchFamily="34" charset="0"/>
              </a:rPr>
              <a:t>MISIÓN</a:t>
            </a:r>
            <a:r>
              <a:rPr lang="es-CR" sz="11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285750" indent="-285750" algn="just"/>
            <a:r>
              <a:rPr lang="es-BO" sz="1100" dirty="0" smtClean="0">
                <a:latin typeface="Arial" pitchFamily="34" charset="0"/>
                <a:cs typeface="Arial" pitchFamily="34" charset="0"/>
              </a:rPr>
              <a:t>La C.C.FF.EE., </a:t>
            </a:r>
            <a:r>
              <a:rPr lang="es-BO" sz="1100" dirty="0" smtClean="0">
                <a:latin typeface="Arial" pitchFamily="34" charset="0"/>
                <a:cs typeface="Arial" pitchFamily="34" charset="0"/>
              </a:rPr>
              <a:t>ejecuta </a:t>
            </a:r>
            <a:r>
              <a:rPr lang="es-BO" sz="1100" dirty="0" smtClean="0">
                <a:latin typeface="Arial" pitchFamily="34" charset="0"/>
                <a:cs typeface="Arial" pitchFamily="34" charset="0"/>
              </a:rPr>
              <a:t>operaciones especiales de Acción </a:t>
            </a:r>
            <a:r>
              <a:rPr lang="es-BO" sz="1100" dirty="0" smtClean="0">
                <a:latin typeface="Arial" pitchFamily="34" charset="0"/>
                <a:cs typeface="Arial" pitchFamily="34" charset="0"/>
              </a:rPr>
              <a:t>directa</a:t>
            </a:r>
            <a:r>
              <a:rPr lang="es-BO" sz="11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BO" sz="1100" dirty="0" smtClean="0">
                <a:latin typeface="Arial" pitchFamily="34" charset="0"/>
                <a:cs typeface="Arial" pitchFamily="34" charset="0"/>
              </a:rPr>
              <a:t>con </a:t>
            </a:r>
            <a:r>
              <a:rPr lang="es-BO" sz="1100" dirty="0" smtClean="0">
                <a:latin typeface="Arial" pitchFamily="34" charset="0"/>
                <a:cs typeface="Arial" pitchFamily="34" charset="0"/>
              </a:rPr>
              <a:t>orden</a:t>
            </a:r>
            <a:r>
              <a:rPr lang="es-BO" sz="1100" dirty="0" smtClean="0">
                <a:latin typeface="Arial" pitchFamily="34" charset="0"/>
                <a:cs typeface="Arial" pitchFamily="34" charset="0"/>
              </a:rPr>
              <a:t>, </a:t>
            </a:r>
            <a:r>
              <a:rPr lang="es-BO" sz="1100" dirty="0" smtClean="0">
                <a:latin typeface="Arial" pitchFamily="34" charset="0"/>
                <a:cs typeface="Arial" pitchFamily="34" charset="0"/>
              </a:rPr>
              <a:t>Captura a los 2 cabecillas del la organización terrorista </a:t>
            </a:r>
            <a:r>
              <a:rPr lang="es-ES_tradnl" sz="1100" dirty="0" smtClean="0">
                <a:latin typeface="Arial" pitchFamily="34" charset="0"/>
                <a:cs typeface="Arial" pitchFamily="34" charset="0"/>
              </a:rPr>
              <a:t>SENDERO </a:t>
            </a:r>
            <a:r>
              <a:rPr lang="es-ES_tradnl" sz="1100" dirty="0" err="1" smtClean="0">
                <a:latin typeface="Arial" pitchFamily="34" charset="0"/>
                <a:cs typeface="Arial" pitchFamily="34" charset="0"/>
              </a:rPr>
              <a:t>ILUMINATY</a:t>
            </a:r>
            <a:r>
              <a:rPr lang="es-BO" sz="1100" dirty="0" smtClean="0">
                <a:latin typeface="Arial" pitchFamily="34" charset="0"/>
                <a:cs typeface="Arial" pitchFamily="34" charset="0"/>
              </a:rPr>
              <a:t>,</a:t>
            </a:r>
            <a:r>
              <a:rPr lang="es-BO" sz="11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BO" sz="1100" dirty="0" smtClean="0">
                <a:latin typeface="Arial" pitchFamily="34" charset="0"/>
                <a:cs typeface="Arial" pitchFamily="34" charset="0"/>
              </a:rPr>
              <a:t>Recupera  los 9 fusiles robados al </a:t>
            </a:r>
            <a:r>
              <a:rPr lang="es-BO" sz="1100" dirty="0" err="1" smtClean="0">
                <a:latin typeface="Arial" pitchFamily="34" charset="0"/>
                <a:cs typeface="Arial" pitchFamily="34" charset="0"/>
              </a:rPr>
              <a:t>PMA</a:t>
            </a:r>
            <a:r>
              <a:rPr lang="es-BO" sz="1100" dirty="0" smtClean="0">
                <a:latin typeface="Arial" pitchFamily="34" charset="0"/>
                <a:cs typeface="Arial" pitchFamily="34" charset="0"/>
              </a:rPr>
              <a:t> de </a:t>
            </a:r>
            <a:r>
              <a:rPr lang="es-BO" sz="1100" dirty="0" err="1" smtClean="0">
                <a:latin typeface="Arial" pitchFamily="34" charset="0"/>
                <a:cs typeface="Arial" pitchFamily="34" charset="0"/>
              </a:rPr>
              <a:t>CHOBORECA</a:t>
            </a:r>
            <a:r>
              <a:rPr lang="es-BO" sz="1100" dirty="0" smtClean="0">
                <a:latin typeface="Arial" pitchFamily="34" charset="0"/>
                <a:cs typeface="Arial" pitchFamily="34" charset="0"/>
              </a:rPr>
              <a:t>. y elimina a los terroristas que operan en el Área de </a:t>
            </a:r>
            <a:r>
              <a:rPr lang="es-BO" sz="1100" dirty="0" err="1" smtClean="0">
                <a:latin typeface="Arial" pitchFamily="34" charset="0"/>
                <a:cs typeface="Arial" pitchFamily="34" charset="0"/>
              </a:rPr>
              <a:t>SURUMI</a:t>
            </a:r>
            <a:r>
              <a:rPr lang="es-BO" sz="1100" dirty="0" smtClean="0">
                <a:latin typeface="Arial" pitchFamily="34" charset="0"/>
                <a:cs typeface="Arial" pitchFamily="34" charset="0"/>
              </a:rPr>
              <a:t>, a partir del 050800-JUL-10 hasta el </a:t>
            </a:r>
            <a:r>
              <a:rPr lang="es-BO" sz="1100" dirty="0" smtClean="0">
                <a:latin typeface="Arial" pitchFamily="34" charset="0"/>
                <a:cs typeface="Arial" pitchFamily="34" charset="0"/>
              </a:rPr>
              <a:t>071600-JUL-10 </a:t>
            </a:r>
            <a:r>
              <a:rPr lang="es-BO" sz="1100" dirty="0" smtClean="0">
                <a:latin typeface="Arial" pitchFamily="34" charset="0"/>
                <a:cs typeface="Arial" pitchFamily="34" charset="0"/>
              </a:rPr>
              <a:t>para </a:t>
            </a:r>
            <a:r>
              <a:rPr lang="es-BO" sz="1100" dirty="0" smtClean="0">
                <a:latin typeface="Arial" pitchFamily="34" charset="0"/>
                <a:cs typeface="Arial" pitchFamily="34" charset="0"/>
              </a:rPr>
              <a:t>retomar </a:t>
            </a:r>
            <a:r>
              <a:rPr lang="es-BO" sz="1100" dirty="0" smtClean="0">
                <a:latin typeface="Arial" pitchFamily="34" charset="0"/>
                <a:cs typeface="Arial" pitchFamily="34" charset="0"/>
              </a:rPr>
              <a:t>el control de la zona y garantizar la seguridad y bienestar de la población.</a:t>
            </a:r>
            <a:endParaRPr lang="es-BO" sz="1100" dirty="0">
              <a:latin typeface="Arial" pitchFamily="34" charset="0"/>
              <a:cs typeface="Arial" pitchFamily="34" charset="0"/>
            </a:endParaRPr>
          </a:p>
          <a:p>
            <a:pPr marL="285750" indent="-285750"/>
            <a:endParaRPr lang="es-CR" sz="1100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buAutoNum type="romanUcPeriod" startAt="3"/>
            </a:pPr>
            <a:r>
              <a:rPr lang="es-CR" sz="1100" b="1" dirty="0" smtClean="0">
                <a:latin typeface="Arial" pitchFamily="34" charset="0"/>
                <a:cs typeface="Arial" pitchFamily="34" charset="0"/>
              </a:rPr>
              <a:t>MODALIDADES EJECUTIVAS.</a:t>
            </a:r>
          </a:p>
          <a:p>
            <a:pPr algn="just"/>
            <a:r>
              <a:rPr lang="es-BO" sz="1100" b="1" dirty="0" smtClean="0">
                <a:latin typeface="Arial" pitchFamily="34" charset="0"/>
                <a:cs typeface="Arial" pitchFamily="34" charset="0"/>
              </a:rPr>
              <a:t>Intención</a:t>
            </a:r>
            <a:r>
              <a:rPr lang="es-BO" sz="1100" b="1" dirty="0">
                <a:latin typeface="Arial" pitchFamily="34" charset="0"/>
                <a:cs typeface="Arial" pitchFamily="34" charset="0"/>
              </a:rPr>
              <a:t>.</a:t>
            </a:r>
            <a:endParaRPr lang="es-BO" sz="110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BO" sz="1100" dirty="0">
                <a:latin typeface="Arial" pitchFamily="34" charset="0"/>
                <a:cs typeface="Arial" pitchFamily="34" charset="0"/>
              </a:rPr>
              <a:t>El propósito de la operación es restituir el orden en el Área de </a:t>
            </a:r>
            <a:r>
              <a:rPr lang="es-BO" sz="1100" dirty="0" err="1">
                <a:latin typeface="Arial" pitchFamily="34" charset="0"/>
                <a:cs typeface="Arial" pitchFamily="34" charset="0"/>
              </a:rPr>
              <a:t>SURUMI</a:t>
            </a:r>
            <a:r>
              <a:rPr lang="es-BO" sz="1100" dirty="0">
                <a:latin typeface="Arial" pitchFamily="34" charset="0"/>
                <a:cs typeface="Arial" pitchFamily="34" charset="0"/>
              </a:rPr>
              <a:t>, para esto en necesario que realicemos las siguientes</a:t>
            </a:r>
            <a:r>
              <a:rPr lang="es-BO" sz="1100" b="1" dirty="0">
                <a:latin typeface="Arial" pitchFamily="34" charset="0"/>
                <a:cs typeface="Arial" pitchFamily="34" charset="0"/>
              </a:rPr>
              <a:t> tareas</a:t>
            </a:r>
            <a:r>
              <a:rPr lang="es-BO" sz="1100" dirty="0">
                <a:latin typeface="Arial" pitchFamily="34" charset="0"/>
                <a:cs typeface="Arial" pitchFamily="34" charset="0"/>
              </a:rPr>
              <a:t> </a:t>
            </a:r>
            <a:r>
              <a:rPr lang="es-BO" sz="1100" b="1" dirty="0">
                <a:latin typeface="Arial" pitchFamily="34" charset="0"/>
                <a:cs typeface="Arial" pitchFamily="34" charset="0"/>
              </a:rPr>
              <a:t>claves</a:t>
            </a:r>
            <a:r>
              <a:rPr lang="es-BO" sz="1100" dirty="0">
                <a:latin typeface="Arial" pitchFamily="34" charset="0"/>
                <a:cs typeface="Arial" pitchFamily="34" charset="0"/>
              </a:rPr>
              <a:t>: </a:t>
            </a:r>
            <a:r>
              <a:rPr lang="es-BO" sz="1100" b="1" dirty="0">
                <a:latin typeface="Arial" pitchFamily="34" charset="0"/>
                <a:cs typeface="Arial" pitchFamily="34" charset="0"/>
              </a:rPr>
              <a:t>Primero</a:t>
            </a:r>
            <a:r>
              <a:rPr lang="es-BO" sz="1100" dirty="0">
                <a:latin typeface="Arial" pitchFamily="34" charset="0"/>
                <a:cs typeface="Arial" pitchFamily="34" charset="0"/>
              </a:rPr>
              <a:t> Desplazamiento encubierto de la </a:t>
            </a:r>
            <a:r>
              <a:rPr lang="es-BO" sz="1100" dirty="0" err="1">
                <a:latin typeface="Arial" pitchFamily="34" charset="0"/>
                <a:cs typeface="Arial" pitchFamily="34" charset="0"/>
              </a:rPr>
              <a:t>NZR</a:t>
            </a:r>
            <a:r>
              <a:rPr lang="es-BO" sz="1100" dirty="0">
                <a:latin typeface="Arial" pitchFamily="34" charset="0"/>
                <a:cs typeface="Arial" pitchFamily="34" charset="0"/>
              </a:rPr>
              <a:t> al PI; </a:t>
            </a:r>
            <a:r>
              <a:rPr lang="es-BO" sz="1100" b="1" dirty="0">
                <a:latin typeface="Arial" pitchFamily="34" charset="0"/>
                <a:cs typeface="Arial" pitchFamily="34" charset="0"/>
              </a:rPr>
              <a:t>Segundo</a:t>
            </a:r>
            <a:r>
              <a:rPr lang="es-BO" sz="1100" dirty="0">
                <a:latin typeface="Arial" pitchFamily="34" charset="0"/>
                <a:cs typeface="Arial" pitchFamily="34" charset="0"/>
              </a:rPr>
              <a:t>  Ocupemos el PI; </a:t>
            </a:r>
            <a:r>
              <a:rPr lang="es-BO" sz="1100" b="1" dirty="0">
                <a:latin typeface="Arial" pitchFamily="34" charset="0"/>
                <a:cs typeface="Arial" pitchFamily="34" charset="0"/>
              </a:rPr>
              <a:t>Tercero</a:t>
            </a:r>
            <a:r>
              <a:rPr lang="es-BO" sz="1100" dirty="0">
                <a:latin typeface="Arial" pitchFamily="34" charset="0"/>
                <a:cs typeface="Arial" pitchFamily="34" charset="0"/>
              </a:rPr>
              <a:t> Desplazamiento del PI al Área de Crisis; </a:t>
            </a:r>
            <a:r>
              <a:rPr lang="es-BO" sz="1100" b="1" dirty="0">
                <a:latin typeface="Arial" pitchFamily="34" charset="0"/>
                <a:cs typeface="Arial" pitchFamily="34" charset="0"/>
              </a:rPr>
              <a:t>Cuarto</a:t>
            </a:r>
            <a:r>
              <a:rPr lang="es-BO" sz="1100" dirty="0">
                <a:latin typeface="Arial" pitchFamily="34" charset="0"/>
                <a:cs typeface="Arial" pitchFamily="34" charset="0"/>
              </a:rPr>
              <a:t> Recuperar los 9 fusiles </a:t>
            </a:r>
            <a:r>
              <a:rPr lang="es-BO" sz="1100" dirty="0" err="1">
                <a:latin typeface="Arial" pitchFamily="34" charset="0"/>
                <a:cs typeface="Arial" pitchFamily="34" charset="0"/>
              </a:rPr>
              <a:t>FAL</a:t>
            </a:r>
            <a:r>
              <a:rPr lang="es-BO" sz="1100" dirty="0">
                <a:latin typeface="Arial" pitchFamily="34" charset="0"/>
                <a:cs typeface="Arial" pitchFamily="34" charset="0"/>
              </a:rPr>
              <a:t> robados en CITY </a:t>
            </a:r>
            <a:r>
              <a:rPr lang="es-BO" sz="1100" dirty="0" err="1">
                <a:latin typeface="Arial" pitchFamily="34" charset="0"/>
                <a:cs typeface="Arial" pitchFamily="34" charset="0"/>
              </a:rPr>
              <a:t>SOLE</a:t>
            </a:r>
            <a:r>
              <a:rPr lang="es-BO" sz="1100" dirty="0">
                <a:latin typeface="Arial" pitchFamily="34" charset="0"/>
                <a:cs typeface="Arial" pitchFamily="34" charset="0"/>
              </a:rPr>
              <a:t>; </a:t>
            </a:r>
            <a:r>
              <a:rPr lang="es-BO" sz="1100" b="1" dirty="0" smtClean="0">
                <a:latin typeface="Arial" pitchFamily="34" charset="0"/>
                <a:cs typeface="Arial" pitchFamily="34" charset="0"/>
              </a:rPr>
              <a:t>Quinto</a:t>
            </a:r>
            <a:r>
              <a:rPr lang="es-BO" sz="11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BO" sz="1100" dirty="0">
                <a:latin typeface="Arial" pitchFamily="34" charset="0"/>
                <a:cs typeface="Arial" pitchFamily="34" charset="0"/>
              </a:rPr>
              <a:t>Capturar vivos a los 2 Lideres del Grupo Terrorista y eliminar a los </a:t>
            </a:r>
            <a:r>
              <a:rPr lang="es-BO" sz="1100" dirty="0" err="1" smtClean="0">
                <a:latin typeface="Arial" pitchFamily="34" charset="0"/>
                <a:cs typeface="Arial" pitchFamily="34" charset="0"/>
              </a:rPr>
              <a:t>demas</a:t>
            </a:r>
            <a:r>
              <a:rPr lang="es-BO" sz="1100" dirty="0" smtClean="0">
                <a:latin typeface="Arial" pitchFamily="34" charset="0"/>
                <a:cs typeface="Arial" pitchFamily="34" charset="0"/>
              </a:rPr>
              <a:t> terroristas </a:t>
            </a:r>
            <a:r>
              <a:rPr lang="es-BO" sz="1100" dirty="0">
                <a:latin typeface="Arial" pitchFamily="34" charset="0"/>
                <a:cs typeface="Arial" pitchFamily="34" charset="0"/>
              </a:rPr>
              <a:t>que operan en el </a:t>
            </a:r>
            <a:r>
              <a:rPr lang="es-BO" sz="1100" dirty="0" err="1">
                <a:latin typeface="Arial" pitchFamily="34" charset="0"/>
                <a:cs typeface="Arial" pitchFamily="34" charset="0"/>
              </a:rPr>
              <a:t>Area</a:t>
            </a:r>
            <a:r>
              <a:rPr lang="es-BO" sz="1100" dirty="0">
                <a:latin typeface="Arial" pitchFamily="34" charset="0"/>
                <a:cs typeface="Arial" pitchFamily="34" charset="0"/>
              </a:rPr>
              <a:t>; </a:t>
            </a:r>
            <a:r>
              <a:rPr lang="es-BO" sz="1100" b="1" dirty="0">
                <a:latin typeface="Arial" pitchFamily="34" charset="0"/>
                <a:cs typeface="Arial" pitchFamily="34" charset="0"/>
              </a:rPr>
              <a:t>Sexto</a:t>
            </a:r>
            <a:r>
              <a:rPr lang="es-BO" sz="1100" dirty="0">
                <a:latin typeface="Arial" pitchFamily="34" charset="0"/>
                <a:cs typeface="Arial" pitchFamily="34" charset="0"/>
              </a:rPr>
              <a:t> Desplazamiento del </a:t>
            </a:r>
            <a:r>
              <a:rPr lang="es-BO" sz="1100" dirty="0" err="1">
                <a:latin typeface="Arial" pitchFamily="34" charset="0"/>
                <a:cs typeface="Arial" pitchFamily="34" charset="0"/>
              </a:rPr>
              <a:t>Area</a:t>
            </a:r>
            <a:r>
              <a:rPr lang="es-BO" sz="1100" dirty="0">
                <a:latin typeface="Arial" pitchFamily="34" charset="0"/>
                <a:cs typeface="Arial" pitchFamily="34" charset="0"/>
              </a:rPr>
              <a:t> de Crisis al PE; </a:t>
            </a:r>
            <a:r>
              <a:rPr lang="es-BO" sz="1100" b="1" dirty="0" err="1">
                <a:latin typeface="Arial" pitchFamily="34" charset="0"/>
                <a:cs typeface="Arial" pitchFamily="34" charset="0"/>
              </a:rPr>
              <a:t>Septimo</a:t>
            </a:r>
            <a:r>
              <a:rPr lang="es-BO" sz="1100" b="1" dirty="0">
                <a:latin typeface="Arial" pitchFamily="34" charset="0"/>
                <a:cs typeface="Arial" pitchFamily="34" charset="0"/>
              </a:rPr>
              <a:t> </a:t>
            </a:r>
            <a:r>
              <a:rPr lang="es-BO" sz="1100" dirty="0">
                <a:latin typeface="Arial" pitchFamily="34" charset="0"/>
                <a:cs typeface="Arial" pitchFamily="34" charset="0"/>
              </a:rPr>
              <a:t>Desplazamiento del PE a la </a:t>
            </a:r>
            <a:r>
              <a:rPr lang="es-BO" sz="1100" dirty="0" err="1">
                <a:latin typeface="Arial" pitchFamily="34" charset="0"/>
                <a:cs typeface="Arial" pitchFamily="34" charset="0"/>
              </a:rPr>
              <a:t>NZR</a:t>
            </a:r>
            <a:r>
              <a:rPr lang="es-BO" sz="1100" dirty="0">
                <a:latin typeface="Arial" pitchFamily="34" charset="0"/>
                <a:cs typeface="Arial" pitchFamily="34" charset="0"/>
              </a:rPr>
              <a:t>; </a:t>
            </a:r>
            <a:r>
              <a:rPr lang="es-BO" sz="1100" b="1" dirty="0">
                <a:latin typeface="Arial" pitchFamily="34" charset="0"/>
                <a:cs typeface="Arial" pitchFamily="34" charset="0"/>
              </a:rPr>
              <a:t>al final de la operación</a:t>
            </a:r>
            <a:r>
              <a:rPr lang="es-BO" sz="1100" dirty="0">
                <a:latin typeface="Arial" pitchFamily="34" charset="0"/>
                <a:cs typeface="Arial" pitchFamily="34" charset="0"/>
              </a:rPr>
              <a:t> estaremos ocupando la </a:t>
            </a:r>
            <a:r>
              <a:rPr lang="es-BO" sz="1100" dirty="0" err="1">
                <a:latin typeface="Arial" pitchFamily="34" charset="0"/>
                <a:cs typeface="Arial" pitchFamily="34" charset="0"/>
              </a:rPr>
              <a:t>NZR</a:t>
            </a:r>
            <a:r>
              <a:rPr lang="es-BO" sz="1100" dirty="0">
                <a:latin typeface="Arial" pitchFamily="34" charset="0"/>
                <a:cs typeface="Arial" pitchFamily="34" charset="0"/>
              </a:rPr>
              <a:t> (BASE), los 2 cabecillas de la organización terrorista se encontraran bajo nuestra custodia los demás terroristas habrán sido eliminados, habremos recuperado los 9 fusiles </a:t>
            </a:r>
            <a:r>
              <a:rPr lang="es-BO" sz="1100" dirty="0" err="1">
                <a:latin typeface="Arial" pitchFamily="34" charset="0"/>
                <a:cs typeface="Arial" pitchFamily="34" charset="0"/>
              </a:rPr>
              <a:t>FAL</a:t>
            </a:r>
            <a:r>
              <a:rPr lang="es-BO" sz="1100" dirty="0">
                <a:latin typeface="Arial" pitchFamily="34" charset="0"/>
                <a:cs typeface="Arial" pitchFamily="34" charset="0"/>
              </a:rPr>
              <a:t> y estaremos en condiciones de continuar otras operaciones especiales con orden.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Marcador de contenido" descr="ogo 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929322" cy="6829219"/>
          </a:xfrm>
        </p:spPr>
      </p:pic>
      <p:sp>
        <p:nvSpPr>
          <p:cNvPr id="6" name="5 CuadroTexto"/>
          <p:cNvSpPr txBox="1"/>
          <p:nvPr/>
        </p:nvSpPr>
        <p:spPr>
          <a:xfrm>
            <a:off x="4929190" y="0"/>
            <a:ext cx="4214810" cy="69480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s-BO" sz="900" dirty="0"/>
              <a:t> </a:t>
            </a:r>
            <a:endParaRPr lang="es-BO" sz="800" dirty="0">
              <a:latin typeface="Arial" pitchFamily="34" charset="0"/>
              <a:cs typeface="Arial" pitchFamily="34" charset="0"/>
            </a:endParaRPr>
          </a:p>
          <a:p>
            <a:pPr lvl="0" algn="just"/>
            <a:r>
              <a:rPr lang="es-BO" sz="1050" b="1" dirty="0">
                <a:latin typeface="Arial" pitchFamily="34" charset="0"/>
                <a:cs typeface="Arial" pitchFamily="34" charset="0"/>
              </a:rPr>
              <a:t>Concepto de la operación</a:t>
            </a:r>
            <a:endParaRPr lang="es-BO" sz="105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BO" sz="1050" dirty="0">
                <a:latin typeface="Arial" pitchFamily="34" charset="0"/>
                <a:cs typeface="Arial" pitchFamily="34" charset="0"/>
              </a:rPr>
              <a:t>Consistirá en una operación especial de acción directa y se ejecutará en las siguientes fases</a:t>
            </a:r>
            <a:r>
              <a:rPr lang="es-BO" sz="1050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algn="just"/>
            <a:endParaRPr lang="es-BO" sz="105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BO" sz="1050" b="1" dirty="0">
                <a:latin typeface="Arial" pitchFamily="34" charset="0"/>
                <a:cs typeface="Arial" pitchFamily="34" charset="0"/>
              </a:rPr>
              <a:t>Primera Fase	:</a:t>
            </a:r>
            <a:r>
              <a:rPr lang="es-BO" sz="1050" dirty="0">
                <a:latin typeface="Arial" pitchFamily="34" charset="0"/>
                <a:cs typeface="Arial" pitchFamily="34" charset="0"/>
              </a:rPr>
              <a:t> Planeamiento, organización y preparación para la </a:t>
            </a:r>
            <a:r>
              <a:rPr lang="es-BO" sz="1050" dirty="0" smtClean="0">
                <a:latin typeface="Arial" pitchFamily="34" charset="0"/>
                <a:cs typeface="Arial" pitchFamily="34" charset="0"/>
              </a:rPr>
              <a:t>	   operación.</a:t>
            </a:r>
          </a:p>
          <a:p>
            <a:pPr algn="just"/>
            <a:endParaRPr lang="es-BO" sz="105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BO" sz="1050" b="1" dirty="0">
                <a:latin typeface="Arial" pitchFamily="34" charset="0"/>
                <a:cs typeface="Arial" pitchFamily="34" charset="0"/>
              </a:rPr>
              <a:t>Segunda Fase	</a:t>
            </a:r>
            <a:r>
              <a:rPr lang="es-BO" sz="1050" dirty="0">
                <a:latin typeface="Arial" pitchFamily="34" charset="0"/>
                <a:cs typeface="Arial" pitchFamily="34" charset="0"/>
              </a:rPr>
              <a:t>: Desplazamiento de la </a:t>
            </a:r>
            <a:r>
              <a:rPr lang="es-BO" sz="1050" dirty="0" err="1">
                <a:latin typeface="Arial" pitchFamily="34" charset="0"/>
                <a:cs typeface="Arial" pitchFamily="34" charset="0"/>
              </a:rPr>
              <a:t>NZR</a:t>
            </a:r>
            <a:r>
              <a:rPr lang="es-BO" sz="1050" dirty="0">
                <a:latin typeface="Arial" pitchFamily="34" charset="0"/>
                <a:cs typeface="Arial" pitchFamily="34" charset="0"/>
              </a:rPr>
              <a:t> al Punto de Inserción 	</a:t>
            </a:r>
            <a:r>
              <a:rPr lang="es-BO" sz="1050" dirty="0" smtClean="0">
                <a:latin typeface="Arial" pitchFamily="34" charset="0"/>
                <a:cs typeface="Arial" pitchFamily="34" charset="0"/>
              </a:rPr>
              <a:t>   (</a:t>
            </a:r>
            <a:r>
              <a:rPr lang="es-BO" sz="1050" dirty="0">
                <a:latin typeface="Arial" pitchFamily="34" charset="0"/>
                <a:cs typeface="Arial" pitchFamily="34" charset="0"/>
              </a:rPr>
              <a:t>PI</a:t>
            </a:r>
            <a:r>
              <a:rPr lang="es-BO" sz="1050" dirty="0" smtClean="0">
                <a:latin typeface="Arial" pitchFamily="34" charset="0"/>
                <a:cs typeface="Arial" pitchFamily="34" charset="0"/>
              </a:rPr>
              <a:t>).</a:t>
            </a:r>
          </a:p>
          <a:p>
            <a:pPr algn="just"/>
            <a:endParaRPr lang="es-BO" sz="105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BO" sz="1050" b="1" dirty="0">
                <a:latin typeface="Arial" pitchFamily="34" charset="0"/>
                <a:cs typeface="Arial" pitchFamily="34" charset="0"/>
              </a:rPr>
              <a:t>Tercera Fase</a:t>
            </a:r>
            <a:r>
              <a:rPr lang="es-BO" sz="1050" dirty="0">
                <a:latin typeface="Arial" pitchFamily="34" charset="0"/>
                <a:cs typeface="Arial" pitchFamily="34" charset="0"/>
              </a:rPr>
              <a:t>   </a:t>
            </a:r>
            <a:r>
              <a:rPr lang="es-BO" sz="105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s-BO" sz="1050" dirty="0">
                <a:latin typeface="Arial" pitchFamily="34" charset="0"/>
                <a:cs typeface="Arial" pitchFamily="34" charset="0"/>
              </a:rPr>
              <a:t>Desplazamiento del PI al Área de Crisis</a:t>
            </a:r>
            <a:r>
              <a:rPr lang="es-BO" sz="105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s-BO" sz="105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BO" sz="1050" b="1" dirty="0">
                <a:latin typeface="Arial" pitchFamily="34" charset="0"/>
                <a:cs typeface="Arial" pitchFamily="34" charset="0"/>
              </a:rPr>
              <a:t>Cuarta Fase    	</a:t>
            </a:r>
            <a:r>
              <a:rPr lang="es-BO" sz="1050" dirty="0" smtClean="0">
                <a:latin typeface="Arial" pitchFamily="34" charset="0"/>
                <a:cs typeface="Arial" pitchFamily="34" charset="0"/>
              </a:rPr>
              <a:t>:  </a:t>
            </a:r>
            <a:r>
              <a:rPr lang="es-BO" sz="1050" dirty="0">
                <a:latin typeface="Arial" pitchFamily="34" charset="0"/>
                <a:cs typeface="Arial" pitchFamily="34" charset="0"/>
              </a:rPr>
              <a:t>Acciones en el Objetivo</a:t>
            </a:r>
            <a:r>
              <a:rPr lang="es-BO" sz="105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s-BO" sz="105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BO" sz="1050" b="1" dirty="0">
                <a:latin typeface="Arial" pitchFamily="34" charset="0"/>
                <a:cs typeface="Arial" pitchFamily="34" charset="0"/>
              </a:rPr>
              <a:t>Quinta Fase    	</a:t>
            </a:r>
            <a:r>
              <a:rPr lang="es-BO" sz="1050" dirty="0">
                <a:latin typeface="Arial" pitchFamily="34" charset="0"/>
                <a:cs typeface="Arial" pitchFamily="34" charset="0"/>
              </a:rPr>
              <a:t>: Desplazamiento del </a:t>
            </a:r>
            <a:r>
              <a:rPr lang="es-BO" sz="1050" dirty="0" err="1" smtClean="0">
                <a:latin typeface="Arial" pitchFamily="34" charset="0"/>
                <a:cs typeface="Arial" pitchFamily="34" charset="0"/>
              </a:rPr>
              <a:t>Area</a:t>
            </a:r>
            <a:r>
              <a:rPr lang="es-BO" sz="105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BO" sz="1050" dirty="0">
                <a:latin typeface="Arial" pitchFamily="34" charset="0"/>
                <a:cs typeface="Arial" pitchFamily="34" charset="0"/>
              </a:rPr>
              <a:t>de Crisis al Punto de </a:t>
            </a:r>
            <a:r>
              <a:rPr lang="es-BO" sz="1050" dirty="0" smtClean="0">
                <a:latin typeface="Arial" pitchFamily="34" charset="0"/>
                <a:cs typeface="Arial" pitchFamily="34" charset="0"/>
              </a:rPr>
              <a:t>	    Extracción </a:t>
            </a:r>
            <a:r>
              <a:rPr lang="es-BO" sz="1050" dirty="0">
                <a:latin typeface="Arial" pitchFamily="34" charset="0"/>
                <a:cs typeface="Arial" pitchFamily="34" charset="0"/>
              </a:rPr>
              <a:t>(PE</a:t>
            </a:r>
            <a:r>
              <a:rPr lang="es-BO" sz="1050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 algn="just"/>
            <a:endParaRPr lang="es-BO" sz="1050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BO" sz="1050" b="1" dirty="0">
                <a:latin typeface="Arial" pitchFamily="34" charset="0"/>
                <a:cs typeface="Arial" pitchFamily="34" charset="0"/>
              </a:rPr>
              <a:t>Sexta Fase      </a:t>
            </a:r>
            <a:r>
              <a:rPr lang="es-BO" sz="1050" b="1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s-BO" sz="1050" dirty="0" smtClean="0">
                <a:latin typeface="Arial" pitchFamily="34" charset="0"/>
                <a:cs typeface="Arial" pitchFamily="34" charset="0"/>
              </a:rPr>
              <a:t>: </a:t>
            </a:r>
            <a:r>
              <a:rPr lang="es-BO" sz="1050" dirty="0">
                <a:latin typeface="Arial" pitchFamily="34" charset="0"/>
                <a:cs typeface="Arial" pitchFamily="34" charset="0"/>
              </a:rPr>
              <a:t>Desplazamiento del PE a la </a:t>
            </a:r>
            <a:r>
              <a:rPr lang="es-BO" sz="1050" dirty="0" err="1">
                <a:latin typeface="Arial" pitchFamily="34" charset="0"/>
                <a:cs typeface="Arial" pitchFamily="34" charset="0"/>
              </a:rPr>
              <a:t>NZR</a:t>
            </a:r>
            <a:r>
              <a:rPr lang="es-BO" sz="105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endParaRPr lang="es-CR" sz="105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s-BO" sz="1050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s-CR" sz="105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s-CR" sz="1050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s-CR" sz="105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s-CR" sz="1050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s-CR" sz="105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s-CR" sz="1050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s-CR" sz="105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s-CR" sz="1050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s-CR" sz="105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s-CR" sz="1050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s-CR" sz="105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s-CR" sz="1050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s-CR" sz="105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s-CR" sz="1050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s-CR" sz="105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s-CR" sz="1050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s-BO" sz="1050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s-CR" sz="80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s-CR" sz="800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s-CR" sz="80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s-CR" sz="800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s-CR" sz="800" dirty="0">
              <a:latin typeface="Arial" pitchFamily="34" charset="0"/>
              <a:cs typeface="Arial" pitchFamily="34" charset="0"/>
            </a:endParaRPr>
          </a:p>
          <a:p>
            <a:pPr algn="just"/>
            <a:endParaRPr lang="es-BO" sz="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8 Imagen" descr="ogo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929190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0" name="9 Anillo"/>
          <p:cNvSpPr/>
          <p:nvPr/>
        </p:nvSpPr>
        <p:spPr>
          <a:xfrm>
            <a:off x="3857620" y="0"/>
            <a:ext cx="642942" cy="642918"/>
          </a:xfrm>
          <a:prstGeom prst="donut">
            <a:avLst>
              <a:gd name="adj" fmla="val 1077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>
              <a:solidFill>
                <a:schemeClr val="tx1"/>
              </a:solidFill>
            </a:endParaRPr>
          </a:p>
        </p:txBody>
      </p:sp>
      <p:sp>
        <p:nvSpPr>
          <p:cNvPr id="11" name="10 Anillo"/>
          <p:cNvSpPr/>
          <p:nvPr/>
        </p:nvSpPr>
        <p:spPr>
          <a:xfrm>
            <a:off x="2643174" y="5500702"/>
            <a:ext cx="642942" cy="642918"/>
          </a:xfrm>
          <a:prstGeom prst="donut">
            <a:avLst>
              <a:gd name="adj" fmla="val 1077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>
              <a:solidFill>
                <a:schemeClr val="tx1"/>
              </a:solidFill>
            </a:endParaRPr>
          </a:p>
        </p:txBody>
      </p:sp>
      <p:sp>
        <p:nvSpPr>
          <p:cNvPr id="12" name="11 Forma libre"/>
          <p:cNvSpPr/>
          <p:nvPr/>
        </p:nvSpPr>
        <p:spPr>
          <a:xfrm>
            <a:off x="2821577" y="705394"/>
            <a:ext cx="1307015" cy="5081452"/>
          </a:xfrm>
          <a:custGeom>
            <a:avLst/>
            <a:gdLst>
              <a:gd name="connsiteX0" fmla="*/ 1306286 w 1307015"/>
              <a:gd name="connsiteY0" fmla="*/ 0 h 5081452"/>
              <a:gd name="connsiteX1" fmla="*/ 1293223 w 1307015"/>
              <a:gd name="connsiteY1" fmla="*/ 52252 h 5081452"/>
              <a:gd name="connsiteX2" fmla="*/ 1227909 w 1307015"/>
              <a:gd name="connsiteY2" fmla="*/ 65315 h 5081452"/>
              <a:gd name="connsiteX3" fmla="*/ 1149532 w 1307015"/>
              <a:gd name="connsiteY3" fmla="*/ 78377 h 5081452"/>
              <a:gd name="connsiteX4" fmla="*/ 1084217 w 1307015"/>
              <a:gd name="connsiteY4" fmla="*/ 130629 h 5081452"/>
              <a:gd name="connsiteX5" fmla="*/ 1045029 w 1307015"/>
              <a:gd name="connsiteY5" fmla="*/ 156755 h 5081452"/>
              <a:gd name="connsiteX6" fmla="*/ 992777 w 1307015"/>
              <a:gd name="connsiteY6" fmla="*/ 195943 h 5081452"/>
              <a:gd name="connsiteX7" fmla="*/ 914400 w 1307015"/>
              <a:gd name="connsiteY7" fmla="*/ 248195 h 5081452"/>
              <a:gd name="connsiteX8" fmla="*/ 888274 w 1307015"/>
              <a:gd name="connsiteY8" fmla="*/ 287383 h 5081452"/>
              <a:gd name="connsiteX9" fmla="*/ 940526 w 1307015"/>
              <a:gd name="connsiteY9" fmla="*/ 470263 h 5081452"/>
              <a:gd name="connsiteX10" fmla="*/ 953589 w 1307015"/>
              <a:gd name="connsiteY10" fmla="*/ 535577 h 5081452"/>
              <a:gd name="connsiteX11" fmla="*/ 992777 w 1307015"/>
              <a:gd name="connsiteY11" fmla="*/ 548640 h 5081452"/>
              <a:gd name="connsiteX12" fmla="*/ 1045029 w 1307015"/>
              <a:gd name="connsiteY12" fmla="*/ 561703 h 5081452"/>
              <a:gd name="connsiteX13" fmla="*/ 1084217 w 1307015"/>
              <a:gd name="connsiteY13" fmla="*/ 679269 h 5081452"/>
              <a:gd name="connsiteX14" fmla="*/ 1110343 w 1307015"/>
              <a:gd name="connsiteY14" fmla="*/ 757646 h 5081452"/>
              <a:gd name="connsiteX15" fmla="*/ 1123406 w 1307015"/>
              <a:gd name="connsiteY15" fmla="*/ 809897 h 5081452"/>
              <a:gd name="connsiteX16" fmla="*/ 1110343 w 1307015"/>
              <a:gd name="connsiteY16" fmla="*/ 979715 h 5081452"/>
              <a:gd name="connsiteX17" fmla="*/ 901337 w 1307015"/>
              <a:gd name="connsiteY17" fmla="*/ 992777 h 5081452"/>
              <a:gd name="connsiteX18" fmla="*/ 757646 w 1307015"/>
              <a:gd name="connsiteY18" fmla="*/ 1005840 h 5081452"/>
              <a:gd name="connsiteX19" fmla="*/ 692332 w 1307015"/>
              <a:gd name="connsiteY19" fmla="*/ 1058092 h 5081452"/>
              <a:gd name="connsiteX20" fmla="*/ 653143 w 1307015"/>
              <a:gd name="connsiteY20" fmla="*/ 1071155 h 5081452"/>
              <a:gd name="connsiteX21" fmla="*/ 326572 w 1307015"/>
              <a:gd name="connsiteY21" fmla="*/ 1084217 h 5081452"/>
              <a:gd name="connsiteX22" fmla="*/ 287383 w 1307015"/>
              <a:gd name="connsiteY22" fmla="*/ 1097280 h 5081452"/>
              <a:gd name="connsiteX23" fmla="*/ 156754 w 1307015"/>
              <a:gd name="connsiteY23" fmla="*/ 1110343 h 5081452"/>
              <a:gd name="connsiteX24" fmla="*/ 169817 w 1307015"/>
              <a:gd name="connsiteY24" fmla="*/ 1175657 h 5081452"/>
              <a:gd name="connsiteX25" fmla="*/ 195943 w 1307015"/>
              <a:gd name="connsiteY25" fmla="*/ 1254035 h 5081452"/>
              <a:gd name="connsiteX26" fmla="*/ 209006 w 1307015"/>
              <a:gd name="connsiteY26" fmla="*/ 1306286 h 5081452"/>
              <a:gd name="connsiteX27" fmla="*/ 209006 w 1307015"/>
              <a:gd name="connsiteY27" fmla="*/ 1606732 h 5081452"/>
              <a:gd name="connsiteX28" fmla="*/ 169817 w 1307015"/>
              <a:gd name="connsiteY28" fmla="*/ 1750423 h 5081452"/>
              <a:gd name="connsiteX29" fmla="*/ 130629 w 1307015"/>
              <a:gd name="connsiteY29" fmla="*/ 1763486 h 5081452"/>
              <a:gd name="connsiteX30" fmla="*/ 104503 w 1307015"/>
              <a:gd name="connsiteY30" fmla="*/ 1802675 h 5081452"/>
              <a:gd name="connsiteX31" fmla="*/ 117566 w 1307015"/>
              <a:gd name="connsiteY31" fmla="*/ 2090057 h 5081452"/>
              <a:gd name="connsiteX32" fmla="*/ 130629 w 1307015"/>
              <a:gd name="connsiteY32" fmla="*/ 2129246 h 5081452"/>
              <a:gd name="connsiteX33" fmla="*/ 169817 w 1307015"/>
              <a:gd name="connsiteY33" fmla="*/ 2207623 h 5081452"/>
              <a:gd name="connsiteX34" fmla="*/ 195943 w 1307015"/>
              <a:gd name="connsiteY34" fmla="*/ 2468880 h 5081452"/>
              <a:gd name="connsiteX35" fmla="*/ 209006 w 1307015"/>
              <a:gd name="connsiteY35" fmla="*/ 2612572 h 5081452"/>
              <a:gd name="connsiteX36" fmla="*/ 222069 w 1307015"/>
              <a:gd name="connsiteY36" fmla="*/ 2717075 h 5081452"/>
              <a:gd name="connsiteX37" fmla="*/ 235132 w 1307015"/>
              <a:gd name="connsiteY37" fmla="*/ 2913017 h 5081452"/>
              <a:gd name="connsiteX38" fmla="*/ 261257 w 1307015"/>
              <a:gd name="connsiteY38" fmla="*/ 3082835 h 5081452"/>
              <a:gd name="connsiteX39" fmla="*/ 287383 w 1307015"/>
              <a:gd name="connsiteY39" fmla="*/ 3161212 h 5081452"/>
              <a:gd name="connsiteX40" fmla="*/ 300446 w 1307015"/>
              <a:gd name="connsiteY40" fmla="*/ 3265715 h 5081452"/>
              <a:gd name="connsiteX41" fmla="*/ 326572 w 1307015"/>
              <a:gd name="connsiteY41" fmla="*/ 3448595 h 5081452"/>
              <a:gd name="connsiteX42" fmla="*/ 326572 w 1307015"/>
              <a:gd name="connsiteY42" fmla="*/ 3866606 h 5081452"/>
              <a:gd name="connsiteX43" fmla="*/ 300446 w 1307015"/>
              <a:gd name="connsiteY43" fmla="*/ 3944983 h 5081452"/>
              <a:gd name="connsiteX44" fmla="*/ 287383 w 1307015"/>
              <a:gd name="connsiteY44" fmla="*/ 4088675 h 5081452"/>
              <a:gd name="connsiteX45" fmla="*/ 235132 w 1307015"/>
              <a:gd name="connsiteY45" fmla="*/ 4180115 h 5081452"/>
              <a:gd name="connsiteX46" fmla="*/ 182880 w 1307015"/>
              <a:gd name="connsiteY46" fmla="*/ 4297680 h 5081452"/>
              <a:gd name="connsiteX47" fmla="*/ 156754 w 1307015"/>
              <a:gd name="connsiteY47" fmla="*/ 4389120 h 5081452"/>
              <a:gd name="connsiteX48" fmla="*/ 104503 w 1307015"/>
              <a:gd name="connsiteY48" fmla="*/ 4506686 h 5081452"/>
              <a:gd name="connsiteX49" fmla="*/ 65314 w 1307015"/>
              <a:gd name="connsiteY49" fmla="*/ 4532812 h 5081452"/>
              <a:gd name="connsiteX50" fmla="*/ 0 w 1307015"/>
              <a:gd name="connsiteY50" fmla="*/ 4650377 h 5081452"/>
              <a:gd name="connsiteX51" fmla="*/ 13063 w 1307015"/>
              <a:gd name="connsiteY51" fmla="*/ 4898572 h 5081452"/>
              <a:gd name="connsiteX52" fmla="*/ 26126 w 1307015"/>
              <a:gd name="connsiteY52" fmla="*/ 4937760 h 5081452"/>
              <a:gd name="connsiteX53" fmla="*/ 52252 w 1307015"/>
              <a:gd name="connsiteY53" fmla="*/ 4976949 h 5081452"/>
              <a:gd name="connsiteX54" fmla="*/ 65314 w 1307015"/>
              <a:gd name="connsiteY54" fmla="*/ 5016137 h 5081452"/>
              <a:gd name="connsiteX55" fmla="*/ 91440 w 1307015"/>
              <a:gd name="connsiteY55" fmla="*/ 5055326 h 5081452"/>
              <a:gd name="connsiteX56" fmla="*/ 104503 w 1307015"/>
              <a:gd name="connsiteY56" fmla="*/ 5081452 h 5081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1307015" h="5081452">
                <a:moveTo>
                  <a:pt x="1306286" y="0"/>
                </a:moveTo>
                <a:cubicBezTo>
                  <a:pt x="1301932" y="17417"/>
                  <a:pt x="1307015" y="40758"/>
                  <a:pt x="1293223" y="52252"/>
                </a:cubicBezTo>
                <a:cubicBezTo>
                  <a:pt x="1276167" y="66466"/>
                  <a:pt x="1249753" y="61343"/>
                  <a:pt x="1227909" y="65315"/>
                </a:cubicBezTo>
                <a:cubicBezTo>
                  <a:pt x="1201850" y="70053"/>
                  <a:pt x="1175658" y="74023"/>
                  <a:pt x="1149532" y="78377"/>
                </a:cubicBezTo>
                <a:cubicBezTo>
                  <a:pt x="1073240" y="103808"/>
                  <a:pt x="1143303" y="71542"/>
                  <a:pt x="1084217" y="130629"/>
                </a:cubicBezTo>
                <a:cubicBezTo>
                  <a:pt x="1073116" y="141730"/>
                  <a:pt x="1057804" y="147630"/>
                  <a:pt x="1045029" y="156755"/>
                </a:cubicBezTo>
                <a:cubicBezTo>
                  <a:pt x="1027313" y="169409"/>
                  <a:pt x="1010613" y="183458"/>
                  <a:pt x="992777" y="195943"/>
                </a:cubicBezTo>
                <a:cubicBezTo>
                  <a:pt x="967054" y="213949"/>
                  <a:pt x="914400" y="248195"/>
                  <a:pt x="914400" y="248195"/>
                </a:cubicBezTo>
                <a:cubicBezTo>
                  <a:pt x="905691" y="261258"/>
                  <a:pt x="888274" y="271684"/>
                  <a:pt x="888274" y="287383"/>
                </a:cubicBezTo>
                <a:cubicBezTo>
                  <a:pt x="888274" y="352315"/>
                  <a:pt x="928206" y="408662"/>
                  <a:pt x="940526" y="470263"/>
                </a:cubicBezTo>
                <a:cubicBezTo>
                  <a:pt x="944880" y="492034"/>
                  <a:pt x="941273" y="517103"/>
                  <a:pt x="953589" y="535577"/>
                </a:cubicBezTo>
                <a:cubicBezTo>
                  <a:pt x="961227" y="547034"/>
                  <a:pt x="979538" y="544857"/>
                  <a:pt x="992777" y="548640"/>
                </a:cubicBezTo>
                <a:cubicBezTo>
                  <a:pt x="1010040" y="553572"/>
                  <a:pt x="1027612" y="557349"/>
                  <a:pt x="1045029" y="561703"/>
                </a:cubicBezTo>
                <a:cubicBezTo>
                  <a:pt x="1093264" y="634058"/>
                  <a:pt x="1056057" y="566632"/>
                  <a:pt x="1084217" y="679269"/>
                </a:cubicBezTo>
                <a:cubicBezTo>
                  <a:pt x="1090896" y="705986"/>
                  <a:pt x="1103664" y="730929"/>
                  <a:pt x="1110343" y="757646"/>
                </a:cubicBezTo>
                <a:lnTo>
                  <a:pt x="1123406" y="809897"/>
                </a:lnTo>
                <a:cubicBezTo>
                  <a:pt x="1119052" y="866503"/>
                  <a:pt x="1154168" y="943624"/>
                  <a:pt x="1110343" y="979715"/>
                </a:cubicBezTo>
                <a:cubicBezTo>
                  <a:pt x="1056459" y="1024090"/>
                  <a:pt x="970951" y="987621"/>
                  <a:pt x="901337" y="992777"/>
                </a:cubicBezTo>
                <a:cubicBezTo>
                  <a:pt x="853374" y="996330"/>
                  <a:pt x="805543" y="1001486"/>
                  <a:pt x="757646" y="1005840"/>
                </a:cubicBezTo>
                <a:cubicBezTo>
                  <a:pt x="659143" y="1038674"/>
                  <a:pt x="776741" y="990564"/>
                  <a:pt x="692332" y="1058092"/>
                </a:cubicBezTo>
                <a:cubicBezTo>
                  <a:pt x="681580" y="1066694"/>
                  <a:pt x="666878" y="1070174"/>
                  <a:pt x="653143" y="1071155"/>
                </a:cubicBezTo>
                <a:cubicBezTo>
                  <a:pt x="544476" y="1078917"/>
                  <a:pt x="435429" y="1079863"/>
                  <a:pt x="326572" y="1084217"/>
                </a:cubicBezTo>
                <a:cubicBezTo>
                  <a:pt x="313509" y="1088571"/>
                  <a:pt x="300992" y="1095186"/>
                  <a:pt x="287383" y="1097280"/>
                </a:cubicBezTo>
                <a:cubicBezTo>
                  <a:pt x="244132" y="1103934"/>
                  <a:pt x="193165" y="1086069"/>
                  <a:pt x="156754" y="1110343"/>
                </a:cubicBezTo>
                <a:cubicBezTo>
                  <a:pt x="138280" y="1122659"/>
                  <a:pt x="163975" y="1154237"/>
                  <a:pt x="169817" y="1175657"/>
                </a:cubicBezTo>
                <a:cubicBezTo>
                  <a:pt x="177063" y="1202226"/>
                  <a:pt x="189264" y="1227318"/>
                  <a:pt x="195943" y="1254035"/>
                </a:cubicBezTo>
                <a:lnTo>
                  <a:pt x="209006" y="1306286"/>
                </a:lnTo>
                <a:cubicBezTo>
                  <a:pt x="166198" y="1434709"/>
                  <a:pt x="209006" y="1290471"/>
                  <a:pt x="209006" y="1606732"/>
                </a:cubicBezTo>
                <a:cubicBezTo>
                  <a:pt x="209006" y="1643434"/>
                  <a:pt x="208704" y="1719314"/>
                  <a:pt x="169817" y="1750423"/>
                </a:cubicBezTo>
                <a:cubicBezTo>
                  <a:pt x="159065" y="1759025"/>
                  <a:pt x="143692" y="1759132"/>
                  <a:pt x="130629" y="1763486"/>
                </a:cubicBezTo>
                <a:cubicBezTo>
                  <a:pt x="121920" y="1776549"/>
                  <a:pt x="105130" y="1786988"/>
                  <a:pt x="104503" y="1802675"/>
                </a:cubicBezTo>
                <a:cubicBezTo>
                  <a:pt x="100670" y="1898491"/>
                  <a:pt x="109919" y="1994469"/>
                  <a:pt x="117566" y="2090057"/>
                </a:cubicBezTo>
                <a:cubicBezTo>
                  <a:pt x="118664" y="2103783"/>
                  <a:pt x="124471" y="2116930"/>
                  <a:pt x="130629" y="2129246"/>
                </a:cubicBezTo>
                <a:cubicBezTo>
                  <a:pt x="181275" y="2230540"/>
                  <a:pt x="136982" y="2109120"/>
                  <a:pt x="169817" y="2207623"/>
                </a:cubicBezTo>
                <a:cubicBezTo>
                  <a:pt x="194423" y="2355254"/>
                  <a:pt x="177543" y="2238882"/>
                  <a:pt x="195943" y="2468880"/>
                </a:cubicBezTo>
                <a:cubicBezTo>
                  <a:pt x="199778" y="2516822"/>
                  <a:pt x="203971" y="2564741"/>
                  <a:pt x="209006" y="2612572"/>
                </a:cubicBezTo>
                <a:cubicBezTo>
                  <a:pt x="212681" y="2647485"/>
                  <a:pt x="219028" y="2682102"/>
                  <a:pt x="222069" y="2717075"/>
                </a:cubicBezTo>
                <a:cubicBezTo>
                  <a:pt x="227740" y="2782288"/>
                  <a:pt x="229696" y="2847784"/>
                  <a:pt x="235132" y="2913017"/>
                </a:cubicBezTo>
                <a:cubicBezTo>
                  <a:pt x="241147" y="2985199"/>
                  <a:pt x="242742" y="3021119"/>
                  <a:pt x="261257" y="3082835"/>
                </a:cubicBezTo>
                <a:cubicBezTo>
                  <a:pt x="269170" y="3109212"/>
                  <a:pt x="287383" y="3161212"/>
                  <a:pt x="287383" y="3161212"/>
                </a:cubicBezTo>
                <a:cubicBezTo>
                  <a:pt x="291737" y="3196046"/>
                  <a:pt x="295703" y="3230931"/>
                  <a:pt x="300446" y="3265715"/>
                </a:cubicBezTo>
                <a:cubicBezTo>
                  <a:pt x="308766" y="3326729"/>
                  <a:pt x="326572" y="3448595"/>
                  <a:pt x="326572" y="3448595"/>
                </a:cubicBezTo>
                <a:cubicBezTo>
                  <a:pt x="338421" y="3626335"/>
                  <a:pt x="350439" y="3683621"/>
                  <a:pt x="326572" y="3866606"/>
                </a:cubicBezTo>
                <a:cubicBezTo>
                  <a:pt x="323010" y="3893914"/>
                  <a:pt x="300446" y="3944983"/>
                  <a:pt x="300446" y="3944983"/>
                </a:cubicBezTo>
                <a:cubicBezTo>
                  <a:pt x="296092" y="3992880"/>
                  <a:pt x="296815" y="4041514"/>
                  <a:pt x="287383" y="4088675"/>
                </a:cubicBezTo>
                <a:cubicBezTo>
                  <a:pt x="282648" y="4112348"/>
                  <a:pt x="249151" y="4159085"/>
                  <a:pt x="235132" y="4180115"/>
                </a:cubicBezTo>
                <a:cubicBezTo>
                  <a:pt x="206954" y="4377356"/>
                  <a:pt x="254263" y="4208453"/>
                  <a:pt x="182880" y="4297680"/>
                </a:cubicBezTo>
                <a:cubicBezTo>
                  <a:pt x="175856" y="4306459"/>
                  <a:pt x="157880" y="4385365"/>
                  <a:pt x="156754" y="4389120"/>
                </a:cubicBezTo>
                <a:cubicBezTo>
                  <a:pt x="145667" y="4426077"/>
                  <a:pt x="134501" y="4476688"/>
                  <a:pt x="104503" y="4506686"/>
                </a:cubicBezTo>
                <a:cubicBezTo>
                  <a:pt x="93402" y="4517787"/>
                  <a:pt x="78377" y="4524103"/>
                  <a:pt x="65314" y="4532812"/>
                </a:cubicBezTo>
                <a:cubicBezTo>
                  <a:pt x="5425" y="4622646"/>
                  <a:pt x="22992" y="4581401"/>
                  <a:pt x="0" y="4650377"/>
                </a:cubicBezTo>
                <a:cubicBezTo>
                  <a:pt x="4354" y="4733109"/>
                  <a:pt x="5562" y="4816066"/>
                  <a:pt x="13063" y="4898572"/>
                </a:cubicBezTo>
                <a:cubicBezTo>
                  <a:pt x="14310" y="4912285"/>
                  <a:pt x="19968" y="4925444"/>
                  <a:pt x="26126" y="4937760"/>
                </a:cubicBezTo>
                <a:cubicBezTo>
                  <a:pt x="33147" y="4951802"/>
                  <a:pt x="43543" y="4963886"/>
                  <a:pt x="52252" y="4976949"/>
                </a:cubicBezTo>
                <a:cubicBezTo>
                  <a:pt x="56606" y="4990012"/>
                  <a:pt x="59156" y="5003821"/>
                  <a:pt x="65314" y="5016137"/>
                </a:cubicBezTo>
                <a:cubicBezTo>
                  <a:pt x="72335" y="5030179"/>
                  <a:pt x="83363" y="5041864"/>
                  <a:pt x="91440" y="5055326"/>
                </a:cubicBezTo>
                <a:cubicBezTo>
                  <a:pt x="96449" y="5063675"/>
                  <a:pt x="100149" y="5072743"/>
                  <a:pt x="104503" y="5081452"/>
                </a:cubicBezTo>
              </a:path>
            </a:pathLst>
          </a:custGeom>
          <a:ln w="28575"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3" name="12 Anillo"/>
          <p:cNvSpPr/>
          <p:nvPr/>
        </p:nvSpPr>
        <p:spPr>
          <a:xfrm>
            <a:off x="2071670" y="2285992"/>
            <a:ext cx="642942" cy="642918"/>
          </a:xfrm>
          <a:prstGeom prst="donut">
            <a:avLst>
              <a:gd name="adj" fmla="val 1077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>
              <a:solidFill>
                <a:schemeClr val="tx1"/>
              </a:solidFill>
            </a:endParaRPr>
          </a:p>
        </p:txBody>
      </p:sp>
      <p:pic>
        <p:nvPicPr>
          <p:cNvPr id="8" name="7 Imagen" descr="ogo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63092"/>
            <a:ext cx="5429257" cy="369490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13 Forma libre"/>
          <p:cNvSpPr/>
          <p:nvPr/>
        </p:nvSpPr>
        <p:spPr>
          <a:xfrm>
            <a:off x="2390503" y="2926080"/>
            <a:ext cx="981862" cy="2145326"/>
          </a:xfrm>
          <a:custGeom>
            <a:avLst/>
            <a:gdLst>
              <a:gd name="connsiteX0" fmla="*/ 0 w 981862"/>
              <a:gd name="connsiteY0" fmla="*/ 0 h 2145326"/>
              <a:gd name="connsiteX1" fmla="*/ 13063 w 981862"/>
              <a:gd name="connsiteY1" fmla="*/ 39189 h 2145326"/>
              <a:gd name="connsiteX2" fmla="*/ 26126 w 981862"/>
              <a:gd name="connsiteY2" fmla="*/ 195943 h 2145326"/>
              <a:gd name="connsiteX3" fmla="*/ 65314 w 981862"/>
              <a:gd name="connsiteY3" fmla="*/ 326571 h 2145326"/>
              <a:gd name="connsiteX4" fmla="*/ 78377 w 981862"/>
              <a:gd name="connsiteY4" fmla="*/ 365760 h 2145326"/>
              <a:gd name="connsiteX5" fmla="*/ 143691 w 981862"/>
              <a:gd name="connsiteY5" fmla="*/ 378823 h 2145326"/>
              <a:gd name="connsiteX6" fmla="*/ 182880 w 981862"/>
              <a:gd name="connsiteY6" fmla="*/ 692331 h 2145326"/>
              <a:gd name="connsiteX7" fmla="*/ 195943 w 981862"/>
              <a:gd name="connsiteY7" fmla="*/ 783771 h 2145326"/>
              <a:gd name="connsiteX8" fmla="*/ 222068 w 981862"/>
              <a:gd name="connsiteY8" fmla="*/ 862149 h 2145326"/>
              <a:gd name="connsiteX9" fmla="*/ 248194 w 981862"/>
              <a:gd name="connsiteY9" fmla="*/ 953589 h 2145326"/>
              <a:gd name="connsiteX10" fmla="*/ 274320 w 981862"/>
              <a:gd name="connsiteY10" fmla="*/ 1097280 h 2145326"/>
              <a:gd name="connsiteX11" fmla="*/ 300446 w 981862"/>
              <a:gd name="connsiteY11" fmla="*/ 1136469 h 2145326"/>
              <a:gd name="connsiteX12" fmla="*/ 352697 w 981862"/>
              <a:gd name="connsiteY12" fmla="*/ 1254034 h 2145326"/>
              <a:gd name="connsiteX13" fmla="*/ 391886 w 981862"/>
              <a:gd name="connsiteY13" fmla="*/ 1410789 h 2145326"/>
              <a:gd name="connsiteX14" fmla="*/ 418011 w 981862"/>
              <a:gd name="connsiteY14" fmla="*/ 1489166 h 2145326"/>
              <a:gd name="connsiteX15" fmla="*/ 431074 w 981862"/>
              <a:gd name="connsiteY15" fmla="*/ 1528354 h 2145326"/>
              <a:gd name="connsiteX16" fmla="*/ 444137 w 981862"/>
              <a:gd name="connsiteY16" fmla="*/ 1593669 h 2145326"/>
              <a:gd name="connsiteX17" fmla="*/ 509451 w 981862"/>
              <a:gd name="connsiteY17" fmla="*/ 1698171 h 2145326"/>
              <a:gd name="connsiteX18" fmla="*/ 548640 w 981862"/>
              <a:gd name="connsiteY18" fmla="*/ 1711234 h 2145326"/>
              <a:gd name="connsiteX19" fmla="*/ 587828 w 981862"/>
              <a:gd name="connsiteY19" fmla="*/ 1737360 h 2145326"/>
              <a:gd name="connsiteX20" fmla="*/ 627017 w 981862"/>
              <a:gd name="connsiteY20" fmla="*/ 1750423 h 2145326"/>
              <a:gd name="connsiteX21" fmla="*/ 653143 w 981862"/>
              <a:gd name="connsiteY21" fmla="*/ 1789611 h 2145326"/>
              <a:gd name="connsiteX22" fmla="*/ 653143 w 981862"/>
              <a:gd name="connsiteY22" fmla="*/ 1894114 h 2145326"/>
              <a:gd name="connsiteX23" fmla="*/ 679268 w 981862"/>
              <a:gd name="connsiteY23" fmla="*/ 2037806 h 2145326"/>
              <a:gd name="connsiteX24" fmla="*/ 692331 w 981862"/>
              <a:gd name="connsiteY24" fmla="*/ 2076994 h 2145326"/>
              <a:gd name="connsiteX25" fmla="*/ 731520 w 981862"/>
              <a:gd name="connsiteY25" fmla="*/ 2090057 h 2145326"/>
              <a:gd name="connsiteX26" fmla="*/ 770708 w 981862"/>
              <a:gd name="connsiteY26" fmla="*/ 2116183 h 2145326"/>
              <a:gd name="connsiteX27" fmla="*/ 940526 w 981862"/>
              <a:gd name="connsiteY27" fmla="*/ 2116183 h 2145326"/>
              <a:gd name="connsiteX28" fmla="*/ 979714 w 981862"/>
              <a:gd name="connsiteY28" fmla="*/ 2037806 h 2145326"/>
              <a:gd name="connsiteX29" fmla="*/ 979714 w 981862"/>
              <a:gd name="connsiteY29" fmla="*/ 1998617 h 2145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81862" h="2145326">
                <a:moveTo>
                  <a:pt x="0" y="0"/>
                </a:moveTo>
                <a:cubicBezTo>
                  <a:pt x="4354" y="13063"/>
                  <a:pt x="11243" y="25540"/>
                  <a:pt x="13063" y="39189"/>
                </a:cubicBezTo>
                <a:cubicBezTo>
                  <a:pt x="19993" y="91162"/>
                  <a:pt x="19623" y="143915"/>
                  <a:pt x="26126" y="195943"/>
                </a:cubicBezTo>
                <a:cubicBezTo>
                  <a:pt x="30075" y="227536"/>
                  <a:pt x="57734" y="303832"/>
                  <a:pt x="65314" y="326571"/>
                </a:cubicBezTo>
                <a:cubicBezTo>
                  <a:pt x="69668" y="339634"/>
                  <a:pt x="64875" y="363060"/>
                  <a:pt x="78377" y="365760"/>
                </a:cubicBezTo>
                <a:lnTo>
                  <a:pt x="143691" y="378823"/>
                </a:lnTo>
                <a:cubicBezTo>
                  <a:pt x="221923" y="496169"/>
                  <a:pt x="161337" y="390729"/>
                  <a:pt x="182880" y="692331"/>
                </a:cubicBezTo>
                <a:cubicBezTo>
                  <a:pt x="185074" y="723042"/>
                  <a:pt x="189020" y="753770"/>
                  <a:pt x="195943" y="783771"/>
                </a:cubicBezTo>
                <a:cubicBezTo>
                  <a:pt x="202135" y="810605"/>
                  <a:pt x="213360" y="836023"/>
                  <a:pt x="222068" y="862149"/>
                </a:cubicBezTo>
                <a:cubicBezTo>
                  <a:pt x="234520" y="899505"/>
                  <a:pt x="239991" y="912575"/>
                  <a:pt x="248194" y="953589"/>
                </a:cubicBezTo>
                <a:cubicBezTo>
                  <a:pt x="250290" y="964070"/>
                  <a:pt x="268316" y="1081268"/>
                  <a:pt x="274320" y="1097280"/>
                </a:cubicBezTo>
                <a:cubicBezTo>
                  <a:pt x="279833" y="1111980"/>
                  <a:pt x="291737" y="1123406"/>
                  <a:pt x="300446" y="1136469"/>
                </a:cubicBezTo>
                <a:cubicBezTo>
                  <a:pt x="331536" y="1229740"/>
                  <a:pt x="311295" y="1191933"/>
                  <a:pt x="352697" y="1254034"/>
                </a:cubicBezTo>
                <a:cubicBezTo>
                  <a:pt x="423772" y="1467256"/>
                  <a:pt x="339120" y="1199722"/>
                  <a:pt x="391886" y="1410789"/>
                </a:cubicBezTo>
                <a:cubicBezTo>
                  <a:pt x="398565" y="1437506"/>
                  <a:pt x="409303" y="1463040"/>
                  <a:pt x="418011" y="1489166"/>
                </a:cubicBezTo>
                <a:cubicBezTo>
                  <a:pt x="422365" y="1502229"/>
                  <a:pt x="428374" y="1514852"/>
                  <a:pt x="431074" y="1528354"/>
                </a:cubicBezTo>
                <a:cubicBezTo>
                  <a:pt x="435428" y="1550126"/>
                  <a:pt x="438295" y="1572249"/>
                  <a:pt x="444137" y="1593669"/>
                </a:cubicBezTo>
                <a:cubicBezTo>
                  <a:pt x="462949" y="1662645"/>
                  <a:pt x="454349" y="1670620"/>
                  <a:pt x="509451" y="1698171"/>
                </a:cubicBezTo>
                <a:cubicBezTo>
                  <a:pt x="521767" y="1704329"/>
                  <a:pt x="535577" y="1706880"/>
                  <a:pt x="548640" y="1711234"/>
                </a:cubicBezTo>
                <a:cubicBezTo>
                  <a:pt x="561703" y="1719943"/>
                  <a:pt x="573786" y="1730339"/>
                  <a:pt x="587828" y="1737360"/>
                </a:cubicBezTo>
                <a:cubicBezTo>
                  <a:pt x="600144" y="1743518"/>
                  <a:pt x="616265" y="1741821"/>
                  <a:pt x="627017" y="1750423"/>
                </a:cubicBezTo>
                <a:cubicBezTo>
                  <a:pt x="639276" y="1760230"/>
                  <a:pt x="644434" y="1776548"/>
                  <a:pt x="653143" y="1789611"/>
                </a:cubicBezTo>
                <a:cubicBezTo>
                  <a:pt x="683003" y="1879192"/>
                  <a:pt x="653143" y="1768007"/>
                  <a:pt x="653143" y="1894114"/>
                </a:cubicBezTo>
                <a:cubicBezTo>
                  <a:pt x="653143" y="1931108"/>
                  <a:pt x="667837" y="1997795"/>
                  <a:pt x="679268" y="2037806"/>
                </a:cubicBezTo>
                <a:cubicBezTo>
                  <a:pt x="683051" y="2051046"/>
                  <a:pt x="682595" y="2067258"/>
                  <a:pt x="692331" y="2076994"/>
                </a:cubicBezTo>
                <a:cubicBezTo>
                  <a:pt x="702068" y="2086730"/>
                  <a:pt x="718457" y="2085703"/>
                  <a:pt x="731520" y="2090057"/>
                </a:cubicBezTo>
                <a:cubicBezTo>
                  <a:pt x="744583" y="2098766"/>
                  <a:pt x="756666" y="2109162"/>
                  <a:pt x="770708" y="2116183"/>
                </a:cubicBezTo>
                <a:cubicBezTo>
                  <a:pt x="828993" y="2145326"/>
                  <a:pt x="867441" y="2123492"/>
                  <a:pt x="940526" y="2116183"/>
                </a:cubicBezTo>
                <a:cubicBezTo>
                  <a:pt x="960585" y="2086094"/>
                  <a:pt x="973705" y="2073859"/>
                  <a:pt x="979714" y="2037806"/>
                </a:cubicBezTo>
                <a:cubicBezTo>
                  <a:pt x="981862" y="2024921"/>
                  <a:pt x="979714" y="2011680"/>
                  <a:pt x="979714" y="1998617"/>
                </a:cubicBezTo>
              </a:path>
            </a:pathLst>
          </a:custGeom>
          <a:ln w="28575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5" name="14 Explosión 1"/>
          <p:cNvSpPr/>
          <p:nvPr/>
        </p:nvSpPr>
        <p:spPr>
          <a:xfrm>
            <a:off x="1428729" y="3500438"/>
            <a:ext cx="357190" cy="285752"/>
          </a:xfrm>
          <a:prstGeom prst="irregularSeal1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6" name="15 Explosión 1"/>
          <p:cNvSpPr/>
          <p:nvPr/>
        </p:nvSpPr>
        <p:spPr>
          <a:xfrm>
            <a:off x="1500167" y="4071942"/>
            <a:ext cx="357190" cy="285752"/>
          </a:xfrm>
          <a:prstGeom prst="irregularSeal1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7" name="16 Explosión 1"/>
          <p:cNvSpPr/>
          <p:nvPr/>
        </p:nvSpPr>
        <p:spPr>
          <a:xfrm>
            <a:off x="1928795" y="4500570"/>
            <a:ext cx="357190" cy="285752"/>
          </a:xfrm>
          <a:prstGeom prst="irregularSeal1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8" name="17 Explosión 1"/>
          <p:cNvSpPr/>
          <p:nvPr/>
        </p:nvSpPr>
        <p:spPr>
          <a:xfrm>
            <a:off x="2786051" y="4857760"/>
            <a:ext cx="357190" cy="285752"/>
          </a:xfrm>
          <a:prstGeom prst="irregularSeal1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19" name="18 Explosión 1"/>
          <p:cNvSpPr/>
          <p:nvPr/>
        </p:nvSpPr>
        <p:spPr>
          <a:xfrm>
            <a:off x="3286116" y="5429264"/>
            <a:ext cx="357190" cy="285752"/>
          </a:xfrm>
          <a:prstGeom prst="irregularSeal1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0" name="19 Explosión 1"/>
          <p:cNvSpPr/>
          <p:nvPr/>
        </p:nvSpPr>
        <p:spPr>
          <a:xfrm>
            <a:off x="4071934" y="6357958"/>
            <a:ext cx="357190" cy="285752"/>
          </a:xfrm>
          <a:prstGeom prst="irregularSeal1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sp>
        <p:nvSpPr>
          <p:cNvPr id="21" name="20 Explosión 1"/>
          <p:cNvSpPr/>
          <p:nvPr/>
        </p:nvSpPr>
        <p:spPr>
          <a:xfrm>
            <a:off x="4214810" y="5929330"/>
            <a:ext cx="357190" cy="285752"/>
          </a:xfrm>
          <a:prstGeom prst="irregularSeal1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/>
          </a:p>
        </p:txBody>
      </p:sp>
      <p:pic>
        <p:nvPicPr>
          <p:cNvPr id="7" name="6 Imagen" descr="ogo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718474"/>
            <a:ext cx="4929190" cy="51395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3" name="22 Anillo"/>
          <p:cNvSpPr/>
          <p:nvPr/>
        </p:nvSpPr>
        <p:spPr>
          <a:xfrm>
            <a:off x="857224" y="3357562"/>
            <a:ext cx="3357586" cy="3500438"/>
          </a:xfrm>
          <a:prstGeom prst="donut">
            <a:avLst>
              <a:gd name="adj" fmla="val 2748"/>
            </a:avLst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BO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3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3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BO" sz="4000" b="1" dirty="0" smtClean="0">
                <a:latin typeface="Arial" pitchFamily="34" charset="0"/>
                <a:cs typeface="Arial" pitchFamily="34" charset="0"/>
              </a:rPr>
              <a:t>C.	</a:t>
            </a:r>
            <a:r>
              <a:rPr lang="es-BO" sz="4000" b="1" u="sng" dirty="0" smtClean="0">
                <a:latin typeface="Arial" pitchFamily="34" charset="0"/>
                <a:cs typeface="Arial" pitchFamily="34" charset="0"/>
              </a:rPr>
              <a:t>Instrucciones de Coordinación</a:t>
            </a:r>
            <a:r>
              <a:rPr lang="es-BO" sz="4000" b="1" dirty="0" smtClean="0">
                <a:latin typeface="Arial" pitchFamily="34" charset="0"/>
                <a:cs typeface="Arial" pitchFamily="34" charset="0"/>
              </a:rPr>
              <a:t>.</a:t>
            </a:r>
            <a:r>
              <a:rPr lang="es-BO" dirty="0" smtClean="0"/>
              <a:t/>
            </a:r>
            <a:br>
              <a:rPr lang="es-BO" dirty="0" smtClean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85720" y="1357298"/>
            <a:ext cx="8572560" cy="5286412"/>
          </a:xfrm>
        </p:spPr>
        <p:txBody>
          <a:bodyPr>
            <a:normAutofit fontScale="77500" lnSpcReduction="20000"/>
          </a:bodyPr>
          <a:lstStyle/>
          <a:p>
            <a:pPr algn="just"/>
            <a:endParaRPr lang="es-BO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BO" dirty="0" smtClean="0">
                <a:latin typeface="Arial" pitchFamily="34" charset="0"/>
                <a:cs typeface="Arial" pitchFamily="34" charset="0"/>
              </a:rPr>
              <a:t>1. 	En eficiencia el 070300-JUL-10</a:t>
            </a:r>
          </a:p>
          <a:p>
            <a:pPr algn="just"/>
            <a:r>
              <a:rPr lang="es-BO" dirty="0" smtClean="0">
                <a:latin typeface="Arial" pitchFamily="34" charset="0"/>
                <a:cs typeface="Arial" pitchFamily="34" charset="0"/>
              </a:rPr>
              <a:t>2.	Se deberá realizar un minucioso estudio de la carta de la 	zona para el Plan de Rutas.</a:t>
            </a:r>
          </a:p>
          <a:p>
            <a:pPr algn="just"/>
            <a:r>
              <a:rPr lang="es-BO" dirty="0" smtClean="0">
                <a:latin typeface="Arial" pitchFamily="34" charset="0"/>
                <a:cs typeface="Arial" pitchFamily="34" charset="0"/>
              </a:rPr>
              <a:t>3. 	Se deberán ejecutar reconocimientos del objetivo de 	acuerdo a la situación y evitando riesgos para la operación.</a:t>
            </a:r>
          </a:p>
          <a:p>
            <a:pPr algn="just"/>
            <a:r>
              <a:rPr lang="es-BO" dirty="0" smtClean="0">
                <a:latin typeface="Arial" pitchFamily="34" charset="0"/>
                <a:cs typeface="Arial" pitchFamily="34" charset="0"/>
              </a:rPr>
              <a:t>4.  	Máximo empleo de los medios de comunicación y empleo 	de las </a:t>
            </a:r>
            <a:r>
              <a:rPr lang="es-BO" dirty="0" err="1" smtClean="0">
                <a:latin typeface="Arial" pitchFamily="34" charset="0"/>
                <a:cs typeface="Arial" pitchFamily="34" charset="0"/>
              </a:rPr>
              <a:t>IEC</a:t>
            </a:r>
            <a:r>
              <a:rPr lang="es-BO" dirty="0" smtClean="0">
                <a:latin typeface="Arial" pitchFamily="34" charset="0"/>
                <a:cs typeface="Arial" pitchFamily="34" charset="0"/>
              </a:rPr>
              <a:t> “PUMA”</a:t>
            </a:r>
          </a:p>
          <a:p>
            <a:pPr algn="just"/>
            <a:r>
              <a:rPr lang="es-BO" dirty="0" smtClean="0">
                <a:latin typeface="Arial" pitchFamily="34" charset="0"/>
                <a:cs typeface="Arial" pitchFamily="34" charset="0"/>
              </a:rPr>
              <a:t>5.	Máximo empleo de </a:t>
            </a:r>
            <a:r>
              <a:rPr lang="es-BO" dirty="0" err="1" smtClean="0">
                <a:latin typeface="Arial" pitchFamily="34" charset="0"/>
                <a:cs typeface="Arial" pitchFamily="34" charset="0"/>
              </a:rPr>
              <a:t>PON’s</a:t>
            </a:r>
            <a:r>
              <a:rPr lang="es-BO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/>
            <a:r>
              <a:rPr lang="es-BO" dirty="0" smtClean="0">
                <a:latin typeface="Arial" pitchFamily="34" charset="0"/>
                <a:cs typeface="Arial" pitchFamily="34" charset="0"/>
              </a:rPr>
              <a:t>6.	</a:t>
            </a:r>
            <a:r>
              <a:rPr lang="es-BO" dirty="0" smtClean="0">
                <a:latin typeface="Arial" pitchFamily="34" charset="0"/>
                <a:cs typeface="Arial" pitchFamily="34" charset="0"/>
              </a:rPr>
              <a:t>El </a:t>
            </a:r>
            <a:r>
              <a:rPr lang="es-BO" dirty="0" smtClean="0">
                <a:latin typeface="Arial" pitchFamily="34" charset="0"/>
                <a:cs typeface="Arial" pitchFamily="34" charset="0"/>
              </a:rPr>
              <a:t>PE</a:t>
            </a:r>
            <a:r>
              <a:rPr lang="es-BO" dirty="0" smtClean="0">
                <a:latin typeface="Arial" pitchFamily="34" charset="0"/>
                <a:cs typeface="Arial" pitchFamily="34" charset="0"/>
              </a:rPr>
              <a:t>. A determinar por el jefe de asalto</a:t>
            </a:r>
            <a:endParaRPr lang="es-BO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BO" dirty="0" smtClean="0">
                <a:latin typeface="Arial" pitchFamily="34" charset="0"/>
                <a:cs typeface="Arial" pitchFamily="34" charset="0"/>
              </a:rPr>
              <a:t>7.	Máxima coordinación entre los equipos para evitar el 	</a:t>
            </a:r>
            <a:r>
              <a:rPr lang="es-BO" dirty="0" smtClean="0">
                <a:latin typeface="Arial" pitchFamily="34" charset="0"/>
                <a:cs typeface="Arial" pitchFamily="34" charset="0"/>
              </a:rPr>
              <a:t>fratricidio y daños colaterales.</a:t>
            </a:r>
            <a:endParaRPr lang="es-BO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s-BO" dirty="0" smtClean="0">
                <a:latin typeface="Arial" pitchFamily="34" charset="0"/>
                <a:cs typeface="Arial" pitchFamily="34" charset="0"/>
              </a:rPr>
              <a:t>9.	</a:t>
            </a:r>
            <a:r>
              <a:rPr lang="es-BO" dirty="0" smtClean="0">
                <a:latin typeface="Arial" pitchFamily="34" charset="0"/>
                <a:cs typeface="Arial" pitchFamily="34" charset="0"/>
              </a:rPr>
              <a:t>En el </a:t>
            </a:r>
            <a:r>
              <a:rPr lang="es-BO" dirty="0" err="1" smtClean="0">
                <a:latin typeface="Arial" pitchFamily="34" charset="0"/>
                <a:cs typeface="Arial" pitchFamily="34" charset="0"/>
              </a:rPr>
              <a:t>AO</a:t>
            </a:r>
            <a:r>
              <a:rPr lang="es-BO" dirty="0" smtClean="0">
                <a:latin typeface="Arial" pitchFamily="34" charset="0"/>
                <a:cs typeface="Arial" pitchFamily="34" charset="0"/>
              </a:rPr>
              <a:t>. </a:t>
            </a:r>
            <a:r>
              <a:rPr lang="es-BO" dirty="0" smtClean="0">
                <a:latin typeface="Arial" pitchFamily="34" charset="0"/>
                <a:cs typeface="Arial" pitchFamily="34" charset="0"/>
              </a:rPr>
              <a:t>Evitar </a:t>
            </a:r>
            <a:r>
              <a:rPr lang="es-BO" dirty="0" smtClean="0">
                <a:latin typeface="Arial" pitchFamily="34" charset="0"/>
                <a:cs typeface="Arial" pitchFamily="34" charset="0"/>
              </a:rPr>
              <a:t>al máximo el contacto visual con pobladores de la 	zona para </a:t>
            </a:r>
            <a:r>
              <a:rPr lang="es-BO" dirty="0" smtClean="0">
                <a:latin typeface="Arial" pitchFamily="34" charset="0"/>
                <a:cs typeface="Arial" pitchFamily="34" charset="0"/>
              </a:rPr>
              <a:t>mantener </a:t>
            </a:r>
            <a:r>
              <a:rPr lang="es-BO" dirty="0" smtClean="0">
                <a:latin typeface="Arial" pitchFamily="34" charset="0"/>
                <a:cs typeface="Arial" pitchFamily="34" charset="0"/>
              </a:rPr>
              <a:t>el secreto de nuestras operaciones.</a:t>
            </a:r>
          </a:p>
          <a:p>
            <a:pPr algn="just"/>
            <a:r>
              <a:rPr lang="es-BO" dirty="0" smtClean="0">
                <a:latin typeface="Arial" pitchFamily="34" charset="0"/>
                <a:cs typeface="Arial" pitchFamily="34" charset="0"/>
              </a:rPr>
              <a:t>10.	Todo elemento Terrorista y material capturado deberá ser 	entregado al escalón superior para su respectivo análisis 	por especialistas de inteligencia.</a:t>
            </a:r>
          </a:p>
          <a:p>
            <a:endParaRPr lang="es-B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ordArt 60" descr="Imagen3"/>
          <p:cNvSpPr>
            <a:spLocks noChangeArrowheads="1" noChangeShapeType="1" noTextEdit="1"/>
          </p:cNvSpPr>
          <p:nvPr/>
        </p:nvSpPr>
        <p:spPr bwMode="auto">
          <a:xfrm>
            <a:off x="428596" y="5572140"/>
            <a:ext cx="7786742" cy="1000108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66"/>
              </a:avLst>
            </a:prstTxWarp>
          </a:bodyPr>
          <a:lstStyle/>
          <a:p>
            <a:pPr algn="ctr"/>
            <a:r>
              <a:rPr lang="es-CR" sz="3600" kern="10" dirty="0" smtClean="0">
                <a:ln w="9525">
                  <a:noFill/>
                  <a:round/>
                  <a:headEnd/>
                  <a:tailEnd/>
                </a:ln>
                <a:blipFill dpi="0" rotWithShape="0">
                  <a:blip r:embed="rId2"/>
                  <a:srcRect/>
                  <a:stretch>
                    <a:fillRect/>
                  </a:stretch>
                </a:blipFill>
                <a:effectLst>
                  <a:outerShdw dist="35921" dir="2700000" algn="ctr" rotWithShape="0">
                    <a:srgbClr val="A57D0D">
                      <a:alpha val="80000"/>
                    </a:srgbClr>
                  </a:outerShdw>
                </a:effectLst>
                <a:latin typeface="Goudy Stout"/>
              </a:rPr>
              <a:t>PREGUNTAS??...........</a:t>
            </a:r>
            <a:endParaRPr lang="es-BO" sz="3600" kern="10" dirty="0">
              <a:ln w="9525">
                <a:noFill/>
                <a:round/>
                <a:headEnd/>
                <a:tailEnd/>
              </a:ln>
              <a:blipFill dpi="0" rotWithShape="0">
                <a:blip r:embed="rId2"/>
                <a:srcRect/>
                <a:stretch>
                  <a:fillRect/>
                </a:stretch>
              </a:blipFill>
              <a:effectLst>
                <a:outerShdw dist="35921" dir="2700000" algn="ctr" rotWithShape="0">
                  <a:srgbClr val="A57D0D">
                    <a:alpha val="80000"/>
                  </a:srgbClr>
                </a:outerShdw>
              </a:effectLst>
              <a:latin typeface="Goudy Stout"/>
            </a:endParaRPr>
          </a:p>
        </p:txBody>
      </p:sp>
      <p:pic>
        <p:nvPicPr>
          <p:cNvPr id="5" name="4 Imagen" descr="F1.bm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488" y="0"/>
            <a:ext cx="3214710" cy="55007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81</TotalTime>
  <Words>41</Words>
  <Application>Microsoft Office PowerPoint</Application>
  <PresentationFormat>Presentación en pantalla (4:3)</PresentationFormat>
  <Paragraphs>77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6" baseType="lpstr">
      <vt:lpstr>Flujo</vt:lpstr>
      <vt:lpstr>Diapositiva 1</vt:lpstr>
      <vt:lpstr>Diapositiva 2</vt:lpstr>
      <vt:lpstr>Diapositiva 3</vt:lpstr>
      <vt:lpstr>C. Instrucciones de Coordinación. </vt:lpstr>
      <vt:lpstr>Diapositiva 5</vt:lpstr>
    </vt:vector>
  </TitlesOfParts>
  <Company>SoftPack©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Pablo Amurrio</dc:creator>
  <cp:lastModifiedBy>Pablo Amurrio</cp:lastModifiedBy>
  <cp:revision>10</cp:revision>
  <dcterms:created xsi:type="dcterms:W3CDTF">2010-07-05T02:22:12Z</dcterms:created>
  <dcterms:modified xsi:type="dcterms:W3CDTF">2010-07-05T11:46:10Z</dcterms:modified>
</cp:coreProperties>
</file>