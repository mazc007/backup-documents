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46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C35DF9C3-7469-444A-81B8-340EB1FF7EE8}" type="datetimeFigureOut">
              <a:rPr lang="es-ES" smtClean="0"/>
              <a:t>04/07/2014</a:t>
            </a:fld>
            <a:endParaRPr lang="es-E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E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F227172-B919-450A-814B-E85D4E84B8C6}" type="slidenum">
              <a:rPr lang="es-ES" smtClean="0"/>
              <a:t>‹Nº›</a:t>
            </a:fld>
            <a:endParaRPr lang="es-E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C35DF9C3-7469-444A-81B8-340EB1FF7EE8}" type="datetimeFigureOut">
              <a:rPr lang="es-ES" smtClean="0"/>
              <a:t>04/07/2014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F227172-B919-450A-814B-E85D4E84B8C6}" type="slidenum">
              <a:rPr lang="es-ES" smtClean="0"/>
              <a:t>‹Nº›</a:t>
            </a:fld>
            <a:endParaRPr lang="es-ES"/>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C35DF9C3-7469-444A-81B8-340EB1FF7EE8}" type="datetimeFigureOut">
              <a:rPr lang="es-ES" smtClean="0"/>
              <a:t>04/07/2014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F227172-B919-450A-814B-E85D4E84B8C6}"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35DF9C3-7469-444A-81B8-340EB1FF7EE8}" type="datetimeFigureOut">
              <a:rPr lang="es-ES" smtClean="0"/>
              <a:t>04/07/2014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F227172-B919-450A-814B-E85D4E84B8C6}" type="slidenum">
              <a:rPr lang="es-ES" smtClean="0"/>
              <a:t>‹Nº›</a:t>
            </a:fld>
            <a:endParaRPr lang="es-ES"/>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C35DF9C3-7469-444A-81B8-340EB1FF7EE8}" type="datetimeFigureOut">
              <a:rPr lang="es-ES" smtClean="0"/>
              <a:t>04/07/2014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BF227172-B919-450A-814B-E85D4E84B8C6}" type="slidenum">
              <a:rPr lang="es-ES" smtClean="0"/>
              <a:t>‹Nº›</a:t>
            </a:fld>
            <a:endParaRPr lang="es-E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C35DF9C3-7469-444A-81B8-340EB1FF7EE8}" type="datetimeFigureOut">
              <a:rPr lang="es-ES" smtClean="0"/>
              <a:t>04/07/2014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BF227172-B919-450A-814B-E85D4E84B8C6}" type="slidenum">
              <a:rPr lang="es-ES" smtClean="0"/>
              <a:t>‹Nº›</a:t>
            </a:fld>
            <a:endParaRPr lang="es-E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DF9C3-7469-444A-81B8-340EB1FF7EE8}" type="datetimeFigureOut">
              <a:rPr lang="es-ES" smtClean="0"/>
              <a:t>04/07/2014</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BF227172-B919-450A-814B-E85D4E84B8C6}"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C35DF9C3-7469-444A-81B8-340EB1FF7EE8}" type="datetimeFigureOut">
              <a:rPr lang="es-ES" smtClean="0"/>
              <a:t>04/07/2014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F227172-B919-450A-814B-E85D4E84B8C6}"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C35DF9C3-7469-444A-81B8-340EB1FF7EE8}" type="datetimeFigureOut">
              <a:rPr lang="es-ES" smtClean="0"/>
              <a:t>04/07/2014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F227172-B919-450A-814B-E85D4E84B8C6}"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C35DF9C3-7469-444A-81B8-340EB1FF7EE8}" type="datetimeFigureOut">
              <a:rPr lang="es-ES" smtClean="0"/>
              <a:t>04/07/2014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F227172-B919-450A-814B-E85D4E84B8C6}" type="slidenum">
              <a:rPr lang="es-ES" smtClean="0"/>
              <a:t>‹Nº›</a:t>
            </a:fld>
            <a:endParaRPr lang="es-E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C35DF9C3-7469-444A-81B8-340EB1FF7EE8}" type="datetimeFigureOut">
              <a:rPr lang="es-ES" smtClean="0"/>
              <a:t>04/07/2014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F227172-B919-450A-814B-E85D4E84B8C6}" type="slidenum">
              <a:rPr lang="es-ES" smtClean="0"/>
              <a:t>‹Nº›</a:t>
            </a:fld>
            <a:endParaRPr lang="es-E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C35DF9C3-7469-444A-81B8-340EB1FF7EE8}" type="datetimeFigureOut">
              <a:rPr lang="es-ES" smtClean="0"/>
              <a:t>04/07/2014</a:t>
            </a:fld>
            <a:endParaRPr lang="es-E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E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F227172-B919-450A-814B-E85D4E84B8C6}" type="slidenum">
              <a:rPr lang="es-ES" smtClean="0"/>
              <a:t>‹Nº›</a:t>
            </a:fld>
            <a:endParaRPr lang="es-ES"/>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sz="4000" dirty="0" smtClean="0"/>
              <a:t>PROPUESTAS FRENTE A LAS CONSIDERACIONES PREVIAS DE CALIDAD </a:t>
            </a:r>
            <a:endParaRPr lang="es-ES" sz="4000" dirty="0"/>
          </a:p>
        </p:txBody>
      </p:sp>
      <p:sp>
        <p:nvSpPr>
          <p:cNvPr id="3" name="2 Subtítulo"/>
          <p:cNvSpPr>
            <a:spLocks noGrp="1"/>
          </p:cNvSpPr>
          <p:nvPr>
            <p:ph type="subTitle" idx="1"/>
          </p:nvPr>
        </p:nvSpPr>
        <p:spPr/>
        <p:txBody>
          <a:bodyPr/>
          <a:lstStyle/>
          <a:p>
            <a:pPr algn="r"/>
            <a:r>
              <a:rPr lang="es-ES" sz="1600" dirty="0" smtClean="0"/>
              <a:t>PARTICIPANTES . LIC.ROLANDO LIMACHI F.</a:t>
            </a:r>
          </a:p>
          <a:p>
            <a:pPr algn="r"/>
            <a:r>
              <a:rPr lang="es-ES" sz="1600" dirty="0" smtClean="0"/>
              <a:t>LIC. LILIAN ZAPATA C.</a:t>
            </a:r>
          </a:p>
          <a:p>
            <a:pPr algn="r"/>
            <a:r>
              <a:rPr lang="es-ES" sz="1600" dirty="0" smtClean="0"/>
              <a:t>LIC . MARIBEL CRUZ M.</a:t>
            </a:r>
            <a:endParaRPr lang="es-ES" sz="1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293096"/>
            <a:ext cx="2771775"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9945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a:bodyPr>
          <a:lstStyle/>
          <a:p>
            <a:pPr algn="just"/>
            <a:r>
              <a:rPr lang="es-BO" dirty="0" smtClean="0"/>
              <a:t>La calidad es una herramienta básica para una propiedad inherente </a:t>
            </a:r>
            <a:r>
              <a:rPr lang="es-BO" dirty="0"/>
              <a:t>de cualquier cosa que permite que la misma sea comparada con cualquier otra de su misma especie. La palabra calidad tiene múltiples significados. De forma básica, se refiere al conjunto de propiedades inherentes a un objeto que le confieren capacidad para satisfacer </a:t>
            </a:r>
            <a:r>
              <a:rPr lang="es-BO" dirty="0" smtClean="0"/>
              <a:t>necesidades </a:t>
            </a:r>
            <a:r>
              <a:rPr lang="es-BO" dirty="0"/>
              <a:t>implícitas o explícitas. </a:t>
            </a:r>
            <a:endParaRPr lang="es-ES" dirty="0"/>
          </a:p>
        </p:txBody>
      </p:sp>
      <p:sp>
        <p:nvSpPr>
          <p:cNvPr id="3" name="2 Título"/>
          <p:cNvSpPr>
            <a:spLocks noGrp="1"/>
          </p:cNvSpPr>
          <p:nvPr>
            <p:ph type="title"/>
          </p:nvPr>
        </p:nvSpPr>
        <p:spPr/>
        <p:txBody>
          <a:bodyPr/>
          <a:lstStyle/>
          <a:p>
            <a:r>
              <a:rPr lang="es-ES" dirty="0"/>
              <a:t>DEFINICION:</a:t>
            </a:r>
          </a:p>
        </p:txBody>
      </p:sp>
      <p:pic>
        <p:nvPicPr>
          <p:cNvPr id="2050" name="Picture 2" descr="https://encrypted-tbn1.gstatic.com/images?q=tbn:ANd9GcTIozte2pUK9hOSr0JQWwdAmEolOfkJ1-QRsxTfmCGo2hfmvuRBk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4869161"/>
            <a:ext cx="3096344" cy="1656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705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	Brindar, informar, orientar a los clientes o pacientes que asisten a las instituciones de salud con el fin de ocasionar aglomeración o peleas entre los mismos. </a:t>
            </a:r>
          </a:p>
        </p:txBody>
      </p:sp>
      <p:sp>
        <p:nvSpPr>
          <p:cNvPr id="3" name="2 Título"/>
          <p:cNvSpPr>
            <a:spLocks noGrp="1"/>
          </p:cNvSpPr>
          <p:nvPr>
            <p:ph type="title"/>
          </p:nvPr>
        </p:nvSpPr>
        <p:spPr/>
        <p:txBody>
          <a:bodyPr/>
          <a:lstStyle/>
          <a:p>
            <a:r>
              <a:rPr lang="es-ES" dirty="0"/>
              <a:t>PROPUESTAS: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005064"/>
            <a:ext cx="3528392"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5149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lnSpcReduction="10000"/>
          </a:bodyPr>
          <a:lstStyle/>
          <a:p>
            <a:endParaRPr lang="es-ES" dirty="0" smtClean="0"/>
          </a:p>
          <a:p>
            <a:endParaRPr lang="es-ES" dirty="0"/>
          </a:p>
          <a:p>
            <a:endParaRPr lang="es-ES" dirty="0" smtClean="0"/>
          </a:p>
          <a:p>
            <a:endParaRPr lang="es-ES" dirty="0"/>
          </a:p>
          <a:p>
            <a:endParaRPr lang="es-ES" dirty="0" smtClean="0"/>
          </a:p>
          <a:p>
            <a:r>
              <a:rPr lang="es-ES" dirty="0"/>
              <a:t>•	Elaborar un inventario todas las instituciones de salud tanto de primer, segundo y tercer nivel, pública como privadas, a si se verifica si una institución tiene todos los materiales necesarios para la atención del cliente o paciente</a:t>
            </a:r>
            <a:r>
              <a:rPr lang="es-ES" dirty="0" smtClean="0"/>
              <a:t>.</a:t>
            </a:r>
            <a:endParaRPr lang="es-ES" dirty="0"/>
          </a:p>
          <a:p>
            <a:endParaRPr lang="es-ES" dirty="0" smtClean="0"/>
          </a:p>
          <a:p>
            <a:endParaRPr lang="es-ES" dirty="0"/>
          </a:p>
        </p:txBody>
      </p:sp>
      <p:sp>
        <p:nvSpPr>
          <p:cNvPr id="3" name="2 Título"/>
          <p:cNvSpPr>
            <a:spLocks noGrp="1"/>
          </p:cNvSpPr>
          <p:nvPr>
            <p:ph type="title"/>
          </p:nvPr>
        </p:nvSpPr>
        <p:spPr/>
        <p:txBody>
          <a:bodyPr/>
          <a:lstStyle/>
          <a:p>
            <a:r>
              <a:rPr lang="es-ES" dirty="0"/>
              <a:t>•</a:t>
            </a:r>
            <a:r>
              <a:rPr lang="es-ES" sz="3200" dirty="0"/>
              <a:t>	Identificar cada consultorio con su respectivo nombre de especialidades y número, el mismo tiene que ser visible.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2348880"/>
            <a:ext cx="3744416"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7450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ES" dirty="0" smtClean="0"/>
          </a:p>
          <a:p>
            <a:endParaRPr lang="es-ES" dirty="0"/>
          </a:p>
          <a:p>
            <a:endParaRPr lang="es-ES" dirty="0" smtClean="0"/>
          </a:p>
          <a:p>
            <a:endParaRPr lang="es-ES" dirty="0"/>
          </a:p>
          <a:p>
            <a:endParaRPr lang="es-ES" dirty="0" smtClean="0"/>
          </a:p>
          <a:p>
            <a:r>
              <a:rPr lang="es-ES" dirty="0"/>
              <a:t>	. Realizar un censo del personal de salud de cada institución para luego hacer un cuadro comparativo para verificar si hay déficit del personal de salud en las diferentes instituciones</a:t>
            </a:r>
          </a:p>
        </p:txBody>
      </p:sp>
      <p:sp>
        <p:nvSpPr>
          <p:cNvPr id="3" name="2 Título"/>
          <p:cNvSpPr>
            <a:spLocks noGrp="1"/>
          </p:cNvSpPr>
          <p:nvPr>
            <p:ph type="title"/>
          </p:nvPr>
        </p:nvSpPr>
        <p:spPr/>
        <p:txBody>
          <a:bodyPr/>
          <a:lstStyle/>
          <a:p>
            <a:r>
              <a:rPr lang="es-ES" dirty="0"/>
              <a:t>•	</a:t>
            </a:r>
            <a:r>
              <a:rPr lang="es-ES" sz="3200" dirty="0" smtClean="0"/>
              <a:t>Gestionar recursos materiales en cada institución con </a:t>
            </a:r>
            <a:r>
              <a:rPr lang="es-ES" sz="3200" dirty="0"/>
              <a:t>el fin de una calidad óptima hacia al paciente o </a:t>
            </a:r>
            <a:r>
              <a:rPr lang="es-ES" sz="3200" dirty="0" smtClean="0"/>
              <a:t>cliente</a:t>
            </a:r>
            <a:r>
              <a:rPr lang="es-ES" sz="3200" dirty="0"/>
              <a:t>.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2276872"/>
            <a:ext cx="3096344" cy="190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Rectángulo"/>
          <p:cNvSpPr/>
          <p:nvPr/>
        </p:nvSpPr>
        <p:spPr>
          <a:xfrm>
            <a:off x="2286000" y="2690336"/>
            <a:ext cx="4572000" cy="1477328"/>
          </a:xfrm>
          <a:prstGeom prst="rect">
            <a:avLst/>
          </a:prstGeom>
        </p:spPr>
        <p:txBody>
          <a:bodyPr>
            <a:spAutoFit/>
          </a:bodyPr>
          <a:lstStyle/>
          <a:p>
            <a:r>
              <a:rPr lang="es-ES" dirty="0" smtClean="0"/>
              <a:t>•	. Realizar un censo del personal de salud de cada institución para luego hacer un cuadro comparativo para verificar si hay déficit del personal de salud en las diferentes instituciones</a:t>
            </a:r>
            <a:endParaRPr lang="es-ES" dirty="0"/>
          </a:p>
        </p:txBody>
      </p:sp>
    </p:spTree>
    <p:extLst>
      <p:ext uri="{BB962C8B-B14F-4D97-AF65-F5344CB8AC3E}">
        <p14:creationId xmlns:p14="http://schemas.microsoft.com/office/powerpoint/2010/main" val="338182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ES" dirty="0" smtClean="0"/>
          </a:p>
          <a:p>
            <a:endParaRPr lang="es-ES" dirty="0"/>
          </a:p>
          <a:p>
            <a:endParaRPr lang="es-ES" dirty="0" smtClean="0"/>
          </a:p>
          <a:p>
            <a:endParaRPr lang="es-ES" dirty="0"/>
          </a:p>
          <a:p>
            <a:endParaRPr lang="es-ES" dirty="0" smtClean="0"/>
          </a:p>
          <a:p>
            <a:endParaRPr lang="es-ES" dirty="0"/>
          </a:p>
          <a:p>
            <a:r>
              <a:rPr lang="es-ES" dirty="0"/>
              <a:t>•	Verificar las cargas horarias tanto del personal de contrato y personal con Ítem. Con el fin de regularizar los horario de trabajo. </a:t>
            </a:r>
          </a:p>
        </p:txBody>
      </p:sp>
      <p:sp>
        <p:nvSpPr>
          <p:cNvPr id="3" name="2 Título"/>
          <p:cNvSpPr>
            <a:spLocks noGrp="1"/>
          </p:cNvSpPr>
          <p:nvPr>
            <p:ph type="title"/>
          </p:nvPr>
        </p:nvSpPr>
        <p:spPr/>
        <p:txBody>
          <a:bodyPr/>
          <a:lstStyle/>
          <a:p>
            <a:r>
              <a:rPr lang="es-ES" dirty="0"/>
              <a:t>•	</a:t>
            </a:r>
            <a:r>
              <a:rPr lang="es-ES" sz="3200" dirty="0"/>
              <a:t>Brindar</a:t>
            </a:r>
            <a:r>
              <a:rPr lang="es-ES" dirty="0"/>
              <a:t> </a:t>
            </a:r>
            <a:r>
              <a:rPr lang="es-ES" sz="3200" dirty="0"/>
              <a:t>una atención de salud sin ningún tipo de discriminación hacia los clientes o pacientes.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3315" y="2152650"/>
            <a:ext cx="3265714"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0692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lnSpcReduction="10000"/>
          </a:bodyPr>
          <a:lstStyle/>
          <a:p>
            <a:r>
              <a:rPr lang="es-ES" dirty="0" smtClean="0"/>
              <a:t>Uno de </a:t>
            </a:r>
            <a:r>
              <a:rPr lang="es-ES" dirty="0"/>
              <a:t>los indicadores de la calidad de un servicio de salud es el tiempo que los pacientes tienen que esperar para recibir una atención programada, por ejemplo, una intervención quirúrgica. Para mantener este tiempo de espera dentro de unos límites aceptables eran frecuentes los programas especiales, conocidos como “las peonadas”. </a:t>
            </a:r>
            <a:r>
              <a:rPr lang="es-ES" dirty="0" smtClean="0"/>
              <a:t>Actualmente </a:t>
            </a:r>
            <a:r>
              <a:rPr lang="es-ES" dirty="0"/>
              <a:t>una de las consecuencias del aumento de la jornada es la intención de que se reduzcan y que las horas que antes eran consideradas peonadas extras ahora pasen parcialmente a ser parte de la nueva jornada. </a:t>
            </a:r>
          </a:p>
        </p:txBody>
      </p:sp>
      <p:sp>
        <p:nvSpPr>
          <p:cNvPr id="3" name="2 Título"/>
          <p:cNvSpPr>
            <a:spLocks noGrp="1"/>
          </p:cNvSpPr>
          <p:nvPr>
            <p:ph type="title"/>
          </p:nvPr>
        </p:nvSpPr>
        <p:spPr/>
        <p:txBody>
          <a:bodyPr/>
          <a:lstStyle/>
          <a:p>
            <a:r>
              <a:rPr lang="es-ES" sz="3200" dirty="0"/>
              <a:t>LOS PROGRAMAS ESPECIALES EN ATENCIÓN ESPECIALIZADA.</a:t>
            </a:r>
            <a:r>
              <a:rPr lang="es-ES" dirty="0"/>
              <a:t>	</a:t>
            </a:r>
          </a:p>
        </p:txBody>
      </p:sp>
    </p:spTree>
    <p:extLst>
      <p:ext uri="{BB962C8B-B14F-4D97-AF65-F5344CB8AC3E}">
        <p14:creationId xmlns:p14="http://schemas.microsoft.com/office/powerpoint/2010/main" val="2617110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La Atención Continuada a la población en las zonas básicas de salud durante las 24 horas del día es una de las características de la Atención Primaria. Desde el punto de vista de la gestión asistencial uno de los objetivos de la Administración es definir qué Puntos de Atención Continuada (PAC) considera necesarios o, incluso en estos momentos de crisis económica, la pregunta podría ser, qué PAC podemos mantener para seguir ofreciendo la mejor Atención Primaria posible. </a:t>
            </a:r>
          </a:p>
        </p:txBody>
      </p:sp>
      <p:sp>
        <p:nvSpPr>
          <p:cNvPr id="3" name="2 Título"/>
          <p:cNvSpPr>
            <a:spLocks noGrp="1"/>
          </p:cNvSpPr>
          <p:nvPr>
            <p:ph type="title"/>
          </p:nvPr>
        </p:nvSpPr>
        <p:spPr/>
        <p:txBody>
          <a:bodyPr/>
          <a:lstStyle/>
          <a:p>
            <a:r>
              <a:rPr lang="es-ES" sz="3200" dirty="0"/>
              <a:t>LA JORNADA COMPLEMENTARIA EN ATENCION PRIMARIA</a:t>
            </a:r>
          </a:p>
        </p:txBody>
      </p:sp>
    </p:spTree>
    <p:extLst>
      <p:ext uri="{BB962C8B-B14F-4D97-AF65-F5344CB8AC3E}">
        <p14:creationId xmlns:p14="http://schemas.microsoft.com/office/powerpoint/2010/main" val="357519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fontScale="85000" lnSpcReduction="10000"/>
          </a:bodyPr>
          <a:lstStyle/>
          <a:p>
            <a:r>
              <a:rPr lang="es-ES" dirty="0"/>
              <a:t>Algunos aspectos que han caracterizado la gestión sanitaria de la Administración en relación con la organización de la Atención Continuada son el incumplimiento de la legislación vigente en materia de jornada máxima y distribución horaria de la misma, la discriminación de unos profesionales con respecto a otros en la asignación de las “guardias” y una gestión ineficiente de los recursos favoreciendo el pluriempleo público de los profesionales de la plantilla en detrimento de los demandantes de empleo.</a:t>
            </a:r>
          </a:p>
          <a:p>
            <a:r>
              <a:rPr lang="es-ES" dirty="0"/>
              <a:t>No hay ninguna duda de que la Ley considera obligatorio para todos descansar 12 horas entre dos jornadas de trabajo y nos impide a todos jornadas de más de 24 horas seguidas.</a:t>
            </a:r>
          </a:p>
          <a:p>
            <a:endParaRPr lang="es-ES" dirty="0"/>
          </a:p>
        </p:txBody>
      </p:sp>
      <p:sp>
        <p:nvSpPr>
          <p:cNvPr id="3" name="2 Título"/>
          <p:cNvSpPr>
            <a:spLocks noGrp="1"/>
          </p:cNvSpPr>
          <p:nvPr>
            <p:ph type="title"/>
          </p:nvPr>
        </p:nvSpPr>
        <p:spPr/>
        <p:txBody>
          <a:bodyPr/>
          <a:lstStyle/>
          <a:p>
            <a:r>
              <a:rPr lang="es-ES" sz="3200" dirty="0"/>
              <a:t>PROPUESTA DE CREACIÓN DE EMPLEO EN LA SANIDAD.</a:t>
            </a:r>
          </a:p>
        </p:txBody>
      </p:sp>
    </p:spTree>
    <p:extLst>
      <p:ext uri="{BB962C8B-B14F-4D97-AF65-F5344CB8AC3E}">
        <p14:creationId xmlns:p14="http://schemas.microsoft.com/office/powerpoint/2010/main" val="1326868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Dice un filósofo: “…Yo creo que desde el punto de vista ético no existe ninguna simetría entre el sufrimiento y la felicidad. En mi opinión, el sufrimiento humano formula una llamada de auxilio directa, inmediata mientras que no existe esta urgencia en el sentido de aumentar la felicidad de los individuos que se encuentran en una situación tolerable. Desde el punto de vista moral no se puede comparar el dolor de una persona con el bienestar de otra. </a:t>
            </a:r>
          </a:p>
        </p:txBody>
      </p:sp>
      <p:sp>
        <p:nvSpPr>
          <p:cNvPr id="3" name="2 Título"/>
          <p:cNvSpPr>
            <a:spLocks noGrp="1"/>
          </p:cNvSpPr>
          <p:nvPr>
            <p:ph type="title"/>
          </p:nvPr>
        </p:nvSpPr>
        <p:spPr/>
        <p:txBody>
          <a:bodyPr/>
          <a:lstStyle/>
          <a:p>
            <a:r>
              <a:rPr lang="es-ES" sz="3200" dirty="0"/>
              <a:t>LA EQUIDAD COMO SIMBOLO DE ETICA DEMOCRATICA:</a:t>
            </a:r>
          </a:p>
        </p:txBody>
      </p:sp>
    </p:spTree>
    <p:extLst>
      <p:ext uri="{BB962C8B-B14F-4D97-AF65-F5344CB8AC3E}">
        <p14:creationId xmlns:p14="http://schemas.microsoft.com/office/powerpoint/2010/main" val="1282807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Ya que parece demostrado que para la Administración y los agentes sociales no son suficientes para organizar la Atención Continuada ni el cumplimiento de la legislación vigente ni las consideraciones de decencia social y de ética democrática en el reparto equitativo de un bien escaso como es el </a:t>
            </a:r>
            <a:r>
              <a:rPr lang="es-ES" dirty="0" smtClean="0"/>
              <a:t>empleo.</a:t>
            </a:r>
            <a:endParaRPr lang="es-ES" dirty="0"/>
          </a:p>
        </p:txBody>
      </p:sp>
      <p:sp>
        <p:nvSpPr>
          <p:cNvPr id="3" name="2 Título"/>
          <p:cNvSpPr>
            <a:spLocks noGrp="1"/>
          </p:cNvSpPr>
          <p:nvPr>
            <p:ph type="title"/>
          </p:nvPr>
        </p:nvSpPr>
        <p:spPr/>
        <p:txBody>
          <a:bodyPr/>
          <a:lstStyle/>
          <a:p>
            <a:r>
              <a:rPr lang="es-ES" sz="3200" dirty="0"/>
              <a:t>LA EFICIENCIA EN EL GASTO PÚBLICO.</a:t>
            </a:r>
            <a:r>
              <a:rPr lang="es-ES" dirty="0"/>
              <a:t>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4725144"/>
            <a:ext cx="2650232" cy="165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494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Personalmente considero que cumplir la ley, redistribuir el trabajo, gastar con eficiencia los recursos públicos y convertir progresivamente a las Instituciones en agentes activos de la inclusión social son objetivos que hacen decente la acción política</a:t>
            </a:r>
            <a:r>
              <a:rPr lang="es-ES" dirty="0" smtClean="0"/>
              <a:t>.</a:t>
            </a:r>
          </a:p>
          <a:p>
            <a:endParaRPr lang="es-ES" dirty="0"/>
          </a:p>
        </p:txBody>
      </p:sp>
      <p:sp>
        <p:nvSpPr>
          <p:cNvPr id="3" name="2 Título"/>
          <p:cNvSpPr>
            <a:spLocks noGrp="1"/>
          </p:cNvSpPr>
          <p:nvPr>
            <p:ph type="title"/>
          </p:nvPr>
        </p:nvSpPr>
        <p:spPr/>
        <p:txBody>
          <a:bodyPr/>
          <a:lstStyle/>
          <a:p>
            <a:r>
              <a:rPr lang="es-ES" sz="3200" dirty="0"/>
              <a:t>REORGANIZACION DE LA ATENCION CONTINUADA EN EL AREA SANITARIA:</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486" y="4293096"/>
            <a:ext cx="2818808"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8040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a:bodyPr>
          <a:lstStyle/>
          <a:p>
            <a:pPr marL="0" indent="0">
              <a:buNone/>
            </a:pPr>
            <a:endParaRPr lang="es-ES" sz="6000" dirty="0"/>
          </a:p>
        </p:txBody>
      </p:sp>
      <p:sp>
        <p:nvSpPr>
          <p:cNvPr id="3" name="2 Título"/>
          <p:cNvSpPr>
            <a:spLocks noGrp="1"/>
          </p:cNvSpPr>
          <p:nvPr>
            <p:ph type="title"/>
          </p:nvPr>
        </p:nvSpPr>
        <p:spPr/>
        <p:txBody>
          <a:bodyPr/>
          <a:lstStyle/>
          <a:p>
            <a:endParaRPr lang="es-E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196752"/>
            <a:ext cx="5600058" cy="4093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2806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ES" dirty="0"/>
          </a:p>
        </p:txBody>
      </p:sp>
      <p:sp>
        <p:nvSpPr>
          <p:cNvPr id="3" name="2 Título"/>
          <p:cNvSpPr>
            <a:spLocks noGrp="1"/>
          </p:cNvSpPr>
          <p:nvPr>
            <p:ph type="title"/>
          </p:nvPr>
        </p:nvSpPr>
        <p:spPr/>
        <p:txBody>
          <a:bodyPr/>
          <a:lstStyle/>
          <a:p>
            <a:endParaRPr lang="es-ES"/>
          </a:p>
        </p:txBody>
      </p:sp>
    </p:spTree>
    <p:extLst>
      <p:ext uri="{BB962C8B-B14F-4D97-AF65-F5344CB8AC3E}">
        <p14:creationId xmlns:p14="http://schemas.microsoft.com/office/powerpoint/2010/main" val="144744692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rtoné">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75</TotalTime>
  <Words>611</Words>
  <Application>Microsoft Office PowerPoint</Application>
  <PresentationFormat>Presentación en pantalla (4:3)</PresentationFormat>
  <Paragraphs>44</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Cartoné</vt:lpstr>
      <vt:lpstr>PROPUESTAS FRENTE A LAS CONSIDERACIONES PREVIAS DE CALIDAD </vt:lpstr>
      <vt:lpstr>DEFINICION:</vt:lpstr>
      <vt:lpstr>PROPUESTAS:</vt:lpstr>
      <vt:lpstr>• Identificar cada consultorio con su respectivo nombre de especialidades y número, el mismo tiene que ser visible.</vt:lpstr>
      <vt:lpstr>• Gestionar recursos materiales en cada institución con el fin de una calidad óptima hacia al paciente o cliente. </vt:lpstr>
      <vt:lpstr>• Brindar una atención de salud sin ningún tipo de discriminación hacia los clientes o pacientes.</vt:lpstr>
      <vt:lpstr>LOS PROGRAMAS ESPECIALES EN ATENCIÓN ESPECIALIZADA. </vt:lpstr>
      <vt:lpstr>LA JORNADA COMPLEMENTARIA EN ATENCION PRIMARIA</vt:lpstr>
      <vt:lpstr>PROPUESTA DE CREACIÓN DE EMPLEO EN LA SANIDAD.</vt:lpstr>
      <vt:lpstr>LA EQUIDAD COMO SIMBOLO DE ETICA DEMOCRATICA:</vt:lpstr>
      <vt:lpstr>LA EFICIENCIA EN EL GASTO PÚBLICO. </vt:lpstr>
      <vt:lpstr>REORGANIZACION DE LA ATENCION CONTINUADA EN EL AREA SANITARIA:</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PROPUESTAS FRENTE A LAS CONSIDERACIONES PREVIAS DE CALIDAD</dc:title>
  <dc:creator>PC 1</dc:creator>
  <cp:lastModifiedBy>PC 1</cp:lastModifiedBy>
  <cp:revision>8</cp:revision>
  <dcterms:created xsi:type="dcterms:W3CDTF">2014-07-05T01:31:42Z</dcterms:created>
  <dcterms:modified xsi:type="dcterms:W3CDTF">2014-07-05T02:47:31Z</dcterms:modified>
</cp:coreProperties>
</file>