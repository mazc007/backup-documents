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702" y="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6027A291-894F-4D3D-87A3-1A4441CC193A}" type="datetimeFigureOut">
              <a:rPr lang="es-BO" smtClean="0"/>
              <a:t>30/08/2014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E8759890-74B0-42C7-98DF-8D02985C462A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3431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764704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s-PE" sz="2700" b="1" i="1" dirty="0"/>
              <a:t>ATENCIÓN DE ENFERMERÍA A PACIENTES CON CANCER DE PULMON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673424"/>
            <a:ext cx="7992888" cy="5184576"/>
          </a:xfrm>
        </p:spPr>
        <p:txBody>
          <a:bodyPr/>
          <a:lstStyle/>
          <a:p>
            <a:r>
              <a:rPr lang="es-PE" b="1" i="1" dirty="0"/>
              <a:t>VALORACION INICIAL DEL PACIENTE CON CANCER PULMONAR</a:t>
            </a:r>
            <a:endParaRPr lang="es-BO" dirty="0"/>
          </a:p>
          <a:p>
            <a:pPr lvl="0"/>
            <a:r>
              <a:rPr lang="es-PE" b="1" dirty="0"/>
              <a:t>Limpieza ineficaz de las vías aéreas: </a:t>
            </a:r>
            <a:r>
              <a:rPr lang="es-PE" dirty="0"/>
              <a:t>Estado en el que el individuo es incapaz de eliminar las secreciones u obstrucciones del tracto respiratorio para mantener la permeabilidad de las Vías Aéreas.</a:t>
            </a:r>
            <a:endParaRPr lang="es-BO" dirty="0"/>
          </a:p>
          <a:p>
            <a:r>
              <a:rPr lang="es-PE" b="1" i="1" dirty="0"/>
              <a:t>Objetivo:</a:t>
            </a:r>
            <a:r>
              <a:rPr lang="es-PE" dirty="0"/>
              <a:t> Conseguir la máxima permeabilidad de las vías </a:t>
            </a:r>
            <a:r>
              <a:rPr lang="es-PE" dirty="0" smtClean="0"/>
              <a:t>aéreas</a:t>
            </a:r>
          </a:p>
          <a:p>
            <a:endParaRPr lang="es-BO" dirty="0"/>
          </a:p>
          <a:p>
            <a:endParaRPr lang="es-BO" dirty="0"/>
          </a:p>
        </p:txBody>
      </p:sp>
      <p:pic>
        <p:nvPicPr>
          <p:cNvPr id="1025" name="Picture 1" descr="C:\Users\LILI\Pictures\pulmon\broncoscopia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819038"/>
            <a:ext cx="4392488" cy="172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80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967065"/>
              </p:ext>
            </p:extLst>
          </p:nvPr>
        </p:nvGraphicFramePr>
        <p:xfrm>
          <a:off x="539552" y="404664"/>
          <a:ext cx="8136903" cy="63279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5957"/>
                <a:gridCol w="6760946"/>
              </a:tblGrid>
              <a:tr h="429088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800" dirty="0">
                          <a:effectLst/>
                        </a:rPr>
                        <a:t>Intervenciones</a:t>
                      </a:r>
                      <a:endParaRPr lang="es-BO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910432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800" dirty="0">
                          <a:effectLst/>
                        </a:rPr>
                        <a:t>Vigilancia: Recopilación, interpretación y síntesis objetiva, continuada de los datos del paciente para la toma de decisiones clínicas.</a:t>
                      </a:r>
                      <a:endParaRPr lang="es-BO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7987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Actividades:</a:t>
                      </a:r>
                      <a:endParaRPr lang="es-BO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Valorar las características de las secreciones: cantidad, color, consistencia, olor.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Anotar la hemoptisis.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Vigilar si hay infección, si procede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Notificar al medico los cambios importantes.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Observar si aumenta la intranquilidad, ansiedad o falta de aire.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Vigilar la frecuencia, ritmo, profundidad y esfuerzo de las respiraciones.</a:t>
                      </a:r>
                      <a:endParaRPr lang="es-BO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910432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800" dirty="0">
                          <a:effectLst/>
                        </a:rPr>
                        <a:t>Manejo de líquidos: Mantener el equilibrio de líquidos y prevenir las complicaciones derivadas de los niveles de líquidos anormales o no deseados.</a:t>
                      </a:r>
                      <a:endParaRPr lang="es-BO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66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667314"/>
              </p:ext>
            </p:extLst>
          </p:nvPr>
        </p:nvGraphicFramePr>
        <p:xfrm>
          <a:off x="539552" y="332656"/>
          <a:ext cx="8136904" cy="63845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5957"/>
                <a:gridCol w="6760947"/>
              </a:tblGrid>
              <a:tr h="27408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Actividades: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Valorar el estado de hidratación del paciente: turgencia de la piel, mucosas, lengua, ingesta y excreta en 24 horas.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Aconsejar el incremento de la ingesta de líquidos hasta 1,5 – 2 litros / </a:t>
                      </a:r>
                      <a:r>
                        <a:rPr lang="es-PE" sz="1600" dirty="0" err="1">
                          <a:effectLst/>
                        </a:rPr>
                        <a:t>dia</a:t>
                      </a:r>
                      <a:r>
                        <a:rPr lang="es-PE" sz="1600" dirty="0">
                          <a:effectLst/>
                        </a:rPr>
                        <a:t>, excepto si esta contraindicado.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Favorecer la ingesta oral proporcionando líquidos según las preferencias del paciente, colocándolos a su alcance, proporcionando un sorbete para beber y que sea agua fresca.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91543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Manejo de las vías aéreas: Asegurar la permeabilidad de la vía aérea.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1323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</a:rPr>
                        <a:t>Actividades: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Enseñar a toser de manera efectiva.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Eliminar las secreciones fomentando la tos 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Administrar broncodilatadores, si procede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Enseñar al paciente a utilizar los inhaladores prescritos, si es el caso.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Administrar tratamiento prescrito (aerosol, nebulizador)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Colocar al paciente en la posición que permita que el potencial de ventilación sea el máximo posible.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Administrar oxígenos humidificados, si procede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5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32656"/>
            <a:ext cx="8208912" cy="5499973"/>
          </a:xfrm>
        </p:spPr>
        <p:txBody>
          <a:bodyPr>
            <a:normAutofit lnSpcReduction="10000"/>
          </a:bodyPr>
          <a:lstStyle/>
          <a:p>
            <a:pPr lvl="0"/>
            <a:endParaRPr lang="es-PE" b="1" dirty="0" smtClean="0"/>
          </a:p>
          <a:p>
            <a:pPr lvl="0"/>
            <a:r>
              <a:rPr lang="es-PE" b="1" dirty="0" smtClean="0"/>
              <a:t>Déficit </a:t>
            </a:r>
            <a:r>
              <a:rPr lang="es-PE" b="1" dirty="0"/>
              <a:t>de conocimientos: relacionados con la enfermedad: </a:t>
            </a:r>
            <a:r>
              <a:rPr lang="es-PE" dirty="0"/>
              <a:t>Estado en el que falta información especifica</a:t>
            </a:r>
            <a:endParaRPr lang="es-BO" dirty="0"/>
          </a:p>
          <a:p>
            <a:r>
              <a:rPr lang="es-PE" b="1" i="1" dirty="0"/>
              <a:t>Objetivos: </a:t>
            </a:r>
            <a:r>
              <a:rPr lang="es-PE" dirty="0"/>
              <a:t>El paciente manifestara haber comprendido el proceso de la propia enfermedad y estar satisfecho con la información recibida.</a:t>
            </a:r>
            <a:endParaRPr lang="es-BO" dirty="0"/>
          </a:p>
          <a:p>
            <a:r>
              <a:rPr lang="es-PE" b="1" i="1" dirty="0"/>
              <a:t>Manifestado por:</a:t>
            </a:r>
            <a:endParaRPr lang="es-BO" dirty="0"/>
          </a:p>
          <a:p>
            <a:pPr lvl="0"/>
            <a:r>
              <a:rPr lang="es-PE" dirty="0"/>
              <a:t>Manifestación de mala interpretación de la información</a:t>
            </a:r>
            <a:endParaRPr lang="es-BO" dirty="0"/>
          </a:p>
          <a:p>
            <a:pPr lvl="0"/>
            <a:r>
              <a:rPr lang="es-PE" dirty="0"/>
              <a:t>Seguimiento impreciso de las instrucciones</a:t>
            </a:r>
            <a:endParaRPr lang="es-BO" dirty="0"/>
          </a:p>
          <a:p>
            <a:pPr lvl="0"/>
            <a:r>
              <a:rPr lang="es-PE" dirty="0"/>
              <a:t>Conductas inadecuadas o exageradas (histerismo, hostilidad, agitación)</a:t>
            </a:r>
            <a:endParaRPr lang="es-BO" dirty="0"/>
          </a:p>
          <a:p>
            <a:pPr lvl="0"/>
            <a:r>
              <a:rPr lang="es-PE" dirty="0"/>
              <a:t>Solicitud de información.</a:t>
            </a:r>
            <a:endParaRPr lang="es-BO" dirty="0"/>
          </a:p>
          <a:p>
            <a:endParaRPr lang="es-BO" dirty="0"/>
          </a:p>
        </p:txBody>
      </p:sp>
      <p:pic>
        <p:nvPicPr>
          <p:cNvPr id="8194" name="Picture 2" descr="C:\Users\LILI\Pictures\pulmon\part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725144"/>
            <a:ext cx="4572000" cy="213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80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963307"/>
              </p:ext>
            </p:extLst>
          </p:nvPr>
        </p:nvGraphicFramePr>
        <p:xfrm>
          <a:off x="467544" y="339724"/>
          <a:ext cx="8208911" cy="65102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8134"/>
                <a:gridCol w="6820777"/>
              </a:tblGrid>
              <a:tr h="36809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Intervenciones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736191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Enseñanza: proceso de enfermedad: Ayudar al paciente a comprender la información relacionada con su proceso de enfermedad específico.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515334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Actividades: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Evaluar el nivel actual de conocimientos del paciente relacionado con el proceso de enfermedad especifico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Proporcionar información al paciente acerca de la enfermedad, si procede.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Proporcionar información a la familia / seres queridos acerca de los progresos del paciente, si procede.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Comentar los cambios en el estilo de vida que puedan ser necesarios para evitar futuras complicaciones y/o controlar el proceso de la enfermedad.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Instruir al paciente sobre las medidas para prevenir/ minimizar los efectos secundarios de la enfermedad, si procede.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Enseñar al paciente medidas para controlar /minimizar síntomas, si procede.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Proporcionar a la familia una orientación anticipada conforme avanza la enfermedad.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400" dirty="0">
                          <a:effectLst/>
                        </a:rPr>
                        <a:t>Ofrecer apoyo psicológico y emocional al enfermo y /o familia e informar de los recurso externos con los que cuenta la comunidad.</a:t>
                      </a:r>
                      <a:endParaRPr lang="es-BO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26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683443"/>
              </p:ext>
            </p:extLst>
          </p:nvPr>
        </p:nvGraphicFramePr>
        <p:xfrm>
          <a:off x="467544" y="332656"/>
          <a:ext cx="8208912" cy="60896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8134"/>
                <a:gridCol w="6820778"/>
              </a:tblGrid>
              <a:tr h="1148674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800" dirty="0">
                          <a:effectLst/>
                        </a:rPr>
                        <a:t>Enseñanza: procedimiento / tratamiento: Preparación de un paciente para que comprenda y se prepare mentalmente para un procedimiento o tratamiento prescrito.</a:t>
                      </a:r>
                      <a:endParaRPr lang="es-BO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48999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</a:rPr>
                        <a:t>Actividades: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Informar al paciente y seres queridos acerca de: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/>
                        <a:buChar char=""/>
                      </a:pPr>
                      <a:r>
                        <a:rPr lang="es-PE" sz="1600" dirty="0">
                          <a:effectLst/>
                        </a:rPr>
                        <a:t>Cuando y donde tendrá lugar el procedimiento, tratamiento, si procede.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/>
                        <a:buChar char=""/>
                      </a:pPr>
                      <a:r>
                        <a:rPr lang="es-PE" sz="1600" dirty="0">
                          <a:effectLst/>
                        </a:rPr>
                        <a:t>Duración esperada de procedimiento y tratamiento.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Explicar el procedimiento, tratamiento y describir las actividades.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Enseñar al paciente como cooperar, participar durante los procedimientos, tratamientos, si procede.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Informar al paciente en la forma en que puede ayudar en la recuperación.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Proporcionar información sobre cuando y donde estarán disponibles los resultados y la persona que los explicara.</a:t>
                      </a:r>
                      <a:endParaRPr lang="es-BO" sz="1600" dirty="0">
                        <a:effectLst/>
                      </a:endParaRPr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 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76363" y="13001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BO" altLang="es-BO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71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32656"/>
            <a:ext cx="8208912" cy="6192688"/>
          </a:xfrm>
        </p:spPr>
        <p:txBody>
          <a:bodyPr>
            <a:normAutofit fontScale="92500" lnSpcReduction="10000"/>
          </a:bodyPr>
          <a:lstStyle/>
          <a:p>
            <a:pPr lvl="0"/>
            <a:endParaRPr lang="es-PE" b="1" i="1" dirty="0" smtClean="0"/>
          </a:p>
          <a:p>
            <a:pPr lvl="0"/>
            <a:r>
              <a:rPr lang="es-PE" b="1" i="1" dirty="0" smtClean="0"/>
              <a:t>Duelo </a:t>
            </a:r>
            <a:r>
              <a:rPr lang="es-PE" b="1" i="1" dirty="0"/>
              <a:t>anticipado relacionado con el pronóstico de su enfermedad:</a:t>
            </a:r>
            <a:r>
              <a:rPr lang="es-PE" b="1" dirty="0"/>
              <a:t> </a:t>
            </a:r>
            <a:r>
              <a:rPr lang="es-PE" dirty="0"/>
              <a:t>Respuestas y conductas intelectuales y emocionales mediante las que las personas, familias y comunidades intentan superar el proceso de modificación del auto concepto provocado por la percepción de la perdida potencial.</a:t>
            </a:r>
            <a:endParaRPr lang="es-BO" dirty="0"/>
          </a:p>
          <a:p>
            <a:r>
              <a:rPr lang="es-PE" b="1" i="1" dirty="0"/>
              <a:t>Objetivos: </a:t>
            </a:r>
            <a:r>
              <a:rPr lang="es-PE" dirty="0"/>
              <a:t>El paciente debe expresar sus temores, tristezas, sentimiento de culpa y los compartirá con sus familiares y el equipo.</a:t>
            </a:r>
            <a:endParaRPr lang="es-BO" dirty="0"/>
          </a:p>
          <a:p>
            <a:r>
              <a:rPr lang="es-PE" b="1" i="1" dirty="0"/>
              <a:t>Manifestado por:</a:t>
            </a:r>
            <a:endParaRPr lang="es-BO" dirty="0"/>
          </a:p>
          <a:p>
            <a:pPr lvl="0"/>
            <a:r>
              <a:rPr lang="es-PE" dirty="0"/>
              <a:t>Tristeza, culpabilidad, enfado, sensación de ahogo.</a:t>
            </a:r>
            <a:endParaRPr lang="es-BO" dirty="0"/>
          </a:p>
          <a:p>
            <a:pPr lvl="0"/>
            <a:r>
              <a:rPr lang="es-PE" dirty="0"/>
              <a:t>Negación de la posible pérdida.</a:t>
            </a:r>
            <a:endParaRPr lang="es-BO" dirty="0"/>
          </a:p>
          <a:p>
            <a:pPr lvl="0"/>
            <a:r>
              <a:rPr lang="es-PE" dirty="0"/>
              <a:t>Alteración en el nivel de actividad, patrones del sueño.</a:t>
            </a:r>
            <a:endParaRPr lang="es-BO" dirty="0"/>
          </a:p>
          <a:p>
            <a:pPr lvl="0"/>
            <a:r>
              <a:rPr lang="es-PE" dirty="0"/>
              <a:t>Cambios en los hábitos alimenticios.</a:t>
            </a:r>
            <a:endParaRPr lang="es-BO" dirty="0"/>
          </a:p>
          <a:p>
            <a:pPr lvl="0"/>
            <a:r>
              <a:rPr lang="es-PE" dirty="0"/>
              <a:t>Alteración en los patrones comunicación.</a:t>
            </a:r>
            <a:endParaRPr lang="es-BO" dirty="0"/>
          </a:p>
          <a:p>
            <a:pPr lvl="0"/>
            <a:r>
              <a:rPr lang="es-PE" dirty="0"/>
              <a:t>Llanto.</a:t>
            </a:r>
            <a:endParaRPr lang="es-BO" dirty="0"/>
          </a:p>
          <a:p>
            <a:pPr marL="68580" indent="0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82828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995534"/>
              </p:ext>
            </p:extLst>
          </p:nvPr>
        </p:nvGraphicFramePr>
        <p:xfrm>
          <a:off x="539552" y="332657"/>
          <a:ext cx="8208911" cy="6448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25524"/>
                <a:gridCol w="1383387"/>
              </a:tblGrid>
              <a:tr h="52247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Intervenciones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1108590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Apoyo emocional: Proporcionar seguridad, aceptación y ánimo en momentos de tensión.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4039138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Ayudar al paciente a reconocer sentimiento tales como la ansiedad, ira o tristeza.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Escuchar las expresiones de sentimientos y creencias.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Proporcionar apoyo durante la negación, ira, negociación y aceptación de las fases del sentimiento de pena.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Proporcionar ayuda en la toma de decisiones.</a:t>
                      </a:r>
                      <a:endParaRPr lang="es-BO" sz="16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600" dirty="0">
                          <a:effectLst/>
                        </a:rPr>
                        <a:t>Remitir a servicios de asesoramiento, si se precisa.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100">
                          <a:effectLst/>
                        </a:rPr>
                        <a:t> </a:t>
                      </a:r>
                      <a:endParaRPr lang="es-BO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522479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800" dirty="0">
                          <a:effectLst/>
                        </a:rPr>
                        <a:t>Apoyo a la familia: Estimulación de los valores, intereses y objetivos familiares.</a:t>
                      </a:r>
                      <a:endParaRPr lang="es-BO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3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157361"/>
              </p:ext>
            </p:extLst>
          </p:nvPr>
        </p:nvGraphicFramePr>
        <p:xfrm>
          <a:off x="467544" y="332656"/>
          <a:ext cx="8208911" cy="61926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8134"/>
                <a:gridCol w="6820777"/>
              </a:tblGrid>
              <a:tr h="61926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1800">
                          <a:effectLst/>
                        </a:rPr>
                        <a:t>Actividades:</a:t>
                      </a:r>
                      <a:endParaRPr lang="es-BO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Valorara la reacción emocional de la familia frente a la enfermedad del paciente.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Escuchar las inquietudes, sentimientos y preguntas de la familia.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Facilitar la comunicación de inquietudes y sentimientos entre el paciente y la familia o entre los miembros de la misma.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Proporcionar a la familia el conocimiento necesario acerca de las opciones que les puedan ayudar en la toma de decisiones, sobre los cuidados del paciente.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Incluir a los miembros de la familia junto con el paciente en la toma de decisiones acerca de los cuidados, cuando resulte apropiado.</a:t>
                      </a:r>
                      <a:endParaRPr lang="es-BO" sz="18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PE" sz="1800" dirty="0">
                          <a:effectLst/>
                        </a:rPr>
                        <a:t>Ayudar a los miembros de la familia durante los procesos de muerte y pena, si procede.</a:t>
                      </a:r>
                      <a:endParaRPr lang="es-BO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7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Manejo de la nutrición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Ayudar a proporcionar una dieta equilibrada en líquidos y solidos.</a:t>
            </a:r>
          </a:p>
          <a:p>
            <a:pPr marL="0" indent="0">
              <a:buNone/>
            </a:pPr>
            <a:endParaRPr lang="es-BO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789040"/>
            <a:ext cx="25908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0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Actividades de enfermería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dirty="0" smtClean="0"/>
              <a:t>Valorar los hábitos dietéticos del paciente.</a:t>
            </a:r>
          </a:p>
          <a:p>
            <a:r>
              <a:rPr lang="es-BO" dirty="0" smtClean="0"/>
              <a:t>Pesar al paciente</a:t>
            </a:r>
          </a:p>
          <a:p>
            <a:r>
              <a:rPr lang="es-BO" dirty="0" smtClean="0"/>
              <a:t>Aconsejar higiene oral al paciente</a:t>
            </a:r>
          </a:p>
          <a:p>
            <a:r>
              <a:rPr lang="es-BO" dirty="0" smtClean="0"/>
              <a:t>Administrar oxigeno según sea necesario </a:t>
            </a:r>
          </a:p>
          <a:p>
            <a:r>
              <a:rPr lang="es-BO" dirty="0" smtClean="0"/>
              <a:t>Proporcionar porciones pequeñas con frecuencia</a:t>
            </a:r>
          </a:p>
          <a:p>
            <a:r>
              <a:rPr lang="es-BO" dirty="0" smtClean="0"/>
              <a:t>Administrar </a:t>
            </a:r>
            <a:r>
              <a:rPr lang="es-BO" dirty="0" err="1" smtClean="0"/>
              <a:t>anteemeticos</a:t>
            </a:r>
            <a:r>
              <a:rPr lang="es-BO" dirty="0" smtClean="0"/>
              <a:t> antes de las comidas.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12554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Ansiedad relacionada con el proceso patológico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Sentimiento de aprensión causado por una anticipación de peligro.</a:t>
            </a:r>
          </a:p>
          <a:p>
            <a:pPr marL="68580" indent="0">
              <a:buNone/>
            </a:pPr>
            <a:endParaRPr lang="es-BO" dirty="0" smtClean="0"/>
          </a:p>
          <a:p>
            <a:r>
              <a:rPr lang="es-BO" dirty="0" smtClean="0"/>
              <a:t>Objetivo:</a:t>
            </a:r>
          </a:p>
          <a:p>
            <a:endParaRPr lang="es-BO" dirty="0" smtClean="0"/>
          </a:p>
          <a:p>
            <a:pPr marL="68580" indent="0">
              <a:buNone/>
            </a:pPr>
            <a:endParaRPr lang="es-BO" dirty="0" smtClean="0"/>
          </a:p>
          <a:p>
            <a:r>
              <a:rPr lang="es-BO" dirty="0" smtClean="0"/>
              <a:t>Disminuir la ansiedad del paciente.</a:t>
            </a:r>
            <a:endParaRPr lang="es-BO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212976"/>
            <a:ext cx="33337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76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Intervenciones de </a:t>
            </a:r>
            <a:r>
              <a:rPr lang="es-BO" dirty="0" err="1" smtClean="0"/>
              <a:t>enfemreria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Explicar los procedimientos a realizar</a:t>
            </a:r>
          </a:p>
          <a:p>
            <a:r>
              <a:rPr lang="es-BO" dirty="0" smtClean="0"/>
              <a:t>Escuchar al paciente con atención</a:t>
            </a:r>
          </a:p>
          <a:p>
            <a:r>
              <a:rPr lang="es-BO" dirty="0" smtClean="0"/>
              <a:t>Crear un ambiente que proporcione confianza</a:t>
            </a:r>
          </a:p>
          <a:p>
            <a:r>
              <a:rPr lang="es-BO" dirty="0" smtClean="0"/>
              <a:t>Ayudar al paciente que identifique situaciones  que precipiten la ansiedad.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141411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Dolor relacionado con el proceso patológico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Es cuando el paciente manifiesta una situación incomoda o la presencia de una molestia.</a:t>
            </a:r>
          </a:p>
          <a:p>
            <a:r>
              <a:rPr lang="es-BO" dirty="0" smtClean="0"/>
              <a:t>Objetivo</a:t>
            </a:r>
          </a:p>
          <a:p>
            <a:r>
              <a:rPr lang="es-BO" dirty="0" smtClean="0"/>
              <a:t>Disminuir el dolor o aliviarlo a un nivel de tolerancia aceptable.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52895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Intervenciones de </a:t>
            </a:r>
            <a:r>
              <a:rPr lang="es-BO" dirty="0" err="1" smtClean="0"/>
              <a:t>enfermeria</a:t>
            </a:r>
            <a:r>
              <a:rPr lang="es-BO" dirty="0" smtClean="0"/>
              <a:t>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Valoración exhaustiva del dolor , intensidad, </a:t>
            </a:r>
            <a:r>
              <a:rPr lang="es-BO" dirty="0" err="1" smtClean="0"/>
              <a:t>localizacion</a:t>
            </a:r>
            <a:endParaRPr lang="es-BO" dirty="0" smtClean="0"/>
          </a:p>
          <a:p>
            <a:r>
              <a:rPr lang="es-BO" dirty="0" smtClean="0"/>
              <a:t>Administrar </a:t>
            </a:r>
            <a:r>
              <a:rPr lang="es-BO" dirty="0" err="1" smtClean="0"/>
              <a:t>anlagesico</a:t>
            </a:r>
            <a:r>
              <a:rPr lang="es-BO" dirty="0" smtClean="0"/>
              <a:t> a horario</a:t>
            </a:r>
          </a:p>
          <a:p>
            <a:r>
              <a:rPr lang="es-BO" dirty="0" smtClean="0"/>
              <a:t>Observar efectos secundarios de los medicamentos.</a:t>
            </a:r>
          </a:p>
          <a:p>
            <a:r>
              <a:rPr lang="es-BO" dirty="0" smtClean="0"/>
              <a:t>Poner en practica el uso de analgesia controlada.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274407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Deterioro del patrón de sueño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Trastorno en la calidad y cantidad de sueño.</a:t>
            </a:r>
          </a:p>
          <a:p>
            <a:r>
              <a:rPr lang="es-BO" dirty="0" smtClean="0"/>
              <a:t>Objetivo</a:t>
            </a:r>
          </a:p>
          <a:p>
            <a:r>
              <a:rPr lang="es-BO" dirty="0" smtClean="0"/>
              <a:t>Facilitar los ciclos de sueño y descanso.</a:t>
            </a:r>
          </a:p>
          <a:p>
            <a:endParaRPr lang="es-BO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653136"/>
            <a:ext cx="3810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3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Intervenciones de enfermería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Vigilar el esquema de sueño</a:t>
            </a:r>
          </a:p>
          <a:p>
            <a:r>
              <a:rPr lang="es-BO" dirty="0" smtClean="0"/>
              <a:t>Ajustar el ambiente</a:t>
            </a:r>
          </a:p>
          <a:p>
            <a:r>
              <a:rPr lang="es-BO" dirty="0" smtClean="0"/>
              <a:t>Proporcionar medidas de confort</a:t>
            </a:r>
          </a:p>
          <a:p>
            <a:r>
              <a:rPr lang="es-BO" smtClean="0"/>
              <a:t>Almohadas cómodas </a:t>
            </a:r>
            <a:r>
              <a:rPr lang="es-BO" dirty="0" smtClean="0"/>
              <a:t>para  el paciente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276125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80</TotalTime>
  <Words>1193</Words>
  <Application>Microsoft Office PowerPoint</Application>
  <PresentationFormat>Presentación en pantalla (4:3)</PresentationFormat>
  <Paragraphs>121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Austin</vt:lpstr>
      <vt:lpstr>Presentación de PowerPoint</vt:lpstr>
      <vt:lpstr>ATENCIÓN DE ENFERMERÍA A PACIENTES CON CANCER DE PULMON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Manejo de la nutrición </vt:lpstr>
      <vt:lpstr>Actividades de enfermería </vt:lpstr>
      <vt:lpstr>Ansiedad relacionada con el proceso patológico</vt:lpstr>
      <vt:lpstr>Intervenciones de enfemreria</vt:lpstr>
      <vt:lpstr>Dolor relacionado con el proceso patológico</vt:lpstr>
      <vt:lpstr>Intervenciones de enfermeria </vt:lpstr>
      <vt:lpstr>Deterioro del patrón de sueño</vt:lpstr>
      <vt:lpstr>Intervenciones de enfermería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</dc:creator>
  <cp:lastModifiedBy>LILI</cp:lastModifiedBy>
  <cp:revision>11</cp:revision>
  <dcterms:created xsi:type="dcterms:W3CDTF">2014-08-30T04:30:19Z</dcterms:created>
  <dcterms:modified xsi:type="dcterms:W3CDTF">2014-08-30T14:26:15Z</dcterms:modified>
</cp:coreProperties>
</file>