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8"/>
  </p:notesMasterIdLst>
  <p:sldIdLst>
    <p:sldId id="262" r:id="rId2"/>
    <p:sldId id="273" r:id="rId3"/>
    <p:sldId id="274" r:id="rId4"/>
    <p:sldId id="263" r:id="rId5"/>
    <p:sldId id="257" r:id="rId6"/>
    <p:sldId id="258" r:id="rId7"/>
    <p:sldId id="259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64" r:id="rId17"/>
  </p:sldIdLst>
  <p:sldSz cx="9144000" cy="6858000" type="screen4x3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CC"/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C7853C-536D-4A76-A0AE-DD22124D55A5}" styleName="Estilo temático 1 - Énfasis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03447BB-5D67-496B-8E87-E561075AD55C}" styleName="Estilo oscuro 1 - Énfasis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Estilo oscuro 1 - Énfasis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9012ECD-51FC-41F1-AA8D-1B2483CD663E}" styleName="Estilo claro 2 - Acento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660B408-B3CF-4A94-85FC-2B1E0A45F4A2}" styleName="Estilo oscuro 2 - Énfasis 1/Énfasis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0" d="100"/>
          <a:sy n="70" d="100"/>
        </p:scale>
        <p:origin x="-1386" y="-23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BO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9CA4FE-CBFA-4372-B023-CA138244F602}" type="datetimeFigureOut">
              <a:rPr lang="es-BO" smtClean="0"/>
              <a:pPr/>
              <a:t>19/09/2013</a:t>
            </a:fld>
            <a:endParaRPr lang="es-BO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BO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B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B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B75D91-E3E9-4C2B-AB99-D86CE1596DEE}" type="slidenum">
              <a:rPr lang="es-BO" smtClean="0"/>
              <a:pPr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900800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B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B75D91-E3E9-4C2B-AB99-D86CE1596DEE}" type="slidenum">
              <a:rPr lang="es-BO" smtClean="0"/>
              <a:pPr/>
              <a:t>1</a:t>
            </a:fld>
            <a:endParaRPr lang="es-BO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Conector recto"/>
          <p:cNvSpPr>
            <a:spLocks noChangeShapeType="1"/>
          </p:cNvSpPr>
          <p:nvPr/>
        </p:nvSpPr>
        <p:spPr bwMode="auto">
          <a:xfrm>
            <a:off x="514350" y="5349902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28 Título"/>
          <p:cNvSpPr>
            <a:spLocks noGrp="1"/>
          </p:cNvSpPr>
          <p:nvPr>
            <p:ph type="ctrTitle"/>
          </p:nvPr>
        </p:nvSpPr>
        <p:spPr>
          <a:xfrm>
            <a:off x="381000" y="4853411"/>
            <a:ext cx="8458200" cy="1222375"/>
          </a:xfrm>
        </p:spPr>
        <p:txBody>
          <a:bodyPr anchor="t"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9" name="8 Subtítulo"/>
          <p:cNvSpPr>
            <a:spLocks noGrp="1"/>
          </p:cNvSpPr>
          <p:nvPr>
            <p:ph type="subTitle" idx="1"/>
          </p:nvPr>
        </p:nvSpPr>
        <p:spPr>
          <a:xfrm>
            <a:off x="381000" y="3886200"/>
            <a:ext cx="8458200" cy="914400"/>
          </a:xfrm>
        </p:spPr>
        <p:txBody>
          <a:bodyPr anchor="b"/>
          <a:lstStyle>
            <a:lvl1pPr marL="0" indent="0" algn="l">
              <a:buNone/>
              <a:defRPr sz="2400">
                <a:solidFill>
                  <a:schemeClr val="tx2">
                    <a:shade val="7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s-ES" smtClean="0"/>
              <a:t>Haga clic para modificar el estilo de subtítulo del patrón</a:t>
            </a:r>
            <a:endParaRPr kumimoji="0" lang="en-US"/>
          </a:p>
        </p:txBody>
      </p:sp>
      <p:sp>
        <p:nvSpPr>
          <p:cNvPr id="16" name="15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D667E-7A1E-480D-BB30-60473CDF026A}" type="datetimeFigureOut">
              <a:rPr lang="es-ES" smtClean="0"/>
              <a:pPr/>
              <a:t>19/09/2013</a:t>
            </a:fld>
            <a:endParaRPr lang="es-ES"/>
          </a:p>
        </p:txBody>
      </p:sp>
      <p:sp>
        <p:nvSpPr>
          <p:cNvPr id="2" name="1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5" name="14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229600" y="6473952"/>
            <a:ext cx="758952" cy="246888"/>
          </a:xfrm>
        </p:spPr>
        <p:txBody>
          <a:bodyPr/>
          <a:lstStyle/>
          <a:p>
            <a:fld id="{299F0B94-F5A3-4BE9-85B5-5AE6E146463B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2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27" name="26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25" name="2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D667E-7A1E-480D-BB30-60473CDF026A}" type="datetimeFigureOut">
              <a:rPr lang="es-ES" smtClean="0"/>
              <a:pPr/>
              <a:t>19/09/2013</a:t>
            </a:fld>
            <a:endParaRPr lang="es-ES"/>
          </a:p>
        </p:txBody>
      </p:sp>
      <p:sp>
        <p:nvSpPr>
          <p:cNvPr id="19" name="18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3581400" y="76200"/>
            <a:ext cx="2895600" cy="288925"/>
          </a:xfrm>
        </p:spPr>
        <p:txBody>
          <a:bodyPr/>
          <a:lstStyle/>
          <a:p>
            <a:endParaRPr lang="es-ES"/>
          </a:p>
        </p:txBody>
      </p:sp>
      <p:sp>
        <p:nvSpPr>
          <p:cNvPr id="16" name="15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229600" y="6473952"/>
            <a:ext cx="758952" cy="246888"/>
          </a:xfrm>
        </p:spPr>
        <p:txBody>
          <a:bodyPr/>
          <a:lstStyle/>
          <a:p>
            <a:fld id="{299F0B94-F5A3-4BE9-85B5-5AE6E146463B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Conector recto"/>
          <p:cNvSpPr>
            <a:spLocks noChangeShapeType="1"/>
          </p:cNvSpPr>
          <p:nvPr/>
        </p:nvSpPr>
        <p:spPr bwMode="auto">
          <a:xfrm>
            <a:off x="514350" y="3444902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5 Marcador de texto"/>
          <p:cNvSpPr>
            <a:spLocks noGrp="1"/>
          </p:cNvSpPr>
          <p:nvPr>
            <p:ph type="body" idx="1"/>
          </p:nvPr>
        </p:nvSpPr>
        <p:spPr>
          <a:xfrm>
            <a:off x="381000" y="1676400"/>
            <a:ext cx="8458200" cy="1219200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2">
                    <a:shade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19" name="18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D667E-7A1E-480D-BB30-60473CDF026A}" type="datetimeFigureOut">
              <a:rPr lang="es-ES" smtClean="0"/>
              <a:pPr/>
              <a:t>19/09/2013</a:t>
            </a:fld>
            <a:endParaRPr lang="es-ES"/>
          </a:p>
        </p:txBody>
      </p:sp>
      <p:sp>
        <p:nvSpPr>
          <p:cNvPr id="11" name="10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6" name="1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F0B94-F5A3-4BE9-85B5-5AE6E146463B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8" name="7 Título"/>
          <p:cNvSpPr>
            <a:spLocks noGrp="1"/>
          </p:cNvSpPr>
          <p:nvPr>
            <p:ph type="title"/>
          </p:nvPr>
        </p:nvSpPr>
        <p:spPr>
          <a:xfrm>
            <a:off x="180475" y="2947085"/>
            <a:ext cx="8686800" cy="1184825"/>
          </a:xfrm>
        </p:spPr>
        <p:txBody>
          <a:bodyPr rtlCol="0" anchor="t"/>
          <a:lstStyle>
            <a:lvl1pPr algn="r">
              <a:defRPr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19 Título"/>
          <p:cNvSpPr>
            <a:spLocks noGrp="1"/>
          </p:cNvSpPr>
          <p:nvPr>
            <p:ph type="title"/>
          </p:nvPr>
        </p:nvSpPr>
        <p:spPr>
          <a:xfrm>
            <a:off x="301752" y="457200"/>
            <a:ext cx="8686800" cy="841248"/>
          </a:xfrm>
        </p:spPr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14" name="13 Marcador de contenido"/>
          <p:cNvSpPr>
            <a:spLocks noGrp="1"/>
          </p:cNvSpPr>
          <p:nvPr>
            <p:ph sz="half" idx="1"/>
          </p:nvPr>
        </p:nvSpPr>
        <p:spPr>
          <a:xfrm>
            <a:off x="304800" y="1600200"/>
            <a:ext cx="41910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13" name="12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3434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21" name="20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D667E-7A1E-480D-BB30-60473CDF026A}" type="datetimeFigureOut">
              <a:rPr lang="es-ES" smtClean="0"/>
              <a:pPr/>
              <a:t>19/09/2013</a:t>
            </a:fld>
            <a:endParaRPr lang="es-ES"/>
          </a:p>
        </p:txBody>
      </p:sp>
      <p:sp>
        <p:nvSpPr>
          <p:cNvPr id="10" name="9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1" name="30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F0B94-F5A3-4BE9-85B5-5AE6E146463B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28 Título"/>
          <p:cNvSpPr>
            <a:spLocks noGrp="1"/>
          </p:cNvSpPr>
          <p:nvPr>
            <p:ph type="title"/>
          </p:nvPr>
        </p:nvSpPr>
        <p:spPr>
          <a:xfrm>
            <a:off x="304800" y="5410200"/>
            <a:ext cx="8610600" cy="8826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13" name="12 Marcador de texto"/>
          <p:cNvSpPr>
            <a:spLocks noGrp="1"/>
          </p:cNvSpPr>
          <p:nvPr>
            <p:ph type="body" idx="1"/>
          </p:nvPr>
        </p:nvSpPr>
        <p:spPr>
          <a:xfrm>
            <a:off x="281444" y="666750"/>
            <a:ext cx="4290556" cy="639762"/>
          </a:xfrm>
        </p:spPr>
        <p:txBody>
          <a:bodyPr anchor="ctr"/>
          <a:lstStyle>
            <a:lvl1pPr marL="0" indent="0">
              <a:buNone/>
              <a:defRPr sz="1800" b="0" cap="all" baseline="0">
                <a:solidFill>
                  <a:schemeClr val="accent1">
                    <a:shade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25" name="24 Marcador de texto"/>
          <p:cNvSpPr>
            <a:spLocks noGrp="1"/>
          </p:cNvSpPr>
          <p:nvPr>
            <p:ph type="body" sz="half" idx="3"/>
          </p:nvPr>
        </p:nvSpPr>
        <p:spPr>
          <a:xfrm>
            <a:off x="4645025" y="666750"/>
            <a:ext cx="4292241" cy="639762"/>
          </a:xfrm>
        </p:spPr>
        <p:txBody>
          <a:bodyPr anchor="ctr"/>
          <a:lstStyle>
            <a:lvl1pPr marL="0" indent="0">
              <a:buNone/>
              <a:defRPr sz="1800" b="0" cap="all" baseline="0">
                <a:solidFill>
                  <a:schemeClr val="accent1">
                    <a:shade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quarter" idx="2"/>
          </p:nvPr>
        </p:nvSpPr>
        <p:spPr>
          <a:xfrm>
            <a:off x="281444" y="1316037"/>
            <a:ext cx="4290556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28" name="27 Marcador de contenido"/>
          <p:cNvSpPr>
            <a:spLocks noGrp="1"/>
          </p:cNvSpPr>
          <p:nvPr>
            <p:ph sz="quarter" idx="4"/>
          </p:nvPr>
        </p:nvSpPr>
        <p:spPr>
          <a:xfrm>
            <a:off x="4648730" y="1316037"/>
            <a:ext cx="4288536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10" name="9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D667E-7A1E-480D-BB30-60473CDF026A}" type="datetimeFigureOut">
              <a:rPr lang="es-ES" smtClean="0"/>
              <a:pPr/>
              <a:t>19/09/2013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229600" y="6477000"/>
            <a:ext cx="762000" cy="246888"/>
          </a:xfrm>
        </p:spPr>
        <p:txBody>
          <a:bodyPr/>
          <a:lstStyle/>
          <a:p>
            <a:fld id="{299F0B94-F5A3-4BE9-85B5-5AE6E146463B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11" name="10 Conector recto"/>
          <p:cNvSpPr>
            <a:spLocks noChangeShapeType="1"/>
          </p:cNvSpPr>
          <p:nvPr/>
        </p:nvSpPr>
        <p:spPr bwMode="auto">
          <a:xfrm>
            <a:off x="514350" y="6019800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29 Título"/>
          <p:cNvSpPr>
            <a:spLocks noGrp="1"/>
          </p:cNvSpPr>
          <p:nvPr>
            <p:ph type="title"/>
          </p:nvPr>
        </p:nvSpPr>
        <p:spPr>
          <a:xfrm>
            <a:off x="301752" y="457200"/>
            <a:ext cx="8686800" cy="841248"/>
          </a:xfrm>
        </p:spPr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12" name="1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D667E-7A1E-480D-BB30-60473CDF026A}" type="datetimeFigureOut">
              <a:rPr lang="es-ES" smtClean="0"/>
              <a:pPr/>
              <a:t>19/09/2013</a:t>
            </a:fld>
            <a:endParaRPr lang="es-ES"/>
          </a:p>
        </p:txBody>
      </p:sp>
      <p:sp>
        <p:nvSpPr>
          <p:cNvPr id="21" name="20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F0B94-F5A3-4BE9-85B5-5AE6E146463B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D667E-7A1E-480D-BB30-60473CDF026A}" type="datetimeFigureOut">
              <a:rPr lang="es-ES" smtClean="0"/>
              <a:pPr/>
              <a:t>19/09/2013</a:t>
            </a:fld>
            <a:endParaRPr lang="es-ES"/>
          </a:p>
        </p:txBody>
      </p:sp>
      <p:sp>
        <p:nvSpPr>
          <p:cNvPr id="24" name="2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F0B94-F5A3-4BE9-85B5-5AE6E146463B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Conector recto"/>
          <p:cNvSpPr>
            <a:spLocks noChangeShapeType="1"/>
          </p:cNvSpPr>
          <p:nvPr/>
        </p:nvSpPr>
        <p:spPr bwMode="auto">
          <a:xfrm>
            <a:off x="514350" y="5849117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11 Título"/>
          <p:cNvSpPr>
            <a:spLocks noGrp="1"/>
          </p:cNvSpPr>
          <p:nvPr>
            <p:ph type="title"/>
          </p:nvPr>
        </p:nvSpPr>
        <p:spPr>
          <a:xfrm>
            <a:off x="457200" y="5486400"/>
            <a:ext cx="8458200" cy="520700"/>
          </a:xfrm>
        </p:spPr>
        <p:txBody>
          <a:bodyPr anchor="ctr"/>
          <a:lstStyle>
            <a:lvl1pPr algn="l">
              <a:buNone/>
              <a:defRPr sz="2000" b="1"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26" name="25 Marcador de texto"/>
          <p:cNvSpPr>
            <a:spLocks noGrp="1"/>
          </p:cNvSpPr>
          <p:nvPr>
            <p:ph type="body" idx="2"/>
          </p:nvPr>
        </p:nvSpPr>
        <p:spPr>
          <a:xfrm>
            <a:off x="457200" y="609600"/>
            <a:ext cx="3008313" cy="4800600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14" name="13 Marcador de contenido"/>
          <p:cNvSpPr>
            <a:spLocks noGrp="1"/>
          </p:cNvSpPr>
          <p:nvPr>
            <p:ph sz="half" idx="1"/>
          </p:nvPr>
        </p:nvSpPr>
        <p:spPr>
          <a:xfrm>
            <a:off x="3575050" y="609600"/>
            <a:ext cx="5340350" cy="48006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25" name="2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D667E-7A1E-480D-BB30-60473CDF026A}" type="datetimeFigureOut">
              <a:rPr lang="es-ES" smtClean="0"/>
              <a:pPr/>
              <a:t>19/09/2013</a:t>
            </a:fld>
            <a:endParaRPr lang="es-ES"/>
          </a:p>
        </p:txBody>
      </p:sp>
      <p:sp>
        <p:nvSpPr>
          <p:cNvPr id="29" name="28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F0B94-F5A3-4BE9-85B5-5AE6E146463B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12 Marcador de posición de imagen"/>
          <p:cNvSpPr>
            <a:spLocks noGrp="1"/>
          </p:cNvSpPr>
          <p:nvPr>
            <p:ph type="pic" idx="1"/>
          </p:nvPr>
        </p:nvSpPr>
        <p:spPr>
          <a:xfrm>
            <a:off x="3505200" y="616634"/>
            <a:ext cx="5029200" cy="3657600"/>
          </a:xfrm>
          <a:solidFill>
            <a:schemeClr val="bg1"/>
          </a:solidFill>
          <a:ln w="6350">
            <a:solidFill>
              <a:schemeClr val="accent1"/>
            </a:solidFill>
          </a:ln>
          <a:effectLst>
            <a:reflection blurRad="1000" stA="49000" endA="500" endPos="10000" dist="900" dir="5400000" sy="-90000" algn="bl" rotWithShape="0"/>
          </a:effectLst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s-ES" smtClean="0"/>
              <a:t>Haga clic en el icono para agregar una imagen</a:t>
            </a:r>
            <a:endParaRPr kumimoji="0" lang="en-US" dirty="0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D667E-7A1E-480D-BB30-60473CDF026A}" type="datetimeFigureOut">
              <a:rPr lang="es-ES" smtClean="0"/>
              <a:pPr/>
              <a:t>19/09/2013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1" name="30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F0B94-F5A3-4BE9-85B5-5AE6E146463B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17" name="16 Título"/>
          <p:cNvSpPr>
            <a:spLocks noGrp="1"/>
          </p:cNvSpPr>
          <p:nvPr>
            <p:ph type="title"/>
          </p:nvPr>
        </p:nvSpPr>
        <p:spPr>
          <a:xfrm>
            <a:off x="381000" y="4993760"/>
            <a:ext cx="5867400" cy="522288"/>
          </a:xfrm>
        </p:spPr>
        <p:txBody>
          <a:bodyPr anchor="ctr"/>
          <a:lstStyle>
            <a:lvl1pPr algn="l">
              <a:buNone/>
              <a:defRPr sz="2000" b="1"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26" name="25 Marcador de texto"/>
          <p:cNvSpPr>
            <a:spLocks noGrp="1"/>
          </p:cNvSpPr>
          <p:nvPr>
            <p:ph type="body" sz="half" idx="2"/>
          </p:nvPr>
        </p:nvSpPr>
        <p:spPr>
          <a:xfrm>
            <a:off x="381000" y="5533218"/>
            <a:ext cx="5867400" cy="768350"/>
          </a:xfrm>
        </p:spPr>
        <p:txBody>
          <a:bodyPr lIns="109728" tIns="0"/>
          <a:lstStyle>
            <a:lvl1pPr marL="0" indent="0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D667E-7A1E-480D-BB30-60473CDF026A}" type="datetimeFigureOut">
              <a:rPr lang="es-ES" smtClean="0"/>
              <a:pPr/>
              <a:t>19/09/2013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F0B94-F5A3-4BE9-85B5-5AE6E146463B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858000" y="549276"/>
            <a:ext cx="1828800" cy="5851525"/>
          </a:xfrm>
        </p:spPr>
        <p:txBody>
          <a:bodyPr vert="eaVert"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549276"/>
            <a:ext cx="6248400" cy="5851525"/>
          </a:xfrm>
        </p:spPr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D667E-7A1E-480D-BB30-60473CDF026A}" type="datetimeFigureOut">
              <a:rPr lang="es-ES" smtClean="0"/>
              <a:pPr/>
              <a:t>19/09/2013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F0B94-F5A3-4BE9-85B5-5AE6E146463B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Conector recto"/>
          <p:cNvSpPr>
            <a:spLocks noChangeShapeType="1"/>
          </p:cNvSpPr>
          <p:nvPr/>
        </p:nvSpPr>
        <p:spPr bwMode="auto">
          <a:xfrm>
            <a:off x="514350" y="1050898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7 Marcador de texto"/>
          <p:cNvSpPr>
            <a:spLocks noGrp="1"/>
          </p:cNvSpPr>
          <p:nvPr>
            <p:ph type="body" idx="1"/>
          </p:nvPr>
        </p:nvSpPr>
        <p:spPr>
          <a:xfrm>
            <a:off x="304800" y="1554162"/>
            <a:ext cx="86868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  <a:p>
            <a:pPr lvl="1" eaLnBrk="1" latinLnBrk="0" hangingPunct="1"/>
            <a:r>
              <a:rPr kumimoji="0" lang="es-ES" smtClean="0"/>
              <a:t>Segundo nivel</a:t>
            </a:r>
          </a:p>
          <a:p>
            <a:pPr lvl="2" eaLnBrk="1" latinLnBrk="0" hangingPunct="1"/>
            <a:r>
              <a:rPr kumimoji="0" lang="es-ES" smtClean="0"/>
              <a:t>Tercer nivel</a:t>
            </a:r>
          </a:p>
          <a:p>
            <a:pPr lvl="3" eaLnBrk="1" latinLnBrk="0" hangingPunct="1"/>
            <a:r>
              <a:rPr kumimoji="0" lang="es-ES" smtClean="0"/>
              <a:t>Cuarto nivel</a:t>
            </a:r>
          </a:p>
          <a:p>
            <a:pPr lvl="4" eaLnBrk="1" latinLnBrk="0" hangingPunct="1"/>
            <a:r>
              <a:rPr kumimoji="0" lang="es-ES" smtClean="0"/>
              <a:t>Quinto nivel</a:t>
            </a:r>
            <a:endParaRPr kumimoji="0" lang="en-US"/>
          </a:p>
        </p:txBody>
      </p:sp>
      <p:sp>
        <p:nvSpPr>
          <p:cNvPr id="11" name="10 Marcador de fecha"/>
          <p:cNvSpPr>
            <a:spLocks noGrp="1"/>
          </p:cNvSpPr>
          <p:nvPr>
            <p:ph type="dt" sz="half" idx="2"/>
          </p:nvPr>
        </p:nvSpPr>
        <p:spPr>
          <a:xfrm>
            <a:off x="6477000" y="76200"/>
            <a:ext cx="2514600" cy="288925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fld id="{ED5D667E-7A1E-480D-BB30-60473CDF026A}" type="datetimeFigureOut">
              <a:rPr lang="es-ES" smtClean="0"/>
              <a:pPr/>
              <a:t>19/09/2013</a:t>
            </a:fld>
            <a:endParaRPr lang="es-ES"/>
          </a:p>
        </p:txBody>
      </p:sp>
      <p:sp>
        <p:nvSpPr>
          <p:cNvPr id="28" name="27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76200"/>
            <a:ext cx="3352800" cy="288925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229600" y="6477000"/>
            <a:ext cx="762000" cy="244475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fld id="{299F0B94-F5A3-4BE9-85B5-5AE6E146463B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10" name="9 Marcador de título"/>
          <p:cNvSpPr>
            <a:spLocks noGrp="1"/>
          </p:cNvSpPr>
          <p:nvPr>
            <p:ph type="title"/>
          </p:nvPr>
        </p:nvSpPr>
        <p:spPr>
          <a:xfrm>
            <a:off x="304800" y="457200"/>
            <a:ext cx="8686800" cy="8382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9" name="8 Conector recto"/>
          <p:cNvSpPr>
            <a:spLocks noChangeShapeType="1"/>
          </p:cNvSpPr>
          <p:nvPr/>
        </p:nvSpPr>
        <p:spPr bwMode="auto">
          <a:xfrm>
            <a:off x="514350" y="1050898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11 Conector recto"/>
          <p:cNvSpPr>
            <a:spLocks noChangeShapeType="1"/>
          </p:cNvSpPr>
          <p:nvPr/>
        </p:nvSpPr>
        <p:spPr bwMode="auto">
          <a:xfrm>
            <a:off x="514350" y="1057986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rtl="0" eaLnBrk="1" latinLnBrk="0" hangingPunct="1">
        <a:spcBef>
          <a:spcPct val="0"/>
        </a:spcBef>
        <a:buNone/>
        <a:defRPr kumimoji="0" sz="3600" kern="1200" cap="all" baseline="0">
          <a:solidFill>
            <a:schemeClr val="tx2"/>
          </a:solidFill>
          <a:effectLst>
            <a:reflection blurRad="12700" stA="48000" endA="300" endPos="55000" dir="5400000" sy="-90000" algn="bl" rotWithShape="0"/>
          </a:effectLst>
          <a:latin typeface="+mj-lt"/>
          <a:ea typeface="+mj-ea"/>
          <a:cs typeface="+mj-cs"/>
        </a:defRPr>
      </a:lvl1pPr>
    </p:titleStyle>
    <p:bodyStyle>
      <a:lvl1pPr marL="342900" indent="-3429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"/>
        <a:defRPr kumimoji="0" sz="3200" kern="12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"/>
        <a:defRPr kumimoji="0" sz="2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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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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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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"/>
        <a:defRPr kumimoji="0" sz="1600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http://upload.wikimedia.org/wikipedia/commons/7/78/Coat_of_bolivia.png" TargetMode="Externa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381000" y="116632"/>
            <a:ext cx="8458200" cy="6624736"/>
          </a:xfrm>
        </p:spPr>
        <p:txBody>
          <a:bodyPr>
            <a:normAutofit fontScale="90000"/>
          </a:bodyPr>
          <a:lstStyle/>
          <a:p>
            <a:r>
              <a:rPr lang="es-ES_tradnl" sz="2000" b="1" dirty="0" smtClean="0">
                <a:cs typeface="Arial" pitchFamily="34" charset="0"/>
              </a:rPr>
              <a:t/>
            </a:r>
            <a:br>
              <a:rPr lang="es-ES_tradnl" sz="2000" b="1" dirty="0" smtClean="0">
                <a:cs typeface="Arial" pitchFamily="34" charset="0"/>
              </a:rPr>
            </a:br>
            <a:r>
              <a:rPr lang="es-ES_tradnl" sz="2000" b="1" dirty="0" smtClean="0">
                <a:cs typeface="Arial" pitchFamily="34" charset="0"/>
              </a:rPr>
              <a:t/>
            </a:r>
            <a:br>
              <a:rPr lang="es-ES_tradnl" sz="2000" b="1" dirty="0" smtClean="0">
                <a:cs typeface="Arial" pitchFamily="34" charset="0"/>
              </a:rPr>
            </a:br>
            <a:r>
              <a:rPr lang="es-ES_tradnl" sz="2000" b="1" dirty="0" smtClean="0">
                <a:cs typeface="Arial" pitchFamily="34" charset="0"/>
              </a:rPr>
              <a:t/>
            </a:r>
            <a:br>
              <a:rPr lang="es-ES_tradnl" sz="2000" b="1" dirty="0" smtClean="0">
                <a:cs typeface="Arial" pitchFamily="34" charset="0"/>
              </a:rPr>
            </a:br>
            <a:r>
              <a:rPr lang="es-ES_tradnl" sz="2000" b="1" dirty="0" smtClean="0">
                <a:cs typeface="Arial" pitchFamily="34" charset="0"/>
              </a:rPr>
              <a:t>                                </a:t>
            </a:r>
            <a:r>
              <a:rPr lang="es-ES_tradnl" sz="2700" b="1" dirty="0" smtClean="0">
                <a:cs typeface="Arial" pitchFamily="34" charset="0"/>
              </a:rPr>
              <a:t>MAESTRIA EN MEDICO QUIRURGICO </a:t>
            </a:r>
            <a:br>
              <a:rPr lang="es-ES_tradnl" sz="2700" b="1" dirty="0" smtClean="0">
                <a:cs typeface="Arial" pitchFamily="34" charset="0"/>
              </a:rPr>
            </a:br>
            <a:r>
              <a:rPr lang="es-ES_tradnl" sz="2700" b="1" dirty="0" smtClean="0">
                <a:cs typeface="Arial" pitchFamily="34" charset="0"/>
              </a:rPr>
              <a:t>                                                 ALSIE                             </a:t>
            </a:r>
            <a:r>
              <a:rPr lang="es-ES_tradnl" sz="2000" b="1" dirty="0" smtClean="0">
                <a:cs typeface="Arial" pitchFamily="34" charset="0"/>
              </a:rPr>
              <a:t/>
            </a:r>
            <a:br>
              <a:rPr lang="es-ES_tradnl" sz="2000" b="1" dirty="0" smtClean="0">
                <a:cs typeface="Arial" pitchFamily="34" charset="0"/>
              </a:rPr>
            </a:br>
            <a:r>
              <a:rPr lang="es-ES_tradnl" sz="1300" b="1" dirty="0" smtClean="0">
                <a:cs typeface="Arial" pitchFamily="34" charset="0"/>
              </a:rPr>
              <a:t/>
            </a:r>
            <a:br>
              <a:rPr lang="es-ES_tradnl" sz="1300" b="1" dirty="0" smtClean="0">
                <a:cs typeface="Arial" pitchFamily="34" charset="0"/>
              </a:rPr>
            </a:br>
            <a:r>
              <a:rPr lang="es-ES_tradnl" sz="1300" b="1" dirty="0" smtClean="0">
                <a:cs typeface="Arial" pitchFamily="34" charset="0"/>
              </a:rPr>
              <a:t/>
            </a:r>
            <a:br>
              <a:rPr lang="es-ES_tradnl" sz="1300" b="1" dirty="0" smtClean="0">
                <a:cs typeface="Arial" pitchFamily="34" charset="0"/>
              </a:rPr>
            </a:br>
            <a:r>
              <a:rPr lang="es-BO" sz="1300" b="1" dirty="0" smtClean="0"/>
              <a:t>Ministerio </a:t>
            </a:r>
            <a:r>
              <a:rPr lang="es-BO" sz="1300" b="1" dirty="0" smtClean="0"/>
              <a:t>de Salud y</a:t>
            </a:r>
            <a:br>
              <a:rPr lang="es-BO" sz="1300" b="1" dirty="0" smtClean="0"/>
            </a:br>
            <a:r>
              <a:rPr lang="es-BO" sz="1300" b="1" dirty="0" smtClean="0"/>
              <a:t>          </a:t>
            </a:r>
            <a:r>
              <a:rPr lang="es-BO" sz="1300" b="1" dirty="0" smtClean="0"/>
              <a:t>Deportes</a:t>
            </a:r>
            <a:r>
              <a:rPr lang="es-ES_tradnl" sz="2000" b="1" dirty="0" smtClean="0">
                <a:cs typeface="Arial" pitchFamily="34" charset="0"/>
              </a:rPr>
              <a:t/>
            </a:r>
            <a:br>
              <a:rPr lang="es-ES_tradnl" sz="2000" b="1" dirty="0" smtClean="0">
                <a:cs typeface="Arial" pitchFamily="34" charset="0"/>
              </a:rPr>
            </a:br>
            <a:r>
              <a:rPr lang="es-ES_tradnl" sz="2000" b="1" dirty="0" smtClean="0">
                <a:cs typeface="Arial" pitchFamily="34" charset="0"/>
              </a:rPr>
              <a:t/>
            </a:r>
            <a:br>
              <a:rPr lang="es-ES_tradnl" sz="2000" b="1" dirty="0" smtClean="0">
                <a:cs typeface="Arial" pitchFamily="34" charset="0"/>
              </a:rPr>
            </a:br>
            <a:r>
              <a:rPr lang="es-ES_tradnl" sz="2000" b="1" dirty="0" smtClean="0">
                <a:cs typeface="Arial" pitchFamily="34" charset="0"/>
              </a:rPr>
              <a:t/>
            </a:r>
            <a:br>
              <a:rPr lang="es-ES_tradnl" sz="2000" b="1" dirty="0" smtClean="0">
                <a:cs typeface="Arial" pitchFamily="34" charset="0"/>
              </a:rPr>
            </a:br>
            <a:r>
              <a:rPr lang="es-ES_tradnl" sz="2000" b="1" dirty="0" smtClean="0">
                <a:cs typeface="Arial" pitchFamily="34" charset="0"/>
              </a:rPr>
              <a:t/>
            </a:r>
            <a:br>
              <a:rPr lang="es-ES_tradnl" sz="2000" b="1" dirty="0" smtClean="0">
                <a:cs typeface="Arial" pitchFamily="34" charset="0"/>
              </a:rPr>
            </a:br>
            <a:r>
              <a:rPr lang="es-ES_tradnl" sz="2000" b="1" dirty="0" smtClean="0">
                <a:cs typeface="Arial" pitchFamily="34" charset="0"/>
              </a:rPr>
              <a:t/>
            </a:r>
            <a:br>
              <a:rPr lang="es-ES_tradnl" sz="2000" b="1" dirty="0" smtClean="0">
                <a:cs typeface="Arial" pitchFamily="34" charset="0"/>
              </a:rPr>
            </a:br>
            <a:r>
              <a:rPr lang="es-ES_tradnl" sz="2000" b="1" dirty="0" smtClean="0">
                <a:cs typeface="Arial" pitchFamily="34" charset="0"/>
              </a:rPr>
              <a:t/>
            </a:r>
            <a:br>
              <a:rPr lang="es-ES_tradnl" sz="2000" b="1" dirty="0" smtClean="0">
                <a:cs typeface="Arial" pitchFamily="34" charset="0"/>
              </a:rPr>
            </a:br>
            <a:r>
              <a:rPr lang="es-ES_tradnl" sz="2000" b="1" dirty="0" smtClean="0">
                <a:cs typeface="Arial" pitchFamily="34" charset="0"/>
              </a:rPr>
              <a:t/>
            </a:r>
            <a:br>
              <a:rPr lang="es-ES_tradnl" sz="2000" b="1" dirty="0" smtClean="0">
                <a:cs typeface="Arial" pitchFamily="34" charset="0"/>
              </a:rPr>
            </a:br>
            <a:r>
              <a:rPr lang="es-ES_tradnl" sz="2000" b="1" dirty="0" smtClean="0">
                <a:cs typeface="Arial" pitchFamily="34" charset="0"/>
              </a:rPr>
              <a:t/>
            </a:r>
            <a:br>
              <a:rPr lang="es-ES_tradnl" sz="2000" b="1" dirty="0" smtClean="0">
                <a:cs typeface="Arial" pitchFamily="34" charset="0"/>
              </a:rPr>
            </a:br>
            <a:r>
              <a:rPr lang="es-ES_tradnl" sz="2000" b="1" dirty="0" smtClean="0">
                <a:cs typeface="Arial" pitchFamily="34" charset="0"/>
              </a:rPr>
              <a:t/>
            </a:r>
            <a:br>
              <a:rPr lang="es-ES_tradnl" sz="2000" b="1" dirty="0" smtClean="0">
                <a:cs typeface="Arial" pitchFamily="34" charset="0"/>
              </a:rPr>
            </a:br>
            <a:r>
              <a:rPr lang="es-ES_tradnl" sz="2000" b="1" dirty="0" smtClean="0">
                <a:cs typeface="Arial" pitchFamily="34" charset="0"/>
              </a:rPr>
              <a:t/>
            </a:r>
            <a:br>
              <a:rPr lang="es-ES_tradnl" sz="2000" b="1" dirty="0" smtClean="0">
                <a:cs typeface="Arial" pitchFamily="34" charset="0"/>
              </a:rPr>
            </a:br>
            <a:r>
              <a:rPr lang="es-ES_tradnl" sz="2000" b="1" dirty="0" smtClean="0">
                <a:cs typeface="Arial" pitchFamily="34" charset="0"/>
              </a:rPr>
              <a:t>                                                </a:t>
            </a:r>
            <a:r>
              <a:rPr lang="es-ES_tradnl" sz="2000" b="1" dirty="0" smtClean="0">
                <a:cs typeface="Arial" pitchFamily="34" charset="0"/>
              </a:rPr>
              <a:t>LIC. MARIBEL CRUZ MAMANI</a:t>
            </a:r>
            <a:br>
              <a:rPr lang="es-ES_tradnl" sz="2000" b="1" dirty="0" smtClean="0">
                <a:cs typeface="Arial" pitchFamily="34" charset="0"/>
              </a:rPr>
            </a:br>
            <a:r>
              <a:rPr lang="es-ES_tradnl" sz="2000" b="1" dirty="0">
                <a:cs typeface="Arial" pitchFamily="34" charset="0"/>
              </a:rPr>
              <a:t> </a:t>
            </a:r>
            <a:r>
              <a:rPr lang="es-ES_tradnl" sz="2000" b="1" dirty="0" smtClean="0">
                <a:cs typeface="Arial" pitchFamily="34" charset="0"/>
              </a:rPr>
              <a:t>                                               LIC. DORA  EXPLORADORA</a:t>
            </a:r>
            <a:br>
              <a:rPr lang="es-ES_tradnl" sz="2000" b="1" dirty="0" smtClean="0">
                <a:cs typeface="Arial" pitchFamily="34" charset="0"/>
              </a:rPr>
            </a:br>
            <a:r>
              <a:rPr lang="es-ES_tradnl" sz="2000" b="1" dirty="0">
                <a:cs typeface="Arial" pitchFamily="34" charset="0"/>
              </a:rPr>
              <a:t> </a:t>
            </a:r>
            <a:r>
              <a:rPr lang="es-ES_tradnl" sz="2000" b="1" dirty="0" smtClean="0">
                <a:cs typeface="Arial" pitchFamily="34" charset="0"/>
              </a:rPr>
              <a:t>                                               LIC. HILDA</a:t>
            </a:r>
            <a:br>
              <a:rPr lang="es-ES_tradnl" sz="2000" b="1" dirty="0" smtClean="0">
                <a:cs typeface="Arial" pitchFamily="34" charset="0"/>
              </a:rPr>
            </a:br>
            <a:r>
              <a:rPr lang="es-ES_tradnl" sz="2000" b="1" dirty="0">
                <a:cs typeface="Arial" pitchFamily="34" charset="0"/>
              </a:rPr>
              <a:t> </a:t>
            </a:r>
            <a:r>
              <a:rPr lang="es-ES_tradnl" sz="2000" b="1" dirty="0" smtClean="0">
                <a:cs typeface="Arial" pitchFamily="34" charset="0"/>
              </a:rPr>
              <a:t>                                               LIC. ARMINDA</a:t>
            </a:r>
            <a:br>
              <a:rPr lang="es-ES_tradnl" sz="2000" b="1" dirty="0" smtClean="0">
                <a:cs typeface="Arial" pitchFamily="34" charset="0"/>
              </a:rPr>
            </a:br>
            <a:r>
              <a:rPr lang="es-ES_tradnl" sz="2000" b="1" dirty="0">
                <a:cs typeface="Arial" pitchFamily="34" charset="0"/>
              </a:rPr>
              <a:t> </a:t>
            </a:r>
            <a:r>
              <a:rPr lang="es-ES_tradnl" sz="2000" b="1" dirty="0" smtClean="0">
                <a:cs typeface="Arial" pitchFamily="34" charset="0"/>
              </a:rPr>
              <a:t>                                               </a:t>
            </a:r>
            <a:br>
              <a:rPr lang="es-ES_tradnl" sz="2000" b="1" dirty="0" smtClean="0">
                <a:cs typeface="Arial" pitchFamily="34" charset="0"/>
              </a:rPr>
            </a:br>
            <a:r>
              <a:rPr lang="es-ES_tradnl" sz="2000" b="1" dirty="0" smtClean="0">
                <a:cs typeface="Arial" pitchFamily="34" charset="0"/>
              </a:rPr>
              <a:t>                                                   COCHABAMBA - BOLIVIA</a:t>
            </a:r>
            <a:br>
              <a:rPr lang="es-ES_tradnl" sz="2000" b="1" dirty="0" smtClean="0">
                <a:cs typeface="Arial" pitchFamily="34" charset="0"/>
              </a:rPr>
            </a:br>
            <a:r>
              <a:rPr lang="es-ES_tradnl" sz="2000" b="1" dirty="0" smtClean="0">
                <a:cs typeface="Arial" pitchFamily="34" charset="0"/>
              </a:rPr>
              <a:t>     </a:t>
            </a:r>
            <a:r>
              <a:rPr lang="es-ES_tradnl" sz="2000" b="1" dirty="0" smtClean="0">
                <a:cs typeface="Arial" pitchFamily="34" charset="0"/>
              </a:rPr>
              <a:t/>
            </a:r>
            <a:br>
              <a:rPr lang="es-ES_tradnl" sz="2000" b="1" dirty="0" smtClean="0">
                <a:cs typeface="Arial" pitchFamily="34" charset="0"/>
              </a:rPr>
            </a:br>
            <a:r>
              <a:rPr lang="es-ES_tradnl" sz="2000" b="1" dirty="0" smtClean="0">
                <a:cs typeface="Arial" pitchFamily="34" charset="0"/>
              </a:rPr>
              <a:t/>
            </a:r>
            <a:br>
              <a:rPr lang="es-ES_tradnl" sz="2000" b="1" dirty="0" smtClean="0">
                <a:cs typeface="Arial" pitchFamily="34" charset="0"/>
              </a:rPr>
            </a:br>
            <a:r>
              <a:rPr lang="es-ES_tradnl" sz="2000" b="1" dirty="0" smtClean="0">
                <a:cs typeface="Arial" pitchFamily="34" charset="0"/>
              </a:rPr>
              <a:t/>
            </a:r>
            <a:br>
              <a:rPr lang="es-ES_tradnl" sz="2000" b="1" dirty="0" smtClean="0">
                <a:cs typeface="Arial" pitchFamily="34" charset="0"/>
              </a:rPr>
            </a:br>
            <a:r>
              <a:rPr lang="es-ES_tradnl" sz="2000" b="1" dirty="0" smtClean="0">
                <a:cs typeface="Arial" pitchFamily="34" charset="0"/>
              </a:rPr>
              <a:t>                                             </a:t>
            </a:r>
            <a:r>
              <a:rPr lang="es-ES" sz="2000" dirty="0" smtClean="0"/>
              <a:t/>
            </a:r>
            <a:br>
              <a:rPr lang="es-ES" sz="2000" dirty="0" smtClean="0"/>
            </a:br>
            <a:r>
              <a:rPr lang="es-ES_tradnl" sz="2000" b="1" dirty="0" smtClean="0">
                <a:cs typeface="Arial" pitchFamily="34" charset="0"/>
              </a:rPr>
              <a:t/>
            </a:r>
            <a:br>
              <a:rPr lang="es-ES_tradnl" sz="2000" b="1" dirty="0" smtClean="0">
                <a:cs typeface="Arial" pitchFamily="34" charset="0"/>
              </a:rPr>
            </a:br>
            <a:r>
              <a:rPr lang="es-ES_tradnl" sz="2000" b="1" dirty="0" smtClean="0">
                <a:cs typeface="Arial" pitchFamily="34" charset="0"/>
              </a:rPr>
              <a:t/>
            </a:r>
            <a:br>
              <a:rPr lang="es-ES_tradnl" sz="2000" b="1" dirty="0" smtClean="0">
                <a:cs typeface="Arial" pitchFamily="34" charset="0"/>
              </a:rPr>
            </a:br>
            <a:r>
              <a:rPr lang="es-ES_tradnl" sz="2000" b="1" dirty="0" smtClean="0">
                <a:cs typeface="Arial" pitchFamily="34" charset="0"/>
              </a:rPr>
              <a:t/>
            </a:r>
            <a:br>
              <a:rPr lang="es-ES_tradnl" sz="2000" b="1" dirty="0" smtClean="0">
                <a:cs typeface="Arial" pitchFamily="34" charset="0"/>
              </a:rPr>
            </a:br>
            <a:endParaRPr lang="es-ES_tradnl" sz="2000" b="1" dirty="0" smtClean="0">
              <a:cs typeface="Arial" pitchFamily="34" charset="0"/>
            </a:endParaRPr>
          </a:p>
        </p:txBody>
      </p:sp>
      <p:pic>
        <p:nvPicPr>
          <p:cNvPr id="5" name="4 Imagen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175743" y="410247"/>
            <a:ext cx="1714512" cy="1714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4 Imagen" descr="Imagen:Coat of bolivia.png"/>
          <p:cNvPicPr>
            <a:picLocks noChangeAspect="1" noChangeArrowheads="1"/>
          </p:cNvPicPr>
          <p:nvPr/>
        </p:nvPicPr>
        <p:blipFill>
          <a:blip r:embed="rId4" r:link="rId5" cstate="print"/>
          <a:srcRect/>
          <a:stretch>
            <a:fillRect/>
          </a:stretch>
        </p:blipFill>
        <p:spPr bwMode="auto">
          <a:xfrm>
            <a:off x="461509" y="138625"/>
            <a:ext cx="1643074" cy="2000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10 Rectángulo"/>
          <p:cNvSpPr/>
          <p:nvPr/>
        </p:nvSpPr>
        <p:spPr>
          <a:xfrm>
            <a:off x="960514" y="4031652"/>
            <a:ext cx="5857916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_tradnl" sz="2000" b="1" dirty="0" smtClean="0"/>
              <a:t>INTEGRANTES</a:t>
            </a:r>
            <a:r>
              <a:rPr lang="es-ES_tradnl" sz="2000" b="1" dirty="0" smtClean="0"/>
              <a:t>: </a:t>
            </a:r>
            <a:endParaRPr lang="es-ES_tradnl" sz="2000" b="1" dirty="0" smtClean="0"/>
          </a:p>
          <a:p>
            <a:r>
              <a:rPr lang="es-ES_tradnl" sz="2000" b="1" dirty="0" smtClean="0"/>
              <a:t>                                  LIC. ROLANDO LIMACHI FELIPEZ</a:t>
            </a:r>
          </a:p>
          <a:p>
            <a:r>
              <a:rPr lang="es-ES_tradnl" sz="2000" b="1" dirty="0" smtClean="0"/>
              <a:t>                                 </a:t>
            </a:r>
            <a:r>
              <a:rPr lang="es-ES_tradnl" sz="2000" b="1" dirty="0" smtClean="0"/>
              <a:t> LIC. LILIAN ZAPATA</a:t>
            </a:r>
            <a:endParaRPr lang="es-ES" sz="2000" dirty="0" smtClean="0"/>
          </a:p>
        </p:txBody>
      </p:sp>
      <p:sp>
        <p:nvSpPr>
          <p:cNvPr id="3" name="2 Rectángulo"/>
          <p:cNvSpPr/>
          <p:nvPr/>
        </p:nvSpPr>
        <p:spPr>
          <a:xfrm>
            <a:off x="1353547" y="2420888"/>
            <a:ext cx="6679452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s-ES" sz="32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PROCESO DE ATENCION </a:t>
            </a:r>
          </a:p>
          <a:p>
            <a:pPr algn="ctr"/>
            <a:r>
              <a:rPr lang="es-ES" sz="3200" b="1" cap="none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DE ENFERMERIA </a:t>
            </a:r>
          </a:p>
          <a:p>
            <a:pPr algn="ctr"/>
            <a:r>
              <a:rPr lang="es-ES" sz="32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POS - OPERATORIO</a:t>
            </a:r>
            <a:endParaRPr lang="es-ES" sz="3200" b="1" cap="none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Título"/>
          <p:cNvSpPr>
            <a:spLocks noGrp="1"/>
          </p:cNvSpPr>
          <p:nvPr>
            <p:ph type="title"/>
          </p:nvPr>
        </p:nvSpPr>
        <p:spPr>
          <a:xfrm>
            <a:off x="301752" y="457200"/>
            <a:ext cx="8686800" cy="5924128"/>
          </a:xfrm>
        </p:spPr>
        <p:txBody>
          <a:bodyPr>
            <a:normAutofit fontScale="90000"/>
          </a:bodyPr>
          <a:lstStyle/>
          <a:p>
            <a:r>
              <a:rPr lang="es-BO" sz="2700" b="1" dirty="0" smtClean="0"/>
              <a:t>                         PROCESO </a:t>
            </a:r>
            <a:r>
              <a:rPr lang="es-BO" sz="2700" b="1" dirty="0"/>
              <a:t>ATENCIÓN DE ENFERMERÍA</a:t>
            </a:r>
            <a:r>
              <a:rPr lang="es-BO" sz="2700" dirty="0"/>
              <a:t/>
            </a:r>
            <a:br>
              <a:rPr lang="es-BO" sz="2700" dirty="0"/>
            </a:br>
            <a:r>
              <a:rPr lang="es-BO" sz="2700" b="1" dirty="0"/>
              <a:t/>
            </a:r>
            <a:br>
              <a:rPr lang="es-BO" sz="2700" b="1" dirty="0"/>
            </a:br>
            <a:r>
              <a:rPr lang="es-BO" sz="2700" b="1" dirty="0"/>
              <a:t>1. DATOS GENERALES DEL PACIENTE</a:t>
            </a:r>
            <a:r>
              <a:rPr lang="es-BO" sz="2700" b="1" dirty="0" smtClean="0"/>
              <a:t>:</a:t>
            </a:r>
            <a:br>
              <a:rPr lang="es-BO" sz="2700" b="1" dirty="0" smtClean="0"/>
            </a:br>
            <a:r>
              <a:rPr lang="es-BO" sz="2700" b="1" dirty="0"/>
              <a:t/>
            </a:r>
            <a:br>
              <a:rPr lang="es-BO" sz="2700" b="1" dirty="0"/>
            </a:br>
            <a:r>
              <a:rPr lang="es-BO" sz="2700" b="1" dirty="0"/>
              <a:t>Nombre:</a:t>
            </a:r>
            <a:r>
              <a:rPr lang="es-BO" sz="2700" dirty="0"/>
              <a:t> A. M. U</a:t>
            </a:r>
            <a:r>
              <a:rPr lang="es-BO" sz="2700" dirty="0" smtClean="0"/>
              <a:t>.</a:t>
            </a:r>
            <a:br>
              <a:rPr lang="es-BO" sz="2700" dirty="0" smtClean="0"/>
            </a:br>
            <a:r>
              <a:rPr lang="es-BO" sz="2700" b="1" dirty="0" smtClean="0"/>
              <a:t>Edad</a:t>
            </a:r>
            <a:r>
              <a:rPr lang="es-BO" sz="2700" b="1" dirty="0"/>
              <a:t>: </a:t>
            </a:r>
            <a:r>
              <a:rPr lang="es-BO" sz="2700" dirty="0"/>
              <a:t>51 años.</a:t>
            </a:r>
            <a:br>
              <a:rPr lang="es-BO" sz="2700" dirty="0"/>
            </a:br>
            <a:r>
              <a:rPr lang="es-BO" sz="2700" b="1" dirty="0"/>
              <a:t>Procedencia: </a:t>
            </a:r>
            <a:r>
              <a:rPr lang="es-BO" sz="2700" dirty="0"/>
              <a:t>Chayanta - Potosí</a:t>
            </a:r>
            <a:br>
              <a:rPr lang="es-BO" sz="2700" dirty="0"/>
            </a:br>
            <a:r>
              <a:rPr lang="es-BO" sz="2700" b="1" dirty="0"/>
              <a:t>Sexo: </a:t>
            </a:r>
            <a:r>
              <a:rPr lang="es-BO" sz="2700" dirty="0"/>
              <a:t>Masculino.</a:t>
            </a:r>
            <a:br>
              <a:rPr lang="es-BO" sz="2700" dirty="0"/>
            </a:br>
            <a:r>
              <a:rPr lang="es-BO" sz="2700" b="1" dirty="0"/>
              <a:t>Estado Civil: </a:t>
            </a:r>
            <a:r>
              <a:rPr lang="es-BO" sz="2700" dirty="0"/>
              <a:t>Casado</a:t>
            </a:r>
            <a:br>
              <a:rPr lang="es-BO" sz="2700" dirty="0"/>
            </a:br>
            <a:r>
              <a:rPr lang="es-BO" sz="2700" b="1" dirty="0"/>
              <a:t>Ocupación: </a:t>
            </a:r>
            <a:r>
              <a:rPr lang="es-BO" sz="2700" dirty="0"/>
              <a:t>Albañil</a:t>
            </a:r>
            <a:br>
              <a:rPr lang="es-BO" sz="2700" dirty="0"/>
            </a:br>
            <a:r>
              <a:rPr lang="es-BO" sz="2700" b="1" dirty="0"/>
              <a:t>Sala: </a:t>
            </a:r>
            <a:r>
              <a:rPr lang="es-BO" sz="2700" dirty="0"/>
              <a:t>245 – 4.</a:t>
            </a:r>
            <a:br>
              <a:rPr lang="es-BO" sz="2700" dirty="0"/>
            </a:br>
            <a:r>
              <a:rPr lang="es-BO" sz="2700" b="1" dirty="0"/>
              <a:t>Fecha de Ingreso: </a:t>
            </a:r>
            <a:r>
              <a:rPr lang="es-BO" sz="2700" dirty="0"/>
              <a:t>07 – 09 – 13.     </a:t>
            </a:r>
            <a:br>
              <a:rPr lang="es-BO" sz="2700" dirty="0"/>
            </a:br>
            <a:r>
              <a:rPr lang="es-BO" sz="2700" b="1" dirty="0" smtClean="0"/>
              <a:t>Hora: </a:t>
            </a:r>
            <a:r>
              <a:rPr lang="es-BO" sz="2700" dirty="0" smtClean="0"/>
              <a:t>21:10 p.m.</a:t>
            </a:r>
            <a:r>
              <a:rPr lang="es-BO" dirty="0"/>
              <a:t/>
            </a:r>
            <a:br>
              <a:rPr lang="es-BO" dirty="0"/>
            </a:br>
            <a:r>
              <a:rPr lang="es-BO" dirty="0"/>
              <a:t/>
            </a:r>
            <a:br>
              <a:rPr lang="es-BO" dirty="0"/>
            </a:br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921080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01752" y="260648"/>
            <a:ext cx="8686800" cy="6120680"/>
          </a:xfrm>
        </p:spPr>
        <p:txBody>
          <a:bodyPr>
            <a:normAutofit fontScale="90000"/>
          </a:bodyPr>
          <a:lstStyle/>
          <a:p>
            <a:r>
              <a:rPr lang="es-BO" sz="2800" b="1" dirty="0" smtClean="0"/>
              <a:t>A.       DIAGNÓSTICO </a:t>
            </a:r>
            <a:r>
              <a:rPr lang="es-BO" sz="2800" b="1" dirty="0"/>
              <a:t>MEDICO DE INGRESO: 07 – 09 – 13.</a:t>
            </a:r>
            <a:r>
              <a:rPr lang="es-BO" sz="2800" dirty="0"/>
              <a:t/>
            </a:r>
            <a:br>
              <a:rPr lang="es-BO" sz="2800" dirty="0"/>
            </a:br>
            <a:r>
              <a:rPr lang="es-BO" sz="2800" dirty="0"/>
              <a:t/>
            </a:r>
            <a:br>
              <a:rPr lang="es-BO" sz="2800" dirty="0"/>
            </a:br>
            <a:r>
              <a:rPr lang="es-BO" sz="2800" dirty="0" smtClean="0"/>
              <a:t>•	TRAUMA </a:t>
            </a:r>
            <a:r>
              <a:rPr lang="es-BO" sz="2800" dirty="0"/>
              <a:t>ABDOMINAL CRERRADO.</a:t>
            </a:r>
            <a:br>
              <a:rPr lang="es-BO" sz="2800" dirty="0"/>
            </a:br>
            <a:r>
              <a:rPr lang="es-BO" sz="2800" dirty="0"/>
              <a:t>•	POLICONTUSION.</a:t>
            </a:r>
            <a:br>
              <a:rPr lang="es-BO" sz="2800" dirty="0"/>
            </a:br>
            <a:r>
              <a:rPr lang="es-BO" sz="2800" dirty="0"/>
              <a:t>•	PERFORACION DE VISERA HUECA.</a:t>
            </a:r>
            <a:br>
              <a:rPr lang="es-BO" sz="2800" dirty="0"/>
            </a:br>
            <a:r>
              <a:rPr lang="es-BO" sz="2800" dirty="0"/>
              <a:t>•	SHOCK SEPTICO.</a:t>
            </a:r>
            <a:br>
              <a:rPr lang="es-BO" sz="2800" dirty="0"/>
            </a:br>
            <a:r>
              <a:rPr lang="es-BO" sz="2800" dirty="0" smtClean="0"/>
              <a:t/>
            </a:r>
            <a:br>
              <a:rPr lang="es-BO" sz="2800" dirty="0" smtClean="0"/>
            </a:br>
            <a:r>
              <a:rPr lang="es-BO" sz="2800" b="1" dirty="0" smtClean="0"/>
              <a:t>B.</a:t>
            </a:r>
            <a:r>
              <a:rPr lang="es-BO" sz="2800" b="1" dirty="0"/>
              <a:t>	DIAGNOSTICO MEDICO ACTUAL: 08 – 09 – 13.</a:t>
            </a:r>
            <a:r>
              <a:rPr lang="es-BO" sz="2800" dirty="0"/>
              <a:t/>
            </a:r>
            <a:br>
              <a:rPr lang="es-BO" sz="2800" dirty="0"/>
            </a:br>
            <a:r>
              <a:rPr lang="es-BO" sz="2800" dirty="0"/>
              <a:t/>
            </a:r>
            <a:br>
              <a:rPr lang="es-BO" sz="2800" dirty="0"/>
            </a:br>
            <a:r>
              <a:rPr lang="es-BO" sz="2800" dirty="0"/>
              <a:t>•	ABDOMEN AGUDO POR TRAUMA ABDOMINAL </a:t>
            </a:r>
            <a:r>
              <a:rPr lang="es-BO" sz="2800" dirty="0" smtClean="0"/>
              <a:t>                             CERRADO</a:t>
            </a:r>
            <a:r>
              <a:rPr lang="es-BO" sz="2800" dirty="0"/>
              <a:t>.</a:t>
            </a:r>
            <a:br>
              <a:rPr lang="es-BO" sz="2800" dirty="0"/>
            </a:br>
            <a:r>
              <a:rPr lang="es-BO" sz="2800" dirty="0"/>
              <a:t/>
            </a:r>
            <a:br>
              <a:rPr lang="es-BO" sz="2800" dirty="0"/>
            </a:br>
            <a:r>
              <a:rPr lang="es-BO" sz="2800" b="1" dirty="0"/>
              <a:t>C.	INTERVENSION QUIRURGICA ACTUAL: 08 – 09 – 13.</a:t>
            </a:r>
            <a:r>
              <a:rPr lang="es-BO" sz="2800" dirty="0"/>
              <a:t/>
            </a:r>
            <a:br>
              <a:rPr lang="es-BO" sz="2800" dirty="0"/>
            </a:br>
            <a:r>
              <a:rPr lang="es-BO" sz="2800" dirty="0"/>
              <a:t/>
            </a:r>
            <a:br>
              <a:rPr lang="es-BO" sz="2800" dirty="0"/>
            </a:br>
            <a:r>
              <a:rPr lang="es-BO" sz="2800" dirty="0"/>
              <a:t>•	POS OPERADO DE LAPARATOMIA EXPLORADORA.</a:t>
            </a:r>
            <a:endParaRPr lang="es-BO" sz="2800" dirty="0"/>
          </a:p>
        </p:txBody>
      </p:sp>
    </p:spTree>
    <p:extLst>
      <p:ext uri="{BB962C8B-B14F-4D97-AF65-F5344CB8AC3E}">
        <p14:creationId xmlns:p14="http://schemas.microsoft.com/office/powerpoint/2010/main" val="2447312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xfrm>
            <a:off x="301752" y="457200"/>
            <a:ext cx="8686800" cy="5996136"/>
          </a:xfrm>
        </p:spPr>
        <p:txBody>
          <a:bodyPr>
            <a:normAutofit/>
          </a:bodyPr>
          <a:lstStyle/>
          <a:p>
            <a:pPr marL="457200" indent="-457200">
              <a:buFont typeface="Wingdings" pitchFamily="2" charset="2"/>
              <a:buChar char="Ø"/>
            </a:pPr>
            <a:r>
              <a:rPr lang="es-BO" sz="2900" dirty="0"/>
              <a:t>	</a:t>
            </a:r>
            <a:r>
              <a:rPr lang="es-BO" sz="2900" b="1" dirty="0"/>
              <a:t>MOTIVO DE CONSULTA:</a:t>
            </a:r>
            <a:r>
              <a:rPr lang="es-BO" sz="2900" dirty="0"/>
              <a:t/>
            </a:r>
            <a:br>
              <a:rPr lang="es-BO" sz="2900" dirty="0"/>
            </a:br>
            <a:r>
              <a:rPr lang="es-BO" sz="2900" dirty="0"/>
              <a:t/>
            </a:r>
            <a:br>
              <a:rPr lang="es-BO" sz="2900" dirty="0"/>
            </a:br>
            <a:r>
              <a:rPr lang="es-BO" sz="2900" dirty="0"/>
              <a:t>Paciente ingresa al servicio de emergencia tras haber sufrido una agresión física por terceras personas.</a:t>
            </a:r>
            <a:br>
              <a:rPr lang="es-BO" sz="2900" dirty="0"/>
            </a:br>
            <a:r>
              <a:rPr lang="es-BO" sz="2900" dirty="0"/>
              <a:t/>
            </a:r>
            <a:br>
              <a:rPr lang="es-BO" sz="2900" dirty="0"/>
            </a:br>
            <a:r>
              <a:rPr lang="es-BO" sz="2900" dirty="0"/>
              <a:t/>
            </a:r>
            <a:br>
              <a:rPr lang="es-BO" sz="2900" dirty="0"/>
            </a:br>
            <a:r>
              <a:rPr lang="es-BO" sz="2900" dirty="0"/>
              <a:t/>
            </a:r>
            <a:br>
              <a:rPr lang="es-BO" sz="2900" dirty="0"/>
            </a:br>
            <a:endParaRPr lang="es-BO" sz="2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title"/>
          </p:nvPr>
        </p:nvSpPr>
        <p:spPr>
          <a:xfrm>
            <a:off x="443552" y="404664"/>
            <a:ext cx="8160896" cy="6264696"/>
          </a:xfrm>
        </p:spPr>
        <p:txBody>
          <a:bodyPr>
            <a:normAutofit/>
          </a:bodyPr>
          <a:lstStyle/>
          <a:p>
            <a:r>
              <a:rPr lang="es-BO" sz="2900" b="1" dirty="0" smtClean="0"/>
              <a:t/>
            </a:r>
            <a:br>
              <a:rPr lang="es-BO" sz="2900" b="1" dirty="0" smtClean="0"/>
            </a:br>
            <a:r>
              <a:rPr lang="es-BO" sz="2900" b="1" dirty="0"/>
              <a:t/>
            </a:r>
            <a:br>
              <a:rPr lang="es-BO" sz="2900" b="1" dirty="0"/>
            </a:br>
            <a:r>
              <a:rPr lang="es-BO" sz="2900" dirty="0" smtClean="0"/>
              <a:t/>
            </a:r>
            <a:br>
              <a:rPr lang="es-BO" sz="2900" dirty="0" smtClean="0"/>
            </a:br>
            <a:r>
              <a:rPr lang="es-BO" sz="2900" dirty="0"/>
              <a:t/>
            </a:r>
            <a:br>
              <a:rPr lang="es-BO" sz="2900" dirty="0"/>
            </a:br>
            <a:r>
              <a:rPr lang="es-BO" dirty="0"/>
              <a:t/>
            </a:r>
            <a:br>
              <a:rPr lang="es-BO" dirty="0"/>
            </a:br>
            <a:r>
              <a:rPr lang="es-BO" dirty="0"/>
              <a:t/>
            </a:r>
            <a:br>
              <a:rPr lang="es-BO" dirty="0"/>
            </a:br>
            <a:endParaRPr lang="es-BO" dirty="0"/>
          </a:p>
        </p:txBody>
      </p:sp>
      <p:sp>
        <p:nvSpPr>
          <p:cNvPr id="2" name="1 Rectángulo"/>
          <p:cNvSpPr/>
          <p:nvPr/>
        </p:nvSpPr>
        <p:spPr>
          <a:xfrm>
            <a:off x="683568" y="332656"/>
            <a:ext cx="7920880" cy="6370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lang="es-BO" sz="2400" dirty="0"/>
              <a:t>	</a:t>
            </a:r>
            <a:r>
              <a:rPr lang="es-BO" sz="2400" b="1" dirty="0"/>
              <a:t>ENFERMEDAD ACTUAL:</a:t>
            </a:r>
            <a:r>
              <a:rPr lang="es-BO" sz="2400" dirty="0"/>
              <a:t/>
            </a:r>
            <a:br>
              <a:rPr lang="es-BO" sz="2400" dirty="0"/>
            </a:br>
            <a:r>
              <a:rPr lang="es-BO" sz="2400" dirty="0"/>
              <a:t/>
            </a:r>
            <a:br>
              <a:rPr lang="es-BO" sz="2400" dirty="0"/>
            </a:br>
            <a:r>
              <a:rPr lang="es-BO" sz="2400" dirty="0"/>
              <a:t>Paciente de 51 años de edad ingresa al servicio de emergencias traído por sus familiares, con un cuadro clínico de más o menos 15 </a:t>
            </a:r>
            <a:r>
              <a:rPr lang="es-BO" sz="2400" dirty="0" err="1"/>
              <a:t>hrs</a:t>
            </a:r>
            <a:r>
              <a:rPr lang="es-BO" sz="2400" dirty="0"/>
              <a:t>. de evolución Refiere que fue agredido por terceras personas y fue llevado al centro de salud de sacaba donde le realizaron curaciones, suturas y le dieron de alta, posterior a egreso del centro de salud, 10 </a:t>
            </a:r>
            <a:r>
              <a:rPr lang="es-BO" sz="2400" dirty="0" err="1"/>
              <a:t>hrs</a:t>
            </a:r>
            <a:r>
              <a:rPr lang="es-BO" sz="2400" dirty="0"/>
              <a:t>. Después, paciente presenta cefalea intensa, pérdida de conocimiento de inicio súbito, además dolor abdominal de tipo opresivo, de inicio súbito, de intensidad moderada, acompañada de nauseas llegando a vomito en 3 oportunidades, adinamia y malestar general, con múltiples laceraciones en rostro y extremidades superiores, solución de continuidad, suturada en región temporoparietal derecho de más o menos 5 cm.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Título"/>
          <p:cNvSpPr>
            <a:spLocks noGrp="1"/>
          </p:cNvSpPr>
          <p:nvPr>
            <p:ph type="title"/>
          </p:nvPr>
        </p:nvSpPr>
        <p:spPr>
          <a:xfrm>
            <a:off x="301752" y="260648"/>
            <a:ext cx="8686800" cy="5976664"/>
          </a:xfrm>
        </p:spPr>
        <p:txBody>
          <a:bodyPr>
            <a:normAutofit/>
          </a:bodyPr>
          <a:lstStyle/>
          <a:p>
            <a:r>
              <a:rPr lang="es-BO" sz="2200" dirty="0" smtClean="0"/>
              <a:t/>
            </a:r>
            <a:br>
              <a:rPr lang="es-BO" sz="2200" dirty="0" smtClean="0"/>
            </a:br>
            <a:r>
              <a:rPr lang="es-BO" sz="2200" dirty="0"/>
              <a:t/>
            </a:r>
            <a:br>
              <a:rPr lang="es-BO" sz="2200" dirty="0"/>
            </a:br>
            <a:r>
              <a:rPr lang="es-BO" sz="2200" cap="none" dirty="0" smtClean="0"/>
              <a:t/>
            </a:r>
            <a:br>
              <a:rPr lang="es-BO" sz="2200" cap="none" dirty="0" smtClean="0"/>
            </a:br>
            <a:r>
              <a:rPr lang="es-BO" sz="2200" cap="none" dirty="0" smtClean="0"/>
              <a:t/>
            </a:r>
            <a:br>
              <a:rPr lang="es-BO" sz="2200" cap="none" dirty="0" smtClean="0"/>
            </a:br>
            <a:r>
              <a:rPr lang="es-BO" sz="2200" dirty="0"/>
              <a:t/>
            </a:r>
            <a:br>
              <a:rPr lang="es-BO" sz="2200" dirty="0"/>
            </a:br>
            <a:endParaRPr lang="es-BO" dirty="0"/>
          </a:p>
        </p:txBody>
      </p:sp>
      <p:sp>
        <p:nvSpPr>
          <p:cNvPr id="2" name="1 Rectángulo"/>
          <p:cNvSpPr/>
          <p:nvPr/>
        </p:nvSpPr>
        <p:spPr>
          <a:xfrm>
            <a:off x="683568" y="620688"/>
            <a:ext cx="7920880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itchFamily="2" charset="2"/>
              <a:buChar char="Ø"/>
            </a:pPr>
            <a:r>
              <a:rPr lang="es-BO" sz="2800" b="1" dirty="0"/>
              <a:t>ANTECEDENTES </a:t>
            </a:r>
            <a:r>
              <a:rPr lang="es-BO" sz="2800" b="1" dirty="0" smtClean="0"/>
              <a:t>FAMILIARES</a:t>
            </a:r>
          </a:p>
          <a:p>
            <a:endParaRPr lang="es-BO" sz="2800" dirty="0"/>
          </a:p>
          <a:p>
            <a:r>
              <a:rPr lang="es-BO" sz="2800" b="1" dirty="0"/>
              <a:t>MADRE: </a:t>
            </a:r>
            <a:r>
              <a:rPr lang="es-BO" sz="2800" dirty="0"/>
              <a:t>Fallecida con Diabetes</a:t>
            </a:r>
            <a:r>
              <a:rPr lang="es-BO" sz="2800" dirty="0" smtClean="0"/>
              <a:t>.</a:t>
            </a:r>
          </a:p>
          <a:p>
            <a:endParaRPr lang="es-BO" sz="2800" dirty="0"/>
          </a:p>
          <a:p>
            <a:r>
              <a:rPr lang="es-BO" sz="2800" b="1" dirty="0"/>
              <a:t>PADRE: </a:t>
            </a:r>
            <a:r>
              <a:rPr lang="es-BO" sz="2800" dirty="0"/>
              <a:t>Fallecido con antecedentes de Chagas</a:t>
            </a:r>
            <a:r>
              <a:rPr lang="es-BO" sz="2800" dirty="0" smtClean="0"/>
              <a:t>.</a:t>
            </a:r>
          </a:p>
          <a:p>
            <a:endParaRPr lang="es-BO" sz="2800" dirty="0"/>
          </a:p>
          <a:p>
            <a:r>
              <a:rPr lang="es-BO" sz="2800" b="1" dirty="0"/>
              <a:t>HERMANOS: </a:t>
            </a:r>
            <a:r>
              <a:rPr lang="es-BO" sz="2800" dirty="0"/>
              <a:t>5 Hermanos de los cuales 3 son </a:t>
            </a:r>
            <a:endParaRPr lang="es-BO" sz="2800" dirty="0" smtClean="0"/>
          </a:p>
          <a:p>
            <a:r>
              <a:rPr lang="es-BO" sz="2800" dirty="0" smtClean="0"/>
              <a:t>varones </a:t>
            </a:r>
            <a:r>
              <a:rPr lang="es-BO" sz="2800" dirty="0"/>
              <a:t>y 2 mujeres aparentemente sanos </a:t>
            </a:r>
            <a:endParaRPr lang="es-BO" sz="2800" dirty="0" smtClean="0"/>
          </a:p>
          <a:p>
            <a:endParaRPr lang="es-BO" sz="2800" dirty="0"/>
          </a:p>
          <a:p>
            <a:r>
              <a:rPr lang="es-BO" sz="2800" b="1" dirty="0"/>
              <a:t>HIJOS: </a:t>
            </a:r>
            <a:r>
              <a:rPr lang="es-BO" sz="2800" dirty="0"/>
              <a:t>3 Hijos aparentemente sanos de los cuales 2 son varones y 1 mujer.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Título"/>
          <p:cNvSpPr>
            <a:spLocks noGrp="1"/>
          </p:cNvSpPr>
          <p:nvPr>
            <p:ph type="title"/>
          </p:nvPr>
        </p:nvSpPr>
        <p:spPr>
          <a:xfrm>
            <a:off x="467544" y="476672"/>
            <a:ext cx="8164665" cy="5904656"/>
          </a:xfrm>
        </p:spPr>
        <p:txBody>
          <a:bodyPr>
            <a:normAutofit/>
          </a:bodyPr>
          <a:lstStyle/>
          <a:p>
            <a:r>
              <a:rPr lang="es-BO" sz="2400" dirty="0"/>
              <a:t/>
            </a:r>
            <a:br>
              <a:rPr lang="es-BO" sz="2400" dirty="0"/>
            </a:br>
            <a:endParaRPr lang="es-BO" sz="2400" dirty="0"/>
          </a:p>
        </p:txBody>
      </p:sp>
      <p:sp>
        <p:nvSpPr>
          <p:cNvPr id="2" name="1 Rectángulo"/>
          <p:cNvSpPr/>
          <p:nvPr/>
        </p:nvSpPr>
        <p:spPr>
          <a:xfrm>
            <a:off x="508487" y="188640"/>
            <a:ext cx="8208912" cy="65556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BO" sz="2000" b="1" dirty="0"/>
              <a:t>IV.ANTECEDENTES PERSONALES PATOLÓGICOS.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s-BO" sz="2000" b="1" dirty="0" smtClean="0"/>
              <a:t>Clínicos</a:t>
            </a:r>
            <a:r>
              <a:rPr lang="es-BO" sz="2000" b="1" dirty="0"/>
              <a:t>.- </a:t>
            </a:r>
            <a:r>
              <a:rPr lang="es-BO" sz="2000" dirty="0"/>
              <a:t>El paciente refiere que jamás  se internó en un hospital o centro de salud ya que no padeció enfermedades graves para poder internarse o acudir al centro de salud u hospitales. Es por el cual que es la primera vez que se internó y que siente miedo por lo que vaya a pasar con su enfermedad actual.</a:t>
            </a:r>
          </a:p>
          <a:p>
            <a:endParaRPr lang="es-BO" sz="2000" dirty="0"/>
          </a:p>
          <a:p>
            <a:pPr marL="342900" indent="-342900">
              <a:buFont typeface="Wingdings" pitchFamily="2" charset="2"/>
              <a:buChar char="Ø"/>
            </a:pPr>
            <a:r>
              <a:rPr lang="es-BO" sz="2000" b="1" dirty="0" smtClean="0"/>
              <a:t>Quirúrgico</a:t>
            </a:r>
            <a:r>
              <a:rPr lang="es-BO" sz="2000" b="1" dirty="0"/>
              <a:t>.-  </a:t>
            </a:r>
            <a:r>
              <a:rPr lang="es-BO" sz="2000" dirty="0"/>
              <a:t>Paciente refiere que es la primera cirugía que le hicieron ya que anteriormente jamás asistió ni le realizaron ningún tipo de cirugía. </a:t>
            </a:r>
          </a:p>
          <a:p>
            <a:endParaRPr lang="es-BO" sz="2000" b="1" dirty="0"/>
          </a:p>
          <a:p>
            <a:r>
              <a:rPr lang="es-BO" sz="2000" b="1" dirty="0"/>
              <a:t>V. ANTECEDENTES PERSONALES NO PATOLÓGICOS.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s-BO" sz="2000" b="1" dirty="0"/>
              <a:t>Alergias.- </a:t>
            </a:r>
            <a:r>
              <a:rPr lang="es-BO" sz="2000" dirty="0"/>
              <a:t>Paciente refiere que no tiene alergias a ningún tipo de alimentos, en cuanto a los medicamentos no sabe porque el generalmente utiliza la medicina natural y no así fármacos y ningún otro tipo de medicamento que sean dados o proporcionados en los hospitales o centros de salud indicados por médicos o farmacéuticos.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s-BO" sz="2000" b="1" dirty="0"/>
              <a:t>Hábitos.- </a:t>
            </a:r>
            <a:r>
              <a:rPr lang="es-BO" sz="2000" dirty="0"/>
              <a:t>El paciente refiere que jamás asistió a un centro de salud ni a hospitales porque jamás padeció de enfermedades graves alguna que otra vez que enfermo con resfrió, toz, gripe que por el consumía medicamentos caseros y se le pasaba el resfrió.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23528" y="116632"/>
            <a:ext cx="8686800" cy="6741368"/>
          </a:xfrm>
        </p:spPr>
        <p:txBody>
          <a:bodyPr>
            <a:normAutofit fontScale="90000"/>
          </a:bodyPr>
          <a:lstStyle/>
          <a:p>
            <a:r>
              <a:rPr lang="es-BO" sz="2200" dirty="0"/>
              <a:t> </a:t>
            </a:r>
            <a:r>
              <a:rPr lang="es-BO" sz="2200" dirty="0" smtClean="0"/>
              <a:t/>
            </a:r>
            <a:br>
              <a:rPr lang="es-BO" sz="2200" dirty="0" smtClean="0"/>
            </a:br>
            <a:r>
              <a:rPr lang="es-BO" sz="2200" b="1" dirty="0" smtClean="0"/>
              <a:t>VI.EXAMEN </a:t>
            </a:r>
            <a:r>
              <a:rPr lang="es-BO" sz="2200" b="1" dirty="0"/>
              <a:t>FÍSICO GENERAL. </a:t>
            </a:r>
            <a:r>
              <a:rPr lang="es-BO" sz="2200" b="1" dirty="0" smtClean="0"/>
              <a:t/>
            </a:r>
            <a:br>
              <a:rPr lang="es-BO" sz="2200" b="1" dirty="0" smtClean="0"/>
            </a:br>
            <a:r>
              <a:rPr lang="es-BO" sz="2200" dirty="0"/>
              <a:t/>
            </a:r>
            <a:br>
              <a:rPr lang="es-BO" sz="2200" dirty="0"/>
            </a:br>
            <a:r>
              <a:rPr lang="es-BO" sz="2200" b="1" dirty="0"/>
              <a:t>CABEZA: </a:t>
            </a:r>
            <a:r>
              <a:rPr lang="es-BO" sz="2200" cap="none" dirty="0"/>
              <a:t>I</a:t>
            </a:r>
            <a:r>
              <a:rPr lang="es-BO" sz="2200" cap="none" dirty="0" smtClean="0"/>
              <a:t>mplantación pilosa normal, presenta solución de continuidad a nivel del </a:t>
            </a:r>
            <a:r>
              <a:rPr lang="es-BO" sz="2200" cap="none" dirty="0" err="1" smtClean="0"/>
              <a:t>temporo_parietal</a:t>
            </a:r>
            <a:r>
              <a:rPr lang="es-BO" sz="2200" cap="none" dirty="0" smtClean="0"/>
              <a:t> derecho. </a:t>
            </a:r>
            <a:br>
              <a:rPr lang="es-BO" sz="2200" cap="none" dirty="0" smtClean="0"/>
            </a:br>
            <a:r>
              <a:rPr lang="es-BO" sz="2200" b="1" cap="none" dirty="0" smtClean="0"/>
              <a:t>ojos: </a:t>
            </a:r>
            <a:r>
              <a:rPr lang="es-BO" sz="2200" cap="none" dirty="0" smtClean="0"/>
              <a:t>pupilas </a:t>
            </a:r>
            <a:r>
              <a:rPr lang="es-BO" sz="2200" cap="none" dirty="0" err="1" smtClean="0"/>
              <a:t>isocoricas</a:t>
            </a:r>
            <a:r>
              <a:rPr lang="es-BO" sz="2200" cap="none" dirty="0" smtClean="0"/>
              <a:t> </a:t>
            </a:r>
            <a:r>
              <a:rPr lang="es-BO" sz="2200" cap="none" dirty="0" err="1" smtClean="0"/>
              <a:t>fotoreactivas</a:t>
            </a:r>
            <a:r>
              <a:rPr lang="es-BO" sz="2200" cap="none" dirty="0" smtClean="0"/>
              <a:t>, conjuntiva palpebral pálidas húmedas.</a:t>
            </a:r>
            <a:r>
              <a:rPr lang="es-BO" sz="2200" dirty="0"/>
              <a:t/>
            </a:r>
            <a:br>
              <a:rPr lang="es-BO" sz="2200" dirty="0"/>
            </a:br>
            <a:r>
              <a:rPr lang="es-BO" sz="2200" b="1" dirty="0"/>
              <a:t>OIDOS: </a:t>
            </a:r>
            <a:r>
              <a:rPr lang="es-BO" sz="2200" cap="none" dirty="0"/>
              <a:t>I</a:t>
            </a:r>
            <a:r>
              <a:rPr lang="es-BO" sz="2200" cap="none" dirty="0" smtClean="0"/>
              <a:t>mplantación simétrica, conducto auditivo externo permeable, a nivel de hélix de pabellón auricular  derecho equimosis.  </a:t>
            </a:r>
            <a:br>
              <a:rPr lang="es-BO" sz="2200" cap="none" dirty="0" smtClean="0"/>
            </a:br>
            <a:r>
              <a:rPr lang="es-BO" sz="2200" b="1" dirty="0" smtClean="0"/>
              <a:t>NARIZ</a:t>
            </a:r>
            <a:r>
              <a:rPr lang="es-BO" sz="2200" b="1" dirty="0"/>
              <a:t>: </a:t>
            </a:r>
            <a:r>
              <a:rPr lang="es-BO" sz="2200" cap="none" dirty="0"/>
              <a:t>S</a:t>
            </a:r>
            <a:r>
              <a:rPr lang="es-BO" sz="2200" cap="none" dirty="0" smtClean="0"/>
              <a:t>imétrica, fosas nasales no permeables con presencia de costras sanguinolentas</a:t>
            </a:r>
            <a:r>
              <a:rPr lang="es-BO" sz="2200" dirty="0" smtClean="0"/>
              <a:t>.</a:t>
            </a:r>
            <a:r>
              <a:rPr lang="es-BO" sz="2200" dirty="0"/>
              <a:t/>
            </a:r>
            <a:br>
              <a:rPr lang="es-BO" sz="2200" dirty="0"/>
            </a:br>
            <a:r>
              <a:rPr lang="es-BO" sz="2200" b="1" dirty="0"/>
              <a:t>BOCA: </a:t>
            </a:r>
            <a:r>
              <a:rPr lang="es-BO" sz="2200" cap="none" dirty="0"/>
              <a:t>A</a:t>
            </a:r>
            <a:r>
              <a:rPr lang="es-BO" sz="2200" cap="none" dirty="0" smtClean="0"/>
              <a:t>simétrico, mucosa oral seca, inflamación de comisura labial superior</a:t>
            </a:r>
            <a:r>
              <a:rPr lang="es-BO" sz="2200" dirty="0" smtClean="0"/>
              <a:t>.</a:t>
            </a:r>
            <a:r>
              <a:rPr lang="es-BO" sz="2200" dirty="0"/>
              <a:t/>
            </a:r>
            <a:br>
              <a:rPr lang="es-BO" sz="2200" dirty="0"/>
            </a:br>
            <a:r>
              <a:rPr lang="es-BO" sz="2200" b="1" dirty="0"/>
              <a:t>CUELLO: </a:t>
            </a:r>
            <a:r>
              <a:rPr lang="es-BO" sz="2200" cap="none" dirty="0"/>
              <a:t>C</a:t>
            </a:r>
            <a:r>
              <a:rPr lang="es-BO" sz="2200" cap="none" dirty="0" smtClean="0"/>
              <a:t>ilindro, simétrico, móvil, no se palpan adenopatías a nivel de cadena </a:t>
            </a:r>
            <a:r>
              <a:rPr lang="es-BO" sz="2200" cap="none" dirty="0" err="1" smtClean="0"/>
              <a:t>gangliar</a:t>
            </a:r>
            <a:r>
              <a:rPr lang="es-BO" sz="2200" cap="none" dirty="0" smtClean="0"/>
              <a:t>.</a:t>
            </a:r>
            <a:br>
              <a:rPr lang="es-BO" sz="2200" cap="none" dirty="0" smtClean="0"/>
            </a:br>
            <a:r>
              <a:rPr lang="es-BO" sz="2200" b="1" dirty="0" smtClean="0"/>
              <a:t>TORAX</a:t>
            </a:r>
            <a:r>
              <a:rPr lang="es-BO" sz="2200" b="1" dirty="0"/>
              <a:t>: </a:t>
            </a:r>
            <a:r>
              <a:rPr lang="es-BO" sz="2200" cap="none" dirty="0"/>
              <a:t>P</a:t>
            </a:r>
            <a:r>
              <a:rPr lang="es-BO" sz="2200" cap="none" dirty="0" smtClean="0"/>
              <a:t>arrilla costal simétrica, elasticidad y expansibilidad conservada, taquipnea.</a:t>
            </a:r>
            <a:br>
              <a:rPr lang="es-BO" sz="2200" cap="none" dirty="0" smtClean="0"/>
            </a:br>
            <a:r>
              <a:rPr lang="es-BO" sz="2200" b="1" dirty="0" smtClean="0"/>
              <a:t>CORAZON</a:t>
            </a:r>
            <a:r>
              <a:rPr lang="es-BO" sz="2200" b="1" dirty="0"/>
              <a:t>: </a:t>
            </a:r>
            <a:r>
              <a:rPr lang="es-BO" sz="2200" cap="none" dirty="0"/>
              <a:t>R</a:t>
            </a:r>
            <a:r>
              <a:rPr lang="es-BO" sz="2200" cap="none" dirty="0" smtClean="0"/>
              <a:t>ítmico, regular, normo fonético, </a:t>
            </a:r>
            <a:r>
              <a:rPr lang="es-BO" sz="2200" cap="none" dirty="0" err="1" smtClean="0"/>
              <a:t>taquicardico</a:t>
            </a:r>
            <a:r>
              <a:rPr lang="es-BO" sz="2200" dirty="0" smtClean="0"/>
              <a:t>.</a:t>
            </a:r>
            <a:r>
              <a:rPr lang="es-BO" sz="2200" dirty="0"/>
              <a:t/>
            </a:r>
            <a:br>
              <a:rPr lang="es-BO" sz="2200" dirty="0"/>
            </a:br>
            <a:r>
              <a:rPr lang="es-BO" sz="2200" b="1" dirty="0"/>
              <a:t>ABDOMEN: </a:t>
            </a:r>
            <a:r>
              <a:rPr lang="es-BO" sz="2200" cap="none" dirty="0"/>
              <a:t>N</a:t>
            </a:r>
            <a:r>
              <a:rPr lang="es-BO" sz="2200" cap="none" dirty="0" smtClean="0"/>
              <a:t>o </a:t>
            </a:r>
            <a:r>
              <a:rPr lang="es-BO" sz="2200" cap="none" dirty="0" err="1" smtClean="0"/>
              <a:t>depresible</a:t>
            </a:r>
            <a:r>
              <a:rPr lang="es-BO" sz="2200" cap="none" dirty="0" smtClean="0"/>
              <a:t>, doloroso a la palpación superficial con signo de irritación peritoneal, ruidos </a:t>
            </a:r>
            <a:r>
              <a:rPr lang="es-BO" sz="2200" cap="none" dirty="0" err="1" smtClean="0"/>
              <a:t>hidro</a:t>
            </a:r>
            <a:r>
              <a:rPr lang="es-BO" sz="2200" cap="none" dirty="0" smtClean="0"/>
              <a:t> aéreos abolidos (negativo).</a:t>
            </a:r>
            <a:r>
              <a:rPr lang="es-BO" sz="2200" cap="none" dirty="0"/>
              <a:t/>
            </a:r>
            <a:br>
              <a:rPr lang="es-BO" sz="2200" cap="none" dirty="0"/>
            </a:br>
            <a:r>
              <a:rPr lang="es-BO" sz="2200" b="1" cap="none" dirty="0"/>
              <a:t>GENITOURINARIO: </a:t>
            </a:r>
            <a:r>
              <a:rPr lang="es-BO" sz="2200" cap="none" dirty="0"/>
              <a:t>De sexo masculino con presencia de vello púbico, se evidencia presencia de sonda Foley a caída libre conectado a bolsa colectora, se observa orina </a:t>
            </a:r>
            <a:r>
              <a:rPr lang="es-BO" sz="2200" cap="none" dirty="0" err="1"/>
              <a:t>colurica</a:t>
            </a:r>
            <a:r>
              <a:rPr lang="es-BO" sz="2200" cap="none" dirty="0"/>
              <a:t>.</a:t>
            </a:r>
            <a:r>
              <a:rPr lang="es-BO" sz="2200" dirty="0"/>
              <a:t/>
            </a:r>
            <a:br>
              <a:rPr lang="es-BO" sz="2200" dirty="0"/>
            </a:br>
            <a:r>
              <a:rPr lang="es-BO" sz="2200" b="1" dirty="0"/>
              <a:t>EXTREMIDADES: </a:t>
            </a:r>
            <a:r>
              <a:rPr lang="es-BO" sz="2200" cap="none" dirty="0"/>
              <a:t>T</a:t>
            </a:r>
            <a:r>
              <a:rPr lang="es-BO" sz="2200" cap="none" dirty="0" smtClean="0"/>
              <a:t>ono y </a:t>
            </a:r>
            <a:r>
              <a:rPr lang="es-BO" sz="2200" cap="none" dirty="0" err="1" smtClean="0"/>
              <a:t>trofismo</a:t>
            </a:r>
            <a:r>
              <a:rPr lang="es-BO" sz="2200" cap="none" dirty="0" smtClean="0"/>
              <a:t> conservado, llenado capilar mayor a dos segundos.</a:t>
            </a:r>
            <a:r>
              <a:rPr lang="es-BO" cap="none" dirty="0" smtClean="0"/>
              <a:t/>
            </a:r>
            <a:br>
              <a:rPr lang="es-BO" cap="none" dirty="0" smtClean="0"/>
            </a:br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4157535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01752" y="457200"/>
            <a:ext cx="8686800" cy="6140152"/>
          </a:xfrm>
        </p:spPr>
        <p:txBody>
          <a:bodyPr>
            <a:normAutofit/>
          </a:bodyPr>
          <a:lstStyle/>
          <a:p>
            <a:r>
              <a:rPr lang="es-BO" sz="2200" cap="none" dirty="0" smtClean="0"/>
              <a:t/>
            </a:r>
            <a:br>
              <a:rPr lang="es-BO" sz="2200" cap="none" dirty="0" smtClean="0"/>
            </a:br>
            <a:endParaRPr lang="es-BO" sz="2200" cap="none" dirty="0"/>
          </a:p>
        </p:txBody>
      </p:sp>
      <p:sp>
        <p:nvSpPr>
          <p:cNvPr id="4" name="3 Rectángulo"/>
          <p:cNvSpPr/>
          <p:nvPr/>
        </p:nvSpPr>
        <p:spPr>
          <a:xfrm>
            <a:off x="442589" y="332656"/>
            <a:ext cx="8280920" cy="6370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BO" sz="2400" b="1" dirty="0"/>
              <a:t>DESCRIPCION CLINICA DEL DIAGNOSTICO </a:t>
            </a:r>
            <a:r>
              <a:rPr lang="es-BO" sz="2400" b="1" dirty="0" smtClean="0"/>
              <a:t>MEDICO</a:t>
            </a:r>
          </a:p>
          <a:p>
            <a:pPr algn="ctr"/>
            <a:endParaRPr lang="es-BO" sz="2400" b="1" dirty="0"/>
          </a:p>
          <a:p>
            <a:r>
              <a:rPr lang="es-BO" sz="2400" b="1" dirty="0"/>
              <a:t>POLICONTUSION</a:t>
            </a:r>
          </a:p>
          <a:p>
            <a:r>
              <a:rPr lang="es-BO" sz="2400" dirty="0"/>
              <a:t>Son varias lesiones físicas no penetrantes sobre un cuerpo humano causada por la acción de objetos duros, de superficie obtusa o roma, que actúan sobre el organismo por intermedio de una fuerza más o menos considerable. Los efectos de un golpe contuso varían según la fuerza y energía aplicada sobre el organismo dando lugar a una lesión superficial, como una equimosis, o lesiones sobre órganos y vísceras que pueden comprometer la vida del sujeto, como una fractura.</a:t>
            </a:r>
          </a:p>
          <a:p>
            <a:endParaRPr lang="es-BO" sz="2400" dirty="0"/>
          </a:p>
          <a:p>
            <a:r>
              <a:rPr lang="es-BO" sz="2400" b="1" dirty="0"/>
              <a:t>TRAUMA ABDMONAL </a:t>
            </a:r>
            <a:r>
              <a:rPr lang="es-BO" sz="2400" b="1" dirty="0" smtClean="0"/>
              <a:t>CERRADO</a:t>
            </a:r>
            <a:endParaRPr lang="es-BO" sz="2400" dirty="0"/>
          </a:p>
          <a:p>
            <a:r>
              <a:rPr lang="es-BO" sz="2400" dirty="0"/>
              <a:t>Un traumatismo abdominal es una lesión grave en el abdomen, bien sea por golpes contusos o por heridas penetrantes. El traumatismo abdominal es una causa frecuente de discapacidad y mortalidad significativa. </a:t>
            </a:r>
          </a:p>
        </p:txBody>
      </p:sp>
    </p:spTree>
    <p:extLst>
      <p:ext uri="{BB962C8B-B14F-4D97-AF65-F5344CB8AC3E}">
        <p14:creationId xmlns:p14="http://schemas.microsoft.com/office/powerpoint/2010/main" val="1101953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454290" y="188640"/>
            <a:ext cx="8280920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s-BO" dirty="0"/>
          </a:p>
          <a:p>
            <a:r>
              <a:rPr lang="es-BO" sz="2400" b="1" dirty="0"/>
              <a:t>PERFORACION DE VISCERA </a:t>
            </a:r>
            <a:r>
              <a:rPr lang="es-BO" sz="2400" b="1" dirty="0" smtClean="0"/>
              <a:t>HUECA</a:t>
            </a:r>
          </a:p>
          <a:p>
            <a:endParaRPr lang="es-BO" sz="2400" b="1" dirty="0"/>
          </a:p>
          <a:p>
            <a:r>
              <a:rPr lang="es-BO" sz="2400" b="1" dirty="0"/>
              <a:t>SHOCK SÉPTICO</a:t>
            </a:r>
          </a:p>
          <a:p>
            <a:r>
              <a:rPr lang="es-BO" sz="2400" dirty="0"/>
              <a:t>El choque séptico o shock séptico es un estado anormal grave del organismo en el cual existe hipotensión prolongada por cierto período, generalmente dos horas o más, causada por una disminución de la perfusión tisular y el suministro de oxígeno como consecuencia de una infección y la </a:t>
            </a:r>
            <a:r>
              <a:rPr lang="es-BO" sz="2400" dirty="0" smtClean="0"/>
              <a:t>sepsis.</a:t>
            </a:r>
          </a:p>
          <a:p>
            <a:endParaRPr lang="es-BO" sz="2400" dirty="0" smtClean="0"/>
          </a:p>
          <a:p>
            <a:pPr marL="342900" indent="-342900">
              <a:buFont typeface="Wingdings" pitchFamily="2" charset="2"/>
              <a:buChar char="Ø"/>
            </a:pPr>
            <a:r>
              <a:rPr lang="es-BO" sz="2400" b="1" dirty="0"/>
              <a:t>POST </a:t>
            </a:r>
            <a:r>
              <a:rPr lang="es-BO" sz="2400" b="1" dirty="0" smtClean="0"/>
              <a:t>QUIRÚRGICO</a:t>
            </a:r>
          </a:p>
          <a:p>
            <a:pPr marL="342900" indent="-342900">
              <a:buFont typeface="Wingdings" pitchFamily="2" charset="2"/>
              <a:buChar char="Ø"/>
            </a:pPr>
            <a:endParaRPr lang="es-BO" sz="2400" b="1" dirty="0"/>
          </a:p>
          <a:p>
            <a:r>
              <a:rPr lang="es-BO" sz="2400" b="1" dirty="0"/>
              <a:t>LAPAROTOMÍA EXPLORADORA </a:t>
            </a:r>
          </a:p>
          <a:p>
            <a:r>
              <a:rPr lang="es-BO" sz="2400" dirty="0"/>
              <a:t>Es una cirugía que se hace con el propósito de abrir, explorar y examinar para tratar los problemas que se presenten en el </a:t>
            </a:r>
            <a:r>
              <a:rPr lang="es-BO" sz="2400" dirty="0" smtClean="0"/>
              <a:t>abdomen.</a:t>
            </a:r>
            <a:endParaRPr lang="es-BO" sz="2400" dirty="0"/>
          </a:p>
          <a:p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3458553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23528" y="260648"/>
            <a:ext cx="8686800" cy="6336704"/>
          </a:xfrm>
        </p:spPr>
        <p:txBody>
          <a:bodyPr>
            <a:normAutofit/>
          </a:bodyPr>
          <a:lstStyle/>
          <a:p>
            <a:r>
              <a:rPr lang="es-BO" sz="2700" b="1" dirty="0" smtClean="0"/>
              <a:t/>
            </a:r>
            <a:br>
              <a:rPr lang="es-BO" sz="2700" b="1" dirty="0" smtClean="0"/>
            </a:br>
            <a:r>
              <a:rPr lang="es-BO" sz="2700" b="1" dirty="0"/>
              <a:t/>
            </a:r>
            <a:br>
              <a:rPr lang="es-BO" sz="2700" b="1" dirty="0"/>
            </a:br>
            <a:r>
              <a:rPr lang="es-BO" dirty="0"/>
              <a:t/>
            </a:r>
            <a:br>
              <a:rPr lang="es-BO" dirty="0"/>
            </a:br>
            <a:endParaRPr lang="es-BO" dirty="0"/>
          </a:p>
        </p:txBody>
      </p:sp>
      <p:sp>
        <p:nvSpPr>
          <p:cNvPr id="3" name="2 Rectángulo"/>
          <p:cNvSpPr/>
          <p:nvPr/>
        </p:nvSpPr>
        <p:spPr>
          <a:xfrm>
            <a:off x="467544" y="548680"/>
            <a:ext cx="828092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400" b="1" dirty="0" smtClean="0"/>
              <a:t>INDICACIONES </a:t>
            </a:r>
            <a:r>
              <a:rPr lang="pt-BR" sz="2400" b="1" dirty="0"/>
              <a:t>MÉDICAS </a:t>
            </a:r>
            <a:r>
              <a:rPr lang="pt-BR" sz="2400" b="1" dirty="0" smtClean="0"/>
              <a:t>:</a:t>
            </a:r>
          </a:p>
          <a:p>
            <a:endParaRPr lang="pt-BR" sz="2400" b="1" dirty="0"/>
          </a:p>
          <a:p>
            <a:r>
              <a:rPr lang="pt-BR" sz="2400" b="1" dirty="0"/>
              <a:t>1-	</a:t>
            </a:r>
          </a:p>
          <a:p>
            <a:r>
              <a:rPr lang="pt-BR" sz="2400" b="1" dirty="0"/>
              <a:t>2-	</a:t>
            </a:r>
          </a:p>
          <a:p>
            <a:r>
              <a:rPr lang="pt-BR" sz="2400" b="1" dirty="0"/>
              <a:t>3-	. </a:t>
            </a:r>
          </a:p>
          <a:p>
            <a:r>
              <a:rPr lang="pt-BR" sz="2400" b="1" dirty="0"/>
              <a:t>4-	</a:t>
            </a:r>
          </a:p>
          <a:p>
            <a:r>
              <a:rPr lang="pt-BR" sz="2400" b="1" dirty="0"/>
              <a:t>•	</a:t>
            </a:r>
          </a:p>
          <a:p>
            <a:r>
              <a:rPr lang="pt-BR" sz="2400" b="1" dirty="0"/>
              <a:t>•	</a:t>
            </a:r>
          </a:p>
          <a:p>
            <a:r>
              <a:rPr lang="pt-BR" sz="2400" b="1" dirty="0"/>
              <a:t>•	</a:t>
            </a:r>
          </a:p>
          <a:p>
            <a:r>
              <a:rPr lang="pt-BR" sz="2400" b="1" dirty="0"/>
              <a:t>•	</a:t>
            </a:r>
          </a:p>
          <a:p>
            <a:r>
              <a:rPr lang="pt-BR" sz="2400" b="1" dirty="0"/>
              <a:t>•	</a:t>
            </a:r>
          </a:p>
          <a:p>
            <a:r>
              <a:rPr lang="pt-BR" sz="2400" b="1" dirty="0"/>
              <a:t>•	</a:t>
            </a:r>
          </a:p>
          <a:p>
            <a:r>
              <a:rPr lang="pt-BR" sz="2400" b="1" dirty="0"/>
              <a:t>•	</a:t>
            </a:r>
          </a:p>
          <a:p>
            <a:r>
              <a:rPr lang="pt-BR" sz="2400" b="1" dirty="0"/>
              <a:t>•	</a:t>
            </a:r>
          </a:p>
          <a:p>
            <a:r>
              <a:rPr lang="pt-BR" sz="2400" b="1" dirty="0"/>
              <a:t>•</a:t>
            </a:r>
          </a:p>
        </p:txBody>
      </p:sp>
    </p:spTree>
    <p:extLst>
      <p:ext uri="{BB962C8B-B14F-4D97-AF65-F5344CB8AC3E}">
        <p14:creationId xmlns:p14="http://schemas.microsoft.com/office/powerpoint/2010/main" val="1437924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01752" y="188640"/>
            <a:ext cx="8686800" cy="6480720"/>
          </a:xfrm>
        </p:spPr>
        <p:txBody>
          <a:bodyPr>
            <a:normAutofit/>
          </a:bodyPr>
          <a:lstStyle/>
          <a:p>
            <a:r>
              <a:rPr lang="es-BO" sz="2000" dirty="0"/>
              <a:t/>
            </a:r>
            <a:br>
              <a:rPr lang="es-BO" sz="2000" dirty="0"/>
            </a:br>
            <a:r>
              <a:rPr lang="es-BO" sz="2000" dirty="0" smtClean="0"/>
              <a:t/>
            </a:r>
            <a:br>
              <a:rPr lang="es-BO" sz="2000" dirty="0" smtClean="0"/>
            </a:br>
            <a:r>
              <a:rPr lang="es-BO" sz="2000" dirty="0"/>
              <a:t/>
            </a:r>
            <a:br>
              <a:rPr lang="es-BO" sz="2000" dirty="0"/>
            </a:br>
            <a:r>
              <a:rPr lang="es-BO" sz="2000" dirty="0" smtClean="0"/>
              <a:t/>
            </a:r>
            <a:br>
              <a:rPr lang="es-BO" sz="2000" dirty="0" smtClean="0"/>
            </a:br>
            <a:r>
              <a:rPr lang="es-BO" sz="2000" dirty="0"/>
              <a:t/>
            </a:r>
            <a:br>
              <a:rPr lang="es-BO" sz="2000" dirty="0"/>
            </a:br>
            <a:r>
              <a:rPr lang="es-BO" sz="2000" dirty="0" smtClean="0"/>
              <a:t/>
            </a:r>
            <a:br>
              <a:rPr lang="es-BO" sz="2000" dirty="0" smtClean="0"/>
            </a:br>
            <a:r>
              <a:rPr lang="es-BO" sz="2000" dirty="0"/>
              <a:t/>
            </a:r>
            <a:br>
              <a:rPr lang="es-BO" sz="2000" dirty="0"/>
            </a:br>
            <a:r>
              <a:rPr lang="es-BO" sz="2000" dirty="0" smtClean="0"/>
              <a:t/>
            </a:r>
            <a:br>
              <a:rPr lang="es-BO" sz="2000" dirty="0" smtClean="0"/>
            </a:br>
            <a:r>
              <a:rPr lang="es-BO" sz="2000" dirty="0"/>
              <a:t/>
            </a:r>
            <a:br>
              <a:rPr lang="es-BO" sz="2000" dirty="0"/>
            </a:br>
            <a:r>
              <a:rPr lang="es-BO" sz="2000" dirty="0" smtClean="0"/>
              <a:t/>
            </a:r>
            <a:br>
              <a:rPr lang="es-BO" sz="2000" dirty="0" smtClean="0"/>
            </a:br>
            <a:r>
              <a:rPr lang="es-BO" sz="2000" dirty="0"/>
              <a:t/>
            </a:r>
            <a:br>
              <a:rPr lang="es-BO" sz="2000" dirty="0"/>
            </a:br>
            <a:r>
              <a:rPr lang="es-BO" sz="2000" dirty="0" smtClean="0"/>
              <a:t/>
            </a:r>
            <a:br>
              <a:rPr lang="es-BO" sz="2000" dirty="0" smtClean="0"/>
            </a:br>
            <a:r>
              <a:rPr lang="es-BO" sz="2000" dirty="0"/>
              <a:t/>
            </a:r>
            <a:br>
              <a:rPr lang="es-BO" sz="2000" dirty="0"/>
            </a:br>
            <a:r>
              <a:rPr lang="es-BO" sz="2000" dirty="0"/>
              <a:t>	</a:t>
            </a:r>
            <a:br>
              <a:rPr lang="es-BO" sz="2000" dirty="0"/>
            </a:br>
            <a:r>
              <a:rPr lang="es-BO" sz="2000" dirty="0"/>
              <a:t/>
            </a:r>
            <a:br>
              <a:rPr lang="es-BO" sz="2000" dirty="0"/>
            </a:br>
            <a:r>
              <a:rPr lang="es-BO" sz="2000" dirty="0"/>
              <a:t/>
            </a:r>
            <a:br>
              <a:rPr lang="es-BO" sz="2000" dirty="0"/>
            </a:br>
            <a:endParaRPr lang="es-BO" sz="2000" dirty="0"/>
          </a:p>
        </p:txBody>
      </p:sp>
      <p:sp>
        <p:nvSpPr>
          <p:cNvPr id="4" name="3 Rectángulo"/>
          <p:cNvSpPr/>
          <p:nvPr/>
        </p:nvSpPr>
        <p:spPr>
          <a:xfrm>
            <a:off x="395536" y="166569"/>
            <a:ext cx="8424936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s-BO" sz="2000" b="1" dirty="0"/>
          </a:p>
          <a:p>
            <a:pPr marL="514350" indent="-514350">
              <a:buAutoNum type="romanUcPeriod"/>
            </a:pPr>
            <a:r>
              <a:rPr lang="es-BO" sz="2000" b="1" dirty="0" smtClean="0"/>
              <a:t>EXAMENES </a:t>
            </a:r>
            <a:r>
              <a:rPr lang="es-BO" sz="2000" b="1" dirty="0"/>
              <a:t>COMPLEMENTARIOS</a:t>
            </a:r>
            <a:r>
              <a:rPr lang="es-BO" sz="2000" b="1" dirty="0" smtClean="0"/>
              <a:t>.</a:t>
            </a:r>
          </a:p>
          <a:p>
            <a:endParaRPr lang="es-BO" sz="2000" b="1" dirty="0"/>
          </a:p>
          <a:p>
            <a:pPr algn="ctr"/>
            <a:r>
              <a:rPr lang="es-BO" sz="2000" b="1" dirty="0"/>
              <a:t>HEMOGRAMA</a:t>
            </a:r>
          </a:p>
          <a:p>
            <a:endParaRPr lang="es-BO" sz="2000" b="1" dirty="0"/>
          </a:p>
          <a:p>
            <a:r>
              <a:rPr lang="es-BO" sz="2000" b="1" dirty="0"/>
              <a:t>Fecha: </a:t>
            </a:r>
          </a:p>
        </p:txBody>
      </p:sp>
      <p:graphicFrame>
        <p:nvGraphicFramePr>
          <p:cNvPr id="5" name="4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6689528"/>
              </p:ext>
            </p:extLst>
          </p:nvPr>
        </p:nvGraphicFramePr>
        <p:xfrm>
          <a:off x="1331640" y="2204864"/>
          <a:ext cx="60960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1524000"/>
                <a:gridCol w="1524000"/>
                <a:gridCol w="1524000"/>
              </a:tblGrid>
              <a:tr h="332864">
                <a:tc>
                  <a:txBody>
                    <a:bodyPr/>
                    <a:lstStyle/>
                    <a:p>
                      <a:endParaRPr lang="es-BO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B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B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BO"/>
                    </a:p>
                  </a:txBody>
                  <a:tcPr/>
                </a:tc>
              </a:tr>
              <a:tr h="332864">
                <a:tc>
                  <a:txBody>
                    <a:bodyPr/>
                    <a:lstStyle/>
                    <a:p>
                      <a:endParaRPr lang="es-B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B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B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BO"/>
                    </a:p>
                  </a:txBody>
                  <a:tcPr/>
                </a:tc>
              </a:tr>
              <a:tr h="332864">
                <a:tc>
                  <a:txBody>
                    <a:bodyPr/>
                    <a:lstStyle/>
                    <a:p>
                      <a:endParaRPr lang="es-B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B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B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BO"/>
                    </a:p>
                  </a:txBody>
                  <a:tcPr/>
                </a:tc>
              </a:tr>
              <a:tr h="332864">
                <a:tc>
                  <a:txBody>
                    <a:bodyPr/>
                    <a:lstStyle/>
                    <a:p>
                      <a:endParaRPr lang="es-B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B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B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BO" dirty="0"/>
                    </a:p>
                  </a:txBody>
                  <a:tcPr/>
                </a:tc>
              </a:tr>
              <a:tr h="332864">
                <a:tc>
                  <a:txBody>
                    <a:bodyPr/>
                    <a:lstStyle/>
                    <a:p>
                      <a:endParaRPr lang="es-B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B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B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BO"/>
                    </a:p>
                  </a:txBody>
                  <a:tcPr/>
                </a:tc>
              </a:tr>
              <a:tr h="332864">
                <a:tc>
                  <a:txBody>
                    <a:bodyPr/>
                    <a:lstStyle/>
                    <a:p>
                      <a:endParaRPr lang="es-B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B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B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BO"/>
                    </a:p>
                  </a:txBody>
                  <a:tcPr/>
                </a:tc>
              </a:tr>
              <a:tr h="325720">
                <a:tc>
                  <a:txBody>
                    <a:bodyPr/>
                    <a:lstStyle/>
                    <a:p>
                      <a:endParaRPr lang="es-B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B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B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BO"/>
                    </a:p>
                  </a:txBody>
                  <a:tcPr/>
                </a:tc>
              </a:tr>
              <a:tr h="332864">
                <a:tc>
                  <a:txBody>
                    <a:bodyPr/>
                    <a:lstStyle/>
                    <a:p>
                      <a:endParaRPr lang="es-B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B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B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BO" dirty="0" smtClean="0"/>
                    </a:p>
                    <a:p>
                      <a:endParaRPr lang="es-BO" dirty="0" smtClean="0"/>
                    </a:p>
                    <a:p>
                      <a:endParaRPr lang="es-BO" dirty="0" smtClean="0"/>
                    </a:p>
                    <a:p>
                      <a:endParaRPr lang="es-BO" dirty="0" smtClean="0"/>
                    </a:p>
                    <a:p>
                      <a:endParaRPr lang="es-BO" dirty="0" smtClean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9" name="8 Conector recto"/>
          <p:cNvCxnSpPr/>
          <p:nvPr/>
        </p:nvCxnSpPr>
        <p:spPr>
          <a:xfrm>
            <a:off x="1331640" y="5085184"/>
            <a:ext cx="61206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10 Conector recto"/>
          <p:cNvCxnSpPr/>
          <p:nvPr/>
        </p:nvCxnSpPr>
        <p:spPr>
          <a:xfrm>
            <a:off x="1331640" y="5373216"/>
            <a:ext cx="61206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12 Conector recto"/>
          <p:cNvCxnSpPr/>
          <p:nvPr/>
        </p:nvCxnSpPr>
        <p:spPr>
          <a:xfrm>
            <a:off x="1331640" y="5661248"/>
            <a:ext cx="61206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14 Conector recto"/>
          <p:cNvCxnSpPr/>
          <p:nvPr/>
        </p:nvCxnSpPr>
        <p:spPr>
          <a:xfrm>
            <a:off x="1331640" y="5949280"/>
            <a:ext cx="61206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8539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01752" y="457200"/>
            <a:ext cx="8686800" cy="6140152"/>
          </a:xfrm>
        </p:spPr>
        <p:txBody>
          <a:bodyPr>
            <a:normAutofit/>
          </a:bodyPr>
          <a:lstStyle/>
          <a:p>
            <a:r>
              <a:rPr lang="es-BO" dirty="0"/>
              <a:t/>
            </a:r>
            <a:br>
              <a:rPr lang="es-BO" dirty="0"/>
            </a:br>
            <a:endParaRPr lang="es-BO" dirty="0"/>
          </a:p>
        </p:txBody>
      </p:sp>
      <p:graphicFrame>
        <p:nvGraphicFramePr>
          <p:cNvPr id="3" name="2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0139498"/>
              </p:ext>
            </p:extLst>
          </p:nvPr>
        </p:nvGraphicFramePr>
        <p:xfrm>
          <a:off x="1475656" y="1412776"/>
          <a:ext cx="6096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/>
                <a:gridCol w="2032000"/>
                <a:gridCol w="2032000"/>
              </a:tblGrid>
              <a:tr h="370840">
                <a:tc>
                  <a:txBody>
                    <a:bodyPr/>
                    <a:lstStyle/>
                    <a:p>
                      <a:endParaRPr lang="es-B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B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BO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s-B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B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BO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s-B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B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BO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s-B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B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BO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s-B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B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BO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2947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01752" y="457200"/>
            <a:ext cx="8518720" cy="6068144"/>
          </a:xfrm>
        </p:spPr>
        <p:txBody>
          <a:bodyPr>
            <a:normAutofit/>
          </a:bodyPr>
          <a:lstStyle/>
          <a:p>
            <a:r>
              <a:rPr lang="es-BO" dirty="0"/>
              <a:t/>
            </a:r>
            <a:br>
              <a:rPr lang="es-BO" dirty="0"/>
            </a:br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3021849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01752" y="457200"/>
            <a:ext cx="8590728" cy="6068144"/>
          </a:xfrm>
        </p:spPr>
        <p:txBody>
          <a:bodyPr>
            <a:normAutofit/>
          </a:bodyPr>
          <a:lstStyle/>
          <a:p>
            <a:r>
              <a:rPr lang="es-BO" cap="none" dirty="0" smtClean="0"/>
              <a:t/>
            </a:r>
            <a:br>
              <a:rPr lang="es-BO" cap="none" dirty="0" smtClean="0"/>
            </a:br>
            <a:r>
              <a:rPr lang="es-BO" dirty="0"/>
              <a:t/>
            </a:r>
            <a:br>
              <a:rPr lang="es-BO" dirty="0"/>
            </a:br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2575585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Título"/>
          <p:cNvSpPr>
            <a:spLocks noGrp="1"/>
          </p:cNvSpPr>
          <p:nvPr>
            <p:ph type="title"/>
          </p:nvPr>
        </p:nvSpPr>
        <p:spPr>
          <a:xfrm>
            <a:off x="285720" y="571480"/>
            <a:ext cx="8501122" cy="5543568"/>
          </a:xfrm>
        </p:spPr>
        <p:txBody>
          <a:bodyPr/>
          <a:lstStyle/>
          <a:p>
            <a:r>
              <a:rPr lang="es-ES" dirty="0" smtClean="0"/>
              <a:t/>
            </a:r>
            <a:br>
              <a:rPr lang="es-ES" dirty="0" smtClean="0"/>
            </a:br>
            <a:endParaRPr lang="es-ES" dirty="0"/>
          </a:p>
        </p:txBody>
      </p:sp>
      <p:sp>
        <p:nvSpPr>
          <p:cNvPr id="8" name="7 Rectángulo"/>
          <p:cNvSpPr/>
          <p:nvPr/>
        </p:nvSpPr>
        <p:spPr>
          <a:xfrm rot="20622243">
            <a:off x="1500166" y="1286847"/>
            <a:ext cx="5715039" cy="313932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66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GRACIAS</a:t>
            </a:r>
          </a:p>
          <a:p>
            <a:pPr algn="ctr"/>
            <a:r>
              <a:rPr lang="es-ES" sz="66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POR SU</a:t>
            </a:r>
          </a:p>
          <a:p>
            <a:pPr algn="ctr"/>
            <a:r>
              <a:rPr lang="es-ES" sz="66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ATENCION</a:t>
            </a:r>
            <a:endParaRPr lang="es-ES" sz="66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11" name="10 Estrella de 5 puntas"/>
          <p:cNvSpPr/>
          <p:nvPr/>
        </p:nvSpPr>
        <p:spPr>
          <a:xfrm>
            <a:off x="714348" y="1142984"/>
            <a:ext cx="914400" cy="91440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11 Estrella de 5 puntas"/>
          <p:cNvSpPr/>
          <p:nvPr/>
        </p:nvSpPr>
        <p:spPr>
          <a:xfrm>
            <a:off x="7858148" y="4857760"/>
            <a:ext cx="914400" cy="91440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12 Sol"/>
          <p:cNvSpPr/>
          <p:nvPr/>
        </p:nvSpPr>
        <p:spPr>
          <a:xfrm>
            <a:off x="8001024" y="142852"/>
            <a:ext cx="914400" cy="914400"/>
          </a:xfrm>
          <a:prstGeom prst="su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13 Sol"/>
          <p:cNvSpPr/>
          <p:nvPr/>
        </p:nvSpPr>
        <p:spPr>
          <a:xfrm>
            <a:off x="642910" y="5943600"/>
            <a:ext cx="914400" cy="914400"/>
          </a:xfrm>
          <a:prstGeom prst="su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15" name="14 Conector recto"/>
          <p:cNvCxnSpPr/>
          <p:nvPr/>
        </p:nvCxnSpPr>
        <p:spPr>
          <a:xfrm flipV="1">
            <a:off x="2857488" y="3714752"/>
            <a:ext cx="3857652" cy="11430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16 Conector recto"/>
          <p:cNvCxnSpPr/>
          <p:nvPr/>
        </p:nvCxnSpPr>
        <p:spPr>
          <a:xfrm>
            <a:off x="2000232" y="6000768"/>
            <a:ext cx="5929354" cy="714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Viajes">
  <a:themeElements>
    <a:clrScheme name="Viajes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Viajes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Viajes">
      <a:fillStyleLst>
        <a:solidFill>
          <a:schemeClr val="phClr"/>
        </a:solidFill>
        <a:gradFill rotWithShape="1">
          <a:gsLst>
            <a:gs pos="0">
              <a:schemeClr val="phClr">
                <a:tint val="30000"/>
                <a:satMod val="250000"/>
              </a:schemeClr>
            </a:gs>
            <a:gs pos="72000">
              <a:schemeClr val="phClr">
                <a:tint val="75000"/>
                <a:satMod val="210000"/>
              </a:schemeClr>
            </a:gs>
            <a:gs pos="100000">
              <a:schemeClr val="phClr">
                <a:tint val="85000"/>
                <a:satMod val="21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5000"/>
                <a:shade val="85000"/>
                <a:satMod val="230000"/>
              </a:schemeClr>
            </a:gs>
            <a:gs pos="25000">
              <a:schemeClr val="phClr">
                <a:tint val="90000"/>
                <a:shade val="70000"/>
                <a:satMod val="220000"/>
              </a:schemeClr>
            </a:gs>
            <a:gs pos="50000">
              <a:schemeClr val="phClr">
                <a:tint val="90000"/>
                <a:shade val="58000"/>
                <a:satMod val="225000"/>
              </a:schemeClr>
            </a:gs>
            <a:gs pos="65000">
              <a:schemeClr val="phClr">
                <a:tint val="90000"/>
                <a:shade val="58000"/>
                <a:satMod val="225000"/>
              </a:schemeClr>
            </a:gs>
            <a:gs pos="80000">
              <a:schemeClr val="phClr">
                <a:tint val="90000"/>
                <a:shade val="69000"/>
                <a:satMod val="220000"/>
              </a:schemeClr>
            </a:gs>
            <a:gs pos="100000">
              <a:schemeClr val="phClr">
                <a:tint val="77000"/>
                <a:shade val="80000"/>
                <a:satMod val="230000"/>
              </a:schemeClr>
            </a:gs>
          </a:gsLst>
          <a:lin ang="5400000" scaled="1"/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0000" h="10000"/>
          </a:sp3d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bliqueTopLeft" fov="600000">
              <a:rot lat="0" lon="0" rev="0"/>
            </a:camera>
            <a:lightRig rig="balanced" dir="t">
              <a:rot lat="0" lon="0" rev="19200000"/>
            </a:lightRig>
          </a:scene3d>
          <a:sp3d contourW="12700" prstMaterial="matte">
            <a:bevelT w="60000" h="50800"/>
            <a:contourClr>
              <a:schemeClr val="phClr">
                <a:shade val="60000"/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05000"/>
              </a:schemeClr>
            </a:duotone>
          </a:blip>
          <a:tile tx="0" ty="0" sx="95000" sy="95000" flip="none" algn="t"/>
        </a:blipFill>
        <a:blipFill>
          <a:blip xmlns:r="http://schemas.openxmlformats.org/officeDocument/2006/relationships" r:embed="rId2">
            <a:duotone>
              <a:schemeClr val="phClr">
                <a:shade val="30000"/>
                <a:satMod val="455000"/>
              </a:schemeClr>
              <a:schemeClr val="phClr">
                <a:tint val="95000"/>
                <a:satMod val="12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1245</TotalTime>
  <Words>516</Words>
  <Application>Microsoft Office PowerPoint</Application>
  <PresentationFormat>Presentación en pantalla (4:3)</PresentationFormat>
  <Paragraphs>85</Paragraphs>
  <Slides>16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17" baseType="lpstr">
      <vt:lpstr>Viajes</vt:lpstr>
      <vt:lpstr>                                   MAESTRIA EN MEDICO QUIRURGICO                                                   ALSIE                                Ministerio de Salud y           Deportes                                                          LIC. MARIBEL CRUZ MAMANI                                                 LIC. DORA  EXPLORADORA                                                 LIC. HILDA                                                 LIC. ARMINDA                                                                                                     COCHABAMBA - BOLIVIA                                                          </vt:lpstr>
      <vt:lpstr>                         PROCESO ATENCIÓN DE ENFERMERÍA  1. DATOS GENERALES DEL PACIENTE:  Nombre: A. M. U. Edad: 51 años. Procedencia: Chayanta - Potosí Sexo: Masculino. Estado Civil: Casado Ocupación: Albañil Sala: 245 – 4. Fecha de Ingreso: 07 – 09 – 13.      Hora: 21:10 p.m.  </vt:lpstr>
      <vt:lpstr>A.       DIAGNÓSTICO MEDICO DE INGRESO: 07 – 09 – 13.  • TRAUMA ABDOMINAL CRERRADO. • POLICONTUSION. • PERFORACION DE VISERA HUECA. • SHOCK SEPTICO.  B. DIAGNOSTICO MEDICO ACTUAL: 08 – 09 – 13.  • ABDOMEN AGUDO POR TRAUMA ABDOMINAL                              CERRADO.  C. INTERVENSION QUIRURGICA ACTUAL: 08 – 09 – 13.  • POS OPERADO DE LAPARATOMIA EXPLORADORA.</vt:lpstr>
      <vt:lpstr> MOTIVO DE CONSULTA:  Paciente ingresa al servicio de emergencia tras haber sufrido una agresión física por terceras personas.    </vt:lpstr>
      <vt:lpstr>      </vt:lpstr>
      <vt:lpstr>     </vt:lpstr>
      <vt:lpstr> </vt:lpstr>
      <vt:lpstr>  VI.EXAMEN FÍSICO GENERAL.   CABEZA: Implantación pilosa normal, presenta solución de continuidad a nivel del temporo_parietal derecho.  ojos: pupilas isocoricas fotoreactivas, conjuntiva palpebral pálidas húmedas. OIDOS: Implantación simétrica, conducto auditivo externo permeable, a nivel de hélix de pabellón auricular  derecho equimosis.   NARIZ: Simétrica, fosas nasales no permeables con presencia de costras sanguinolentas. BOCA: Asimétrico, mucosa oral seca, inflamación de comisura labial superior. CUELLO: Cilindro, simétrico, móvil, no se palpan adenopatías a nivel de cadena gangliar. TORAX: Parrilla costal simétrica, elasticidad y expansibilidad conservada, taquipnea. CORAZON: Rítmico, regular, normo fonético, taquicardico. ABDOMEN: No depresible, doloroso a la palpación superficial con signo de irritación peritoneal, ruidos hidro aéreos abolidos (negativo). GENITOURINARIO: De sexo masculino con presencia de vello púbico, se evidencia presencia de sonda Foley a caída libre conectado a bolsa colectora, se observa orina colurica. EXTREMIDADES: Tono y trofismo conservado, llenado capilar mayor a dos segundos. </vt:lpstr>
      <vt:lpstr> </vt:lpstr>
      <vt:lpstr>Presentación de PowerPoint</vt:lpstr>
      <vt:lpstr>   </vt:lpstr>
      <vt:lpstr>                 </vt:lpstr>
      <vt:lpstr> </vt:lpstr>
      <vt:lpstr> </vt:lpstr>
      <vt:lpstr>  </vt:lpstr>
      <vt:lpstr> </vt:lpstr>
    </vt:vector>
  </TitlesOfParts>
  <Company>Caduceo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CASO CLINICO I  ERUPCION TARDIA</dc:title>
  <dc:creator>Caduceo5</dc:creator>
  <cp:lastModifiedBy>Claudia Soliz</cp:lastModifiedBy>
  <cp:revision>71</cp:revision>
  <dcterms:created xsi:type="dcterms:W3CDTF">2011-12-01T13:59:18Z</dcterms:created>
  <dcterms:modified xsi:type="dcterms:W3CDTF">2013-09-19T22:20:40Z</dcterms:modified>
</cp:coreProperties>
</file>