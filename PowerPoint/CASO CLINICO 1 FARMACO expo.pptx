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1056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B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4FB62338-F9B3-45AB-9C05-8EA49C71553E}" type="datetimeFigureOut">
              <a:rPr lang="es-BO" smtClean="0"/>
              <a:t>25/10/2013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2DEBE86A-5335-4D46-BBB9-471EEF14ACA0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CASO CLINICO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8653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u="sng" dirty="0" smtClean="0"/>
              <a:t>PRACTICA I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Paciente </a:t>
            </a:r>
            <a:r>
              <a:rPr lang="es-BO" dirty="0"/>
              <a:t>de 29 años de edad, ingresa el 23 de marzo del 2013, por el servicio ambulatorio para cirugía programada, el </a:t>
            </a:r>
            <a:r>
              <a:rPr lang="es-BO" dirty="0" err="1"/>
              <a:t>dia</a:t>
            </a:r>
            <a:r>
              <a:rPr lang="es-BO" dirty="0"/>
              <a:t> 24 de marzo a horas 09:00 en curso. 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00440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u="sng" dirty="0" smtClean="0"/>
              <a:t>CIRCUNSTANCIAS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BO" dirty="0" smtClean="0"/>
              <a:t>Sometida </a:t>
            </a:r>
            <a:r>
              <a:rPr lang="es-BO" dirty="0"/>
              <a:t>a cirugía de </a:t>
            </a:r>
            <a:r>
              <a:rPr lang="es-BO" dirty="0" smtClean="0"/>
              <a:t>Laparotomía </a:t>
            </a:r>
            <a:r>
              <a:rPr lang="es-BO" dirty="0"/>
              <a:t>de urgencia el 10 de diciembre del 2012 por los </a:t>
            </a:r>
            <a:r>
              <a:rPr lang="es-BO" dirty="0" smtClean="0"/>
              <a:t>diagnósticos </a:t>
            </a:r>
            <a:r>
              <a:rPr lang="es-BO" dirty="0"/>
              <a:t>de: </a:t>
            </a:r>
          </a:p>
          <a:p>
            <a:pPr lvl="0"/>
            <a:r>
              <a:rPr lang="es-BO" dirty="0"/>
              <a:t>Abdomen agudo quirúrgico.</a:t>
            </a:r>
          </a:p>
          <a:p>
            <a:pPr lvl="0"/>
            <a:r>
              <a:rPr lang="es-BO" dirty="0"/>
              <a:t>Obstrucción intestinal baja.</a:t>
            </a:r>
          </a:p>
          <a:p>
            <a:pPr lvl="0"/>
            <a:r>
              <a:rPr lang="es-BO" dirty="0"/>
              <a:t>Vólvulo de sigmoides con asa necrosada.</a:t>
            </a:r>
          </a:p>
          <a:p>
            <a:r>
              <a:rPr lang="es-BO" dirty="0"/>
              <a:t>Procediéndose a sigmoidestomia </a:t>
            </a:r>
            <a:r>
              <a:rPr lang="es-BO" dirty="0" smtClean="0"/>
              <a:t>segmentaria </a:t>
            </a:r>
            <a:r>
              <a:rPr lang="es-BO" dirty="0"/>
              <a:t>y colostomía terminal tipo I, siendo dado de alta medica el 16 de diciembre del 2012.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03357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27584" y="1052736"/>
            <a:ext cx="7869560" cy="4968552"/>
          </a:xfrm>
        </p:spPr>
        <p:txBody>
          <a:bodyPr>
            <a:normAutofit fontScale="90000"/>
          </a:bodyPr>
          <a:lstStyle/>
          <a:p>
            <a:pPr algn="l"/>
            <a:r>
              <a:rPr lang="es-BO" sz="3100" b="1" dirty="0">
                <a:solidFill>
                  <a:schemeClr val="tx1"/>
                </a:solidFill>
              </a:rPr>
              <a:t>ANTECECENTES:</a:t>
            </a:r>
            <a:r>
              <a:rPr lang="es-BO" sz="3100" dirty="0">
                <a:solidFill>
                  <a:schemeClr val="tx1"/>
                </a:solidFill>
              </a:rPr>
              <a:t/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ALIMENTICIOS </a:t>
            </a:r>
            <a:r>
              <a:rPr lang="es-BO" sz="3100" b="1" dirty="0" smtClean="0">
                <a:solidFill>
                  <a:schemeClr val="tx1"/>
                </a:solidFill>
              </a:rPr>
              <a:t>Y HABITOS</a:t>
            </a:r>
            <a:r>
              <a:rPr lang="es-BO" sz="3100" b="1" dirty="0">
                <a:solidFill>
                  <a:schemeClr val="tx1"/>
                </a:solidFill>
              </a:rPr>
              <a:t>:</a:t>
            </a:r>
            <a:r>
              <a:rPr lang="es-BO" sz="3100" dirty="0">
                <a:solidFill>
                  <a:schemeClr val="tx1"/>
                </a:solidFill>
              </a:rPr>
              <a:t/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dirty="0">
                <a:solidFill>
                  <a:schemeClr val="tx1"/>
                </a:solidFill>
              </a:rPr>
              <a:t>Fuma hace 4 años, </a:t>
            </a:r>
            <a:r>
              <a:rPr lang="es-BO" sz="3100" dirty="0" smtClean="0">
                <a:solidFill>
                  <a:schemeClr val="tx1"/>
                </a:solidFill>
              </a:rPr>
              <a:t>deposiciones </a:t>
            </a:r>
            <a:r>
              <a:rPr lang="es-BO" sz="3100" dirty="0">
                <a:solidFill>
                  <a:schemeClr val="tx1"/>
                </a:solidFill>
              </a:rPr>
              <a:t>cada 4 </a:t>
            </a:r>
            <a:r>
              <a:rPr lang="es-BO" sz="3100" dirty="0" smtClean="0">
                <a:solidFill>
                  <a:schemeClr val="tx1"/>
                </a:solidFill>
              </a:rPr>
              <a:t>días, </a:t>
            </a:r>
            <a:r>
              <a:rPr lang="es-BO" sz="3100" dirty="0">
                <a:solidFill>
                  <a:schemeClr val="tx1"/>
                </a:solidFill>
              </a:rPr>
              <a:t>pastosas, alimentación normal, niega otros.</a:t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QUIRURGICOS:</a:t>
            </a:r>
            <a:r>
              <a:rPr lang="es-BO" sz="3100" dirty="0">
                <a:solidFill>
                  <a:schemeClr val="tx1"/>
                </a:solidFill>
              </a:rPr>
              <a:t/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dirty="0" smtClean="0">
                <a:solidFill>
                  <a:schemeClr val="tx1"/>
                </a:solidFill>
              </a:rPr>
              <a:t>Cirugía </a:t>
            </a:r>
            <a:r>
              <a:rPr lang="es-BO" sz="3100" dirty="0">
                <a:solidFill>
                  <a:schemeClr val="tx1"/>
                </a:solidFill>
              </a:rPr>
              <a:t>de Harman I.</a:t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ALERGIAS:</a:t>
            </a:r>
            <a:r>
              <a:rPr lang="es-BO" sz="3100" dirty="0">
                <a:solidFill>
                  <a:schemeClr val="tx1"/>
                </a:solidFill>
              </a:rPr>
              <a:t> A la </a:t>
            </a:r>
            <a:r>
              <a:rPr lang="es-BO" sz="3100" dirty="0" smtClean="0">
                <a:solidFill>
                  <a:schemeClr val="tx1"/>
                </a:solidFill>
              </a:rPr>
              <a:t>penicilina.</a:t>
            </a:r>
            <a:r>
              <a:rPr lang="es-BO" sz="3100" dirty="0">
                <a:solidFill>
                  <a:schemeClr val="tx1"/>
                </a:solidFill>
              </a:rPr>
              <a:t/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PATOLOGICOS:</a:t>
            </a:r>
            <a:r>
              <a:rPr lang="es-BO" sz="3100" dirty="0">
                <a:solidFill>
                  <a:schemeClr val="tx1"/>
                </a:solidFill>
              </a:rPr>
              <a:t> Enfermedad del Chagas.</a:t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TRANSFUSIONES:</a:t>
            </a:r>
            <a:r>
              <a:rPr lang="es-BO" sz="3100" dirty="0">
                <a:solidFill>
                  <a:schemeClr val="tx1"/>
                </a:solidFill>
              </a:rPr>
              <a:t> Niega.</a:t>
            </a:r>
            <a:br>
              <a:rPr lang="es-BO" sz="3100" dirty="0">
                <a:solidFill>
                  <a:schemeClr val="tx1"/>
                </a:solidFill>
              </a:rPr>
            </a:br>
            <a:r>
              <a:rPr lang="es-BO" sz="3100" b="1" dirty="0">
                <a:solidFill>
                  <a:schemeClr val="tx1"/>
                </a:solidFill>
              </a:rPr>
              <a:t>GINECO OBSTETRICOS:</a:t>
            </a:r>
            <a:r>
              <a:rPr lang="es-BO" sz="3100" dirty="0">
                <a:solidFill>
                  <a:schemeClr val="tx1"/>
                </a:solidFill>
              </a:rPr>
              <a:t> G2, P2 A: 0 C: 0 , FUM. 07- 2013.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49644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836712"/>
            <a:ext cx="7024744" cy="720080"/>
          </a:xfrm>
        </p:spPr>
        <p:txBody>
          <a:bodyPr>
            <a:normAutofit/>
          </a:bodyPr>
          <a:lstStyle/>
          <a:p>
            <a:r>
              <a:rPr lang="es-BO" sz="3200" b="1" dirty="0"/>
              <a:t>INDICACIONES </a:t>
            </a:r>
            <a:r>
              <a:rPr lang="es-BO" sz="3200" b="1" dirty="0" smtClean="0"/>
              <a:t>PRE-OPERATORIAS</a:t>
            </a:r>
            <a:endParaRPr lang="es-BO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99592" y="1628800"/>
            <a:ext cx="7200800" cy="4608512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s-BO" dirty="0" smtClean="0"/>
              <a:t>Dieta </a:t>
            </a:r>
            <a:r>
              <a:rPr lang="es-BO" dirty="0"/>
              <a:t>Liquida sin Residuos mas </a:t>
            </a:r>
            <a:r>
              <a:rPr lang="es-BO" dirty="0" smtClean="0"/>
              <a:t>líquidos </a:t>
            </a:r>
            <a:r>
              <a:rPr lang="es-BO" dirty="0"/>
              <a:t>V.O. a tolerancia hasta 22:00 pm luego N.P.O.</a:t>
            </a:r>
          </a:p>
          <a:p>
            <a:pPr lvl="0"/>
            <a:r>
              <a:rPr lang="es-BO" dirty="0"/>
              <a:t>Manitol 200cc diluido en 250 cc de agua en 15 minutos a </a:t>
            </a:r>
            <a:r>
              <a:rPr lang="es-BO" dirty="0" err="1"/>
              <a:t>hrs</a:t>
            </a:r>
            <a:r>
              <a:rPr lang="es-BO" dirty="0"/>
              <a:t>. 21:00.</a:t>
            </a:r>
          </a:p>
          <a:p>
            <a:pPr lvl="0"/>
            <a:r>
              <a:rPr lang="es-BO" dirty="0"/>
              <a:t>Manitol 250 cc diluido en 250 cc de agua en 15 minutos repetir a </a:t>
            </a:r>
            <a:r>
              <a:rPr lang="es-BO" dirty="0" err="1"/>
              <a:t>hrs</a:t>
            </a:r>
            <a:r>
              <a:rPr lang="es-BO" dirty="0"/>
              <a:t> 22:00 si hay deposiciones con residuo.</a:t>
            </a:r>
          </a:p>
          <a:p>
            <a:pPr lvl="0"/>
            <a:r>
              <a:rPr lang="es-BO" dirty="0"/>
              <a:t>Sol. Glucosada al 5% 1000 cc EV c/8 </a:t>
            </a:r>
            <a:r>
              <a:rPr lang="es-BO" dirty="0" err="1"/>
              <a:t>hrs</a:t>
            </a:r>
            <a:r>
              <a:rPr lang="es-BO" dirty="0"/>
              <a:t>.</a:t>
            </a:r>
          </a:p>
          <a:p>
            <a:pPr lvl="0"/>
            <a:r>
              <a:rPr lang="en-US" dirty="0" err="1"/>
              <a:t>Cloranfenicol</a:t>
            </a:r>
            <a:r>
              <a:rPr lang="en-US" dirty="0"/>
              <a:t> 1 gr EV c/4 hrs. </a:t>
            </a:r>
            <a:r>
              <a:rPr lang="es-BO" dirty="0"/>
              <a:t>(</a:t>
            </a:r>
            <a:r>
              <a:rPr lang="es-BO" dirty="0" err="1"/>
              <a:t>Metronidazol</a:t>
            </a:r>
            <a:r>
              <a:rPr lang="es-BO" dirty="0"/>
              <a:t> mas una </a:t>
            </a:r>
            <a:r>
              <a:rPr lang="es-BO" dirty="0" err="1"/>
              <a:t>quinolone</a:t>
            </a:r>
            <a:r>
              <a:rPr lang="es-BO" dirty="0"/>
              <a:t> de segunda </a:t>
            </a:r>
            <a:r>
              <a:rPr lang="es-BO" dirty="0" err="1"/>
              <a:t>generacion</a:t>
            </a:r>
            <a:r>
              <a:rPr lang="es-BO" dirty="0"/>
              <a:t> o </a:t>
            </a:r>
            <a:r>
              <a:rPr lang="es-BO" dirty="0" err="1"/>
              <a:t>amikacina</a:t>
            </a:r>
            <a:r>
              <a:rPr lang="es-BO" dirty="0"/>
              <a:t>).</a:t>
            </a:r>
          </a:p>
          <a:p>
            <a:pPr lvl="0"/>
            <a:r>
              <a:rPr lang="es-BO" dirty="0" err="1"/>
              <a:t>Cefazolina</a:t>
            </a:r>
            <a:r>
              <a:rPr lang="es-BO" dirty="0"/>
              <a:t> 1 gr EV c/12 </a:t>
            </a:r>
            <a:r>
              <a:rPr lang="es-BO" dirty="0" err="1"/>
              <a:t>Hrs</a:t>
            </a:r>
            <a:r>
              <a:rPr lang="es-BO" dirty="0"/>
              <a:t>.</a:t>
            </a:r>
          </a:p>
          <a:p>
            <a:pPr lvl="0"/>
            <a:r>
              <a:rPr lang="en-US" dirty="0" err="1"/>
              <a:t>Ranitidina</a:t>
            </a:r>
            <a:r>
              <a:rPr lang="en-US" dirty="0"/>
              <a:t> 50 mg EV c/8hrs.</a:t>
            </a:r>
            <a:endParaRPr lang="es-BO" dirty="0"/>
          </a:p>
          <a:p>
            <a:pPr lvl="0"/>
            <a:r>
              <a:rPr lang="en-US" dirty="0" err="1"/>
              <a:t>Diazepan</a:t>
            </a:r>
            <a:r>
              <a:rPr lang="en-US" dirty="0"/>
              <a:t> 10 mg a </a:t>
            </a:r>
            <a:r>
              <a:rPr lang="en-US" dirty="0" err="1"/>
              <a:t>hrs</a:t>
            </a:r>
            <a:r>
              <a:rPr lang="en-US" dirty="0"/>
              <a:t> 08:00 am </a:t>
            </a:r>
            <a:r>
              <a:rPr lang="en-US" dirty="0" smtClean="0"/>
              <a:t>STAT.</a:t>
            </a:r>
            <a:endParaRPr lang="es-BO" dirty="0"/>
          </a:p>
          <a:p>
            <a:pPr lvl="0"/>
            <a:r>
              <a:rPr lang="es-BO" dirty="0"/>
              <a:t>Control de </a:t>
            </a:r>
            <a:r>
              <a:rPr lang="es-BO" dirty="0" err="1"/>
              <a:t>sigons</a:t>
            </a:r>
            <a:r>
              <a:rPr lang="es-BO" dirty="0"/>
              <a:t> </a:t>
            </a:r>
            <a:r>
              <a:rPr lang="es-BO" dirty="0" err="1"/>
              <a:t>vitals</a:t>
            </a:r>
            <a:r>
              <a:rPr lang="es-BO" dirty="0"/>
              <a:t> por turno</a:t>
            </a:r>
          </a:p>
          <a:p>
            <a:pPr lvl="0"/>
            <a:r>
              <a:rPr lang="es-BO" dirty="0"/>
              <a:t>Pasar a quirófano a </a:t>
            </a:r>
            <a:r>
              <a:rPr lang="es-BO" dirty="0" err="1"/>
              <a:t>hrs</a:t>
            </a:r>
            <a:r>
              <a:rPr lang="es-BO" dirty="0"/>
              <a:t> 08:45 am.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46045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sz="3100" b="1" dirty="0"/>
              <a:t>INDICACIONES POS OPERATORIAS RESTITUCION DE TRANSITO CIRUGIA LIMPIA CONTAMINADA</a:t>
            </a:r>
            <a:r>
              <a:rPr lang="es-BO" b="1" dirty="0" smtClean="0"/>
              <a:t>: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71600" y="2204864"/>
            <a:ext cx="6777317" cy="403244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s-BO" dirty="0"/>
              <a:t>N.P.O.</a:t>
            </a:r>
          </a:p>
          <a:p>
            <a:pPr lvl="0"/>
            <a:r>
              <a:rPr lang="es-BO" dirty="0"/>
              <a:t>S.N.G.  a caída libre.</a:t>
            </a:r>
          </a:p>
          <a:p>
            <a:pPr lvl="0"/>
            <a:r>
              <a:rPr lang="en-US" dirty="0"/>
              <a:t>Sol. Ringer Normal 1000 EV c/8hrs.</a:t>
            </a:r>
            <a:endParaRPr lang="es-BO" dirty="0"/>
          </a:p>
          <a:p>
            <a:pPr lvl="0"/>
            <a:r>
              <a:rPr lang="es-BO" dirty="0" err="1"/>
              <a:t>Amikacina</a:t>
            </a:r>
            <a:r>
              <a:rPr lang="es-BO" dirty="0"/>
              <a:t> 500mg c/12 EV diluido.</a:t>
            </a:r>
          </a:p>
          <a:p>
            <a:pPr lvl="0"/>
            <a:r>
              <a:rPr lang="es-BO" dirty="0" err="1"/>
              <a:t>Metronidazol</a:t>
            </a:r>
            <a:r>
              <a:rPr lang="es-BO" dirty="0"/>
              <a:t> 1 gr </a:t>
            </a:r>
            <a:r>
              <a:rPr lang="es-BO" dirty="0" err="1"/>
              <a:t>Ev</a:t>
            </a:r>
            <a:r>
              <a:rPr lang="es-BO" dirty="0"/>
              <a:t> c/6 </a:t>
            </a:r>
            <a:r>
              <a:rPr lang="es-BO" dirty="0" err="1"/>
              <a:t>Hrs</a:t>
            </a:r>
            <a:r>
              <a:rPr lang="es-BO" dirty="0"/>
              <a:t>. (Dosis 550 mg c/8 </a:t>
            </a:r>
            <a:r>
              <a:rPr lang="es-BO" dirty="0" err="1"/>
              <a:t>hrs</a:t>
            </a:r>
            <a:r>
              <a:rPr lang="es-BO" dirty="0"/>
              <a:t>.)</a:t>
            </a:r>
          </a:p>
          <a:p>
            <a:pPr lvl="0"/>
            <a:r>
              <a:rPr lang="es-BO" dirty="0"/>
              <a:t>Metoclopramida 10 mg c/8 </a:t>
            </a:r>
            <a:r>
              <a:rPr lang="es-BO" dirty="0" err="1"/>
              <a:t>hrs</a:t>
            </a:r>
            <a:r>
              <a:rPr lang="es-BO" dirty="0"/>
              <a:t> y PRN.</a:t>
            </a:r>
          </a:p>
          <a:p>
            <a:pPr lvl="0"/>
            <a:r>
              <a:rPr lang="en-US" dirty="0" err="1"/>
              <a:t>Ranitidina</a:t>
            </a:r>
            <a:r>
              <a:rPr lang="en-US" dirty="0"/>
              <a:t> 50 mg EV c/8hrs.</a:t>
            </a:r>
            <a:endParaRPr lang="es-BO" dirty="0"/>
          </a:p>
          <a:p>
            <a:pPr lvl="0"/>
            <a:r>
              <a:rPr lang="en-US" dirty="0" err="1"/>
              <a:t>Quetorol</a:t>
            </a:r>
            <a:r>
              <a:rPr lang="en-US" dirty="0"/>
              <a:t> 60 mg EV c/8hrs.</a:t>
            </a:r>
            <a:endParaRPr lang="es-BO" dirty="0"/>
          </a:p>
          <a:p>
            <a:pPr lvl="0"/>
            <a:r>
              <a:rPr lang="es-BO" dirty="0" err="1"/>
              <a:t>Diclofenaco</a:t>
            </a:r>
            <a:r>
              <a:rPr lang="es-BO" dirty="0"/>
              <a:t> </a:t>
            </a:r>
            <a:r>
              <a:rPr lang="es-BO" dirty="0" err="1"/>
              <a:t>Na</a:t>
            </a:r>
            <a:r>
              <a:rPr lang="es-BO" dirty="0"/>
              <a:t> 75 mg sub </a:t>
            </a:r>
            <a:r>
              <a:rPr lang="es-BO" dirty="0" smtClean="0"/>
              <a:t>cutáneo </a:t>
            </a:r>
            <a:r>
              <a:rPr lang="es-BO" dirty="0"/>
              <a:t>c/8 </a:t>
            </a:r>
            <a:r>
              <a:rPr lang="es-BO" dirty="0" err="1"/>
              <a:t>hrs</a:t>
            </a:r>
            <a:r>
              <a:rPr lang="es-BO" dirty="0"/>
              <a:t>. </a:t>
            </a:r>
          </a:p>
          <a:p>
            <a:pPr lvl="0"/>
            <a:r>
              <a:rPr lang="es-BO" dirty="0"/>
              <a:t>Control de signos vitales por turno.</a:t>
            </a:r>
          </a:p>
          <a:p>
            <a:pPr lvl="0"/>
            <a:r>
              <a:rPr lang="es-BO" dirty="0"/>
              <a:t>Control de diuresis por turno BH (LI-LE</a:t>
            </a:r>
            <a:r>
              <a:rPr lang="es-BO" dirty="0" smtClean="0"/>
              <a:t>).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27214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764704"/>
            <a:ext cx="7024744" cy="504056"/>
          </a:xfrm>
        </p:spPr>
        <p:txBody>
          <a:bodyPr>
            <a:normAutofit/>
          </a:bodyPr>
          <a:lstStyle/>
          <a:p>
            <a:pPr lvl="0"/>
            <a:r>
              <a:rPr lang="es-BO" altLang="es-BO" sz="2400" b="1" dirty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RESTITUCION DEL TRANSITO  </a:t>
            </a:r>
            <a:r>
              <a:rPr lang="es-BO" altLang="es-BO" sz="2400" b="1" dirty="0" smtClean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INTESTINAL</a:t>
            </a:r>
            <a:endParaRPr lang="es-BO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646908"/>
              </p:ext>
            </p:extLst>
          </p:nvPr>
        </p:nvGraphicFramePr>
        <p:xfrm>
          <a:off x="899592" y="1340768"/>
          <a:ext cx="7137076" cy="48013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3997"/>
                <a:gridCol w="1783997"/>
                <a:gridCol w="1784541"/>
                <a:gridCol w="1784541"/>
              </a:tblGrid>
              <a:tr h="6263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INDICACIONES  PREOPERATORIAS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INDICACIONES POSTOPERATORIAS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  <a:tr h="2298182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Dieta Líquida sin residuos más V.O.  a tolerancia hasta hrs 22:00 pm y luego N.P.O.</a:t>
                      </a:r>
                      <a:endParaRPr lang="es-BO" sz="900">
                        <a:effectLst/>
                      </a:endParaRPr>
                    </a:p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La dieta líquida es pertinente para el caso, más o menos se le proporcionaría 3000 cc  ya que posteriormente se le dará Manitol V.O. lo cual significa perdida de líquido más de lo normal.</a:t>
                      </a:r>
                      <a:endParaRPr lang="es-BO" sz="900">
                        <a:effectLst/>
                      </a:endParaRPr>
                    </a:p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 dirty="0">
                          <a:effectLst/>
                        </a:rPr>
                        <a:t>N.P.O.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mbria"/>
                        <a:buChar char="-"/>
                      </a:pPr>
                      <a:r>
                        <a:rPr lang="es-BO" sz="1000" dirty="0">
                          <a:effectLst/>
                        </a:rPr>
                        <a:t>Fue sometida a procedimiento quirúrgico.</a:t>
                      </a:r>
                      <a:endParaRPr lang="es-BO" sz="9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mbria"/>
                        <a:buChar char="-"/>
                      </a:pPr>
                      <a:r>
                        <a:rPr lang="es-BO" sz="1000" dirty="0">
                          <a:effectLst/>
                        </a:rPr>
                        <a:t>Para lograr una  regeneración de tejidos.</a:t>
                      </a:r>
                      <a:endParaRPr lang="es-BO" sz="9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mbria"/>
                        <a:buChar char="-"/>
                      </a:pPr>
                      <a:r>
                        <a:rPr lang="es-BO" sz="1000" dirty="0">
                          <a:effectLst/>
                        </a:rPr>
                        <a:t>Evitar infecciones.</a:t>
                      </a:r>
                      <a:endParaRPr lang="es-BO" sz="9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mbria"/>
                        <a:buChar char="-"/>
                      </a:pPr>
                      <a:r>
                        <a:rPr lang="es-BO" sz="1000" dirty="0">
                          <a:effectLst/>
                        </a:rPr>
                        <a:t>Recuperación rápida del tránsito  intestinal.</a:t>
                      </a:r>
                      <a:endParaRPr lang="es-BO" sz="9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Cambria"/>
                        <a:buChar char="-"/>
                      </a:pPr>
                      <a:r>
                        <a:rPr lang="es-BO" sz="1000" dirty="0">
                          <a:effectLst/>
                        </a:rPr>
                        <a:t>NPO de 5-7 días.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  <a:tr h="1876891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Manitol 250 cc diluido en 250 cc de agua en 15 minutos a hrs 21:00 pm.</a:t>
                      </a:r>
                      <a:endParaRPr lang="es-BO" sz="900">
                        <a:effectLst/>
                      </a:endParaRPr>
                    </a:p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Enema evacuante por colostomía tres veces en el día.</a:t>
                      </a:r>
                      <a:endParaRPr lang="es-BO" sz="900">
                        <a:effectLst/>
                      </a:endParaRPr>
                    </a:p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El Manitol es pertinente para el caso ya que nos ayudara a hacer la limpieza del tracto intestinal.</a:t>
                      </a:r>
                      <a:endParaRPr lang="es-BO" sz="900">
                        <a:effectLst/>
                      </a:endParaRPr>
                    </a:p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 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 dirty="0">
                          <a:effectLst/>
                        </a:rPr>
                        <a:t>S.N.G.  a caída libre.</a:t>
                      </a:r>
                      <a:endParaRPr lang="es-BO" sz="9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En este caso si  está indicada  la SNG   para la descompresión gástrica ya que se formara gases  intestinales.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48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692696"/>
            <a:ext cx="7024744" cy="504056"/>
          </a:xfrm>
        </p:spPr>
        <p:txBody>
          <a:bodyPr>
            <a:normAutofit/>
          </a:bodyPr>
          <a:lstStyle/>
          <a:p>
            <a:r>
              <a:rPr lang="es-BO" altLang="es-BO" sz="2400" b="1" dirty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RESTITUCION DEL TRANSITO  INTESTINAL</a:t>
            </a:r>
            <a:endParaRPr lang="es-BO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018026"/>
              </p:ext>
            </p:extLst>
          </p:nvPr>
        </p:nvGraphicFramePr>
        <p:xfrm>
          <a:off x="611560" y="1196751"/>
          <a:ext cx="7992888" cy="54075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7919"/>
                <a:gridCol w="1997919"/>
                <a:gridCol w="1998525"/>
                <a:gridCol w="1998525"/>
              </a:tblGrid>
              <a:tr h="3379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INDICACIONES  PREOPERATORIAS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OBSERVACIONES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INDICACIONES POSTOPERATORIAS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OBSERVACIONES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</a:tr>
              <a:tr h="2027823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900" dirty="0">
                          <a:effectLst/>
                        </a:rPr>
                        <a:t>Manitol 250 cc diluido en 250 cc de agua en 15 min. </a:t>
                      </a:r>
                      <a:r>
                        <a:rPr lang="es-BO" sz="900" dirty="0" err="1">
                          <a:effectLst/>
                        </a:rPr>
                        <a:t>Repertir</a:t>
                      </a:r>
                      <a:r>
                        <a:rPr lang="es-BO" sz="900" dirty="0">
                          <a:effectLst/>
                        </a:rPr>
                        <a:t> a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 22:00 si hay deposiciones con residuo.</a:t>
                      </a:r>
                    </a:p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El Manitol es pertinente para el caso ya que  nos ayudara a hacer la limpieza del tracto intestinal.</a:t>
                      </a:r>
                    </a:p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900">
                          <a:effectLst/>
                        </a:rPr>
                        <a:t>Sol. Ringer Normal 1000 EV c/8hrs.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En este caso la solución ringer Normal no es el más indicado  ya que el paciente requerirá un aporte de  electrólitos y calorías  se encontrara en NPO  de 5-7 días , en este caso se le debería de administrarse  solución ringer lactato 2000ml más 1000 de glucosalino programar para 24 hrs.  Agregar a cada solución  2 ampollas de  complejo B más  1 ampolla  de vitamina C.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</a:tr>
              <a:tr h="1182897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 startAt="4"/>
                      </a:pPr>
                      <a:r>
                        <a:rPr lang="es-BO" sz="900">
                          <a:effectLst/>
                        </a:rPr>
                        <a:t>Sol. Glucosada al 5% 1000 cc EV c/8 hrs.</a:t>
                      </a:r>
                    </a:p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Es pertinente al caso ya que el paciente requiere de calorías  y los órganos blancos requieren de aporte energético pero solo  se le programaría 2000 p/24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BO" sz="900" dirty="0">
                        <a:effectLst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900" dirty="0" err="1">
                          <a:effectLst/>
                        </a:rPr>
                        <a:t>Amikacina</a:t>
                      </a:r>
                      <a:r>
                        <a:rPr lang="es-BO" sz="900" dirty="0">
                          <a:effectLst/>
                        </a:rPr>
                        <a:t> 500mg c/12 EV diluido.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Si es conveniente por ser una cirugía contaminada que tratara y evitara las posibles infecciones.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</a:tr>
              <a:tr h="1858838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 startAt="4"/>
                      </a:pPr>
                      <a:r>
                        <a:rPr lang="en-US" sz="900" dirty="0" err="1">
                          <a:effectLst/>
                        </a:rPr>
                        <a:t>Cloranfenicol</a:t>
                      </a:r>
                      <a:r>
                        <a:rPr lang="en-US" sz="900" dirty="0">
                          <a:effectLst/>
                        </a:rPr>
                        <a:t> 1 gr EV c/4 hrs. </a:t>
                      </a:r>
                      <a:r>
                        <a:rPr lang="es-BO" sz="900" dirty="0">
                          <a:effectLst/>
                        </a:rPr>
                        <a:t>(</a:t>
                      </a:r>
                      <a:r>
                        <a:rPr lang="es-BO" sz="900" dirty="0" err="1">
                          <a:effectLst/>
                        </a:rPr>
                        <a:t>Metronidazol</a:t>
                      </a:r>
                      <a:r>
                        <a:rPr lang="es-BO" sz="900" dirty="0">
                          <a:effectLst/>
                        </a:rPr>
                        <a:t> mas una </a:t>
                      </a:r>
                      <a:r>
                        <a:rPr lang="es-BO" sz="900" dirty="0" err="1">
                          <a:effectLst/>
                        </a:rPr>
                        <a:t>quinolona</a:t>
                      </a:r>
                      <a:r>
                        <a:rPr lang="es-BO" sz="900" dirty="0">
                          <a:effectLst/>
                        </a:rPr>
                        <a:t> de segunda generación o </a:t>
                      </a:r>
                      <a:r>
                        <a:rPr lang="es-BO" sz="900" dirty="0" err="1">
                          <a:effectLst/>
                        </a:rPr>
                        <a:t>amikacina</a:t>
                      </a:r>
                      <a:r>
                        <a:rPr lang="es-BO" sz="900" dirty="0">
                          <a:effectLst/>
                        </a:rPr>
                        <a:t>).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Este caso se le administrara </a:t>
                      </a:r>
                      <a:r>
                        <a:rPr lang="es-BO" sz="900" dirty="0" err="1">
                          <a:effectLst/>
                        </a:rPr>
                        <a:t>metronidazol</a:t>
                      </a:r>
                      <a:r>
                        <a:rPr lang="es-BO" sz="900" dirty="0">
                          <a:effectLst/>
                        </a:rPr>
                        <a:t>  500 mg c/8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 combinado  con </a:t>
                      </a:r>
                      <a:r>
                        <a:rPr lang="es-BO" sz="900" dirty="0" err="1">
                          <a:effectLst/>
                        </a:rPr>
                        <a:t>amikacina</a:t>
                      </a:r>
                      <a:r>
                        <a:rPr lang="es-BO" sz="900" dirty="0">
                          <a:effectLst/>
                        </a:rPr>
                        <a:t> 500mg c/ 12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 Diluido  con solución fisiológica 100 cc pasar en una hora.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El cloranfenicol  en este caso no se le administrara porque  el paciente  recibe ya actualmente tres antibióticos y se encuentra cubierto.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 startAt="4"/>
                      </a:pPr>
                      <a:r>
                        <a:rPr lang="es-BO" sz="900" dirty="0" err="1">
                          <a:effectLst/>
                        </a:rPr>
                        <a:t>Metronidazol</a:t>
                      </a:r>
                      <a:r>
                        <a:rPr lang="es-BO" sz="900" dirty="0">
                          <a:effectLst/>
                        </a:rPr>
                        <a:t> 1 gr </a:t>
                      </a:r>
                      <a:r>
                        <a:rPr lang="es-BO" sz="900" dirty="0" err="1">
                          <a:effectLst/>
                        </a:rPr>
                        <a:t>Ev</a:t>
                      </a:r>
                      <a:r>
                        <a:rPr lang="es-BO" sz="900" dirty="0">
                          <a:effectLst/>
                        </a:rPr>
                        <a:t> c/6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 (Dosis 550 mg c/8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.)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 En este caso la dosis de 1 gr no es conveniente  porque se le está sobrecargando de antibióticos  al paciente y además recibirá  </a:t>
                      </a:r>
                      <a:r>
                        <a:rPr lang="es-BO" sz="900" dirty="0" err="1">
                          <a:effectLst/>
                        </a:rPr>
                        <a:t>cipofloxacino</a:t>
                      </a:r>
                      <a:r>
                        <a:rPr lang="es-BO" sz="900" dirty="0">
                          <a:effectLst/>
                        </a:rPr>
                        <a:t> 200 mg c/12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  Y conjuntamente con los otros antibióticos el paciente estará cubierto de antibióticos.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23637" marR="23637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70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764704"/>
            <a:ext cx="7024744" cy="576064"/>
          </a:xfrm>
        </p:spPr>
        <p:txBody>
          <a:bodyPr>
            <a:normAutofit/>
          </a:bodyPr>
          <a:lstStyle/>
          <a:p>
            <a:r>
              <a:rPr lang="es-BO" altLang="es-BO" sz="2400" b="1" dirty="0">
                <a:solidFill>
                  <a:schemeClr val="tx1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RESTITUCION DEL TRANSITO  INTESTINAL</a:t>
            </a:r>
            <a:endParaRPr lang="es-BO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4347909"/>
              </p:ext>
            </p:extLst>
          </p:nvPr>
        </p:nvGraphicFramePr>
        <p:xfrm>
          <a:off x="899592" y="1484784"/>
          <a:ext cx="7056784" cy="5169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3927"/>
                <a:gridCol w="1763927"/>
                <a:gridCol w="1764465"/>
                <a:gridCol w="1764465"/>
              </a:tblGrid>
              <a:tr h="5169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INDICACIONES  PREOPERATORIAS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INDICACIONES POSTOPERATORIAS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894832"/>
              </p:ext>
            </p:extLst>
          </p:nvPr>
        </p:nvGraphicFramePr>
        <p:xfrm>
          <a:off x="899592" y="1988840"/>
          <a:ext cx="7056784" cy="4176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3928"/>
                <a:gridCol w="1763928"/>
                <a:gridCol w="1764464"/>
                <a:gridCol w="1764464"/>
              </a:tblGrid>
              <a:tr h="1518714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900" dirty="0" err="1">
                          <a:effectLst/>
                        </a:rPr>
                        <a:t>Cefazolina</a:t>
                      </a:r>
                      <a:r>
                        <a:rPr lang="es-BO" sz="900" dirty="0">
                          <a:effectLst/>
                        </a:rPr>
                        <a:t> 1 gr EV c/12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.</a:t>
                      </a: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No es pertinente para el caso ya que está contraindicado en pacientes con antecedentes de alergia a la penicilina.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>
                          <a:effectLst/>
                        </a:rPr>
                        <a:t>En este caso se pudiera administrar ciprofloxacino 200 mg c/12 hrs.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900" dirty="0" err="1">
                          <a:effectLst/>
                        </a:rPr>
                        <a:t>Metoclopramida</a:t>
                      </a:r>
                      <a:r>
                        <a:rPr lang="es-BO" sz="900" dirty="0">
                          <a:effectLst/>
                        </a:rPr>
                        <a:t> 10 mg c/8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 y PRN.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 Se le administrara 10 mg c/8 </a:t>
                      </a:r>
                      <a:r>
                        <a:rPr lang="es-BO" sz="900" dirty="0" err="1">
                          <a:effectLst/>
                        </a:rPr>
                        <a:t>hrs</a:t>
                      </a:r>
                      <a:r>
                        <a:rPr lang="es-BO" sz="900" dirty="0">
                          <a:effectLst/>
                        </a:rPr>
                        <a:t> por dos días  y posteriormente PRN.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SNG causa nauseas e irritación  del tubo digestivo.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</a:tr>
              <a:tr h="2657750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900" dirty="0" err="1">
                          <a:effectLst/>
                        </a:rPr>
                        <a:t>Ranitidina</a:t>
                      </a:r>
                      <a:r>
                        <a:rPr lang="en-US" sz="900" dirty="0">
                          <a:effectLst/>
                        </a:rPr>
                        <a:t> 50 mg EV c/8hrs.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Si es pertinente al caso porque es un protector gástrico,  se le administrara con fines profilácticos para las ulceras por estrés, se le administrara medicamentos y además cuando un paciente  se encuentra hospitalizado tiende a secretar mayor jugo gástrico por el mismo estrés que representa su hospitalización. 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900" dirty="0" err="1">
                          <a:effectLst/>
                        </a:rPr>
                        <a:t>Ranitidina</a:t>
                      </a:r>
                      <a:r>
                        <a:rPr lang="en-US" sz="900" dirty="0">
                          <a:effectLst/>
                        </a:rPr>
                        <a:t> 50 mg EV c/8hrs.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Si es pertinente al caso porque es un protector gástrico. Se le administrara con fines profilácticos para las ulceras por estrés, se le administrara medicamentos y además cuando un paciente  se encuentra hospitalizado tiende a secretar mayor jugo gástrico por el mismo estrés que representa su hospitalización.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9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49741" marR="49741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40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764704"/>
            <a:ext cx="7024744" cy="648072"/>
          </a:xfrm>
        </p:spPr>
        <p:txBody>
          <a:bodyPr>
            <a:normAutofit/>
          </a:bodyPr>
          <a:lstStyle/>
          <a:p>
            <a:r>
              <a:rPr lang="es-BO" sz="2400" cap="all" dirty="0" smtClean="0"/>
              <a:t>Restitución del transito intestinal</a:t>
            </a:r>
            <a:endParaRPr lang="es-BO" sz="2400" cap="all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6390714"/>
              </p:ext>
            </p:extLst>
          </p:nvPr>
        </p:nvGraphicFramePr>
        <p:xfrm>
          <a:off x="1042988" y="2276872"/>
          <a:ext cx="6985396" cy="38164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6083"/>
                <a:gridCol w="1746083"/>
                <a:gridCol w="1746615"/>
                <a:gridCol w="1746615"/>
              </a:tblGrid>
              <a:tr h="2020459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000" dirty="0" err="1">
                          <a:effectLst/>
                        </a:rPr>
                        <a:t>Diazepan</a:t>
                      </a:r>
                      <a:r>
                        <a:rPr lang="en-US" sz="1000" dirty="0">
                          <a:effectLst/>
                        </a:rPr>
                        <a:t> 10 mg a </a:t>
                      </a:r>
                      <a:r>
                        <a:rPr lang="en-US" sz="1000" dirty="0" err="1">
                          <a:effectLst/>
                        </a:rPr>
                        <a:t>hrs</a:t>
                      </a:r>
                      <a:r>
                        <a:rPr lang="en-US" sz="1000" dirty="0">
                          <a:effectLst/>
                        </a:rPr>
                        <a:t> 08:00 am STAD.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No es pertinente para el caso ya </a:t>
                      </a:r>
                      <a:endParaRPr lang="es-BO" sz="9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que el diazepam potencializa los efectos sedantes y puede llegar a causar bradicardia si es administrado con otro tipo de anestésicos o relajantes musculares.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000" dirty="0" err="1">
                          <a:effectLst/>
                        </a:rPr>
                        <a:t>Quetorol</a:t>
                      </a:r>
                      <a:r>
                        <a:rPr lang="en-US" sz="1000" dirty="0">
                          <a:effectLst/>
                        </a:rPr>
                        <a:t> 60 mg EV c/8hrs.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s-BO" sz="1000" dirty="0">
                          <a:effectLst/>
                        </a:rPr>
                        <a:t>Es  conveniente en este caso porque el paciente  sentirá dolor   a nivel de la cirugía.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  <a:tr h="1795965"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Control de signos vitales por turno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 Es pertinente al caso el control de signos vitales por turno ya que son datos objetivos del estado fisiológico de una persona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Diclofenaco Na 75 mg sub cutaneo c/8 hrs.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Si  es recomendable  administrar  subcutáneo  este  tipo de analgésico. Pero en este caso consideramos más pertinente  administrarlo agregándolo a la solución.  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170771"/>
              </p:ext>
            </p:extLst>
          </p:nvPr>
        </p:nvGraphicFramePr>
        <p:xfrm>
          <a:off x="1042988" y="1628800"/>
          <a:ext cx="6985396" cy="576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6083"/>
                <a:gridCol w="1746083"/>
                <a:gridCol w="1746615"/>
                <a:gridCol w="1746615"/>
              </a:tblGrid>
              <a:tr h="576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INDICACIONES  PREOPERATORIAS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INDICACIONES POSTOPERATORIAS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00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490" y="764704"/>
            <a:ext cx="7024744" cy="648072"/>
          </a:xfrm>
        </p:spPr>
        <p:txBody>
          <a:bodyPr>
            <a:noAutofit/>
          </a:bodyPr>
          <a:lstStyle/>
          <a:p>
            <a:r>
              <a:rPr lang="es-BO" sz="2400" dirty="0" smtClean="0"/>
              <a:t>RESTITUCIÓN DEL TRANSITO INTESTINAL</a:t>
            </a:r>
            <a:endParaRPr lang="es-BO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104532"/>
              </p:ext>
            </p:extLst>
          </p:nvPr>
        </p:nvGraphicFramePr>
        <p:xfrm>
          <a:off x="683568" y="2060848"/>
          <a:ext cx="7632848" cy="41044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7921"/>
                <a:gridCol w="1907921"/>
                <a:gridCol w="1908503"/>
                <a:gridCol w="1908503"/>
              </a:tblGrid>
              <a:tr h="2885499"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 dirty="0">
                          <a:effectLst/>
                        </a:rPr>
                        <a:t>, Pasar a quirófano a </a:t>
                      </a:r>
                      <a:r>
                        <a:rPr lang="es-BO" sz="1000" dirty="0" err="1">
                          <a:effectLst/>
                        </a:rPr>
                        <a:t>hrs</a:t>
                      </a:r>
                      <a:r>
                        <a:rPr lang="es-BO" sz="1000" dirty="0">
                          <a:effectLst/>
                        </a:rPr>
                        <a:t> </a:t>
                      </a:r>
                      <a:endParaRPr lang="es-BO" sz="900" dirty="0">
                        <a:effectLst/>
                      </a:endParaRPr>
                    </a:p>
                    <a:p>
                      <a:pPr marL="9017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08:45 am.</a:t>
                      </a:r>
                      <a:endParaRPr lang="es-BO" sz="900" dirty="0">
                        <a:effectLst/>
                      </a:endParaRPr>
                    </a:p>
                    <a:p>
                      <a:pPr marL="2286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Pertinente al caso previa realización de los cuidados pre operatorios.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Control de signos vitales por turno.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Por las primeras 24 hrs se debe de realizar control de signos vitales  en hoja de paciente critico esto quiere decir  c/ 1  hrs. Posteriormente  se lo realizara  uno por turno valorando  el estado hemodinámico del paciente.</a:t>
                      </a:r>
                      <a:endParaRPr lang="es-BO" sz="9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Control de herida quirúrgica y la curación se lo realizara cada día y valorar signos  de infección. </a:t>
                      </a:r>
                      <a:endParaRPr lang="es-BO" sz="9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  <a:tr h="121895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 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s-BO" sz="1000">
                          <a:effectLst/>
                        </a:rPr>
                        <a:t>Control de diuresis por turno BH (LI-LE).</a:t>
                      </a:r>
                      <a:endParaRPr lang="es-BO" sz="900">
                        <a:effectLst/>
                      </a:endParaRPr>
                    </a:p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 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Si es pertinente porque  se verificara  minuciosamente  los  ingresos y egresos del paciente  para detectar anomalías oportunamente y se lo realizara por turno.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010841"/>
              </p:ext>
            </p:extLst>
          </p:nvPr>
        </p:nvGraphicFramePr>
        <p:xfrm>
          <a:off x="683568" y="1484784"/>
          <a:ext cx="7632848" cy="576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7921"/>
                <a:gridCol w="1907921"/>
                <a:gridCol w="1908503"/>
                <a:gridCol w="1908503"/>
              </a:tblGrid>
              <a:tr h="576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INDICACIONES  PREOPERATORIAS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>
                          <a:effectLst/>
                        </a:rPr>
                        <a:t>INDICACIONES POSTOPERATORIAS</a:t>
                      </a:r>
                      <a:endParaRPr lang="es-BO" sz="90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BO" sz="1000" dirty="0">
                          <a:effectLst/>
                        </a:rPr>
                        <a:t>OBSERVACIONES</a:t>
                      </a:r>
                      <a:endParaRPr lang="es-BO" sz="900" dirty="0">
                        <a:effectLst/>
                        <a:latin typeface="Cambria"/>
                        <a:ea typeface="Calibri"/>
                        <a:cs typeface="Times New Roman"/>
                      </a:endParaRPr>
                    </a:p>
                  </a:txBody>
                  <a:tcPr marL="55676" marR="5567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63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125</TotalTime>
  <Words>1248</Words>
  <Application>Microsoft Office PowerPoint</Application>
  <PresentationFormat>Presentación en pantalla (4:3)</PresentationFormat>
  <Paragraphs>129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Austin</vt:lpstr>
      <vt:lpstr>CASO CLINICO</vt:lpstr>
      <vt:lpstr>PRACTICA I</vt:lpstr>
      <vt:lpstr>CIRCUNSTANCIAS</vt:lpstr>
      <vt:lpstr>ANTECECENTES: ALIMENTICIOS Y HABITOS: Fuma hace 4 años, deposiciones cada 4 días, pastosas, alimentación normal, niega otros. QUIRURGICOS: Cirugía de Harman I. ALERGIAS: A la penicilina. PATOLOGICOS: Enfermedad del Chagas. TRANSFUSIONES: Niega. GINECO OBSTETRICOS: G2, P2 A: 0 C: 0 , FUM. 07- 2013. </vt:lpstr>
      <vt:lpstr>INDICACIONES PRE-OPERATORIAS</vt:lpstr>
      <vt:lpstr>INDICACIONES POS OPERATORIAS RESTITUCION DE TRANSITO CIRUGIA LIMPIA CONTAMINADA:</vt:lpstr>
      <vt:lpstr>RESTITUCION DEL TRANSITO  INTESTINAL</vt:lpstr>
      <vt:lpstr>RESTITUCION DEL TRANSITO  INTESTINAL</vt:lpstr>
      <vt:lpstr>RESTITUCION DEL TRANSITO  INTESTINAL</vt:lpstr>
      <vt:lpstr>Restitución del transito intestinal</vt:lpstr>
      <vt:lpstr>RESTITUCIÓN DEL TRANSITO INTESTINAL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CLINICO</dc:title>
  <dc:creator>LILI</dc:creator>
  <cp:lastModifiedBy>LILI</cp:lastModifiedBy>
  <cp:revision>6</cp:revision>
  <dcterms:created xsi:type="dcterms:W3CDTF">2013-10-25T04:59:53Z</dcterms:created>
  <dcterms:modified xsi:type="dcterms:W3CDTF">2013-10-25T23:21:06Z</dcterms:modified>
</cp:coreProperties>
</file>