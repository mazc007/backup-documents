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9" r:id="rId21"/>
    <p:sldId id="280" r:id="rId22"/>
    <p:sldId id="281" r:id="rId23"/>
    <p:sldId id="282" r:id="rId24"/>
    <p:sldId id="283" r:id="rId25"/>
    <p:sldId id="285" r:id="rId26"/>
    <p:sldId id="286" r:id="rId27"/>
    <p:sldId id="287" r:id="rId28"/>
    <p:sldId id="295" r:id="rId29"/>
    <p:sldId id="288" r:id="rId30"/>
    <p:sldId id="291" r:id="rId31"/>
    <p:sldId id="292" r:id="rId32"/>
    <p:sldId id="293" r:id="rId33"/>
    <p:sldId id="290" r:id="rId34"/>
    <p:sldId id="276" r:id="rId35"/>
    <p:sldId id="294" r:id="rId36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792" y="-2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238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74E28ED-AB47-4EFA-9CE1-007D69AF7179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49E558E-38EE-4F35-AE28-7051DAE96E7B}" type="datetimeFigureOut">
              <a:rPr lang="es-VE" smtClean="0"/>
              <a:pPr/>
              <a:t>21/09/2013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hyperlink" Target="http://images.google.co.ve/imgres?imgurl=http://www.analizarlab.com/imagenes/fotonota4.gif&amp;imgrefurl=http://www.analizarlab.com/nota_sida.htm&amp;usg=__ekdNpFcFlbvOTAp6RhCR7yMBBMo=&amp;h=235&amp;w=230&amp;sz=19&amp;hl=es&amp;start=191&amp;um=1&amp;tbnid=EViblqVzv-mRVM:&amp;tbnh=109&amp;tbnw=107&amp;prev=/images?q=EXAMENES+laboratorio&amp;ndsp=18&amp;hl=es&amp;sa=N&amp;start=180&amp;um=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images.google.co.ve/imgres?imgurl=http://bligoo.com/media/users/3/180828/images/public/17847/Formalities-Of-Positive-Urine-Test.jpg&amp;imgrefurl=http://sexologiayurologia.bligoo.com/content/view/472648/Examenes-de-laboratorio.html&amp;usg=__v0hBHnjX3_Iil2pxobit3crrHyc=&amp;h=283&amp;w=424&amp;sz=17&amp;hl=es&amp;start=23&amp;um=1&amp;tbnid=bGPIXq1mBH4MJM:&amp;tbnh=84&amp;tbnw=126&amp;prev=/images?q=EXAMENES+laboratorio&amp;ndsp=18&amp;hl=es&amp;sa=N&amp;start=18&amp;um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0" y="63785"/>
            <a:ext cx="85010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VE" b="1" cap="all" dirty="0" smtClean="0"/>
          </a:p>
          <a:p>
            <a:pPr algn="ctr"/>
            <a:endParaRPr lang="es-VE" b="1" cap="all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  <a:p>
            <a:pPr algn="r"/>
            <a:endParaRPr lang="es-VE" b="1" dirty="0" smtClean="0"/>
          </a:p>
          <a:p>
            <a:pPr algn="ctr"/>
            <a:endParaRPr lang="es-VE" b="1" dirty="0" smtClean="0"/>
          </a:p>
          <a:p>
            <a:pPr algn="ctr"/>
            <a:endParaRPr lang="es-VE" b="1" dirty="0" smtClean="0"/>
          </a:p>
        </p:txBody>
      </p:sp>
      <p:sp>
        <p:nvSpPr>
          <p:cNvPr id="5" name="4 Rectángulo"/>
          <p:cNvSpPr/>
          <p:nvPr/>
        </p:nvSpPr>
        <p:spPr>
          <a:xfrm>
            <a:off x="1585755" y="1844824"/>
            <a:ext cx="5415137" cy="1938992"/>
          </a:xfrm>
          <a:prstGeom prst="rect">
            <a:avLst/>
          </a:prstGeom>
          <a:noFill/>
          <a:scene3d>
            <a:camera prst="perspectiveFront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i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Pre-operatorio y</a:t>
            </a:r>
          </a:p>
          <a:p>
            <a:pPr algn="ctr"/>
            <a:r>
              <a:rPr lang="es-ES" sz="6000" b="1" i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Post-operatorio</a:t>
            </a:r>
            <a:endParaRPr lang="es-ES" sz="6000" b="1" i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2695099" y="5032419"/>
            <a:ext cx="554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M.Sc</a:t>
            </a:r>
            <a:r>
              <a:rPr lang="es-ES" sz="2400" dirty="0" smtClean="0"/>
              <a:t>. María Guadalupe </a:t>
            </a:r>
            <a:r>
              <a:rPr lang="es-ES" sz="2400" dirty="0" err="1" smtClean="0"/>
              <a:t>Ledezma</a:t>
            </a:r>
            <a:r>
              <a:rPr lang="es-ES" sz="2400" dirty="0" smtClean="0"/>
              <a:t> Hinojosa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369970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2844" y="2813259"/>
            <a:ext cx="8229600" cy="2115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90000"/>
            </a:pPr>
            <a:r>
              <a:rPr lang="es-ES" sz="2800" dirty="0" smtClean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-</a:t>
            </a:r>
            <a:r>
              <a:rPr lang="es-ES" sz="2600" dirty="0" smtClean="0">
                <a:solidFill>
                  <a:schemeClr val="tx1"/>
                </a:solidFill>
                <a:ea typeface="Arial Unicode MS" pitchFamily="34" charset="-128"/>
                <a:cs typeface="Arial" pitchFamily="34" charset="0"/>
              </a:rPr>
              <a:t>Lapso </a:t>
            </a:r>
            <a:r>
              <a:rPr lang="es-ES" sz="2600" dirty="0">
                <a:solidFill>
                  <a:schemeClr val="tx1"/>
                </a:solidFill>
                <a:ea typeface="Arial Unicode MS" pitchFamily="34" charset="-128"/>
                <a:cs typeface="Arial" pitchFamily="34" charset="0"/>
              </a:rPr>
              <a:t>transcurrido desde que se toma la decisión de practicar la operación hasta su realización.</a:t>
            </a:r>
          </a:p>
          <a:p>
            <a:pPr algn="just">
              <a:buSzPct val="90000"/>
              <a:buFont typeface="Wingdings" pitchFamily="2" charset="2"/>
              <a:buBlip>
                <a:blip r:embed="rId2"/>
              </a:buBlip>
            </a:pPr>
            <a:endParaRPr lang="es-ES" sz="2600" dirty="0">
              <a:solidFill>
                <a:schemeClr val="tx1"/>
              </a:solidFill>
              <a:ea typeface="Arial Unicode MS" pitchFamily="34" charset="-128"/>
              <a:cs typeface="Arial" pitchFamily="34" charset="0"/>
            </a:endParaRPr>
          </a:p>
          <a:p>
            <a:pPr algn="just">
              <a:buSzPct val="90000"/>
            </a:pPr>
            <a:r>
              <a:rPr lang="es-ES" sz="2600" dirty="0" smtClean="0">
                <a:solidFill>
                  <a:schemeClr val="tx1"/>
                </a:solidFill>
                <a:ea typeface="Arial Unicode MS" pitchFamily="34" charset="-128"/>
                <a:cs typeface="Arial" pitchFamily="34" charset="0"/>
              </a:rPr>
              <a:t>-Intervalo </a:t>
            </a:r>
            <a:r>
              <a:rPr lang="es-ES" sz="2600" dirty="0">
                <a:solidFill>
                  <a:schemeClr val="tx1"/>
                </a:solidFill>
                <a:ea typeface="Arial Unicode MS" pitchFamily="34" charset="-128"/>
                <a:cs typeface="Arial" pitchFamily="34" charset="0"/>
              </a:rPr>
              <a:t>que transcurre desde que el paciente y el cirujano se ponen en contacto por primera vez hasta que llega el momento de la intervención</a:t>
            </a:r>
            <a:r>
              <a:rPr lang="es-ES" sz="2800" dirty="0" smtClean="0"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. (</a:t>
            </a:r>
            <a:r>
              <a:rPr lang="en-US" sz="2600" i="1" dirty="0" smtClean="0">
                <a:solidFill>
                  <a:schemeClr val="tx1"/>
                </a:solidFill>
                <a:cs typeface="Arial" pitchFamily="34" charset="0"/>
              </a:rPr>
              <a:t>Dr. Hector r. </a:t>
            </a:r>
            <a:r>
              <a:rPr lang="en-US" sz="2600" i="1" dirty="0" err="1" smtClean="0">
                <a:solidFill>
                  <a:schemeClr val="tx1"/>
                </a:solidFill>
                <a:cs typeface="Arial" pitchFamily="34" charset="0"/>
              </a:rPr>
              <a:t>Marcano</a:t>
            </a:r>
            <a:r>
              <a:rPr lang="en-US" sz="2600" i="1" dirty="0" smtClean="0">
                <a:solidFill>
                  <a:schemeClr val="tx1"/>
                </a:solidFill>
                <a:cs typeface="Arial" pitchFamily="34" charset="0"/>
              </a:rPr>
              <a:t> Amador</a:t>
            </a:r>
            <a:r>
              <a:rPr lang="es-ES" sz="2600" dirty="0" smtClean="0">
                <a:solidFill>
                  <a:schemeClr val="tx1"/>
                </a:solidFill>
                <a:ea typeface="Arial Unicode MS" pitchFamily="34" charset="-128"/>
                <a:cs typeface="Arial" pitchFamily="34" charset="0"/>
              </a:rPr>
              <a:t>)</a:t>
            </a:r>
            <a:endParaRPr lang="es-ES" sz="2600" dirty="0">
              <a:solidFill>
                <a:schemeClr val="tx1"/>
              </a:solidFill>
              <a:ea typeface="Arial Unicode MS" pitchFamily="34" charset="-128"/>
              <a:cs typeface="Arial" pitchFamily="34" charset="0"/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457200" y="-71454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40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PREOPERATORIO</a:t>
            </a:r>
            <a:endParaRPr kumimoji="0" lang="es-VE" sz="4000" b="1" i="0" u="none" strike="noStrike" kern="1200" cap="none" spc="-1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-285784" y="1357298"/>
            <a:ext cx="314327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i="1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Definición:</a:t>
            </a:r>
            <a:endParaRPr kumimoji="0" lang="es-VE" sz="3600" i="1" u="none" strike="noStrike" kern="1200" cap="none" spc="-1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004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6088" y="1700808"/>
            <a:ext cx="7912126" cy="406082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buSzPct val="90000"/>
              <a:buNone/>
            </a:pPr>
            <a:r>
              <a:rPr lang="es-ES" sz="2800" dirty="0" smtClean="0"/>
              <a:t>-Llevar el paciente al acto quirúrgico en las mejores de las condiciones.</a:t>
            </a:r>
          </a:p>
          <a:p>
            <a:pPr algn="ctr">
              <a:lnSpc>
                <a:spcPct val="120000"/>
              </a:lnSpc>
              <a:buSzPct val="90000"/>
              <a:buFont typeface="Wingdings" pitchFamily="2" charset="2"/>
              <a:buBlip>
                <a:blip r:embed="rId2"/>
              </a:buBlip>
            </a:pPr>
            <a:endParaRPr lang="es-ES" sz="2800" dirty="0" smtClean="0"/>
          </a:p>
          <a:p>
            <a:pPr algn="ctr">
              <a:lnSpc>
                <a:spcPct val="120000"/>
              </a:lnSpc>
              <a:buSzPct val="90000"/>
              <a:buNone/>
            </a:pPr>
            <a:r>
              <a:rPr lang="es-ES" sz="2800" dirty="0" smtClean="0"/>
              <a:t>-Prevenir las complicaciones derivadas del mismo.</a:t>
            </a:r>
          </a:p>
          <a:p>
            <a:pPr lvl="1" algn="just">
              <a:lnSpc>
                <a:spcPct val="120000"/>
              </a:lnSpc>
              <a:buFontTx/>
              <a:buNone/>
            </a:pPr>
            <a:endParaRPr lang="es-ES" sz="2400" dirty="0"/>
          </a:p>
        </p:txBody>
      </p:sp>
      <p:pic>
        <p:nvPicPr>
          <p:cNvPr id="18434" name="Picture 2" descr="http://es.stockfresh.com/thumbs/yuri_arcurs/53049_retrato-m%C3%A9dico-ancianos-paciente-feliz-j%C3%B3vene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28794" y="4429132"/>
            <a:ext cx="5106144" cy="16779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7" name="1 Título"/>
          <p:cNvSpPr txBox="1">
            <a:spLocks/>
          </p:cNvSpPr>
          <p:nvPr/>
        </p:nvSpPr>
        <p:spPr>
          <a:xfrm>
            <a:off x="71406" y="428604"/>
            <a:ext cx="314327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i="1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Objetivo:</a:t>
            </a:r>
            <a:endParaRPr kumimoji="0" lang="es-VE" sz="3600" i="1" u="none" strike="noStrike" kern="1200" cap="none" spc="-1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656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28662" y="1500174"/>
            <a:ext cx="5580112" cy="398938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 smtClean="0"/>
              <a:t>Se inicia con:</a:t>
            </a:r>
          </a:p>
          <a:p>
            <a:endParaRPr lang="es-ES" sz="2600" dirty="0" smtClean="0"/>
          </a:p>
          <a:p>
            <a:pPr lvl="1"/>
            <a:r>
              <a:rPr lang="es-ES" dirty="0" smtClean="0"/>
              <a:t>La elaboración de una historia clínica:</a:t>
            </a:r>
          </a:p>
          <a:p>
            <a:pPr lvl="2">
              <a:lnSpc>
                <a:spcPct val="150000"/>
              </a:lnSpc>
            </a:pPr>
            <a:r>
              <a:rPr lang="es-ES" sz="2600" dirty="0" smtClean="0"/>
              <a:t>Interrogatorio – examen físico</a:t>
            </a:r>
          </a:p>
          <a:p>
            <a:pPr lvl="2">
              <a:lnSpc>
                <a:spcPct val="150000"/>
              </a:lnSpc>
            </a:pPr>
            <a:r>
              <a:rPr lang="es-ES" sz="2600" dirty="0" smtClean="0"/>
              <a:t>Diagnóstico</a:t>
            </a:r>
          </a:p>
          <a:p>
            <a:pPr lvl="2">
              <a:lnSpc>
                <a:spcPct val="150000"/>
              </a:lnSpc>
            </a:pPr>
            <a:r>
              <a:rPr lang="es-ES" sz="2600" dirty="0" smtClean="0"/>
              <a:t>Pruebas paraclínicas.</a:t>
            </a:r>
            <a:endParaRPr lang="es-ES" sz="2600" dirty="0"/>
          </a:p>
        </p:txBody>
      </p:sp>
      <p:pic>
        <p:nvPicPr>
          <p:cNvPr id="6" name="Picture 6" descr="j021605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29388" y="1928802"/>
            <a:ext cx="1857388" cy="46584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7" name="1 Título"/>
          <p:cNvSpPr txBox="1">
            <a:spLocks/>
          </p:cNvSpPr>
          <p:nvPr/>
        </p:nvSpPr>
        <p:spPr>
          <a:xfrm>
            <a:off x="457200" y="-71454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40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PREOPERATORIO</a:t>
            </a:r>
            <a:endParaRPr kumimoji="0" lang="es-VE" sz="4000" b="1" i="0" u="none" strike="noStrike" kern="1200" cap="none" spc="-1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211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45232" y="2000240"/>
            <a:ext cx="5266928" cy="46085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50000"/>
              </a:lnSpc>
              <a:buClr>
                <a:schemeClr val="bg2">
                  <a:lumMod val="50000"/>
                </a:schemeClr>
              </a:buClr>
              <a:buSzTx/>
              <a:buNone/>
            </a:pPr>
            <a:r>
              <a:rPr lang="es-ES" sz="2400" dirty="0" smtClean="0"/>
              <a:t>Edad</a:t>
            </a:r>
          </a:p>
          <a:p>
            <a:pPr marL="609600" indent="-609600">
              <a:lnSpc>
                <a:spcPct val="150000"/>
              </a:lnSpc>
              <a:buClr>
                <a:srgbClr val="FFFF00"/>
              </a:buClr>
              <a:buSzTx/>
              <a:buNone/>
            </a:pPr>
            <a:r>
              <a:rPr lang="es-ES" sz="2400" dirty="0" smtClean="0"/>
              <a:t>Intervenciones previas</a:t>
            </a:r>
          </a:p>
          <a:p>
            <a:pPr marL="609600" indent="-609600">
              <a:lnSpc>
                <a:spcPct val="150000"/>
              </a:lnSpc>
              <a:buClr>
                <a:srgbClr val="FFFF00"/>
              </a:buClr>
              <a:buSzTx/>
              <a:buNone/>
            </a:pPr>
            <a:r>
              <a:rPr lang="es-ES" sz="2400" dirty="0" smtClean="0"/>
              <a:t>Tipo de intervención planificada</a:t>
            </a:r>
          </a:p>
          <a:p>
            <a:pPr marL="1371600" lvl="2" indent="-457200">
              <a:lnSpc>
                <a:spcPct val="150000"/>
              </a:lnSpc>
              <a:buSzTx/>
              <a:buNone/>
            </a:pPr>
            <a:r>
              <a:rPr lang="es-ES" dirty="0" smtClean="0"/>
              <a:t>Electiva</a:t>
            </a:r>
          </a:p>
          <a:p>
            <a:pPr marL="1371600" lvl="2" indent="-457200">
              <a:lnSpc>
                <a:spcPct val="150000"/>
              </a:lnSpc>
              <a:buSzTx/>
              <a:buNone/>
            </a:pPr>
            <a:r>
              <a:rPr lang="es-ES" dirty="0" smtClean="0"/>
              <a:t>Emergencia</a:t>
            </a:r>
          </a:p>
          <a:p>
            <a:pPr marL="1371600" lvl="2" indent="-457200">
              <a:lnSpc>
                <a:spcPct val="150000"/>
              </a:lnSpc>
              <a:buSzTx/>
              <a:buNone/>
            </a:pPr>
            <a:r>
              <a:rPr lang="es-ES" dirty="0" smtClean="0"/>
              <a:t>Sitio de la anatomía</a:t>
            </a:r>
          </a:p>
          <a:p>
            <a:pPr marL="1371600" lvl="2" indent="-457200">
              <a:lnSpc>
                <a:spcPct val="150000"/>
              </a:lnSpc>
              <a:buSzTx/>
              <a:buNone/>
            </a:pPr>
            <a:r>
              <a:rPr lang="es-ES" dirty="0" smtClean="0"/>
              <a:t>Técnica y drogas anestésicas</a:t>
            </a:r>
            <a:endParaRPr lang="es-ES" dirty="0"/>
          </a:p>
        </p:txBody>
      </p:sp>
      <p:pic>
        <p:nvPicPr>
          <p:cNvPr id="15" name="Picture 2" descr="C:\Users\USUARIO\Desktop\CIRUGIA\CIRUGIA BARIATRICA 1 Grande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15074" y="2571744"/>
            <a:ext cx="1914461" cy="36864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95338" y="142860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Evaluación preoperatoria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345628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42911" y="1664854"/>
            <a:ext cx="5929287" cy="1044066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>
              <a:lnSpc>
                <a:spcPct val="110000"/>
              </a:lnSpc>
              <a:buClr>
                <a:schemeClr val="accent1">
                  <a:lumMod val="75000"/>
                </a:schemeClr>
              </a:buClr>
            </a:pPr>
            <a:r>
              <a:rPr lang="es-ES" sz="2400" b="1" i="1" dirty="0" smtClean="0"/>
              <a:t>Objetivos:</a:t>
            </a:r>
            <a:endParaRPr lang="es-ES" sz="2000" b="1" i="1" dirty="0" smtClean="0"/>
          </a:p>
          <a:p>
            <a:pPr marL="723900" lvl="1" indent="-271463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Establecimiento de la relación médico paciente.</a:t>
            </a:r>
            <a:endParaRPr lang="es-ES" sz="2000" dirty="0"/>
          </a:p>
        </p:txBody>
      </p:sp>
      <p:sp>
        <p:nvSpPr>
          <p:cNvPr id="10" name="9 Rectángulo"/>
          <p:cNvSpPr/>
          <p:nvPr/>
        </p:nvSpPr>
        <p:spPr>
          <a:xfrm>
            <a:off x="154432" y="4481244"/>
            <a:ext cx="7560840" cy="1107996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723900" lvl="1" indent="-271463">
              <a:lnSpc>
                <a:spcPct val="110000"/>
              </a:lnSpc>
              <a:buClr>
                <a:schemeClr val="bg2">
                  <a:lumMod val="50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Valorar los índices de riesgo anestésico quirúrgico.</a:t>
            </a:r>
          </a:p>
          <a:p>
            <a:pPr marL="723900" lvl="1" indent="-271463">
              <a:lnSpc>
                <a:spcPct val="110000"/>
              </a:lnSpc>
              <a:buClr>
                <a:schemeClr val="bg2">
                  <a:lumMod val="50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Mejorar la calidad asistencial.</a:t>
            </a:r>
          </a:p>
          <a:p>
            <a:pPr marL="723900" lvl="1" indent="-271463">
              <a:lnSpc>
                <a:spcPct val="110000"/>
              </a:lnSpc>
              <a:buClr>
                <a:schemeClr val="bg2">
                  <a:lumMod val="50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Reducir la ansiedad del paciente</a:t>
            </a:r>
            <a:endParaRPr lang="es-VE" sz="1600" dirty="0"/>
          </a:p>
        </p:txBody>
      </p:sp>
      <p:sp>
        <p:nvSpPr>
          <p:cNvPr id="11" name="10 Rectángulo"/>
          <p:cNvSpPr/>
          <p:nvPr/>
        </p:nvSpPr>
        <p:spPr>
          <a:xfrm>
            <a:off x="129196" y="3235623"/>
            <a:ext cx="6300192" cy="769441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723900" lvl="1" indent="-271463">
              <a:lnSpc>
                <a:spcPct val="110000"/>
              </a:lnSpc>
              <a:buClr>
                <a:schemeClr val="bg2">
                  <a:lumMod val="50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Disminuir la morbimortalidad </a:t>
            </a:r>
            <a:r>
              <a:rPr lang="es-ES" sz="2000" dirty="0" err="1" smtClean="0"/>
              <a:t>perioperatoria</a:t>
            </a:r>
            <a:r>
              <a:rPr lang="es-ES" sz="2000" dirty="0" smtClean="0"/>
              <a:t>.</a:t>
            </a:r>
          </a:p>
          <a:p>
            <a:pPr marL="723900" lvl="1" indent="-271463">
              <a:lnSpc>
                <a:spcPct val="110000"/>
              </a:lnSpc>
              <a:buClr>
                <a:schemeClr val="bg2">
                  <a:lumMod val="50000"/>
                </a:schemeClr>
              </a:buClr>
              <a:buSzPct val="80000"/>
              <a:buFont typeface="Courier New" pitchFamily="49" charset="0"/>
              <a:buChar char="o"/>
            </a:pPr>
            <a:r>
              <a:rPr lang="es-ES" sz="2000" dirty="0" smtClean="0"/>
              <a:t>Obtener consentimiento informado.</a:t>
            </a:r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881090" y="71414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Evaluación pre anestésica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391383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4282" y="1817689"/>
            <a:ext cx="8001056" cy="125127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FFFF00"/>
              </a:buClr>
              <a:buSzTx/>
              <a:buNone/>
            </a:pPr>
            <a:r>
              <a:rPr lang="es-ES" sz="2400" dirty="0" smtClean="0"/>
              <a:t> </a:t>
            </a:r>
            <a:r>
              <a:rPr lang="es-ES" sz="2400" b="1" dirty="0" smtClean="0"/>
              <a:t>Presencia de estados de comorbilidad 60%.</a:t>
            </a:r>
          </a:p>
          <a:p>
            <a:pPr marL="1371600" lvl="2" indent="-457200">
              <a:buSzTx/>
            </a:pPr>
            <a:r>
              <a:rPr lang="es-ES" sz="2000" dirty="0" smtClean="0"/>
              <a:t>Enfermedades sistémicas concurrentes: </a:t>
            </a:r>
            <a:r>
              <a:rPr lang="es-ES" sz="2000" dirty="0" err="1" smtClean="0"/>
              <a:t>cardio</a:t>
            </a:r>
            <a:r>
              <a:rPr lang="es-ES" sz="2000" dirty="0" smtClean="0"/>
              <a:t>-vasculares, metabólicas: diabetes, EPOC, cáncer.</a:t>
            </a:r>
          </a:p>
        </p:txBody>
      </p:sp>
      <p:sp>
        <p:nvSpPr>
          <p:cNvPr id="7" name="6 Rectángulo"/>
          <p:cNvSpPr/>
          <p:nvPr/>
        </p:nvSpPr>
        <p:spPr>
          <a:xfrm>
            <a:off x="285720" y="3429000"/>
            <a:ext cx="7873554" cy="323165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>
              <a:buClr>
                <a:srgbClr val="FFFF00"/>
              </a:buClr>
              <a:buSzTx/>
            </a:pPr>
            <a:r>
              <a:rPr lang="es-ES" sz="2400" dirty="0" smtClean="0"/>
              <a:t> </a:t>
            </a:r>
            <a:r>
              <a:rPr lang="es-ES" sz="2400" b="1" dirty="0" smtClean="0"/>
              <a:t>Estado nutricional</a:t>
            </a:r>
          </a:p>
          <a:p>
            <a:pPr marL="990600" lvl="1" indent="-533400" algn="just">
              <a:buSzPct val="80000"/>
              <a:buFont typeface="Wingdings" pitchFamily="2" charset="2"/>
              <a:buAutoNum type="arabicPeriod"/>
            </a:pPr>
            <a:r>
              <a:rPr lang="es-ES" sz="2000" dirty="0" smtClean="0"/>
              <a:t>Malnutrición: 50%</a:t>
            </a:r>
          </a:p>
          <a:p>
            <a:pPr marL="1371600" lvl="2" indent="-457200" algn="just"/>
            <a:r>
              <a:rPr lang="es-ES" sz="2000" dirty="0" smtClean="0"/>
              <a:t>- Proceso </a:t>
            </a:r>
            <a:r>
              <a:rPr lang="es-ES" sz="2000" dirty="0"/>
              <a:t>catabólico: 3-7 días</a:t>
            </a:r>
          </a:p>
          <a:p>
            <a:pPr marL="1371600" lvl="2" indent="-457200" algn="just"/>
            <a:r>
              <a:rPr lang="es-ES" sz="2000" dirty="0" smtClean="0"/>
              <a:t>- Depleción </a:t>
            </a:r>
            <a:r>
              <a:rPr lang="es-ES" sz="2000" dirty="0"/>
              <a:t>de aminoácidos: ALA – GLU</a:t>
            </a:r>
          </a:p>
          <a:p>
            <a:pPr marL="1371600" lvl="2" indent="-457200" algn="just"/>
            <a:r>
              <a:rPr lang="es-ES" sz="2000" dirty="0" smtClean="0"/>
              <a:t>- Disminución </a:t>
            </a:r>
            <a:r>
              <a:rPr lang="es-ES" sz="2000" dirty="0"/>
              <a:t>de síntesis proteica</a:t>
            </a:r>
          </a:p>
          <a:p>
            <a:pPr marL="990600" lvl="1" indent="-533400" algn="just">
              <a:buSzPct val="80000"/>
              <a:buFont typeface="Wingdings" pitchFamily="2" charset="2"/>
              <a:buAutoNum type="arabicPeriod"/>
            </a:pPr>
            <a:r>
              <a:rPr lang="es-ES" sz="2000" dirty="0" smtClean="0"/>
              <a:t>Sistemas de medición antropométrica:</a:t>
            </a:r>
          </a:p>
          <a:p>
            <a:pPr marL="1371600" lvl="2" indent="-457200" algn="just"/>
            <a:r>
              <a:rPr lang="es-ES" sz="2000" dirty="0" smtClean="0"/>
              <a:t>- Índice </a:t>
            </a:r>
            <a:r>
              <a:rPr lang="es-ES" sz="2000" dirty="0"/>
              <a:t>de masa corporal (peso/talla</a:t>
            </a:r>
            <a:r>
              <a:rPr lang="es-ES" sz="2000" baseline="30000" dirty="0"/>
              <a:t>2</a:t>
            </a:r>
            <a:r>
              <a:rPr lang="es-ES" sz="2000" dirty="0"/>
              <a:t>)</a:t>
            </a:r>
          </a:p>
          <a:p>
            <a:pPr marL="1371600" lvl="2" indent="-457200" algn="just"/>
            <a:r>
              <a:rPr lang="es-ES" sz="2000" dirty="0" smtClean="0"/>
              <a:t>- Peso </a:t>
            </a:r>
            <a:r>
              <a:rPr lang="es-ES" sz="2000" dirty="0"/>
              <a:t>ideal (PI), peso habitual (PH), peso actual (PA).</a:t>
            </a:r>
          </a:p>
          <a:p>
            <a:pPr marL="1371600" lvl="2" indent="-457200" algn="just"/>
            <a:r>
              <a:rPr lang="es-ES" sz="2000" dirty="0" smtClean="0"/>
              <a:t>- Pliegue </a:t>
            </a:r>
            <a:r>
              <a:rPr lang="es-ES" sz="2000" dirty="0"/>
              <a:t>del tríceps</a:t>
            </a:r>
          </a:p>
          <a:p>
            <a:pPr marL="1371600" lvl="2" indent="-457200" algn="just"/>
            <a:r>
              <a:rPr lang="es-ES" sz="2000" dirty="0" smtClean="0"/>
              <a:t>- Circunferencia </a:t>
            </a:r>
            <a:r>
              <a:rPr lang="es-ES" sz="2000" dirty="0"/>
              <a:t>muscular del brazo</a:t>
            </a:r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642910" y="71414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Evaluación preoperatoria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207158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352622" y="1812996"/>
            <a:ext cx="4978895" cy="275886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Clr>
                <a:srgbClr val="FFFF00"/>
              </a:buClr>
              <a:buSzTx/>
              <a:buNone/>
            </a:pPr>
            <a:r>
              <a:rPr lang="es-ES" sz="2400" b="1" dirty="0" smtClean="0"/>
              <a:t>Examen físico:</a:t>
            </a:r>
          </a:p>
          <a:p>
            <a:pPr marL="1371600" lvl="2" indent="-457200" algn="just">
              <a:buSzTx/>
            </a:pPr>
            <a:r>
              <a:rPr lang="es-ES" sz="2000" dirty="0" smtClean="0"/>
              <a:t>Uso de profilaxis antibiótica</a:t>
            </a:r>
          </a:p>
          <a:p>
            <a:pPr marL="1371600" lvl="2" indent="-457200" algn="just">
              <a:buSzTx/>
            </a:pPr>
            <a:r>
              <a:rPr lang="es-ES" sz="2000" dirty="0" smtClean="0"/>
              <a:t>Uso de profilaxis anticoagulantes</a:t>
            </a:r>
          </a:p>
          <a:p>
            <a:pPr marL="1371600" lvl="2" indent="-457200" algn="just">
              <a:buSzTx/>
            </a:pPr>
            <a:r>
              <a:rPr lang="es-ES" sz="2000" dirty="0" smtClean="0"/>
              <a:t>Antihipertensivos</a:t>
            </a:r>
          </a:p>
          <a:p>
            <a:pPr marL="1371600" lvl="2" indent="-457200" algn="just">
              <a:buSzTx/>
            </a:pPr>
            <a:endParaRPr lang="es-ES" sz="2000" dirty="0" smtClean="0"/>
          </a:p>
          <a:p>
            <a:pPr marL="609600" indent="-609600" algn="just">
              <a:buClr>
                <a:srgbClr val="FFFF00"/>
              </a:buClr>
              <a:buSzTx/>
              <a:buNone/>
            </a:pPr>
            <a:r>
              <a:rPr lang="es-ES" sz="2400" b="1" dirty="0" smtClean="0"/>
              <a:t>Preparación psicológica</a:t>
            </a:r>
            <a:endParaRPr lang="es-ES" sz="2400" b="1" dirty="0"/>
          </a:p>
        </p:txBody>
      </p:sp>
      <p:pic>
        <p:nvPicPr>
          <p:cNvPr id="13314" name="Picture 2" descr="http://t1.gstatic.com/images?q=tbn:ANd9GcQEkojEHqZiOR5efbGpEWcNWOokbgc8cNJ8YDXnLA1MeqKOdNZ7&amp;t=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578" y="3812544"/>
            <a:ext cx="3301286" cy="2726570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7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Evaluación preoperatoria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267288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00100" y="1545392"/>
            <a:ext cx="6840760" cy="331236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 lnSpcReduction="10000"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SzPct val="90000"/>
              <a:buNone/>
            </a:pPr>
            <a:r>
              <a:rPr lang="es-ES" sz="2400" b="1" dirty="0" smtClean="0"/>
              <a:t>Rutina preoperatoria</a:t>
            </a:r>
          </a:p>
          <a:p>
            <a:pPr marL="609600" indent="-609600" algn="just">
              <a:buSzPct val="90000"/>
              <a:buNone/>
            </a:pPr>
            <a:r>
              <a:rPr lang="es-ES" sz="2400" b="1" dirty="0" smtClean="0"/>
              <a:t>Perfil preoperatorio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000" dirty="0" smtClean="0"/>
              <a:t>- Hematología: 10 g/dl de </a:t>
            </a:r>
            <a:r>
              <a:rPr lang="es-ES" sz="2000" dirty="0" err="1" smtClean="0"/>
              <a:t>Hb.</a:t>
            </a:r>
            <a:r>
              <a:rPr lang="es-ES" sz="2000" dirty="0" smtClean="0"/>
              <a:t>, y 30% de </a:t>
            </a:r>
            <a:r>
              <a:rPr lang="es-ES" sz="2000" dirty="0" err="1" smtClean="0"/>
              <a:t>Hcto</a:t>
            </a:r>
            <a:r>
              <a:rPr lang="es-ES" sz="2000" dirty="0" smtClean="0"/>
              <a:t>. Decisión de transfundir.</a:t>
            </a:r>
          </a:p>
          <a:p>
            <a:pPr marL="985838" lvl="1" indent="-533400" algn="just">
              <a:buClr>
                <a:srgbClr val="FFFF00"/>
              </a:buClr>
              <a:buSzPct val="85000"/>
              <a:buFontTx/>
              <a:buAutoNum type="arabicPeriod"/>
            </a:pPr>
            <a:endParaRPr lang="es-ES" sz="2000" dirty="0" smtClean="0"/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000" dirty="0" smtClean="0"/>
              <a:t>- Pruebas de coagulación: tiempo de protrombina (TP) y tiempo parcial de tromboplastina (TPT)</a:t>
            </a:r>
          </a:p>
          <a:p>
            <a:pPr marL="1165225" lvl="2" indent="-261938" algn="just"/>
            <a:endParaRPr lang="es-ES" sz="2000" dirty="0" smtClean="0"/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000" dirty="0" smtClean="0"/>
              <a:t>- Glicemia</a:t>
            </a:r>
            <a:endParaRPr lang="es-ES" sz="2000" dirty="0"/>
          </a:p>
        </p:txBody>
      </p:sp>
      <p:pic>
        <p:nvPicPr>
          <p:cNvPr id="6" name="Picture 4" descr="http://t1.gstatic.com/images?q=tbn:ANd9GcSIIZri0N4ZjQI70JMc1py_A_g8XoqzzwQleO8wTNZpYuPvEK7PIBWeTOI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89" t="4142" r="2022" b="5826"/>
          <a:stretch/>
        </p:blipFill>
        <p:spPr bwMode="auto">
          <a:xfrm>
            <a:off x="1000100" y="5286388"/>
            <a:ext cx="2143140" cy="10030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7" name="Picture 6" descr="http://www.alergias.net/wp-content/uploads/2012/03/sangre-hematologi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00430" y="5143512"/>
            <a:ext cx="2071702" cy="12632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9" name="Picture 16" descr="fotonota4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72198" y="5248295"/>
            <a:ext cx="1800200" cy="1038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sz="4000" b="1" cap="all" dirty="0" smtClean="0"/>
              <a:t>Exámenes complementarios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359161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557339"/>
            <a:ext cx="7931224" cy="2807766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SzPct val="90000"/>
              <a:buNone/>
            </a:pPr>
            <a:r>
              <a:rPr lang="es-ES" sz="2400" b="1" dirty="0" smtClean="0"/>
              <a:t>Perfil preoperatorio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200" dirty="0" smtClean="0"/>
              <a:t>- </a:t>
            </a:r>
            <a:r>
              <a:rPr lang="es-ES" sz="2200" dirty="0" err="1" smtClean="0"/>
              <a:t>Creatinina</a:t>
            </a:r>
            <a:r>
              <a:rPr lang="es-ES" sz="2200" dirty="0" smtClean="0"/>
              <a:t>: la prevalencia de I.R. en pacientes asintomáticos es del 0,2% aprox. Costo – Beneficio.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200" dirty="0" smtClean="0"/>
              <a:t>-Examen de orina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200" dirty="0" smtClean="0"/>
              <a:t>-Detección de virus de inmunodeficiencia humana (VIH)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2200" dirty="0" smtClean="0"/>
              <a:t>-VDRL</a:t>
            </a:r>
            <a:endParaRPr lang="es-ES" sz="2200" dirty="0"/>
          </a:p>
        </p:txBody>
      </p:sp>
      <p:pic>
        <p:nvPicPr>
          <p:cNvPr id="7" name="Picture 12" descr="Formalities-Of-Positive-Urine-Test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86380" y="5072074"/>
            <a:ext cx="2071702" cy="1294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2" name="Picture 8" descr="http://1.bp.blogspot.com/-C7aCH23Qynw/TZe5P5yzeoI/AAAAAAAAABE/043w1I5G_WU/s1600/automatizacion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78239" y="5072075"/>
            <a:ext cx="1959937" cy="12858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1266" name="Picture 2" descr="http://3.bp.blogspot.com/-mDatRs0Ia4A/Tl-1xYJu6CI/AAAAAAAABBo/W1MnwNmMkq8/s1600/Ri%C3%B1%C3%B3n-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86116" y="5072074"/>
            <a:ext cx="1857388" cy="12947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10" name="7 Título"/>
          <p:cNvSpPr>
            <a:spLocks noGrp="1"/>
          </p:cNvSpPr>
          <p:nvPr>
            <p:ph type="title"/>
          </p:nvPr>
        </p:nvSpPr>
        <p:spPr>
          <a:xfrm>
            <a:off x="457200" y="71414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Exámenes complementarios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224668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268760"/>
            <a:ext cx="8229600" cy="57596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SzPct val="90000"/>
              <a:buNone/>
            </a:pPr>
            <a:r>
              <a:rPr lang="es-ES" sz="2800" dirty="0" smtClean="0"/>
              <a:t>Perfil preoperatorio</a:t>
            </a:r>
          </a:p>
        </p:txBody>
      </p:sp>
      <p:sp>
        <p:nvSpPr>
          <p:cNvPr id="8" name="7 Rectángulo"/>
          <p:cNvSpPr/>
          <p:nvPr/>
        </p:nvSpPr>
        <p:spPr>
          <a:xfrm>
            <a:off x="3712662" y="4077072"/>
            <a:ext cx="42474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85838" lvl="1" indent="-533400" algn="just">
              <a:buClr>
                <a:srgbClr val="FFFF00"/>
              </a:buClr>
              <a:buSzPct val="85000"/>
            </a:pPr>
            <a:r>
              <a:rPr lang="es-ES" sz="2000" dirty="0" smtClean="0"/>
              <a:t>- Electrocardiograma</a:t>
            </a:r>
          </a:p>
        </p:txBody>
      </p:sp>
      <p:sp>
        <p:nvSpPr>
          <p:cNvPr id="9" name="8 Rectángulo"/>
          <p:cNvSpPr/>
          <p:nvPr/>
        </p:nvSpPr>
        <p:spPr>
          <a:xfrm>
            <a:off x="0" y="1903986"/>
            <a:ext cx="29717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85838" lvl="1" indent="-533400" algn="just">
              <a:buClr>
                <a:srgbClr val="FFFF00"/>
              </a:buClr>
              <a:buSzPct val="85000"/>
            </a:pPr>
            <a:r>
              <a:rPr lang="es-ES" sz="2000" dirty="0" smtClean="0"/>
              <a:t>- Radiografías de tórax</a:t>
            </a:r>
          </a:p>
        </p:txBody>
      </p:sp>
      <p:pic>
        <p:nvPicPr>
          <p:cNvPr id="10242" name="Picture 2" descr="http://www.proyectobird.es/edicion%203/edicion%203/TX/case009/rx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0100" y="2357430"/>
            <a:ext cx="2669054" cy="177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://reskerexperiences.files.wordpress.com/2010/02/electrocardiogram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034" y="4477182"/>
            <a:ext cx="7524750" cy="2214942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7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Exámenes complementarios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283320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196752"/>
            <a:ext cx="6203032" cy="57539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SzPct val="90000"/>
              <a:buNone/>
            </a:pPr>
            <a:r>
              <a:rPr lang="es-ES" dirty="0" smtClean="0"/>
              <a:t>Perfil preoperatorio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67544" y="3714752"/>
            <a:ext cx="5832648" cy="95410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 anchor="ctr">
            <a:spAutoFit/>
          </a:bodyPr>
          <a:lstStyle/>
          <a:p>
            <a:pPr marL="0" lvl="2" algn="just" defTabSz="265113"/>
            <a:r>
              <a:rPr lang="es-ES" sz="2000" dirty="0"/>
              <a:t>Valoración funcional </a:t>
            </a:r>
            <a:r>
              <a:rPr lang="es-ES" sz="2000" dirty="0" smtClean="0"/>
              <a:t>respiratoria.  Espirometría: en toda cirugía abdominal alta.</a:t>
            </a:r>
          </a:p>
          <a:p>
            <a:pPr marL="1920875" lvl="3" indent="-381000" algn="just">
              <a:buSzPct val="85000"/>
            </a:pPr>
            <a:endParaRPr lang="es-ES" sz="1600" dirty="0"/>
          </a:p>
        </p:txBody>
      </p:sp>
      <p:sp>
        <p:nvSpPr>
          <p:cNvPr id="8" name="7 Rectángulo"/>
          <p:cNvSpPr/>
          <p:nvPr/>
        </p:nvSpPr>
        <p:spPr>
          <a:xfrm>
            <a:off x="457200" y="2636912"/>
            <a:ext cx="4608512" cy="400110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 lIns="0" rIns="0" anchor="t" anchorCtr="0">
            <a:spAutoFit/>
          </a:bodyPr>
          <a:lstStyle/>
          <a:p>
            <a:pPr marL="176213" lvl="2"/>
            <a:r>
              <a:rPr lang="es-ES" sz="2000" dirty="0" smtClean="0">
                <a:cs typeface="Arial" pitchFamily="34" charset="0"/>
              </a:rPr>
              <a:t>Valoración cardiovascular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13184" y="1786835"/>
            <a:ext cx="47160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85838" lvl="1" indent="-533400">
              <a:buClr>
                <a:srgbClr val="FFFF00"/>
              </a:buClr>
              <a:buSzPct val="85000"/>
            </a:pPr>
            <a:r>
              <a:rPr lang="es-ES" sz="2000" dirty="0" smtClean="0"/>
              <a:t>- </a:t>
            </a:r>
            <a:r>
              <a:rPr lang="es-ES" sz="2000" i="1" dirty="0" smtClean="0"/>
              <a:t>Valoración sistemática</a:t>
            </a:r>
          </a:p>
        </p:txBody>
      </p:sp>
      <p:pic>
        <p:nvPicPr>
          <p:cNvPr id="9218" name="Picture 2" descr="http://us.123rf.com/400wm/400/400/stockerteam/stockerteam1206/stockerteam120600784/13921689-pulmones-anatomi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645024"/>
            <a:ext cx="1525933" cy="1405991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www.juntadeandalucia.es/averroes/%7E29701428/salud/coeur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15200"/>
            <a:ext cx="1663827" cy="1585808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67544" y="4857760"/>
            <a:ext cx="4824536" cy="400110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0" lvl="2" algn="just" defTabSz="265113"/>
            <a:r>
              <a:rPr lang="es-ES" sz="2000" dirty="0" smtClean="0"/>
              <a:t>Valoración urológica. Mayores de 40 años. </a:t>
            </a:r>
            <a:endParaRPr lang="es-ES" sz="20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792948"/>
            <a:ext cx="5688632" cy="707886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 smtClean="0"/>
              <a:t>Valoración ginecológica en toda mujer con vida sexual activa</a:t>
            </a:r>
            <a:endParaRPr lang="es-VE" sz="2000" dirty="0"/>
          </a:p>
        </p:txBody>
      </p:sp>
      <p:sp>
        <p:nvSpPr>
          <p:cNvPr id="14" name="7 Título"/>
          <p:cNvSpPr>
            <a:spLocks noGrp="1"/>
          </p:cNvSpPr>
          <p:nvPr>
            <p:ph type="title"/>
          </p:nvPr>
        </p:nvSpPr>
        <p:spPr>
          <a:xfrm>
            <a:off x="666776" y="71414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Exámenes complementarios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36021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347709"/>
            <a:ext cx="7067128" cy="1295473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SzPct val="90000"/>
              <a:buNone/>
            </a:pPr>
            <a:r>
              <a:rPr lang="es-ES" dirty="0" smtClean="0"/>
              <a:t>Perfil preoperatorio </a:t>
            </a:r>
          </a:p>
          <a:p>
            <a:pPr marL="985838" lvl="1" indent="-533400" algn="just">
              <a:buClr>
                <a:srgbClr val="FFFF00"/>
              </a:buClr>
              <a:buSzPct val="85000"/>
              <a:buNone/>
            </a:pPr>
            <a:r>
              <a:rPr lang="es-ES" sz="1900" i="1" dirty="0" smtClean="0"/>
              <a:t>Pruebas de función hepática</a:t>
            </a:r>
          </a:p>
          <a:p>
            <a:pPr marL="1360488" lvl="2" indent="-457200" algn="just">
              <a:buNone/>
            </a:pPr>
            <a:r>
              <a:rPr lang="es-ES" sz="1900" dirty="0" smtClean="0"/>
              <a:t>- Prevalencia de anormalidades de enzimas hepáticas es baja</a:t>
            </a:r>
          </a:p>
          <a:p>
            <a:pPr marL="985838" lvl="1" indent="-533400" algn="just">
              <a:buClr>
                <a:srgbClr val="FFFF00"/>
              </a:buClr>
              <a:buSzPct val="85000"/>
              <a:buFontTx/>
              <a:buAutoNum type="arabicPeriod" startAt="11"/>
            </a:pPr>
            <a:endParaRPr lang="es-ES" sz="2200" dirty="0" smtClean="0"/>
          </a:p>
        </p:txBody>
      </p:sp>
      <p:sp>
        <p:nvSpPr>
          <p:cNvPr id="7" name="6 Rectángulo"/>
          <p:cNvSpPr/>
          <p:nvPr/>
        </p:nvSpPr>
        <p:spPr>
          <a:xfrm>
            <a:off x="467544" y="4880630"/>
            <a:ext cx="7038528" cy="1477328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452438" lvl="1" algn="just">
              <a:buClr>
                <a:srgbClr val="FFFF00"/>
              </a:buClr>
              <a:buSzPct val="85000"/>
            </a:pPr>
            <a:r>
              <a:rPr lang="es-ES" dirty="0" smtClean="0"/>
              <a:t>Proteínas totales y fraccionadas</a:t>
            </a:r>
          </a:p>
          <a:p>
            <a:pPr marL="1360488" lvl="2" indent="-457200" algn="just"/>
            <a:r>
              <a:rPr lang="es-ES" dirty="0" smtClean="0"/>
              <a:t>-Albúminas: favorecen una mejor adhesión de las anastomosis gastrointestinales.</a:t>
            </a:r>
          </a:p>
          <a:p>
            <a:pPr marL="1360488" lvl="2" indent="-457200" algn="just"/>
            <a:r>
              <a:rPr lang="es-ES" dirty="0" smtClean="0"/>
              <a:t>-Importantes </a:t>
            </a:r>
            <a:r>
              <a:rPr lang="es-ES" dirty="0"/>
              <a:t>en la cicatrización</a:t>
            </a:r>
          </a:p>
          <a:p>
            <a:pPr marL="1360488" lvl="2" indent="-457200" algn="just"/>
            <a:r>
              <a:rPr lang="es-ES" dirty="0" smtClean="0"/>
              <a:t>-Disminuyen </a:t>
            </a:r>
            <a:r>
              <a:rPr lang="es-ES" dirty="0"/>
              <a:t>el riesgo de infección.</a:t>
            </a:r>
          </a:p>
        </p:txBody>
      </p:sp>
      <p:sp>
        <p:nvSpPr>
          <p:cNvPr id="9" name="AutoShape 2" descr="http://www.nutricionistadeperros.com/wp-content/uploads/2012/06/higado.jpg"/>
          <p:cNvSpPr>
            <a:spLocks noChangeAspect="1" noChangeArrowheads="1"/>
          </p:cNvSpPr>
          <p:nvPr/>
        </p:nvSpPr>
        <p:spPr bwMode="auto">
          <a:xfrm>
            <a:off x="155575" y="-1804988"/>
            <a:ext cx="571500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pic>
        <p:nvPicPr>
          <p:cNvPr id="8196" name="Picture 4" descr="http://www.nutricionistadeperros.com/wp-content/uploads/2012/06/higad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56349" y="2737018"/>
            <a:ext cx="3671835" cy="190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7 Título"/>
          <p:cNvSpPr>
            <a:spLocks noGrp="1"/>
          </p:cNvSpPr>
          <p:nvPr>
            <p:ph type="title"/>
          </p:nvPr>
        </p:nvSpPr>
        <p:spPr>
          <a:xfrm>
            <a:off x="738214" y="142860"/>
            <a:ext cx="7620000" cy="1143000"/>
          </a:xfrm>
        </p:spPr>
        <p:txBody>
          <a:bodyPr/>
          <a:lstStyle/>
          <a:p>
            <a:r>
              <a:rPr lang="es-VE" sz="4000" b="1" cap="all" dirty="0" smtClean="0"/>
              <a:t>Exámenes complementarios</a:t>
            </a:r>
            <a:endParaRPr lang="es-VE" sz="4000" b="1" cap="all" dirty="0"/>
          </a:p>
        </p:txBody>
      </p:sp>
    </p:spTree>
    <p:extLst>
      <p:ext uri="{BB962C8B-B14F-4D97-AF65-F5344CB8AC3E}">
        <p14:creationId xmlns:p14="http://schemas.microsoft.com/office/powerpoint/2010/main" xmlns="" val="109263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71490" y="1700213"/>
            <a:ext cx="8229600" cy="453072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None/>
            </a:pPr>
            <a:r>
              <a:rPr lang="es-ES" sz="2400" b="1" dirty="0" smtClean="0"/>
              <a:t>Riesgo quirúrgico</a:t>
            </a:r>
          </a:p>
          <a:p>
            <a:pPr lvl="1">
              <a:buNone/>
            </a:pPr>
            <a:r>
              <a:rPr lang="es-ES" sz="2400" i="1" dirty="0" smtClean="0"/>
              <a:t>- Probabilidad de presentar resultados adversos o la muerte como consecuencia de la exposición a cirugía o anestesia.</a:t>
            </a:r>
          </a:p>
          <a:p>
            <a:pPr lvl="1"/>
            <a:endParaRPr lang="es-ES" sz="2400" i="1" dirty="0" smtClean="0"/>
          </a:p>
          <a:p>
            <a:pPr>
              <a:buSzPct val="90000"/>
              <a:buNone/>
            </a:pPr>
            <a:r>
              <a:rPr lang="es-ES" sz="2400" dirty="0" smtClean="0"/>
              <a:t>Identificar preoperatoriamente a los pacientes de mayor riesgo.</a:t>
            </a:r>
          </a:p>
          <a:p>
            <a:pPr algn="just">
              <a:buSzPct val="90000"/>
              <a:buNone/>
            </a:pPr>
            <a:endParaRPr lang="es-ES" sz="2400" dirty="0" smtClean="0"/>
          </a:p>
          <a:p>
            <a:pPr algn="just">
              <a:buSzPct val="90000"/>
              <a:buNone/>
            </a:pPr>
            <a:r>
              <a:rPr lang="es-ES" sz="2400" dirty="0" smtClean="0"/>
              <a:t>Posibilidad de obtener beneficios de la cirugía, bien sea de</a:t>
            </a:r>
          </a:p>
          <a:p>
            <a:pPr algn="just">
              <a:buSzPct val="90000"/>
              <a:buNone/>
            </a:pPr>
            <a:r>
              <a:rPr lang="es-ES" sz="2400" dirty="0" smtClean="0"/>
              <a:t>urgencia o electiva. Es crucial para decidir cuando un riesgo es</a:t>
            </a:r>
          </a:p>
          <a:p>
            <a:pPr algn="just">
              <a:buSzPct val="90000"/>
              <a:buNone/>
            </a:pPr>
            <a:r>
              <a:rPr lang="es-ES" sz="2400" dirty="0" smtClean="0"/>
              <a:t>aceptable o no.</a:t>
            </a:r>
            <a:endParaRPr lang="es-ES" sz="2400" dirty="0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ESTIMACIÓN DE RIESGO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135216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95536" y="3571876"/>
            <a:ext cx="7891240" cy="178595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None/>
            </a:pPr>
            <a:endParaRPr lang="es-ES" sz="2400" dirty="0" smtClean="0"/>
          </a:p>
          <a:p>
            <a:pPr>
              <a:buSzPct val="90000"/>
              <a:buNone/>
            </a:pPr>
            <a:r>
              <a:rPr lang="es-ES" sz="2400" dirty="0" smtClean="0"/>
              <a:t>Índice multifactorial de riesgo cardiovascular de Goldman y</a:t>
            </a:r>
          </a:p>
          <a:p>
            <a:pPr>
              <a:buSzPct val="90000"/>
              <a:buNone/>
            </a:pPr>
            <a:r>
              <a:rPr lang="es-ES" sz="2400" dirty="0" smtClean="0"/>
              <a:t>Caldera (bajo valor pronóstico)</a:t>
            </a:r>
          </a:p>
          <a:p>
            <a:pPr>
              <a:buSzPct val="90000"/>
              <a:buNone/>
            </a:pPr>
            <a:endParaRPr lang="es-ES" sz="2400" dirty="0"/>
          </a:p>
        </p:txBody>
      </p:sp>
      <p:sp>
        <p:nvSpPr>
          <p:cNvPr id="8" name="7 Rectángulo"/>
          <p:cNvSpPr/>
          <p:nvPr/>
        </p:nvSpPr>
        <p:spPr>
          <a:xfrm>
            <a:off x="395536" y="2420888"/>
            <a:ext cx="6312156" cy="461665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buSzPct val="90000"/>
            </a:pPr>
            <a:r>
              <a:rPr lang="es-ES" sz="2400" dirty="0" smtClean="0"/>
              <a:t>Clasificación de estado físico</a:t>
            </a:r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ÍNDICES VALIDADOS UNIVERSALMENTE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203498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406" y="1500174"/>
            <a:ext cx="8229600" cy="5068887"/>
          </a:xfrm>
          <a:prstGeom prst="rect">
            <a:avLst/>
          </a:prstGeom>
        </p:spPr>
        <p:txBody>
          <a:bodyPr vert="horz">
            <a:no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1: </a:t>
            </a:r>
            <a:r>
              <a:rPr lang="es-ES_tradnl" sz="1600" dirty="0" smtClean="0"/>
              <a:t>sin alteraciones </a:t>
            </a:r>
            <a:r>
              <a:rPr lang="es-ES_tradnl" sz="1600" dirty="0" err="1" smtClean="0"/>
              <a:t>ogánicas</a:t>
            </a:r>
            <a:r>
              <a:rPr lang="es-ES_tradnl" sz="1600" dirty="0" smtClean="0"/>
              <a:t>, bioquímicas o psicológicas. </a:t>
            </a:r>
            <a:r>
              <a:rPr lang="es-ES_tradnl" sz="1600" i="1" dirty="0" smtClean="0"/>
              <a:t>Ejemplo: histerectomía en mujer sana, </a:t>
            </a:r>
            <a:r>
              <a:rPr lang="es-ES_tradnl" sz="1600" i="1" dirty="0" err="1" smtClean="0"/>
              <a:t>herniorrafia</a:t>
            </a:r>
            <a:r>
              <a:rPr lang="es-ES_tradnl" sz="1600" i="1" dirty="0" smtClean="0"/>
              <a:t> en hombre delgado.</a:t>
            </a:r>
            <a:endParaRPr lang="es-ES_tradnl" sz="1600" dirty="0" smtClean="0"/>
          </a:p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2: </a:t>
            </a:r>
            <a:r>
              <a:rPr lang="es-ES_tradnl" sz="1600" dirty="0" smtClean="0"/>
              <a:t>enfermedad sistémica leve a moderada causada por la condición quirúrgica o por otro proceso </a:t>
            </a:r>
            <a:r>
              <a:rPr lang="es-ES_tradnl" sz="1600" dirty="0" err="1" smtClean="0"/>
              <a:t>fisiopatológico</a:t>
            </a:r>
            <a:r>
              <a:rPr lang="es-ES_tradnl" sz="1600" dirty="0" smtClean="0"/>
              <a:t>. </a:t>
            </a:r>
            <a:r>
              <a:rPr lang="es-ES_tradnl" sz="1600" i="1" dirty="0" smtClean="0"/>
              <a:t>Ejemplo: diabetes, hipertensión arterial, obesos.</a:t>
            </a:r>
            <a:endParaRPr lang="es-ES_tradnl" sz="1600" dirty="0" smtClean="0"/>
          </a:p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3: </a:t>
            </a:r>
            <a:r>
              <a:rPr lang="es-ES_tradnl" sz="1600" dirty="0" smtClean="0"/>
              <a:t>enfermedad sistémica severa de cualquier etiología. </a:t>
            </a:r>
            <a:r>
              <a:rPr lang="es-ES_tradnl" sz="1600" i="1" dirty="0" smtClean="0"/>
              <a:t>Ejemplo: ángor, diabetes con complicaciones vasculares, insuficiencia respiratoria, enfermedad cardiovascular con limitación física importante.</a:t>
            </a:r>
            <a:endParaRPr lang="es-ES_tradnl" sz="1600" dirty="0" smtClean="0"/>
          </a:p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4: </a:t>
            </a:r>
            <a:r>
              <a:rPr lang="es-ES_tradnl" sz="1600" dirty="0" smtClean="0"/>
              <a:t>enfermedad sistémica severa que pone en peligro la vida del paciente y no siempre se corrige mediante la cirugía. </a:t>
            </a:r>
            <a:r>
              <a:rPr lang="es-ES_tradnl" sz="1600" i="1" dirty="0" smtClean="0"/>
              <a:t>Ejemplo: insuficiencia cardíaca, ángor persistente, insuficiencia renal o hepática.</a:t>
            </a:r>
            <a:endParaRPr lang="es-ES_tradnl" sz="1600" dirty="0" smtClean="0"/>
          </a:p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5: </a:t>
            </a:r>
            <a:r>
              <a:rPr lang="es-ES_tradnl" sz="1600" dirty="0" smtClean="0"/>
              <a:t>paciente en extremo grave, en quien no se espera sobrevida de 24 horas luego de la intervención. </a:t>
            </a:r>
            <a:r>
              <a:rPr lang="es-ES_tradnl" sz="1600" i="1" dirty="0" smtClean="0"/>
              <a:t>Ejemplo: embolismo pulmonar masivo, shock, aneurisma abdominal roto.</a:t>
            </a:r>
          </a:p>
          <a:p>
            <a:pPr algn="just">
              <a:lnSpc>
                <a:spcPct val="150000"/>
              </a:lnSpc>
              <a:buClr>
                <a:srgbClr val="FFFF00"/>
              </a:buClr>
              <a:buNone/>
            </a:pPr>
            <a:r>
              <a:rPr lang="es-ES_tradnl" sz="1600" b="1" dirty="0" smtClean="0"/>
              <a:t>Grado 6: </a:t>
            </a:r>
            <a:r>
              <a:rPr lang="es-VE" sz="1600" dirty="0" smtClean="0"/>
              <a:t>paciente con muerte cerebral declarada cuyos órganos se van a extraer para donación.</a:t>
            </a:r>
            <a:endParaRPr lang="es-ES" sz="1600" b="1" dirty="0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CLASIFICACIÓN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258427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25"/>
          <p:cNvSpPr>
            <a:spLocks noChangeArrowheads="1" noChangeShapeType="1" noTextEdit="1"/>
          </p:cNvSpPr>
          <p:nvPr/>
        </p:nvSpPr>
        <p:spPr bwMode="auto">
          <a:xfrm>
            <a:off x="142844" y="390508"/>
            <a:ext cx="821537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VE" sz="2000" b="1" kern="1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cs typeface="Arial"/>
              </a:rPr>
              <a:t>Índice Multifactorial de Riesgo Cardiovascular (IMFRC)</a:t>
            </a:r>
          </a:p>
          <a:p>
            <a:pPr algn="ctr"/>
            <a:r>
              <a:rPr lang="es-VE" sz="2000" b="1" kern="1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cs typeface="Arial"/>
              </a:rPr>
              <a:t>de Goldman y Caldera</a:t>
            </a:r>
          </a:p>
        </p:txBody>
      </p:sp>
      <p:sp>
        <p:nvSpPr>
          <p:cNvPr id="8" name="5 Marcador de contenido"/>
          <p:cNvSpPr>
            <a:spLocks noGrp="1"/>
          </p:cNvSpPr>
          <p:nvPr>
            <p:ph idx="1"/>
          </p:nvPr>
        </p:nvSpPr>
        <p:spPr>
          <a:xfrm>
            <a:off x="285720" y="2028928"/>
            <a:ext cx="762000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 smtClean="0"/>
              <a:t>    </a:t>
            </a:r>
            <a:r>
              <a:rPr lang="es-ES" dirty="0" smtClean="0"/>
              <a:t>Edad &gt;70 años                                                                     </a:t>
            </a:r>
            <a:r>
              <a:rPr lang="es-ES" b="1" dirty="0" smtClean="0"/>
              <a:t>5</a:t>
            </a:r>
            <a:r>
              <a:rPr lang="es-ES" dirty="0" smtClean="0"/>
              <a:t> </a:t>
            </a:r>
          </a:p>
          <a:p>
            <a:pPr>
              <a:buNone/>
            </a:pPr>
            <a:r>
              <a:rPr lang="es-ES" dirty="0" smtClean="0"/>
              <a:t>    </a:t>
            </a:r>
            <a:r>
              <a:rPr lang="es-ES" dirty="0" err="1" smtClean="0"/>
              <a:t>Cardioinfarto</a:t>
            </a:r>
            <a:r>
              <a:rPr lang="es-ES" dirty="0" smtClean="0"/>
              <a:t> &lt;6 meses                                                     </a:t>
            </a:r>
            <a:r>
              <a:rPr lang="es-ES" b="1" dirty="0" smtClean="0"/>
              <a:t>10</a:t>
            </a:r>
            <a:r>
              <a:rPr lang="es-ES" dirty="0" smtClean="0"/>
              <a:t> </a:t>
            </a:r>
            <a:endParaRPr lang="es-ES" b="1" dirty="0" smtClean="0"/>
          </a:p>
          <a:p>
            <a:pPr>
              <a:buNone/>
            </a:pPr>
            <a:r>
              <a:rPr lang="es-ES" b="1" dirty="0" smtClean="0"/>
              <a:t>   </a:t>
            </a:r>
            <a:r>
              <a:rPr lang="es-ES" dirty="0" smtClean="0"/>
              <a:t> ECG: ritmo no </a:t>
            </a:r>
            <a:r>
              <a:rPr lang="es-ES" dirty="0" err="1" smtClean="0"/>
              <a:t>sinusal</a:t>
            </a:r>
            <a:r>
              <a:rPr lang="es-ES" dirty="0" smtClean="0"/>
              <a:t> o extrasístoles  ventriculares     </a:t>
            </a:r>
            <a:r>
              <a:rPr lang="es-ES" b="1" dirty="0" smtClean="0"/>
              <a:t>7</a:t>
            </a:r>
            <a:r>
              <a:rPr lang="es-ES" dirty="0" smtClean="0"/>
              <a:t> </a:t>
            </a:r>
          </a:p>
          <a:p>
            <a:pPr>
              <a:buNone/>
            </a:pPr>
            <a:r>
              <a:rPr lang="es-ES" dirty="0" smtClean="0"/>
              <a:t>    Extrasístoles ventriculares (&gt;5 p.m.)                               </a:t>
            </a:r>
            <a:r>
              <a:rPr lang="es-ES" b="1" dirty="0" smtClean="0"/>
              <a:t>7</a:t>
            </a:r>
            <a:r>
              <a:rPr lang="es-ES" dirty="0" smtClean="0"/>
              <a:t> </a:t>
            </a:r>
            <a:endParaRPr lang="es-ES" b="1" dirty="0" smtClean="0"/>
          </a:p>
          <a:p>
            <a:pPr>
              <a:buNone/>
            </a:pPr>
            <a:r>
              <a:rPr lang="es-ES" dirty="0" smtClean="0"/>
              <a:t>    </a:t>
            </a:r>
            <a:r>
              <a:rPr lang="es-ES" dirty="0" err="1" smtClean="0"/>
              <a:t>Ingurgitacion</a:t>
            </a:r>
            <a:r>
              <a:rPr lang="es-ES" dirty="0" smtClean="0"/>
              <a:t> venosa yugular o ritmo galopante          </a:t>
            </a:r>
            <a:r>
              <a:rPr lang="es-ES" b="1" dirty="0" smtClean="0"/>
              <a:t>11</a:t>
            </a:r>
          </a:p>
          <a:p>
            <a:pPr>
              <a:buNone/>
            </a:pPr>
            <a:r>
              <a:rPr lang="es-ES" dirty="0" smtClean="0"/>
              <a:t>    Estenosis aórtica                                                                 </a:t>
            </a:r>
            <a:r>
              <a:rPr lang="es-ES" b="1" dirty="0" smtClean="0"/>
              <a:t>3</a:t>
            </a:r>
            <a:r>
              <a:rPr lang="es-ES" dirty="0" smtClean="0"/>
              <a:t> </a:t>
            </a:r>
          </a:p>
          <a:p>
            <a:pPr>
              <a:buNone/>
            </a:pPr>
            <a:r>
              <a:rPr lang="es-ES" dirty="0" smtClean="0"/>
              <a:t>    Cirugía de urgencia                                                             </a:t>
            </a:r>
            <a:r>
              <a:rPr lang="es-ES" b="1" dirty="0" smtClean="0"/>
              <a:t>4</a:t>
            </a:r>
            <a:r>
              <a:rPr lang="es-ES" dirty="0" smtClean="0"/>
              <a:t> </a:t>
            </a:r>
            <a:endParaRPr lang="es-ES" b="1" dirty="0" smtClean="0"/>
          </a:p>
          <a:p>
            <a:pPr>
              <a:buNone/>
            </a:pPr>
            <a:r>
              <a:rPr lang="es-ES" b="1" dirty="0" smtClean="0"/>
              <a:t>   </a:t>
            </a:r>
            <a:r>
              <a:rPr lang="es-ES" dirty="0" smtClean="0"/>
              <a:t> Cirugía de tórax, abdominal o aórtica                             </a:t>
            </a:r>
            <a:r>
              <a:rPr lang="es-ES" b="1" dirty="0" smtClean="0"/>
              <a:t>3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    Mal estado orgánico general                                            </a:t>
            </a:r>
            <a:r>
              <a:rPr lang="es-ES" b="1" dirty="0" smtClean="0"/>
              <a:t>5</a:t>
            </a:r>
          </a:p>
          <a:p>
            <a:pPr>
              <a:buNone/>
            </a:pPr>
            <a:endParaRPr lang="es-ES" b="1" dirty="0" smtClean="0"/>
          </a:p>
          <a:p>
            <a:pPr>
              <a:buNone/>
            </a:pPr>
            <a:r>
              <a:rPr lang="es-ES" b="1" dirty="0" smtClean="0"/>
              <a:t>    Puntos totales posibles                                                    53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xmlns="" val="39762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9" y="2312877"/>
            <a:ext cx="8229600" cy="936104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90000"/>
              <a:buNone/>
            </a:pPr>
            <a:r>
              <a:rPr lang="es-ES_tradnl" sz="2400" dirty="0" smtClean="0"/>
              <a:t>Donantes de sangre para la intervención</a:t>
            </a:r>
          </a:p>
          <a:p>
            <a:pPr>
              <a:buSzPct val="90000"/>
              <a:buNone/>
            </a:pPr>
            <a:r>
              <a:rPr lang="es-ES_tradnl" sz="2400" dirty="0" err="1" smtClean="0"/>
              <a:t>Tipiaje</a:t>
            </a:r>
            <a:endParaRPr lang="es-ES_tradnl" sz="2400" dirty="0" smtClean="0"/>
          </a:p>
        </p:txBody>
      </p:sp>
      <p:pic>
        <p:nvPicPr>
          <p:cNvPr id="3074" name="Picture 2" descr="http://upload.wikimedia.org/wikipedia/commons/thumb/8/8a/ABO_sangre_tipo.svg/300px-ABO_sangre_tip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3240" y="4214818"/>
            <a:ext cx="2318139" cy="1332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 descr="http://noticias.com.gt/files/2011/08/donacion-sang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420" y="4253404"/>
            <a:ext cx="2318506" cy="13187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3078" name="Picture 6" descr="http://t3.gstatic.com/images?q=tbn:ANd9GcQ9W1l5W5Fg2zkhMCax55JvF7bn0Wm5XzZylirV4eZ8EoSy16ru&amp;t=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7871" y="4286256"/>
            <a:ext cx="2497467" cy="12730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8" name="AutoShape 8" descr="http://1.bp.blogspot.com/-Ke0X2t0WuI4/UVAMRD6h0TI/AAAAAAAAA4g/24DZ5v0elgM/s1600/Donaci%C3%B3n+de+Sangre+18.jpg"/>
          <p:cNvSpPr>
            <a:spLocks noChangeAspect="1" noChangeArrowheads="1"/>
          </p:cNvSpPr>
          <p:nvPr/>
        </p:nvSpPr>
        <p:spPr bwMode="auto">
          <a:xfrm>
            <a:off x="155575" y="-1927225"/>
            <a:ext cx="4219575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sp>
        <p:nvSpPr>
          <p:cNvPr id="9" name="8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REQUISITOS HOSPITALARIOS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113472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90000"/>
              <a:buNone/>
            </a:pPr>
            <a:r>
              <a:rPr lang="es-ES_tradnl" sz="2000" i="1" dirty="0"/>
              <a:t>Preparación física del paciente</a:t>
            </a:r>
          </a:p>
          <a:p>
            <a:pPr lvl="1"/>
            <a:r>
              <a:rPr lang="es-ES_tradnl" dirty="0"/>
              <a:t>Rasurado del área quirúrgica</a:t>
            </a:r>
          </a:p>
          <a:p>
            <a:pPr lvl="1"/>
            <a:r>
              <a:rPr lang="es-ES_tradnl" dirty="0"/>
              <a:t>Baño previo (duchas)</a:t>
            </a:r>
          </a:p>
          <a:p>
            <a:pPr lvl="1"/>
            <a:r>
              <a:rPr lang="es-ES_tradnl" dirty="0"/>
              <a:t>Extracción de prótesis dentales</a:t>
            </a:r>
          </a:p>
          <a:p>
            <a:pPr lvl="1"/>
            <a:r>
              <a:rPr lang="es-ES_tradnl" dirty="0"/>
              <a:t>Colocación de sondas: si se requiere</a:t>
            </a:r>
          </a:p>
          <a:p>
            <a:pPr lvl="2"/>
            <a:r>
              <a:rPr lang="es-ES_tradnl" sz="2000" dirty="0"/>
              <a:t>Sonda nasogástrica: cirugía gastrointestinal</a:t>
            </a:r>
          </a:p>
          <a:p>
            <a:pPr lvl="2"/>
            <a:r>
              <a:rPr lang="es-ES_tradnl" sz="2000" dirty="0"/>
              <a:t>Sonda vesical: cirugía pélvica</a:t>
            </a:r>
          </a:p>
          <a:p>
            <a:pPr lvl="1"/>
            <a:r>
              <a:rPr lang="es-ES_tradnl" dirty="0"/>
              <a:t>Enemas</a:t>
            </a:r>
          </a:p>
          <a:p>
            <a:pPr lvl="1"/>
            <a:r>
              <a:rPr lang="es-ES_tradnl" dirty="0" err="1"/>
              <a:t>Antibio</a:t>
            </a:r>
            <a:r>
              <a:rPr lang="es-ES_tradnl" dirty="0"/>
              <a:t>-profilaxis</a:t>
            </a:r>
          </a:p>
          <a:p>
            <a:pPr lvl="1"/>
            <a:r>
              <a:rPr lang="es-ES_tradnl" dirty="0"/>
              <a:t>Profilaxis de </a:t>
            </a:r>
            <a:r>
              <a:rPr lang="es-ES_tradnl" dirty="0" err="1"/>
              <a:t>tromboembolismo</a:t>
            </a:r>
            <a:r>
              <a:rPr lang="es-ES_tradnl" dirty="0"/>
              <a:t> y trombosis venosa profunda (mecánica y/o farmacológica)</a:t>
            </a:r>
          </a:p>
          <a:p>
            <a:pPr lvl="1"/>
            <a:r>
              <a:rPr lang="es-ES_tradnl" dirty="0"/>
              <a:t>Preparación de colon (mecánica y/o farmacológica)</a:t>
            </a:r>
          </a:p>
          <a:p>
            <a:endParaRPr lang="es-VE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EL DÍA DE LA INTERVENCIÓN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66936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000100" y="1845784"/>
            <a:ext cx="65008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Duración:</a:t>
            </a:r>
          </a:p>
          <a:p>
            <a:pPr algn="ctr"/>
            <a:r>
              <a:rPr lang="es-VE" sz="2400" dirty="0" smtClean="0"/>
              <a:t>Depende del tipo de intervención, de las complicaciones y del estado general del enfermo.</a:t>
            </a:r>
          </a:p>
          <a:p>
            <a:pPr algn="ctr"/>
            <a:endParaRPr lang="es-VE" sz="2400" i="1" dirty="0" smtClean="0"/>
          </a:p>
          <a:p>
            <a:pPr algn="ctr"/>
            <a:endParaRPr lang="es-VE" sz="2400" i="1" dirty="0" smtClean="0"/>
          </a:p>
          <a:p>
            <a:pPr algn="ctr"/>
            <a:r>
              <a:rPr lang="es-VE" sz="2400" i="1" dirty="0" smtClean="0"/>
              <a:t>Factores que favorecen los trastornos post-operatorios:</a:t>
            </a:r>
          </a:p>
          <a:p>
            <a:pPr algn="ctr"/>
            <a:endParaRPr lang="es-VE" sz="2400" dirty="0" smtClean="0"/>
          </a:p>
          <a:p>
            <a:pPr marL="342900" indent="-342900" algn="ctr">
              <a:buAutoNum type="arabicPeriod"/>
            </a:pPr>
            <a:r>
              <a:rPr lang="es-VE" sz="2400" dirty="0" smtClean="0"/>
              <a:t>Alteraciones metabólicas y alimentarias:</a:t>
            </a:r>
          </a:p>
          <a:p>
            <a:pPr marL="342900" indent="-342900" algn="ctr">
              <a:buAutoNum type="arabicPeriod"/>
            </a:pPr>
            <a:r>
              <a:rPr lang="es-VE" sz="2400" dirty="0" smtClean="0"/>
              <a:t>Afectaciones intercurrentes:</a:t>
            </a:r>
          </a:p>
          <a:p>
            <a:pPr marL="342900" indent="-342900" algn="ctr">
              <a:buAutoNum type="arabicPeriod"/>
            </a:pPr>
            <a:r>
              <a:rPr lang="es-VE" sz="2400" dirty="0" smtClean="0"/>
              <a:t>Factores operatorios:</a:t>
            </a:r>
          </a:p>
          <a:p>
            <a:pPr marL="342900" indent="-342900" algn="ctr">
              <a:buAutoNum type="arabicPeriod"/>
            </a:pPr>
            <a:r>
              <a:rPr lang="es-VE" sz="2400" dirty="0" smtClean="0"/>
              <a:t>Factores post-operatorios:</a:t>
            </a:r>
            <a:endParaRPr lang="es-VE" sz="2400" dirty="0"/>
          </a:p>
        </p:txBody>
      </p:sp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57200" y="71414"/>
            <a:ext cx="7620000" cy="1143000"/>
          </a:xfrm>
        </p:spPr>
        <p:txBody>
          <a:bodyPr/>
          <a:lstStyle/>
          <a:p>
            <a:pPr algn="ctr"/>
            <a:r>
              <a:rPr lang="es-VE" sz="4000" b="1" dirty="0" smtClean="0"/>
              <a:t>POSTOPERATORIO</a:t>
            </a:r>
            <a:endParaRPr lang="es-VE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1472" y="571480"/>
            <a:ext cx="58579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i="1" dirty="0" smtClean="0"/>
              <a:t>El periodo Post-Operatorio comprende 3 fases:</a:t>
            </a:r>
          </a:p>
          <a:p>
            <a:endParaRPr lang="es-VE" sz="2400" dirty="0" smtClean="0"/>
          </a:p>
          <a:p>
            <a:pPr marL="342900" indent="-342900">
              <a:buAutoNum type="arabicPeriod"/>
            </a:pPr>
            <a:r>
              <a:rPr lang="es-VE" sz="2400" dirty="0" smtClean="0"/>
              <a:t>Post-operatorio inmediato.</a:t>
            </a:r>
          </a:p>
          <a:p>
            <a:pPr marL="342900" indent="-342900">
              <a:buAutoNum type="arabicPeriod"/>
            </a:pPr>
            <a:r>
              <a:rPr lang="es-VE" sz="2400" dirty="0" smtClean="0"/>
              <a:t>Post-operatorio intermedio.</a:t>
            </a:r>
          </a:p>
          <a:p>
            <a:pPr marL="342900" indent="-342900">
              <a:buAutoNum type="arabicPeriod"/>
            </a:pPr>
            <a:r>
              <a:rPr lang="es-VE" sz="2400" dirty="0" smtClean="0"/>
              <a:t>Post-operatorio de convalecencia. </a:t>
            </a:r>
            <a:endParaRPr lang="es-VE" sz="2400" dirty="0"/>
          </a:p>
        </p:txBody>
      </p:sp>
      <p:pic>
        <p:nvPicPr>
          <p:cNvPr id="1026" name="Picture 2" descr="http://www.rnw.nl/data/files/imagecache/must_carry/images/lead/article/2012/03/coma-pacien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3286124"/>
            <a:ext cx="5667383" cy="2877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57174"/>
            <a:ext cx="7620000" cy="1143000"/>
          </a:xfrm>
        </p:spPr>
        <p:txBody>
          <a:bodyPr>
            <a:normAutofit/>
          </a:bodyPr>
          <a:lstStyle/>
          <a:p>
            <a:r>
              <a:rPr lang="es-VE" sz="3600" i="1" dirty="0" smtClean="0">
                <a:latin typeface="+mn-lt"/>
              </a:rPr>
              <a:t>1. Post-Operatorio inmediato</a:t>
            </a:r>
            <a:endParaRPr lang="es-VE" sz="3600" i="1" dirty="0">
              <a:latin typeface="+mn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85786" y="1571612"/>
            <a:ext cx="7286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/>
              <a:t>El paciente operado con anestesia general, debe ser observado en sala de recuperación, hasta que recobre conciencia y sus signos vitales sean estables. </a:t>
            </a:r>
          </a:p>
          <a:p>
            <a:endParaRPr lang="es-VE" dirty="0"/>
          </a:p>
        </p:txBody>
      </p:sp>
      <p:pic>
        <p:nvPicPr>
          <p:cNvPr id="16386" name="Picture 2" descr="http://4.bp.blogspot.com/-4dv8tDJeAZA/UH2oqvzVagI/AAAAAAAANVI/P3PGJu7cFUA/s1600/color09++Enrique_Moreno_cirujano_trasplant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02" y="3071810"/>
            <a:ext cx="4714908" cy="3467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www.heraldo.es/uploads/imagenes/bajacalidad/_9492862_dde89e2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929198"/>
            <a:ext cx="2525394" cy="17144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3 CuadroTexto"/>
          <p:cNvSpPr txBox="1"/>
          <p:nvPr/>
        </p:nvSpPr>
        <p:spPr>
          <a:xfrm>
            <a:off x="71406" y="500042"/>
            <a:ext cx="8286808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600" b="1" dirty="0" smtClean="0"/>
              <a:t>Ordenes Post-operatorias:</a:t>
            </a:r>
          </a:p>
          <a:p>
            <a:endParaRPr lang="es-VE" sz="2200" b="1" dirty="0" smtClean="0"/>
          </a:p>
          <a:p>
            <a:endParaRPr lang="es-VE" sz="2200" b="1" dirty="0" smtClean="0"/>
          </a:p>
          <a:p>
            <a:endParaRPr lang="es-VE" sz="2200" b="1" dirty="0" smtClean="0"/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Ubicación (sala de recuperación)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Dieta (absoluta)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Hidratación parenteral (según requerimientos)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Medicamentos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- Antibiótico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- Analgésico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- Protector gástrico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- Antiemético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- Antipirético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Laboratorios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Deambulación </a:t>
            </a:r>
          </a:p>
          <a:p>
            <a:pPr>
              <a:buClr>
                <a:schemeClr val="bg2">
                  <a:lumMod val="50000"/>
                </a:schemeClr>
              </a:buClr>
              <a:buFont typeface="Symbol" pitchFamily="18" charset="2"/>
              <a:buChar char=""/>
            </a:pPr>
            <a:r>
              <a:rPr lang="es-VE" sz="2200" dirty="0" smtClean="0"/>
              <a:t> Cuidados de enfermería 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s-VE" sz="2200" dirty="0" smtClean="0"/>
              <a:t>      </a:t>
            </a:r>
          </a:p>
          <a:p>
            <a:pPr>
              <a:buClr>
                <a:schemeClr val="bg2">
                  <a:lumMod val="50000"/>
                </a:schemeClr>
              </a:buClr>
            </a:pPr>
            <a:endParaRPr lang="es-VE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 redondeado"/>
          <p:cNvSpPr/>
          <p:nvPr/>
        </p:nvSpPr>
        <p:spPr>
          <a:xfrm>
            <a:off x="6215074" y="5786454"/>
            <a:ext cx="2143140" cy="500066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0" name="9 Rectángulo redondeado"/>
          <p:cNvSpPr/>
          <p:nvPr/>
        </p:nvSpPr>
        <p:spPr>
          <a:xfrm>
            <a:off x="3000364" y="5786454"/>
            <a:ext cx="2286016" cy="500066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" name="8 Rectángulo redondeado"/>
          <p:cNvSpPr/>
          <p:nvPr/>
        </p:nvSpPr>
        <p:spPr>
          <a:xfrm>
            <a:off x="71406" y="5786454"/>
            <a:ext cx="1928826" cy="500066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sz="3600" i="1" dirty="0" smtClean="0">
                <a:latin typeface="+mn-lt"/>
              </a:rPr>
              <a:t>2. Cuidado post-operatorio mediato</a:t>
            </a:r>
            <a:endParaRPr lang="es-VE" sz="3600" i="1" dirty="0">
              <a:latin typeface="+mn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00034" y="1571612"/>
            <a:ext cx="6500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/>
              <a:t>Comprende el tiempo que transcurre, desde que el paciente se haya recuperado totalmente de la anestesia hasta su egreso del hospital.</a:t>
            </a:r>
            <a:endParaRPr lang="es-VE" sz="2400" dirty="0"/>
          </a:p>
        </p:txBody>
      </p:sp>
      <p:sp>
        <p:nvSpPr>
          <p:cNvPr id="5" name="4 CuadroTexto"/>
          <p:cNvSpPr txBox="1"/>
          <p:nvPr/>
        </p:nvSpPr>
        <p:spPr>
          <a:xfrm>
            <a:off x="2071670" y="3357562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400" dirty="0" smtClean="0"/>
              <a:t>Cuidados de la herida: </a:t>
            </a:r>
          </a:p>
          <a:p>
            <a:pPr algn="just"/>
            <a:r>
              <a:rPr lang="es-VE" sz="2400" dirty="0" smtClean="0"/>
              <a:t>A las 12 ó 24 horas post-operatorias, si los apósitos aparecen húmedos hay que cambiarlos de forma absolutamente estériles.</a:t>
            </a:r>
            <a:endParaRPr lang="es-VE" sz="2400" dirty="0"/>
          </a:p>
        </p:txBody>
      </p:sp>
      <p:sp>
        <p:nvSpPr>
          <p:cNvPr id="6" name="5 CuadroTexto"/>
          <p:cNvSpPr txBox="1"/>
          <p:nvPr/>
        </p:nvSpPr>
        <p:spPr>
          <a:xfrm>
            <a:off x="-32" y="5786454"/>
            <a:ext cx="885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dirty="0" smtClean="0">
                <a:latin typeface="Arial Narrow" pitchFamily="34" charset="0"/>
              </a:rPr>
              <a:t>Buena perfusión                Oxigenación tisular               Mejor cicatrización </a:t>
            </a:r>
            <a:endParaRPr lang="es-VE" sz="2400" dirty="0">
              <a:latin typeface="Arial Narrow" pitchFamily="34" charset="0"/>
            </a:endParaRPr>
          </a:p>
        </p:txBody>
      </p:sp>
      <p:sp>
        <p:nvSpPr>
          <p:cNvPr id="12" name="11 Más"/>
          <p:cNvSpPr/>
          <p:nvPr/>
        </p:nvSpPr>
        <p:spPr>
          <a:xfrm>
            <a:off x="2214546" y="5715016"/>
            <a:ext cx="571504" cy="571504"/>
          </a:xfrm>
          <a:prstGeom prst="mathPlus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3" name="12 Igual que"/>
          <p:cNvSpPr/>
          <p:nvPr/>
        </p:nvSpPr>
        <p:spPr>
          <a:xfrm>
            <a:off x="5500694" y="5786454"/>
            <a:ext cx="500066" cy="500066"/>
          </a:xfrm>
          <a:prstGeom prst="mathEqual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285852" y="3537426"/>
            <a:ext cx="2357454" cy="428628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3 CuadroTexto"/>
          <p:cNvSpPr txBox="1"/>
          <p:nvPr/>
        </p:nvSpPr>
        <p:spPr>
          <a:xfrm>
            <a:off x="357158" y="571480"/>
            <a:ext cx="63579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i="1" dirty="0" smtClean="0"/>
              <a:t>Problemas pulmonares post-operatorios:</a:t>
            </a:r>
          </a:p>
          <a:p>
            <a:endParaRPr lang="es-VE" sz="2400" dirty="0" smtClean="0"/>
          </a:p>
          <a:p>
            <a:pPr algn="just"/>
            <a:r>
              <a:rPr lang="es-VE" sz="2400" dirty="0" smtClean="0"/>
              <a:t>Los cambios en la función pulmonar que ocurren después de una operación con anestesia general, son debidos a disminución de su capacidad vital, de su capacidad funcional residual y al edema pulmonar.</a:t>
            </a:r>
            <a:endParaRPr lang="es-VE" sz="2400" dirty="0"/>
          </a:p>
        </p:txBody>
      </p:sp>
      <p:sp>
        <p:nvSpPr>
          <p:cNvPr id="5" name="4 CuadroTexto"/>
          <p:cNvSpPr txBox="1"/>
          <p:nvPr/>
        </p:nvSpPr>
        <p:spPr>
          <a:xfrm>
            <a:off x="1285852" y="3537426"/>
            <a:ext cx="257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dirty="0" smtClean="0">
                <a:latin typeface="Arial Narrow" pitchFamily="34" charset="0"/>
              </a:rPr>
              <a:t>Más acentuados en:</a:t>
            </a:r>
            <a:endParaRPr lang="es-VE" sz="2400" dirty="0">
              <a:latin typeface="Arial Narrow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500562" y="3537426"/>
            <a:ext cx="25717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dirty="0" smtClean="0">
                <a:latin typeface="Arial Narrow" pitchFamily="34" charset="0"/>
              </a:rPr>
              <a:t>Ancianos</a:t>
            </a:r>
          </a:p>
          <a:p>
            <a:endParaRPr lang="es-VE" sz="2400" dirty="0" smtClean="0">
              <a:latin typeface="Arial Narrow" pitchFamily="34" charset="0"/>
            </a:endParaRPr>
          </a:p>
          <a:p>
            <a:r>
              <a:rPr lang="es-VE" sz="2400" dirty="0" smtClean="0">
                <a:latin typeface="Arial Narrow" pitchFamily="34" charset="0"/>
              </a:rPr>
              <a:t>Obesos</a:t>
            </a:r>
          </a:p>
          <a:p>
            <a:endParaRPr lang="es-VE" sz="2400" dirty="0" smtClean="0">
              <a:latin typeface="Arial Narrow" pitchFamily="34" charset="0"/>
            </a:endParaRPr>
          </a:p>
          <a:p>
            <a:r>
              <a:rPr lang="es-VE" sz="2400" dirty="0" smtClean="0">
                <a:latin typeface="Arial Narrow" pitchFamily="34" charset="0"/>
              </a:rPr>
              <a:t>Fumadores</a:t>
            </a:r>
          </a:p>
          <a:p>
            <a:endParaRPr lang="es-VE" sz="2400" dirty="0" smtClean="0">
              <a:latin typeface="Arial Narrow" pitchFamily="34" charset="0"/>
            </a:endParaRPr>
          </a:p>
          <a:p>
            <a:r>
              <a:rPr lang="es-VE" sz="2400" dirty="0" smtClean="0">
                <a:latin typeface="Arial Narrow" pitchFamily="34" charset="0"/>
              </a:rPr>
              <a:t>Neumopatías previas</a:t>
            </a:r>
            <a:endParaRPr lang="es-VE" sz="2400" dirty="0">
              <a:latin typeface="Arial Narrow" pitchFamily="34" charset="0"/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4000496" y="4323244"/>
            <a:ext cx="357190" cy="35719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" name="8 Flecha derecha"/>
          <p:cNvSpPr/>
          <p:nvPr/>
        </p:nvSpPr>
        <p:spPr>
          <a:xfrm>
            <a:off x="4000496" y="3608864"/>
            <a:ext cx="357190" cy="35719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0" name="9 Flecha derecha"/>
          <p:cNvSpPr/>
          <p:nvPr/>
        </p:nvSpPr>
        <p:spPr>
          <a:xfrm>
            <a:off x="4000496" y="5037624"/>
            <a:ext cx="357190" cy="35719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" name="10 Flecha derecha"/>
          <p:cNvSpPr/>
          <p:nvPr/>
        </p:nvSpPr>
        <p:spPr>
          <a:xfrm>
            <a:off x="4000496" y="5752004"/>
            <a:ext cx="357190" cy="35719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4357686" y="6072206"/>
            <a:ext cx="3429024" cy="428628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8" name="7 Rectángulo redondeado"/>
          <p:cNvSpPr/>
          <p:nvPr/>
        </p:nvSpPr>
        <p:spPr>
          <a:xfrm>
            <a:off x="2571736" y="6072206"/>
            <a:ext cx="571504" cy="428628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" name="6 Rectángulo redondeado"/>
          <p:cNvSpPr/>
          <p:nvPr/>
        </p:nvSpPr>
        <p:spPr>
          <a:xfrm>
            <a:off x="642910" y="6072206"/>
            <a:ext cx="714380" cy="428628"/>
          </a:xfrm>
          <a:prstGeom prst="round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-500098" y="274638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s-VE" sz="3600" i="1" dirty="0" smtClean="0">
                <a:latin typeface="+mn-lt"/>
              </a:rPr>
              <a:t>Indicación de fluidos y electrolitos en el Post-Operatorio</a:t>
            </a:r>
            <a:endParaRPr lang="es-VE" sz="3600" i="1" dirty="0">
              <a:latin typeface="+mn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14282" y="1632884"/>
            <a:ext cx="89297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 smtClean="0"/>
              <a:t>La reposición de fluidos y electrólitos dependen de los siguientes factores:</a:t>
            </a:r>
          </a:p>
          <a:p>
            <a:endParaRPr lang="es-VE" sz="2000" dirty="0"/>
          </a:p>
          <a:p>
            <a:pPr marL="342900" indent="-342900"/>
            <a:r>
              <a:rPr lang="es-VE" sz="2000" dirty="0" smtClean="0"/>
              <a:t>-Los requerimientos normales.</a:t>
            </a:r>
          </a:p>
          <a:p>
            <a:pPr marL="342900" indent="-342900"/>
            <a:r>
              <a:rPr lang="es-VE" sz="2000" dirty="0" smtClean="0"/>
              <a:t>-Requerimientos adicionales por hipertermia, vómitos.</a:t>
            </a:r>
          </a:p>
          <a:p>
            <a:pPr marL="342900" indent="-342900"/>
            <a:r>
              <a:rPr lang="es-VE" sz="2000" dirty="0" smtClean="0"/>
              <a:t>-Pérdida por succión nasogástrica.</a:t>
            </a:r>
          </a:p>
          <a:p>
            <a:pPr marL="342900" indent="-342900"/>
            <a:r>
              <a:rPr lang="es-VE" sz="2000" dirty="0" smtClean="0"/>
              <a:t>-Desarrollo de un tercer espacio por íleo paralítico, peritonitis. </a:t>
            </a:r>
            <a:endParaRPr lang="es-VE" sz="2000" dirty="0"/>
          </a:p>
        </p:txBody>
      </p:sp>
      <p:sp>
        <p:nvSpPr>
          <p:cNvPr id="5" name="4 CuadroTexto"/>
          <p:cNvSpPr txBox="1"/>
          <p:nvPr/>
        </p:nvSpPr>
        <p:spPr>
          <a:xfrm>
            <a:off x="571472" y="4291620"/>
            <a:ext cx="4071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dirty="0" smtClean="0"/>
              <a:t>Requerimientos diarios varían desde 1500 cc a 2500 cc, en relación con la edad, sexo, peso y superficie corporal.</a:t>
            </a:r>
            <a:endParaRPr lang="es-VE" dirty="0"/>
          </a:p>
        </p:txBody>
      </p:sp>
      <p:sp>
        <p:nvSpPr>
          <p:cNvPr id="6" name="5 CuadroTexto"/>
          <p:cNvSpPr txBox="1"/>
          <p:nvPr/>
        </p:nvSpPr>
        <p:spPr>
          <a:xfrm>
            <a:off x="642910" y="6039169"/>
            <a:ext cx="807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dirty="0" smtClean="0">
                <a:latin typeface="Arial Narrow" pitchFamily="34" charset="0"/>
              </a:rPr>
              <a:t>Peso                    30                     Liquido estimado en 24 horas</a:t>
            </a:r>
            <a:endParaRPr lang="es-VE" sz="2400" dirty="0">
              <a:latin typeface="Arial Narrow" pitchFamily="34" charset="0"/>
            </a:endParaRPr>
          </a:p>
        </p:txBody>
      </p:sp>
      <p:sp>
        <p:nvSpPr>
          <p:cNvPr id="10" name="9 Multiplicar"/>
          <p:cNvSpPr/>
          <p:nvPr/>
        </p:nvSpPr>
        <p:spPr>
          <a:xfrm>
            <a:off x="1643042" y="6072206"/>
            <a:ext cx="571504" cy="500066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1" name="10 Igual que"/>
          <p:cNvSpPr/>
          <p:nvPr/>
        </p:nvSpPr>
        <p:spPr>
          <a:xfrm>
            <a:off x="3428992" y="6072206"/>
            <a:ext cx="571504" cy="428628"/>
          </a:xfrm>
          <a:prstGeom prst="mathEqual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pic>
        <p:nvPicPr>
          <p:cNvPr id="2050" name="Picture 2" descr="http://www.hmc.cl/2011/images/stories/servicios/nutricion_enteral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4008642"/>
            <a:ext cx="3929090" cy="14920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285720" y="477734"/>
            <a:ext cx="80010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b="1" i="1" dirty="0" smtClean="0"/>
              <a:t>Cuidados Post-Operatorios gastrointestinales:</a:t>
            </a:r>
          </a:p>
          <a:p>
            <a:endParaRPr lang="es-VE" sz="2400" dirty="0" smtClean="0"/>
          </a:p>
          <a:p>
            <a:endParaRPr lang="es-VE" sz="2400" dirty="0" smtClean="0"/>
          </a:p>
          <a:p>
            <a:pPr algn="just"/>
            <a:r>
              <a:rPr lang="es-VE" sz="2300" dirty="0" smtClean="0"/>
              <a:t>En Post-Operatorios no complicados el paciente puede ingerir líquidos una vez hayan desaparecido las nauseas y vómitos post-anestésicos. A las 24 ó 48 horas alimentos blandos y después de 72 horas alimentación variada sin frituras o grasas en exceso. </a:t>
            </a:r>
            <a:endParaRPr lang="es-VE" sz="2300" dirty="0"/>
          </a:p>
        </p:txBody>
      </p:sp>
      <p:sp>
        <p:nvSpPr>
          <p:cNvPr id="5" name="4 CuadroTexto"/>
          <p:cNvSpPr txBox="1"/>
          <p:nvPr/>
        </p:nvSpPr>
        <p:spPr>
          <a:xfrm>
            <a:off x="1500166" y="4071942"/>
            <a:ext cx="3786214" cy="1508105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VE" sz="2300" dirty="0" smtClean="0"/>
              <a:t>A las 48 ó 72 horas se administra un laxante suave para favorecer la emisión de las heces. </a:t>
            </a:r>
            <a:endParaRPr lang="es-VE" sz="2300" dirty="0"/>
          </a:p>
        </p:txBody>
      </p:sp>
      <p:pic>
        <p:nvPicPr>
          <p:cNvPr id="1026" name="Picture 2" descr="http://upload.wikimedia.org/wikipedia/commons/thumb/c/c5/Digestive_system_diagram_edit.svg/340px-Digestive_system_diagram_edit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8" y="3214686"/>
            <a:ext cx="2372149" cy="32861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95338" y="285736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142843" y="2066401"/>
          <a:ext cx="8215371" cy="4648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1835"/>
                <a:gridCol w="2643206"/>
                <a:gridCol w="2500330"/>
              </a:tblGrid>
              <a:tr h="412027">
                <a:tc>
                  <a:txBody>
                    <a:bodyPr/>
                    <a:lstStyle/>
                    <a:p>
                      <a:pPr algn="ctr"/>
                      <a:r>
                        <a:rPr lang="es-VE" sz="2000" b="1" dirty="0" smtClean="0"/>
                        <a:t>INMEDIATAS</a:t>
                      </a:r>
                      <a:endParaRPr lang="es-V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2000" b="1" dirty="0" smtClean="0"/>
                        <a:t>MEDIATAS</a:t>
                      </a:r>
                      <a:endParaRPr lang="es-VE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2000" b="1" dirty="0" smtClean="0"/>
                        <a:t>TARDÍAS</a:t>
                      </a:r>
                      <a:endParaRPr lang="es-VE" sz="2000" b="1" dirty="0"/>
                    </a:p>
                  </a:txBody>
                  <a:tcPr/>
                </a:tc>
              </a:tr>
              <a:tr h="4088567">
                <a:tc>
                  <a:txBody>
                    <a:bodyPr/>
                    <a:lstStyle/>
                    <a:p>
                      <a:pPr algn="ctr"/>
                      <a:endParaRPr lang="es-VE" sz="1600" u="none" dirty="0" smtClean="0"/>
                    </a:p>
                    <a:p>
                      <a:pPr algn="ctr"/>
                      <a:r>
                        <a:rPr lang="es-VE" sz="1600" dirty="0" smtClean="0"/>
                        <a:t>Insuficiencia cardíaca aguda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Embolismo pulmonar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Hemorragias internas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Alteraciones de la coagulación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Efecto del tercer espacio</a:t>
                      </a:r>
                    </a:p>
                    <a:p>
                      <a:pPr algn="ctr"/>
                      <a:r>
                        <a:rPr lang="es-VE" sz="1600" baseline="0" dirty="0" err="1" smtClean="0"/>
                        <a:t>Sepsis</a:t>
                      </a:r>
                      <a:endParaRPr lang="es-VE" sz="1600" baseline="0" dirty="0" smtClean="0"/>
                    </a:p>
                    <a:p>
                      <a:pPr algn="ctr"/>
                      <a:r>
                        <a:rPr lang="es-VE" sz="1600" baseline="0" dirty="0" smtClean="0"/>
                        <a:t>Anafilaxia</a:t>
                      </a:r>
                    </a:p>
                    <a:p>
                      <a:pPr algn="ctr"/>
                      <a:r>
                        <a:rPr lang="es-VE" sz="1600" baseline="0" dirty="0" err="1" smtClean="0"/>
                        <a:t>Broncoaspiración</a:t>
                      </a:r>
                      <a:endParaRPr lang="es-VE" sz="1600" baseline="0" dirty="0" smtClean="0"/>
                    </a:p>
                    <a:p>
                      <a:pPr algn="ctr"/>
                      <a:r>
                        <a:rPr lang="es-VE" sz="1600" baseline="0" dirty="0" err="1" smtClean="0"/>
                        <a:t>Atelectasia</a:t>
                      </a:r>
                      <a:endParaRPr lang="es-VE" sz="1600" baseline="0" dirty="0" smtClean="0"/>
                    </a:p>
                    <a:p>
                      <a:pPr algn="ctr"/>
                      <a:r>
                        <a:rPr lang="es-VE" sz="1600" baseline="0" dirty="0" smtClean="0"/>
                        <a:t>Neumonía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Neumotórax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Hidrotórax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aseline="0" dirty="0" smtClean="0"/>
                        <a:t>Dolor, náuseas y vómitos A</a:t>
                      </a:r>
                      <a:r>
                        <a:rPr lang="es-VE" sz="1600" dirty="0" smtClean="0"/>
                        <a:t>lteraciones </a:t>
                      </a:r>
                      <a:r>
                        <a:rPr lang="es-VE" sz="1600" dirty="0" err="1" smtClean="0"/>
                        <a:t>hidroelectrolíticas</a:t>
                      </a:r>
                      <a:r>
                        <a:rPr lang="es-VE" sz="1600" dirty="0" smtClean="0"/>
                        <a:t>  Retención urinaria</a:t>
                      </a:r>
                    </a:p>
                    <a:p>
                      <a:pPr algn="ctr"/>
                      <a:endParaRPr lang="es-V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600" dirty="0" smtClean="0"/>
                    </a:p>
                    <a:p>
                      <a:pPr algn="ctr"/>
                      <a:r>
                        <a:rPr lang="es-VE" sz="1600" dirty="0" smtClean="0"/>
                        <a:t>Íleo paralítico</a:t>
                      </a:r>
                    </a:p>
                    <a:p>
                      <a:pPr algn="ctr"/>
                      <a:r>
                        <a:rPr lang="es-VE" sz="1600" dirty="0" smtClean="0"/>
                        <a:t>Dilatación aguda del estómago</a:t>
                      </a:r>
                    </a:p>
                    <a:p>
                      <a:pPr algn="ctr"/>
                      <a:r>
                        <a:rPr lang="es-VE" sz="1600" dirty="0" smtClean="0"/>
                        <a:t>Alteraciones </a:t>
                      </a:r>
                      <a:r>
                        <a:rPr lang="es-VE" sz="1600" dirty="0" err="1" smtClean="0"/>
                        <a:t>hidroelectrolíticas</a:t>
                      </a:r>
                      <a:endParaRPr lang="es-VE" sz="1600" dirty="0" smtClean="0"/>
                    </a:p>
                    <a:p>
                      <a:pPr algn="ctr"/>
                      <a:r>
                        <a:rPr lang="es-VE" sz="1600" baseline="0" dirty="0" smtClean="0"/>
                        <a:t>Oliguria y anuria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Fiebre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Trombosis venosa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Infección de la herida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Síndrome oclusivo e intestinal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Evisceración</a:t>
                      </a:r>
                      <a:endParaRPr lang="es-VE" sz="1600" dirty="0" smtClean="0"/>
                    </a:p>
                    <a:p>
                      <a:pPr algn="ctr"/>
                      <a:r>
                        <a:rPr lang="es-VE" sz="1600" dirty="0" smtClean="0"/>
                        <a:t>Embolias pulmonares</a:t>
                      </a:r>
                    </a:p>
                    <a:p>
                      <a:pPr algn="ctr"/>
                      <a:r>
                        <a:rPr lang="es-VE" sz="1600" dirty="0" smtClean="0"/>
                        <a:t>Degeneración del</a:t>
                      </a:r>
                      <a:r>
                        <a:rPr lang="es-VE" sz="1600" baseline="0" dirty="0" smtClean="0"/>
                        <a:t> hígado</a:t>
                      </a:r>
                    </a:p>
                    <a:p>
                      <a:pPr algn="ctr"/>
                      <a:endParaRPr lang="es-V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600" dirty="0" smtClean="0"/>
                    </a:p>
                    <a:p>
                      <a:pPr algn="ctr"/>
                      <a:r>
                        <a:rPr lang="es-VE" sz="1600" dirty="0" smtClean="0"/>
                        <a:t>Adherencias</a:t>
                      </a:r>
                    </a:p>
                    <a:p>
                      <a:pPr algn="ctr"/>
                      <a:r>
                        <a:rPr lang="es-VE" sz="1600" dirty="0" smtClean="0"/>
                        <a:t>Oclusión</a:t>
                      </a:r>
                      <a:r>
                        <a:rPr lang="es-VE" sz="1600" baseline="0" dirty="0" smtClean="0"/>
                        <a:t> intestinal</a:t>
                      </a:r>
                    </a:p>
                    <a:p>
                      <a:pPr algn="ctr"/>
                      <a:r>
                        <a:rPr lang="es-VE" sz="1600" baseline="0" dirty="0" smtClean="0"/>
                        <a:t>Eventraciones</a:t>
                      </a:r>
                      <a:endParaRPr lang="es-VE" sz="1600" dirty="0" smtClean="0"/>
                    </a:p>
                    <a:p>
                      <a:pPr algn="ctr"/>
                      <a:r>
                        <a:rPr lang="es-VE" sz="1600" dirty="0" smtClean="0"/>
                        <a:t>Degeneración del</a:t>
                      </a:r>
                      <a:r>
                        <a:rPr lang="es-VE" sz="1600" baseline="0" dirty="0" smtClean="0"/>
                        <a:t> hígado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5338" y="285736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2844" y="1771672"/>
            <a:ext cx="6715172" cy="2085956"/>
          </a:xfrm>
        </p:spPr>
        <p:txBody>
          <a:bodyPr/>
          <a:lstStyle/>
          <a:p>
            <a:pPr algn="just"/>
            <a:r>
              <a:rPr lang="es-VE" i="1" dirty="0" smtClean="0"/>
              <a:t>Insuficiencia cardíaca aguda</a:t>
            </a:r>
            <a:r>
              <a:rPr lang="es-VE" dirty="0" smtClean="0"/>
              <a:t>: En aquellos pacientes que vayan a ser sometidos a intervenciones quirúrgicas abdominales de cierta envergadura y en los cuales existan evidencias de cardiopatías constituye una práctica la digitalización profiláctica.</a:t>
            </a:r>
          </a:p>
          <a:p>
            <a:pPr algn="just">
              <a:buNone/>
            </a:pPr>
            <a:endParaRPr lang="es-VE" dirty="0" smtClean="0"/>
          </a:p>
          <a:p>
            <a:pPr algn="just">
              <a:buNone/>
            </a:pPr>
            <a:endParaRPr lang="es-VE" dirty="0" smtClean="0"/>
          </a:p>
        </p:txBody>
      </p:sp>
      <p:pic>
        <p:nvPicPr>
          <p:cNvPr id="6146" name="Picture 2" descr="http://3.bp.blogspot.com/_3RXhwYXmgVQ/TKnixKpCXuI/AAAAAAAADq8/IkrLqbJzxy8/s400/Insuf-Card-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30" y="2000240"/>
            <a:ext cx="1398131" cy="13049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148" name="Picture 4" descr="http://4.bp.blogspot.com/_YlyZWPtbyN8/TEjETPX1IXI/AAAAAAAAB3E/jtP_JynY2KE/s1600/sonda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4214818"/>
            <a:ext cx="1214446" cy="19940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5 CuadroTexto"/>
          <p:cNvSpPr txBox="1"/>
          <p:nvPr/>
        </p:nvSpPr>
        <p:spPr>
          <a:xfrm>
            <a:off x="2143108" y="4420095"/>
            <a:ext cx="592935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bg2">
                  <a:lumMod val="50000"/>
                </a:schemeClr>
              </a:buClr>
              <a:buFont typeface="Arial" pitchFamily="34" charset="0"/>
              <a:buChar char="•"/>
            </a:pPr>
            <a:r>
              <a:rPr lang="es-VE" sz="2200" i="1" dirty="0" smtClean="0"/>
              <a:t>  Retención urinaria</a:t>
            </a:r>
            <a:r>
              <a:rPr lang="es-VE" sz="2200" dirty="0" smtClean="0"/>
              <a:t>: las infecciones post-operatorias de las vías urinarias son relativamente frecuentes en aquellos sujetos en los cuales se deje un cateterismo permanente. </a:t>
            </a:r>
          </a:p>
          <a:p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771672"/>
            <a:ext cx="7620000" cy="4800600"/>
          </a:xfrm>
        </p:spPr>
        <p:txBody>
          <a:bodyPr/>
          <a:lstStyle/>
          <a:p>
            <a:pPr algn="just"/>
            <a:r>
              <a:rPr lang="es-VE" i="1" dirty="0" smtClean="0"/>
              <a:t>Insuficiencia renal post-operatoria</a:t>
            </a:r>
            <a:r>
              <a:rPr lang="es-VE" dirty="0" smtClean="0"/>
              <a:t>: oliguria, anuria, necrosis tubular aguda, isquemia renal, nefropatías agudas.</a:t>
            </a:r>
          </a:p>
          <a:p>
            <a:pPr algn="just">
              <a:buNone/>
            </a:pPr>
            <a:r>
              <a:rPr lang="es-VE" dirty="0" smtClean="0"/>
              <a:t>	La </a:t>
            </a:r>
            <a:r>
              <a:rPr lang="es-VE" dirty="0" err="1" smtClean="0"/>
              <a:t>Furosemida</a:t>
            </a:r>
            <a:r>
              <a:rPr lang="es-VE" dirty="0" smtClean="0"/>
              <a:t> es de uso frecuente hoy en día a razón de 40 u 80mg c/6-8hs.</a:t>
            </a:r>
          </a:p>
          <a:p>
            <a:pPr algn="just">
              <a:buNone/>
            </a:pPr>
            <a:endParaRPr lang="es-VE" dirty="0" smtClean="0"/>
          </a:p>
          <a:p>
            <a:pPr algn="just"/>
            <a:r>
              <a:rPr lang="es-VE" i="1" dirty="0" smtClean="0"/>
              <a:t>Íleo paralítico: </a:t>
            </a:r>
            <a:r>
              <a:rPr lang="es-VE" dirty="0" smtClean="0"/>
              <a:t>generalmente cede espontáneamente al empezar a movilizarse el intestino. </a:t>
            </a:r>
          </a:p>
          <a:p>
            <a:pPr>
              <a:buNone/>
            </a:pPr>
            <a:endParaRPr lang="es-VE" dirty="0" smtClean="0"/>
          </a:p>
        </p:txBody>
      </p:sp>
      <p:pic>
        <p:nvPicPr>
          <p:cNvPr id="4098" name="Picture 2" descr="http://www.tumedico.com.ve/administrador/images/News/insuficiencia-renal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4714884"/>
            <a:ext cx="3500462" cy="1615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100" name="Picture 4" descr="http://3.bp.blogspot.com/-I7mdS16J8T8/T2xIkXZ-v4I/AAAAAAAAANk/1VzyLE_b6Zk/s1600/auscultac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4714884"/>
            <a:ext cx="2143140" cy="1607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595338" y="214290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2876" y="1928802"/>
            <a:ext cx="5643570" cy="5143536"/>
          </a:xfrm>
        </p:spPr>
        <p:txBody>
          <a:bodyPr>
            <a:normAutofit/>
          </a:bodyPr>
          <a:lstStyle/>
          <a:p>
            <a:pPr algn="just"/>
            <a:r>
              <a:rPr lang="es-VE" i="1" dirty="0" smtClean="0"/>
              <a:t>Dilatación aguda del estómago</a:t>
            </a:r>
            <a:r>
              <a:rPr lang="es-VE" dirty="0" smtClean="0"/>
              <a:t>: Infrecuente. </a:t>
            </a:r>
          </a:p>
          <a:p>
            <a:pPr algn="just">
              <a:buNone/>
            </a:pPr>
            <a:endParaRPr lang="es-VE" dirty="0" smtClean="0"/>
          </a:p>
          <a:p>
            <a:pPr algn="just">
              <a:buNone/>
            </a:pPr>
            <a:endParaRPr lang="es-VE" dirty="0" smtClean="0"/>
          </a:p>
          <a:p>
            <a:pPr algn="just"/>
            <a:r>
              <a:rPr lang="es-VE" i="1" dirty="0" smtClean="0"/>
              <a:t>Acción paralizante del anestésico</a:t>
            </a:r>
          </a:p>
          <a:p>
            <a:pPr algn="just"/>
            <a:endParaRPr lang="es-VE" dirty="0" smtClean="0"/>
          </a:p>
          <a:p>
            <a:pPr algn="just">
              <a:buNone/>
            </a:pPr>
            <a:endParaRPr lang="es-VE" dirty="0" smtClean="0"/>
          </a:p>
          <a:p>
            <a:pPr algn="just"/>
            <a:r>
              <a:rPr lang="es-VE" i="1" dirty="0" smtClean="0"/>
              <a:t>Trastornos primitivos de la inervación gástrica</a:t>
            </a:r>
            <a:r>
              <a:rPr lang="es-VE" dirty="0" smtClean="0"/>
              <a:t>: al disminuirse el tono de la musculatura gástrica es importante no </a:t>
            </a:r>
            <a:r>
              <a:rPr lang="es-VE" dirty="0" err="1" smtClean="0"/>
              <a:t>admnistrar</a:t>
            </a:r>
            <a:r>
              <a:rPr lang="es-VE" dirty="0" smtClean="0"/>
              <a:t> agentes depresores del sistema parasimpático en el P/O.</a:t>
            </a:r>
          </a:p>
          <a:p>
            <a:pPr>
              <a:buNone/>
            </a:pPr>
            <a:endParaRPr lang="es-VE" dirty="0"/>
          </a:p>
        </p:txBody>
      </p:sp>
      <p:pic>
        <p:nvPicPr>
          <p:cNvPr id="3074" name="Picture 2" descr="http://www.kaffaart.com/wp-content/gallery/cientifico/estomago-human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2571744"/>
            <a:ext cx="2762002" cy="2214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95338" y="214290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643306" y="2057424"/>
            <a:ext cx="4357718" cy="3943344"/>
          </a:xfrm>
        </p:spPr>
        <p:txBody>
          <a:bodyPr/>
          <a:lstStyle/>
          <a:p>
            <a:r>
              <a:rPr lang="es-VE" i="1" dirty="0" smtClean="0"/>
              <a:t>Dolor post-operatorio: </a:t>
            </a:r>
            <a:r>
              <a:rPr lang="es-VE" dirty="0" smtClean="0"/>
              <a:t>Frecuente. Determinar si el dolor proviene de la herida operatoria o si es de alguna complicación </a:t>
            </a:r>
            <a:r>
              <a:rPr lang="es-VE" dirty="0" err="1" smtClean="0"/>
              <a:t>intraabdominal</a:t>
            </a:r>
            <a:r>
              <a:rPr lang="es-VE" dirty="0" smtClean="0"/>
              <a:t>. </a:t>
            </a:r>
          </a:p>
          <a:p>
            <a:pPr>
              <a:buNone/>
            </a:pPr>
            <a:r>
              <a:rPr lang="es-VE" dirty="0" smtClean="0"/>
              <a:t>    </a:t>
            </a:r>
            <a:r>
              <a:rPr lang="es-VE" u="sng" dirty="0" smtClean="0"/>
              <a:t>Medicar.</a:t>
            </a:r>
          </a:p>
          <a:p>
            <a:endParaRPr lang="es-VE" dirty="0" smtClean="0"/>
          </a:p>
          <a:p>
            <a:r>
              <a:rPr lang="es-VE" i="1" dirty="0" smtClean="0"/>
              <a:t>Náuseas y vómitos</a:t>
            </a:r>
            <a:r>
              <a:rPr lang="es-VE" dirty="0" smtClean="0"/>
              <a:t>: iniciar la alimentación con bebidas o emplear fármacos antieméticos.</a:t>
            </a:r>
            <a:endParaRPr lang="es-VE" dirty="0"/>
          </a:p>
        </p:txBody>
      </p:sp>
      <p:pic>
        <p:nvPicPr>
          <p:cNvPr id="2050" name="Picture 2" descr="http://www.gravidanzaonline.it/farmaci/images/farmaci-pericolosi-in-gravidanz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214554"/>
            <a:ext cx="2857500" cy="28194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95338" y="214290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00234"/>
            <a:ext cx="7620000" cy="4800600"/>
          </a:xfrm>
        </p:spPr>
        <p:txBody>
          <a:bodyPr/>
          <a:lstStyle/>
          <a:p>
            <a:pPr algn="just">
              <a:buNone/>
            </a:pPr>
            <a:endParaRPr lang="es-VE" dirty="0" smtClean="0"/>
          </a:p>
          <a:p>
            <a:pPr algn="just"/>
            <a:r>
              <a:rPr lang="es-VE" i="1" dirty="0" smtClean="0"/>
              <a:t>Complicaciones de la herida</a:t>
            </a:r>
            <a:r>
              <a:rPr lang="es-VE" dirty="0" smtClean="0"/>
              <a:t>: hemorragias, hematomas locales, isquemia y necrosis de los bordes, infección. Evisceraciones.</a:t>
            </a:r>
          </a:p>
          <a:p>
            <a:pPr algn="just"/>
            <a:endParaRPr lang="es-VE" dirty="0" smtClean="0"/>
          </a:p>
          <a:p>
            <a:pPr algn="just"/>
            <a:r>
              <a:rPr lang="es-VE" i="1" dirty="0" smtClean="0"/>
              <a:t>Trastornos psíquicos</a:t>
            </a:r>
            <a:r>
              <a:rPr lang="es-VE" dirty="0" smtClean="0"/>
              <a:t>: psicosis postoperatorias o neurosis.</a:t>
            </a:r>
          </a:p>
        </p:txBody>
      </p:sp>
      <p:pic>
        <p:nvPicPr>
          <p:cNvPr id="5122" name="Picture 2" descr="http://www.ferato.com/wiki/images/d/d7/20081223_mgb_Hipertermia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4357694"/>
            <a:ext cx="2071702" cy="19414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4" name="Picture 4" descr="http://4.bp.blogspot.com/_FCP2ZGtdPTk/TIVkTww9XFI/AAAAAAAACnU/Jxk84qmpZ94/s1600/IMAG000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488" y="4443955"/>
            <a:ext cx="2571768" cy="1628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6" name="Picture 6" descr="http://3.bp.blogspot.com/-bcGR7jSJdE8/UK5X_3DTx7I/AAAAAAAAMbg/8bUjqv8i8oI/s400/3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7884" y="4429132"/>
            <a:ext cx="2122102" cy="16393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595338" y="214290"/>
            <a:ext cx="7620000" cy="1143000"/>
          </a:xfrm>
        </p:spPr>
        <p:txBody>
          <a:bodyPr/>
          <a:lstStyle/>
          <a:p>
            <a:pPr algn="ctr"/>
            <a:r>
              <a:rPr lang="es-VE" sz="4000" b="1" cap="all" dirty="0" smtClean="0"/>
              <a:t>Complicaciones </a:t>
            </a:r>
            <a:br>
              <a:rPr lang="es-VE" sz="4000" b="1" cap="all" dirty="0" smtClean="0"/>
            </a:br>
            <a:r>
              <a:rPr lang="es-VE" sz="4000" b="1" cap="all" dirty="0" smtClean="0"/>
              <a:t>Post-operatorias</a:t>
            </a:r>
            <a:endParaRPr lang="es-VE" sz="4000" b="1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1617681"/>
            <a:ext cx="8501090" cy="452596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SEMIOLOGÍA Y PATOLOGÍA QUIRÚRGICA. </a:t>
            </a:r>
            <a:r>
              <a:rPr lang="en-US" sz="1900" dirty="0" err="1" smtClean="0">
                <a:cs typeface="Arial" pitchFamily="34" charset="0"/>
              </a:rPr>
              <a:t>Héctor</a:t>
            </a:r>
            <a:r>
              <a:rPr lang="en-US" sz="1900" dirty="0" smtClean="0">
                <a:cs typeface="Arial" pitchFamily="34" charset="0"/>
              </a:rPr>
              <a:t> E. </a:t>
            </a:r>
            <a:r>
              <a:rPr lang="en-US" sz="1900" dirty="0" err="1" smtClean="0">
                <a:cs typeface="Arial" pitchFamily="34" charset="0"/>
              </a:rPr>
              <a:t>Cantele</a:t>
            </a:r>
            <a:r>
              <a:rPr lang="en-US" sz="1900" dirty="0" smtClean="0">
                <a:cs typeface="Arial" pitchFamily="34" charset="0"/>
              </a:rPr>
              <a:t> P. Arlene </a:t>
            </a:r>
            <a:r>
              <a:rPr lang="en-US" sz="1900" dirty="0" err="1" smtClean="0">
                <a:cs typeface="Arial" pitchFamily="34" charset="0"/>
              </a:rPr>
              <a:t>Méndez</a:t>
            </a:r>
            <a:r>
              <a:rPr lang="en-US" sz="1900" dirty="0" smtClean="0">
                <a:cs typeface="Arial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NOSOGRAFÍA Y SEMIOLOGÍA QUIRÚRGICA. Augusto </a:t>
            </a:r>
            <a:r>
              <a:rPr lang="en-US" sz="1900" dirty="0" err="1" smtClean="0">
                <a:cs typeface="Arial" pitchFamily="34" charset="0"/>
              </a:rPr>
              <a:t>Diez</a:t>
            </a:r>
            <a:r>
              <a:rPr lang="en-US" sz="1900" dirty="0" smtClean="0">
                <a:cs typeface="Arial" pitchFamily="34" charset="0"/>
              </a:rPr>
              <a:t>. Editorial </a:t>
            </a:r>
            <a:r>
              <a:rPr lang="en-US" sz="1900" dirty="0" err="1" smtClean="0">
                <a:cs typeface="Arial" pitchFamily="34" charset="0"/>
              </a:rPr>
              <a:t>Exlibris</a:t>
            </a:r>
            <a:r>
              <a:rPr lang="en-US" sz="1900" dirty="0" smtClean="0">
                <a:cs typeface="Arial" pitchFamily="34" charset="0"/>
              </a:rPr>
              <a:t>. Caracas, 2002.</a:t>
            </a:r>
            <a:endParaRPr lang="en-US" sz="1900" dirty="0">
              <a:cs typeface="Arial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PDF-SOCIEDAD CHILENA CIRUGIA CARDIOVASCULAR</a:t>
            </a: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Mitchell </a:t>
            </a:r>
            <a:r>
              <a:rPr lang="en-US" sz="1900" dirty="0">
                <a:cs typeface="Arial" pitchFamily="34" charset="0"/>
              </a:rPr>
              <a:t>SK. Preoperative evaluation. Am </a:t>
            </a:r>
            <a:r>
              <a:rPr lang="en-US" sz="1900" dirty="0" err="1">
                <a:cs typeface="Arial" pitchFamily="34" charset="0"/>
              </a:rPr>
              <a:t>Fam</a:t>
            </a:r>
            <a:r>
              <a:rPr lang="en-US" sz="1900" dirty="0">
                <a:cs typeface="Arial" pitchFamily="34" charset="0"/>
              </a:rPr>
              <a:t> Physician 2000; 62:387-96</a:t>
            </a:r>
            <a:r>
              <a:rPr lang="en-US" sz="1900" dirty="0" smtClean="0">
                <a:cs typeface="Arial" pitchFamily="34" charset="0"/>
              </a:rPr>
              <a:t>.</a:t>
            </a:r>
            <a:endParaRPr lang="en-US" sz="1900" dirty="0">
              <a:cs typeface="Arial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 </a:t>
            </a:r>
            <a:r>
              <a:rPr lang="en-US" sz="1900" dirty="0">
                <a:cs typeface="Arial" pitchFamily="34" charset="0"/>
              </a:rPr>
              <a:t>ICSI Health Care Guidelines (Institute for Clinical System Improvement</a:t>
            </a:r>
            <a:r>
              <a:rPr lang="en-US" sz="1900" dirty="0" smtClean="0">
                <a:cs typeface="Arial" pitchFamily="34" charset="0"/>
              </a:rPr>
              <a:t>). </a:t>
            </a:r>
            <a:r>
              <a:rPr lang="es-VE" sz="1900" dirty="0" err="1" smtClean="0">
                <a:cs typeface="Arial" pitchFamily="34" charset="0"/>
              </a:rPr>
              <a:t>Preoperative</a:t>
            </a:r>
            <a:r>
              <a:rPr lang="es-VE" sz="1900" dirty="0" smtClean="0">
                <a:cs typeface="Arial" pitchFamily="34" charset="0"/>
              </a:rPr>
              <a:t> </a:t>
            </a:r>
            <a:r>
              <a:rPr lang="es-VE" sz="1900" dirty="0" err="1">
                <a:cs typeface="Arial" pitchFamily="34" charset="0"/>
              </a:rPr>
              <a:t>Evaluation</a:t>
            </a:r>
            <a:r>
              <a:rPr lang="es-VE" sz="1900" dirty="0">
                <a:cs typeface="Arial" pitchFamily="34" charset="0"/>
              </a:rPr>
              <a:t> 2000.</a:t>
            </a: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American </a:t>
            </a:r>
            <a:r>
              <a:rPr lang="en-US" sz="1900" dirty="0">
                <a:cs typeface="Arial" pitchFamily="34" charset="0"/>
              </a:rPr>
              <a:t>College of Cardiology and American Heart Association. Guidelines </a:t>
            </a:r>
            <a:r>
              <a:rPr lang="en-US" sz="1900" dirty="0" smtClean="0">
                <a:cs typeface="Arial" pitchFamily="34" charset="0"/>
              </a:rPr>
              <a:t>for </a:t>
            </a:r>
            <a:r>
              <a:rPr lang="en-US" sz="1900" dirty="0" err="1" smtClean="0">
                <a:cs typeface="Arial" pitchFamily="34" charset="0"/>
              </a:rPr>
              <a:t>Perioperative</a:t>
            </a:r>
            <a:r>
              <a:rPr lang="en-US" sz="1900" dirty="0" smtClean="0">
                <a:cs typeface="Arial" pitchFamily="34" charset="0"/>
              </a:rPr>
              <a:t> </a:t>
            </a:r>
            <a:r>
              <a:rPr lang="en-US" sz="1900" dirty="0">
                <a:cs typeface="Arial" pitchFamily="34" charset="0"/>
              </a:rPr>
              <a:t>cardiovascular evaluation for </a:t>
            </a:r>
            <a:r>
              <a:rPr lang="en-US" sz="1900" dirty="0" err="1">
                <a:cs typeface="Arial" pitchFamily="34" charset="0"/>
              </a:rPr>
              <a:t>noncardiac</a:t>
            </a:r>
            <a:r>
              <a:rPr lang="en-US" sz="1900" dirty="0">
                <a:cs typeface="Arial" pitchFamily="34" charset="0"/>
              </a:rPr>
              <a:t> surgery. </a:t>
            </a:r>
            <a:r>
              <a:rPr lang="en-US" sz="1900" dirty="0" smtClean="0">
                <a:cs typeface="Arial" pitchFamily="34" charset="0"/>
              </a:rPr>
              <a:t>Circulation </a:t>
            </a:r>
            <a:r>
              <a:rPr lang="es-VE" sz="1900" dirty="0" smtClean="0">
                <a:cs typeface="Arial" pitchFamily="34" charset="0"/>
              </a:rPr>
              <a:t>1996;93:1280-1317</a:t>
            </a:r>
            <a:r>
              <a:rPr lang="es-VE" sz="1900" dirty="0">
                <a:cs typeface="Arial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1900" dirty="0" smtClean="0">
                <a:cs typeface="Arial" pitchFamily="34" charset="0"/>
              </a:rPr>
              <a:t> </a:t>
            </a:r>
            <a:r>
              <a:rPr lang="en-US" sz="1900" dirty="0">
                <a:cs typeface="Arial" pitchFamily="34" charset="0"/>
              </a:rPr>
              <a:t>Mohr DN, Lavender RC. Preoperative pulmonary evaluation: identifying patients </a:t>
            </a:r>
            <a:r>
              <a:rPr lang="en-US" sz="1900" dirty="0" smtClean="0">
                <a:cs typeface="Arial" pitchFamily="34" charset="0"/>
              </a:rPr>
              <a:t>at Increased </a:t>
            </a:r>
            <a:r>
              <a:rPr lang="en-US" sz="1900" dirty="0">
                <a:cs typeface="Arial" pitchFamily="34" charset="0"/>
              </a:rPr>
              <a:t>risk for complications. Postgrad Med 1996;100:241-56</a:t>
            </a:r>
            <a:r>
              <a:rPr lang="en-US" sz="1900" dirty="0" smtClean="0">
                <a:cs typeface="Arial" pitchFamily="34" charset="0"/>
              </a:rPr>
              <a:t>.</a:t>
            </a:r>
          </a:p>
          <a:p>
            <a:pPr algn="just"/>
            <a:endParaRPr lang="en-US" sz="1800" dirty="0" smtClean="0">
              <a:cs typeface="Arial" pitchFamily="34" charset="0"/>
            </a:endParaRPr>
          </a:p>
          <a:p>
            <a:endParaRPr lang="en-US" sz="12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sz="4000" b="1" dirty="0" smtClean="0"/>
              <a:t>BIBLIOGRAFÍA</a:t>
            </a:r>
            <a:endParaRPr lang="es-VE" sz="4000" b="1" dirty="0"/>
          </a:p>
        </p:txBody>
      </p:sp>
    </p:spTree>
    <p:extLst>
      <p:ext uri="{BB962C8B-B14F-4D97-AF65-F5344CB8AC3E}">
        <p14:creationId xmlns:p14="http://schemas.microsoft.com/office/powerpoint/2010/main" xmlns="" val="83622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j017846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2976" y="1928802"/>
            <a:ext cx="6048451" cy="4000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5" name="4 CuadroTexto"/>
          <p:cNvSpPr txBox="1"/>
          <p:nvPr/>
        </p:nvSpPr>
        <p:spPr>
          <a:xfrm>
            <a:off x="1406002" y="214290"/>
            <a:ext cx="55018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9600" b="1" dirty="0" smtClean="0"/>
              <a:t>¡GRACIAS!</a:t>
            </a:r>
            <a:endParaRPr lang="es-VE" sz="9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yacencia">
  <a:themeElements>
    <a:clrScheme name="Personalizado 3">
      <a:dk1>
        <a:sysClr val="windowText" lastClr="000000"/>
      </a:dk1>
      <a:lt1>
        <a:sysClr val="window" lastClr="FFFFFF"/>
      </a:lt1>
      <a:dk2>
        <a:srgbClr val="92D050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yace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594</TotalTime>
  <Words>1560</Words>
  <Application>Microsoft Office PowerPoint</Application>
  <PresentationFormat>Presentación en pantalla (4:3)</PresentationFormat>
  <Paragraphs>284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6" baseType="lpstr">
      <vt:lpstr>Adyacencia</vt:lpstr>
      <vt:lpstr>Diapositiva 1</vt:lpstr>
      <vt:lpstr>Diapositiva 2</vt:lpstr>
      <vt:lpstr>Diapositiva 3</vt:lpstr>
      <vt:lpstr>Diapositiva 4</vt:lpstr>
      <vt:lpstr>Evaluación preoperatoria</vt:lpstr>
      <vt:lpstr>Evaluación pre anestésica</vt:lpstr>
      <vt:lpstr>Evaluación preoperatoria</vt:lpstr>
      <vt:lpstr>Evaluación preoperatoria</vt:lpstr>
      <vt:lpstr>Exámenes complementarios</vt:lpstr>
      <vt:lpstr>Exámenes complementarios</vt:lpstr>
      <vt:lpstr>Exámenes complementarios</vt:lpstr>
      <vt:lpstr>Exámenes complementarios</vt:lpstr>
      <vt:lpstr>Exámenes complementarios</vt:lpstr>
      <vt:lpstr>ESTIMACIÓN DE RIESGO</vt:lpstr>
      <vt:lpstr>ÍNDICES VALIDADOS UNIVERSALMENTE</vt:lpstr>
      <vt:lpstr>CLASIFICACIÓN</vt:lpstr>
      <vt:lpstr>Diapositiva 17</vt:lpstr>
      <vt:lpstr>REQUISITOS HOSPITALARIOS</vt:lpstr>
      <vt:lpstr>EL DÍA DE LA INTERVENCIÓN</vt:lpstr>
      <vt:lpstr>POSTOPERATORIO</vt:lpstr>
      <vt:lpstr>Diapositiva 21</vt:lpstr>
      <vt:lpstr>1. Post-Operatorio inmediato</vt:lpstr>
      <vt:lpstr>Diapositiva 23</vt:lpstr>
      <vt:lpstr>2. Cuidado post-operatorio mediato</vt:lpstr>
      <vt:lpstr>Diapositiva 25</vt:lpstr>
      <vt:lpstr>Indicación de fluidos y electrolitos en el Post-Operatorio</vt:lpstr>
      <vt:lpstr>Diapositiva 27</vt:lpstr>
      <vt:lpstr>Complicaciones  Post-operatorias</vt:lpstr>
      <vt:lpstr>Complicaciones  Post-operatorias</vt:lpstr>
      <vt:lpstr>Complicaciones  Post-operatorias</vt:lpstr>
      <vt:lpstr>Complicaciones  Post-operatorias</vt:lpstr>
      <vt:lpstr>Complicaciones  Post-operatorias</vt:lpstr>
      <vt:lpstr>Complicaciones  Post-operatorias</vt:lpstr>
      <vt:lpstr>BIBLIOGRAFÍA</vt:lpstr>
      <vt:lpstr>Diapositiva 35</vt:lpstr>
    </vt:vector>
  </TitlesOfParts>
  <Company>GP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ALSIE CONSULTORES</cp:lastModifiedBy>
  <cp:revision>104</cp:revision>
  <dcterms:created xsi:type="dcterms:W3CDTF">2013-04-19T16:15:21Z</dcterms:created>
  <dcterms:modified xsi:type="dcterms:W3CDTF">2013-09-21T13:34:57Z</dcterms:modified>
</cp:coreProperties>
</file>