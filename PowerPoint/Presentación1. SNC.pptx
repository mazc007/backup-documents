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277" r:id="rId23"/>
    <p:sldId id="278" r:id="rId24"/>
    <p:sldId id="279" r:id="rId25"/>
    <p:sldId id="281" r:id="rId26"/>
    <p:sldId id="280" r:id="rId27"/>
    <p:sldId id="283" r:id="rId28"/>
    <p:sldId id="284" r:id="rId29"/>
    <p:sldId id="285" r:id="rId30"/>
    <p:sldId id="286" r:id="rId31"/>
    <p:sldId id="282" r:id="rId32"/>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varScale="1">
        <p:scale>
          <a:sx n="70" d="100"/>
          <a:sy n="70" d="100"/>
        </p:scale>
        <p:origin x="-522"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FE6590-BB26-4646-80AE-FF8A4C0AB837}"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BO"/>
        </a:p>
      </dgm:t>
    </dgm:pt>
    <dgm:pt modelId="{5A490228-128B-4BB3-9485-3F5289E9847A}">
      <dgm:prSet phldrT="[Texto]"/>
      <dgm:spPr/>
      <dgm:t>
        <a:bodyPr/>
        <a:lstStyle/>
        <a:p>
          <a:r>
            <a:rPr lang="es-BO" dirty="0" smtClean="0"/>
            <a:t>SNC</a:t>
          </a:r>
          <a:endParaRPr lang="es-BO" dirty="0"/>
        </a:p>
      </dgm:t>
    </dgm:pt>
    <dgm:pt modelId="{DD78C7A0-27D5-48DB-89BE-F78BE6F3DE89}" type="parTrans" cxnId="{BEED4AF5-3424-40EB-9EF0-86DCC708F849}">
      <dgm:prSet/>
      <dgm:spPr/>
      <dgm:t>
        <a:bodyPr/>
        <a:lstStyle/>
        <a:p>
          <a:endParaRPr lang="es-BO"/>
        </a:p>
      </dgm:t>
    </dgm:pt>
    <dgm:pt modelId="{2D761BA9-BA9A-4C31-944C-6F6229148773}" type="sibTrans" cxnId="{BEED4AF5-3424-40EB-9EF0-86DCC708F849}">
      <dgm:prSet/>
      <dgm:spPr/>
      <dgm:t>
        <a:bodyPr/>
        <a:lstStyle/>
        <a:p>
          <a:endParaRPr lang="es-BO"/>
        </a:p>
      </dgm:t>
    </dgm:pt>
    <dgm:pt modelId="{6D7C0FD8-676F-4A61-B0A8-DF5CE5FF9AF4}">
      <dgm:prSet phldrT="[Texto]"/>
      <dgm:spPr/>
      <dgm:t>
        <a:bodyPr/>
        <a:lstStyle/>
        <a:p>
          <a:r>
            <a:rPr lang="es-BO" dirty="0" smtClean="0"/>
            <a:t>ENCEFALO</a:t>
          </a:r>
          <a:endParaRPr lang="es-BO" dirty="0"/>
        </a:p>
      </dgm:t>
    </dgm:pt>
    <dgm:pt modelId="{9906725B-6B69-4755-BC23-A4FB874FA158}" type="parTrans" cxnId="{CB5C0BB8-C8BC-415E-AA55-D81730D392A2}">
      <dgm:prSet/>
      <dgm:spPr/>
      <dgm:t>
        <a:bodyPr/>
        <a:lstStyle/>
        <a:p>
          <a:endParaRPr lang="es-BO"/>
        </a:p>
      </dgm:t>
    </dgm:pt>
    <dgm:pt modelId="{C3D7D785-E4F4-440D-B435-E8F33FCB97D1}" type="sibTrans" cxnId="{CB5C0BB8-C8BC-415E-AA55-D81730D392A2}">
      <dgm:prSet/>
      <dgm:spPr/>
      <dgm:t>
        <a:bodyPr/>
        <a:lstStyle/>
        <a:p>
          <a:endParaRPr lang="es-BO"/>
        </a:p>
      </dgm:t>
    </dgm:pt>
    <dgm:pt modelId="{8365C866-AE5F-499D-BA09-B3E6140C442B}">
      <dgm:prSet phldrT="[Texto]"/>
      <dgm:spPr/>
      <dgm:t>
        <a:bodyPr/>
        <a:lstStyle/>
        <a:p>
          <a:r>
            <a:rPr lang="es-BO" dirty="0" smtClean="0"/>
            <a:t>CEREBRO – CEREBELO- TALLO ENCEFALICO – BULBO RAQUIDEO – PROTUBERANCIA – MESENCEFALO - DIENCEFALO</a:t>
          </a:r>
          <a:endParaRPr lang="es-BO" dirty="0"/>
        </a:p>
      </dgm:t>
    </dgm:pt>
    <dgm:pt modelId="{5B004BF2-5D7E-42E3-8D9A-35C863233DE6}" type="parTrans" cxnId="{A43FCDF9-BCFC-4F48-B8AC-02B192954F9A}">
      <dgm:prSet/>
      <dgm:spPr/>
      <dgm:t>
        <a:bodyPr/>
        <a:lstStyle/>
        <a:p>
          <a:endParaRPr lang="es-BO"/>
        </a:p>
      </dgm:t>
    </dgm:pt>
    <dgm:pt modelId="{BD64471D-875D-4B74-A11F-25C8CD18A57D}" type="sibTrans" cxnId="{A43FCDF9-BCFC-4F48-B8AC-02B192954F9A}">
      <dgm:prSet/>
      <dgm:spPr/>
      <dgm:t>
        <a:bodyPr/>
        <a:lstStyle/>
        <a:p>
          <a:endParaRPr lang="es-BO"/>
        </a:p>
      </dgm:t>
    </dgm:pt>
    <dgm:pt modelId="{F1950FFD-3511-4C13-BC16-67E21A23BFCA}">
      <dgm:prSet phldrT="[Texto]"/>
      <dgm:spPr/>
      <dgm:t>
        <a:bodyPr/>
        <a:lstStyle/>
        <a:p>
          <a:r>
            <a:rPr lang="es-BO" dirty="0" smtClean="0"/>
            <a:t>MEDULA ESPINAL</a:t>
          </a:r>
          <a:endParaRPr lang="es-BO" dirty="0"/>
        </a:p>
      </dgm:t>
    </dgm:pt>
    <dgm:pt modelId="{A7EE56D3-FA17-4A22-BFFB-39089143E53A}" type="parTrans" cxnId="{C47F10C9-1459-4207-8565-286B83CD3B06}">
      <dgm:prSet/>
      <dgm:spPr/>
      <dgm:t>
        <a:bodyPr/>
        <a:lstStyle/>
        <a:p>
          <a:endParaRPr lang="es-BO"/>
        </a:p>
      </dgm:t>
    </dgm:pt>
    <dgm:pt modelId="{D52AC3F8-F970-4C63-A858-43F5946F929E}" type="sibTrans" cxnId="{C47F10C9-1459-4207-8565-286B83CD3B06}">
      <dgm:prSet/>
      <dgm:spPr/>
      <dgm:t>
        <a:bodyPr/>
        <a:lstStyle/>
        <a:p>
          <a:endParaRPr lang="es-BO"/>
        </a:p>
      </dgm:t>
    </dgm:pt>
    <dgm:pt modelId="{6123B7FD-3BE0-4A6F-8538-4BE2683969D8}">
      <dgm:prSet/>
      <dgm:spPr/>
      <dgm:t>
        <a:bodyPr/>
        <a:lstStyle/>
        <a:p>
          <a:r>
            <a:rPr lang="es-BO" dirty="0" smtClean="0"/>
            <a:t>MENINGES</a:t>
          </a:r>
          <a:endParaRPr lang="es-BO" dirty="0"/>
        </a:p>
      </dgm:t>
    </dgm:pt>
    <dgm:pt modelId="{71E78B7F-AD32-4DD6-8542-687A72327319}" type="parTrans" cxnId="{670E02BF-6917-4BA3-ADC2-05BDEA0A40B8}">
      <dgm:prSet/>
      <dgm:spPr/>
      <dgm:t>
        <a:bodyPr/>
        <a:lstStyle/>
        <a:p>
          <a:endParaRPr lang="es-BO"/>
        </a:p>
      </dgm:t>
    </dgm:pt>
    <dgm:pt modelId="{60F745F0-549D-4EAC-AE75-906599F5A375}" type="sibTrans" cxnId="{670E02BF-6917-4BA3-ADC2-05BDEA0A40B8}">
      <dgm:prSet/>
      <dgm:spPr/>
      <dgm:t>
        <a:bodyPr/>
        <a:lstStyle/>
        <a:p>
          <a:endParaRPr lang="es-BO"/>
        </a:p>
      </dgm:t>
    </dgm:pt>
    <dgm:pt modelId="{68DDE0F5-8607-439B-81FD-7E53AA7EAB79}" type="pres">
      <dgm:prSet presAssocID="{6FFE6590-BB26-4646-80AE-FF8A4C0AB837}" presName="diagram" presStyleCnt="0">
        <dgm:presLayoutVars>
          <dgm:chPref val="1"/>
          <dgm:dir/>
          <dgm:animOne val="branch"/>
          <dgm:animLvl val="lvl"/>
          <dgm:resizeHandles val="exact"/>
        </dgm:presLayoutVars>
      </dgm:prSet>
      <dgm:spPr/>
      <dgm:t>
        <a:bodyPr/>
        <a:lstStyle/>
        <a:p>
          <a:endParaRPr lang="es-ES"/>
        </a:p>
      </dgm:t>
    </dgm:pt>
    <dgm:pt modelId="{9DFF3AFD-8095-4CB1-AEAF-E4133A66E711}" type="pres">
      <dgm:prSet presAssocID="{5A490228-128B-4BB3-9485-3F5289E9847A}" presName="root1" presStyleCnt="0"/>
      <dgm:spPr/>
    </dgm:pt>
    <dgm:pt modelId="{A645AE29-7C90-44E5-94AA-CBC96318E7C0}" type="pres">
      <dgm:prSet presAssocID="{5A490228-128B-4BB3-9485-3F5289E9847A}" presName="LevelOneTextNode" presStyleLbl="node0" presStyleIdx="0" presStyleCnt="1">
        <dgm:presLayoutVars>
          <dgm:chPref val="3"/>
        </dgm:presLayoutVars>
      </dgm:prSet>
      <dgm:spPr/>
      <dgm:t>
        <a:bodyPr/>
        <a:lstStyle/>
        <a:p>
          <a:endParaRPr lang="es-ES"/>
        </a:p>
      </dgm:t>
    </dgm:pt>
    <dgm:pt modelId="{2C91860C-B8FD-4E1F-9B09-28278B55803E}" type="pres">
      <dgm:prSet presAssocID="{5A490228-128B-4BB3-9485-3F5289E9847A}" presName="level2hierChild" presStyleCnt="0"/>
      <dgm:spPr/>
    </dgm:pt>
    <dgm:pt modelId="{E1167B24-A3A2-482E-A3A6-D6375284A69D}" type="pres">
      <dgm:prSet presAssocID="{9906725B-6B69-4755-BC23-A4FB874FA158}" presName="conn2-1" presStyleLbl="parChTrans1D2" presStyleIdx="0" presStyleCnt="3"/>
      <dgm:spPr/>
      <dgm:t>
        <a:bodyPr/>
        <a:lstStyle/>
        <a:p>
          <a:endParaRPr lang="es-ES"/>
        </a:p>
      </dgm:t>
    </dgm:pt>
    <dgm:pt modelId="{73580772-D303-4039-8D4E-02025D337DC6}" type="pres">
      <dgm:prSet presAssocID="{9906725B-6B69-4755-BC23-A4FB874FA158}" presName="connTx" presStyleLbl="parChTrans1D2" presStyleIdx="0" presStyleCnt="3"/>
      <dgm:spPr/>
      <dgm:t>
        <a:bodyPr/>
        <a:lstStyle/>
        <a:p>
          <a:endParaRPr lang="es-ES"/>
        </a:p>
      </dgm:t>
    </dgm:pt>
    <dgm:pt modelId="{E44A0E89-3B67-47EB-A731-EDAFCF77A979}" type="pres">
      <dgm:prSet presAssocID="{6D7C0FD8-676F-4A61-B0A8-DF5CE5FF9AF4}" presName="root2" presStyleCnt="0"/>
      <dgm:spPr/>
    </dgm:pt>
    <dgm:pt modelId="{F579067A-BC47-40EB-8784-2E2A2186A07A}" type="pres">
      <dgm:prSet presAssocID="{6D7C0FD8-676F-4A61-B0A8-DF5CE5FF9AF4}" presName="LevelTwoTextNode" presStyleLbl="node2" presStyleIdx="0" presStyleCnt="3">
        <dgm:presLayoutVars>
          <dgm:chPref val="3"/>
        </dgm:presLayoutVars>
      </dgm:prSet>
      <dgm:spPr/>
      <dgm:t>
        <a:bodyPr/>
        <a:lstStyle/>
        <a:p>
          <a:endParaRPr lang="es-BO"/>
        </a:p>
      </dgm:t>
    </dgm:pt>
    <dgm:pt modelId="{F6432BCB-26F1-427C-B4E0-A4037D78B704}" type="pres">
      <dgm:prSet presAssocID="{6D7C0FD8-676F-4A61-B0A8-DF5CE5FF9AF4}" presName="level3hierChild" presStyleCnt="0"/>
      <dgm:spPr/>
    </dgm:pt>
    <dgm:pt modelId="{859D8B74-8038-471D-9316-D5EDA8ED893E}" type="pres">
      <dgm:prSet presAssocID="{5B004BF2-5D7E-42E3-8D9A-35C863233DE6}" presName="conn2-1" presStyleLbl="parChTrans1D3" presStyleIdx="0" presStyleCnt="1"/>
      <dgm:spPr/>
      <dgm:t>
        <a:bodyPr/>
        <a:lstStyle/>
        <a:p>
          <a:endParaRPr lang="es-ES"/>
        </a:p>
      </dgm:t>
    </dgm:pt>
    <dgm:pt modelId="{622CD030-7440-4170-8AEA-FEE27AACF73D}" type="pres">
      <dgm:prSet presAssocID="{5B004BF2-5D7E-42E3-8D9A-35C863233DE6}" presName="connTx" presStyleLbl="parChTrans1D3" presStyleIdx="0" presStyleCnt="1"/>
      <dgm:spPr/>
      <dgm:t>
        <a:bodyPr/>
        <a:lstStyle/>
        <a:p>
          <a:endParaRPr lang="es-ES"/>
        </a:p>
      </dgm:t>
    </dgm:pt>
    <dgm:pt modelId="{7AF1CA49-05D0-4EEA-9DE9-F7017CAAE9DB}" type="pres">
      <dgm:prSet presAssocID="{8365C866-AE5F-499D-BA09-B3E6140C442B}" presName="root2" presStyleCnt="0"/>
      <dgm:spPr/>
    </dgm:pt>
    <dgm:pt modelId="{6FDBBD1C-36C9-4945-8283-DFA796830CB8}" type="pres">
      <dgm:prSet presAssocID="{8365C866-AE5F-499D-BA09-B3E6140C442B}" presName="LevelTwoTextNode" presStyleLbl="node3" presStyleIdx="0" presStyleCnt="1" custScaleY="206542">
        <dgm:presLayoutVars>
          <dgm:chPref val="3"/>
        </dgm:presLayoutVars>
      </dgm:prSet>
      <dgm:spPr/>
      <dgm:t>
        <a:bodyPr/>
        <a:lstStyle/>
        <a:p>
          <a:endParaRPr lang="es-BO"/>
        </a:p>
      </dgm:t>
    </dgm:pt>
    <dgm:pt modelId="{1AAF982E-690B-498E-A4AA-14A79FB3461F}" type="pres">
      <dgm:prSet presAssocID="{8365C866-AE5F-499D-BA09-B3E6140C442B}" presName="level3hierChild" presStyleCnt="0"/>
      <dgm:spPr/>
    </dgm:pt>
    <dgm:pt modelId="{48E1D439-2774-4A80-A90B-EB3F96709834}" type="pres">
      <dgm:prSet presAssocID="{A7EE56D3-FA17-4A22-BFFB-39089143E53A}" presName="conn2-1" presStyleLbl="parChTrans1D2" presStyleIdx="1" presStyleCnt="3"/>
      <dgm:spPr/>
      <dgm:t>
        <a:bodyPr/>
        <a:lstStyle/>
        <a:p>
          <a:endParaRPr lang="es-ES"/>
        </a:p>
      </dgm:t>
    </dgm:pt>
    <dgm:pt modelId="{7F7A48EA-F20E-4776-BCDB-C347BDDDEF68}" type="pres">
      <dgm:prSet presAssocID="{A7EE56D3-FA17-4A22-BFFB-39089143E53A}" presName="connTx" presStyleLbl="parChTrans1D2" presStyleIdx="1" presStyleCnt="3"/>
      <dgm:spPr/>
      <dgm:t>
        <a:bodyPr/>
        <a:lstStyle/>
        <a:p>
          <a:endParaRPr lang="es-ES"/>
        </a:p>
      </dgm:t>
    </dgm:pt>
    <dgm:pt modelId="{44229813-B2ED-496F-A6C6-427061D33A9F}" type="pres">
      <dgm:prSet presAssocID="{F1950FFD-3511-4C13-BC16-67E21A23BFCA}" presName="root2" presStyleCnt="0"/>
      <dgm:spPr/>
    </dgm:pt>
    <dgm:pt modelId="{A96D4B66-325E-4F63-A51D-1613CDF906D8}" type="pres">
      <dgm:prSet presAssocID="{F1950FFD-3511-4C13-BC16-67E21A23BFCA}" presName="LevelTwoTextNode" presStyleLbl="node2" presStyleIdx="1" presStyleCnt="3">
        <dgm:presLayoutVars>
          <dgm:chPref val="3"/>
        </dgm:presLayoutVars>
      </dgm:prSet>
      <dgm:spPr/>
      <dgm:t>
        <a:bodyPr/>
        <a:lstStyle/>
        <a:p>
          <a:endParaRPr lang="es-ES"/>
        </a:p>
      </dgm:t>
    </dgm:pt>
    <dgm:pt modelId="{ED0280D0-88B9-4AA0-942A-BABBBC52AE37}" type="pres">
      <dgm:prSet presAssocID="{F1950FFD-3511-4C13-BC16-67E21A23BFCA}" presName="level3hierChild" presStyleCnt="0"/>
      <dgm:spPr/>
    </dgm:pt>
    <dgm:pt modelId="{682D7694-05D7-4591-85C6-2ED9EF0522AE}" type="pres">
      <dgm:prSet presAssocID="{71E78B7F-AD32-4DD6-8542-687A72327319}" presName="conn2-1" presStyleLbl="parChTrans1D2" presStyleIdx="2" presStyleCnt="3"/>
      <dgm:spPr/>
      <dgm:t>
        <a:bodyPr/>
        <a:lstStyle/>
        <a:p>
          <a:endParaRPr lang="es-ES"/>
        </a:p>
      </dgm:t>
    </dgm:pt>
    <dgm:pt modelId="{91B0A8C1-EAC3-4D12-A09A-1B6ED38D3FBE}" type="pres">
      <dgm:prSet presAssocID="{71E78B7F-AD32-4DD6-8542-687A72327319}" presName="connTx" presStyleLbl="parChTrans1D2" presStyleIdx="2" presStyleCnt="3"/>
      <dgm:spPr/>
      <dgm:t>
        <a:bodyPr/>
        <a:lstStyle/>
        <a:p>
          <a:endParaRPr lang="es-ES"/>
        </a:p>
      </dgm:t>
    </dgm:pt>
    <dgm:pt modelId="{7894E385-A801-4315-A6CB-B12C5B867A3A}" type="pres">
      <dgm:prSet presAssocID="{6123B7FD-3BE0-4A6F-8538-4BE2683969D8}" presName="root2" presStyleCnt="0"/>
      <dgm:spPr/>
    </dgm:pt>
    <dgm:pt modelId="{F66D79A3-0E64-4140-9FCE-11B06CC4CAB9}" type="pres">
      <dgm:prSet presAssocID="{6123B7FD-3BE0-4A6F-8538-4BE2683969D8}" presName="LevelTwoTextNode" presStyleLbl="node2" presStyleIdx="2" presStyleCnt="3" custLinFactNeighborX="-866" custLinFactNeighborY="11636">
        <dgm:presLayoutVars>
          <dgm:chPref val="3"/>
        </dgm:presLayoutVars>
      </dgm:prSet>
      <dgm:spPr/>
      <dgm:t>
        <a:bodyPr/>
        <a:lstStyle/>
        <a:p>
          <a:endParaRPr lang="es-BO"/>
        </a:p>
      </dgm:t>
    </dgm:pt>
    <dgm:pt modelId="{8662C4C5-8C41-40B6-9DF1-6A572D2D3381}" type="pres">
      <dgm:prSet presAssocID="{6123B7FD-3BE0-4A6F-8538-4BE2683969D8}" presName="level3hierChild" presStyleCnt="0"/>
      <dgm:spPr/>
    </dgm:pt>
  </dgm:ptLst>
  <dgm:cxnLst>
    <dgm:cxn modelId="{C47F10C9-1459-4207-8565-286B83CD3B06}" srcId="{5A490228-128B-4BB3-9485-3F5289E9847A}" destId="{F1950FFD-3511-4C13-BC16-67E21A23BFCA}" srcOrd="1" destOrd="0" parTransId="{A7EE56D3-FA17-4A22-BFFB-39089143E53A}" sibTransId="{D52AC3F8-F970-4C63-A858-43F5946F929E}"/>
    <dgm:cxn modelId="{8A7E431B-7ABF-4693-ABEA-821876969152}" type="presOf" srcId="{6123B7FD-3BE0-4A6F-8538-4BE2683969D8}" destId="{F66D79A3-0E64-4140-9FCE-11B06CC4CAB9}" srcOrd="0" destOrd="0" presId="urn:microsoft.com/office/officeart/2005/8/layout/hierarchy2"/>
    <dgm:cxn modelId="{BEED4AF5-3424-40EB-9EF0-86DCC708F849}" srcId="{6FFE6590-BB26-4646-80AE-FF8A4C0AB837}" destId="{5A490228-128B-4BB3-9485-3F5289E9847A}" srcOrd="0" destOrd="0" parTransId="{DD78C7A0-27D5-48DB-89BE-F78BE6F3DE89}" sibTransId="{2D761BA9-BA9A-4C31-944C-6F6229148773}"/>
    <dgm:cxn modelId="{C8E418D6-DDBD-4CB2-8838-7DEC59886EF2}" type="presOf" srcId="{A7EE56D3-FA17-4A22-BFFB-39089143E53A}" destId="{7F7A48EA-F20E-4776-BCDB-C347BDDDEF68}" srcOrd="1" destOrd="0" presId="urn:microsoft.com/office/officeart/2005/8/layout/hierarchy2"/>
    <dgm:cxn modelId="{595505CC-1506-48F2-9D45-49CAE4E511AE}" type="presOf" srcId="{A7EE56D3-FA17-4A22-BFFB-39089143E53A}" destId="{48E1D439-2774-4A80-A90B-EB3F96709834}" srcOrd="0" destOrd="0" presId="urn:microsoft.com/office/officeart/2005/8/layout/hierarchy2"/>
    <dgm:cxn modelId="{CB68B2FA-E94B-4C23-BFD5-7CBC9001D65B}" type="presOf" srcId="{71E78B7F-AD32-4DD6-8542-687A72327319}" destId="{91B0A8C1-EAC3-4D12-A09A-1B6ED38D3FBE}" srcOrd="1" destOrd="0" presId="urn:microsoft.com/office/officeart/2005/8/layout/hierarchy2"/>
    <dgm:cxn modelId="{726BED58-D194-4AA1-AAD9-CF9230ADE54C}" type="presOf" srcId="{6FFE6590-BB26-4646-80AE-FF8A4C0AB837}" destId="{68DDE0F5-8607-439B-81FD-7E53AA7EAB79}" srcOrd="0" destOrd="0" presId="urn:microsoft.com/office/officeart/2005/8/layout/hierarchy2"/>
    <dgm:cxn modelId="{284055CD-3E65-45E5-87B0-7DF57BE7C347}" type="presOf" srcId="{5B004BF2-5D7E-42E3-8D9A-35C863233DE6}" destId="{859D8B74-8038-471D-9316-D5EDA8ED893E}" srcOrd="0" destOrd="0" presId="urn:microsoft.com/office/officeart/2005/8/layout/hierarchy2"/>
    <dgm:cxn modelId="{F2D7ECA6-921E-4386-9E64-EEC43030DB3B}" type="presOf" srcId="{5A490228-128B-4BB3-9485-3F5289E9847A}" destId="{A645AE29-7C90-44E5-94AA-CBC96318E7C0}" srcOrd="0" destOrd="0" presId="urn:microsoft.com/office/officeart/2005/8/layout/hierarchy2"/>
    <dgm:cxn modelId="{3BA11758-6B18-42AB-9AF3-05461671E04F}" type="presOf" srcId="{F1950FFD-3511-4C13-BC16-67E21A23BFCA}" destId="{A96D4B66-325E-4F63-A51D-1613CDF906D8}" srcOrd="0" destOrd="0" presId="urn:microsoft.com/office/officeart/2005/8/layout/hierarchy2"/>
    <dgm:cxn modelId="{670E02BF-6917-4BA3-ADC2-05BDEA0A40B8}" srcId="{5A490228-128B-4BB3-9485-3F5289E9847A}" destId="{6123B7FD-3BE0-4A6F-8538-4BE2683969D8}" srcOrd="2" destOrd="0" parTransId="{71E78B7F-AD32-4DD6-8542-687A72327319}" sibTransId="{60F745F0-549D-4EAC-AE75-906599F5A375}"/>
    <dgm:cxn modelId="{D2A4E0F4-13D5-4468-83D3-9DE30EF841E9}" type="presOf" srcId="{9906725B-6B69-4755-BC23-A4FB874FA158}" destId="{73580772-D303-4039-8D4E-02025D337DC6}" srcOrd="1" destOrd="0" presId="urn:microsoft.com/office/officeart/2005/8/layout/hierarchy2"/>
    <dgm:cxn modelId="{9033E794-3B8F-4494-AF36-461792CB93EC}" type="presOf" srcId="{5B004BF2-5D7E-42E3-8D9A-35C863233DE6}" destId="{622CD030-7440-4170-8AEA-FEE27AACF73D}" srcOrd="1" destOrd="0" presId="urn:microsoft.com/office/officeart/2005/8/layout/hierarchy2"/>
    <dgm:cxn modelId="{0ED73C08-2738-41E5-8EC6-19D9DD1DDEEE}" type="presOf" srcId="{71E78B7F-AD32-4DD6-8542-687A72327319}" destId="{682D7694-05D7-4591-85C6-2ED9EF0522AE}" srcOrd="0" destOrd="0" presId="urn:microsoft.com/office/officeart/2005/8/layout/hierarchy2"/>
    <dgm:cxn modelId="{A43FCDF9-BCFC-4F48-B8AC-02B192954F9A}" srcId="{6D7C0FD8-676F-4A61-B0A8-DF5CE5FF9AF4}" destId="{8365C866-AE5F-499D-BA09-B3E6140C442B}" srcOrd="0" destOrd="0" parTransId="{5B004BF2-5D7E-42E3-8D9A-35C863233DE6}" sibTransId="{BD64471D-875D-4B74-A11F-25C8CD18A57D}"/>
    <dgm:cxn modelId="{CB5C0BB8-C8BC-415E-AA55-D81730D392A2}" srcId="{5A490228-128B-4BB3-9485-3F5289E9847A}" destId="{6D7C0FD8-676F-4A61-B0A8-DF5CE5FF9AF4}" srcOrd="0" destOrd="0" parTransId="{9906725B-6B69-4755-BC23-A4FB874FA158}" sibTransId="{C3D7D785-E4F4-440D-B435-E8F33FCB97D1}"/>
    <dgm:cxn modelId="{9ED9FB6D-C1CA-4A3E-B4B9-3EA78D54C074}" type="presOf" srcId="{6D7C0FD8-676F-4A61-B0A8-DF5CE5FF9AF4}" destId="{F579067A-BC47-40EB-8784-2E2A2186A07A}" srcOrd="0" destOrd="0" presId="urn:microsoft.com/office/officeart/2005/8/layout/hierarchy2"/>
    <dgm:cxn modelId="{43E42730-4B39-4D99-8335-81F6C211EDD8}" type="presOf" srcId="{9906725B-6B69-4755-BC23-A4FB874FA158}" destId="{E1167B24-A3A2-482E-A3A6-D6375284A69D}" srcOrd="0" destOrd="0" presId="urn:microsoft.com/office/officeart/2005/8/layout/hierarchy2"/>
    <dgm:cxn modelId="{7F823A07-7CD6-4539-8773-42D556B3C295}" type="presOf" srcId="{8365C866-AE5F-499D-BA09-B3E6140C442B}" destId="{6FDBBD1C-36C9-4945-8283-DFA796830CB8}" srcOrd="0" destOrd="0" presId="urn:microsoft.com/office/officeart/2005/8/layout/hierarchy2"/>
    <dgm:cxn modelId="{2ECFD1F3-3225-48FF-9D51-0AC37FB34DBD}" type="presParOf" srcId="{68DDE0F5-8607-439B-81FD-7E53AA7EAB79}" destId="{9DFF3AFD-8095-4CB1-AEAF-E4133A66E711}" srcOrd="0" destOrd="0" presId="urn:microsoft.com/office/officeart/2005/8/layout/hierarchy2"/>
    <dgm:cxn modelId="{06DBB48F-4D5A-4E1B-89AB-969A1E8E27B1}" type="presParOf" srcId="{9DFF3AFD-8095-4CB1-AEAF-E4133A66E711}" destId="{A645AE29-7C90-44E5-94AA-CBC96318E7C0}" srcOrd="0" destOrd="0" presId="urn:microsoft.com/office/officeart/2005/8/layout/hierarchy2"/>
    <dgm:cxn modelId="{AE265FF4-7496-496E-AFC3-46DA3C7CC010}" type="presParOf" srcId="{9DFF3AFD-8095-4CB1-AEAF-E4133A66E711}" destId="{2C91860C-B8FD-4E1F-9B09-28278B55803E}" srcOrd="1" destOrd="0" presId="urn:microsoft.com/office/officeart/2005/8/layout/hierarchy2"/>
    <dgm:cxn modelId="{F99E4A22-5213-4DD4-BE1A-204E75FDFBD2}" type="presParOf" srcId="{2C91860C-B8FD-4E1F-9B09-28278B55803E}" destId="{E1167B24-A3A2-482E-A3A6-D6375284A69D}" srcOrd="0" destOrd="0" presId="urn:microsoft.com/office/officeart/2005/8/layout/hierarchy2"/>
    <dgm:cxn modelId="{36B37416-13D9-44CB-BD0F-0668A7DBA568}" type="presParOf" srcId="{E1167B24-A3A2-482E-A3A6-D6375284A69D}" destId="{73580772-D303-4039-8D4E-02025D337DC6}" srcOrd="0" destOrd="0" presId="urn:microsoft.com/office/officeart/2005/8/layout/hierarchy2"/>
    <dgm:cxn modelId="{20C3C81B-837D-4502-BD90-957DA24BB843}" type="presParOf" srcId="{2C91860C-B8FD-4E1F-9B09-28278B55803E}" destId="{E44A0E89-3B67-47EB-A731-EDAFCF77A979}" srcOrd="1" destOrd="0" presId="urn:microsoft.com/office/officeart/2005/8/layout/hierarchy2"/>
    <dgm:cxn modelId="{54C40919-DC4B-47B0-A4BB-2C7ABC70EAD4}" type="presParOf" srcId="{E44A0E89-3B67-47EB-A731-EDAFCF77A979}" destId="{F579067A-BC47-40EB-8784-2E2A2186A07A}" srcOrd="0" destOrd="0" presId="urn:microsoft.com/office/officeart/2005/8/layout/hierarchy2"/>
    <dgm:cxn modelId="{2FDF6B02-8AD6-425E-9650-0FE1B65FCF5D}" type="presParOf" srcId="{E44A0E89-3B67-47EB-A731-EDAFCF77A979}" destId="{F6432BCB-26F1-427C-B4E0-A4037D78B704}" srcOrd="1" destOrd="0" presId="urn:microsoft.com/office/officeart/2005/8/layout/hierarchy2"/>
    <dgm:cxn modelId="{513750DD-E37F-4E90-B794-D2370B476E19}" type="presParOf" srcId="{F6432BCB-26F1-427C-B4E0-A4037D78B704}" destId="{859D8B74-8038-471D-9316-D5EDA8ED893E}" srcOrd="0" destOrd="0" presId="urn:microsoft.com/office/officeart/2005/8/layout/hierarchy2"/>
    <dgm:cxn modelId="{5D23D22F-0844-4DD9-BA04-F61E7C9AF60C}" type="presParOf" srcId="{859D8B74-8038-471D-9316-D5EDA8ED893E}" destId="{622CD030-7440-4170-8AEA-FEE27AACF73D}" srcOrd="0" destOrd="0" presId="urn:microsoft.com/office/officeart/2005/8/layout/hierarchy2"/>
    <dgm:cxn modelId="{3006F22C-D1A9-43C2-8568-BA001CDEC04D}" type="presParOf" srcId="{F6432BCB-26F1-427C-B4E0-A4037D78B704}" destId="{7AF1CA49-05D0-4EEA-9DE9-F7017CAAE9DB}" srcOrd="1" destOrd="0" presId="urn:microsoft.com/office/officeart/2005/8/layout/hierarchy2"/>
    <dgm:cxn modelId="{B095283A-AE65-43BC-A061-93C61DDD3D9F}" type="presParOf" srcId="{7AF1CA49-05D0-4EEA-9DE9-F7017CAAE9DB}" destId="{6FDBBD1C-36C9-4945-8283-DFA796830CB8}" srcOrd="0" destOrd="0" presId="urn:microsoft.com/office/officeart/2005/8/layout/hierarchy2"/>
    <dgm:cxn modelId="{FF4282A8-7B83-438A-8013-61AA12EE582D}" type="presParOf" srcId="{7AF1CA49-05D0-4EEA-9DE9-F7017CAAE9DB}" destId="{1AAF982E-690B-498E-A4AA-14A79FB3461F}" srcOrd="1" destOrd="0" presId="urn:microsoft.com/office/officeart/2005/8/layout/hierarchy2"/>
    <dgm:cxn modelId="{33E92C18-8901-49F9-ABF0-B2C5B9EFE56D}" type="presParOf" srcId="{2C91860C-B8FD-4E1F-9B09-28278B55803E}" destId="{48E1D439-2774-4A80-A90B-EB3F96709834}" srcOrd="2" destOrd="0" presId="urn:microsoft.com/office/officeart/2005/8/layout/hierarchy2"/>
    <dgm:cxn modelId="{034A3BD9-4450-4C6A-8648-115FDAEC47D6}" type="presParOf" srcId="{48E1D439-2774-4A80-A90B-EB3F96709834}" destId="{7F7A48EA-F20E-4776-BCDB-C347BDDDEF68}" srcOrd="0" destOrd="0" presId="urn:microsoft.com/office/officeart/2005/8/layout/hierarchy2"/>
    <dgm:cxn modelId="{14FECA65-03D9-4FF2-8EFB-6ACB0B036EEF}" type="presParOf" srcId="{2C91860C-B8FD-4E1F-9B09-28278B55803E}" destId="{44229813-B2ED-496F-A6C6-427061D33A9F}" srcOrd="3" destOrd="0" presId="urn:microsoft.com/office/officeart/2005/8/layout/hierarchy2"/>
    <dgm:cxn modelId="{7C751DA3-C06A-4E68-B90C-8CC3E7B3C2D9}" type="presParOf" srcId="{44229813-B2ED-496F-A6C6-427061D33A9F}" destId="{A96D4B66-325E-4F63-A51D-1613CDF906D8}" srcOrd="0" destOrd="0" presId="urn:microsoft.com/office/officeart/2005/8/layout/hierarchy2"/>
    <dgm:cxn modelId="{C9E60FA3-6BD8-43AF-8078-ABA9E8509047}" type="presParOf" srcId="{44229813-B2ED-496F-A6C6-427061D33A9F}" destId="{ED0280D0-88B9-4AA0-942A-BABBBC52AE37}" srcOrd="1" destOrd="0" presId="urn:microsoft.com/office/officeart/2005/8/layout/hierarchy2"/>
    <dgm:cxn modelId="{1CBBC53B-FECE-403D-A526-A4B75F73AF72}" type="presParOf" srcId="{2C91860C-B8FD-4E1F-9B09-28278B55803E}" destId="{682D7694-05D7-4591-85C6-2ED9EF0522AE}" srcOrd="4" destOrd="0" presId="urn:microsoft.com/office/officeart/2005/8/layout/hierarchy2"/>
    <dgm:cxn modelId="{897C40E4-CC33-4964-B019-01C631EE7B86}" type="presParOf" srcId="{682D7694-05D7-4591-85C6-2ED9EF0522AE}" destId="{91B0A8C1-EAC3-4D12-A09A-1B6ED38D3FBE}" srcOrd="0" destOrd="0" presId="urn:microsoft.com/office/officeart/2005/8/layout/hierarchy2"/>
    <dgm:cxn modelId="{0F206B5B-A109-4115-B83A-36B4AD46D4BB}" type="presParOf" srcId="{2C91860C-B8FD-4E1F-9B09-28278B55803E}" destId="{7894E385-A801-4315-A6CB-B12C5B867A3A}" srcOrd="5" destOrd="0" presId="urn:microsoft.com/office/officeart/2005/8/layout/hierarchy2"/>
    <dgm:cxn modelId="{A1CE91BA-B82C-4B4A-ABCC-54E356D2F1B8}" type="presParOf" srcId="{7894E385-A801-4315-A6CB-B12C5B867A3A}" destId="{F66D79A3-0E64-4140-9FCE-11B06CC4CAB9}" srcOrd="0" destOrd="0" presId="urn:microsoft.com/office/officeart/2005/8/layout/hierarchy2"/>
    <dgm:cxn modelId="{96841FF7-B9DB-4B2F-BB6E-B01DE2054B6E}" type="presParOf" srcId="{7894E385-A801-4315-A6CB-B12C5B867A3A}" destId="{8662C4C5-8C41-40B6-9DF1-6A572D2D3381}" srcOrd="1" destOrd="0" presId="urn:microsoft.com/office/officeart/2005/8/layout/hierarchy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889CBF-F09D-4FC8-8DDD-0909D418CCE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BO"/>
        </a:p>
      </dgm:t>
    </dgm:pt>
    <dgm:pt modelId="{87867F2E-7ADB-46FE-B9CF-B712C2C05501}">
      <dgm:prSet phldrT="[Texto]"/>
      <dgm:spPr/>
      <dgm:t>
        <a:bodyPr/>
        <a:lstStyle/>
        <a:p>
          <a:r>
            <a:rPr lang="es-BO" dirty="0" smtClean="0"/>
            <a:t>SNP</a:t>
          </a:r>
          <a:endParaRPr lang="es-BO" dirty="0"/>
        </a:p>
      </dgm:t>
    </dgm:pt>
    <dgm:pt modelId="{981327B6-8B73-4CE0-AB6F-15E69251E657}" type="parTrans" cxnId="{153A81DC-18B5-4C5A-84DA-3B35C5CE74CD}">
      <dgm:prSet/>
      <dgm:spPr/>
      <dgm:t>
        <a:bodyPr/>
        <a:lstStyle/>
        <a:p>
          <a:endParaRPr lang="es-BO"/>
        </a:p>
      </dgm:t>
    </dgm:pt>
    <dgm:pt modelId="{39974760-D634-4E4E-9D93-4D7BCBBF17CA}" type="sibTrans" cxnId="{153A81DC-18B5-4C5A-84DA-3B35C5CE74CD}">
      <dgm:prSet/>
      <dgm:spPr/>
      <dgm:t>
        <a:bodyPr/>
        <a:lstStyle/>
        <a:p>
          <a:endParaRPr lang="es-BO"/>
        </a:p>
      </dgm:t>
    </dgm:pt>
    <dgm:pt modelId="{D766F425-7FEF-4ABC-B4C2-5107A1E23EAB}">
      <dgm:prSet phldrT="[Texto]"/>
      <dgm:spPr/>
      <dgm:t>
        <a:bodyPr/>
        <a:lstStyle/>
        <a:p>
          <a:r>
            <a:rPr lang="es-BO" dirty="0" smtClean="0"/>
            <a:t>SN SUMATICO</a:t>
          </a:r>
          <a:endParaRPr lang="es-BO" dirty="0"/>
        </a:p>
      </dgm:t>
    </dgm:pt>
    <dgm:pt modelId="{6CB6FE79-6D0D-40A9-8F1F-8721412C81B7}" type="parTrans" cxnId="{4C99D05C-2992-40B3-9452-197A1816C1E2}">
      <dgm:prSet/>
      <dgm:spPr/>
      <dgm:t>
        <a:bodyPr/>
        <a:lstStyle/>
        <a:p>
          <a:endParaRPr lang="es-BO"/>
        </a:p>
      </dgm:t>
    </dgm:pt>
    <dgm:pt modelId="{4D963151-970A-468D-B80B-15DE705DE58D}" type="sibTrans" cxnId="{4C99D05C-2992-40B3-9452-197A1816C1E2}">
      <dgm:prSet/>
      <dgm:spPr/>
      <dgm:t>
        <a:bodyPr/>
        <a:lstStyle/>
        <a:p>
          <a:endParaRPr lang="es-BO"/>
        </a:p>
      </dgm:t>
    </dgm:pt>
    <dgm:pt modelId="{0733E825-75CF-45ED-A552-236E70624337}">
      <dgm:prSet phldrT="[Texto]"/>
      <dgm:spPr/>
      <dgm:t>
        <a:bodyPr/>
        <a:lstStyle/>
        <a:p>
          <a:r>
            <a:rPr lang="es-BO" dirty="0" smtClean="0"/>
            <a:t>NEURONAS SENSITIVAS, LLEVAN INFORMACION DESDE LOS RECEPTORES CUTANEOS Y SENTIDOS ESPECIALES FUNDAMENTALMENTE DESDE LA CABEZA</a:t>
          </a:r>
          <a:endParaRPr lang="es-BO" dirty="0"/>
        </a:p>
      </dgm:t>
    </dgm:pt>
    <dgm:pt modelId="{03FEDD91-1E03-4B09-BC16-4B9FA55044B5}" type="parTrans" cxnId="{AE030178-F37D-4C91-8986-69844A2FF9E2}">
      <dgm:prSet/>
      <dgm:spPr/>
      <dgm:t>
        <a:bodyPr/>
        <a:lstStyle/>
        <a:p>
          <a:endParaRPr lang="es-BO"/>
        </a:p>
      </dgm:t>
    </dgm:pt>
    <dgm:pt modelId="{B478F60E-A92F-4973-BF98-196B76D59595}" type="sibTrans" cxnId="{AE030178-F37D-4C91-8986-69844A2FF9E2}">
      <dgm:prSet/>
      <dgm:spPr/>
      <dgm:t>
        <a:bodyPr/>
        <a:lstStyle/>
        <a:p>
          <a:endParaRPr lang="es-BO"/>
        </a:p>
      </dgm:t>
    </dgm:pt>
    <dgm:pt modelId="{01A4D1AE-17AB-4D04-8B06-E88CC1A01543}">
      <dgm:prSet phldrT="[Texto]"/>
      <dgm:spPr/>
      <dgm:t>
        <a:bodyPr/>
        <a:lstStyle/>
        <a:p>
          <a:r>
            <a:rPr lang="es-BO" dirty="0" smtClean="0"/>
            <a:t>SN AUTONOMO</a:t>
          </a:r>
          <a:endParaRPr lang="es-BO" dirty="0"/>
        </a:p>
      </dgm:t>
    </dgm:pt>
    <dgm:pt modelId="{B0B7B1E4-8B9E-4CCB-ABE6-060F30ED57F9}" type="parTrans" cxnId="{1FC91D7B-6674-4992-9F62-5226B4C9B12D}">
      <dgm:prSet/>
      <dgm:spPr/>
      <dgm:t>
        <a:bodyPr/>
        <a:lstStyle/>
        <a:p>
          <a:endParaRPr lang="es-BO"/>
        </a:p>
      </dgm:t>
    </dgm:pt>
    <dgm:pt modelId="{FCF77E15-42AD-4CCD-B40F-C16B0243C3AC}" type="sibTrans" cxnId="{1FC91D7B-6674-4992-9F62-5226B4C9B12D}">
      <dgm:prSet/>
      <dgm:spPr/>
      <dgm:t>
        <a:bodyPr/>
        <a:lstStyle/>
        <a:p>
          <a:endParaRPr lang="es-BO"/>
        </a:p>
      </dgm:t>
    </dgm:pt>
    <dgm:pt modelId="{2E78625E-923A-4088-A772-1B04D2F8EA9D}">
      <dgm:prSet phldrT="[Texto]"/>
      <dgm:spPr/>
      <dgm:t>
        <a:bodyPr/>
        <a:lstStyle/>
        <a:p>
          <a:r>
            <a:rPr lang="es-BO" dirty="0" smtClean="0"/>
            <a:t>LLEVAN INFORMACION DESDE LAS VICERAS HASTA EL SNC Y LAS CUALES LLEVAN INFORMACION DESDE EL SNC HASTA EL SISTEMA MUSCULOESQUELETCO</a:t>
          </a:r>
        </a:p>
        <a:p>
          <a:endParaRPr lang="es-BO" dirty="0"/>
        </a:p>
      </dgm:t>
    </dgm:pt>
    <dgm:pt modelId="{EE3898E1-9C97-4387-B50D-E068EA7534CC}" type="parTrans" cxnId="{AE0C6C16-78EC-4585-AFF0-FA96E0F2DDD1}">
      <dgm:prSet/>
      <dgm:spPr/>
      <dgm:t>
        <a:bodyPr/>
        <a:lstStyle/>
        <a:p>
          <a:endParaRPr lang="es-BO"/>
        </a:p>
      </dgm:t>
    </dgm:pt>
    <dgm:pt modelId="{E018F1F5-E84D-41FE-8C3B-495229DC3504}" type="sibTrans" cxnId="{AE0C6C16-78EC-4585-AFF0-FA96E0F2DDD1}">
      <dgm:prSet/>
      <dgm:spPr/>
      <dgm:t>
        <a:bodyPr/>
        <a:lstStyle/>
        <a:p>
          <a:endParaRPr lang="es-BO"/>
        </a:p>
      </dgm:t>
    </dgm:pt>
    <dgm:pt modelId="{72F0B8BE-3724-4FB5-BC89-77CEF06D0790}" type="pres">
      <dgm:prSet presAssocID="{7B889CBF-F09D-4FC8-8DDD-0909D418CCE9}" presName="diagram" presStyleCnt="0">
        <dgm:presLayoutVars>
          <dgm:chPref val="1"/>
          <dgm:dir/>
          <dgm:animOne val="branch"/>
          <dgm:animLvl val="lvl"/>
          <dgm:resizeHandles val="exact"/>
        </dgm:presLayoutVars>
      </dgm:prSet>
      <dgm:spPr/>
      <dgm:t>
        <a:bodyPr/>
        <a:lstStyle/>
        <a:p>
          <a:endParaRPr lang="es-ES"/>
        </a:p>
      </dgm:t>
    </dgm:pt>
    <dgm:pt modelId="{B960C7A9-2DC8-44F3-8F61-2058A0888930}" type="pres">
      <dgm:prSet presAssocID="{87867F2E-7ADB-46FE-B9CF-B712C2C05501}" presName="root1" presStyleCnt="0"/>
      <dgm:spPr/>
    </dgm:pt>
    <dgm:pt modelId="{43146A84-B3BC-4311-9652-44F015B0C8E5}" type="pres">
      <dgm:prSet presAssocID="{87867F2E-7ADB-46FE-B9CF-B712C2C05501}" presName="LevelOneTextNode" presStyleLbl="node0" presStyleIdx="0" presStyleCnt="1" custScaleX="54053">
        <dgm:presLayoutVars>
          <dgm:chPref val="3"/>
        </dgm:presLayoutVars>
      </dgm:prSet>
      <dgm:spPr/>
      <dgm:t>
        <a:bodyPr/>
        <a:lstStyle/>
        <a:p>
          <a:endParaRPr lang="es-ES"/>
        </a:p>
      </dgm:t>
    </dgm:pt>
    <dgm:pt modelId="{6574DEB7-2DBA-4C5D-817C-ED340A57F41D}" type="pres">
      <dgm:prSet presAssocID="{87867F2E-7ADB-46FE-B9CF-B712C2C05501}" presName="level2hierChild" presStyleCnt="0"/>
      <dgm:spPr/>
    </dgm:pt>
    <dgm:pt modelId="{83B41998-A55E-4E3A-8821-FAD741D86987}" type="pres">
      <dgm:prSet presAssocID="{6CB6FE79-6D0D-40A9-8F1F-8721412C81B7}" presName="conn2-1" presStyleLbl="parChTrans1D2" presStyleIdx="0" presStyleCnt="2"/>
      <dgm:spPr/>
      <dgm:t>
        <a:bodyPr/>
        <a:lstStyle/>
        <a:p>
          <a:endParaRPr lang="es-ES"/>
        </a:p>
      </dgm:t>
    </dgm:pt>
    <dgm:pt modelId="{3E8DFB56-385B-4675-87A5-2E73BE7D802A}" type="pres">
      <dgm:prSet presAssocID="{6CB6FE79-6D0D-40A9-8F1F-8721412C81B7}" presName="connTx" presStyleLbl="parChTrans1D2" presStyleIdx="0" presStyleCnt="2"/>
      <dgm:spPr/>
      <dgm:t>
        <a:bodyPr/>
        <a:lstStyle/>
        <a:p>
          <a:endParaRPr lang="es-ES"/>
        </a:p>
      </dgm:t>
    </dgm:pt>
    <dgm:pt modelId="{EC982684-9A88-4D90-91E9-D23D6DBA8684}" type="pres">
      <dgm:prSet presAssocID="{D766F425-7FEF-4ABC-B4C2-5107A1E23EAB}" presName="root2" presStyleCnt="0"/>
      <dgm:spPr/>
    </dgm:pt>
    <dgm:pt modelId="{1FD3709F-4506-4276-9CF3-BE1B780AEF6A}" type="pres">
      <dgm:prSet presAssocID="{D766F425-7FEF-4ABC-B4C2-5107A1E23EAB}" presName="LevelTwoTextNode" presStyleLbl="node2" presStyleIdx="0" presStyleCnt="2" custScaleX="67043">
        <dgm:presLayoutVars>
          <dgm:chPref val="3"/>
        </dgm:presLayoutVars>
      </dgm:prSet>
      <dgm:spPr/>
      <dgm:t>
        <a:bodyPr/>
        <a:lstStyle/>
        <a:p>
          <a:endParaRPr lang="es-ES"/>
        </a:p>
      </dgm:t>
    </dgm:pt>
    <dgm:pt modelId="{C0A4D90F-9601-4113-AA61-C8ED0DD97CBE}" type="pres">
      <dgm:prSet presAssocID="{D766F425-7FEF-4ABC-B4C2-5107A1E23EAB}" presName="level3hierChild" presStyleCnt="0"/>
      <dgm:spPr/>
    </dgm:pt>
    <dgm:pt modelId="{279C4929-1066-41C6-8923-78A7DC9E8032}" type="pres">
      <dgm:prSet presAssocID="{03FEDD91-1E03-4B09-BC16-4B9FA55044B5}" presName="conn2-1" presStyleLbl="parChTrans1D3" presStyleIdx="0" presStyleCnt="2"/>
      <dgm:spPr/>
      <dgm:t>
        <a:bodyPr/>
        <a:lstStyle/>
        <a:p>
          <a:endParaRPr lang="es-ES"/>
        </a:p>
      </dgm:t>
    </dgm:pt>
    <dgm:pt modelId="{F3A8F65E-99D4-4CD3-A1D6-99ACB6E6EA99}" type="pres">
      <dgm:prSet presAssocID="{03FEDD91-1E03-4B09-BC16-4B9FA55044B5}" presName="connTx" presStyleLbl="parChTrans1D3" presStyleIdx="0" presStyleCnt="2"/>
      <dgm:spPr/>
      <dgm:t>
        <a:bodyPr/>
        <a:lstStyle/>
        <a:p>
          <a:endParaRPr lang="es-ES"/>
        </a:p>
      </dgm:t>
    </dgm:pt>
    <dgm:pt modelId="{D32DFFE1-F552-4970-8AEE-08EA8301EA2E}" type="pres">
      <dgm:prSet presAssocID="{0733E825-75CF-45ED-A552-236E70624337}" presName="root2" presStyleCnt="0"/>
      <dgm:spPr/>
    </dgm:pt>
    <dgm:pt modelId="{777DD7B9-5B3A-4A89-8147-E44FEA414A18}" type="pres">
      <dgm:prSet presAssocID="{0733E825-75CF-45ED-A552-236E70624337}" presName="LevelTwoTextNode" presStyleLbl="node3" presStyleIdx="0" presStyleCnt="2" custScaleY="166490">
        <dgm:presLayoutVars>
          <dgm:chPref val="3"/>
        </dgm:presLayoutVars>
      </dgm:prSet>
      <dgm:spPr/>
      <dgm:t>
        <a:bodyPr/>
        <a:lstStyle/>
        <a:p>
          <a:endParaRPr lang="es-BO"/>
        </a:p>
      </dgm:t>
    </dgm:pt>
    <dgm:pt modelId="{4D9A37E7-3D9B-4104-BF79-0130D32354EB}" type="pres">
      <dgm:prSet presAssocID="{0733E825-75CF-45ED-A552-236E70624337}" presName="level3hierChild" presStyleCnt="0"/>
      <dgm:spPr/>
    </dgm:pt>
    <dgm:pt modelId="{3895EF9C-2215-4031-B2A9-F50ACE651E92}" type="pres">
      <dgm:prSet presAssocID="{B0B7B1E4-8B9E-4CCB-ABE6-060F30ED57F9}" presName="conn2-1" presStyleLbl="parChTrans1D2" presStyleIdx="1" presStyleCnt="2"/>
      <dgm:spPr/>
      <dgm:t>
        <a:bodyPr/>
        <a:lstStyle/>
        <a:p>
          <a:endParaRPr lang="es-ES"/>
        </a:p>
      </dgm:t>
    </dgm:pt>
    <dgm:pt modelId="{7EACA371-A15F-49FE-8249-8E1A3547AD94}" type="pres">
      <dgm:prSet presAssocID="{B0B7B1E4-8B9E-4CCB-ABE6-060F30ED57F9}" presName="connTx" presStyleLbl="parChTrans1D2" presStyleIdx="1" presStyleCnt="2"/>
      <dgm:spPr/>
      <dgm:t>
        <a:bodyPr/>
        <a:lstStyle/>
        <a:p>
          <a:endParaRPr lang="es-ES"/>
        </a:p>
      </dgm:t>
    </dgm:pt>
    <dgm:pt modelId="{4583C6F0-3FC8-47E2-8BB5-5820CEFC6DA6}" type="pres">
      <dgm:prSet presAssocID="{01A4D1AE-17AB-4D04-8B06-E88CC1A01543}" presName="root2" presStyleCnt="0"/>
      <dgm:spPr/>
    </dgm:pt>
    <dgm:pt modelId="{E07C0BD2-224C-4BCA-985D-15368A3CC1F1}" type="pres">
      <dgm:prSet presAssocID="{01A4D1AE-17AB-4D04-8B06-E88CC1A01543}" presName="LevelTwoTextNode" presStyleLbl="node2" presStyleIdx="1" presStyleCnt="2" custScaleX="64478">
        <dgm:presLayoutVars>
          <dgm:chPref val="3"/>
        </dgm:presLayoutVars>
      </dgm:prSet>
      <dgm:spPr/>
      <dgm:t>
        <a:bodyPr/>
        <a:lstStyle/>
        <a:p>
          <a:endParaRPr lang="es-BO"/>
        </a:p>
      </dgm:t>
    </dgm:pt>
    <dgm:pt modelId="{C02E4221-9F51-4333-B001-84330FE2734C}" type="pres">
      <dgm:prSet presAssocID="{01A4D1AE-17AB-4D04-8B06-E88CC1A01543}" presName="level3hierChild" presStyleCnt="0"/>
      <dgm:spPr/>
    </dgm:pt>
    <dgm:pt modelId="{18ADADE4-A09B-4FE3-AAFD-AAC5CD3759CA}" type="pres">
      <dgm:prSet presAssocID="{EE3898E1-9C97-4387-B50D-E068EA7534CC}" presName="conn2-1" presStyleLbl="parChTrans1D3" presStyleIdx="1" presStyleCnt="2"/>
      <dgm:spPr/>
      <dgm:t>
        <a:bodyPr/>
        <a:lstStyle/>
        <a:p>
          <a:endParaRPr lang="es-ES"/>
        </a:p>
      </dgm:t>
    </dgm:pt>
    <dgm:pt modelId="{31F70776-2311-4240-B634-545CD423CCAD}" type="pres">
      <dgm:prSet presAssocID="{EE3898E1-9C97-4387-B50D-E068EA7534CC}" presName="connTx" presStyleLbl="parChTrans1D3" presStyleIdx="1" presStyleCnt="2"/>
      <dgm:spPr/>
      <dgm:t>
        <a:bodyPr/>
        <a:lstStyle/>
        <a:p>
          <a:endParaRPr lang="es-ES"/>
        </a:p>
      </dgm:t>
    </dgm:pt>
    <dgm:pt modelId="{E22A74D3-A54D-4E5F-839A-5C05B2263273}" type="pres">
      <dgm:prSet presAssocID="{2E78625E-923A-4088-A772-1B04D2F8EA9D}" presName="root2" presStyleCnt="0"/>
      <dgm:spPr/>
    </dgm:pt>
    <dgm:pt modelId="{2B667896-7B73-4239-B22D-60E09E6D4E95}" type="pres">
      <dgm:prSet presAssocID="{2E78625E-923A-4088-A772-1B04D2F8EA9D}" presName="LevelTwoTextNode" presStyleLbl="node3" presStyleIdx="1" presStyleCnt="2" custScaleY="168838">
        <dgm:presLayoutVars>
          <dgm:chPref val="3"/>
        </dgm:presLayoutVars>
      </dgm:prSet>
      <dgm:spPr/>
      <dgm:t>
        <a:bodyPr/>
        <a:lstStyle/>
        <a:p>
          <a:endParaRPr lang="es-BO"/>
        </a:p>
      </dgm:t>
    </dgm:pt>
    <dgm:pt modelId="{C3D0FD26-C653-4BFA-BB97-E1BE100AA4B6}" type="pres">
      <dgm:prSet presAssocID="{2E78625E-923A-4088-A772-1B04D2F8EA9D}" presName="level3hierChild" presStyleCnt="0"/>
      <dgm:spPr/>
    </dgm:pt>
  </dgm:ptLst>
  <dgm:cxnLst>
    <dgm:cxn modelId="{C55EF7BD-E02F-4FAC-B780-A4990828259C}" type="presOf" srcId="{D766F425-7FEF-4ABC-B4C2-5107A1E23EAB}" destId="{1FD3709F-4506-4276-9CF3-BE1B780AEF6A}" srcOrd="0" destOrd="0" presId="urn:microsoft.com/office/officeart/2005/8/layout/hierarchy2"/>
    <dgm:cxn modelId="{AE0C6C16-78EC-4585-AFF0-FA96E0F2DDD1}" srcId="{01A4D1AE-17AB-4D04-8B06-E88CC1A01543}" destId="{2E78625E-923A-4088-A772-1B04D2F8EA9D}" srcOrd="0" destOrd="0" parTransId="{EE3898E1-9C97-4387-B50D-E068EA7534CC}" sibTransId="{E018F1F5-E84D-41FE-8C3B-495229DC3504}"/>
    <dgm:cxn modelId="{02683B09-8050-4707-998A-B8426663DCCC}" type="presOf" srcId="{6CB6FE79-6D0D-40A9-8F1F-8721412C81B7}" destId="{3E8DFB56-385B-4675-87A5-2E73BE7D802A}" srcOrd="1" destOrd="0" presId="urn:microsoft.com/office/officeart/2005/8/layout/hierarchy2"/>
    <dgm:cxn modelId="{BB216487-1A28-494F-A41E-888A61D13F0D}" type="presOf" srcId="{B0B7B1E4-8B9E-4CCB-ABE6-060F30ED57F9}" destId="{3895EF9C-2215-4031-B2A9-F50ACE651E92}" srcOrd="0" destOrd="0" presId="urn:microsoft.com/office/officeart/2005/8/layout/hierarchy2"/>
    <dgm:cxn modelId="{8F0D3548-7F24-49DC-A25D-C47CB3817859}" type="presOf" srcId="{EE3898E1-9C97-4387-B50D-E068EA7534CC}" destId="{18ADADE4-A09B-4FE3-AAFD-AAC5CD3759CA}" srcOrd="0" destOrd="0" presId="urn:microsoft.com/office/officeart/2005/8/layout/hierarchy2"/>
    <dgm:cxn modelId="{E9615BBA-5520-4E75-9BA6-B8E2E2A0B114}" type="presOf" srcId="{EE3898E1-9C97-4387-B50D-E068EA7534CC}" destId="{31F70776-2311-4240-B634-545CD423CCAD}" srcOrd="1" destOrd="0" presId="urn:microsoft.com/office/officeart/2005/8/layout/hierarchy2"/>
    <dgm:cxn modelId="{6B559B8F-C5AA-4929-82AE-516A64888DFD}" type="presOf" srcId="{03FEDD91-1E03-4B09-BC16-4B9FA55044B5}" destId="{279C4929-1066-41C6-8923-78A7DC9E8032}" srcOrd="0" destOrd="0" presId="urn:microsoft.com/office/officeart/2005/8/layout/hierarchy2"/>
    <dgm:cxn modelId="{AE030178-F37D-4C91-8986-69844A2FF9E2}" srcId="{D766F425-7FEF-4ABC-B4C2-5107A1E23EAB}" destId="{0733E825-75CF-45ED-A552-236E70624337}" srcOrd="0" destOrd="0" parTransId="{03FEDD91-1E03-4B09-BC16-4B9FA55044B5}" sibTransId="{B478F60E-A92F-4973-BF98-196B76D59595}"/>
    <dgm:cxn modelId="{0506FBE5-15F1-41DC-B89A-01BBC1E86919}" type="presOf" srcId="{01A4D1AE-17AB-4D04-8B06-E88CC1A01543}" destId="{E07C0BD2-224C-4BCA-985D-15368A3CC1F1}" srcOrd="0" destOrd="0" presId="urn:microsoft.com/office/officeart/2005/8/layout/hierarchy2"/>
    <dgm:cxn modelId="{1FC91D7B-6674-4992-9F62-5226B4C9B12D}" srcId="{87867F2E-7ADB-46FE-B9CF-B712C2C05501}" destId="{01A4D1AE-17AB-4D04-8B06-E88CC1A01543}" srcOrd="1" destOrd="0" parTransId="{B0B7B1E4-8B9E-4CCB-ABE6-060F30ED57F9}" sibTransId="{FCF77E15-42AD-4CCD-B40F-C16B0243C3AC}"/>
    <dgm:cxn modelId="{153A81DC-18B5-4C5A-84DA-3B35C5CE74CD}" srcId="{7B889CBF-F09D-4FC8-8DDD-0909D418CCE9}" destId="{87867F2E-7ADB-46FE-B9CF-B712C2C05501}" srcOrd="0" destOrd="0" parTransId="{981327B6-8B73-4CE0-AB6F-15E69251E657}" sibTransId="{39974760-D634-4E4E-9D93-4D7BCBBF17CA}"/>
    <dgm:cxn modelId="{A1D92BCD-5EB5-4B15-B31F-8DAC80DDB65F}" type="presOf" srcId="{B0B7B1E4-8B9E-4CCB-ABE6-060F30ED57F9}" destId="{7EACA371-A15F-49FE-8249-8E1A3547AD94}" srcOrd="1" destOrd="0" presId="urn:microsoft.com/office/officeart/2005/8/layout/hierarchy2"/>
    <dgm:cxn modelId="{36666394-6054-4C35-BFBC-0FE8C4F80946}" type="presOf" srcId="{2E78625E-923A-4088-A772-1B04D2F8EA9D}" destId="{2B667896-7B73-4239-B22D-60E09E6D4E95}" srcOrd="0" destOrd="0" presId="urn:microsoft.com/office/officeart/2005/8/layout/hierarchy2"/>
    <dgm:cxn modelId="{C1C4DC98-2A44-471A-A01F-AB07CE872EC4}" type="presOf" srcId="{7B889CBF-F09D-4FC8-8DDD-0909D418CCE9}" destId="{72F0B8BE-3724-4FB5-BC89-77CEF06D0790}" srcOrd="0" destOrd="0" presId="urn:microsoft.com/office/officeart/2005/8/layout/hierarchy2"/>
    <dgm:cxn modelId="{4C99D05C-2992-40B3-9452-197A1816C1E2}" srcId="{87867F2E-7ADB-46FE-B9CF-B712C2C05501}" destId="{D766F425-7FEF-4ABC-B4C2-5107A1E23EAB}" srcOrd="0" destOrd="0" parTransId="{6CB6FE79-6D0D-40A9-8F1F-8721412C81B7}" sibTransId="{4D963151-970A-468D-B80B-15DE705DE58D}"/>
    <dgm:cxn modelId="{DF75D283-3CE8-4C23-AD34-979347B14A90}" type="presOf" srcId="{03FEDD91-1E03-4B09-BC16-4B9FA55044B5}" destId="{F3A8F65E-99D4-4CD3-A1D6-99ACB6E6EA99}" srcOrd="1" destOrd="0" presId="urn:microsoft.com/office/officeart/2005/8/layout/hierarchy2"/>
    <dgm:cxn modelId="{A4C557FC-AE6E-43E7-A531-FB492C58C45B}" type="presOf" srcId="{6CB6FE79-6D0D-40A9-8F1F-8721412C81B7}" destId="{83B41998-A55E-4E3A-8821-FAD741D86987}" srcOrd="0" destOrd="0" presId="urn:microsoft.com/office/officeart/2005/8/layout/hierarchy2"/>
    <dgm:cxn modelId="{BEEED2CF-3BA8-4CE2-9758-883720A28651}" type="presOf" srcId="{87867F2E-7ADB-46FE-B9CF-B712C2C05501}" destId="{43146A84-B3BC-4311-9652-44F015B0C8E5}" srcOrd="0" destOrd="0" presId="urn:microsoft.com/office/officeart/2005/8/layout/hierarchy2"/>
    <dgm:cxn modelId="{EB98B81B-FE8C-4553-B9BE-5A77AB2971F1}" type="presOf" srcId="{0733E825-75CF-45ED-A552-236E70624337}" destId="{777DD7B9-5B3A-4A89-8147-E44FEA414A18}" srcOrd="0" destOrd="0" presId="urn:microsoft.com/office/officeart/2005/8/layout/hierarchy2"/>
    <dgm:cxn modelId="{36F23CB4-A6AC-485D-8166-4DAA4C2C18A2}" type="presParOf" srcId="{72F0B8BE-3724-4FB5-BC89-77CEF06D0790}" destId="{B960C7A9-2DC8-44F3-8F61-2058A0888930}" srcOrd="0" destOrd="0" presId="urn:microsoft.com/office/officeart/2005/8/layout/hierarchy2"/>
    <dgm:cxn modelId="{43B02EDD-9D6E-4768-BB6A-AE75A876FCE9}" type="presParOf" srcId="{B960C7A9-2DC8-44F3-8F61-2058A0888930}" destId="{43146A84-B3BC-4311-9652-44F015B0C8E5}" srcOrd="0" destOrd="0" presId="urn:microsoft.com/office/officeart/2005/8/layout/hierarchy2"/>
    <dgm:cxn modelId="{AD353E6A-7704-4484-BB88-1586B4AE43B7}" type="presParOf" srcId="{B960C7A9-2DC8-44F3-8F61-2058A0888930}" destId="{6574DEB7-2DBA-4C5D-817C-ED340A57F41D}" srcOrd="1" destOrd="0" presId="urn:microsoft.com/office/officeart/2005/8/layout/hierarchy2"/>
    <dgm:cxn modelId="{D6FB8127-0223-49DD-84E8-CAF1CD2BD3C3}" type="presParOf" srcId="{6574DEB7-2DBA-4C5D-817C-ED340A57F41D}" destId="{83B41998-A55E-4E3A-8821-FAD741D86987}" srcOrd="0" destOrd="0" presId="urn:microsoft.com/office/officeart/2005/8/layout/hierarchy2"/>
    <dgm:cxn modelId="{A6A5F7AA-DB4C-4529-9ECB-B0807E67F3CE}" type="presParOf" srcId="{83B41998-A55E-4E3A-8821-FAD741D86987}" destId="{3E8DFB56-385B-4675-87A5-2E73BE7D802A}" srcOrd="0" destOrd="0" presId="urn:microsoft.com/office/officeart/2005/8/layout/hierarchy2"/>
    <dgm:cxn modelId="{456C6180-E89B-4A83-B55C-AA694894864E}" type="presParOf" srcId="{6574DEB7-2DBA-4C5D-817C-ED340A57F41D}" destId="{EC982684-9A88-4D90-91E9-D23D6DBA8684}" srcOrd="1" destOrd="0" presId="urn:microsoft.com/office/officeart/2005/8/layout/hierarchy2"/>
    <dgm:cxn modelId="{0FF3D9F7-3F3D-482D-8B1C-FDA965A3217B}" type="presParOf" srcId="{EC982684-9A88-4D90-91E9-D23D6DBA8684}" destId="{1FD3709F-4506-4276-9CF3-BE1B780AEF6A}" srcOrd="0" destOrd="0" presId="urn:microsoft.com/office/officeart/2005/8/layout/hierarchy2"/>
    <dgm:cxn modelId="{EA83D2D0-8238-45AF-A3CE-3040F7B86CB6}" type="presParOf" srcId="{EC982684-9A88-4D90-91E9-D23D6DBA8684}" destId="{C0A4D90F-9601-4113-AA61-C8ED0DD97CBE}" srcOrd="1" destOrd="0" presId="urn:microsoft.com/office/officeart/2005/8/layout/hierarchy2"/>
    <dgm:cxn modelId="{A244F178-A0F7-43C4-85BB-CEFA85D1536F}" type="presParOf" srcId="{C0A4D90F-9601-4113-AA61-C8ED0DD97CBE}" destId="{279C4929-1066-41C6-8923-78A7DC9E8032}" srcOrd="0" destOrd="0" presId="urn:microsoft.com/office/officeart/2005/8/layout/hierarchy2"/>
    <dgm:cxn modelId="{F229AEAB-93E6-4120-8FE6-8DCBED89FFEE}" type="presParOf" srcId="{279C4929-1066-41C6-8923-78A7DC9E8032}" destId="{F3A8F65E-99D4-4CD3-A1D6-99ACB6E6EA99}" srcOrd="0" destOrd="0" presId="urn:microsoft.com/office/officeart/2005/8/layout/hierarchy2"/>
    <dgm:cxn modelId="{BA8A03B1-B3F4-49D0-8F2C-05E48EB2C837}" type="presParOf" srcId="{C0A4D90F-9601-4113-AA61-C8ED0DD97CBE}" destId="{D32DFFE1-F552-4970-8AEE-08EA8301EA2E}" srcOrd="1" destOrd="0" presId="urn:microsoft.com/office/officeart/2005/8/layout/hierarchy2"/>
    <dgm:cxn modelId="{0DDAE447-02DE-414D-BAA4-2D9B926D0753}" type="presParOf" srcId="{D32DFFE1-F552-4970-8AEE-08EA8301EA2E}" destId="{777DD7B9-5B3A-4A89-8147-E44FEA414A18}" srcOrd="0" destOrd="0" presId="urn:microsoft.com/office/officeart/2005/8/layout/hierarchy2"/>
    <dgm:cxn modelId="{BCE8FC4F-8D85-4E7A-8504-20289261C9CD}" type="presParOf" srcId="{D32DFFE1-F552-4970-8AEE-08EA8301EA2E}" destId="{4D9A37E7-3D9B-4104-BF79-0130D32354EB}" srcOrd="1" destOrd="0" presId="urn:microsoft.com/office/officeart/2005/8/layout/hierarchy2"/>
    <dgm:cxn modelId="{1B56D2F6-31E3-464A-BABA-757B3FB3EDDA}" type="presParOf" srcId="{6574DEB7-2DBA-4C5D-817C-ED340A57F41D}" destId="{3895EF9C-2215-4031-B2A9-F50ACE651E92}" srcOrd="2" destOrd="0" presId="urn:microsoft.com/office/officeart/2005/8/layout/hierarchy2"/>
    <dgm:cxn modelId="{E76C0D01-3A77-4DA4-BCAD-B5D350CE3670}" type="presParOf" srcId="{3895EF9C-2215-4031-B2A9-F50ACE651E92}" destId="{7EACA371-A15F-49FE-8249-8E1A3547AD94}" srcOrd="0" destOrd="0" presId="urn:microsoft.com/office/officeart/2005/8/layout/hierarchy2"/>
    <dgm:cxn modelId="{62E8B182-687F-40B1-B5FF-57835EA7E9F7}" type="presParOf" srcId="{6574DEB7-2DBA-4C5D-817C-ED340A57F41D}" destId="{4583C6F0-3FC8-47E2-8BB5-5820CEFC6DA6}" srcOrd="3" destOrd="0" presId="urn:microsoft.com/office/officeart/2005/8/layout/hierarchy2"/>
    <dgm:cxn modelId="{1E72FF7A-2F2D-43ED-BCC7-C9B2F5EC7EC1}" type="presParOf" srcId="{4583C6F0-3FC8-47E2-8BB5-5820CEFC6DA6}" destId="{E07C0BD2-224C-4BCA-985D-15368A3CC1F1}" srcOrd="0" destOrd="0" presId="urn:microsoft.com/office/officeart/2005/8/layout/hierarchy2"/>
    <dgm:cxn modelId="{C4CE3813-7807-4C7F-8589-EA6EF48C84E4}" type="presParOf" srcId="{4583C6F0-3FC8-47E2-8BB5-5820CEFC6DA6}" destId="{C02E4221-9F51-4333-B001-84330FE2734C}" srcOrd="1" destOrd="0" presId="urn:microsoft.com/office/officeart/2005/8/layout/hierarchy2"/>
    <dgm:cxn modelId="{78C1A777-40BC-47FC-86C1-14107F6B4E5A}" type="presParOf" srcId="{C02E4221-9F51-4333-B001-84330FE2734C}" destId="{18ADADE4-A09B-4FE3-AAFD-AAC5CD3759CA}" srcOrd="0" destOrd="0" presId="urn:microsoft.com/office/officeart/2005/8/layout/hierarchy2"/>
    <dgm:cxn modelId="{0E4DA5BA-2919-4C39-88BC-D82145B16992}" type="presParOf" srcId="{18ADADE4-A09B-4FE3-AAFD-AAC5CD3759CA}" destId="{31F70776-2311-4240-B634-545CD423CCAD}" srcOrd="0" destOrd="0" presId="urn:microsoft.com/office/officeart/2005/8/layout/hierarchy2"/>
    <dgm:cxn modelId="{BC2FB978-AC11-46D8-87C5-C063A295285B}" type="presParOf" srcId="{C02E4221-9F51-4333-B001-84330FE2734C}" destId="{E22A74D3-A54D-4E5F-839A-5C05B2263273}" srcOrd="1" destOrd="0" presId="urn:microsoft.com/office/officeart/2005/8/layout/hierarchy2"/>
    <dgm:cxn modelId="{AD469719-2088-4F55-8D66-28E98B654EA7}" type="presParOf" srcId="{E22A74D3-A54D-4E5F-839A-5C05B2263273}" destId="{2B667896-7B73-4239-B22D-60E09E6D4E95}" srcOrd="0" destOrd="0" presId="urn:microsoft.com/office/officeart/2005/8/layout/hierarchy2"/>
    <dgm:cxn modelId="{56CE247E-B73C-46F4-AA89-785473310230}" type="presParOf" srcId="{E22A74D3-A54D-4E5F-839A-5C05B2263273}" destId="{C3D0FD26-C653-4BFA-BB97-E1BE100AA4B6}" srcOrd="1" destOrd="0" presId="urn:microsoft.com/office/officeart/2005/8/layout/hierarchy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A645AE29-7C90-44E5-94AA-CBC96318E7C0}">
      <dsp:nvSpPr>
        <dsp:cNvPr id="0" name=""/>
        <dsp:cNvSpPr/>
      </dsp:nvSpPr>
      <dsp:spPr>
        <a:xfrm>
          <a:off x="14" y="2210819"/>
          <a:ext cx="1724394" cy="862197"/>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BO" sz="1400" kern="1200" dirty="0" smtClean="0"/>
            <a:t>SNC</a:t>
          </a:r>
          <a:endParaRPr lang="es-BO" sz="1400" kern="1200" dirty="0"/>
        </a:p>
      </dsp:txBody>
      <dsp:txXfrm>
        <a:off x="14" y="2210819"/>
        <a:ext cx="1724394" cy="862197"/>
      </dsp:txXfrm>
    </dsp:sp>
    <dsp:sp modelId="{E1167B24-A3A2-482E-A3A6-D6375284A69D}">
      <dsp:nvSpPr>
        <dsp:cNvPr id="0" name=""/>
        <dsp:cNvSpPr/>
      </dsp:nvSpPr>
      <dsp:spPr>
        <a:xfrm rot="18289469">
          <a:off x="1465364" y="2130071"/>
          <a:ext cx="1207845" cy="32167"/>
        </a:xfrm>
        <a:custGeom>
          <a:avLst/>
          <a:gdLst/>
          <a:ahLst/>
          <a:cxnLst/>
          <a:rect l="0" t="0" r="0" b="0"/>
          <a:pathLst>
            <a:path>
              <a:moveTo>
                <a:pt x="0" y="16083"/>
              </a:moveTo>
              <a:lnTo>
                <a:pt x="1207845" y="16083"/>
              </a:lnTo>
            </a:path>
          </a:pathLst>
        </a:custGeom>
        <a:noFill/>
        <a:ln w="400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rot="18289469">
        <a:off x="2039091" y="2115958"/>
        <a:ext cx="60392" cy="60392"/>
      </dsp:txXfrm>
    </dsp:sp>
    <dsp:sp modelId="{F579067A-BC47-40EB-8784-2E2A2186A07A}">
      <dsp:nvSpPr>
        <dsp:cNvPr id="0" name=""/>
        <dsp:cNvSpPr/>
      </dsp:nvSpPr>
      <dsp:spPr>
        <a:xfrm>
          <a:off x="2414166" y="1219292"/>
          <a:ext cx="1724394" cy="862197"/>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BO" sz="1400" kern="1200" dirty="0" smtClean="0"/>
            <a:t>ENCEFALO</a:t>
          </a:r>
          <a:endParaRPr lang="es-BO" sz="1400" kern="1200" dirty="0"/>
        </a:p>
      </dsp:txBody>
      <dsp:txXfrm>
        <a:off x="2414166" y="1219292"/>
        <a:ext cx="1724394" cy="862197"/>
      </dsp:txXfrm>
    </dsp:sp>
    <dsp:sp modelId="{859D8B74-8038-471D-9316-D5EDA8ED893E}">
      <dsp:nvSpPr>
        <dsp:cNvPr id="0" name=""/>
        <dsp:cNvSpPr/>
      </dsp:nvSpPr>
      <dsp:spPr>
        <a:xfrm>
          <a:off x="4138561" y="1634307"/>
          <a:ext cx="689757" cy="32167"/>
        </a:xfrm>
        <a:custGeom>
          <a:avLst/>
          <a:gdLst/>
          <a:ahLst/>
          <a:cxnLst/>
          <a:rect l="0" t="0" r="0" b="0"/>
          <a:pathLst>
            <a:path>
              <a:moveTo>
                <a:pt x="0" y="16083"/>
              </a:moveTo>
              <a:lnTo>
                <a:pt x="689757" y="16083"/>
              </a:lnTo>
            </a:path>
          </a:pathLst>
        </a:custGeom>
        <a:noFill/>
        <a:ln w="400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a:off x="4466196" y="1633147"/>
        <a:ext cx="34487" cy="34487"/>
      </dsp:txXfrm>
    </dsp:sp>
    <dsp:sp modelId="{6FDBBD1C-36C9-4945-8283-DFA796830CB8}">
      <dsp:nvSpPr>
        <dsp:cNvPr id="0" name=""/>
        <dsp:cNvSpPr/>
      </dsp:nvSpPr>
      <dsp:spPr>
        <a:xfrm>
          <a:off x="4828319" y="759991"/>
          <a:ext cx="1724394" cy="1780799"/>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BO" sz="1400" kern="1200" dirty="0" smtClean="0"/>
            <a:t>CEREBRO – CEREBELO- TALLO ENCEFALICO – BULBO RAQUIDEO – PROTUBERANCIA – MESENCEFALO - DIENCEFALO</a:t>
          </a:r>
          <a:endParaRPr lang="es-BO" sz="1400" kern="1200" dirty="0"/>
        </a:p>
      </dsp:txBody>
      <dsp:txXfrm>
        <a:off x="4828319" y="759991"/>
        <a:ext cx="1724394" cy="1780799"/>
      </dsp:txXfrm>
    </dsp:sp>
    <dsp:sp modelId="{48E1D439-2774-4A80-A90B-EB3F96709834}">
      <dsp:nvSpPr>
        <dsp:cNvPr id="0" name=""/>
        <dsp:cNvSpPr/>
      </dsp:nvSpPr>
      <dsp:spPr>
        <a:xfrm>
          <a:off x="1724408" y="2625834"/>
          <a:ext cx="689757" cy="32167"/>
        </a:xfrm>
        <a:custGeom>
          <a:avLst/>
          <a:gdLst/>
          <a:ahLst/>
          <a:cxnLst/>
          <a:rect l="0" t="0" r="0" b="0"/>
          <a:pathLst>
            <a:path>
              <a:moveTo>
                <a:pt x="0" y="16083"/>
              </a:moveTo>
              <a:lnTo>
                <a:pt x="689757" y="16083"/>
              </a:lnTo>
            </a:path>
          </a:pathLst>
        </a:custGeom>
        <a:noFill/>
        <a:ln w="400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a:off x="2052043" y="2624674"/>
        <a:ext cx="34487" cy="34487"/>
      </dsp:txXfrm>
    </dsp:sp>
    <dsp:sp modelId="{A96D4B66-325E-4F63-A51D-1613CDF906D8}">
      <dsp:nvSpPr>
        <dsp:cNvPr id="0" name=""/>
        <dsp:cNvSpPr/>
      </dsp:nvSpPr>
      <dsp:spPr>
        <a:xfrm>
          <a:off x="2414166" y="2210819"/>
          <a:ext cx="1724394" cy="862197"/>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BO" sz="1400" kern="1200" dirty="0" smtClean="0"/>
            <a:t>MEDULA ESPINAL</a:t>
          </a:r>
          <a:endParaRPr lang="es-BO" sz="1400" kern="1200" dirty="0"/>
        </a:p>
      </dsp:txBody>
      <dsp:txXfrm>
        <a:off x="2414166" y="2210819"/>
        <a:ext cx="1724394" cy="862197"/>
      </dsp:txXfrm>
    </dsp:sp>
    <dsp:sp modelId="{682D7694-05D7-4591-85C6-2ED9EF0522AE}">
      <dsp:nvSpPr>
        <dsp:cNvPr id="0" name=""/>
        <dsp:cNvSpPr/>
      </dsp:nvSpPr>
      <dsp:spPr>
        <a:xfrm rot="3496900">
          <a:off x="1420040" y="3171760"/>
          <a:ext cx="1283561" cy="32167"/>
        </a:xfrm>
        <a:custGeom>
          <a:avLst/>
          <a:gdLst/>
          <a:ahLst/>
          <a:cxnLst/>
          <a:rect l="0" t="0" r="0" b="0"/>
          <a:pathLst>
            <a:path>
              <a:moveTo>
                <a:pt x="0" y="16083"/>
              </a:moveTo>
              <a:lnTo>
                <a:pt x="1283561" y="16083"/>
              </a:lnTo>
            </a:path>
          </a:pathLst>
        </a:custGeom>
        <a:noFill/>
        <a:ln w="400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rot="3496900">
        <a:off x="2029732" y="3155755"/>
        <a:ext cx="64178" cy="64178"/>
      </dsp:txXfrm>
    </dsp:sp>
    <dsp:sp modelId="{F66D79A3-0E64-4140-9FCE-11B06CC4CAB9}">
      <dsp:nvSpPr>
        <dsp:cNvPr id="0" name=""/>
        <dsp:cNvSpPr/>
      </dsp:nvSpPr>
      <dsp:spPr>
        <a:xfrm>
          <a:off x="2399233" y="3302672"/>
          <a:ext cx="1724394" cy="862197"/>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es-BO" sz="1400" kern="1200" dirty="0" smtClean="0"/>
            <a:t>MENINGES</a:t>
          </a:r>
          <a:endParaRPr lang="es-BO" sz="1400" kern="1200" dirty="0"/>
        </a:p>
      </dsp:txBody>
      <dsp:txXfrm>
        <a:off x="2399233" y="3302672"/>
        <a:ext cx="1724394" cy="862197"/>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43146A84-B3BC-4311-9652-44F015B0C8E5}">
      <dsp:nvSpPr>
        <dsp:cNvPr id="0" name=""/>
        <dsp:cNvSpPr/>
      </dsp:nvSpPr>
      <dsp:spPr>
        <a:xfrm>
          <a:off x="814" y="1520043"/>
          <a:ext cx="1094066" cy="1012031"/>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s-BO" sz="1100" kern="1200" dirty="0" smtClean="0"/>
            <a:t>SNP</a:t>
          </a:r>
          <a:endParaRPr lang="es-BO" sz="1100" kern="1200" dirty="0"/>
        </a:p>
      </dsp:txBody>
      <dsp:txXfrm>
        <a:off x="814" y="1520043"/>
        <a:ext cx="1094066" cy="1012031"/>
      </dsp:txXfrm>
    </dsp:sp>
    <dsp:sp modelId="{83B41998-A55E-4E3A-8821-FAD741D86987}">
      <dsp:nvSpPr>
        <dsp:cNvPr id="0" name=""/>
        <dsp:cNvSpPr/>
      </dsp:nvSpPr>
      <dsp:spPr>
        <a:xfrm rot="18672956">
          <a:off x="885315" y="1541493"/>
          <a:ext cx="1228754" cy="44824"/>
        </a:xfrm>
        <a:custGeom>
          <a:avLst/>
          <a:gdLst/>
          <a:ahLst/>
          <a:cxnLst/>
          <a:rect l="0" t="0" r="0" b="0"/>
          <a:pathLst>
            <a:path>
              <a:moveTo>
                <a:pt x="0" y="22412"/>
              </a:moveTo>
              <a:lnTo>
                <a:pt x="1228754" y="22412"/>
              </a:lnTo>
            </a:path>
          </a:pathLst>
        </a:custGeom>
        <a:noFill/>
        <a:ln w="400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rot="18672956">
        <a:off x="1468974" y="1533186"/>
        <a:ext cx="61437" cy="61437"/>
      </dsp:txXfrm>
    </dsp:sp>
    <dsp:sp modelId="{1FD3709F-4506-4276-9CF3-BE1B780AEF6A}">
      <dsp:nvSpPr>
        <dsp:cNvPr id="0" name=""/>
        <dsp:cNvSpPr/>
      </dsp:nvSpPr>
      <dsp:spPr>
        <a:xfrm>
          <a:off x="1904505" y="595735"/>
          <a:ext cx="1356992" cy="1012031"/>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BO" sz="1200" kern="1200" dirty="0" smtClean="0"/>
            <a:t>SN SUMATICO</a:t>
          </a:r>
          <a:endParaRPr lang="es-BO" sz="1200" kern="1200" dirty="0"/>
        </a:p>
      </dsp:txBody>
      <dsp:txXfrm>
        <a:off x="1904505" y="595735"/>
        <a:ext cx="1356992" cy="1012031"/>
      </dsp:txXfrm>
    </dsp:sp>
    <dsp:sp modelId="{279C4929-1066-41C6-8923-78A7DC9E8032}">
      <dsp:nvSpPr>
        <dsp:cNvPr id="0" name=""/>
        <dsp:cNvSpPr/>
      </dsp:nvSpPr>
      <dsp:spPr>
        <a:xfrm>
          <a:off x="3261498" y="1079338"/>
          <a:ext cx="809624" cy="44824"/>
        </a:xfrm>
        <a:custGeom>
          <a:avLst/>
          <a:gdLst/>
          <a:ahLst/>
          <a:cxnLst/>
          <a:rect l="0" t="0" r="0" b="0"/>
          <a:pathLst>
            <a:path>
              <a:moveTo>
                <a:pt x="0" y="22412"/>
              </a:moveTo>
              <a:lnTo>
                <a:pt x="809624" y="22412"/>
              </a:lnTo>
            </a:path>
          </a:pathLst>
        </a:custGeom>
        <a:noFill/>
        <a:ln w="400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a:off x="3646069" y="1081510"/>
        <a:ext cx="40481" cy="40481"/>
      </dsp:txXfrm>
    </dsp:sp>
    <dsp:sp modelId="{777DD7B9-5B3A-4A89-8147-E44FEA414A18}">
      <dsp:nvSpPr>
        <dsp:cNvPr id="0" name=""/>
        <dsp:cNvSpPr/>
      </dsp:nvSpPr>
      <dsp:spPr>
        <a:xfrm>
          <a:off x="4071123" y="259285"/>
          <a:ext cx="2024062" cy="1684930"/>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BO" sz="1200" kern="1200" dirty="0" smtClean="0"/>
            <a:t>NEURONAS SENSITIVAS, LLEVAN INFORMACION DESDE LOS RECEPTORES CUTANEOS Y SENTIDOS ESPECIALES FUNDAMENTALMENTE DESDE LA CABEZA</a:t>
          </a:r>
          <a:endParaRPr lang="es-BO" sz="1200" kern="1200" dirty="0"/>
        </a:p>
      </dsp:txBody>
      <dsp:txXfrm>
        <a:off x="4071123" y="259285"/>
        <a:ext cx="2024062" cy="1684930"/>
      </dsp:txXfrm>
    </dsp:sp>
    <dsp:sp modelId="{3895EF9C-2215-4031-B2A9-F50ACE651E92}">
      <dsp:nvSpPr>
        <dsp:cNvPr id="0" name=""/>
        <dsp:cNvSpPr/>
      </dsp:nvSpPr>
      <dsp:spPr>
        <a:xfrm rot="2927044">
          <a:off x="885315" y="2465801"/>
          <a:ext cx="1228754" cy="44824"/>
        </a:xfrm>
        <a:custGeom>
          <a:avLst/>
          <a:gdLst/>
          <a:ahLst/>
          <a:cxnLst/>
          <a:rect l="0" t="0" r="0" b="0"/>
          <a:pathLst>
            <a:path>
              <a:moveTo>
                <a:pt x="0" y="22412"/>
              </a:moveTo>
              <a:lnTo>
                <a:pt x="1228754" y="22412"/>
              </a:lnTo>
            </a:path>
          </a:pathLst>
        </a:custGeom>
        <a:noFill/>
        <a:ln w="400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rot="2927044">
        <a:off x="1468974" y="2457494"/>
        <a:ext cx="61437" cy="61437"/>
      </dsp:txXfrm>
    </dsp:sp>
    <dsp:sp modelId="{E07C0BD2-224C-4BCA-985D-15368A3CC1F1}">
      <dsp:nvSpPr>
        <dsp:cNvPr id="0" name=""/>
        <dsp:cNvSpPr/>
      </dsp:nvSpPr>
      <dsp:spPr>
        <a:xfrm>
          <a:off x="1904505" y="2444352"/>
          <a:ext cx="1305075" cy="1012031"/>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s-BO" sz="1100" kern="1200" dirty="0" smtClean="0"/>
            <a:t>SN AUTONOMO</a:t>
          </a:r>
          <a:endParaRPr lang="es-BO" sz="1100" kern="1200" dirty="0"/>
        </a:p>
      </dsp:txBody>
      <dsp:txXfrm>
        <a:off x="1904505" y="2444352"/>
        <a:ext cx="1305075" cy="1012031"/>
      </dsp:txXfrm>
    </dsp:sp>
    <dsp:sp modelId="{18ADADE4-A09B-4FE3-AAFD-AAC5CD3759CA}">
      <dsp:nvSpPr>
        <dsp:cNvPr id="0" name=""/>
        <dsp:cNvSpPr/>
      </dsp:nvSpPr>
      <dsp:spPr>
        <a:xfrm>
          <a:off x="3209580" y="2927955"/>
          <a:ext cx="809624" cy="44824"/>
        </a:xfrm>
        <a:custGeom>
          <a:avLst/>
          <a:gdLst/>
          <a:ahLst/>
          <a:cxnLst/>
          <a:rect l="0" t="0" r="0" b="0"/>
          <a:pathLst>
            <a:path>
              <a:moveTo>
                <a:pt x="0" y="22412"/>
              </a:moveTo>
              <a:lnTo>
                <a:pt x="809624" y="22412"/>
              </a:lnTo>
            </a:path>
          </a:pathLst>
        </a:custGeom>
        <a:noFill/>
        <a:ln w="400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s-BO" sz="500" kern="1200"/>
        </a:p>
      </dsp:txBody>
      <dsp:txXfrm>
        <a:off x="3594152" y="2930127"/>
        <a:ext cx="40481" cy="40481"/>
      </dsp:txXfrm>
    </dsp:sp>
    <dsp:sp modelId="{2B667896-7B73-4239-B22D-60E09E6D4E95}">
      <dsp:nvSpPr>
        <dsp:cNvPr id="0" name=""/>
        <dsp:cNvSpPr/>
      </dsp:nvSpPr>
      <dsp:spPr>
        <a:xfrm>
          <a:off x="4019205" y="2096021"/>
          <a:ext cx="2024062" cy="1708693"/>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lvl="0" algn="ctr" defTabSz="488950">
            <a:lnSpc>
              <a:spcPct val="90000"/>
            </a:lnSpc>
            <a:spcBef>
              <a:spcPct val="0"/>
            </a:spcBef>
            <a:spcAft>
              <a:spcPct val="35000"/>
            </a:spcAft>
          </a:pPr>
          <a:r>
            <a:rPr lang="es-BO" sz="1100" kern="1200" dirty="0" smtClean="0"/>
            <a:t>LLEVAN INFORMACION DESDE LAS VICERAS HASTA EL SNC Y LAS CUALES LLEVAN INFORMACION DESDE EL SNC HASTA EL SISTEMA MUSCULOESQUELETCO</a:t>
          </a:r>
        </a:p>
        <a:p>
          <a:pPr lvl="0" algn="ctr" defTabSz="488950">
            <a:lnSpc>
              <a:spcPct val="90000"/>
            </a:lnSpc>
            <a:spcBef>
              <a:spcPct val="0"/>
            </a:spcBef>
            <a:spcAft>
              <a:spcPct val="35000"/>
            </a:spcAft>
          </a:pPr>
          <a:endParaRPr lang="es-BO" sz="1100" kern="1200" dirty="0"/>
        </a:p>
      </dsp:txBody>
      <dsp:txXfrm>
        <a:off x="4019205" y="2096021"/>
        <a:ext cx="2024062" cy="170869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Ref idx="1002">
        <a:schemeClr val="bg1"/>
      </p:bgRef>
    </p:bg>
    <p:spTree>
      <p:nvGrpSpPr>
        <p:cNvPr id="1" name=""/>
        <p:cNvGrpSpPr/>
        <p:nvPr/>
      </p:nvGrpSpPr>
      <p:grpSpPr>
        <a:xfrm>
          <a:off x="0" y="0"/>
          <a:ext cx="0" cy="0"/>
          <a:chOff x="0" y="0"/>
          <a:chExt cx="0" cy="0"/>
        </a:xfrm>
      </p:grpSpPr>
      <p:sp>
        <p:nvSpPr>
          <p:cNvPr id="8" name="7 Rectángulo"/>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8 Conector recto"/>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11 Título"/>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s-ES" smtClean="0"/>
              <a:t>Haga clic para modificar el estilo de título del patrón</a:t>
            </a:r>
            <a:endParaRPr kumimoji="0" lang="en-US"/>
          </a:p>
        </p:txBody>
      </p:sp>
      <p:sp>
        <p:nvSpPr>
          <p:cNvPr id="25" name="24 Subtítulo"/>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sp>
        <p:nvSpPr>
          <p:cNvPr id="31" name="30 Marcador de fecha"/>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98202E2-2464-4E01-AEC6-8EF8A228A980}" type="datetimeFigureOut">
              <a:rPr lang="es-BO" smtClean="0"/>
              <a:pPr/>
              <a:t>05/04/2014</a:t>
            </a:fld>
            <a:endParaRPr lang="es-BO"/>
          </a:p>
        </p:txBody>
      </p:sp>
      <p:sp>
        <p:nvSpPr>
          <p:cNvPr id="18" name="17 Marcador de pie de página"/>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s-BO"/>
          </a:p>
        </p:txBody>
      </p:sp>
      <p:sp>
        <p:nvSpPr>
          <p:cNvPr id="29" name="28 Marcador de número de diapositiva"/>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A8AF8996-6BA8-4F07-A40F-8FD0597D5D81}" type="slidenum">
              <a:rPr lang="es-BO" smtClean="0"/>
              <a:pPr/>
              <a:t>‹Nº›</a:t>
            </a:fld>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5" name="4 Marcador de pie de página"/>
          <p:cNvSpPr>
            <a:spLocks noGrp="1"/>
          </p:cNvSpPr>
          <p:nvPr>
            <p:ph type="ftr" sz="quarter" idx="11"/>
          </p:nvPr>
        </p:nvSpPr>
        <p:spPr/>
        <p:txBody>
          <a:bodyPr/>
          <a:lstStyle>
            <a:extLst/>
          </a:lstStyle>
          <a:p>
            <a:endParaRPr lang="es-BO"/>
          </a:p>
        </p:txBody>
      </p:sp>
      <p:sp>
        <p:nvSpPr>
          <p:cNvPr id="6" name="5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1">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98202E2-2464-4E01-AEC6-8EF8A228A980}" type="datetimeFigureOut">
              <a:rPr lang="es-BO" smtClean="0"/>
              <a:pPr/>
              <a:t>05/04/2014</a:t>
            </a:fld>
            <a:endParaRPr lang="es-BO"/>
          </a:p>
        </p:txBody>
      </p:sp>
      <p:sp>
        <p:nvSpPr>
          <p:cNvPr id="5" name="4 Marcador de pie de página"/>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s-BO"/>
          </a:p>
        </p:txBody>
      </p:sp>
      <p:sp>
        <p:nvSpPr>
          <p:cNvPr id="6" name="5 Marcador de número de diapositiva"/>
          <p:cNvSpPr>
            <a:spLocks noGrp="1"/>
          </p:cNvSpPr>
          <p:nvPr>
            <p:ph type="sldNum" sz="quarter" idx="12"/>
          </p:nvPr>
        </p:nvSpPr>
        <p:spPr>
          <a:xfrm>
            <a:off x="6733952" y="6555112"/>
            <a:ext cx="588336" cy="228600"/>
          </a:xfrm>
        </p:spPr>
        <p:txBody>
          <a:bodyPr/>
          <a:lstStyle>
            <a:extLst/>
          </a:lstStyle>
          <a:p>
            <a:fld id="{A8AF8996-6BA8-4F07-A40F-8FD0597D5D81}" type="slidenum">
              <a:rPr lang="es-BO" smtClean="0"/>
              <a:pPr/>
              <a:t>‹Nº›</a:t>
            </a:fld>
            <a:endParaRPr lang="es-BO"/>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42048" cy="1143000"/>
          </a:xfrm>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6" name="5 Marcador de pie de página"/>
          <p:cNvSpPr>
            <a:spLocks noGrp="1"/>
          </p:cNvSpPr>
          <p:nvPr>
            <p:ph type="ftr" sz="quarter" idx="11"/>
          </p:nvPr>
        </p:nvSpPr>
        <p:spPr/>
        <p:txBody>
          <a:bodyPr/>
          <a:lstStyle>
            <a:extLst/>
          </a:lstStyle>
          <a:p>
            <a:endParaRPr lang="es-BO"/>
          </a:p>
        </p:txBody>
      </p:sp>
      <p:sp>
        <p:nvSpPr>
          <p:cNvPr id="7" name="6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42048" cy="1143000"/>
          </a:xfrm>
        </p:spPr>
        <p:txBody>
          <a:bodyPr anchor="b"/>
          <a:lstStyle>
            <a:lvl1pPr>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8" name="7 Marcador de pie de página"/>
          <p:cNvSpPr>
            <a:spLocks noGrp="1"/>
          </p:cNvSpPr>
          <p:nvPr>
            <p:ph type="ftr" sz="quarter" idx="11"/>
          </p:nvPr>
        </p:nvSpPr>
        <p:spPr/>
        <p:txBody>
          <a:bodyPr/>
          <a:lstStyle>
            <a:extLst/>
          </a:lstStyle>
          <a:p>
            <a:endParaRPr lang="es-BO"/>
          </a:p>
        </p:txBody>
      </p:sp>
      <p:sp>
        <p:nvSpPr>
          <p:cNvPr id="9" name="8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320040"/>
            <a:ext cx="7242048" cy="1143000"/>
          </a:xfrm>
        </p:spPr>
        <p:txBody>
          <a:bodyPr/>
          <a:lstStyle>
            <a:extLst/>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4" name="3 Marcador de pie de página"/>
          <p:cNvSpPr>
            <a:spLocks noGrp="1"/>
          </p:cNvSpPr>
          <p:nvPr>
            <p:ph type="ftr" sz="quarter" idx="11"/>
          </p:nvPr>
        </p:nvSpPr>
        <p:spPr/>
        <p:txBody>
          <a:bodyPr/>
          <a:lstStyle>
            <a:extLst/>
          </a:lstStyle>
          <a:p>
            <a:endParaRPr lang="es-BO"/>
          </a:p>
        </p:txBody>
      </p:sp>
      <p:sp>
        <p:nvSpPr>
          <p:cNvPr id="5" name="4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lvl1pPr>
              <a:defRPr>
                <a:solidFill>
                  <a:schemeClr val="tx2"/>
                </a:solidFill>
              </a:defRPr>
            </a:lvl1pPr>
            <a:extLst/>
          </a:lstStyle>
          <a:p>
            <a:fld id="{198202E2-2464-4E01-AEC6-8EF8A228A980}" type="datetimeFigureOut">
              <a:rPr lang="es-BO" smtClean="0"/>
              <a:pPr/>
              <a:t>05/04/2014</a:t>
            </a:fld>
            <a:endParaRPr lang="es-BO"/>
          </a:p>
        </p:txBody>
      </p:sp>
      <p:sp>
        <p:nvSpPr>
          <p:cNvPr id="3" name="2 Marcador de pie de página"/>
          <p:cNvSpPr>
            <a:spLocks noGrp="1"/>
          </p:cNvSpPr>
          <p:nvPr>
            <p:ph type="ftr" sz="quarter" idx="11"/>
          </p:nvPr>
        </p:nvSpPr>
        <p:spPr/>
        <p:txBody>
          <a:bodyPr/>
          <a:lstStyle>
            <a:lvl1pPr>
              <a:defRPr>
                <a:solidFill>
                  <a:schemeClr val="tx2"/>
                </a:solidFill>
              </a:defRPr>
            </a:lvl1pPr>
            <a:extLst/>
          </a:lstStyle>
          <a:p>
            <a:endParaRPr lang="es-BO"/>
          </a:p>
        </p:txBody>
      </p:sp>
      <p:sp>
        <p:nvSpPr>
          <p:cNvPr id="4" name="3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s-ES" smtClean="0"/>
              <a:t>Haga clic para modificar el estilo de texto del patrón</a:t>
            </a:r>
          </a:p>
        </p:txBody>
      </p:sp>
      <p:sp>
        <p:nvSpPr>
          <p:cNvPr id="4" name="3 Marcador de contenido"/>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6" name="5 Marcador de pie de página"/>
          <p:cNvSpPr>
            <a:spLocks noGrp="1"/>
          </p:cNvSpPr>
          <p:nvPr>
            <p:ph type="ftr" sz="quarter" idx="11"/>
          </p:nvPr>
        </p:nvSpPr>
        <p:spPr/>
        <p:txBody>
          <a:bodyPr/>
          <a:lstStyle>
            <a:extLst/>
          </a:lstStyle>
          <a:p>
            <a:endParaRPr lang="es-BO"/>
          </a:p>
        </p:txBody>
      </p:sp>
      <p:sp>
        <p:nvSpPr>
          <p:cNvPr id="7" name="6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2"/>
      </p:bgRef>
    </p:bg>
    <p:spTree>
      <p:nvGrpSpPr>
        <p:cNvPr id="1" name=""/>
        <p:cNvGrpSpPr/>
        <p:nvPr/>
      </p:nvGrpSpPr>
      <p:grpSpPr>
        <a:xfrm>
          <a:off x="0" y="0"/>
          <a:ext cx="0" cy="0"/>
          <a:chOff x="0" y="0"/>
          <a:chExt cx="0" cy="0"/>
        </a:xfrm>
      </p:grpSpPr>
      <p:sp>
        <p:nvSpPr>
          <p:cNvPr id="8" name="7 Rectángulo"/>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8 Rectángulo"/>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1 Título"/>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s-ES" smtClean="0"/>
              <a:t>Haga clic para modificar el estilo de título del patrón</a:t>
            </a:r>
            <a:endParaRPr kumimoji="0" lang="en-US" dirty="0"/>
          </a:p>
        </p:txBody>
      </p:sp>
      <p:sp>
        <p:nvSpPr>
          <p:cNvPr id="4" name="3 Marcador de texto"/>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s-ES" smtClean="0"/>
              <a:t>Haga clic para modificar el estilo de texto del patrón</a:t>
            </a:r>
          </a:p>
        </p:txBody>
      </p:sp>
      <p:sp>
        <p:nvSpPr>
          <p:cNvPr id="5" name="4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6" name="5 Marcador de pie de página"/>
          <p:cNvSpPr>
            <a:spLocks noGrp="1"/>
          </p:cNvSpPr>
          <p:nvPr>
            <p:ph type="ftr" sz="quarter" idx="11"/>
          </p:nvPr>
        </p:nvSpPr>
        <p:spPr/>
        <p:txBody>
          <a:bodyPr/>
          <a:lstStyle>
            <a:extLst/>
          </a:lstStyle>
          <a:p>
            <a:endParaRPr lang="es-BO"/>
          </a:p>
        </p:txBody>
      </p:sp>
      <p:sp>
        <p:nvSpPr>
          <p:cNvPr id="7" name="6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
        <p:nvSpPr>
          <p:cNvPr id="10" name="9 Marcador de posición de imagen"/>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s-ES" smtClean="0"/>
              <a:t>Haga clic en el icono para agregar una imagen</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198202E2-2464-4E01-AEC6-8EF8A228A980}" type="datetimeFigureOut">
              <a:rPr lang="es-BO" smtClean="0"/>
              <a:pPr/>
              <a:t>05/04/2014</a:t>
            </a:fld>
            <a:endParaRPr lang="es-BO"/>
          </a:p>
        </p:txBody>
      </p:sp>
      <p:sp>
        <p:nvSpPr>
          <p:cNvPr id="5" name="4 Marcador de pie de página"/>
          <p:cNvSpPr>
            <a:spLocks noGrp="1"/>
          </p:cNvSpPr>
          <p:nvPr>
            <p:ph type="ftr" sz="quarter" idx="11"/>
          </p:nvPr>
        </p:nvSpPr>
        <p:spPr/>
        <p:txBody>
          <a:bodyPr/>
          <a:lstStyle>
            <a:extLst/>
          </a:lstStyle>
          <a:p>
            <a:endParaRPr lang="es-BO"/>
          </a:p>
        </p:txBody>
      </p:sp>
      <p:sp>
        <p:nvSpPr>
          <p:cNvPr id="6" name="5 Marcador de número de diapositiva"/>
          <p:cNvSpPr>
            <a:spLocks noGrp="1"/>
          </p:cNvSpPr>
          <p:nvPr>
            <p:ph type="sldNum" sz="quarter" idx="12"/>
          </p:nvPr>
        </p:nvSpPr>
        <p:spPr/>
        <p:txBody>
          <a:bodyPr/>
          <a:lstStyle>
            <a:extLst/>
          </a:lstStyle>
          <a:p>
            <a:fld id="{A8AF8996-6BA8-4F07-A40F-8FD0597D5D81}" type="slidenum">
              <a:rPr lang="es-BO" smtClean="0"/>
              <a:pPr/>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553200" y="274955"/>
            <a:ext cx="1524000" cy="5851525"/>
          </a:xfrm>
        </p:spPr>
        <p:txBody>
          <a:bodyPr vert="eaVert" ancho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42"/>
            <a:ext cx="6019800" cy="5851525"/>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a:xfrm>
            <a:off x="4242816" y="6557946"/>
            <a:ext cx="2002464" cy="226902"/>
          </a:xfrm>
        </p:spPr>
        <p:txBody>
          <a:bodyPr/>
          <a:lstStyle>
            <a:extLst/>
          </a:lstStyle>
          <a:p>
            <a:fld id="{198202E2-2464-4E01-AEC6-8EF8A228A980}" type="datetimeFigureOut">
              <a:rPr lang="es-BO" smtClean="0"/>
              <a:pPr/>
              <a:t>05/04/2014</a:t>
            </a:fld>
            <a:endParaRPr lang="es-BO"/>
          </a:p>
        </p:txBody>
      </p:sp>
      <p:sp>
        <p:nvSpPr>
          <p:cNvPr id="5" name="4 Marcador de pie de página"/>
          <p:cNvSpPr>
            <a:spLocks noGrp="1"/>
          </p:cNvSpPr>
          <p:nvPr>
            <p:ph type="ftr" sz="quarter" idx="11"/>
          </p:nvPr>
        </p:nvSpPr>
        <p:spPr>
          <a:xfrm>
            <a:off x="457200" y="6556248"/>
            <a:ext cx="3657600" cy="228600"/>
          </a:xfrm>
        </p:spPr>
        <p:txBody>
          <a:bodyPr/>
          <a:lstStyle>
            <a:extLst/>
          </a:lstStyle>
          <a:p>
            <a:endParaRPr lang="es-BO"/>
          </a:p>
        </p:txBody>
      </p:sp>
      <p:sp>
        <p:nvSpPr>
          <p:cNvPr id="6" name="5 Marcador de número de diapositiva"/>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A8AF8996-6BA8-4F07-A40F-8FD0597D5D81}" type="slidenum">
              <a:rPr lang="es-BO" smtClean="0"/>
              <a:pPr/>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8 Rectángulo"/>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2 Marcador de título"/>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s-ES" smtClean="0"/>
              <a:t>Haga clic para modificar el estilo de título del patrón</a:t>
            </a:r>
            <a:endParaRPr kumimoji="0" lang="en-US"/>
          </a:p>
        </p:txBody>
      </p:sp>
      <p:sp>
        <p:nvSpPr>
          <p:cNvPr id="31" name="30 Marcador de texto"/>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27" name="26 Marcador de fecha"/>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98202E2-2464-4E01-AEC6-8EF8A228A980}" type="datetimeFigureOut">
              <a:rPr lang="es-BO" smtClean="0"/>
              <a:pPr/>
              <a:t>05/04/2014</a:t>
            </a:fld>
            <a:endParaRPr lang="es-BO"/>
          </a:p>
        </p:txBody>
      </p:sp>
      <p:sp>
        <p:nvSpPr>
          <p:cNvPr id="4" name="3 Marcador de pie de página"/>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s-BO"/>
          </a:p>
        </p:txBody>
      </p:sp>
      <p:sp>
        <p:nvSpPr>
          <p:cNvPr id="16" name="15 Marcador de número de diapositiva"/>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A8AF8996-6BA8-4F07-A40F-8FD0597D5D81}" type="slidenum">
              <a:rPr lang="es-BO" smtClean="0"/>
              <a:pPr/>
              <a:t>‹Nº›</a:t>
            </a:fld>
            <a:endParaRPr lang="es-BO"/>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Layout" Target="../diagrams/layout1.xml"/><Relationship Id="rId7" Type="http://schemas.openxmlformats.org/officeDocument/2006/relationships/hyperlink" Target="http://3.bp.blogspot.com/_4dRZmCkDiks/TTMAF4XSPyI/AAAAAAAAAb8/zaBfD9pkEN4/s1600/Diapositiva5.JPG"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2.bp.blogspot.com/_4dRZmCkDiks/TTL9xhyOLmI/AAAAAAAAAbw/QXv20a9uw2I/s1600/Diapositiva1.JP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3.bp.blogspot.com/_4dRZmCkDiks/TTMAp7qguTI/AAAAAAAAAcA/iSZjsn7jo_c/s1600/cerebro_sistema+nervioso.jp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4.bp.blogspot.com/_4dRZmCkDiks/TTMBBKUhOAI/AAAAAAAAAcE/Q6YHhY-IrLU/s1600/Diapositiva7.JP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3.bp.blogspot.com/_4dRZmCkDiks/TTMBWWXuhnI/AAAAAAAAAcI/wod-1uIWivk/s1600/Diapositiva8.JP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1.bp.blogspot.com/_4dRZmCkDiks/TTMB7YU6f-I/AAAAAAAAAcM/NqeTvpRePWk/s1600/Diapositiva9.JPG"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4.bp.blogspot.com/_4dRZmCkDiks/TTMC-kS0PAI/AAAAAAAAAcU/6GC20UvGjT4/s1600/Diapositiva10.JP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3.bp.blogspot.com/_4dRZmCkDiks/TTMDYmLiJaI/AAAAAAAAAcY/OzrGRKgwojY/s1600/Diapositiva11.JPG"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hyperlink" Target="http://4.bp.blogspot.com/_4dRZmCkDiks/TTMFF57_4uI/AAAAAAAAAcg/FmUnGfAKHW0/s1600/Diapositiva15.JP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Título"/>
          <p:cNvSpPr>
            <a:spLocks noGrp="1"/>
          </p:cNvSpPr>
          <p:nvPr>
            <p:ph type="title"/>
          </p:nvPr>
        </p:nvSpPr>
        <p:spPr/>
        <p:txBody>
          <a:bodyPr/>
          <a:lstStyle/>
          <a:p>
            <a:r>
              <a:rPr lang="es-BO" dirty="0" smtClean="0"/>
              <a:t>SISTEMA NERVIOSO CENTRAL</a:t>
            </a:r>
            <a:endParaRPr lang="es-BO" dirty="0"/>
          </a:p>
        </p:txBody>
      </p:sp>
      <p:sp>
        <p:nvSpPr>
          <p:cNvPr id="10" name="9 Marcador de texto"/>
          <p:cNvSpPr>
            <a:spLocks noGrp="1"/>
          </p:cNvSpPr>
          <p:nvPr>
            <p:ph type="body" sz="half" idx="2"/>
          </p:nvPr>
        </p:nvSpPr>
        <p:spPr/>
        <p:txBody>
          <a:bodyPr/>
          <a:lstStyle/>
          <a:p>
            <a:r>
              <a:rPr lang="es-BO" dirty="0" smtClean="0"/>
              <a:t>INTEGRANTES: AIDE COILA</a:t>
            </a:r>
          </a:p>
          <a:p>
            <a:r>
              <a:rPr lang="es-BO" dirty="0" smtClean="0"/>
              <a:t>                      SANDRA PAHUASI</a:t>
            </a:r>
          </a:p>
          <a:p>
            <a:r>
              <a:rPr lang="es-BO" dirty="0" smtClean="0"/>
              <a:t>                      MONICA VASQUEZ</a:t>
            </a:r>
            <a:endParaRPr lang="es-BO" dirty="0"/>
          </a:p>
        </p:txBody>
      </p:sp>
      <p:sp>
        <p:nvSpPr>
          <p:cNvPr id="12" name="11 Marcador de posición de imagen"/>
          <p:cNvSpPr>
            <a:spLocks noGrp="1"/>
          </p:cNvSpPr>
          <p:nvPr>
            <p:ph type="pic" idx="1"/>
          </p:nvPr>
        </p:nvSpPr>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title"/>
          </p:nvPr>
        </p:nvSpPr>
        <p:spPr/>
        <p:txBody>
          <a:bodyPr/>
          <a:lstStyle/>
          <a:p>
            <a:r>
              <a:rPr lang="es-BO" dirty="0" smtClean="0"/>
              <a:t>Sistema nervioso central</a:t>
            </a:r>
            <a:endParaRPr lang="es-BO" dirty="0"/>
          </a:p>
        </p:txBody>
      </p:sp>
      <p:sp>
        <p:nvSpPr>
          <p:cNvPr id="7" name="6 Marcador de contenido"/>
          <p:cNvSpPr>
            <a:spLocks noGrp="1"/>
          </p:cNvSpPr>
          <p:nvPr>
            <p:ph idx="1"/>
          </p:nvPr>
        </p:nvSpPr>
        <p:spPr/>
        <p:txBody>
          <a:bodyPr/>
          <a:lstStyle/>
          <a:p>
            <a:pPr>
              <a:buFont typeface="Wingdings" pitchFamily="2" charset="2"/>
              <a:buChar char="Ø"/>
            </a:pPr>
            <a:endParaRPr lang="es-BO" dirty="0" smtClean="0"/>
          </a:p>
          <a:p>
            <a:pPr>
              <a:buNone/>
            </a:pPr>
            <a:endParaRPr lang="es-BO" dirty="0" smtClean="0"/>
          </a:p>
        </p:txBody>
      </p:sp>
      <p:graphicFrame>
        <p:nvGraphicFramePr>
          <p:cNvPr id="9" name="8 Diagrama"/>
          <p:cNvGraphicFramePr/>
          <p:nvPr/>
        </p:nvGraphicFramePr>
        <p:xfrm>
          <a:off x="683568" y="1556792"/>
          <a:ext cx="6552728" cy="482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9 Imagen" descr="http://3.bp.blogspot.com/_4dRZmCkDiks/TTMAF4XSPyI/AAAAAAAAAb8/zaBfD9pkEN4/s320/Diapositiva5.JPG">
            <a:hlinkClick r:id="rId7"/>
          </p:cNvPr>
          <p:cNvPicPr/>
          <p:nvPr/>
        </p:nvPicPr>
        <p:blipFill>
          <a:blip r:embed="rId8"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5148064" y="4437112"/>
            <a:ext cx="3048000" cy="2266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pPr algn="ctr"/>
            <a:r>
              <a:rPr lang="es-BO" dirty="0" smtClean="0"/>
              <a:t>SISTEMA NERVIOSO CENTRAL</a:t>
            </a:r>
            <a:br>
              <a:rPr lang="es-BO" dirty="0" smtClean="0"/>
            </a:br>
            <a:endParaRPr lang="es-BO" dirty="0"/>
          </a:p>
        </p:txBody>
      </p:sp>
      <p:graphicFrame>
        <p:nvGraphicFramePr>
          <p:cNvPr id="3" name="2 Diagrama"/>
          <p:cNvGraphicFramePr/>
          <p:nvPr/>
        </p:nvGraphicFramePr>
        <p:xfrm>
          <a:off x="899592" y="1484784"/>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CENTRAL</a:t>
            </a:r>
            <a:endParaRPr lang="es-BO" dirty="0"/>
          </a:p>
        </p:txBody>
      </p:sp>
      <p:sp>
        <p:nvSpPr>
          <p:cNvPr id="4" name="3 Marcador de contenido"/>
          <p:cNvSpPr>
            <a:spLocks noGrp="1"/>
          </p:cNvSpPr>
          <p:nvPr>
            <p:ph idx="1"/>
          </p:nvPr>
        </p:nvSpPr>
        <p:spPr/>
        <p:txBody>
          <a:bodyPr>
            <a:normAutofit/>
          </a:bodyPr>
          <a:lstStyle/>
          <a:p>
            <a:r>
              <a:rPr lang="es-BO" dirty="0" smtClean="0"/>
              <a:t>El Sistema Nervioso es, </a:t>
            </a:r>
          </a:p>
          <a:p>
            <a:pPr>
              <a:buNone/>
            </a:pPr>
            <a:r>
              <a:rPr lang="es-BO" dirty="0" smtClean="0"/>
              <a:t>junto con el Sistema </a:t>
            </a:r>
          </a:p>
          <a:p>
            <a:pPr>
              <a:buNone/>
            </a:pPr>
            <a:r>
              <a:rPr lang="es-BO" dirty="0" smtClean="0"/>
              <a:t>Endocrino, el rector y</a:t>
            </a:r>
          </a:p>
          <a:p>
            <a:pPr>
              <a:buNone/>
            </a:pPr>
            <a:r>
              <a:rPr lang="es-BO" dirty="0" smtClean="0"/>
              <a:t> coordinador de todas</a:t>
            </a:r>
          </a:p>
          <a:p>
            <a:pPr>
              <a:buNone/>
            </a:pPr>
            <a:r>
              <a:rPr lang="es-BO" dirty="0" smtClean="0"/>
              <a:t> las actividades, </a:t>
            </a:r>
          </a:p>
          <a:p>
            <a:pPr>
              <a:buNone/>
            </a:pPr>
            <a:r>
              <a:rPr lang="es-BO" dirty="0" smtClean="0"/>
              <a:t>conscientes e inconscientes</a:t>
            </a:r>
          </a:p>
          <a:p>
            <a:pPr>
              <a:buNone/>
            </a:pPr>
            <a:r>
              <a:rPr lang="es-BO" dirty="0" smtClean="0"/>
              <a:t> del organismo; consta del</a:t>
            </a:r>
          </a:p>
          <a:p>
            <a:pPr>
              <a:buNone/>
            </a:pPr>
            <a:r>
              <a:rPr lang="es-BO" dirty="0" smtClean="0"/>
              <a:t> sistema cerebroespinal</a:t>
            </a:r>
          </a:p>
          <a:p>
            <a:pPr>
              <a:buNone/>
            </a:pPr>
            <a:r>
              <a:rPr lang="es-BO" dirty="0" smtClean="0"/>
              <a:t> (encéfalo y médula espinal), los nervios y el sistema vegetativo o autónomo.</a:t>
            </a:r>
            <a:endParaRPr lang="es-BO" dirty="0"/>
          </a:p>
        </p:txBody>
      </p:sp>
      <p:pic>
        <p:nvPicPr>
          <p:cNvPr id="6" name="5 Imagen" descr="http://2.bp.blogspot.com/_4dRZmCkDiks/TTL9xhyOLmI/AAAAAAAAAbw/QXv20a9uw2I/s320/Diapositiva1.JPG">
            <a:hlinkClick r:id="rId2"/>
          </p:cNvPr>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499992" y="1484784"/>
            <a:ext cx="3528392" cy="255498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CENTRAL</a:t>
            </a:r>
            <a:endParaRPr lang="es-BO" dirty="0"/>
          </a:p>
        </p:txBody>
      </p:sp>
      <p:sp>
        <p:nvSpPr>
          <p:cNvPr id="4" name="3 Marcador de contenido"/>
          <p:cNvSpPr>
            <a:spLocks noGrp="1"/>
          </p:cNvSpPr>
          <p:nvPr>
            <p:ph idx="1"/>
          </p:nvPr>
        </p:nvSpPr>
        <p:spPr/>
        <p:txBody>
          <a:bodyPr>
            <a:normAutofit fontScale="85000" lnSpcReduction="20000"/>
          </a:bodyPr>
          <a:lstStyle/>
          <a:p>
            <a:r>
              <a:rPr lang="es-BO" b="1" dirty="0" smtClean="0"/>
              <a:t>A. CEREBRO.</a:t>
            </a:r>
            <a:endParaRPr lang="es-BO" dirty="0" smtClean="0"/>
          </a:p>
          <a:p>
            <a:pPr>
              <a:buNone/>
            </a:pPr>
            <a:r>
              <a:rPr lang="es-BO" dirty="0" smtClean="0"/>
              <a:t>Es la parte más importante</a:t>
            </a:r>
          </a:p>
          <a:p>
            <a:pPr>
              <a:buNone/>
            </a:pPr>
            <a:r>
              <a:rPr lang="es-BO" dirty="0" smtClean="0"/>
              <a:t> del sistema nervioso cen</a:t>
            </a:r>
          </a:p>
          <a:p>
            <a:pPr>
              <a:buNone/>
            </a:pPr>
            <a:r>
              <a:rPr lang="es-BO" dirty="0" smtClean="0"/>
              <a:t>tral, está formado por la</a:t>
            </a:r>
          </a:p>
          <a:p>
            <a:pPr>
              <a:buNone/>
            </a:pPr>
            <a:r>
              <a:rPr lang="es-BO" dirty="0" smtClean="0"/>
              <a:t> sustancia gris (por fuera)</a:t>
            </a:r>
          </a:p>
          <a:p>
            <a:pPr>
              <a:buNone/>
            </a:pPr>
            <a:r>
              <a:rPr lang="es-BO" dirty="0" smtClean="0"/>
              <a:t> y la sustancia blanca</a:t>
            </a:r>
          </a:p>
          <a:p>
            <a:pPr>
              <a:buNone/>
            </a:pPr>
            <a:r>
              <a:rPr lang="es-BO" dirty="0" smtClean="0"/>
              <a:t> (por dentro). Su superficie</a:t>
            </a:r>
          </a:p>
          <a:p>
            <a:pPr>
              <a:buNone/>
            </a:pPr>
            <a:r>
              <a:rPr lang="es-BO" dirty="0" smtClean="0"/>
              <a:t> no es lisa, sino que tiene </a:t>
            </a:r>
          </a:p>
          <a:p>
            <a:pPr>
              <a:buNone/>
            </a:pPr>
            <a:r>
              <a:rPr lang="es-BO" dirty="0" smtClean="0"/>
              <a:t>unas arrugas o salientes llamadas circunvoluciones; y unos surcos denominados cisuras, las más notables son llamados las cisuras de Silvio y de Rolando. Está dividido incompletamente por una hendidura en dos partes, llamados hemisferios cerebrales. En los hemisferios se distinguen zonas denominadas lóbulos, pesa unos 1.200 gr.</a:t>
            </a:r>
          </a:p>
          <a:p>
            <a:endParaRPr lang="es-BO" dirty="0"/>
          </a:p>
        </p:txBody>
      </p:sp>
      <p:pic>
        <p:nvPicPr>
          <p:cNvPr id="5" name="4 Imagen" descr="http://3.bp.blogspot.com/_4dRZmCkDiks/TTMAp7qguTI/AAAAAAAAAcA/iSZjsn7jo_c/s320/cerebro_sistema+nervioso.jpg">
            <a:hlinkClick r:id="rId2"/>
          </p:cNvPr>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283968" y="1844824"/>
            <a:ext cx="3048000" cy="2266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CENTRAL</a:t>
            </a:r>
            <a:endParaRPr lang="es-BO" dirty="0"/>
          </a:p>
        </p:txBody>
      </p:sp>
      <p:sp>
        <p:nvSpPr>
          <p:cNvPr id="4" name="3 Marcador de contenido"/>
          <p:cNvSpPr>
            <a:spLocks noGrp="1"/>
          </p:cNvSpPr>
          <p:nvPr>
            <p:ph idx="1"/>
          </p:nvPr>
        </p:nvSpPr>
        <p:spPr/>
        <p:txBody>
          <a:bodyPr>
            <a:normAutofit fontScale="85000" lnSpcReduction="20000"/>
          </a:bodyPr>
          <a:lstStyle/>
          <a:p>
            <a:r>
              <a:rPr lang="es-BO" b="1" dirty="0" smtClean="0"/>
              <a:t>B. EL CEREBELO.</a:t>
            </a:r>
            <a:endParaRPr lang="es-BO" dirty="0" smtClean="0"/>
          </a:p>
          <a:p>
            <a:pPr>
              <a:buNone/>
            </a:pPr>
            <a:r>
              <a:rPr lang="es-BO" dirty="0" smtClean="0"/>
              <a:t>Está situado detrás </a:t>
            </a:r>
          </a:p>
          <a:p>
            <a:pPr>
              <a:buNone/>
            </a:pPr>
            <a:r>
              <a:rPr lang="es-BO" dirty="0" smtClean="0"/>
              <a:t>del cerebro y es más</a:t>
            </a:r>
          </a:p>
          <a:p>
            <a:pPr>
              <a:buNone/>
            </a:pPr>
            <a:r>
              <a:rPr lang="es-BO" dirty="0" smtClean="0"/>
              <a:t> pequeño (120 gr.);</a:t>
            </a:r>
          </a:p>
          <a:p>
            <a:pPr>
              <a:buNone/>
            </a:pPr>
            <a:r>
              <a:rPr lang="es-BO" dirty="0" smtClean="0"/>
              <a:t> tiene forma de una</a:t>
            </a:r>
          </a:p>
          <a:p>
            <a:pPr>
              <a:buNone/>
            </a:pPr>
            <a:r>
              <a:rPr lang="es-BO" dirty="0" smtClean="0"/>
              <a:t>mariposa con las alas </a:t>
            </a:r>
          </a:p>
          <a:p>
            <a:pPr>
              <a:buNone/>
            </a:pPr>
            <a:r>
              <a:rPr lang="es-BO" dirty="0" smtClean="0"/>
              <a:t>extendidas. Consta de</a:t>
            </a:r>
          </a:p>
          <a:p>
            <a:pPr>
              <a:buNone/>
            </a:pPr>
            <a:r>
              <a:rPr lang="es-BO" dirty="0" smtClean="0"/>
              <a:t> tres partes: Dos hemisferios cerebelosos y el cuerpo vermiforme. Por fuera tiene sustancia gris y en el interior sustancia blanca, que presenta una forma arborescente por lo que se llama el árbol de la vida. Coordina los movimientos de los músculos al caminar y realizar otras actividades motoras.</a:t>
            </a:r>
          </a:p>
          <a:p>
            <a:pPr>
              <a:buNone/>
            </a:pPr>
            <a:r>
              <a:rPr lang="es-BO" dirty="0" smtClean="0"/>
              <a:t> </a:t>
            </a:r>
          </a:p>
          <a:p>
            <a:endParaRPr lang="es-BO" dirty="0"/>
          </a:p>
        </p:txBody>
      </p:sp>
      <p:pic>
        <p:nvPicPr>
          <p:cNvPr id="5" name="4 Imagen" descr="http://4.bp.blogspot.com/_4dRZmCkDiks/TTMBBKUhOAI/AAAAAAAAAcE/Q6YHhY-IrLU/s320/Diapositiva7.JPG">
            <a:hlinkClick r:id="rId2"/>
          </p:cNvPr>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211960" y="1484784"/>
            <a:ext cx="3048000" cy="2266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central</a:t>
            </a:r>
            <a:endParaRPr lang="es-BO" dirty="0"/>
          </a:p>
        </p:txBody>
      </p:sp>
      <p:sp>
        <p:nvSpPr>
          <p:cNvPr id="4" name="3 Marcador de contenido"/>
          <p:cNvSpPr>
            <a:spLocks noGrp="1"/>
          </p:cNvSpPr>
          <p:nvPr>
            <p:ph idx="1"/>
          </p:nvPr>
        </p:nvSpPr>
        <p:spPr/>
        <p:txBody>
          <a:bodyPr>
            <a:normAutofit lnSpcReduction="10000"/>
          </a:bodyPr>
          <a:lstStyle/>
          <a:p>
            <a:r>
              <a:rPr lang="es-BO" b="1" dirty="0" smtClean="0"/>
              <a:t>C. EL BULBO RAQUÍDEO.</a:t>
            </a:r>
            <a:r>
              <a:rPr lang="es-BO" dirty="0" smtClean="0"/>
              <a:t> </a:t>
            </a:r>
          </a:p>
          <a:p>
            <a:pPr>
              <a:buNone/>
            </a:pPr>
            <a:r>
              <a:rPr lang="es-BO" dirty="0" smtClean="0"/>
              <a:t>Es la continuación de la</a:t>
            </a:r>
          </a:p>
          <a:p>
            <a:pPr>
              <a:buNone/>
            </a:pPr>
            <a:r>
              <a:rPr lang="es-BO" dirty="0" smtClean="0"/>
              <a:t>médula que se hace más</a:t>
            </a:r>
          </a:p>
          <a:p>
            <a:pPr>
              <a:buNone/>
            </a:pPr>
            <a:r>
              <a:rPr lang="es-BO" dirty="0" smtClean="0"/>
              <a:t> gruesa al entrar en el</a:t>
            </a:r>
          </a:p>
          <a:p>
            <a:pPr>
              <a:buNone/>
            </a:pPr>
            <a:r>
              <a:rPr lang="es-BO" dirty="0" smtClean="0"/>
              <a:t> cráneo. Regula el funcio</a:t>
            </a:r>
          </a:p>
          <a:p>
            <a:pPr>
              <a:buNone/>
            </a:pPr>
            <a:r>
              <a:rPr lang="es-BO" dirty="0" smtClean="0"/>
              <a:t>namiento del corazón y</a:t>
            </a:r>
          </a:p>
          <a:p>
            <a:pPr>
              <a:buNone/>
            </a:pPr>
            <a:r>
              <a:rPr lang="es-BO" dirty="0" smtClean="0"/>
              <a:t> de los músculos respiratorios, además de los movimientos de la masticación, la tos, el estornudo, el vómito... etc. Por eso una lesión en el bulbo produce la muerte instantánea por paro cardiorespiratorio irreversible.</a:t>
            </a:r>
          </a:p>
          <a:p>
            <a:endParaRPr lang="es-BO" dirty="0" smtClean="0"/>
          </a:p>
          <a:p>
            <a:endParaRPr lang="es-BO" dirty="0"/>
          </a:p>
        </p:txBody>
      </p:sp>
      <p:pic>
        <p:nvPicPr>
          <p:cNvPr id="5" name="4 Imagen" descr="http://3.bp.blogspot.com/_4dRZmCkDiks/TTMBWWXuhnI/AAAAAAAAAcI/wod-1uIWivk/s320/Diapositiva8.JPG">
            <a:hlinkClick r:id="rId2"/>
          </p:cNvPr>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860032" y="1628800"/>
            <a:ext cx="3048000" cy="2266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CENTRAL</a:t>
            </a:r>
            <a:endParaRPr lang="es-BO" dirty="0"/>
          </a:p>
        </p:txBody>
      </p:sp>
      <p:sp>
        <p:nvSpPr>
          <p:cNvPr id="4" name="3 Marcador de contenido"/>
          <p:cNvSpPr>
            <a:spLocks noGrp="1"/>
          </p:cNvSpPr>
          <p:nvPr>
            <p:ph idx="1"/>
          </p:nvPr>
        </p:nvSpPr>
        <p:spPr/>
        <p:txBody>
          <a:bodyPr>
            <a:normAutofit fontScale="47500" lnSpcReduction="20000"/>
          </a:bodyPr>
          <a:lstStyle/>
          <a:p>
            <a:r>
              <a:rPr lang="es-BO" sz="3300" dirty="0" smtClean="0"/>
              <a:t> </a:t>
            </a:r>
            <a:r>
              <a:rPr lang="es-BO" sz="3300" b="1" u="sng" dirty="0" smtClean="0">
                <a:hlinkClick r:id="rId2"/>
              </a:rPr>
              <a:t>D. DIENCÉFALO.    </a:t>
            </a:r>
            <a:endParaRPr lang="es-BO" sz="3300" dirty="0" smtClean="0"/>
          </a:p>
          <a:p>
            <a:pPr>
              <a:buNone/>
            </a:pPr>
            <a:r>
              <a:rPr lang="es-BO" sz="3300" dirty="0" smtClean="0">
                <a:sym typeface="Symbol"/>
              </a:rPr>
              <a:t></a:t>
            </a:r>
            <a:r>
              <a:rPr lang="es-BO" sz="3300" dirty="0" smtClean="0"/>
              <a:t> Tálamo:</a:t>
            </a:r>
          </a:p>
          <a:p>
            <a:pPr>
              <a:buNone/>
            </a:pPr>
            <a:r>
              <a:rPr lang="es-BO" sz="3300" dirty="0" smtClean="0"/>
              <a:t>Esta parte del </a:t>
            </a:r>
            <a:r>
              <a:rPr lang="es-BO" sz="3300" dirty="0" err="1" smtClean="0"/>
              <a:t>diencéfalo</a:t>
            </a:r>
            <a:r>
              <a:rPr lang="es-BO" sz="3300" dirty="0" smtClean="0"/>
              <a:t> consiste en dos masas esféricas de tejido gris, situadas dentro de la zona media del cerebro, entre los dos hemisferios cerebrales. Es un centro de integración de gran importancia que recibe las señales sensoriales y donde las señales motoras de salida pasan hacia y desde la corteza cerebral. Todas las entradas sensoriales al cerebro, excepto las olfativas, se asocian con núcleos individuales (grupos de células nerviosas) del tálamo.</a:t>
            </a:r>
          </a:p>
          <a:p>
            <a:pPr>
              <a:buNone/>
            </a:pPr>
            <a:endParaRPr lang="es-BO" sz="3300" dirty="0" smtClean="0"/>
          </a:p>
          <a:p>
            <a:pPr>
              <a:buFont typeface="Symbol"/>
              <a:buChar char="·"/>
            </a:pPr>
            <a:r>
              <a:rPr lang="es-BO" sz="3300" dirty="0" smtClean="0"/>
              <a:t>Hipotálamo:</a:t>
            </a:r>
          </a:p>
          <a:p>
            <a:pPr>
              <a:buFont typeface="Symbol"/>
              <a:buChar char="·"/>
            </a:pPr>
            <a:endParaRPr lang="es-BO" sz="3300" dirty="0" smtClean="0"/>
          </a:p>
          <a:p>
            <a:pPr>
              <a:buNone/>
            </a:pPr>
            <a:r>
              <a:rPr lang="es-BO" sz="3300" dirty="0" smtClean="0"/>
              <a:t>El hipotálamo está situado debajo del tálamo en la línea media en la base del cerebro. Está formado por distintas regiones y núcleos hipotalámicos encargados de la regulación de los impulsos fundamentales y de las condiciones del estado interno de organismo (homeostasis, nivel de nutrientes, temperatura). El hipotálamo también está implicado en la elaboración de las emociones y en las sensaciones de dolor y placer. En la mujer, controla el ciclo menstrual. El hipotálamo actúa también como enlace entre el sistema nervioso central y el sistema endocrino.</a:t>
            </a:r>
          </a:p>
          <a:p>
            <a:pPr>
              <a:buNone/>
            </a:pPr>
            <a:r>
              <a:rPr lang="es-BO" sz="3300" dirty="0" smtClean="0"/>
              <a:t> </a:t>
            </a:r>
          </a:p>
          <a:p>
            <a:endParaRPr lang="es-BO"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CENTRAL</a:t>
            </a:r>
            <a:endParaRPr lang="es-BO" dirty="0"/>
          </a:p>
        </p:txBody>
      </p:sp>
      <p:sp>
        <p:nvSpPr>
          <p:cNvPr id="4" name="3 Marcador de contenido"/>
          <p:cNvSpPr>
            <a:spLocks noGrp="1"/>
          </p:cNvSpPr>
          <p:nvPr>
            <p:ph idx="1"/>
          </p:nvPr>
        </p:nvSpPr>
        <p:spPr/>
        <p:txBody>
          <a:bodyPr>
            <a:normAutofit lnSpcReduction="10000"/>
          </a:bodyPr>
          <a:lstStyle/>
          <a:p>
            <a:r>
              <a:rPr lang="es-BO" b="1" dirty="0" smtClean="0"/>
              <a:t>E.- LA MÉDULA ESPINAL.</a:t>
            </a:r>
            <a:endParaRPr lang="es-BO" dirty="0" smtClean="0"/>
          </a:p>
          <a:p>
            <a:pPr>
              <a:buNone/>
            </a:pPr>
            <a:r>
              <a:rPr lang="es-BO" dirty="0" smtClean="0"/>
              <a:t>La médula espinal es un </a:t>
            </a:r>
          </a:p>
          <a:p>
            <a:pPr>
              <a:buNone/>
            </a:pPr>
            <a:r>
              <a:rPr lang="es-BO" dirty="0" smtClean="0"/>
              <a:t>cordón nervioso, blanco</a:t>
            </a:r>
          </a:p>
          <a:p>
            <a:pPr>
              <a:buNone/>
            </a:pPr>
            <a:r>
              <a:rPr lang="es-BO" dirty="0" smtClean="0"/>
              <a:t> y cilíndrico encerrada </a:t>
            </a:r>
          </a:p>
          <a:p>
            <a:pPr>
              <a:buNone/>
            </a:pPr>
            <a:r>
              <a:rPr lang="es-BO" dirty="0" smtClean="0"/>
              <a:t>dentro de la columna </a:t>
            </a:r>
          </a:p>
          <a:p>
            <a:pPr>
              <a:buNone/>
            </a:pPr>
            <a:r>
              <a:rPr lang="es-BO" dirty="0" smtClean="0"/>
              <a:t>vertebral. Su función más importante es conducir, mediante los nervios de que está formada, la corriente nerviosa que conduce las sensaciones hasta el cerebro y los impulsos nerviosos que lleva las respuestas del cerebro a los músculos.</a:t>
            </a:r>
          </a:p>
          <a:p>
            <a:r>
              <a:rPr lang="es-BO" dirty="0" smtClean="0"/>
              <a:t> </a:t>
            </a:r>
          </a:p>
          <a:p>
            <a:endParaRPr lang="es-BO" dirty="0"/>
          </a:p>
        </p:txBody>
      </p:sp>
      <p:pic>
        <p:nvPicPr>
          <p:cNvPr id="5" name="4 Imagen" descr="http://4.bp.blogspot.com/_4dRZmCkDiks/TTMC-kS0PAI/AAAAAAAAAcU/6GC20UvGjT4/s320/Diapositiva10.JPG">
            <a:hlinkClick r:id="rId2"/>
          </p:cNvPr>
          <p:cNvPicPr/>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644008" y="1412777"/>
            <a:ext cx="3384376" cy="216024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PERIFERICO</a:t>
            </a:r>
            <a:endParaRPr lang="es-BO" dirty="0"/>
          </a:p>
        </p:txBody>
      </p:sp>
      <p:sp>
        <p:nvSpPr>
          <p:cNvPr id="4" name="3 Marcador de contenido"/>
          <p:cNvSpPr>
            <a:spLocks noGrp="1"/>
          </p:cNvSpPr>
          <p:nvPr>
            <p:ph idx="1"/>
          </p:nvPr>
        </p:nvSpPr>
        <p:spPr/>
        <p:txBody>
          <a:bodyPr>
            <a:normAutofit lnSpcReduction="10000"/>
          </a:bodyPr>
          <a:lstStyle/>
          <a:p>
            <a:r>
              <a:rPr lang="es-BO" dirty="0" smtClean="0"/>
              <a:t>1.- </a:t>
            </a:r>
            <a:r>
              <a:rPr lang="es-BO" b="1" dirty="0" smtClean="0"/>
              <a:t>Sistema Vegetativo o Autónomo.</a:t>
            </a:r>
            <a:br>
              <a:rPr lang="es-BO" b="1" dirty="0" smtClean="0"/>
            </a:br>
            <a:r>
              <a:rPr lang="es-BO" dirty="0" smtClean="0"/>
              <a:t>Se encarga de los movimientos inconscientes, como los del músculo liso, cardiaco y del sistema endocrino. Es un sistema estrictamente motor formado por fibras aferentes (sensitivas) y su control eferente (motora) que está en relación con el sistema somático.</a:t>
            </a:r>
          </a:p>
          <a:p>
            <a:pPr>
              <a:buNone/>
            </a:pPr>
            <a:r>
              <a:rPr lang="es-BO" dirty="0" smtClean="0"/>
              <a:t>Está formado básicamente por:</a:t>
            </a:r>
          </a:p>
          <a:p>
            <a:r>
              <a:rPr lang="es-BO" b="1" dirty="0" smtClean="0"/>
              <a:t>a) </a:t>
            </a:r>
            <a:r>
              <a:rPr lang="es-BO" dirty="0" smtClean="0"/>
              <a:t>Subsistemas (simpático y parasimpático)</a:t>
            </a:r>
          </a:p>
          <a:p>
            <a:r>
              <a:rPr lang="es-BO" b="1" dirty="0" smtClean="0"/>
              <a:t>b) </a:t>
            </a:r>
            <a:r>
              <a:rPr lang="es-BO" dirty="0" smtClean="0"/>
              <a:t>Vías vegetativas</a:t>
            </a:r>
          </a:p>
          <a:p>
            <a:r>
              <a:rPr lang="es-BO" b="1" dirty="0" smtClean="0"/>
              <a:t>c) </a:t>
            </a:r>
            <a:r>
              <a:rPr lang="es-BO" dirty="0" smtClean="0"/>
              <a:t>Ganglios.</a:t>
            </a:r>
          </a:p>
          <a:p>
            <a:endParaRPr lang="es-BO"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PERIFERICO</a:t>
            </a:r>
            <a:endParaRPr lang="es-BO" dirty="0"/>
          </a:p>
        </p:txBody>
      </p:sp>
      <p:pic>
        <p:nvPicPr>
          <p:cNvPr id="5" name="4 Marcador de contenido" descr="http://3.bp.blogspot.com/_4dRZmCkDiks/TTMDYmLiJaI/AAAAAAAAAcY/OzrGRKgwojY/s320/Diapositiva11.JPG">
            <a:hlinkClick r:id="rId2"/>
          </p:cNvPr>
          <p:cNvPicPr>
            <a:picLocks noGrp="1"/>
          </p:cNvPicPr>
          <p:nvPr>
            <p:ph idx="1"/>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683568" y="1628800"/>
            <a:ext cx="6912768" cy="43204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467544" y="332656"/>
            <a:ext cx="7239000" cy="1143000"/>
          </a:xfrm>
        </p:spPr>
        <p:txBody>
          <a:bodyPr/>
          <a:lstStyle/>
          <a:p>
            <a:r>
              <a:rPr lang="es-BO" dirty="0" smtClean="0"/>
              <a:t>SISTEMA NERVIOSO PERIFERICO</a:t>
            </a:r>
            <a:endParaRPr lang="es-BO" dirty="0"/>
          </a:p>
        </p:txBody>
      </p:sp>
      <p:sp>
        <p:nvSpPr>
          <p:cNvPr id="4" name="3 Marcador de contenido"/>
          <p:cNvSpPr>
            <a:spLocks noGrp="1"/>
          </p:cNvSpPr>
          <p:nvPr>
            <p:ph idx="1"/>
          </p:nvPr>
        </p:nvSpPr>
        <p:spPr/>
        <p:txBody>
          <a:bodyPr>
            <a:normAutofit fontScale="85000" lnSpcReduction="10000"/>
          </a:bodyPr>
          <a:lstStyle/>
          <a:p>
            <a:r>
              <a:rPr lang="es-BO" b="1" dirty="0" smtClean="0"/>
              <a:t>2. Sistema Nervioso Somático</a:t>
            </a:r>
            <a:r>
              <a:rPr lang="es-BO" dirty="0" smtClean="0"/>
              <a:t> </a:t>
            </a:r>
          </a:p>
          <a:p>
            <a:pPr>
              <a:buNone/>
            </a:pPr>
            <a:r>
              <a:rPr lang="es-BO" dirty="0" smtClean="0"/>
              <a:t>Está constituido por todas aquellas fibras nerviosas motoras que van del sistema nervioso central al sistema músculo-esquelético y las vías sensitivas, que van de este a las vísceras y la piel al sistema nervioso central.</a:t>
            </a:r>
          </a:p>
          <a:p>
            <a:pPr>
              <a:buNone/>
            </a:pPr>
            <a:r>
              <a:rPr lang="es-BO" dirty="0" smtClean="0"/>
              <a:t>Este sistema se encarga de todos aquellos movimientos voluntarios y la información sensitiva del organismo.</a:t>
            </a:r>
          </a:p>
          <a:p>
            <a:pPr>
              <a:buNone/>
            </a:pPr>
            <a:r>
              <a:rPr lang="es-BO" dirty="0" smtClean="0"/>
              <a:t>El sistema nervioso somático está integrado por:</a:t>
            </a:r>
          </a:p>
          <a:p>
            <a:pPr>
              <a:buNone/>
            </a:pPr>
            <a:r>
              <a:rPr lang="es-BO" dirty="0" smtClean="0"/>
              <a:t>a) 12 pares craneales</a:t>
            </a:r>
          </a:p>
          <a:p>
            <a:pPr>
              <a:buNone/>
            </a:pPr>
            <a:r>
              <a:rPr lang="es-BO" dirty="0" smtClean="0"/>
              <a:t>b) 31 pares de nervios raquídeos o espinales.</a:t>
            </a:r>
          </a:p>
          <a:p>
            <a:pPr>
              <a:buNone/>
            </a:pPr>
            <a:r>
              <a:rPr lang="es-BO" dirty="0" smtClean="0"/>
              <a:t>Los primeros inervan diversas regiones del cuello, cara, parte de la cabeza y órganos de las cavidades torácica y abdominal.</a:t>
            </a:r>
          </a:p>
          <a:p>
            <a:endParaRPr lang="es-BO"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PERIFERICO</a:t>
            </a:r>
            <a:endParaRPr lang="es-BO" dirty="0"/>
          </a:p>
        </p:txBody>
      </p:sp>
      <p:sp>
        <p:nvSpPr>
          <p:cNvPr id="4" name="3 Marcador de contenido"/>
          <p:cNvSpPr>
            <a:spLocks noGrp="1"/>
          </p:cNvSpPr>
          <p:nvPr>
            <p:ph idx="1"/>
          </p:nvPr>
        </p:nvSpPr>
        <p:spPr/>
        <p:txBody>
          <a:bodyPr>
            <a:normAutofit fontScale="70000" lnSpcReduction="20000"/>
          </a:bodyPr>
          <a:lstStyle/>
          <a:p>
            <a:r>
              <a:rPr lang="es-BO" dirty="0" smtClean="0"/>
              <a:t>Los segundos, localizados a los lados de la médula espinal, se prolongan hacia los miembros superiores e inferiores y el tronco.</a:t>
            </a:r>
          </a:p>
          <a:p>
            <a:pPr>
              <a:buNone/>
            </a:pPr>
            <a:r>
              <a:rPr lang="es-BO" dirty="0" smtClean="0"/>
              <a:t>a) Nervios craneales</a:t>
            </a:r>
          </a:p>
          <a:p>
            <a:pPr>
              <a:buNone/>
            </a:pPr>
            <a:r>
              <a:rPr lang="es-BO" dirty="0" smtClean="0"/>
              <a:t>Los nervios craneales tienen tres tipos de fibras:</a:t>
            </a:r>
          </a:p>
          <a:p>
            <a:pPr>
              <a:buNone/>
            </a:pPr>
            <a:r>
              <a:rPr lang="es-BO" dirty="0" smtClean="0">
                <a:sym typeface="Symbol"/>
              </a:rPr>
              <a:t></a:t>
            </a:r>
            <a:r>
              <a:rPr lang="es-BO" dirty="0" smtClean="0"/>
              <a:t> Sensitivas</a:t>
            </a:r>
          </a:p>
          <a:p>
            <a:pPr>
              <a:buNone/>
            </a:pPr>
            <a:r>
              <a:rPr lang="es-BO" dirty="0" smtClean="0">
                <a:sym typeface="Symbol"/>
              </a:rPr>
              <a:t></a:t>
            </a:r>
            <a:r>
              <a:rPr lang="es-BO" dirty="0" smtClean="0"/>
              <a:t> Motoras</a:t>
            </a:r>
          </a:p>
          <a:p>
            <a:pPr>
              <a:buNone/>
            </a:pPr>
            <a:r>
              <a:rPr lang="es-BO" dirty="0" smtClean="0">
                <a:sym typeface="Symbol"/>
              </a:rPr>
              <a:t></a:t>
            </a:r>
            <a:r>
              <a:rPr lang="es-BO" dirty="0" smtClean="0"/>
              <a:t> Mixtas.</a:t>
            </a:r>
          </a:p>
          <a:p>
            <a:pPr>
              <a:buNone/>
            </a:pPr>
            <a:r>
              <a:rPr lang="es-BO" dirty="0" smtClean="0"/>
              <a:t>A continuación se proporciona el nombre del nervio craneal, su localización y las regiones, órganos o partes de órganos que inervan.</a:t>
            </a:r>
          </a:p>
          <a:p>
            <a:pPr>
              <a:buNone/>
            </a:pPr>
            <a:r>
              <a:rPr lang="es-BO" dirty="0" smtClean="0"/>
              <a:t>I. Olfatorio. Nervio de tipo sensitivo. Nace en la mucosa nasal hasta el bulbo olfatorio, y de ahí va al área olfatoria del cerebro.</a:t>
            </a:r>
          </a:p>
          <a:p>
            <a:pPr>
              <a:buNone/>
            </a:pPr>
            <a:r>
              <a:rPr lang="es-BO" dirty="0" smtClean="0"/>
              <a:t>II. Óptico. Es un nervio sensitivo que se origina en la parte nerviosa del ojo, la retina, y corre hacia dentro del encéfalo para terminar en el tálamo y en el mesencéfalo, para posteriormente dirigirse al lóbulo occipital, en el área primaria de la visión y el color.</a:t>
            </a:r>
          </a:p>
          <a:p>
            <a:endParaRPr lang="es-BO"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SISTEMA NERVIOSO PERIFERICO</a:t>
            </a:r>
            <a:endParaRPr lang="es-BO" dirty="0"/>
          </a:p>
        </p:txBody>
      </p:sp>
      <p:sp>
        <p:nvSpPr>
          <p:cNvPr id="4" name="3 Marcador de contenido"/>
          <p:cNvSpPr>
            <a:spLocks noGrp="1"/>
          </p:cNvSpPr>
          <p:nvPr>
            <p:ph idx="1"/>
          </p:nvPr>
        </p:nvSpPr>
        <p:spPr/>
        <p:txBody>
          <a:bodyPr>
            <a:normAutofit fontScale="70000" lnSpcReduction="20000"/>
          </a:bodyPr>
          <a:lstStyle/>
          <a:p>
            <a:pPr>
              <a:buNone/>
            </a:pPr>
            <a:r>
              <a:rPr lang="es-BO" dirty="0" smtClean="0"/>
              <a:t>III. Oculomotor. (Anteriormente motor ocular común), tipo de nervio motor. Se origina en el mesencéfalo y va a inervar a los músculos, elevador del parpado superior y músculos propios del ojo excepto los ciliares oblicuo, superior y recto lateral.</a:t>
            </a:r>
          </a:p>
          <a:p>
            <a:pPr>
              <a:buNone/>
            </a:pPr>
            <a:r>
              <a:rPr lang="es-BO" dirty="0" smtClean="0"/>
              <a:t>IV. Troclear. (Antes patético) es de tipo motor se origina en el mesencéfalo. Inerva al músculo oblicuo superior del ojo.</a:t>
            </a:r>
          </a:p>
          <a:p>
            <a:pPr>
              <a:buNone/>
            </a:pPr>
            <a:r>
              <a:rPr lang="es-BO" dirty="0" smtClean="0"/>
              <a:t>V. Trigémino. Es de tipo mixto. Su origen lo presenta a nivel del tallo cerebral. Su parte motora inerva a los músculos de la masticación y a la parte sensitiva, se ramifica en tres partes: Una oftálmica, una maxilar y otra mandibular. Inervando varias regiones de la cara.</a:t>
            </a:r>
          </a:p>
          <a:p>
            <a:pPr>
              <a:buNone/>
            </a:pPr>
            <a:r>
              <a:rPr lang="es-BO" dirty="0" smtClean="0"/>
              <a:t>VI. Abdúcens (antes abductor), es un nervio de tipo motor. Se inicia en la médula Oblongada e inerva al músculo recto lateral del ojo.</a:t>
            </a:r>
          </a:p>
          <a:p>
            <a:pPr>
              <a:buNone/>
            </a:pPr>
            <a:r>
              <a:rPr lang="es-BO" dirty="0" smtClean="0"/>
              <a:t>VII. Facial.- Es un nervio mixto cuyo origen se encuentra en la médula oblongada. Sus fibras motoras van a inervar a los músculos de la expresión de la cara. A las glándulas salivales, sublinguales y submaxilares; y la parte sensitiva inerva las papilas gustativas de la lengua.</a:t>
            </a:r>
          </a:p>
          <a:p>
            <a:endParaRPr lang="es-BO"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p:txBody>
          <a:bodyPr/>
          <a:lstStyle/>
          <a:p>
            <a:r>
              <a:rPr lang="es-BO" dirty="0" smtClean="0"/>
              <a:t>S. N. P.</a:t>
            </a:r>
            <a:endParaRPr lang="es-BO" dirty="0"/>
          </a:p>
        </p:txBody>
      </p:sp>
      <p:sp>
        <p:nvSpPr>
          <p:cNvPr id="6" name="5 Marcador de contenido"/>
          <p:cNvSpPr>
            <a:spLocks noGrp="1"/>
          </p:cNvSpPr>
          <p:nvPr>
            <p:ph idx="1"/>
          </p:nvPr>
        </p:nvSpPr>
        <p:spPr/>
        <p:txBody>
          <a:bodyPr>
            <a:normAutofit fontScale="70000" lnSpcReduction="20000"/>
          </a:bodyPr>
          <a:lstStyle/>
          <a:p>
            <a:pPr>
              <a:buNone/>
            </a:pPr>
            <a:r>
              <a:rPr lang="es-BO" dirty="0" smtClean="0"/>
              <a:t>VIII. Vestibulococlear (antes auditivo), es un nervio sensitivo que se origina en la médula oblongada y presenta dos ramas bien definidas, una de ellas es la coclear que llega hasta el órgano de Corti. La rama vestibular inerva a los conductos semicirculares y al vestíbulo auditivo.</a:t>
            </a:r>
          </a:p>
          <a:p>
            <a:pPr>
              <a:buNone/>
            </a:pPr>
            <a:r>
              <a:rPr lang="es-BO" dirty="0" smtClean="0"/>
              <a:t>IX. Glosofaríngeo. Es un nervio mixto que nace en la médula oblongada, presenta fibras motoras que inervan a un músculo de la faringe, la glándula salival, la parótida. Las fibras sensitivas inervan a la faringe y a algunas yemas gustativas.</a:t>
            </a:r>
          </a:p>
          <a:p>
            <a:pPr>
              <a:buNone/>
            </a:pPr>
            <a:r>
              <a:rPr lang="es-BO" dirty="0" smtClean="0"/>
              <a:t>X. Vago. Es un nervio de tipo mixto que nace en la médula oblongada. Es un nervio de mucha importancia por la cantidad de regiones y órganos que inerva por su longitud.</a:t>
            </a:r>
          </a:p>
          <a:p>
            <a:pPr>
              <a:buNone/>
            </a:pPr>
            <a:r>
              <a:rPr lang="es-BO" dirty="0" smtClean="0"/>
              <a:t>XI. Accesorio.- (Antes espinal), Es un nervio motor que nace en la médula oblongada y médula espinal, para dar inervación a unos músculos del cuello, músculos de vísceras torácicas y abdominales, faringe y laringe.</a:t>
            </a:r>
          </a:p>
          <a:p>
            <a:pPr>
              <a:buNone/>
            </a:pPr>
            <a:r>
              <a:rPr lang="es-BO" dirty="0" smtClean="0"/>
              <a:t>XII. Hipogloso. Es un nervio motor cuyo origen está en la médula oblongada y va a inervar a los músculos de la misma.</a:t>
            </a:r>
          </a:p>
          <a:p>
            <a:endParaRPr lang="es-BO"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S.N.P.</a:t>
            </a:r>
            <a:endParaRPr lang="es-BO" dirty="0"/>
          </a:p>
        </p:txBody>
      </p:sp>
      <p:pic>
        <p:nvPicPr>
          <p:cNvPr id="5" name="4 Marcador de contenido" descr="http://4.bp.blogspot.com/_4dRZmCkDiks/TTMFF57_4uI/AAAAAAAAAcg/FmUnGfAKHW0/s320/Diapositiva15.JPG">
            <a:hlinkClick r:id="rId2"/>
          </p:cNvPr>
          <p:cNvPicPr>
            <a:picLocks noGrp="1"/>
          </p:cNvPicPr>
          <p:nvPr>
            <p:ph idx="1"/>
          </p:nvPr>
        </p:nvPicPr>
        <p:blipFill>
          <a:blip r:embed="rId3"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683568" y="1484784"/>
            <a:ext cx="6768752" cy="475252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SISTENA NERVIOSO PERIFERICO</a:t>
            </a:r>
            <a:endParaRPr lang="es-BO" dirty="0"/>
          </a:p>
        </p:txBody>
      </p:sp>
      <p:sp>
        <p:nvSpPr>
          <p:cNvPr id="4" name="3 Marcador de contenido"/>
          <p:cNvSpPr>
            <a:spLocks noGrp="1"/>
          </p:cNvSpPr>
          <p:nvPr>
            <p:ph idx="1"/>
          </p:nvPr>
        </p:nvSpPr>
        <p:spPr/>
        <p:txBody>
          <a:bodyPr>
            <a:normAutofit lnSpcReduction="10000"/>
          </a:bodyPr>
          <a:lstStyle/>
          <a:p>
            <a:pPr>
              <a:buNone/>
            </a:pPr>
            <a:r>
              <a:rPr lang="es-BO" dirty="0" smtClean="0"/>
              <a:t>b) Nervios espinales o raquídeos.</a:t>
            </a:r>
          </a:p>
          <a:p>
            <a:pPr>
              <a:buNone/>
            </a:pPr>
            <a:r>
              <a:rPr lang="es-BO" dirty="0" smtClean="0"/>
              <a:t>Estos integran una parte del sistema somático que a su vez forma parte del sistema nervioso periférico. Son 31 pares que emergen de los agujeros raquídeos y se clasifican en:</a:t>
            </a:r>
          </a:p>
          <a:p>
            <a:pPr>
              <a:buNone/>
            </a:pPr>
            <a:r>
              <a:rPr lang="es-BO" b="1" dirty="0" smtClean="0">
                <a:sym typeface="Symbol"/>
              </a:rPr>
              <a:t></a:t>
            </a:r>
            <a:r>
              <a:rPr lang="es-BO" b="1" dirty="0" smtClean="0"/>
              <a:t> </a:t>
            </a:r>
            <a:r>
              <a:rPr lang="es-BO" dirty="0" smtClean="0"/>
              <a:t>8 cervicales</a:t>
            </a:r>
          </a:p>
          <a:p>
            <a:pPr>
              <a:buNone/>
            </a:pPr>
            <a:r>
              <a:rPr lang="es-BO" b="1" dirty="0" smtClean="0">
                <a:sym typeface="Symbol"/>
              </a:rPr>
              <a:t></a:t>
            </a:r>
            <a:r>
              <a:rPr lang="es-BO" b="1" dirty="0" smtClean="0"/>
              <a:t> </a:t>
            </a:r>
            <a:r>
              <a:rPr lang="es-BO" dirty="0" smtClean="0"/>
              <a:t>12 torácicos</a:t>
            </a:r>
          </a:p>
          <a:p>
            <a:pPr>
              <a:buNone/>
            </a:pPr>
            <a:r>
              <a:rPr lang="es-BO" b="1" dirty="0" smtClean="0">
                <a:sym typeface="Symbol"/>
              </a:rPr>
              <a:t></a:t>
            </a:r>
            <a:r>
              <a:rPr lang="es-BO" b="1" dirty="0" smtClean="0"/>
              <a:t> </a:t>
            </a:r>
            <a:r>
              <a:rPr lang="es-BO" dirty="0" smtClean="0"/>
              <a:t>5 lumbares</a:t>
            </a:r>
          </a:p>
          <a:p>
            <a:pPr>
              <a:buNone/>
            </a:pPr>
            <a:r>
              <a:rPr lang="es-BO" b="1" dirty="0" smtClean="0">
                <a:sym typeface="Symbol"/>
              </a:rPr>
              <a:t></a:t>
            </a:r>
            <a:r>
              <a:rPr lang="es-BO" b="1" dirty="0" smtClean="0"/>
              <a:t> </a:t>
            </a:r>
            <a:r>
              <a:rPr lang="es-BO" dirty="0" smtClean="0"/>
              <a:t>5 sacros</a:t>
            </a:r>
          </a:p>
          <a:p>
            <a:pPr>
              <a:buNone/>
            </a:pPr>
            <a:r>
              <a:rPr lang="es-BO" b="1" dirty="0" smtClean="0">
                <a:sym typeface="Symbol"/>
              </a:rPr>
              <a:t></a:t>
            </a:r>
            <a:r>
              <a:rPr lang="es-BO" b="1" dirty="0" smtClean="0"/>
              <a:t> </a:t>
            </a:r>
            <a:r>
              <a:rPr lang="es-BO" dirty="0" smtClean="0"/>
              <a:t>1 coccígeo.</a:t>
            </a:r>
          </a:p>
          <a:p>
            <a:endParaRPr lang="es-BO" dirty="0" smtClean="0"/>
          </a:p>
          <a:p>
            <a:pPr>
              <a:buNone/>
            </a:pPr>
            <a:endParaRPr lang="es-BO"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CEFALEA</a:t>
            </a:r>
            <a:endParaRPr lang="es-BO" dirty="0"/>
          </a:p>
        </p:txBody>
      </p:sp>
      <p:sp>
        <p:nvSpPr>
          <p:cNvPr id="3" name="2 Marcador de contenido"/>
          <p:cNvSpPr>
            <a:spLocks noGrp="1"/>
          </p:cNvSpPr>
          <p:nvPr>
            <p:ph idx="1"/>
          </p:nvPr>
        </p:nvSpPr>
        <p:spPr/>
        <p:txBody>
          <a:bodyPr/>
          <a:lstStyle/>
          <a:p>
            <a:pPr>
              <a:buNone/>
            </a:pPr>
            <a:r>
              <a:rPr lang="es-AR" sz="2000" dirty="0" smtClean="0"/>
              <a:t>CEFALEA TENSIONAL</a:t>
            </a:r>
            <a:endParaRPr lang="es-BO" sz="2000" dirty="0" smtClean="0"/>
          </a:p>
          <a:p>
            <a:pPr>
              <a:buNone/>
            </a:pPr>
            <a:r>
              <a:rPr lang="es-AR" sz="2000" dirty="0" smtClean="0"/>
              <a:t>Es un subtipo de cefalea que se presenta por episodios  asociados al estrés de calidad opresiva  no pulsátil, densidad leve a moderada </a:t>
            </a:r>
            <a:r>
              <a:rPr lang="es-AR" sz="2000" dirty="0" err="1" smtClean="0"/>
              <a:t>bi</a:t>
            </a:r>
            <a:r>
              <a:rPr lang="es-AR" sz="2000" dirty="0" smtClean="0"/>
              <a:t> lateral, sin fotofobia  ni agravamiento por los esfuerzos  y tiene una duración de 15 minutos a 15 días a un mes.</a:t>
            </a:r>
            <a:endParaRPr lang="es-BO" sz="2000" dirty="0" smtClean="0"/>
          </a:p>
          <a:p>
            <a:endParaRPr lang="es-BO" dirty="0"/>
          </a:p>
        </p:txBody>
      </p:sp>
      <p:pic>
        <p:nvPicPr>
          <p:cNvPr id="4" name="3 Imagen" descr="http://t0.gstatic.com/images?q=tbn:ANd9GcTbDskCZ3dd5oFFdmigh_wUggTPE2y_4njDAi5ygA31oRUT1Zna-A"/>
          <p:cNvPicPr/>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1331640" y="3861048"/>
            <a:ext cx="5472608" cy="278167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MIGRAÑA</a:t>
            </a:r>
            <a:endParaRPr lang="es-BO" dirty="0"/>
          </a:p>
        </p:txBody>
      </p:sp>
      <p:sp>
        <p:nvSpPr>
          <p:cNvPr id="4" name="3 Marcador de contenido"/>
          <p:cNvSpPr>
            <a:spLocks noGrp="1"/>
          </p:cNvSpPr>
          <p:nvPr>
            <p:ph idx="1"/>
          </p:nvPr>
        </p:nvSpPr>
        <p:spPr/>
        <p:txBody>
          <a:bodyPr>
            <a:normAutofit fontScale="92500" lnSpcReduction="20000"/>
          </a:bodyPr>
          <a:lstStyle/>
          <a:p>
            <a:r>
              <a:rPr lang="es-AR" dirty="0" smtClean="0"/>
              <a:t>MIGRAÑA </a:t>
            </a:r>
            <a:endParaRPr lang="es-BO" dirty="0" smtClean="0"/>
          </a:p>
          <a:p>
            <a:pPr>
              <a:buNone/>
            </a:pPr>
            <a:r>
              <a:rPr lang="es-AR" dirty="0" smtClean="0"/>
              <a:t>Es un subtipo de cefalea que se presenta con ataques agudos que duran de 4 a 72 horas estas pueden ser unilaterales pulsátiles, de intensidad moderada a grave  los cuales aumentan con los esfuerzos y estímulos  acompañados de nauseas, vómitos y fotofobias.</a:t>
            </a:r>
            <a:endParaRPr lang="es-BO" dirty="0" smtClean="0"/>
          </a:p>
          <a:p>
            <a:pPr lvl="0">
              <a:buNone/>
            </a:pPr>
            <a:r>
              <a:rPr lang="es-AR" b="1" i="1" dirty="0" smtClean="0"/>
              <a:t>Migraña con aura:</a:t>
            </a:r>
            <a:r>
              <a:rPr lang="es-AR" dirty="0" smtClean="0"/>
              <a:t> dura de 4 a 72 horas con presencia de nauseas vómitos, fotofobia , fono fobia  y </a:t>
            </a:r>
            <a:r>
              <a:rPr lang="es-AR" dirty="0" err="1" smtClean="0"/>
              <a:t>osmofobia</a:t>
            </a:r>
            <a:r>
              <a:rPr lang="es-AR" dirty="0" smtClean="0"/>
              <a:t>.</a:t>
            </a:r>
            <a:endParaRPr lang="es-BO" dirty="0" smtClean="0"/>
          </a:p>
          <a:p>
            <a:pPr lvl="0">
              <a:buNone/>
            </a:pPr>
            <a:r>
              <a:rPr lang="es-AR" b="1" i="1" dirty="0" smtClean="0"/>
              <a:t>Migraña sin aura:</a:t>
            </a:r>
            <a:r>
              <a:rPr lang="es-AR" dirty="0" smtClean="0"/>
              <a:t> son síntomas  que presentan disfunción neurológica como problemas visuales, hiperactividad, hipertensión, etc. (son tratados con AINES)</a:t>
            </a:r>
            <a:endParaRPr lang="es-BO" dirty="0" smtClean="0"/>
          </a:p>
          <a:p>
            <a:endParaRPr lang="es-BO"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CEFALEA - MIGRAÑA</a:t>
            </a:r>
            <a:endParaRPr lang="es-BO" dirty="0"/>
          </a:p>
        </p:txBody>
      </p:sp>
      <p:sp>
        <p:nvSpPr>
          <p:cNvPr id="4" name="3 Marcador de contenido"/>
          <p:cNvSpPr>
            <a:spLocks noGrp="1"/>
          </p:cNvSpPr>
          <p:nvPr>
            <p:ph idx="1"/>
          </p:nvPr>
        </p:nvSpPr>
        <p:spPr/>
        <p:txBody>
          <a:bodyPr>
            <a:normAutofit/>
          </a:bodyPr>
          <a:lstStyle/>
          <a:p>
            <a:pPr>
              <a:buNone/>
            </a:pPr>
            <a:r>
              <a:rPr lang="es-AR" dirty="0" smtClean="0"/>
              <a:t>Factores de riesgo:</a:t>
            </a:r>
            <a:endParaRPr lang="es-BO" dirty="0" smtClean="0"/>
          </a:p>
          <a:p>
            <a:pPr>
              <a:buNone/>
            </a:pPr>
            <a:r>
              <a:rPr lang="es-AR" dirty="0" smtClean="0"/>
              <a:t>Sean identificado alimentos que son factores para la presentación de la migraña:</a:t>
            </a:r>
            <a:endParaRPr lang="es-BO" dirty="0" smtClean="0"/>
          </a:p>
          <a:p>
            <a:pPr lvl="0">
              <a:buNone/>
            </a:pPr>
            <a:r>
              <a:rPr lang="es-AR" dirty="0" smtClean="0"/>
              <a:t>Dieta con grasas insaturadas(quesos, enbutidos,enlatados cítricos,cafeína y chocolates)</a:t>
            </a:r>
            <a:endParaRPr lang="es-BO" dirty="0" smtClean="0"/>
          </a:p>
          <a:p>
            <a:pPr lvl="0">
              <a:buNone/>
            </a:pPr>
            <a:r>
              <a:rPr lang="es-AR" dirty="0" smtClean="0"/>
              <a:t>Consumo de alcohol  y tabaco.</a:t>
            </a:r>
            <a:endParaRPr lang="es-BO" dirty="0" smtClean="0"/>
          </a:p>
          <a:p>
            <a:pPr lvl="0">
              <a:buNone/>
            </a:pPr>
            <a:r>
              <a:rPr lang="es-AR" dirty="0" smtClean="0"/>
              <a:t>Stres o estado de ansiedad.</a:t>
            </a:r>
            <a:endParaRPr lang="es-BO" dirty="0" smtClean="0"/>
          </a:p>
          <a:p>
            <a:pPr lvl="0">
              <a:buNone/>
            </a:pPr>
            <a:r>
              <a:rPr lang="es-AR" dirty="0" smtClean="0"/>
              <a:t>Cambios hormonales, pos menopausia, peri menstruales, peri ovulares. </a:t>
            </a:r>
            <a:endParaRPr lang="es-BO" dirty="0" smtClean="0"/>
          </a:p>
          <a:p>
            <a:endParaRPr lang="es-BO"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CEFALEA - MIGRAÑA</a:t>
            </a:r>
            <a:endParaRPr lang="es-BO" dirty="0"/>
          </a:p>
        </p:txBody>
      </p:sp>
      <p:pic>
        <p:nvPicPr>
          <p:cNvPr id="5" name="4 Marcador de contenido" descr="http://kinexpert.bligoo.com/media/users/4/207218/images/public/22132/1321994994936-migrana_vomitando.jpg?v=1321995031190"/>
          <p:cNvPicPr>
            <a:picLocks noGrp="1"/>
          </p:cNvPicPr>
          <p:nvPr>
            <p:ph idx="1"/>
          </p:nvPr>
        </p:nvPicPr>
        <p:blipFill>
          <a:blip r:embed="rId2" cstate="print">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urn:schemas-microsoft-com:office:office" xmlns:mc="http://schemas.openxmlformats.org/markup-compatibility/2006" xmlns:wpc="http://schemas.microsoft.com/office/word/2010/wordprocessingCanvas" xmlns="" val="0"/>
              </a:ext>
            </a:extLst>
          </a:blip>
          <a:srcRect/>
          <a:stretch>
            <a:fillRect/>
          </a:stretch>
        </p:blipFill>
        <p:spPr bwMode="auto">
          <a:xfrm>
            <a:off x="485775" y="1704181"/>
            <a:ext cx="7181850" cy="4657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MIGRAÑA</a:t>
            </a:r>
            <a:endParaRPr lang="es-BO" dirty="0"/>
          </a:p>
        </p:txBody>
      </p:sp>
      <p:sp>
        <p:nvSpPr>
          <p:cNvPr id="4" name="3 Marcador de contenido"/>
          <p:cNvSpPr>
            <a:spLocks noGrp="1"/>
          </p:cNvSpPr>
          <p:nvPr>
            <p:ph idx="1"/>
          </p:nvPr>
        </p:nvSpPr>
        <p:spPr/>
        <p:txBody>
          <a:bodyPr>
            <a:normAutofit fontScale="92500" lnSpcReduction="10000"/>
          </a:bodyPr>
          <a:lstStyle/>
          <a:p>
            <a:r>
              <a:rPr lang="es-AR" dirty="0" smtClean="0"/>
              <a:t>Los analgésicos, sean del tipo que sean, suelen ser eficaces en el control de las cefaleas episódicas. Sin embargo, su uso frecuente y prolongado presenta, a la larga, demasiados inconvenientes y efectos secundarios contraproducentes. Por ese motivo se recomienda que, cuando las cefaleas se repiten más de cuatro o cinco veces durante un mes, al tratamiento analgésico debe añadirse una medicación preventiva que reduzca su frecuencia. Los tratamientos preventivos tienen la capacidad de disminuir el número y la intensidad de los ataques </a:t>
            </a:r>
            <a:r>
              <a:rPr lang="es-AR" dirty="0" err="1" smtClean="0"/>
              <a:t>migrañosos</a:t>
            </a:r>
            <a:r>
              <a:rPr lang="es-AR" dirty="0" smtClean="0"/>
              <a:t> de forma significativa</a:t>
            </a:r>
            <a:endParaRPr lang="es-BO"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FARMACOS UTILIZADOS</a:t>
            </a:r>
            <a:endParaRPr lang="es-BO" dirty="0"/>
          </a:p>
        </p:txBody>
      </p:sp>
      <p:sp>
        <p:nvSpPr>
          <p:cNvPr id="4" name="3 Marcador de contenido"/>
          <p:cNvSpPr>
            <a:spLocks noGrp="1"/>
          </p:cNvSpPr>
          <p:nvPr>
            <p:ph idx="1"/>
          </p:nvPr>
        </p:nvSpPr>
        <p:spPr/>
        <p:txBody>
          <a:bodyPr>
            <a:normAutofit fontScale="77500" lnSpcReduction="20000"/>
          </a:bodyPr>
          <a:lstStyle/>
          <a:p>
            <a:r>
              <a:rPr lang="es-AR" b="1" dirty="0" smtClean="0"/>
              <a:t>Fármacos más usados en la prevención de las migrañas</a:t>
            </a:r>
            <a:endParaRPr lang="es-BO" dirty="0" smtClean="0"/>
          </a:p>
          <a:p>
            <a:pPr lvl="0">
              <a:buNone/>
            </a:pPr>
            <a:r>
              <a:rPr lang="es-AR" dirty="0" smtClean="0"/>
              <a:t>Grupo terapéutico</a:t>
            </a:r>
            <a:endParaRPr lang="es-BO" dirty="0" smtClean="0"/>
          </a:p>
          <a:p>
            <a:pPr>
              <a:buNone/>
            </a:pPr>
            <a:r>
              <a:rPr lang="es-AR" dirty="0" smtClean="0"/>
              <a:t>Betabloqueantes</a:t>
            </a:r>
            <a:endParaRPr lang="es-BO" dirty="0" smtClean="0"/>
          </a:p>
          <a:p>
            <a:pPr>
              <a:buNone/>
            </a:pPr>
            <a:r>
              <a:rPr lang="es-AR" dirty="0" smtClean="0"/>
              <a:t>Antagonistas del calcio</a:t>
            </a:r>
            <a:endParaRPr lang="es-BO" dirty="0" smtClean="0"/>
          </a:p>
          <a:p>
            <a:pPr>
              <a:buNone/>
            </a:pPr>
            <a:r>
              <a:rPr lang="es-AR" dirty="0" smtClean="0"/>
              <a:t>Antidepresivos </a:t>
            </a:r>
            <a:r>
              <a:rPr lang="es-AR" dirty="0" err="1" smtClean="0"/>
              <a:t>tricíclicos</a:t>
            </a:r>
            <a:endParaRPr lang="es-BO" dirty="0" smtClean="0"/>
          </a:p>
          <a:p>
            <a:pPr>
              <a:buNone/>
            </a:pPr>
            <a:r>
              <a:rPr lang="es-AR" dirty="0" smtClean="0"/>
              <a:t>Antiepilépticos</a:t>
            </a:r>
            <a:endParaRPr lang="es-BO" dirty="0" smtClean="0"/>
          </a:p>
          <a:p>
            <a:pPr>
              <a:buNone/>
            </a:pPr>
            <a:r>
              <a:rPr lang="es-AR" dirty="0" smtClean="0"/>
              <a:t>AINE</a:t>
            </a:r>
            <a:endParaRPr lang="es-BO" dirty="0" smtClean="0"/>
          </a:p>
          <a:p>
            <a:pPr>
              <a:buNone/>
            </a:pPr>
            <a:r>
              <a:rPr lang="es-AR" dirty="0" smtClean="0"/>
              <a:t>Agentes </a:t>
            </a:r>
            <a:r>
              <a:rPr lang="es-AR" dirty="0" err="1" smtClean="0"/>
              <a:t>antiserotoninérgicos</a:t>
            </a:r>
            <a:endParaRPr lang="es-BO" dirty="0" smtClean="0"/>
          </a:p>
          <a:p>
            <a:r>
              <a:rPr lang="es-AR" b="1" i="1" dirty="0" smtClean="0"/>
              <a:t>Fármaco prototipo</a:t>
            </a:r>
            <a:endParaRPr lang="es-BO" dirty="0" smtClean="0"/>
          </a:p>
          <a:p>
            <a:pPr>
              <a:buNone/>
            </a:pPr>
            <a:r>
              <a:rPr lang="es-AR" dirty="0" err="1" smtClean="0"/>
              <a:t>Propranolol</a:t>
            </a:r>
            <a:r>
              <a:rPr lang="es-AR" dirty="0" smtClean="0"/>
              <a:t>, como </a:t>
            </a:r>
            <a:r>
              <a:rPr lang="es-AR" dirty="0" err="1" smtClean="0"/>
              <a:t>Sumial</a:t>
            </a:r>
            <a:r>
              <a:rPr lang="es-AR" dirty="0" smtClean="0"/>
              <a:t>®</a:t>
            </a:r>
            <a:endParaRPr lang="es-BO" dirty="0" smtClean="0"/>
          </a:p>
          <a:p>
            <a:pPr>
              <a:buNone/>
            </a:pPr>
            <a:r>
              <a:rPr lang="es-AR" dirty="0" err="1" smtClean="0"/>
              <a:t>Flunarizina</a:t>
            </a:r>
            <a:r>
              <a:rPr lang="es-AR" dirty="0" smtClean="0"/>
              <a:t>, como </a:t>
            </a:r>
            <a:r>
              <a:rPr lang="es-AR" dirty="0" err="1" smtClean="0"/>
              <a:t>Sibelium</a:t>
            </a:r>
            <a:r>
              <a:rPr lang="es-AR" dirty="0" smtClean="0"/>
              <a:t>®</a:t>
            </a:r>
            <a:endParaRPr lang="es-BO" dirty="0" smtClean="0"/>
          </a:p>
          <a:p>
            <a:pPr>
              <a:buNone/>
            </a:pPr>
            <a:r>
              <a:rPr lang="es-AR" dirty="0" err="1" smtClean="0"/>
              <a:t>Amitriptilina</a:t>
            </a:r>
            <a:r>
              <a:rPr lang="es-AR" dirty="0" smtClean="0"/>
              <a:t>, como </a:t>
            </a:r>
            <a:r>
              <a:rPr lang="es-AR" dirty="0" err="1" smtClean="0"/>
              <a:t>Tryptizol</a:t>
            </a:r>
            <a:r>
              <a:rPr lang="es-AR" dirty="0" smtClean="0"/>
              <a:t>®</a:t>
            </a:r>
            <a:endParaRPr lang="es-BO" dirty="0" smtClean="0"/>
          </a:p>
          <a:p>
            <a:pPr>
              <a:buNone/>
            </a:pPr>
            <a:r>
              <a:rPr lang="es-AR" dirty="0" err="1" smtClean="0"/>
              <a:t>Valproato</a:t>
            </a:r>
            <a:r>
              <a:rPr lang="es-AR" dirty="0" smtClean="0"/>
              <a:t> sódico, como </a:t>
            </a:r>
            <a:r>
              <a:rPr lang="es-AR" dirty="0" err="1" smtClean="0"/>
              <a:t>Depakine</a:t>
            </a:r>
            <a:r>
              <a:rPr lang="es-AR" dirty="0" smtClean="0"/>
              <a:t>®</a:t>
            </a:r>
            <a:endParaRPr lang="es-BO" dirty="0" smtClean="0"/>
          </a:p>
          <a:p>
            <a:pPr>
              <a:buNone/>
            </a:pPr>
            <a:r>
              <a:rPr lang="es-AR" dirty="0" err="1" smtClean="0"/>
              <a:t>Naproxeno</a:t>
            </a:r>
            <a:r>
              <a:rPr lang="es-AR" dirty="0" smtClean="0"/>
              <a:t> sódico, como </a:t>
            </a:r>
            <a:r>
              <a:rPr lang="es-AR" dirty="0" err="1" smtClean="0"/>
              <a:t>Naproxin</a:t>
            </a:r>
            <a:r>
              <a:rPr lang="es-AR" dirty="0" smtClean="0"/>
              <a:t>®</a:t>
            </a:r>
            <a:endParaRPr lang="es-BO" dirty="0" smtClean="0"/>
          </a:p>
          <a:p>
            <a:pPr>
              <a:buNone/>
            </a:pPr>
            <a:r>
              <a:rPr lang="es-AR" dirty="0" err="1" smtClean="0"/>
              <a:t>Ciproheptadina</a:t>
            </a:r>
            <a:r>
              <a:rPr lang="es-AR" dirty="0" smtClean="0"/>
              <a:t>, </a:t>
            </a:r>
            <a:r>
              <a:rPr lang="es-AR" dirty="0" err="1" smtClean="0"/>
              <a:t>pizotifeno</a:t>
            </a:r>
            <a:endParaRPr lang="es-BO" dirty="0" smtClean="0"/>
          </a:p>
          <a:p>
            <a:endParaRPr lang="es-BO"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FARMACOS UTILAZADOS</a:t>
            </a:r>
            <a:endParaRPr lang="es-BO" dirty="0"/>
          </a:p>
        </p:txBody>
      </p:sp>
      <p:sp>
        <p:nvSpPr>
          <p:cNvPr id="4" name="3 Marcador de contenido"/>
          <p:cNvSpPr>
            <a:spLocks noGrp="1"/>
          </p:cNvSpPr>
          <p:nvPr>
            <p:ph idx="1"/>
          </p:nvPr>
        </p:nvSpPr>
        <p:spPr/>
        <p:txBody>
          <a:bodyPr/>
          <a:lstStyle/>
          <a:p>
            <a:r>
              <a:rPr lang="es-AR" b="1" dirty="0" smtClean="0"/>
              <a:t>Betabloqueantes</a:t>
            </a:r>
            <a:endParaRPr lang="es-BO" dirty="0" smtClean="0"/>
          </a:p>
          <a:p>
            <a:pPr>
              <a:buNone/>
            </a:pPr>
            <a:r>
              <a:rPr lang="es-AR" dirty="0" smtClean="0"/>
              <a:t>Los betabloqueantes son fármacos que actúan, entre otras cosas, en el control del calibre vascular. Su mecanismo de acción parece relacionarse con su capacidad de prevenir las respuestas vasodilatadoras excesivas provocadas por determinados estímulos frecuentes en los pacientes </a:t>
            </a:r>
            <a:r>
              <a:rPr lang="es-AR" dirty="0" err="1" smtClean="0"/>
              <a:t>migrañosos</a:t>
            </a:r>
            <a:r>
              <a:rPr lang="es-AR" dirty="0" smtClean="0"/>
              <a:t>.</a:t>
            </a:r>
            <a:endParaRPr lang="es-BO" dirty="0" smtClean="0"/>
          </a:p>
          <a:p>
            <a:pPr>
              <a:buNone/>
            </a:pPr>
            <a:endParaRPr lang="es-BO" dirty="0" smtClean="0"/>
          </a:p>
          <a:p>
            <a:pPr>
              <a:buNone/>
            </a:pPr>
            <a:endParaRPr lang="es-BO"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Cefalea - migraña</a:t>
            </a:r>
            <a:endParaRPr lang="es-BO" dirty="0"/>
          </a:p>
        </p:txBody>
      </p:sp>
      <p:sp>
        <p:nvSpPr>
          <p:cNvPr id="4" name="3 Marcador de contenido"/>
          <p:cNvSpPr>
            <a:spLocks noGrp="1"/>
          </p:cNvSpPr>
          <p:nvPr>
            <p:ph idx="1"/>
          </p:nvPr>
        </p:nvSpPr>
        <p:spPr/>
        <p:txBody>
          <a:bodyPr>
            <a:normAutofit lnSpcReduction="10000"/>
          </a:bodyPr>
          <a:lstStyle/>
          <a:p>
            <a:r>
              <a:rPr lang="es-AR" b="1" dirty="0" smtClean="0"/>
              <a:t>Efectos secundarios</a:t>
            </a:r>
            <a:endParaRPr lang="es-ES" dirty="0" smtClean="0"/>
          </a:p>
          <a:p>
            <a:r>
              <a:rPr lang="es-AR" dirty="0" smtClean="0"/>
              <a:t>Hasta una cuarta parte de los pacientes en tratamiento con beta-bloqueantes refiere algún tipo de efecto secundario imprevisto, destacando los que afectan a la función de las arterias periféricas y corazón (tensión baja, disminución de la frecuencia cardiaca, arritmias, reducción de la tolerancia al ejercicio) y la del aparato digestivo (náuseas, vómitos, diarrea, dolor abdominal). El </a:t>
            </a:r>
            <a:r>
              <a:rPr lang="es-AR" dirty="0" err="1" smtClean="0"/>
              <a:t>propranolol</a:t>
            </a:r>
            <a:r>
              <a:rPr lang="es-AR" dirty="0" smtClean="0"/>
              <a:t> también puede producir impotencia en algunos varones que desaparece con la retirada del fármaco. </a:t>
            </a:r>
            <a:endParaRPr lang="es-BO"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r>
              <a:rPr lang="es-BO" dirty="0" smtClean="0"/>
              <a:t>Cefalea - migraña</a:t>
            </a:r>
            <a:endParaRPr lang="es-BO" dirty="0"/>
          </a:p>
        </p:txBody>
      </p:sp>
      <p:sp>
        <p:nvSpPr>
          <p:cNvPr id="4" name="3 Marcador de contenido"/>
          <p:cNvSpPr>
            <a:spLocks noGrp="1"/>
          </p:cNvSpPr>
          <p:nvPr>
            <p:ph idx="1"/>
          </p:nvPr>
        </p:nvSpPr>
        <p:spPr/>
        <p:txBody>
          <a:bodyPr>
            <a:normAutofit fontScale="85000" lnSpcReduction="20000"/>
          </a:bodyPr>
          <a:lstStyle/>
          <a:p>
            <a:r>
              <a:rPr lang="es-AR" b="1" dirty="0" smtClean="0"/>
              <a:t>Contraindicaciones formales para el uso de betabloqueantes</a:t>
            </a:r>
            <a:endParaRPr lang="es-BO" dirty="0" smtClean="0"/>
          </a:p>
          <a:p>
            <a:pPr>
              <a:buNone/>
            </a:pPr>
            <a:r>
              <a:rPr lang="es-AR" dirty="0" smtClean="0"/>
              <a:t>Diabetes </a:t>
            </a:r>
            <a:r>
              <a:rPr lang="es-AR" dirty="0" err="1" smtClean="0"/>
              <a:t>mellitus</a:t>
            </a:r>
            <a:r>
              <a:rPr lang="es-AR" dirty="0" smtClean="0"/>
              <a:t>: enmascaran la aparición de los síntomas que en estos pacientes avisan de la existencia de una hipoglucemia.</a:t>
            </a:r>
            <a:endParaRPr lang="es-BO" dirty="0" smtClean="0"/>
          </a:p>
          <a:p>
            <a:pPr>
              <a:buNone/>
            </a:pPr>
            <a:r>
              <a:rPr lang="es-AR" dirty="0" smtClean="0"/>
              <a:t>Asma o enfermedad pulmonar obstructiva crónica: aumentan la </a:t>
            </a:r>
            <a:r>
              <a:rPr lang="es-AR" dirty="0" err="1" smtClean="0"/>
              <a:t>broncoconsticción</a:t>
            </a:r>
            <a:r>
              <a:rPr lang="es-AR" dirty="0" smtClean="0"/>
              <a:t>.</a:t>
            </a:r>
            <a:endParaRPr lang="es-BO" dirty="0" smtClean="0"/>
          </a:p>
          <a:p>
            <a:pPr>
              <a:buNone/>
            </a:pPr>
            <a:r>
              <a:rPr lang="es-AR" dirty="0" smtClean="0"/>
              <a:t>Insuficiencia cardiaca congestiva y arritmias (especialmente bloqueos </a:t>
            </a:r>
            <a:r>
              <a:rPr lang="es-AR" dirty="0" err="1" smtClean="0"/>
              <a:t>aurículo</a:t>
            </a:r>
            <a:r>
              <a:rPr lang="es-AR" dirty="0" smtClean="0"/>
              <a:t>-ventriculares): disminuyen la capacidad de bombeo del ventrículo izquierdo y aumentan el grado de bloqueo.</a:t>
            </a:r>
            <a:endParaRPr lang="es-BO" dirty="0" smtClean="0"/>
          </a:p>
          <a:p>
            <a:pPr>
              <a:buNone/>
            </a:pPr>
            <a:r>
              <a:rPr lang="es-AR" dirty="0" smtClean="0"/>
              <a:t>Trastornos de la circulación periférica: provocan vasoconstricción periférica.</a:t>
            </a:r>
            <a:endParaRPr lang="es-BO" dirty="0" smtClean="0"/>
          </a:p>
          <a:p>
            <a:pPr>
              <a:buNone/>
            </a:pPr>
            <a:r>
              <a:rPr lang="es-AR" dirty="0" smtClean="0"/>
              <a:t>Antecedentes depresivos importantes: empeoran los cuadros depresivos.</a:t>
            </a:r>
            <a:endParaRPr lang="es-BO" dirty="0" smtClean="0"/>
          </a:p>
          <a:p>
            <a:pPr>
              <a:buNone/>
            </a:pPr>
            <a:endParaRPr lang="es-BO"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smtClean="0"/>
              <a:t>Farmacologia</a:t>
            </a:r>
            <a:r>
              <a:rPr lang="es-ES" dirty="0" smtClean="0"/>
              <a:t> </a:t>
            </a:r>
            <a:endParaRPr lang="es-ES" dirty="0"/>
          </a:p>
        </p:txBody>
      </p:sp>
      <p:sp>
        <p:nvSpPr>
          <p:cNvPr id="3" name="2 Marcador de contenido"/>
          <p:cNvSpPr>
            <a:spLocks noGrp="1"/>
          </p:cNvSpPr>
          <p:nvPr>
            <p:ph idx="1"/>
          </p:nvPr>
        </p:nvSpPr>
        <p:spPr/>
        <p:txBody>
          <a:bodyPr/>
          <a:lstStyle/>
          <a:p>
            <a:r>
              <a:rPr lang="es-AR" b="1" dirty="0" smtClean="0"/>
              <a:t>Antagonistas de los canales del calcio</a:t>
            </a:r>
            <a:endParaRPr lang="es-ES" dirty="0" smtClean="0"/>
          </a:p>
          <a:p>
            <a:r>
              <a:rPr lang="es-AR" dirty="0" smtClean="0"/>
              <a:t>Los antagonistas de los canales del calcio son los medicamentos más usados en la prevención de las migrañas en nuestro país. Su acción consiste en bloquear los canales permeables al ión calcio que están alojados en las membranas de las células. Normalmente, la entrada del calcio a través de estos canales, induce cambios de las células musculares de la pared arterial y, por tanto, en el calibre de dichas arterias</a:t>
            </a:r>
            <a:endParaRPr lang="es-E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smtClean="0"/>
              <a:t>farmacologia</a:t>
            </a:r>
            <a:endParaRPr lang="es-ES" dirty="0"/>
          </a:p>
        </p:txBody>
      </p:sp>
      <p:sp>
        <p:nvSpPr>
          <p:cNvPr id="3" name="2 Marcador de contenido"/>
          <p:cNvSpPr>
            <a:spLocks noGrp="1"/>
          </p:cNvSpPr>
          <p:nvPr>
            <p:ph idx="1"/>
          </p:nvPr>
        </p:nvSpPr>
        <p:spPr/>
        <p:txBody>
          <a:bodyPr/>
          <a:lstStyle/>
          <a:p>
            <a:r>
              <a:rPr lang="es-AR" dirty="0" smtClean="0"/>
              <a:t>La </a:t>
            </a:r>
            <a:r>
              <a:rPr lang="es-AR" dirty="0" err="1" smtClean="0"/>
              <a:t>Flunarizina</a:t>
            </a:r>
            <a:r>
              <a:rPr lang="es-AR" dirty="0" smtClean="0"/>
              <a:t> se usa habitualmente como primer medicamento profiláctico en el tratamiento de las migrañas aunque, paradójicamente, opuestamente a otros antagonistas del calcio, no se ha podido demostrar que modifique significativamente el calibre arterial. Sin embargo su eficacia es bien conocida.</a:t>
            </a:r>
            <a:endParaRPr lang="es-ES" dirty="0" smtClean="0"/>
          </a:p>
          <a:p>
            <a:endParaRPr lang="es-E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smtClean="0"/>
              <a:t>farmacologia</a:t>
            </a:r>
            <a:endParaRPr lang="es-ES" dirty="0"/>
          </a:p>
        </p:txBody>
      </p:sp>
      <p:sp>
        <p:nvSpPr>
          <p:cNvPr id="3" name="2 Marcador de contenido"/>
          <p:cNvSpPr>
            <a:spLocks noGrp="1"/>
          </p:cNvSpPr>
          <p:nvPr>
            <p:ph idx="1"/>
          </p:nvPr>
        </p:nvSpPr>
        <p:spPr/>
        <p:txBody>
          <a:bodyPr/>
          <a:lstStyle/>
          <a:p>
            <a:r>
              <a:rPr lang="es-AR" b="1" dirty="0" smtClean="0"/>
              <a:t>Efectos secundarios</a:t>
            </a:r>
            <a:endParaRPr lang="es-ES" dirty="0" smtClean="0"/>
          </a:p>
          <a:p>
            <a:r>
              <a:rPr lang="es-AR" dirty="0" smtClean="0"/>
              <a:t>Por estas razones, es comprensible que la </a:t>
            </a:r>
            <a:r>
              <a:rPr lang="es-AR" dirty="0" err="1" smtClean="0"/>
              <a:t>Flunarizina</a:t>
            </a:r>
            <a:r>
              <a:rPr lang="es-AR" dirty="0" smtClean="0"/>
              <a:t> esté formalmente contraindicada en pacientes con enfermedad de Parkinson y en casos con historia previa de depresión. Entre los efectos secundarios menores destacan la somnolencia, la fatiga generalizada y un aumento de peso desapareciendo al retirar la medicación</a:t>
            </a:r>
            <a:endParaRPr lang="es-E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smtClean="0"/>
              <a:t>farmacologia</a:t>
            </a:r>
            <a:endParaRPr lang="es-ES" dirty="0"/>
          </a:p>
        </p:txBody>
      </p:sp>
      <p:sp>
        <p:nvSpPr>
          <p:cNvPr id="3" name="2 Marcador de contenido"/>
          <p:cNvSpPr>
            <a:spLocks noGrp="1"/>
          </p:cNvSpPr>
          <p:nvPr>
            <p:ph idx="1"/>
          </p:nvPr>
        </p:nvSpPr>
        <p:spPr/>
        <p:txBody>
          <a:bodyPr>
            <a:normAutofit fontScale="92500" lnSpcReduction="10000"/>
          </a:bodyPr>
          <a:lstStyle/>
          <a:p>
            <a:r>
              <a:rPr lang="es-AR" b="1" dirty="0" smtClean="0"/>
              <a:t>Antiinflamatorios No </a:t>
            </a:r>
            <a:r>
              <a:rPr lang="es-AR" b="1" dirty="0" err="1" smtClean="0"/>
              <a:t>Esteroideos</a:t>
            </a:r>
            <a:r>
              <a:rPr lang="es-AR" b="1" dirty="0" smtClean="0"/>
              <a:t> (AINE)</a:t>
            </a:r>
            <a:endParaRPr lang="es-ES" dirty="0" smtClean="0"/>
          </a:p>
          <a:p>
            <a:r>
              <a:rPr lang="es-AR" dirty="0" smtClean="0"/>
              <a:t>Aunque los AINE son uno de los pilares básicos del tratamiento sintomático de las migrañas, la mayor parte de estos fármacos no ha mostrado actividad alguna en la prevención de las cefaleas vasculares. La excepción a esta regla la constituye el </a:t>
            </a:r>
            <a:r>
              <a:rPr lang="es-AR" dirty="0" err="1" smtClean="0"/>
              <a:t>naproxeno</a:t>
            </a:r>
            <a:r>
              <a:rPr lang="es-AR" dirty="0" smtClean="0"/>
              <a:t> sódico y el ácido </a:t>
            </a:r>
            <a:r>
              <a:rPr lang="es-AR" dirty="0" err="1" smtClean="0"/>
              <a:t>acetilsalicílico</a:t>
            </a:r>
            <a:r>
              <a:rPr lang="es-AR" dirty="0" smtClean="0"/>
              <a:t>. Otros AINE han mostrado un reducido grado de eficacia en estudios aislados. El uso crónico de AINE en dosis altas debe hacerse bajo control estricto médico para evitar efectos secundarios importantes.</a:t>
            </a:r>
            <a:endParaRPr lang="es-ES" dirty="0" smtClean="0"/>
          </a:p>
          <a:p>
            <a:r>
              <a:rPr lang="es-AR" dirty="0" smtClean="0"/>
              <a:t> </a:t>
            </a:r>
            <a:endParaRPr lang="es-ES" dirty="0" smtClean="0"/>
          </a:p>
          <a:p>
            <a:endParaRPr lang="es-E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BO" dirty="0" smtClean="0"/>
              <a:t>Sistema nervioso central</a:t>
            </a:r>
            <a:endParaRPr lang="es-BO"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o">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o">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o">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62</TotalTime>
  <Words>1781</Words>
  <Application>Microsoft Office PowerPoint</Application>
  <PresentationFormat>Presentación en pantalla (4:3)</PresentationFormat>
  <Paragraphs>177</Paragraphs>
  <Slides>31</Slides>
  <Notes>0</Notes>
  <HiddenSlides>0</HiddenSlides>
  <MMClips>0</MMClips>
  <ScaleCrop>false</ScaleCrop>
  <HeadingPairs>
    <vt:vector size="4" baseType="variant">
      <vt:variant>
        <vt:lpstr>Tema</vt:lpstr>
      </vt:variant>
      <vt:variant>
        <vt:i4>1</vt:i4>
      </vt:variant>
      <vt:variant>
        <vt:lpstr>Títulos de diapositiva</vt:lpstr>
      </vt:variant>
      <vt:variant>
        <vt:i4>31</vt:i4>
      </vt:variant>
    </vt:vector>
  </HeadingPairs>
  <TitlesOfParts>
    <vt:vector size="32" baseType="lpstr">
      <vt:lpstr>Opulento</vt:lpstr>
      <vt:lpstr>SISTEMA NERVIOSO CENTRAL</vt:lpstr>
      <vt:lpstr>Sistema nervioso central</vt:lpstr>
      <vt:lpstr>SISTEMA NERVIOSO CENTRAL </vt:lpstr>
      <vt:lpstr>SISTEMA NERVIOSO CENTRAL</vt:lpstr>
      <vt:lpstr>SISTEMA NERVIOSO CENTRAL</vt:lpstr>
      <vt:lpstr>SISTEMA NERVIOSO CENTRAL</vt:lpstr>
      <vt:lpstr>Sistema nervioso central</vt:lpstr>
      <vt:lpstr>SISTEMA NERVIOSO CENTRAL</vt:lpstr>
      <vt:lpstr>SISTEMA NERVIOSO CENTRAL</vt:lpstr>
      <vt:lpstr>SISTEMA NERVIOSO PERIFERICO</vt:lpstr>
      <vt:lpstr>SISTEMA NERVIOSO PERIFERICO</vt:lpstr>
      <vt:lpstr>SISTEMA NERVIOSO PERIFERICO</vt:lpstr>
      <vt:lpstr>SISTEMA NERVIOSO PERIFERICO</vt:lpstr>
      <vt:lpstr>SISTEMA NERVIOSO PERIFERICO</vt:lpstr>
      <vt:lpstr>S. N. P.</vt:lpstr>
      <vt:lpstr>S.N.P.</vt:lpstr>
      <vt:lpstr>SISTENA NERVIOSO PERIFERICO</vt:lpstr>
      <vt:lpstr>CEFALEA</vt:lpstr>
      <vt:lpstr>MIGRAÑA</vt:lpstr>
      <vt:lpstr>CEFALEA - MIGRAÑA</vt:lpstr>
      <vt:lpstr>CEFALEA - MIGRAÑA</vt:lpstr>
      <vt:lpstr>MIGRAÑA</vt:lpstr>
      <vt:lpstr>FARMACOS UTILIZADOS</vt:lpstr>
      <vt:lpstr>FARMACOS UTILAZADOS</vt:lpstr>
      <vt:lpstr>Cefalea - migraña</vt:lpstr>
      <vt:lpstr>Cefalea - migraña</vt:lpstr>
      <vt:lpstr>Farmacologia </vt:lpstr>
      <vt:lpstr>farmacologia</vt:lpstr>
      <vt:lpstr>farmacologia</vt:lpstr>
      <vt:lpstr>farmacologia</vt:lpstr>
      <vt:lpstr>Sistema nervioso central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minedu</dc:creator>
  <cp:lastModifiedBy>ALSIE CONSULTORES</cp:lastModifiedBy>
  <cp:revision>11</cp:revision>
  <dcterms:created xsi:type="dcterms:W3CDTF">2014-04-05T04:44:16Z</dcterms:created>
  <dcterms:modified xsi:type="dcterms:W3CDTF">2014-04-05T14:24:55Z</dcterms:modified>
</cp:coreProperties>
</file>