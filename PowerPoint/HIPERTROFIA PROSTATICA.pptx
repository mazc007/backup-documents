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18"/>
  </p:notesMasterIdLst>
  <p:sldIdLst>
    <p:sldId id="257" r:id="rId2"/>
    <p:sldId id="261" r:id="rId3"/>
    <p:sldId id="262" r:id="rId4"/>
    <p:sldId id="263" r:id="rId5"/>
    <p:sldId id="274" r:id="rId6"/>
    <p:sldId id="264" r:id="rId7"/>
    <p:sldId id="277" r:id="rId8"/>
    <p:sldId id="340" r:id="rId9"/>
    <p:sldId id="338" r:id="rId10"/>
    <p:sldId id="278" r:id="rId11"/>
    <p:sldId id="336" r:id="rId12"/>
    <p:sldId id="337" r:id="rId13"/>
    <p:sldId id="279" r:id="rId14"/>
    <p:sldId id="339" r:id="rId15"/>
    <p:sldId id="362" r:id="rId16"/>
    <p:sldId id="280" r:id="rId1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80" autoAdjust="0"/>
    <p:restoredTop sz="94660"/>
  </p:normalViewPr>
  <p:slideViewPr>
    <p:cSldViewPr>
      <p:cViewPr varScale="1">
        <p:scale>
          <a:sx n="70" d="100"/>
          <a:sy n="70" d="100"/>
        </p:scale>
        <p:origin x="-53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93E5C8-40B2-4A7E-8F4C-C1628DEEF07E}" type="datetimeFigureOut">
              <a:rPr lang="es-ES" smtClean="0"/>
              <a:pPr/>
              <a:t>28/11/2014</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EB0A09C-7F76-49C1-B63A-BB74A047E81B}" type="slidenum">
              <a:rPr lang="es-ES" smtClean="0"/>
              <a:pPr/>
              <a:t>‹Nº›</a:t>
            </a:fld>
            <a:endParaRPr lang="es-ES"/>
          </a:p>
        </p:txBody>
      </p:sp>
    </p:spTree>
    <p:extLst>
      <p:ext uri="{BB962C8B-B14F-4D97-AF65-F5344CB8AC3E}">
        <p14:creationId xmlns:p14="http://schemas.microsoft.com/office/powerpoint/2010/main" xmlns="" val="2479447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D92EC8C3-4C6E-4A3A-9964-75EF052F2D73}" type="slidenum">
              <a:rPr lang="es-ES" smtClean="0"/>
              <a:pPr/>
              <a:t>1</a:t>
            </a:fld>
            <a:endParaRPr lang="es-ES"/>
          </a:p>
        </p:txBody>
      </p:sp>
    </p:spTree>
    <p:extLst>
      <p:ext uri="{BB962C8B-B14F-4D97-AF65-F5344CB8AC3E}">
        <p14:creationId xmlns:p14="http://schemas.microsoft.com/office/powerpoint/2010/main" xmlns="" val="2431062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lvl1pPr algn="l" defTabSz="913837" eaLnBrk="0" hangingPunct="0">
              <a:spcBef>
                <a:spcPct val="30000"/>
              </a:spcBef>
              <a:defRPr sz="1200">
                <a:solidFill>
                  <a:schemeClr val="tx1"/>
                </a:solidFill>
                <a:latin typeface="Arial" charset="0"/>
              </a:defRPr>
            </a:lvl1pPr>
            <a:lvl2pPr marL="719993" indent="-276920" algn="l" defTabSz="913837" eaLnBrk="0" hangingPunct="0">
              <a:spcBef>
                <a:spcPct val="30000"/>
              </a:spcBef>
              <a:defRPr sz="1200">
                <a:solidFill>
                  <a:schemeClr val="tx1"/>
                </a:solidFill>
                <a:latin typeface="Arial" charset="0"/>
              </a:defRPr>
            </a:lvl2pPr>
            <a:lvl3pPr marL="1107681" indent="-221536" algn="l" defTabSz="913837" eaLnBrk="0" hangingPunct="0">
              <a:spcBef>
                <a:spcPct val="30000"/>
              </a:spcBef>
              <a:defRPr sz="1200">
                <a:solidFill>
                  <a:schemeClr val="tx1"/>
                </a:solidFill>
                <a:latin typeface="Arial" charset="0"/>
              </a:defRPr>
            </a:lvl3pPr>
            <a:lvl4pPr marL="1550754" indent="-221536" algn="l" defTabSz="913837" eaLnBrk="0" hangingPunct="0">
              <a:spcBef>
                <a:spcPct val="30000"/>
              </a:spcBef>
              <a:defRPr sz="1200">
                <a:solidFill>
                  <a:schemeClr val="tx1"/>
                </a:solidFill>
                <a:latin typeface="Arial" charset="0"/>
              </a:defRPr>
            </a:lvl4pPr>
            <a:lvl5pPr marL="1993826" indent="-221536" algn="l" defTabSz="913837" eaLnBrk="0" hangingPunct="0">
              <a:spcBef>
                <a:spcPct val="30000"/>
              </a:spcBef>
              <a:defRPr sz="1200">
                <a:solidFill>
                  <a:schemeClr val="tx1"/>
                </a:solidFill>
                <a:latin typeface="Arial" charset="0"/>
              </a:defRPr>
            </a:lvl5pPr>
            <a:lvl6pPr marL="2436899" indent="-221536" defTabSz="913837" eaLnBrk="0" fontAlgn="base" hangingPunct="0">
              <a:spcBef>
                <a:spcPct val="30000"/>
              </a:spcBef>
              <a:spcAft>
                <a:spcPct val="0"/>
              </a:spcAft>
              <a:defRPr sz="1200">
                <a:solidFill>
                  <a:schemeClr val="tx1"/>
                </a:solidFill>
                <a:latin typeface="Arial" charset="0"/>
              </a:defRPr>
            </a:lvl6pPr>
            <a:lvl7pPr marL="2879971" indent="-221536" defTabSz="913837" eaLnBrk="0" fontAlgn="base" hangingPunct="0">
              <a:spcBef>
                <a:spcPct val="30000"/>
              </a:spcBef>
              <a:spcAft>
                <a:spcPct val="0"/>
              </a:spcAft>
              <a:defRPr sz="1200">
                <a:solidFill>
                  <a:schemeClr val="tx1"/>
                </a:solidFill>
                <a:latin typeface="Arial" charset="0"/>
              </a:defRPr>
            </a:lvl7pPr>
            <a:lvl8pPr marL="3323044" indent="-221536" defTabSz="913837" eaLnBrk="0" fontAlgn="base" hangingPunct="0">
              <a:spcBef>
                <a:spcPct val="30000"/>
              </a:spcBef>
              <a:spcAft>
                <a:spcPct val="0"/>
              </a:spcAft>
              <a:defRPr sz="1200">
                <a:solidFill>
                  <a:schemeClr val="tx1"/>
                </a:solidFill>
                <a:latin typeface="Arial" charset="0"/>
              </a:defRPr>
            </a:lvl8pPr>
            <a:lvl9pPr marL="3766116" indent="-221536" defTabSz="913837" eaLnBrk="0" fontAlgn="base" hangingPunct="0">
              <a:spcBef>
                <a:spcPct val="30000"/>
              </a:spcBef>
              <a:spcAft>
                <a:spcPct val="0"/>
              </a:spcAft>
              <a:defRPr sz="1200">
                <a:solidFill>
                  <a:schemeClr val="tx1"/>
                </a:solidFill>
                <a:latin typeface="Arial" charset="0"/>
              </a:defRPr>
            </a:lvl9pPr>
          </a:lstStyle>
          <a:p>
            <a:pPr algn="r" eaLnBrk="1" hangingPunct="1">
              <a:spcBef>
                <a:spcPct val="0"/>
              </a:spcBef>
            </a:pPr>
            <a:fld id="{57466833-5D20-463F-8F4B-4BDEC0269ADB}" type="slidenum">
              <a:rPr lang="es-ES" altLang="es-ES" smtClean="0">
                <a:latin typeface="Times New Roman" pitchFamily="18" charset="0"/>
              </a:rPr>
              <a:pPr algn="r" eaLnBrk="1" hangingPunct="1">
                <a:spcBef>
                  <a:spcPct val="0"/>
                </a:spcBef>
              </a:pPr>
              <a:t>3</a:t>
            </a:fld>
            <a:endParaRPr lang="es-ES" altLang="es-ES" smtClean="0">
              <a:latin typeface="Times New Roman" pitchFamily="18" charset="0"/>
            </a:endParaRPr>
          </a:p>
        </p:txBody>
      </p:sp>
      <p:sp>
        <p:nvSpPr>
          <p:cNvPr id="47107" name="Rectangle 2"/>
          <p:cNvSpPr>
            <a:spLocks noGrp="1" noRot="1" noChangeAspect="1" noChangeArrowheads="1" noTextEdit="1"/>
          </p:cNvSpPr>
          <p:nvPr>
            <p:ph type="sldImg"/>
          </p:nvPr>
        </p:nvSpPr>
        <p:spPr>
          <a:xfrm>
            <a:off x="1149350" y="690563"/>
            <a:ext cx="4556125" cy="3417887"/>
          </a:xfr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s-ES" smtClean="0"/>
              <a:t>Haga clic para modificar el estilo de subtítulo del patrón</a:t>
            </a:r>
            <a:endParaRPr kumimoji="0" lang="en-US"/>
          </a:p>
        </p:txBody>
      </p:sp>
      <p:sp>
        <p:nvSpPr>
          <p:cNvPr id="30" name="Date Placeholder 29"/>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19" name="Footer Placeholder 18"/>
          <p:cNvSpPr>
            <a:spLocks noGrp="1"/>
          </p:cNvSpPr>
          <p:nvPr>
            <p:ph type="ftr" sz="quarter" idx="11"/>
          </p:nvPr>
        </p:nvSpPr>
        <p:spPr/>
        <p:txBody>
          <a:bodyPr/>
          <a:lstStyle/>
          <a:p>
            <a:endParaRPr lang="es-ES"/>
          </a:p>
        </p:txBody>
      </p:sp>
      <p:sp>
        <p:nvSpPr>
          <p:cNvPr id="27" name="Slide Number Placeholder 26"/>
          <p:cNvSpPr>
            <a:spLocks noGrp="1"/>
          </p:cNvSpPr>
          <p:nvPr>
            <p:ph type="sldNum" sz="quarter" idx="12"/>
          </p:nvPr>
        </p:nvSpPr>
        <p:spPr/>
        <p:txBody>
          <a:bodyPr/>
          <a:lstStyle/>
          <a:p>
            <a:fld id="{132FADFE-3B8F-471C-ABF0-DBC7717ECBBC}" type="slidenum">
              <a:rPr lang="es-ES" smtClean="0"/>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s-ES" smtClean="0"/>
              <a:t>Haga clic para modificar el estilo de título del patrón</a:t>
            </a:r>
            <a:endParaRPr kumimoji="0" lang="en-US"/>
          </a:p>
        </p:txBody>
      </p:sp>
      <p:sp>
        <p:nvSpPr>
          <p:cNvPr id="3" name="Content Placeholder 2"/>
          <p:cNvSpPr>
            <a:spLocks noGrp="1"/>
          </p:cNvSpPr>
          <p:nvPr>
            <p:ph idx="1"/>
          </p:nvPr>
        </p:nvSpPr>
        <p:spPr/>
        <p:txBody>
          <a:body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Date Placeholder 3"/>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s-ES" smtClean="0"/>
              <a:t>Haga clic para modificar el estilo de título del patrón</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s-ES" smtClean="0"/>
              <a:t>Haga clic para modificar el estilo de texto del patrón</a:t>
            </a:r>
          </a:p>
        </p:txBody>
      </p:sp>
      <p:sp>
        <p:nvSpPr>
          <p:cNvPr id="4" name="Date Placeholder 3"/>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s-ES" smtClean="0"/>
              <a:t>Haga clic para modificar el estilo de título del patrón</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Date Placeholder 4"/>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s-ES" smtClean="0"/>
              <a:t>Haga clic para modificar el estilo de título del patrón</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s-ES" smtClean="0"/>
              <a:t>Haga clic para modificar el estilo de texto del patrón</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Date Placeholder 6"/>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Date Placeholder 2"/>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s-ES" smtClean="0"/>
              <a:t>Haga clic para modificar el estilo de título del patrón</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s-ES" smtClean="0"/>
              <a:t>Haga clic para modificar el estilo de texto del patrón</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Date Placeholder 4"/>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s-ES" smtClean="0"/>
              <a:t>Haga clic para modificar el estilo de título del patrón</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s-ES" smtClean="0"/>
              <a:t>Haga clic para modificar el estilo de texto del patrón</a:t>
            </a:r>
          </a:p>
        </p:txBody>
      </p:sp>
      <p:sp>
        <p:nvSpPr>
          <p:cNvPr id="5" name="Date Placeholder 4"/>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a:xfrm>
            <a:off x="8077200" y="6356350"/>
            <a:ext cx="609600" cy="365125"/>
          </a:xfrm>
        </p:spPr>
        <p:txBody>
          <a:bodyPr/>
          <a:lstStyle/>
          <a:p>
            <a:fld id="{132FADFE-3B8F-471C-ABF0-DBC7717ECBBC}" type="slidenum">
              <a:rPr lang="es-ES" smtClean="0"/>
              <a:pPr/>
              <a:t>‹Nº›</a:t>
            </a:fld>
            <a:endParaRPr lang="es-E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s-ES" smtClean="0"/>
              <a:t>Haga clic en el icono para agregar una imagen</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s-ES" smtClean="0"/>
              <a:t>Haga clic para modificar el estilo de título del patrón</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Date Placeholder 3"/>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s-ES" smtClean="0"/>
              <a:t>Haga clic para modificar el estilo de título del patrón</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Date Placeholder 3"/>
          <p:cNvSpPr>
            <a:spLocks noGrp="1"/>
          </p:cNvSpPr>
          <p:nvPr>
            <p:ph type="dt" sz="half" idx="10"/>
          </p:nvPr>
        </p:nvSpPr>
        <p:spPr/>
        <p:txBody>
          <a:bodyPr/>
          <a:lstStyle/>
          <a:p>
            <a:fld id="{7A847CFC-816F-41D0-AAC0-9BF4FEBC753E}" type="datetimeFigureOut">
              <a:rPr lang="es-ES" smtClean="0"/>
              <a:pPr/>
              <a:t>28/11/2014</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1905000" y="228600"/>
            <a:ext cx="7086600" cy="1447800"/>
          </a:xfrm>
        </p:spPr>
        <p:txBody>
          <a:bodyPr/>
          <a:lstStyle/>
          <a:p>
            <a:r>
              <a:rPr lang="es-ES" smtClean="0"/>
              <a:t>Haga clic para modificar el estilo de título del patrón</a:t>
            </a:r>
            <a:endParaRPr lang="es-ES"/>
          </a:p>
        </p:txBody>
      </p:sp>
      <p:sp>
        <p:nvSpPr>
          <p:cNvPr id="3" name="2 Marcador de texto"/>
          <p:cNvSpPr>
            <a:spLocks noGrp="1"/>
          </p:cNvSpPr>
          <p:nvPr>
            <p:ph type="body" sz="half" idx="1"/>
          </p:nvPr>
        </p:nvSpPr>
        <p:spPr>
          <a:xfrm>
            <a:off x="1979613" y="1557338"/>
            <a:ext cx="3379787" cy="4751387"/>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5511800" y="1557338"/>
            <a:ext cx="3381375" cy="4751387"/>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Tree>
    <p:extLst>
      <p:ext uri="{BB962C8B-B14F-4D97-AF65-F5344CB8AC3E}">
        <p14:creationId xmlns:p14="http://schemas.microsoft.com/office/powerpoint/2010/main" xmlns="" val="21107094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1 Marcador de contenido"/>
          <p:cNvSpPr>
            <a:spLocks noGrp="1"/>
          </p:cNvSpPr>
          <p:nvPr>
            <p:ph/>
          </p:nvPr>
        </p:nvSpPr>
        <p:spPr>
          <a:xfrm>
            <a:off x="1905000" y="228600"/>
            <a:ext cx="7086600" cy="6080125"/>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Tree>
    <p:extLst>
      <p:ext uri="{BB962C8B-B14F-4D97-AF65-F5344CB8AC3E}">
        <p14:creationId xmlns:p14="http://schemas.microsoft.com/office/powerpoint/2010/main" xmlns="" val="240278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s-ES" smtClean="0"/>
              <a:t>Haga clic para modificar el estilo de título del patrón</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A847CFC-816F-41D0-AAC0-9BF4FEBC753E}" type="datetimeFigureOut">
              <a:rPr lang="es-ES" smtClean="0"/>
              <a:pPr/>
              <a:t>28/11/2014</a:t>
            </a:fld>
            <a:endParaRPr lang="es-E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s-E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32FADFE-3B8F-471C-ABF0-DBC7717ECBBC}" type="slidenum">
              <a:rPr lang="es-ES" smtClean="0"/>
              <a:pPr/>
              <a:t>‹Nº›</a:t>
            </a:fld>
            <a:endParaRPr lang="es-E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339752" y="1124744"/>
            <a:ext cx="5112568" cy="2244080"/>
          </a:xfrm>
        </p:spPr>
        <p:txBody>
          <a:bodyPr>
            <a:noAutofit/>
          </a:bodyPr>
          <a:lstStyle/>
          <a:p>
            <a:r>
              <a:rPr lang="es-ES" sz="7200" dirty="0" smtClean="0"/>
              <a:t>HIPERTROFIA PROSTATICA</a:t>
            </a:r>
            <a:endParaRPr lang="es-ES" sz="7200" dirty="0"/>
          </a:p>
        </p:txBody>
      </p:sp>
      <p:sp>
        <p:nvSpPr>
          <p:cNvPr id="3" name="2 Subtítulo"/>
          <p:cNvSpPr>
            <a:spLocks noGrp="1"/>
          </p:cNvSpPr>
          <p:nvPr>
            <p:ph type="subTitle" idx="1"/>
          </p:nvPr>
        </p:nvSpPr>
        <p:spPr>
          <a:xfrm>
            <a:off x="3707904" y="4653136"/>
            <a:ext cx="4064496" cy="406896"/>
          </a:xfrm>
        </p:spPr>
        <p:txBody>
          <a:bodyPr>
            <a:noAutofit/>
          </a:bodyPr>
          <a:lstStyle/>
          <a:p>
            <a:r>
              <a:rPr lang="es-ES" sz="1600" b="1" dirty="0" smtClean="0"/>
              <a:t>LIC </a:t>
            </a:r>
            <a:r>
              <a:rPr lang="es-ES" sz="1600" b="1" dirty="0"/>
              <a:t>.MONICA VASQUEZ         </a:t>
            </a:r>
            <a:endParaRPr lang="es-BO" sz="1600" dirty="0"/>
          </a:p>
          <a:p>
            <a:r>
              <a:rPr lang="es-ES" sz="1600" b="1" dirty="0"/>
              <a:t>                            LIC. AIDEE COILA ZAPATA</a:t>
            </a:r>
            <a:endParaRPr lang="es-ES" sz="1600" dirty="0"/>
          </a:p>
        </p:txBody>
      </p:sp>
    </p:spTree>
    <p:extLst>
      <p:ext uri="{BB962C8B-B14F-4D97-AF65-F5344CB8AC3E}">
        <p14:creationId xmlns:p14="http://schemas.microsoft.com/office/powerpoint/2010/main" xmlns="" val="5668185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Rectangle 2"/>
          <p:cNvSpPr>
            <a:spLocks noGrp="1" noChangeArrowheads="1"/>
          </p:cNvSpPr>
          <p:nvPr>
            <p:ph type="title"/>
          </p:nvPr>
        </p:nvSpPr>
        <p:spPr>
          <a:xfrm>
            <a:off x="1905000" y="228600"/>
            <a:ext cx="7086600" cy="464096"/>
          </a:xfrm>
        </p:spPr>
        <p:txBody>
          <a:bodyPr>
            <a:normAutofit fontScale="90000"/>
          </a:bodyPr>
          <a:lstStyle/>
          <a:p>
            <a:pPr eaLnBrk="1" hangingPunct="1"/>
            <a:endParaRPr lang="es-ES" altLang="es-ES" dirty="0" smtClean="0"/>
          </a:p>
        </p:txBody>
      </p:sp>
      <p:sp>
        <p:nvSpPr>
          <p:cNvPr id="492547" name="Rectangle 3"/>
          <p:cNvSpPr>
            <a:spLocks noGrp="1" noChangeArrowheads="1"/>
          </p:cNvSpPr>
          <p:nvPr>
            <p:ph type="body" sz="half" idx="1"/>
          </p:nvPr>
        </p:nvSpPr>
        <p:spPr>
          <a:xfrm>
            <a:off x="1907704" y="980728"/>
            <a:ext cx="6913562" cy="4751387"/>
          </a:xfrm>
        </p:spPr>
        <p:txBody>
          <a:bodyPr>
            <a:normAutofit fontScale="85000" lnSpcReduction="10000"/>
          </a:bodyPr>
          <a:lstStyle/>
          <a:p>
            <a:pPr>
              <a:lnSpc>
                <a:spcPct val="140000"/>
              </a:lnSpc>
            </a:pPr>
            <a:r>
              <a:rPr lang="es-ES_tradnl" sz="3600" dirty="0"/>
              <a:t>La hiperplasia o hipertrofia de próstata es probablemente, la patología más frecuente del varón adulto, a partir de los 50 años de edad, donde sucede un cierto grado de crecimiento de la próstata y es a lo que se llama hipertrofia prostática. </a:t>
            </a:r>
            <a:endParaRPr lang="es-ES" altLang="es-ES" sz="3400" dirty="0" smtClean="0"/>
          </a:p>
        </p:txBody>
      </p:sp>
      <p:pic>
        <p:nvPicPr>
          <p:cNvPr id="492548" name="Picture 4" descr="j0230748[1]"/>
          <p:cNvPicPr>
            <a:picLocks noGrp="1" noChangeAspect="1" noChangeArrowheads="1"/>
          </p:cNvPicPr>
          <p:nvPr>
            <p:ph sz="half" idx="2"/>
          </p:nvPr>
        </p:nvPicPr>
        <p:blipFill>
          <a:blip r:embed="rId2" cstate="print">
            <a:extLst>
              <a:ext uri="{28A0092B-C50C-407E-A947-70E740481C1C}">
                <a14:useLocalDpi xmlns:a14="http://schemas.microsoft.com/office/drawing/2010/main" xmlns="" val="0"/>
              </a:ext>
            </a:extLst>
          </a:blip>
          <a:srcRect/>
          <a:stretch>
            <a:fillRect/>
          </a:stretch>
        </p:blipFill>
        <p:spPr>
          <a:xfrm>
            <a:off x="0" y="2708275"/>
            <a:ext cx="1800225" cy="1093788"/>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2959577283"/>
      </p:ext>
    </p:extLst>
  </p:cSld>
  <p:clrMapOvr>
    <a:masterClrMapping/>
  </p:clrMapOvr>
  <mc:AlternateContent xmlns:mc="http://schemas.openxmlformats.org/markup-compatibility/2006">
    <mc:Choice xmlns:p14="http://schemas.microsoft.com/office/powerpoint/2010/main" xmlns=""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AutoShape 2"/>
          <p:cNvSpPr>
            <a:spLocks noChangeArrowheads="1"/>
          </p:cNvSpPr>
          <p:nvPr/>
        </p:nvSpPr>
        <p:spPr bwMode="auto">
          <a:xfrm>
            <a:off x="1043608" y="692696"/>
            <a:ext cx="7051055" cy="2088232"/>
          </a:xfrm>
          <a:prstGeom prst="cloudCallout">
            <a:avLst>
              <a:gd name="adj1" fmla="val -44694"/>
              <a:gd name="adj2" fmla="val 59731"/>
            </a:avLst>
          </a:prstGeom>
          <a:solidFill>
            <a:srgbClr val="E6F8E6"/>
          </a:solidFill>
          <a:ln w="12700">
            <a:solidFill>
              <a:schemeClr val="bg2"/>
            </a:solidFill>
            <a:round/>
            <a:headEnd type="none" w="sm" len="sm"/>
            <a:tailEnd type="none" w="sm" len="sm"/>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algn="l" eaLnBrk="0" hangingPunct="0">
              <a:spcBef>
                <a:spcPct val="20000"/>
              </a:spcBef>
              <a:buClr>
                <a:srgbClr val="080135"/>
              </a:buClr>
              <a:buSzPct val="90000"/>
              <a:buFont typeface="Wingdings" pitchFamily="2" charset="2"/>
              <a:buChar char="Ø"/>
              <a:defRPr sz="3800">
                <a:solidFill>
                  <a:schemeClr val="tx1"/>
                </a:solidFill>
                <a:latin typeface="Verdana" pitchFamily="34" charset="0"/>
              </a:defRPr>
            </a:lvl1pPr>
            <a:lvl2pPr marL="742950" indent="-285750" algn="l" eaLnBrk="0" hangingPunct="0">
              <a:spcBef>
                <a:spcPct val="20000"/>
              </a:spcBef>
              <a:buChar char="–"/>
              <a:defRPr sz="2800">
                <a:solidFill>
                  <a:schemeClr val="tx1"/>
                </a:solidFill>
                <a:latin typeface="Verdana" pitchFamily="34" charset="0"/>
              </a:defRPr>
            </a:lvl2pPr>
            <a:lvl3pPr marL="1143000" indent="-228600" algn="l" eaLnBrk="0" hangingPunct="0">
              <a:spcBef>
                <a:spcPct val="20000"/>
              </a:spcBef>
              <a:buChar char="•"/>
              <a:defRPr sz="2400">
                <a:solidFill>
                  <a:schemeClr val="tx1"/>
                </a:solidFill>
                <a:latin typeface="Verdana" pitchFamily="34" charset="0"/>
              </a:defRPr>
            </a:lvl3pPr>
            <a:lvl4pPr marL="1600200" indent="-228600" algn="l" eaLnBrk="0" hangingPunct="0">
              <a:spcBef>
                <a:spcPct val="20000"/>
              </a:spcBef>
              <a:buChar char="–"/>
              <a:defRPr sz="2000">
                <a:solidFill>
                  <a:schemeClr val="tx1"/>
                </a:solidFill>
                <a:latin typeface="Verdana" pitchFamily="34" charset="0"/>
              </a:defRPr>
            </a:lvl4pPr>
            <a:lvl5pPr marL="2057400" indent="-228600" algn="l"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algn="ctr">
              <a:spcBef>
                <a:spcPct val="0"/>
              </a:spcBef>
              <a:buClrTx/>
              <a:buSzTx/>
              <a:buNone/>
            </a:pPr>
            <a:r>
              <a:rPr lang="es-ES_tradnl" sz="4800" b="1" dirty="0">
                <a:solidFill>
                  <a:srgbClr val="FF0000"/>
                </a:solidFill>
              </a:rPr>
              <a:t>LA PRÓSTATA</a:t>
            </a:r>
            <a:endParaRPr lang="es-BO" sz="4800" dirty="0">
              <a:solidFill>
                <a:srgbClr val="FF0000"/>
              </a:solidFill>
            </a:endParaRPr>
          </a:p>
          <a:p>
            <a:pPr algn="ctr">
              <a:spcBef>
                <a:spcPct val="0"/>
              </a:spcBef>
              <a:buClrTx/>
              <a:buSzTx/>
              <a:buFontTx/>
              <a:buNone/>
            </a:pPr>
            <a:endParaRPr kumimoji="0" lang="es-ES" altLang="es-ES" sz="8000" b="1" dirty="0">
              <a:latin typeface="Arial Narrow" pitchFamily="34" charset="0"/>
            </a:endParaRPr>
          </a:p>
        </p:txBody>
      </p:sp>
      <p:pic>
        <p:nvPicPr>
          <p:cNvPr id="445443" name="Picture 3" descr="j0336888"/>
          <p:cNvPicPr>
            <a:picLocks noGrp="1" noChangeAspect="1" noChangeArrowheads="1" noCrop="1"/>
          </p:cNvPicPr>
          <p:nvPr>
            <p:ph/>
          </p:nvPr>
        </p:nvPicPr>
        <p:blipFill>
          <a:blip r:embed="rId3" cstate="print">
            <a:extLst>
              <a:ext uri="{28A0092B-C50C-407E-A947-70E740481C1C}">
                <a14:useLocalDpi xmlns:a14="http://schemas.microsoft.com/office/drawing/2010/main" xmlns="" val="0"/>
              </a:ext>
            </a:extLst>
          </a:blip>
          <a:srcRect/>
          <a:stretch>
            <a:fillRect/>
          </a:stretch>
        </p:blipFill>
        <p:spPr>
          <a:xfrm>
            <a:off x="-108520" y="4987047"/>
            <a:ext cx="2032000" cy="1801812"/>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1 Rectángulo"/>
          <p:cNvSpPr/>
          <p:nvPr/>
        </p:nvSpPr>
        <p:spPr>
          <a:xfrm>
            <a:off x="1907704" y="2924944"/>
            <a:ext cx="6800683" cy="3816429"/>
          </a:xfrm>
          <a:prstGeom prst="rect">
            <a:avLst/>
          </a:prstGeom>
        </p:spPr>
        <p:txBody>
          <a:bodyPr wrap="square">
            <a:spAutoFit/>
          </a:bodyPr>
          <a:lstStyle/>
          <a:p>
            <a:pPr algn="ctr">
              <a:spcBef>
                <a:spcPct val="50000"/>
              </a:spcBef>
            </a:pPr>
            <a:r>
              <a:rPr lang="es-ES_tradnl" sz="2000" dirty="0"/>
              <a:t>Es un órgano glandular, que pertenece al aparato reproductor masculino e influye en el flujo seminal. Se ubica debajo de la vejiga y delante del recto. El tamaño normal de la próstata es de 2 x 3 cm, tiene forma de castaña. Con un peso aproximado de 20g. Rodea el cuello de la vejiga y a una porción de la uretra (el conducto que lleva orina de la vejiga), y vierte el líquido prostático en la uretra, que se mezcla con el esperma en el momento de la eyaculación para favorecer el desplazamiento de los espermatozoides, (este líquido prostático supone alrededor del 25% del semen). </a:t>
            </a:r>
            <a:endParaRPr lang="es-BO" sz="2000" dirty="0"/>
          </a:p>
          <a:p>
            <a:pPr algn="ctr">
              <a:spcBef>
                <a:spcPct val="50000"/>
              </a:spcBef>
              <a:buNone/>
            </a:pPr>
            <a:endParaRPr lang="es-ES" altLang="es-ES" sz="2800" dirty="0">
              <a:latin typeface="Tahoma" pitchFamily="34" charset="0"/>
            </a:endParaRPr>
          </a:p>
        </p:txBody>
      </p:sp>
      <p:pic>
        <p:nvPicPr>
          <p:cNvPr id="5" name="irc_mi" descr="http://www.herbolariosaludnatural.com/c/36-category/prostata.jpg"/>
          <p:cNvPicPr/>
          <p:nvPr/>
        </p:nvPicPr>
        <p:blipFill rotWithShape="1">
          <a:blip r:embed="rId4" cstate="print">
            <a:extLst>
              <a:ext uri="{28A0092B-C50C-407E-A947-70E740481C1C}">
                <a14:useLocalDpi xmlns:a14="http://schemas.microsoft.com/office/drawing/2010/main" xmlns="" val="0"/>
              </a:ext>
            </a:extLst>
          </a:blip>
          <a:srcRect r="50000"/>
          <a:stretch/>
        </p:blipFill>
        <p:spPr bwMode="auto">
          <a:xfrm>
            <a:off x="7020272" y="1153294"/>
            <a:ext cx="1440160" cy="1771650"/>
          </a:xfrm>
          <a:prstGeom prst="rect">
            <a:avLst/>
          </a:prstGeom>
          <a:noFill/>
          <a:ln>
            <a:noFill/>
          </a:ln>
        </p:spPr>
      </p:pic>
    </p:spTree>
    <p:extLst>
      <p:ext uri="{BB962C8B-B14F-4D97-AF65-F5344CB8AC3E}">
        <p14:creationId xmlns:p14="http://schemas.microsoft.com/office/powerpoint/2010/main" xmlns="" val="3942504770"/>
      </p:ext>
    </p:extLst>
  </p:cSld>
  <p:clrMapOvr>
    <a:masterClrMapping/>
  </p:clrMapOvr>
  <mc:AlternateContent xmlns:mc="http://schemas.openxmlformats.org/markup-compatibility/2006">
    <mc:Choice xmlns:p14="http://schemas.microsoft.com/office/powerpoint/2010/main" xmlns="" Requires="p14">
      <p:transition p14:dur="0"/>
    </mc:Choice>
    <mc:Fallback>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585913" y="304800"/>
            <a:ext cx="7558087" cy="1179513"/>
          </a:xfrm>
        </p:spPr>
        <p:txBody>
          <a:bodyPr/>
          <a:lstStyle/>
          <a:p>
            <a:pPr eaLnBrk="1" hangingPunct="1">
              <a:defRPr/>
            </a:pPr>
            <a:endParaRPr lang="es-ES" sz="3400" b="1" i="1" dirty="0" smtClean="0">
              <a:solidFill>
                <a:srgbClr val="CC0000"/>
              </a:solidFill>
              <a:effectLst>
                <a:outerShdw blurRad="38100" dist="38100" dir="2700000" algn="tl">
                  <a:srgbClr val="C0C0C0"/>
                </a:outerShdw>
              </a:effectLst>
              <a:latin typeface="Book Antiqua" pitchFamily="18" charset="0"/>
            </a:endParaRPr>
          </a:p>
        </p:txBody>
      </p:sp>
      <p:sp>
        <p:nvSpPr>
          <p:cNvPr id="7171" name="Text Box 4"/>
          <p:cNvSpPr txBox="1">
            <a:spLocks noChangeArrowheads="1"/>
          </p:cNvSpPr>
          <p:nvPr/>
        </p:nvSpPr>
        <p:spPr bwMode="auto">
          <a:xfrm>
            <a:off x="857250" y="1785938"/>
            <a:ext cx="7815263" cy="23083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algn="just">
              <a:spcBef>
                <a:spcPct val="0"/>
              </a:spcBef>
              <a:buClrTx/>
              <a:buSzTx/>
              <a:buFontTx/>
              <a:buChar char="•"/>
            </a:pPr>
            <a:r>
              <a:rPr lang="es-ES_tradnl" sz="2400" dirty="0"/>
              <a:t>La próstata, puede sufrir aumento de tamaño (hipertrofia), inflamación</a:t>
            </a:r>
            <a:r>
              <a:rPr lang="es-ES_tradnl" sz="2400" b="1" i="1" dirty="0"/>
              <a:t> </a:t>
            </a:r>
            <a:r>
              <a:rPr lang="es-ES_tradnl" sz="2400" dirty="0"/>
              <a:t>(prostatitis </a:t>
            </a:r>
            <a:r>
              <a:rPr lang="es-ES_tradnl" sz="2400" dirty="0" err="1"/>
              <a:t>ó</a:t>
            </a:r>
            <a:r>
              <a:rPr lang="es-ES_tradnl" sz="2400" dirty="0"/>
              <a:t>  procesos neoplásicos benignos como adenoma, y malignos como carcinoma y adenocarcinoma), y es entonces cuando puede ocasionar serios problemas.</a:t>
            </a:r>
            <a:endParaRPr lang="es-BO" sz="2400" dirty="0"/>
          </a:p>
          <a:p>
            <a:pPr algn="just">
              <a:spcBef>
                <a:spcPct val="0"/>
              </a:spcBef>
              <a:buClrTx/>
              <a:buSzTx/>
              <a:buFontTx/>
              <a:buChar char="•"/>
            </a:pPr>
            <a:endParaRPr lang="es-ES" altLang="es-ES" sz="2400" dirty="0"/>
          </a:p>
        </p:txBody>
      </p:sp>
      <p:pic>
        <p:nvPicPr>
          <p:cNvPr id="4" name="irc_mi" descr="http://www.herbolariosaludnatural.com/c/36-category/prostata.jpg"/>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3059832" y="3758006"/>
            <a:ext cx="3240360" cy="2376264"/>
          </a:xfrm>
          <a:prstGeom prst="rect">
            <a:avLst/>
          </a:prstGeom>
          <a:noFill/>
          <a:ln>
            <a:noFill/>
          </a:ln>
        </p:spPr>
      </p:pic>
    </p:spTree>
    <p:extLst>
      <p:ext uri="{BB962C8B-B14F-4D97-AF65-F5344CB8AC3E}">
        <p14:creationId xmlns:p14="http://schemas.microsoft.com/office/powerpoint/2010/main" xmlns="" val="14723669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475656" y="719130"/>
            <a:ext cx="7558087" cy="909669"/>
          </a:xfrm>
        </p:spPr>
        <p:txBody>
          <a:bodyPr>
            <a:normAutofit fontScale="90000"/>
          </a:bodyPr>
          <a:lstStyle/>
          <a:p>
            <a:pPr>
              <a:defRPr/>
            </a:pPr>
            <a:r>
              <a:rPr lang="es-ES_tradnl" sz="4000" dirty="0">
                <a:solidFill>
                  <a:srgbClr val="FF0000"/>
                </a:solidFill>
              </a:rPr>
              <a:t>Factores de riesgo:</a:t>
            </a:r>
            <a:r>
              <a:rPr lang="es-BO" sz="3600" dirty="0"/>
              <a:t/>
            </a:r>
            <a:br>
              <a:rPr lang="es-BO" sz="3600" dirty="0"/>
            </a:br>
            <a:endParaRPr lang="es-ES" sz="3400" b="1" i="1" dirty="0" smtClean="0">
              <a:solidFill>
                <a:srgbClr val="CC0000"/>
              </a:solidFill>
              <a:effectLst>
                <a:outerShdw blurRad="38100" dist="38100" dir="2700000" algn="tl">
                  <a:srgbClr val="C0C0C0"/>
                </a:outerShdw>
              </a:effectLst>
              <a:latin typeface="Book Antiqua" pitchFamily="18" charset="0"/>
            </a:endParaRPr>
          </a:p>
        </p:txBody>
      </p:sp>
      <p:sp>
        <p:nvSpPr>
          <p:cNvPr id="2" name="1 Rectángulo"/>
          <p:cNvSpPr/>
          <p:nvPr/>
        </p:nvSpPr>
        <p:spPr>
          <a:xfrm>
            <a:off x="960165" y="1916832"/>
            <a:ext cx="7272808" cy="1938992"/>
          </a:xfrm>
          <a:prstGeom prst="rect">
            <a:avLst/>
          </a:prstGeom>
        </p:spPr>
        <p:txBody>
          <a:bodyPr wrap="square">
            <a:spAutoFit/>
          </a:bodyPr>
          <a:lstStyle/>
          <a:p>
            <a:pPr lvl="0"/>
            <a:r>
              <a:rPr lang="es-ES_tradnl" sz="2400" dirty="0" smtClean="0"/>
              <a:t>* EDAD </a:t>
            </a:r>
            <a:endParaRPr lang="es-BO" sz="2400" dirty="0"/>
          </a:p>
          <a:p>
            <a:pPr lvl="0"/>
            <a:r>
              <a:rPr lang="es-ES_tradnl" sz="2400" dirty="0" smtClean="0"/>
              <a:t>* RAZA</a:t>
            </a:r>
            <a:endParaRPr lang="es-BO" sz="2400" dirty="0"/>
          </a:p>
          <a:p>
            <a:pPr lvl="0"/>
            <a:r>
              <a:rPr lang="es-ES_tradnl" sz="2400" dirty="0" smtClean="0"/>
              <a:t>* ANTECEDENTES </a:t>
            </a:r>
            <a:r>
              <a:rPr lang="es-ES_tradnl" sz="2400" dirty="0"/>
              <a:t>FAMILIARES DE HBP</a:t>
            </a:r>
            <a:endParaRPr lang="es-BO" sz="2400" dirty="0"/>
          </a:p>
          <a:p>
            <a:pPr lvl="0"/>
            <a:r>
              <a:rPr lang="es-ES_tradnl" sz="2400" dirty="0" smtClean="0"/>
              <a:t>* FACTORES </a:t>
            </a:r>
            <a:r>
              <a:rPr lang="es-ES_tradnl" sz="2400" dirty="0"/>
              <a:t>DIETETICOS SEDENTARISMO</a:t>
            </a:r>
            <a:endParaRPr lang="es-BO" sz="2400" dirty="0"/>
          </a:p>
          <a:p>
            <a:pPr lvl="0"/>
            <a:r>
              <a:rPr lang="es-ES_tradnl" sz="2400" dirty="0" smtClean="0"/>
              <a:t>* OBESIDAD</a:t>
            </a:r>
            <a:endParaRPr lang="es-BO" sz="2400" dirty="0"/>
          </a:p>
        </p:txBody>
      </p:sp>
    </p:spTree>
    <p:extLst>
      <p:ext uri="{BB962C8B-B14F-4D97-AF65-F5344CB8AC3E}">
        <p14:creationId xmlns:p14="http://schemas.microsoft.com/office/powerpoint/2010/main" xmlns="" val="3981570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ChangeArrowheads="1"/>
          </p:cNvSpPr>
          <p:nvPr/>
        </p:nvSpPr>
        <p:spPr bwMode="auto">
          <a:xfrm>
            <a:off x="3578225" y="1298575"/>
            <a:ext cx="2057400" cy="990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none" anchor="ctr"/>
          <a:lstStyle>
            <a:lvl1pPr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eaLnBrk="1" hangingPunct="1">
              <a:spcBef>
                <a:spcPct val="0"/>
              </a:spcBef>
              <a:buClrTx/>
              <a:buSzTx/>
              <a:buFontTx/>
              <a:buNone/>
            </a:pPr>
            <a:endParaRPr lang="es-PE" altLang="es-ES" sz="1800"/>
          </a:p>
        </p:txBody>
      </p:sp>
      <p:sp>
        <p:nvSpPr>
          <p:cNvPr id="532484" name="Text Box 4"/>
          <p:cNvSpPr txBox="1">
            <a:spLocks noChangeArrowheads="1"/>
          </p:cNvSpPr>
          <p:nvPr/>
        </p:nvSpPr>
        <p:spPr bwMode="auto">
          <a:xfrm>
            <a:off x="1979613" y="397340"/>
            <a:ext cx="3568156" cy="1015663"/>
          </a:xfrm>
          <a:prstGeom prst="rect">
            <a:avLst/>
          </a:prstGeom>
          <a:noFill/>
          <a:ln w="12700">
            <a:noFill/>
            <a:miter lim="800000"/>
            <a:headEnd type="none" w="sm" len="sm"/>
            <a:tailEnd type="none" w="sm" len="sm"/>
          </a:ln>
          <a:effectLst/>
        </p:spPr>
        <p:txBody>
          <a:bodyPr wrap="none">
            <a:spAutoFit/>
          </a:bodyPr>
          <a:lstStyle/>
          <a:p>
            <a:r>
              <a:rPr lang="es-ES_tradnl" sz="6000" b="1" u="sng" dirty="0"/>
              <a:t>Síntomas</a:t>
            </a:r>
            <a:endParaRPr lang="es-BO" sz="6000" dirty="0"/>
          </a:p>
        </p:txBody>
      </p:sp>
      <p:sp>
        <p:nvSpPr>
          <p:cNvPr id="5134" name="Text Box 13"/>
          <p:cNvSpPr txBox="1">
            <a:spLocks noChangeArrowheads="1"/>
          </p:cNvSpPr>
          <p:nvPr/>
        </p:nvSpPr>
        <p:spPr bwMode="auto">
          <a:xfrm>
            <a:off x="950707" y="1412776"/>
            <a:ext cx="6636022" cy="4924425"/>
          </a:xfrm>
          <a:prstGeom prst="rect">
            <a:avLst/>
          </a:prstGeom>
          <a:noFill/>
          <a:ln>
            <a:noFill/>
          </a:ln>
          <a:effectLst>
            <a:outerShdw dist="25400" dir="10800000" algn="ctr" rotWithShape="0">
              <a:schemeClr val="tx1"/>
            </a:outerShdw>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s-ES_tradnl" sz="2200" dirty="0">
                <a:latin typeface="Arial" pitchFamily="34" charset="0"/>
                <a:cs typeface="Arial" pitchFamily="34" charset="0"/>
              </a:rPr>
              <a:t>A.     Dificultad para tener erecciones</a:t>
            </a:r>
            <a:r>
              <a:rPr lang="es-ES_tradnl" sz="2200" dirty="0" smtClean="0">
                <a:latin typeface="Arial" pitchFamily="34" charset="0"/>
                <a:cs typeface="Arial" pitchFamily="34" charset="0"/>
              </a:rPr>
              <a:t>.</a:t>
            </a:r>
          </a:p>
          <a:p>
            <a:pPr eaLnBrk="1" hangingPunct="1"/>
            <a:endParaRPr lang="es-BO" sz="2200" dirty="0" smtClean="0">
              <a:latin typeface="Arial" pitchFamily="34" charset="0"/>
              <a:cs typeface="Arial" pitchFamily="34" charset="0"/>
            </a:endParaRPr>
          </a:p>
          <a:p>
            <a:pPr eaLnBrk="1" hangingPunct="1"/>
            <a:r>
              <a:rPr lang="es-ES_tradnl" sz="2200" dirty="0" smtClean="0">
                <a:latin typeface="Arial" pitchFamily="34" charset="0"/>
                <a:cs typeface="Arial" pitchFamily="34" charset="0"/>
              </a:rPr>
              <a:t>B</a:t>
            </a:r>
            <a:r>
              <a:rPr lang="es-ES_tradnl" sz="2200" dirty="0">
                <a:latin typeface="Arial" pitchFamily="34" charset="0"/>
                <a:cs typeface="Arial" pitchFamily="34" charset="0"/>
              </a:rPr>
              <a:t>.    Sangre en la orina o en el semen, (líquido compuesto por espermatozoides de los testículos y secreciones de la próstata y otras glándulas sexuales</a:t>
            </a:r>
            <a:r>
              <a:rPr lang="es-ES_tradnl" sz="2200" dirty="0" smtClean="0">
                <a:latin typeface="Arial" pitchFamily="34" charset="0"/>
                <a:cs typeface="Arial" pitchFamily="34" charset="0"/>
              </a:rPr>
              <a:t>).</a:t>
            </a:r>
          </a:p>
          <a:p>
            <a:pPr eaLnBrk="1" hangingPunct="1"/>
            <a:endParaRPr lang="es-BO" sz="2200" dirty="0">
              <a:latin typeface="Arial" pitchFamily="34" charset="0"/>
              <a:cs typeface="Arial" pitchFamily="34" charset="0"/>
            </a:endParaRPr>
          </a:p>
          <a:p>
            <a:pPr eaLnBrk="1" hangingPunct="1"/>
            <a:r>
              <a:rPr lang="es-ES_tradnl" sz="2200" dirty="0">
                <a:latin typeface="Arial" pitchFamily="34" charset="0"/>
                <a:cs typeface="Arial" pitchFamily="34" charset="0"/>
              </a:rPr>
              <a:t>C.    Dolor durante la eyaculación</a:t>
            </a:r>
            <a:r>
              <a:rPr lang="es-ES_tradnl" sz="2200" dirty="0" smtClean="0">
                <a:latin typeface="Arial" pitchFamily="34" charset="0"/>
                <a:cs typeface="Arial" pitchFamily="34" charset="0"/>
              </a:rPr>
              <a:t>.</a:t>
            </a:r>
          </a:p>
          <a:p>
            <a:pPr eaLnBrk="1" hangingPunct="1"/>
            <a:endParaRPr lang="es-BO" sz="2200" dirty="0">
              <a:latin typeface="Arial" pitchFamily="34" charset="0"/>
              <a:cs typeface="Arial" pitchFamily="34" charset="0"/>
            </a:endParaRPr>
          </a:p>
          <a:p>
            <a:pPr eaLnBrk="1" hangingPunct="1"/>
            <a:r>
              <a:rPr lang="es-ES_tradnl" sz="2200" dirty="0">
                <a:latin typeface="Arial" pitchFamily="34" charset="0"/>
                <a:cs typeface="Arial" pitchFamily="34" charset="0"/>
              </a:rPr>
              <a:t>D.    Dolor frecuente en la parte baja de la espalda, las caderas o la parte superior de los muslos. (Lo diferenciaremos de una lesión púbica en el corredor, como osteopatía del pubis).</a:t>
            </a:r>
            <a:endParaRPr lang="es-BO" sz="2200" dirty="0">
              <a:latin typeface="Arial" pitchFamily="34" charset="0"/>
              <a:cs typeface="Arial" pitchFamily="34" charset="0"/>
            </a:endParaRPr>
          </a:p>
          <a:p>
            <a:pPr algn="ctr" eaLnBrk="1" hangingPunct="1"/>
            <a:endParaRPr lang="es-ES" altLang="es-ES" sz="2800" b="1" dirty="0">
              <a:solidFill>
                <a:srgbClr val="000066"/>
              </a:solidFill>
              <a:latin typeface="Times New Roman" pitchFamily="18" charset="0"/>
            </a:endParaRPr>
          </a:p>
        </p:txBody>
      </p:sp>
    </p:spTree>
    <p:extLst>
      <p:ext uri="{BB962C8B-B14F-4D97-AF65-F5344CB8AC3E}">
        <p14:creationId xmlns:p14="http://schemas.microsoft.com/office/powerpoint/2010/main" xmlns="" val="170617483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http://www.championchip.cat/lliga2008/medicina/prostata_archivos/image012.jpg"/>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267605" y="1132546"/>
            <a:ext cx="3600400" cy="5093146"/>
          </a:xfrm>
          <a:prstGeom prst="rect">
            <a:avLst/>
          </a:prstGeom>
          <a:noFill/>
          <a:ln>
            <a:noFill/>
          </a:ln>
        </p:spPr>
      </p:pic>
      <p:sp>
        <p:nvSpPr>
          <p:cNvPr id="500738" name="Rectangle 2"/>
          <p:cNvSpPr>
            <a:spLocks noGrp="1" noChangeArrowheads="1"/>
          </p:cNvSpPr>
          <p:nvPr>
            <p:ph type="title" idx="4294967295"/>
          </p:nvPr>
        </p:nvSpPr>
        <p:spPr>
          <a:xfrm>
            <a:off x="1563263" y="16970"/>
            <a:ext cx="7558087" cy="1179513"/>
          </a:xfrm>
        </p:spPr>
        <p:txBody>
          <a:bodyPr/>
          <a:lstStyle/>
          <a:p>
            <a:pPr>
              <a:defRPr/>
            </a:pPr>
            <a:r>
              <a:rPr lang="es-ES_tradnl" sz="3600" b="1" u="sng" dirty="0"/>
              <a:t>Problemas urinarios</a:t>
            </a:r>
            <a:endParaRPr lang="es-ES" sz="3400" b="1" i="1" dirty="0" smtClean="0">
              <a:solidFill>
                <a:srgbClr val="CC0000"/>
              </a:solidFill>
              <a:effectLst>
                <a:outerShdw blurRad="38100" dist="38100" dir="2700000" algn="tl">
                  <a:srgbClr val="C0C0C0"/>
                </a:outerShdw>
              </a:effectLst>
              <a:latin typeface="Book Antiqua" pitchFamily="18" charset="0"/>
            </a:endParaRPr>
          </a:p>
        </p:txBody>
      </p:sp>
      <p:sp>
        <p:nvSpPr>
          <p:cNvPr id="7171" name="Text Box 4"/>
          <p:cNvSpPr txBox="1">
            <a:spLocks noChangeArrowheads="1"/>
          </p:cNvSpPr>
          <p:nvPr/>
        </p:nvSpPr>
        <p:spPr bwMode="auto">
          <a:xfrm>
            <a:off x="395536" y="1628800"/>
            <a:ext cx="8276977" cy="45858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3"/>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4"/>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5"/>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5"/>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5"/>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5"/>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5"/>
              </a:buBlip>
              <a:defRPr sz="2000">
                <a:solidFill>
                  <a:schemeClr val="tx1"/>
                </a:solidFill>
                <a:latin typeface="Arial" charset="0"/>
              </a:defRPr>
            </a:lvl9pPr>
          </a:lstStyle>
          <a:p>
            <a:pPr algn="just">
              <a:lnSpc>
                <a:spcPct val="90000"/>
              </a:lnSpc>
            </a:pPr>
            <a:r>
              <a:rPr lang="es-ES_tradnl" sz="2000" b="1" dirty="0" smtClean="0"/>
              <a:t>Urgencia </a:t>
            </a:r>
            <a:r>
              <a:rPr lang="es-ES_tradnl" sz="2000" b="1" dirty="0" err="1"/>
              <a:t>miccional</a:t>
            </a:r>
            <a:r>
              <a:rPr lang="es-ES_tradnl" sz="2000" b="1" dirty="0"/>
              <a:t>.</a:t>
            </a:r>
            <a:endParaRPr lang="es-BO" sz="2000" dirty="0"/>
          </a:p>
          <a:p>
            <a:pPr algn="just">
              <a:lnSpc>
                <a:spcPct val="90000"/>
              </a:lnSpc>
            </a:pPr>
            <a:r>
              <a:rPr lang="es-ES_tradnl" sz="2000" b="1" dirty="0" err="1" smtClean="0"/>
              <a:t>Polaquiuria</a:t>
            </a:r>
            <a:r>
              <a:rPr lang="es-ES_tradnl" sz="2000" b="1" dirty="0" smtClean="0"/>
              <a:t> </a:t>
            </a:r>
            <a:r>
              <a:rPr lang="es-ES_tradnl" sz="2000" b="1" dirty="0"/>
              <a:t>(necesidad de </a:t>
            </a:r>
            <a:r>
              <a:rPr lang="es-ES_tradnl" sz="2000" b="1" dirty="0" err="1"/>
              <a:t>miccionar</a:t>
            </a:r>
            <a:r>
              <a:rPr lang="es-ES_tradnl" sz="2000" b="1" dirty="0"/>
              <a:t> con frecuencia).</a:t>
            </a:r>
            <a:endParaRPr lang="es-BO" sz="2000" dirty="0"/>
          </a:p>
          <a:p>
            <a:pPr algn="just">
              <a:lnSpc>
                <a:spcPct val="90000"/>
              </a:lnSpc>
            </a:pPr>
            <a:r>
              <a:rPr lang="es-ES_tradnl" sz="2000" b="1" dirty="0" err="1" smtClean="0"/>
              <a:t>Nicturia</a:t>
            </a:r>
            <a:r>
              <a:rPr lang="es-ES_tradnl" sz="2000" b="1" dirty="0" smtClean="0"/>
              <a:t> </a:t>
            </a:r>
            <a:r>
              <a:rPr lang="es-ES_tradnl" sz="2000" b="1" dirty="0"/>
              <a:t>(aumento de la necesidad de orinar de noche, emisión de orina más abundante o frecuente por la noche que durante el día).</a:t>
            </a:r>
            <a:endParaRPr lang="es-BO" sz="2000" dirty="0"/>
          </a:p>
          <a:p>
            <a:pPr algn="just">
              <a:lnSpc>
                <a:spcPct val="90000"/>
              </a:lnSpc>
            </a:pPr>
            <a:r>
              <a:rPr lang="es-ES_tradnl" sz="2000" b="1" dirty="0" smtClean="0"/>
              <a:t>Dificultad </a:t>
            </a:r>
            <a:r>
              <a:rPr lang="es-ES_tradnl" sz="2000" b="1" dirty="0"/>
              <a:t>en la emisión de orina con disminución del volumen y de la fuerza del chorro de micción.</a:t>
            </a:r>
            <a:endParaRPr lang="es-BO" sz="2000" dirty="0"/>
          </a:p>
          <a:p>
            <a:pPr algn="just">
              <a:lnSpc>
                <a:spcPct val="90000"/>
              </a:lnSpc>
            </a:pPr>
            <a:r>
              <a:rPr lang="es-ES_tradnl" sz="2000" b="1" dirty="0" smtClean="0"/>
              <a:t>Dificultad </a:t>
            </a:r>
            <a:r>
              <a:rPr lang="es-ES_tradnl" sz="2000" b="1" dirty="0"/>
              <a:t>para iniciar y suspender la micción.</a:t>
            </a:r>
            <a:endParaRPr lang="es-BO" sz="2000" dirty="0"/>
          </a:p>
          <a:p>
            <a:pPr algn="just">
              <a:lnSpc>
                <a:spcPct val="90000"/>
              </a:lnSpc>
            </a:pPr>
            <a:r>
              <a:rPr lang="es-ES_tradnl" sz="2000" b="1" dirty="0" smtClean="0"/>
              <a:t>Sensación </a:t>
            </a:r>
            <a:r>
              <a:rPr lang="es-ES_tradnl" sz="2000" b="1" dirty="0"/>
              <a:t>de vaciamiento incompleto.</a:t>
            </a:r>
            <a:endParaRPr lang="es-BO" sz="2000" dirty="0"/>
          </a:p>
          <a:p>
            <a:pPr algn="just">
              <a:lnSpc>
                <a:spcPct val="90000"/>
              </a:lnSpc>
            </a:pPr>
            <a:r>
              <a:rPr lang="es-ES_tradnl" sz="2000" b="1" dirty="0" smtClean="0"/>
              <a:t>Incontinencia </a:t>
            </a:r>
            <a:r>
              <a:rPr lang="es-ES_tradnl" sz="2000" b="1" dirty="0"/>
              <a:t>por urgencia.</a:t>
            </a:r>
            <a:endParaRPr lang="es-BO" sz="2000" dirty="0"/>
          </a:p>
          <a:p>
            <a:pPr algn="just">
              <a:lnSpc>
                <a:spcPct val="90000"/>
              </a:lnSpc>
            </a:pPr>
            <a:r>
              <a:rPr lang="es-ES_tradnl" sz="2000" b="1" dirty="0" smtClean="0"/>
              <a:t>Incontinencia </a:t>
            </a:r>
            <a:r>
              <a:rPr lang="es-ES_tradnl" sz="2000" b="1" dirty="0"/>
              <a:t>por rebosamiento.</a:t>
            </a:r>
            <a:endParaRPr lang="es-BO" sz="2000" dirty="0"/>
          </a:p>
          <a:p>
            <a:pPr algn="just">
              <a:lnSpc>
                <a:spcPct val="90000"/>
              </a:lnSpc>
            </a:pPr>
            <a:r>
              <a:rPr lang="es-ES_tradnl" sz="2000" b="1" dirty="0" smtClean="0"/>
              <a:t>Retención </a:t>
            </a:r>
            <a:r>
              <a:rPr lang="es-ES_tradnl" sz="2000" b="1" dirty="0"/>
              <a:t>urinaria.</a:t>
            </a:r>
            <a:endParaRPr lang="es-BO" sz="2000" dirty="0"/>
          </a:p>
          <a:p>
            <a:pPr algn="just">
              <a:lnSpc>
                <a:spcPct val="90000"/>
              </a:lnSpc>
            </a:pPr>
            <a:r>
              <a:rPr lang="es-ES_tradnl" sz="2000" b="1" dirty="0" smtClean="0"/>
              <a:t>Goteo </a:t>
            </a:r>
            <a:r>
              <a:rPr lang="es-ES_tradnl" sz="2000" b="1" dirty="0"/>
              <a:t>terminal.</a:t>
            </a:r>
            <a:endParaRPr lang="es-BO" sz="2000" dirty="0"/>
          </a:p>
          <a:p>
            <a:pPr algn="just">
              <a:lnSpc>
                <a:spcPct val="90000"/>
              </a:lnSpc>
            </a:pPr>
            <a:r>
              <a:rPr lang="es-ES_tradnl" sz="2000" b="1" dirty="0" smtClean="0"/>
              <a:t>Dolor </a:t>
            </a:r>
            <a:r>
              <a:rPr lang="es-ES_tradnl" sz="2000" b="1" dirty="0"/>
              <a:t>o ardor al orinar.</a:t>
            </a:r>
            <a:endParaRPr lang="es-ES_tradnl" altLang="es-ES" sz="2000" dirty="0"/>
          </a:p>
        </p:txBody>
      </p:sp>
    </p:spTree>
    <p:extLst>
      <p:ext uri="{BB962C8B-B14F-4D97-AF65-F5344CB8AC3E}">
        <p14:creationId xmlns:p14="http://schemas.microsoft.com/office/powerpoint/2010/main" xmlns="" val="23634435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575027" y="10885"/>
            <a:ext cx="7558087" cy="1179513"/>
          </a:xfrm>
        </p:spPr>
        <p:txBody>
          <a:bodyPr/>
          <a:lstStyle/>
          <a:p>
            <a:r>
              <a:rPr lang="es-ES_tradnl" sz="3600" b="1" u="sng" dirty="0">
                <a:solidFill>
                  <a:srgbClr val="FF0000"/>
                </a:solidFill>
              </a:rPr>
              <a:t>Complicaciones</a:t>
            </a:r>
            <a:endParaRPr lang="es-BO" sz="3600" dirty="0">
              <a:solidFill>
                <a:srgbClr val="FF0000"/>
              </a:solidFill>
            </a:endParaRPr>
          </a:p>
        </p:txBody>
      </p:sp>
      <p:sp>
        <p:nvSpPr>
          <p:cNvPr id="7171" name="Text Box 4"/>
          <p:cNvSpPr txBox="1">
            <a:spLocks noChangeArrowheads="1"/>
          </p:cNvSpPr>
          <p:nvPr/>
        </p:nvSpPr>
        <p:spPr bwMode="auto">
          <a:xfrm>
            <a:off x="395536" y="1628800"/>
            <a:ext cx="8276977" cy="34901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r>
              <a:rPr lang="es-ES_tradnl" sz="2400" b="1" dirty="0" smtClean="0"/>
              <a:t>Retención </a:t>
            </a:r>
            <a:r>
              <a:rPr lang="es-ES_tradnl" sz="2400" b="1" dirty="0"/>
              <a:t>aguda de </a:t>
            </a:r>
            <a:r>
              <a:rPr lang="es-ES_tradnl" sz="2400" b="1" dirty="0" smtClean="0"/>
              <a:t>orina</a:t>
            </a:r>
            <a:endParaRPr lang="es-BO" sz="2400" dirty="0"/>
          </a:p>
          <a:p>
            <a:r>
              <a:rPr lang="es-ES_tradnl" sz="2400" b="1" dirty="0" smtClean="0"/>
              <a:t>Retención </a:t>
            </a:r>
            <a:r>
              <a:rPr lang="es-ES_tradnl" sz="2400" b="1" dirty="0"/>
              <a:t>crónica de orina</a:t>
            </a:r>
            <a:endParaRPr lang="es-BO" sz="2400" dirty="0"/>
          </a:p>
          <a:p>
            <a:r>
              <a:rPr lang="es-ES_tradnl" sz="2400" b="1" dirty="0" smtClean="0"/>
              <a:t>Infecciones </a:t>
            </a:r>
            <a:r>
              <a:rPr lang="es-ES_tradnl" sz="2400" b="1" dirty="0"/>
              <a:t>del tracto urinario de repetición</a:t>
            </a:r>
            <a:endParaRPr lang="es-BO" sz="2400" dirty="0"/>
          </a:p>
          <a:p>
            <a:r>
              <a:rPr lang="es-ES_tradnl" sz="2400" b="1" dirty="0" smtClean="0"/>
              <a:t>Hematuria </a:t>
            </a:r>
            <a:r>
              <a:rPr lang="es-ES_tradnl" sz="2400" b="1" dirty="0"/>
              <a:t>(emisión por la uretra de sangre pura o mezclada con la orina)</a:t>
            </a:r>
            <a:endParaRPr lang="es-BO" sz="2400" dirty="0"/>
          </a:p>
          <a:p>
            <a:r>
              <a:rPr lang="es-ES_tradnl" sz="2400" b="1" dirty="0" smtClean="0"/>
              <a:t>Litiasis </a:t>
            </a:r>
            <a:r>
              <a:rPr lang="es-ES_tradnl" sz="2400" b="1" dirty="0"/>
              <a:t>vesical (formación de cálculos, "piedras")</a:t>
            </a:r>
            <a:endParaRPr lang="es-BO" sz="2400" dirty="0"/>
          </a:p>
          <a:p>
            <a:r>
              <a:rPr lang="es-ES_tradnl" sz="2400" b="1" dirty="0" smtClean="0"/>
              <a:t>Incontinencia </a:t>
            </a:r>
            <a:r>
              <a:rPr lang="es-ES_tradnl" sz="2400" b="1" dirty="0"/>
              <a:t>por rebosamiento</a:t>
            </a:r>
            <a:endParaRPr lang="es-BO" sz="2400" dirty="0"/>
          </a:p>
          <a:p>
            <a:r>
              <a:rPr lang="es-ES_tradnl" sz="2400" b="1" dirty="0" smtClean="0"/>
              <a:t>Insuficiencia </a:t>
            </a:r>
            <a:r>
              <a:rPr lang="es-ES_tradnl" sz="2400" b="1" dirty="0"/>
              <a:t>renal</a:t>
            </a:r>
            <a:endParaRPr lang="es-BO" sz="2400" dirty="0"/>
          </a:p>
        </p:txBody>
      </p:sp>
    </p:spTree>
    <p:extLst>
      <p:ext uri="{BB962C8B-B14F-4D97-AF65-F5344CB8AC3E}">
        <p14:creationId xmlns:p14="http://schemas.microsoft.com/office/powerpoint/2010/main" xmlns="" val="1128845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580842" y="6085"/>
            <a:ext cx="7558087" cy="1179513"/>
          </a:xfrm>
        </p:spPr>
        <p:txBody>
          <a:bodyPr/>
          <a:lstStyle/>
          <a:p>
            <a:r>
              <a:rPr lang="es-ES_tradnl" sz="3600" b="1" u="sng" dirty="0">
                <a:solidFill>
                  <a:srgbClr val="FF0000"/>
                </a:solidFill>
              </a:rPr>
              <a:t>Exploración  Física</a:t>
            </a:r>
            <a:endParaRPr lang="es-BO" sz="3600" dirty="0">
              <a:solidFill>
                <a:srgbClr val="FF0000"/>
              </a:solidFill>
            </a:endParaRPr>
          </a:p>
        </p:txBody>
      </p:sp>
      <p:sp>
        <p:nvSpPr>
          <p:cNvPr id="7171" name="Text Box 4"/>
          <p:cNvSpPr txBox="1">
            <a:spLocks noChangeArrowheads="1"/>
          </p:cNvSpPr>
          <p:nvPr/>
        </p:nvSpPr>
        <p:spPr bwMode="auto">
          <a:xfrm>
            <a:off x="395536" y="1785938"/>
            <a:ext cx="8276977" cy="371178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marL="0" indent="0" algn="just">
              <a:buNone/>
            </a:pPr>
            <a:r>
              <a:rPr lang="es-ES_tradnl" sz="2800" dirty="0"/>
              <a:t>Exploración del urólogo o médico de cabecera anual si hay síntomas prostáticos, antecedentes familiares, o a partir de los 50 años, algunas escuelas recomiendan a los 45 años, para los que tengan un pariente cercano con la enfermedad</a:t>
            </a:r>
            <a:r>
              <a:rPr lang="es-ES_tradnl" sz="2800" dirty="0" smtClean="0"/>
              <a:t>.</a:t>
            </a:r>
          </a:p>
          <a:p>
            <a:pPr marL="0" indent="0" algn="just">
              <a:buNone/>
            </a:pPr>
            <a:endParaRPr lang="es-BO" sz="2800" dirty="0"/>
          </a:p>
          <a:p>
            <a:pPr marL="0" indent="0" algn="just">
              <a:buNone/>
            </a:pPr>
            <a:r>
              <a:rPr lang="es-ES_tradnl" sz="2800" dirty="0"/>
              <a:t>Tacto rectal para valorar el tamaño de la próstata, consistencia, movilidad, nódulos o dolor.</a:t>
            </a:r>
            <a:endParaRPr lang="es-BO" sz="2800" dirty="0"/>
          </a:p>
        </p:txBody>
      </p:sp>
    </p:spTree>
    <p:extLst>
      <p:ext uri="{BB962C8B-B14F-4D97-AF65-F5344CB8AC3E}">
        <p14:creationId xmlns:p14="http://schemas.microsoft.com/office/powerpoint/2010/main" xmlns="" val="5722555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585913" y="476672"/>
            <a:ext cx="7558087" cy="1179513"/>
          </a:xfrm>
        </p:spPr>
        <p:txBody>
          <a:bodyPr/>
          <a:lstStyle/>
          <a:p>
            <a:pPr>
              <a:defRPr/>
            </a:pPr>
            <a:r>
              <a:rPr lang="es-ES_tradnl" sz="3600" b="1" dirty="0">
                <a:solidFill>
                  <a:srgbClr val="FF0000"/>
                </a:solidFill>
              </a:rPr>
              <a:t>Pruebas complementarias, recomendaciones de la OMS</a:t>
            </a:r>
            <a:endParaRPr lang="es-ES" sz="3400" b="1" i="1" dirty="0" smtClean="0">
              <a:solidFill>
                <a:srgbClr val="FF0000"/>
              </a:solidFill>
              <a:effectLst>
                <a:outerShdw blurRad="38100" dist="38100" dir="2700000" algn="tl">
                  <a:srgbClr val="C0C0C0"/>
                </a:outerShdw>
              </a:effectLst>
              <a:latin typeface="Book Antiqua" pitchFamily="18" charset="0"/>
            </a:endParaRPr>
          </a:p>
        </p:txBody>
      </p:sp>
      <p:sp>
        <p:nvSpPr>
          <p:cNvPr id="7171" name="Text Box 4"/>
          <p:cNvSpPr txBox="1">
            <a:spLocks noChangeArrowheads="1"/>
          </p:cNvSpPr>
          <p:nvPr/>
        </p:nvSpPr>
        <p:spPr bwMode="auto">
          <a:xfrm>
            <a:off x="395536" y="1785938"/>
            <a:ext cx="8276977" cy="43027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r>
              <a:rPr lang="es-ES_tradnl" sz="2400" b="1" dirty="0" smtClean="0"/>
              <a:t>Analítica</a:t>
            </a:r>
            <a:r>
              <a:rPr lang="es-ES_tradnl" sz="2400" dirty="0"/>
              <a:t>: glucemia, creatina, antígeno prostático específico (PSA, siendo normal de 0-4 </a:t>
            </a:r>
            <a:r>
              <a:rPr lang="es-ES_tradnl" sz="2400" dirty="0" err="1"/>
              <a:t>ng</a:t>
            </a:r>
            <a:r>
              <a:rPr lang="es-ES_tradnl" sz="2400" dirty="0"/>
              <a:t>/ ml, el tacto rectal no aumenta el PSA), sedimento urinario, cultivo de la orina.</a:t>
            </a:r>
            <a:endParaRPr lang="es-BO" sz="2400" dirty="0"/>
          </a:p>
          <a:p>
            <a:r>
              <a:rPr lang="es-ES_tradnl" sz="2400" dirty="0"/>
              <a:t>El </a:t>
            </a:r>
            <a:r>
              <a:rPr lang="es-ES_tradnl" sz="2400" b="1" dirty="0"/>
              <a:t>PSA</a:t>
            </a:r>
            <a:r>
              <a:rPr lang="es-ES_tradnl" sz="2400" dirty="0"/>
              <a:t>, es el marcador tumoral más útil para el diagnóstico de cáncer de próstata, se encuentra en el tejido prostático. (También puede elevarse en la prostatitis).</a:t>
            </a:r>
            <a:endParaRPr lang="es-BO" sz="2400" dirty="0"/>
          </a:p>
          <a:p>
            <a:r>
              <a:rPr lang="es-ES_tradnl" sz="2400" b="1" dirty="0" smtClean="0"/>
              <a:t>Ecografía</a:t>
            </a:r>
            <a:r>
              <a:rPr lang="es-ES_tradnl" sz="2400" dirty="0"/>
              <a:t>: valora el tamaño, forma y nódulos prostáticos. Le ecografía </a:t>
            </a:r>
            <a:r>
              <a:rPr lang="es-ES_tradnl" sz="2400" dirty="0" err="1"/>
              <a:t>trans</a:t>
            </a:r>
            <a:r>
              <a:rPr lang="es-ES_tradnl" sz="2400" dirty="0"/>
              <a:t>-rectal es más fiable para estudiar la próstata.</a:t>
            </a:r>
            <a:endParaRPr lang="es-BO" sz="2400" dirty="0"/>
          </a:p>
        </p:txBody>
      </p:sp>
    </p:spTree>
    <p:extLst>
      <p:ext uri="{BB962C8B-B14F-4D97-AF65-F5344CB8AC3E}">
        <p14:creationId xmlns:p14="http://schemas.microsoft.com/office/powerpoint/2010/main" xmlns="" val="357744734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835696" y="188640"/>
            <a:ext cx="7558087" cy="1179513"/>
          </a:xfrm>
        </p:spPr>
        <p:txBody>
          <a:bodyPr/>
          <a:lstStyle/>
          <a:p>
            <a:r>
              <a:rPr lang="es-ES_tradnl" sz="3600" b="1" dirty="0">
                <a:solidFill>
                  <a:srgbClr val="FF0000"/>
                </a:solidFill>
              </a:rPr>
              <a:t>TRATAMIENTO</a:t>
            </a:r>
            <a:endParaRPr lang="es-BO" sz="3600" dirty="0">
              <a:solidFill>
                <a:srgbClr val="FF0000"/>
              </a:solidFill>
            </a:endParaRPr>
          </a:p>
        </p:txBody>
      </p:sp>
      <p:sp>
        <p:nvSpPr>
          <p:cNvPr id="7171" name="Text Box 4"/>
          <p:cNvSpPr txBox="1">
            <a:spLocks noChangeArrowheads="1"/>
          </p:cNvSpPr>
          <p:nvPr/>
        </p:nvSpPr>
        <p:spPr bwMode="auto">
          <a:xfrm>
            <a:off x="395536" y="1785938"/>
            <a:ext cx="8276977" cy="45735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lvl="0" algn="just"/>
            <a:r>
              <a:rPr lang="es-ES_tradnl" sz="2800" b="1" dirty="0"/>
              <a:t>Vigilancia expectante: </a:t>
            </a:r>
            <a:r>
              <a:rPr lang="es-ES_tradnl" sz="2800" dirty="0"/>
              <a:t>Cambios en el estilo de vida (orinar siempre que se  tengan ganas, comprimir región supra púbica tras la micción).</a:t>
            </a:r>
            <a:endParaRPr lang="es-BO" sz="2800" dirty="0"/>
          </a:p>
          <a:p>
            <a:pPr lvl="0" algn="just"/>
            <a:r>
              <a:rPr lang="es-ES_tradnl" sz="2800" b="1" dirty="0"/>
              <a:t>Medidas higiénicas:</a:t>
            </a:r>
            <a:r>
              <a:rPr lang="es-ES_tradnl" sz="2800" b="1" u="sng" dirty="0"/>
              <a:t> </a:t>
            </a:r>
            <a:r>
              <a:rPr lang="es-ES_tradnl" sz="2800" dirty="0"/>
              <a:t>Evitar el sedentarismo, hacer ejercicio físico, regular el tránsito intestinal, evitar comidas copiosas, el alcohol, estimulantes.</a:t>
            </a:r>
            <a:endParaRPr lang="es-BO" sz="2800" dirty="0"/>
          </a:p>
          <a:p>
            <a:pPr lvl="0" algn="just"/>
            <a:r>
              <a:rPr lang="es-ES_tradnl" sz="2800" b="1" dirty="0"/>
              <a:t>tratamiento médico</a:t>
            </a:r>
            <a:r>
              <a:rPr lang="es-ES_tradnl" sz="2800" dirty="0"/>
              <a:t>, va encaminado a reducir el tono muscular de la próstata o el volumen de la glándula.  </a:t>
            </a:r>
            <a:r>
              <a:rPr lang="es-ES_tradnl" sz="2400" dirty="0"/>
              <a:t>  </a:t>
            </a:r>
            <a:endParaRPr lang="es-BO" sz="2400" dirty="0"/>
          </a:p>
        </p:txBody>
      </p:sp>
    </p:spTree>
    <p:extLst>
      <p:ext uri="{BB962C8B-B14F-4D97-AF65-F5344CB8AC3E}">
        <p14:creationId xmlns:p14="http://schemas.microsoft.com/office/powerpoint/2010/main" xmlns="" val="8609216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763688" y="260648"/>
            <a:ext cx="7558087" cy="1179513"/>
          </a:xfrm>
        </p:spPr>
        <p:txBody>
          <a:bodyPr/>
          <a:lstStyle/>
          <a:p>
            <a:r>
              <a:rPr lang="es-ES_tradnl" sz="3600" b="1" u="sng" dirty="0">
                <a:solidFill>
                  <a:srgbClr val="FF0000"/>
                </a:solidFill>
              </a:rPr>
              <a:t>MEDIDAS GENERALES</a:t>
            </a:r>
            <a:endParaRPr lang="es-BO" sz="3600" dirty="0">
              <a:solidFill>
                <a:srgbClr val="FF0000"/>
              </a:solidFill>
            </a:endParaRPr>
          </a:p>
        </p:txBody>
      </p:sp>
      <p:sp>
        <p:nvSpPr>
          <p:cNvPr id="7171" name="Text Box 4"/>
          <p:cNvSpPr txBox="1">
            <a:spLocks noChangeArrowheads="1"/>
          </p:cNvSpPr>
          <p:nvPr/>
        </p:nvSpPr>
        <p:spPr bwMode="auto">
          <a:xfrm>
            <a:off x="395536" y="1785938"/>
            <a:ext cx="8276977" cy="44627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r>
              <a:rPr lang="es-ES_tradnl" sz="2000" dirty="0"/>
              <a:t>Beber poco por la tarde y sobretodo no beber alcohol. No fumar.</a:t>
            </a:r>
            <a:endParaRPr lang="es-BO" sz="2000" dirty="0"/>
          </a:p>
          <a:p>
            <a:r>
              <a:rPr lang="es-ES_tradnl" sz="2000" dirty="0" smtClean="0"/>
              <a:t>La </a:t>
            </a:r>
            <a:r>
              <a:rPr lang="es-ES_tradnl" sz="2000" dirty="0"/>
              <a:t>alimentación debe contener vegetales abundantes (brócoli, coliflor, repollo,   col, berros, tomates, rábano), frutas, legumbres, soja y derivados, y un bajo contenido en carnes rojas, grasas saturadas, sal azúcar y calcio. Tomar cereales integrales y grasa de origen vegetal.</a:t>
            </a:r>
            <a:endParaRPr lang="es-BO" sz="2000" dirty="0"/>
          </a:p>
          <a:p>
            <a:r>
              <a:rPr lang="es-ES_tradnl" sz="2000" dirty="0" smtClean="0"/>
              <a:t>Vaciar </a:t>
            </a:r>
            <a:r>
              <a:rPr lang="es-ES_tradnl" sz="2000" dirty="0"/>
              <a:t>la vejiga frecuentemente, durante el día y sobretodo antes de  acostarse.</a:t>
            </a:r>
            <a:endParaRPr lang="es-BO" sz="2000" dirty="0"/>
          </a:p>
          <a:p>
            <a:r>
              <a:rPr lang="es-ES_tradnl" sz="2000" dirty="0" smtClean="0"/>
              <a:t>Acostarse </a:t>
            </a:r>
            <a:r>
              <a:rPr lang="es-ES_tradnl" sz="2000" dirty="0"/>
              <a:t>en posición horizontal después de comer.</a:t>
            </a:r>
            <a:endParaRPr lang="es-BO" sz="2000" dirty="0"/>
          </a:p>
          <a:p>
            <a:r>
              <a:rPr lang="es-ES_tradnl" sz="2000" dirty="0" smtClean="0"/>
              <a:t>Evitar </a:t>
            </a:r>
            <a:r>
              <a:rPr lang="es-ES_tradnl" sz="2000" dirty="0"/>
              <a:t>viajes largos, estreñimiento, comidas flatulentas, frío y humedad.</a:t>
            </a:r>
            <a:endParaRPr lang="es-BO" sz="2000" dirty="0"/>
          </a:p>
          <a:p>
            <a:r>
              <a:rPr lang="es-ES_tradnl" sz="2000" dirty="0" smtClean="0"/>
              <a:t>No </a:t>
            </a:r>
            <a:r>
              <a:rPr lang="es-ES_tradnl" sz="2000" dirty="0"/>
              <a:t>hacer vida sedentaria, hacer deporte. Es muy beneficioso.</a:t>
            </a:r>
            <a:endParaRPr lang="es-BO" sz="2000" dirty="0"/>
          </a:p>
          <a:p>
            <a:r>
              <a:rPr lang="es-ES_tradnl" sz="2000" dirty="0" smtClean="0"/>
              <a:t>Evitar </a:t>
            </a:r>
            <a:r>
              <a:rPr lang="es-ES_tradnl" sz="2000" dirty="0"/>
              <a:t>el </a:t>
            </a:r>
            <a:r>
              <a:rPr lang="es-ES_tradnl" sz="2000" dirty="0" smtClean="0"/>
              <a:t>sobrepeso</a:t>
            </a:r>
            <a:endParaRPr lang="es-BO" sz="2000" dirty="0"/>
          </a:p>
        </p:txBody>
      </p:sp>
    </p:spTree>
    <p:extLst>
      <p:ext uri="{BB962C8B-B14F-4D97-AF65-F5344CB8AC3E}">
        <p14:creationId xmlns:p14="http://schemas.microsoft.com/office/powerpoint/2010/main" xmlns="" val="29015395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691680" y="188640"/>
            <a:ext cx="7558087" cy="1179513"/>
          </a:xfrm>
        </p:spPr>
        <p:txBody>
          <a:bodyPr/>
          <a:lstStyle/>
          <a:p>
            <a:r>
              <a:rPr lang="es-ES_tradnl" sz="3600" b="1" u="sng" dirty="0">
                <a:solidFill>
                  <a:srgbClr val="FF0000"/>
                </a:solidFill>
              </a:rPr>
              <a:t>TRATAMIENTO QUIRÚRGICO</a:t>
            </a:r>
            <a:endParaRPr lang="es-BO" sz="3600" dirty="0">
              <a:solidFill>
                <a:srgbClr val="FF0000"/>
              </a:solidFill>
            </a:endParaRPr>
          </a:p>
        </p:txBody>
      </p:sp>
      <p:sp>
        <p:nvSpPr>
          <p:cNvPr id="7171" name="Text Box 4"/>
          <p:cNvSpPr txBox="1">
            <a:spLocks noChangeArrowheads="1"/>
          </p:cNvSpPr>
          <p:nvPr/>
        </p:nvSpPr>
        <p:spPr bwMode="auto">
          <a:xfrm>
            <a:off x="467544" y="1628800"/>
            <a:ext cx="8204969" cy="467204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marL="0" indent="0" algn="just">
              <a:buNone/>
            </a:pPr>
            <a:r>
              <a:rPr lang="es-ES_tradnl" sz="2400" dirty="0" smtClean="0"/>
              <a:t>El 95</a:t>
            </a:r>
            <a:r>
              <a:rPr lang="es-ES_tradnl" sz="2400" dirty="0"/>
              <a:t>% de las </a:t>
            </a:r>
            <a:r>
              <a:rPr lang="es-ES_tradnl" sz="2400" dirty="0" err="1"/>
              <a:t>prostactectomías</a:t>
            </a:r>
            <a:r>
              <a:rPr lang="es-ES_tradnl" sz="2400" dirty="0"/>
              <a:t>, se realizan mediante la Resección </a:t>
            </a:r>
            <a:r>
              <a:rPr lang="es-ES_tradnl" sz="2400" dirty="0" err="1"/>
              <a:t>Transuretral</a:t>
            </a:r>
            <a:r>
              <a:rPr lang="es-ES_tradnl" sz="2400" dirty="0"/>
              <a:t> de Próstata (RTU) que consiste, en introducir por la uretra un </a:t>
            </a:r>
            <a:r>
              <a:rPr lang="es-ES_tradnl" sz="2400" dirty="0" err="1"/>
              <a:t>resectoscopio</a:t>
            </a:r>
            <a:r>
              <a:rPr lang="es-ES_tradnl" sz="2400" dirty="0"/>
              <a:t> con un asa electro quirúrgica, mediante la cual se va cortando el tejido </a:t>
            </a:r>
            <a:r>
              <a:rPr lang="es-ES_tradnl" sz="2400" dirty="0" err="1"/>
              <a:t>hiperplásico</a:t>
            </a:r>
            <a:r>
              <a:rPr lang="es-ES_tradnl" sz="2400" dirty="0"/>
              <a:t>, que se elimina a través del manguito del </a:t>
            </a:r>
            <a:r>
              <a:rPr lang="es-ES_tradnl" sz="2400" dirty="0" err="1"/>
              <a:t>resectoscopio</a:t>
            </a:r>
            <a:r>
              <a:rPr lang="es-ES_tradnl" sz="2400" dirty="0"/>
              <a:t>, ayudado por la irrigación continua de glicina que ayuda a eliminar los restos</a:t>
            </a:r>
            <a:r>
              <a:rPr lang="es-ES_tradnl" sz="2400" dirty="0" smtClean="0"/>
              <a:t>.</a:t>
            </a:r>
          </a:p>
          <a:p>
            <a:pPr marL="0" indent="0" algn="just">
              <a:buNone/>
            </a:pPr>
            <a:endParaRPr lang="es-BO" sz="2400" dirty="0"/>
          </a:p>
          <a:p>
            <a:pPr marL="0" indent="0" algn="just">
              <a:buNone/>
            </a:pPr>
            <a:r>
              <a:rPr lang="es-ES_tradnl" sz="2400" dirty="0"/>
              <a:t>Se deja colocada una sonda uretral de 3 vías con el balón hinchado en próstata para realizar hemostasia, balón que se desinflará al día siguiente reintroduciéndolo en vejiga o dejándolo in situ, con 8-10 cm solamente.</a:t>
            </a:r>
            <a:endParaRPr lang="es-BO" sz="2400" dirty="0"/>
          </a:p>
        </p:txBody>
      </p:sp>
    </p:spTree>
    <p:extLst>
      <p:ext uri="{BB962C8B-B14F-4D97-AF65-F5344CB8AC3E}">
        <p14:creationId xmlns:p14="http://schemas.microsoft.com/office/powerpoint/2010/main" xmlns="" val="4606378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467544" y="449287"/>
            <a:ext cx="8784976" cy="1179513"/>
          </a:xfrm>
        </p:spPr>
        <p:txBody>
          <a:bodyPr/>
          <a:lstStyle/>
          <a:p>
            <a:r>
              <a:rPr lang="es-ES_tradnl" sz="3600" dirty="0">
                <a:solidFill>
                  <a:srgbClr val="FF0000"/>
                </a:solidFill>
              </a:rPr>
              <a:t>Cuidados de Enfermería en el post-operatorio</a:t>
            </a:r>
            <a:endParaRPr lang="es-BO" sz="3600" dirty="0">
              <a:solidFill>
                <a:srgbClr val="FF0000"/>
              </a:solidFill>
            </a:endParaRPr>
          </a:p>
        </p:txBody>
      </p:sp>
      <p:sp>
        <p:nvSpPr>
          <p:cNvPr id="7171" name="Text Box 4"/>
          <p:cNvSpPr txBox="1">
            <a:spLocks noChangeArrowheads="1"/>
          </p:cNvSpPr>
          <p:nvPr/>
        </p:nvSpPr>
        <p:spPr bwMode="auto">
          <a:xfrm>
            <a:off x="467544" y="1628800"/>
            <a:ext cx="8204969" cy="427809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lvl="0" algn="just"/>
            <a:r>
              <a:rPr lang="es-ES_tradnl" sz="2000" dirty="0"/>
              <a:t>Vigilar la hematuria y su grado, si ésta se produce vigilar su estado hemodinámico: Hidratación, tensión arterial, frecuencia cardíaca, etc., para prevenir un posible schok hipovolémico.</a:t>
            </a:r>
            <a:endParaRPr lang="es-BO" sz="2000" dirty="0"/>
          </a:p>
          <a:p>
            <a:pPr lvl="0" algn="just"/>
            <a:r>
              <a:rPr lang="es-ES_tradnl" sz="2000" dirty="0"/>
              <a:t>Mantener la irrigación continua prescrita (que el paciente llevará colocada desde el quirófano), pudiendo ser de glicina o de suero fisiológico al 0.9%.</a:t>
            </a:r>
            <a:endParaRPr lang="es-BO" sz="2000" dirty="0"/>
          </a:p>
          <a:p>
            <a:pPr lvl="0" algn="just"/>
            <a:r>
              <a:rPr lang="es-ES_tradnl" sz="2000" dirty="0"/>
              <a:t>Realizar lavados vesicales manuales e intermitentes (con las medidas asépticas prescritas) para eliminar los posibles coágulos que no salgan espontáneamente con la irrigación continua, lo que aliviará el dolor producido por la dificultad de expulsión (por el paciente) de los coágulos formados.</a:t>
            </a:r>
            <a:endParaRPr lang="es-BO" sz="2000" dirty="0"/>
          </a:p>
          <a:p>
            <a:pPr lvl="0" algn="just"/>
            <a:r>
              <a:rPr lang="es-ES_tradnl" sz="2000" dirty="0"/>
              <a:t>Vigilar la aparición de espasmos, informando al urólogo de ello para instaurar la medicación pertinente.</a:t>
            </a:r>
            <a:endParaRPr lang="es-BO" sz="2000" dirty="0"/>
          </a:p>
        </p:txBody>
      </p:sp>
    </p:spTree>
    <p:extLst>
      <p:ext uri="{BB962C8B-B14F-4D97-AF65-F5344CB8AC3E}">
        <p14:creationId xmlns:p14="http://schemas.microsoft.com/office/powerpoint/2010/main" xmlns="" val="10923917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idx="4294967295"/>
          </p:nvPr>
        </p:nvSpPr>
        <p:spPr>
          <a:xfrm>
            <a:off x="1585913" y="116632"/>
            <a:ext cx="7558087" cy="1179513"/>
          </a:xfrm>
        </p:spPr>
        <p:txBody>
          <a:bodyPr/>
          <a:lstStyle/>
          <a:p>
            <a:r>
              <a:rPr lang="es-ES_tradnl" sz="3600" dirty="0">
                <a:solidFill>
                  <a:srgbClr val="FF0000"/>
                </a:solidFill>
              </a:rPr>
              <a:t>COMPLICACIONES</a:t>
            </a:r>
            <a:endParaRPr lang="es-BO" sz="3600" dirty="0">
              <a:solidFill>
                <a:srgbClr val="FF0000"/>
              </a:solidFill>
            </a:endParaRPr>
          </a:p>
        </p:txBody>
      </p:sp>
      <p:sp>
        <p:nvSpPr>
          <p:cNvPr id="5" name="Text Box 13"/>
          <p:cNvSpPr txBox="1">
            <a:spLocks noChangeArrowheads="1"/>
          </p:cNvSpPr>
          <p:nvPr/>
        </p:nvSpPr>
        <p:spPr bwMode="auto">
          <a:xfrm>
            <a:off x="611560" y="2021652"/>
            <a:ext cx="7560840" cy="3982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algn="l" eaLnBrk="0" hangingPunct="0">
              <a:spcBef>
                <a:spcPct val="20000"/>
              </a:spcBef>
              <a:buClr>
                <a:srgbClr val="080135"/>
              </a:buClr>
              <a:buSzPct val="90000"/>
              <a:buFont typeface="Wingdings" pitchFamily="2" charset="2"/>
              <a:buChar char="Ø"/>
              <a:defRPr sz="3800">
                <a:solidFill>
                  <a:schemeClr val="tx1"/>
                </a:solidFill>
                <a:latin typeface="Verdana" pitchFamily="34" charset="0"/>
              </a:defRPr>
            </a:lvl1pPr>
            <a:lvl2pPr marL="742950" indent="-285750" algn="l" eaLnBrk="0" hangingPunct="0">
              <a:spcBef>
                <a:spcPct val="20000"/>
              </a:spcBef>
              <a:buChar char="–"/>
              <a:defRPr sz="2800">
                <a:solidFill>
                  <a:schemeClr val="tx1"/>
                </a:solidFill>
                <a:latin typeface="Verdana" pitchFamily="34" charset="0"/>
              </a:defRPr>
            </a:lvl2pPr>
            <a:lvl3pPr marL="1143000" indent="-228600" algn="l" eaLnBrk="0" hangingPunct="0">
              <a:spcBef>
                <a:spcPct val="20000"/>
              </a:spcBef>
              <a:buChar char="•"/>
              <a:defRPr sz="2400">
                <a:solidFill>
                  <a:schemeClr val="tx1"/>
                </a:solidFill>
                <a:latin typeface="Verdana" pitchFamily="34" charset="0"/>
              </a:defRPr>
            </a:lvl3pPr>
            <a:lvl4pPr marL="1600200" indent="-228600" algn="l" eaLnBrk="0" hangingPunct="0">
              <a:spcBef>
                <a:spcPct val="20000"/>
              </a:spcBef>
              <a:buChar char="–"/>
              <a:defRPr sz="2000">
                <a:solidFill>
                  <a:schemeClr val="tx1"/>
                </a:solidFill>
                <a:latin typeface="Verdana" pitchFamily="34" charset="0"/>
              </a:defRPr>
            </a:lvl4pPr>
            <a:lvl5pPr marL="2057400" indent="-228600" algn="l" eaLnBrk="0" hangingPunct="0">
              <a:spcBef>
                <a:spcPct val="20000"/>
              </a:spcBef>
              <a:buChar char="•"/>
              <a:defRPr sz="2000">
                <a:solidFill>
                  <a:schemeClr val="tx1"/>
                </a:solidFill>
                <a:latin typeface="Verdana" pitchFamily="34" charset="0"/>
              </a:defRPr>
            </a:lvl5pPr>
            <a:lvl6pPr marL="2514600" indent="-228600" eaLnBrk="0" fontAlgn="base" hangingPunct="0">
              <a:spcBef>
                <a:spcPct val="20000"/>
              </a:spcBef>
              <a:spcAft>
                <a:spcPct val="0"/>
              </a:spcAft>
              <a:buChar char="•"/>
              <a:defRPr sz="2000">
                <a:solidFill>
                  <a:schemeClr val="tx1"/>
                </a:solidFill>
                <a:latin typeface="Verdana" pitchFamily="34" charset="0"/>
              </a:defRPr>
            </a:lvl6pPr>
            <a:lvl7pPr marL="2971800" indent="-228600" eaLnBrk="0" fontAlgn="base" hangingPunct="0">
              <a:spcBef>
                <a:spcPct val="20000"/>
              </a:spcBef>
              <a:spcAft>
                <a:spcPct val="0"/>
              </a:spcAft>
              <a:buChar char="•"/>
              <a:defRPr sz="2000">
                <a:solidFill>
                  <a:schemeClr val="tx1"/>
                </a:solidFill>
                <a:latin typeface="Verdana" pitchFamily="34" charset="0"/>
              </a:defRPr>
            </a:lvl7pPr>
            <a:lvl8pPr marL="3429000" indent="-228600" eaLnBrk="0" fontAlgn="base" hangingPunct="0">
              <a:spcBef>
                <a:spcPct val="20000"/>
              </a:spcBef>
              <a:spcAft>
                <a:spcPct val="0"/>
              </a:spcAft>
              <a:buChar char="•"/>
              <a:defRPr sz="2000">
                <a:solidFill>
                  <a:schemeClr val="tx1"/>
                </a:solidFill>
                <a:latin typeface="Verdana" pitchFamily="34" charset="0"/>
              </a:defRPr>
            </a:lvl8pPr>
            <a:lvl9pPr marL="3886200" indent="-228600" eaLnBrk="0" fontAlgn="base" hangingPunct="0">
              <a:spcBef>
                <a:spcPct val="20000"/>
              </a:spcBef>
              <a:spcAft>
                <a:spcPct val="0"/>
              </a:spcAft>
              <a:buChar char="•"/>
              <a:defRPr sz="2000">
                <a:solidFill>
                  <a:schemeClr val="tx1"/>
                </a:solidFill>
                <a:latin typeface="Verdana" pitchFamily="34" charset="0"/>
              </a:defRPr>
            </a:lvl9pPr>
          </a:lstStyle>
          <a:p>
            <a:pPr lvl="0" algn="just"/>
            <a:r>
              <a:rPr lang="es-ES_tradnl" sz="2000" dirty="0"/>
              <a:t>La Eyaculación Retrógrada es la más importante, por la pérdida del mecanismo del esfínter del cuello vesical, el cual no se cierra durante la eyaculación por lo que el semen pasa retrógradamente a la vejiga en lugar de la uretra</a:t>
            </a:r>
            <a:r>
              <a:rPr lang="es-ES_tradnl" sz="2000" dirty="0" smtClean="0"/>
              <a:t>.</a:t>
            </a:r>
          </a:p>
          <a:p>
            <a:pPr lvl="0"/>
            <a:r>
              <a:rPr lang="es-ES_tradnl" sz="2000" dirty="0"/>
              <a:t>Sangrado durante y post-operatorio.</a:t>
            </a:r>
            <a:endParaRPr lang="es-BO" sz="2000" dirty="0"/>
          </a:p>
          <a:p>
            <a:pPr lvl="0"/>
            <a:r>
              <a:rPr lang="es-ES_tradnl" sz="2000" dirty="0"/>
              <a:t>Incontinencia que se manifiesta en menos de un 1% de los casos, y suele ser debida a lesión del esfínter.</a:t>
            </a:r>
            <a:endParaRPr lang="es-BO" sz="2000" dirty="0"/>
          </a:p>
          <a:p>
            <a:pPr lvl="0"/>
            <a:r>
              <a:rPr lang="es-ES_tradnl" sz="2000" dirty="0"/>
              <a:t>Disuria e imperiosidad durante semanas después de la intervención.</a:t>
            </a:r>
            <a:endParaRPr lang="es-BO" sz="2000" dirty="0"/>
          </a:p>
          <a:p>
            <a:pPr lvl="0"/>
            <a:r>
              <a:rPr lang="es-ES_tradnl" sz="2000" dirty="0"/>
              <a:t>Ocasionalmente se produce estenosis.</a:t>
            </a:r>
            <a:endParaRPr lang="es-BO" sz="2000" dirty="0"/>
          </a:p>
          <a:p>
            <a:pPr lvl="0">
              <a:buNone/>
            </a:pPr>
            <a:endParaRPr lang="es-BO" sz="1400" dirty="0"/>
          </a:p>
        </p:txBody>
      </p:sp>
    </p:spTree>
    <p:extLst>
      <p:ext uri="{BB962C8B-B14F-4D97-AF65-F5344CB8AC3E}">
        <p14:creationId xmlns:p14="http://schemas.microsoft.com/office/powerpoint/2010/main" xmlns="" val="2182043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4"/>
          <p:cNvSpPr txBox="1">
            <a:spLocks noChangeArrowheads="1"/>
          </p:cNvSpPr>
          <p:nvPr/>
        </p:nvSpPr>
        <p:spPr bwMode="auto">
          <a:xfrm>
            <a:off x="2409123" y="2856286"/>
            <a:ext cx="4102484" cy="10064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type="none" w="sm" len="sm"/>
                <a:tailEnd type="none" w="sm" len="sm"/>
              </a14:hiddenLine>
            </a:ext>
          </a:extLst>
        </p:spPr>
        <p:txBody>
          <a:bodyPr wrap="square">
            <a:spAutoFit/>
          </a:bodyPr>
          <a:lstStyle>
            <a:lvl1pPr marL="363538" indent="-363538" eaLnBrk="0" hangingPunct="0">
              <a:spcBef>
                <a:spcPct val="20000"/>
              </a:spcBef>
              <a:buClr>
                <a:schemeClr val="hlink"/>
              </a:buClr>
              <a:buSzPct val="90000"/>
              <a:buFont typeface="Wingdings" pitchFamily="2" charset="2"/>
              <a:buBlip>
                <a:blip r:embed="rId2"/>
              </a:buBlip>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lr>
                <a:schemeClr val="accent2"/>
              </a:buClr>
              <a:buSzPct val="90000"/>
              <a:buFont typeface="Wingdings" pitchFamily="2" charset="2"/>
              <a:buBlip>
                <a:blip r:embed="rId3"/>
              </a:buBlip>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lr>
                <a:schemeClr val="folHlink"/>
              </a:buClr>
              <a:buSzPct val="90000"/>
              <a:buFont typeface="Wingdings" pitchFamily="2" charset="2"/>
              <a:buBlip>
                <a:blip r:embed="rId4"/>
              </a:buBlip>
              <a:defRPr sz="2000">
                <a:solidFill>
                  <a:schemeClr val="tx1"/>
                </a:solidFill>
                <a:latin typeface="Arial" charset="0"/>
              </a:defRPr>
            </a:lvl5pPr>
            <a:lvl6pPr marL="25146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6pPr>
            <a:lvl7pPr marL="29718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7pPr>
            <a:lvl8pPr marL="34290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8pPr>
            <a:lvl9pPr marL="3886200" indent="-228600" eaLnBrk="0" fontAlgn="base" hangingPunct="0">
              <a:spcBef>
                <a:spcPct val="20000"/>
              </a:spcBef>
              <a:spcAft>
                <a:spcPct val="0"/>
              </a:spcAft>
              <a:buClr>
                <a:schemeClr val="folHlink"/>
              </a:buClr>
              <a:buSzPct val="90000"/>
              <a:buFont typeface="Wingdings" pitchFamily="2" charset="2"/>
              <a:buBlip>
                <a:blip r:embed="rId4"/>
              </a:buBlip>
              <a:defRPr sz="2000">
                <a:solidFill>
                  <a:schemeClr val="tx1"/>
                </a:solidFill>
                <a:latin typeface="Arial" charset="0"/>
              </a:defRPr>
            </a:lvl9pPr>
          </a:lstStyle>
          <a:p>
            <a:pPr marL="0" indent="0" algn="just">
              <a:lnSpc>
                <a:spcPct val="90000"/>
              </a:lnSpc>
              <a:buNone/>
            </a:pPr>
            <a:r>
              <a:rPr lang="es-ES_tradnl" altLang="es-ES" sz="6600" dirty="0" smtClean="0">
                <a:solidFill>
                  <a:srgbClr val="FF0000"/>
                </a:solidFill>
              </a:rPr>
              <a:t>GRACIAS</a:t>
            </a:r>
            <a:endParaRPr lang="es-ES_tradnl" altLang="es-ES" sz="6600" dirty="0">
              <a:solidFill>
                <a:srgbClr val="FF0000"/>
              </a:solidFill>
            </a:endParaRPr>
          </a:p>
        </p:txBody>
      </p:sp>
    </p:spTree>
    <p:extLst>
      <p:ext uri="{BB962C8B-B14F-4D97-AF65-F5344CB8AC3E}">
        <p14:creationId xmlns:p14="http://schemas.microsoft.com/office/powerpoint/2010/main" xmlns="" val="748929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circle(in)">
                                      <p:cBhvr>
                                        <p:cTn id="7" dur="2000"/>
                                        <p:tgtEl>
                                          <p:spTgt spid="71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ujo">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Flujo">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ujo">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822</TotalTime>
  <Words>1053</Words>
  <Application>Microsoft Office PowerPoint</Application>
  <PresentationFormat>Presentación en pantalla (4:3)</PresentationFormat>
  <Paragraphs>79</Paragraphs>
  <Slides>16</Slides>
  <Notes>2</Notes>
  <HiddenSlides>0</HiddenSlides>
  <MMClips>0</MMClips>
  <ScaleCrop>false</ScaleCrop>
  <HeadingPairs>
    <vt:vector size="4" baseType="variant">
      <vt:variant>
        <vt:lpstr>Tema</vt:lpstr>
      </vt:variant>
      <vt:variant>
        <vt:i4>1</vt:i4>
      </vt:variant>
      <vt:variant>
        <vt:lpstr>Títulos de diapositiva</vt:lpstr>
      </vt:variant>
      <vt:variant>
        <vt:i4>16</vt:i4>
      </vt:variant>
    </vt:vector>
  </HeadingPairs>
  <TitlesOfParts>
    <vt:vector size="17" baseType="lpstr">
      <vt:lpstr>Flujo</vt:lpstr>
      <vt:lpstr>HIPERTROFIA PROSTATICA</vt:lpstr>
      <vt:lpstr>Diapositiva 2</vt:lpstr>
      <vt:lpstr>Diapositiva 3</vt:lpstr>
      <vt:lpstr>Diapositiva 4</vt:lpstr>
      <vt:lpstr>Factores de riesgo: </vt:lpstr>
      <vt:lpstr>Diapositiva 6</vt:lpstr>
      <vt:lpstr>Problemas urinarios</vt:lpstr>
      <vt:lpstr>Complicaciones</vt:lpstr>
      <vt:lpstr>Exploración  Física</vt:lpstr>
      <vt:lpstr>Pruebas complementarias, recomendaciones de la OMS</vt:lpstr>
      <vt:lpstr>TRATAMIENTO</vt:lpstr>
      <vt:lpstr>MEDIDAS GENERALES</vt:lpstr>
      <vt:lpstr>TRATAMIENTO QUIRÚRGICO</vt:lpstr>
      <vt:lpstr>Cuidados de Enfermería en el post-operatorio</vt:lpstr>
      <vt:lpstr>COMPLICACIONES</vt:lpstr>
      <vt:lpstr>Diapositiva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GESTIÓN DE LA CALIDAD EN LA ATENCIÓN DE ENFERMERÍA EN LAS UNIDADES MEDICO QUIRÚRGICAS</dc:title>
  <dc:creator>Janette Mejia</dc:creator>
  <cp:lastModifiedBy>ALSIE CONSULTORES</cp:lastModifiedBy>
  <cp:revision>85</cp:revision>
  <dcterms:modified xsi:type="dcterms:W3CDTF">2014-11-28T09:26:44Z</dcterms:modified>
</cp:coreProperties>
</file>