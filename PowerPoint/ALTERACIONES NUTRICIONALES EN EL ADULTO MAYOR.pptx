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64" r:id="rId5"/>
    <p:sldId id="265" r:id="rId6"/>
    <p:sldId id="266" r:id="rId7"/>
    <p:sldId id="263" r:id="rId8"/>
    <p:sldId id="262" r:id="rId9"/>
    <p:sldId id="261" r:id="rId10"/>
    <p:sldId id="269" r:id="rId11"/>
    <p:sldId id="268" r:id="rId12"/>
    <p:sldId id="267" r:id="rId13"/>
    <p:sldId id="270" r:id="rId14"/>
    <p:sldId id="272" r:id="rId15"/>
    <p:sldId id="273" r:id="rId16"/>
    <p:sldId id="274" r:id="rId17"/>
    <p:sldId id="271" r:id="rId18"/>
    <p:sldId id="275" r:id="rId19"/>
    <p:sldId id="276" r:id="rId20"/>
    <p:sldId id="277" r:id="rId21"/>
    <p:sldId id="278" r:id="rId22"/>
    <p:sldId id="279" r:id="rId23"/>
    <p:sldId id="280" r:id="rId24"/>
    <p:sldId id="281" r:id="rId25"/>
    <p:sldId id="282" r:id="rId26"/>
    <p:sldId id="283" r:id="rId27"/>
    <p:sldId id="284" r:id="rId28"/>
    <p:sldId id="286" r:id="rId29"/>
    <p:sldId id="287" r:id="rId30"/>
    <p:sldId id="259"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1536" y="-10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1334E9AE-A582-43C7-842C-EFB2148F4EC9}" type="datetimeFigureOut">
              <a:rPr lang="en-US" smtClean="0"/>
              <a:t>11/29/2014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86ED0-3EEF-42C8-B827-7F3DEF344FD8}" type="slidenum">
              <a:rPr lang="en-US" smtClean="0"/>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1334E9AE-A582-43C7-842C-EFB2148F4EC9}" type="datetimeFigureOut">
              <a:rPr lang="en-US" smtClean="0"/>
              <a:t>11/29/2014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86ED0-3EEF-42C8-B827-7F3DEF344FD8}" type="slidenum">
              <a:rPr lang="en-US" smtClean="0"/>
              <a:t>‹Nº›</a:t>
            </a:fld>
            <a:endParaRPr lang="en-US"/>
          </a:p>
        </p:txBody>
      </p:sp>
      <p:sp>
        <p:nvSpPr>
          <p:cNvPr id="7" name="Title 6"/>
          <p:cNvSpPr>
            <a:spLocks noGrp="1"/>
          </p:cNvSpPr>
          <p:nvPr>
            <p:ph type="title"/>
          </p:nvPr>
        </p:nvSpPr>
        <p:spPr/>
        <p:txBody>
          <a:bodyPr/>
          <a:lstStyle/>
          <a:p>
            <a:r>
              <a:rPr lang="es-ES" smtClean="0"/>
              <a:t>Haga clic para modificar el estilo de título del patrón</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1334E9AE-A582-43C7-842C-EFB2148F4EC9}" type="datetimeFigureOut">
              <a:rPr lang="en-US" smtClean="0"/>
              <a:t>11/29/2014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86ED0-3EEF-42C8-B827-7F3DEF344FD8}" type="slidenum">
              <a:rPr lang="en-US" smtClean="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5" name="Date Placeholder 4"/>
          <p:cNvSpPr>
            <a:spLocks noGrp="1"/>
          </p:cNvSpPr>
          <p:nvPr>
            <p:ph type="dt" sz="half" idx="10"/>
          </p:nvPr>
        </p:nvSpPr>
        <p:spPr/>
        <p:txBody>
          <a:bodyPr/>
          <a:lstStyle/>
          <a:p>
            <a:fld id="{1334E9AE-A582-43C7-842C-EFB2148F4EC9}" type="datetimeFigureOut">
              <a:rPr lang="en-US" smtClean="0"/>
              <a:t>11/29/2014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086ED0-3EEF-42C8-B827-7F3DEF344FD8}" type="slidenum">
              <a:rPr lang="en-US" smtClean="0"/>
              <a:t>‹Nº›</a:t>
            </a:fld>
            <a:endParaRPr lang="en-US"/>
          </a:p>
        </p:txBody>
      </p:sp>
      <p:sp>
        <p:nvSpPr>
          <p:cNvPr id="9" name="Content Placeholder 8"/>
          <p:cNvSpPr>
            <a:spLocks noGrp="1"/>
          </p:cNvSpPr>
          <p:nvPr>
            <p:ph sz="quarter" idx="13"/>
          </p:nvPr>
        </p:nvSpPr>
        <p:spPr>
          <a:xfrm>
            <a:off x="676655" y="2679192"/>
            <a:ext cx="3822192" cy="34472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1334E9AE-A582-43C7-842C-EFB2148F4EC9}" type="datetimeFigureOut">
              <a:rPr lang="en-US" smtClean="0"/>
              <a:t>11/29/2014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E086ED0-3EEF-42C8-B827-7F3DEF344FD8}" type="slidenum">
              <a:rPr lang="en-US" smtClean="0"/>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Date Placeholder 2"/>
          <p:cNvSpPr>
            <a:spLocks noGrp="1"/>
          </p:cNvSpPr>
          <p:nvPr>
            <p:ph type="dt" sz="half" idx="10"/>
          </p:nvPr>
        </p:nvSpPr>
        <p:spPr/>
        <p:txBody>
          <a:bodyPr/>
          <a:lstStyle/>
          <a:p>
            <a:fld id="{1334E9AE-A582-43C7-842C-EFB2148F4EC9}" type="datetimeFigureOut">
              <a:rPr lang="en-US" smtClean="0"/>
              <a:t>11/29/2014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E086ED0-3EEF-42C8-B827-7F3DEF344FD8}" type="slidenum">
              <a:rPr lang="en-US" smtClean="0"/>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1334E9AE-A582-43C7-842C-EFB2148F4EC9}" type="datetimeFigureOut">
              <a:rPr lang="en-US" smtClean="0"/>
              <a:t>11/29/2014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E086ED0-3EEF-42C8-B827-7F3DEF344FD8}" type="slidenum">
              <a:rPr lang="en-US" smtClean="0"/>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1334E9AE-A582-43C7-842C-EFB2148F4EC9}" type="datetimeFigureOut">
              <a:rPr lang="en-US" smtClean="0"/>
              <a:t>11/29/2014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086ED0-3EEF-42C8-B827-7F3DEF344FD8}" type="slidenum">
              <a:rPr lang="en-US" smtClean="0"/>
              <a:t>‹Nº›</a:t>
            </a:fld>
            <a:endParaRPr 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1334E9AE-A582-43C7-842C-EFB2148F4EC9}" type="datetimeFigureOut">
              <a:rPr lang="en-US" smtClean="0"/>
              <a:t>11/29/2014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E086ED0-3EEF-42C8-B827-7F3DEF344FD8}" type="slidenum">
              <a:rPr lang="en-US" smtClean="0"/>
              <a:t>‹Nº›</a:t>
            </a:fld>
            <a:endParaRPr 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smtClean="0"/>
              <a:t>Haga clic en el icono para agregar una imagen</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a:p>
        </p:txBody>
      </p:sp>
      <p:sp>
        <p:nvSpPr>
          <p:cNvPr id="4" name="Date Placeholder 3"/>
          <p:cNvSpPr>
            <a:spLocks noGrp="1"/>
          </p:cNvSpPr>
          <p:nvPr>
            <p:ph type="dt" sz="half" idx="10"/>
          </p:nvPr>
        </p:nvSpPr>
        <p:spPr/>
        <p:txBody>
          <a:bodyPr/>
          <a:lstStyle/>
          <a:p>
            <a:fld id="{1334E9AE-A582-43C7-842C-EFB2148F4EC9}" type="datetimeFigureOut">
              <a:rPr lang="en-US" smtClean="0"/>
              <a:t>11/29/2014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86ED0-3EEF-42C8-B827-7F3DEF344FD8}" type="slidenum">
              <a:rPr lang="en-US" smtClean="0"/>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1334E9AE-A582-43C7-842C-EFB2148F4EC9}" type="datetimeFigureOut">
              <a:rPr lang="en-US" smtClean="0"/>
              <a:t>11/29/2014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E086ED0-3EEF-42C8-B827-7F3DEF344FD8}" type="slidenum">
              <a:rPr lang="en-US" smtClean="0"/>
              <a:t>‹Nº›</a:t>
            </a:fld>
            <a:endParaRPr 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es-ES" smtClean="0"/>
              <a:t>Haga clic para modificar el estilo de título del patrón</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1334E9AE-A582-43C7-842C-EFB2148F4EC9}" type="datetimeFigureOut">
              <a:rPr lang="en-US" smtClean="0"/>
              <a:t>11/29/2014</a:t>
            </a:fld>
            <a:endParaRPr 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EE086ED0-3EEF-42C8-B827-7F3DEF344FD8}" type="slidenum">
              <a:rPr lang="en-US" smtClean="0"/>
              <a:t>‹Nº›</a:t>
            </a:fld>
            <a:endParaRPr 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p:txBody>
          <a:bodyPr>
            <a:normAutofit fontScale="90000"/>
          </a:bodyPr>
          <a:lstStyle/>
          <a:p>
            <a:r>
              <a:rPr lang="es-ES" dirty="0">
                <a:solidFill>
                  <a:schemeClr val="tx1"/>
                </a:solidFill>
              </a:rPr>
              <a:t>ALTERACIONES NUTRICIONALES EN EL ADULTO MAYOR</a:t>
            </a:r>
            <a:endParaRPr lang="en-US" dirty="0">
              <a:solidFill>
                <a:schemeClr val="tx1"/>
              </a:solidFill>
            </a:endParaRPr>
          </a:p>
        </p:txBody>
      </p:sp>
      <p:sp>
        <p:nvSpPr>
          <p:cNvPr id="3" name="2 Subtítulo"/>
          <p:cNvSpPr>
            <a:spLocks noGrp="1"/>
          </p:cNvSpPr>
          <p:nvPr>
            <p:ph type="subTitle" idx="1"/>
          </p:nvPr>
        </p:nvSpPr>
        <p:spPr>
          <a:xfrm>
            <a:off x="4495800" y="3581400"/>
            <a:ext cx="4038600" cy="1701799"/>
          </a:xfrm>
        </p:spPr>
        <p:txBody>
          <a:bodyPr>
            <a:normAutofit/>
          </a:bodyPr>
          <a:lstStyle/>
          <a:p>
            <a:pPr algn="just"/>
            <a:r>
              <a:rPr lang="pt-BR" b="1" dirty="0">
                <a:solidFill>
                  <a:schemeClr val="tx1"/>
                </a:solidFill>
              </a:rPr>
              <a:t>Integrantes:                    </a:t>
            </a:r>
          </a:p>
          <a:p>
            <a:pPr algn="just"/>
            <a:r>
              <a:rPr lang="pt-BR" b="1" dirty="0" err="1">
                <a:solidFill>
                  <a:schemeClr val="tx1"/>
                </a:solidFill>
              </a:rPr>
              <a:t>Argote</a:t>
            </a:r>
            <a:r>
              <a:rPr lang="pt-BR" b="1" dirty="0">
                <a:solidFill>
                  <a:schemeClr val="tx1"/>
                </a:solidFill>
              </a:rPr>
              <a:t> </a:t>
            </a:r>
            <a:r>
              <a:rPr lang="pt-BR" b="1" dirty="0" err="1">
                <a:solidFill>
                  <a:schemeClr val="tx1"/>
                </a:solidFill>
              </a:rPr>
              <a:t>Zubieta</a:t>
            </a:r>
            <a:r>
              <a:rPr lang="pt-BR" b="1" dirty="0">
                <a:solidFill>
                  <a:schemeClr val="tx1"/>
                </a:solidFill>
              </a:rPr>
              <a:t> </a:t>
            </a:r>
            <a:r>
              <a:rPr lang="pt-BR" b="1" dirty="0" err="1">
                <a:solidFill>
                  <a:schemeClr val="tx1"/>
                </a:solidFill>
              </a:rPr>
              <a:t>Lizzett</a:t>
            </a:r>
            <a:r>
              <a:rPr lang="pt-BR" b="1" dirty="0">
                <a:solidFill>
                  <a:schemeClr val="tx1"/>
                </a:solidFill>
              </a:rPr>
              <a:t> Nilda </a:t>
            </a:r>
          </a:p>
          <a:p>
            <a:pPr algn="just"/>
            <a:r>
              <a:rPr lang="pt-BR" b="1" dirty="0" smtClean="0">
                <a:solidFill>
                  <a:schemeClr val="tx1"/>
                </a:solidFill>
              </a:rPr>
              <a:t>Calderón </a:t>
            </a:r>
            <a:r>
              <a:rPr lang="pt-BR" b="1" dirty="0">
                <a:solidFill>
                  <a:schemeClr val="tx1"/>
                </a:solidFill>
              </a:rPr>
              <a:t>Campoverde Beatriz </a:t>
            </a:r>
          </a:p>
          <a:p>
            <a:pPr algn="just"/>
            <a:r>
              <a:rPr lang="pt-BR" b="1" dirty="0" err="1">
                <a:solidFill>
                  <a:schemeClr val="tx1"/>
                </a:solidFill>
              </a:rPr>
              <a:t>Pozo</a:t>
            </a:r>
            <a:r>
              <a:rPr lang="pt-BR" b="1" dirty="0">
                <a:solidFill>
                  <a:schemeClr val="tx1"/>
                </a:solidFill>
              </a:rPr>
              <a:t> Portugal Maria </a:t>
            </a:r>
            <a:r>
              <a:rPr lang="pt-BR" b="1" dirty="0" smtClean="0">
                <a:solidFill>
                  <a:schemeClr val="tx1"/>
                </a:solidFill>
              </a:rPr>
              <a:t>Luísa </a:t>
            </a:r>
            <a:endParaRPr lang="pt-BR" b="1" dirty="0">
              <a:solidFill>
                <a:schemeClr val="tx1"/>
              </a:solidFill>
            </a:endParaRPr>
          </a:p>
        </p:txBody>
      </p:sp>
    </p:spTree>
    <p:extLst>
      <p:ext uri="{BB962C8B-B14F-4D97-AF65-F5344CB8AC3E}">
        <p14:creationId xmlns:p14="http://schemas.microsoft.com/office/powerpoint/2010/main" val="165172511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872067" y="2514600"/>
            <a:ext cx="7408333" cy="3611563"/>
          </a:xfrm>
        </p:spPr>
        <p:txBody>
          <a:bodyPr>
            <a:noAutofit/>
          </a:bodyPr>
          <a:lstStyle/>
          <a:p>
            <a:pPr marL="0" marR="0" algn="just">
              <a:lnSpc>
                <a:spcPct val="150000"/>
              </a:lnSpc>
              <a:spcBef>
                <a:spcPts val="0"/>
              </a:spcBef>
              <a:spcAft>
                <a:spcPts val="1000"/>
              </a:spcAft>
            </a:pPr>
            <a:r>
              <a:rPr lang="es-BO" sz="2000" dirty="0">
                <a:solidFill>
                  <a:schemeClr val="tx1"/>
                </a:solidFill>
                <a:latin typeface="Arial"/>
                <a:ea typeface="Calibri"/>
                <a:cs typeface="Times New Roman"/>
              </a:rPr>
              <a:t>Una nutrición sana y equilibrada es clave para un envejecimiento pleno y para conservar la calidad de vida durante la tercera edad.</a:t>
            </a:r>
            <a:endParaRPr lang="en-US" sz="2000" dirty="0">
              <a:solidFill>
                <a:schemeClr val="tx1"/>
              </a:solidFill>
              <a:latin typeface="Calibri"/>
              <a:ea typeface="Calibri"/>
              <a:cs typeface="Times New Roman"/>
            </a:endParaRPr>
          </a:p>
          <a:p>
            <a:pPr algn="just">
              <a:lnSpc>
                <a:spcPct val="150000"/>
              </a:lnSpc>
            </a:pPr>
            <a:r>
              <a:rPr lang="es-BO" sz="2000" dirty="0" smtClean="0">
                <a:solidFill>
                  <a:schemeClr val="tx1"/>
                </a:solidFill>
                <a:latin typeface="Arial"/>
                <a:ea typeface="Calibri"/>
              </a:rPr>
              <a:t>Que repercute tanto en la salud física como en la emocional.</a:t>
            </a:r>
          </a:p>
          <a:p>
            <a:pPr algn="just">
              <a:lnSpc>
                <a:spcPct val="150000"/>
              </a:lnSpc>
            </a:pPr>
            <a:r>
              <a:rPr lang="es-BO" sz="2000" dirty="0" smtClean="0">
                <a:solidFill>
                  <a:schemeClr val="tx1"/>
                </a:solidFill>
                <a:latin typeface="Arial"/>
                <a:ea typeface="Calibri"/>
              </a:rPr>
              <a:t>Físicos las papilas gustativas desaparecen de una forma progresiva</a:t>
            </a:r>
            <a:r>
              <a:rPr lang="es-BO" sz="2000" dirty="0">
                <a:solidFill>
                  <a:schemeClr val="tx1"/>
                </a:solidFill>
                <a:latin typeface="Arial"/>
                <a:ea typeface="Calibri"/>
              </a:rPr>
              <a:t>, lo que disminuye la capacidad para sentir los sabores. </a:t>
            </a:r>
            <a:endParaRPr lang="en-US" sz="2000" dirty="0">
              <a:solidFill>
                <a:schemeClr val="tx1"/>
              </a:solidFill>
            </a:endParaRPr>
          </a:p>
        </p:txBody>
      </p:sp>
      <p:sp>
        <p:nvSpPr>
          <p:cNvPr id="2" name="1 Título"/>
          <p:cNvSpPr>
            <a:spLocks noGrp="1"/>
          </p:cNvSpPr>
          <p:nvPr>
            <p:ph type="title"/>
          </p:nvPr>
        </p:nvSpPr>
        <p:spPr>
          <a:xfrm>
            <a:off x="381000" y="838200"/>
            <a:ext cx="4038600" cy="576072"/>
          </a:xfrm>
        </p:spPr>
        <p:txBody>
          <a:bodyPr>
            <a:normAutofit fontScale="90000"/>
          </a:bodyPr>
          <a:lstStyle/>
          <a:p>
            <a:r>
              <a:rPr lang="en-US" b="1" dirty="0">
                <a:solidFill>
                  <a:schemeClr val="tx1"/>
                </a:solidFill>
              </a:rPr>
              <a:t>INTRODUCCIÓN</a:t>
            </a:r>
          </a:p>
        </p:txBody>
      </p:sp>
      <p:pic>
        <p:nvPicPr>
          <p:cNvPr id="4" name="irc_mi" descr="http://www.salud180.com/sites/default/files/styles/medium/public/field/image/2011/01/alimentacion.jpg?itok=i7snJVk3"/>
          <p:cNvPicPr/>
          <p:nvPr/>
        </p:nvPicPr>
        <p:blipFill>
          <a:blip r:embed="rId2">
            <a:extLst>
              <a:ext uri="{28A0092B-C50C-407E-A947-70E740481C1C}">
                <a14:useLocalDpi xmlns:a14="http://schemas.microsoft.com/office/drawing/2010/main" val="0"/>
              </a:ext>
            </a:extLst>
          </a:blip>
          <a:srcRect/>
          <a:stretch>
            <a:fillRect/>
          </a:stretch>
        </p:blipFill>
        <p:spPr bwMode="auto">
          <a:xfrm>
            <a:off x="4576915" y="381000"/>
            <a:ext cx="3805085" cy="2209800"/>
          </a:xfrm>
          <a:prstGeom prst="rect">
            <a:avLst/>
          </a:prstGeom>
          <a:noFill/>
          <a:ln>
            <a:noFill/>
          </a:ln>
        </p:spPr>
      </p:pic>
    </p:spTree>
    <p:extLst>
      <p:ext uri="{BB962C8B-B14F-4D97-AF65-F5344CB8AC3E}">
        <p14:creationId xmlns:p14="http://schemas.microsoft.com/office/powerpoint/2010/main" val="5567487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p:txBody>
          <a:bodyPr>
            <a:normAutofit fontScale="85000" lnSpcReduction="20000"/>
          </a:bodyPr>
          <a:lstStyle/>
          <a:p>
            <a:r>
              <a:rPr lang="es-ES" dirty="0">
                <a:solidFill>
                  <a:srgbClr val="000000"/>
                </a:solidFill>
                <a:latin typeface="Arial"/>
                <a:ea typeface="Calibri"/>
              </a:rPr>
              <a:t>Es simplemente una referencia de nuestro peso </a:t>
            </a:r>
            <a:r>
              <a:rPr lang="es-ES" dirty="0" smtClean="0">
                <a:solidFill>
                  <a:srgbClr val="000000"/>
                </a:solidFill>
                <a:latin typeface="Arial"/>
                <a:ea typeface="Calibri"/>
              </a:rPr>
              <a:t>corporal </a:t>
            </a:r>
            <a:r>
              <a:rPr lang="es-ES" dirty="0">
                <a:solidFill>
                  <a:srgbClr val="000000"/>
                </a:solidFill>
                <a:latin typeface="Arial"/>
                <a:ea typeface="Calibri"/>
              </a:rPr>
              <a:t>respecto a la altura. </a:t>
            </a:r>
            <a:endParaRPr lang="es-ES" dirty="0" smtClean="0">
              <a:solidFill>
                <a:srgbClr val="000000"/>
              </a:solidFill>
              <a:latin typeface="Arial"/>
              <a:ea typeface="Calibri"/>
            </a:endParaRPr>
          </a:p>
          <a:p>
            <a:pPr marL="0" marR="0" algn="just">
              <a:lnSpc>
                <a:spcPct val="150000"/>
              </a:lnSpc>
              <a:spcBef>
                <a:spcPts val="0"/>
              </a:spcBef>
              <a:spcAft>
                <a:spcPts val="0"/>
              </a:spcAft>
            </a:pPr>
            <a:r>
              <a:rPr lang="es-ES" dirty="0">
                <a:solidFill>
                  <a:srgbClr val="000000"/>
                </a:solidFill>
                <a:latin typeface="Arial"/>
                <a:ea typeface="Calibri"/>
                <a:cs typeface="Times New Roman"/>
              </a:rPr>
              <a:t>La fórmula simplemente se basa en calcular nuestro peso en </a:t>
            </a:r>
            <a:r>
              <a:rPr lang="es-ES" dirty="0" smtClean="0">
                <a:solidFill>
                  <a:srgbClr val="000000"/>
                </a:solidFill>
                <a:latin typeface="Arial"/>
                <a:ea typeface="Calibri"/>
                <a:cs typeface="Times New Roman"/>
              </a:rPr>
              <a:t>kg </a:t>
            </a:r>
            <a:r>
              <a:rPr lang="es-ES" dirty="0">
                <a:solidFill>
                  <a:srgbClr val="000000"/>
                </a:solidFill>
                <a:latin typeface="Arial"/>
                <a:ea typeface="Calibri"/>
                <a:cs typeface="Times New Roman"/>
              </a:rPr>
              <a:t>entre la estatura en </a:t>
            </a:r>
            <a:r>
              <a:rPr lang="es-ES" dirty="0" smtClean="0">
                <a:solidFill>
                  <a:srgbClr val="000000"/>
                </a:solidFill>
                <a:latin typeface="Arial"/>
                <a:ea typeface="Calibri"/>
                <a:cs typeface="Times New Roman"/>
              </a:rPr>
              <a:t>cm </a:t>
            </a:r>
            <a:r>
              <a:rPr lang="es-ES" dirty="0">
                <a:solidFill>
                  <a:srgbClr val="000000"/>
                </a:solidFill>
                <a:latin typeface="Arial"/>
                <a:ea typeface="Calibri"/>
                <a:cs typeface="Times New Roman"/>
              </a:rPr>
              <a:t>elevada al </a:t>
            </a:r>
            <a:r>
              <a:rPr lang="es-ES" dirty="0" smtClean="0">
                <a:solidFill>
                  <a:srgbClr val="000000"/>
                </a:solidFill>
                <a:latin typeface="Arial"/>
                <a:ea typeface="Calibri"/>
                <a:cs typeface="Times New Roman"/>
              </a:rPr>
              <a:t>cuadrado.</a:t>
            </a:r>
          </a:p>
          <a:p>
            <a:pPr marL="0" marR="0" algn="just">
              <a:lnSpc>
                <a:spcPct val="150000"/>
              </a:lnSpc>
              <a:spcBef>
                <a:spcPts val="0"/>
              </a:spcBef>
              <a:spcAft>
                <a:spcPts val="0"/>
              </a:spcAft>
            </a:pPr>
            <a:r>
              <a:rPr lang="es-ES" dirty="0" smtClean="0">
                <a:solidFill>
                  <a:srgbClr val="000000"/>
                </a:solidFill>
                <a:latin typeface="Arial"/>
                <a:ea typeface="Calibri"/>
                <a:cs typeface="Times New Roman"/>
              </a:rPr>
              <a:t>IMC</a:t>
            </a:r>
            <a:r>
              <a:rPr lang="es-ES" dirty="0">
                <a:solidFill>
                  <a:srgbClr val="000000"/>
                </a:solidFill>
                <a:latin typeface="Arial"/>
                <a:ea typeface="Calibri"/>
                <a:cs typeface="Times New Roman"/>
              </a:rPr>
              <a:t>= </a:t>
            </a:r>
            <a:r>
              <a:rPr lang="es-ES" u="sng" dirty="0">
                <a:solidFill>
                  <a:srgbClr val="000000"/>
                </a:solidFill>
                <a:latin typeface="Arial"/>
                <a:ea typeface="Calibri"/>
                <a:cs typeface="Times New Roman"/>
              </a:rPr>
              <a:t>peso (kg)</a:t>
            </a:r>
            <a:endParaRPr lang="en-US" dirty="0">
              <a:latin typeface="Calibri"/>
              <a:ea typeface="Calibri"/>
              <a:cs typeface="Times New Roman"/>
            </a:endParaRPr>
          </a:p>
          <a:p>
            <a:pPr marL="0" marR="0" indent="0" algn="just">
              <a:lnSpc>
                <a:spcPct val="150000"/>
              </a:lnSpc>
              <a:spcBef>
                <a:spcPts val="0"/>
              </a:spcBef>
              <a:spcAft>
                <a:spcPts val="0"/>
              </a:spcAft>
              <a:buNone/>
            </a:pPr>
            <a:r>
              <a:rPr lang="es-ES" dirty="0" smtClean="0">
                <a:solidFill>
                  <a:srgbClr val="000000"/>
                </a:solidFill>
                <a:latin typeface="Arial"/>
                <a:ea typeface="Calibri"/>
                <a:cs typeface="Times New Roman"/>
              </a:rPr>
              <a:t>            </a:t>
            </a:r>
            <a:r>
              <a:rPr lang="es-ES" dirty="0">
                <a:solidFill>
                  <a:srgbClr val="000000"/>
                </a:solidFill>
                <a:latin typeface="Arial"/>
                <a:ea typeface="Calibri"/>
                <a:cs typeface="Times New Roman"/>
              </a:rPr>
              <a:t>Altura</a:t>
            </a:r>
            <a:r>
              <a:rPr lang="es-ES" baseline="30000" dirty="0">
                <a:solidFill>
                  <a:srgbClr val="000000"/>
                </a:solidFill>
                <a:latin typeface="Arial"/>
                <a:ea typeface="Calibri"/>
                <a:cs typeface="Times New Roman"/>
              </a:rPr>
              <a:t>2</a:t>
            </a:r>
            <a:r>
              <a:rPr lang="es-ES" dirty="0">
                <a:solidFill>
                  <a:srgbClr val="000000"/>
                </a:solidFill>
                <a:latin typeface="Arial"/>
                <a:ea typeface="Calibri"/>
                <a:cs typeface="Times New Roman"/>
              </a:rPr>
              <a:t> (m</a:t>
            </a:r>
            <a:r>
              <a:rPr lang="es-ES" dirty="0" smtClean="0">
                <a:solidFill>
                  <a:srgbClr val="000000"/>
                </a:solidFill>
                <a:latin typeface="Arial"/>
                <a:ea typeface="Calibri"/>
                <a:cs typeface="Times New Roman"/>
              </a:rPr>
              <a:t>)</a:t>
            </a:r>
            <a:endParaRPr lang="es-ES" dirty="0">
              <a:solidFill>
                <a:srgbClr val="000000"/>
              </a:solidFill>
              <a:latin typeface="Arial"/>
              <a:ea typeface="Calibri"/>
              <a:cs typeface="Times New Roman"/>
            </a:endParaRPr>
          </a:p>
          <a:p>
            <a:pPr marL="0" marR="0" algn="just">
              <a:lnSpc>
                <a:spcPct val="150000"/>
              </a:lnSpc>
              <a:spcBef>
                <a:spcPts val="0"/>
              </a:spcBef>
              <a:spcAft>
                <a:spcPts val="0"/>
              </a:spcAft>
            </a:pPr>
            <a:r>
              <a:rPr lang="es-ES" dirty="0" smtClean="0">
                <a:solidFill>
                  <a:srgbClr val="000000"/>
                </a:solidFill>
                <a:latin typeface="Arial"/>
                <a:ea typeface="Calibri"/>
                <a:cs typeface="Times New Roman"/>
              </a:rPr>
              <a:t> </a:t>
            </a:r>
            <a:r>
              <a:rPr lang="es-ES" dirty="0">
                <a:solidFill>
                  <a:srgbClr val="000000"/>
                </a:solidFill>
                <a:latin typeface="Arial"/>
                <a:ea typeface="Calibri"/>
                <a:cs typeface="Times New Roman"/>
              </a:rPr>
              <a:t>Por ejemplo, una persona de 75 </a:t>
            </a:r>
            <a:r>
              <a:rPr lang="es-ES" dirty="0" err="1">
                <a:solidFill>
                  <a:srgbClr val="000000"/>
                </a:solidFill>
                <a:latin typeface="Arial"/>
                <a:ea typeface="Calibri"/>
                <a:cs typeface="Times New Roman"/>
              </a:rPr>
              <a:t>kgs</a:t>
            </a:r>
            <a:r>
              <a:rPr lang="es-ES" dirty="0">
                <a:solidFill>
                  <a:srgbClr val="000000"/>
                </a:solidFill>
                <a:latin typeface="Arial"/>
                <a:ea typeface="Calibri"/>
                <a:cs typeface="Times New Roman"/>
              </a:rPr>
              <a:t>. de peso y 1,80 de estatura tendrá el siguiente índice: 75/(1,8 * 1,8)= 23,15</a:t>
            </a:r>
            <a:endParaRPr lang="en-US" dirty="0">
              <a:latin typeface="Calibri"/>
              <a:ea typeface="Calibri"/>
              <a:cs typeface="Times New Roman"/>
            </a:endParaRPr>
          </a:p>
          <a:p>
            <a:pPr marL="0" marR="0" algn="just">
              <a:lnSpc>
                <a:spcPct val="150000"/>
              </a:lnSpc>
              <a:spcBef>
                <a:spcPts val="0"/>
              </a:spcBef>
              <a:spcAft>
                <a:spcPts val="0"/>
              </a:spcAft>
            </a:pPr>
            <a:r>
              <a:rPr lang="es-ES" dirty="0">
                <a:solidFill>
                  <a:srgbClr val="000000"/>
                </a:solidFill>
                <a:latin typeface="Arial"/>
                <a:ea typeface="Calibri"/>
                <a:cs typeface="Times New Roman"/>
              </a:rPr>
              <a:t> </a:t>
            </a:r>
            <a:endParaRPr lang="en-US" dirty="0">
              <a:latin typeface="Calibri"/>
              <a:ea typeface="Calibri"/>
              <a:cs typeface="Times New Roman"/>
            </a:endParaRPr>
          </a:p>
          <a:p>
            <a:endParaRPr lang="en-US" dirty="0"/>
          </a:p>
        </p:txBody>
      </p:sp>
      <p:sp>
        <p:nvSpPr>
          <p:cNvPr id="2" name="1 Título"/>
          <p:cNvSpPr>
            <a:spLocks noGrp="1"/>
          </p:cNvSpPr>
          <p:nvPr>
            <p:ph type="title"/>
          </p:nvPr>
        </p:nvSpPr>
        <p:spPr/>
        <p:txBody>
          <a:bodyPr>
            <a:normAutofit/>
          </a:bodyPr>
          <a:lstStyle/>
          <a:p>
            <a:pPr algn="just"/>
            <a:r>
              <a:rPr lang="en-US" sz="3200" b="1" dirty="0">
                <a:solidFill>
                  <a:schemeClr val="tx1"/>
                </a:solidFill>
              </a:rPr>
              <a:t>“</a:t>
            </a:r>
            <a:r>
              <a:rPr lang="en-US" sz="3200" b="1" dirty="0" err="1">
                <a:solidFill>
                  <a:schemeClr val="tx1"/>
                </a:solidFill>
              </a:rPr>
              <a:t>Índice</a:t>
            </a:r>
            <a:r>
              <a:rPr lang="en-US" sz="3200" b="1" dirty="0">
                <a:solidFill>
                  <a:schemeClr val="tx1"/>
                </a:solidFill>
              </a:rPr>
              <a:t> de </a:t>
            </a:r>
            <a:r>
              <a:rPr lang="en-US" sz="3200" b="1" dirty="0" err="1">
                <a:solidFill>
                  <a:schemeClr val="tx1"/>
                </a:solidFill>
              </a:rPr>
              <a:t>Masa</a:t>
            </a:r>
            <a:r>
              <a:rPr lang="en-US" sz="3200" b="1" dirty="0">
                <a:solidFill>
                  <a:schemeClr val="tx1"/>
                </a:solidFill>
              </a:rPr>
              <a:t> Corporal”, o “</a:t>
            </a:r>
            <a:r>
              <a:rPr lang="en-US" sz="3200" b="1" dirty="0" err="1">
                <a:solidFill>
                  <a:schemeClr val="tx1"/>
                </a:solidFill>
              </a:rPr>
              <a:t>Índice</a:t>
            </a:r>
            <a:r>
              <a:rPr lang="en-US" sz="3200" b="1" dirty="0">
                <a:solidFill>
                  <a:schemeClr val="tx1"/>
                </a:solidFill>
              </a:rPr>
              <a:t> de </a:t>
            </a:r>
            <a:r>
              <a:rPr lang="en-US" sz="3200" b="1" dirty="0" err="1">
                <a:solidFill>
                  <a:schemeClr val="tx1"/>
                </a:solidFill>
              </a:rPr>
              <a:t>Quetelet</a:t>
            </a:r>
            <a:r>
              <a:rPr lang="en-US" sz="3200" b="1" dirty="0">
                <a:solidFill>
                  <a:schemeClr val="tx1"/>
                </a:solidFill>
              </a:rPr>
              <a:t>” (</a:t>
            </a:r>
            <a:r>
              <a:rPr lang="en-US" sz="3200" b="1" dirty="0" err="1">
                <a:solidFill>
                  <a:schemeClr val="tx1"/>
                </a:solidFill>
              </a:rPr>
              <a:t>nombre</a:t>
            </a:r>
            <a:r>
              <a:rPr lang="en-US" sz="3200" b="1" dirty="0">
                <a:solidFill>
                  <a:schemeClr val="tx1"/>
                </a:solidFill>
              </a:rPr>
              <a:t> del </a:t>
            </a:r>
            <a:r>
              <a:rPr lang="en-US" sz="3200" b="1" dirty="0" err="1">
                <a:solidFill>
                  <a:schemeClr val="tx1"/>
                </a:solidFill>
              </a:rPr>
              <a:t>creador</a:t>
            </a:r>
            <a:r>
              <a:rPr lang="en-US" sz="3200" b="1" dirty="0">
                <a:solidFill>
                  <a:schemeClr val="tx1"/>
                </a:solidFill>
              </a:rPr>
              <a:t>).</a:t>
            </a:r>
          </a:p>
        </p:txBody>
      </p:sp>
    </p:spTree>
    <p:extLst>
      <p:ext uri="{BB962C8B-B14F-4D97-AF65-F5344CB8AC3E}">
        <p14:creationId xmlns:p14="http://schemas.microsoft.com/office/powerpoint/2010/main" val="38218682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Marcador de contenido"/>
          <p:cNvGraphicFramePr>
            <a:graphicFrameLocks noGrp="1"/>
          </p:cNvGraphicFramePr>
          <p:nvPr>
            <p:ph idx="1"/>
            <p:extLst>
              <p:ext uri="{D42A27DB-BD31-4B8C-83A1-F6EECF244321}">
                <p14:modId xmlns:p14="http://schemas.microsoft.com/office/powerpoint/2010/main" val="2371605330"/>
              </p:ext>
            </p:extLst>
          </p:nvPr>
        </p:nvGraphicFramePr>
        <p:xfrm>
          <a:off x="914400" y="609595"/>
          <a:ext cx="6946446" cy="5463545"/>
        </p:xfrm>
        <a:graphic>
          <a:graphicData uri="http://schemas.openxmlformats.org/drawingml/2006/table">
            <a:tbl>
              <a:tblPr firstRow="1" firstCol="1" bandRow="1"/>
              <a:tblGrid>
                <a:gridCol w="2315482"/>
                <a:gridCol w="2315482"/>
                <a:gridCol w="2315482"/>
              </a:tblGrid>
              <a:tr h="321385">
                <a:tc rowSpan="2">
                  <a:txBody>
                    <a:bodyPr/>
                    <a:lstStyle/>
                    <a:p>
                      <a:pPr marL="0" marR="0" algn="just">
                        <a:lnSpc>
                          <a:spcPct val="150000"/>
                        </a:lnSpc>
                        <a:spcBef>
                          <a:spcPts val="0"/>
                        </a:spcBef>
                        <a:spcAft>
                          <a:spcPts val="0"/>
                        </a:spcAft>
                      </a:pPr>
                      <a:r>
                        <a:rPr lang="en-US" sz="900" b="1" dirty="0">
                          <a:effectLst/>
                          <a:latin typeface="Arial"/>
                          <a:ea typeface="ArialMT"/>
                          <a:cs typeface="Times New Roman"/>
                        </a:rPr>
                        <a:t>Clasificación</a:t>
                      </a:r>
                      <a:endParaRPr lang="en-US" sz="900" dirty="0">
                        <a:effectLst/>
                        <a:latin typeface="Calibri"/>
                        <a:ea typeface="Calibri"/>
                        <a:cs typeface="Times New Roman"/>
                      </a:endParaRPr>
                    </a:p>
                    <a:p>
                      <a:pPr marL="0" marR="0" algn="just">
                        <a:lnSpc>
                          <a:spcPct val="150000"/>
                        </a:lnSpc>
                        <a:spcBef>
                          <a:spcPts val="0"/>
                        </a:spcBef>
                        <a:spcAft>
                          <a:spcPts val="0"/>
                        </a:spcAft>
                      </a:pPr>
                      <a:r>
                        <a:rPr lang="es-ES" sz="900" b="1" dirty="0">
                          <a:effectLst/>
                          <a:latin typeface="Arial"/>
                          <a:ea typeface="Calibri"/>
                          <a:cs typeface="Times New Roman"/>
                        </a:rPr>
                        <a:t> </a:t>
                      </a:r>
                      <a:endParaRPr lang="en-US" sz="900" dirty="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marL="0" marR="0" algn="just">
                        <a:lnSpc>
                          <a:spcPct val="150000"/>
                        </a:lnSpc>
                        <a:spcBef>
                          <a:spcPts val="0"/>
                        </a:spcBef>
                        <a:spcAft>
                          <a:spcPts val="0"/>
                        </a:spcAft>
                      </a:pPr>
                      <a:r>
                        <a:rPr lang="en-US" sz="900" b="1">
                          <a:effectLst/>
                          <a:latin typeface="Arial"/>
                          <a:ea typeface="Calibri"/>
                          <a:cs typeface="Times New Roman"/>
                        </a:rPr>
                        <a:t>IMC (Kg/m2)</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r>
              <a:tr h="321385">
                <a:tc vMerge="1">
                  <a:txBody>
                    <a:bodyPr/>
                    <a:lstStyle/>
                    <a:p>
                      <a:endParaRPr lang="en-US"/>
                    </a:p>
                  </a:txBody>
                  <a:tcPr/>
                </a:tc>
                <a:tc>
                  <a:txBody>
                    <a:bodyPr/>
                    <a:lstStyle/>
                    <a:p>
                      <a:pPr marL="0" marR="0" algn="just">
                        <a:lnSpc>
                          <a:spcPct val="150000"/>
                        </a:lnSpc>
                        <a:spcBef>
                          <a:spcPts val="0"/>
                        </a:spcBef>
                        <a:spcAft>
                          <a:spcPts val="0"/>
                        </a:spcAft>
                      </a:pPr>
                      <a:r>
                        <a:rPr lang="es-ES" sz="900" b="1">
                          <a:effectLst/>
                          <a:latin typeface="Arial"/>
                          <a:ea typeface="Calibri"/>
                          <a:cs typeface="Times New Roman"/>
                        </a:rPr>
                        <a:t>Valores principales</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Valores adicionales</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a:txBody>
                    <a:bodyPr/>
                    <a:lstStyle/>
                    <a:p>
                      <a:pPr marL="0" marR="0" algn="just">
                        <a:lnSpc>
                          <a:spcPct val="150000"/>
                        </a:lnSpc>
                        <a:spcBef>
                          <a:spcPts val="0"/>
                        </a:spcBef>
                        <a:spcAft>
                          <a:spcPts val="0"/>
                        </a:spcAft>
                      </a:pPr>
                      <a:r>
                        <a:rPr lang="es-ES" sz="900" b="1">
                          <a:effectLst/>
                          <a:latin typeface="Arial"/>
                          <a:ea typeface="Calibri"/>
                          <a:cs typeface="Times New Roman"/>
                        </a:rPr>
                        <a:t>Infrapeso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&lt;18,50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&lt;18,50</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a:txBody>
                    <a:bodyPr/>
                    <a:lstStyle/>
                    <a:p>
                      <a:pPr marL="0" marR="0" algn="just">
                        <a:lnSpc>
                          <a:spcPct val="150000"/>
                        </a:lnSpc>
                        <a:spcBef>
                          <a:spcPts val="0"/>
                        </a:spcBef>
                        <a:spcAft>
                          <a:spcPts val="0"/>
                        </a:spcAft>
                      </a:pPr>
                      <a:r>
                        <a:rPr lang="en-US" sz="900" b="1">
                          <a:effectLst/>
                          <a:latin typeface="Arial"/>
                          <a:ea typeface="Calibri"/>
                          <a:cs typeface="Times New Roman"/>
                        </a:rPr>
                        <a:t>Delgadez severa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&lt;16,00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&lt;16,00</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a:txBody>
                    <a:bodyPr/>
                    <a:lstStyle/>
                    <a:p>
                      <a:pPr marL="0" marR="0" algn="just">
                        <a:lnSpc>
                          <a:spcPct val="150000"/>
                        </a:lnSpc>
                        <a:spcBef>
                          <a:spcPts val="0"/>
                        </a:spcBef>
                        <a:spcAft>
                          <a:spcPts val="0"/>
                        </a:spcAft>
                      </a:pPr>
                      <a:r>
                        <a:rPr lang="es-ES" sz="900" b="1">
                          <a:effectLst/>
                          <a:latin typeface="Arial"/>
                          <a:ea typeface="Calibri"/>
                          <a:cs typeface="Times New Roman"/>
                        </a:rPr>
                        <a:t>Deldagez moderada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dirty="0">
                          <a:effectLst/>
                          <a:latin typeface="Arial"/>
                          <a:ea typeface="Calibri"/>
                          <a:cs typeface="Times New Roman"/>
                        </a:rPr>
                        <a:t>16,00 - 16,99</a:t>
                      </a:r>
                      <a:endParaRPr lang="en-US" sz="900" dirty="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16,00 - 16,99</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a:txBody>
                    <a:bodyPr/>
                    <a:lstStyle/>
                    <a:p>
                      <a:pPr marL="0" marR="0" algn="just">
                        <a:lnSpc>
                          <a:spcPct val="150000"/>
                        </a:lnSpc>
                        <a:spcBef>
                          <a:spcPts val="0"/>
                        </a:spcBef>
                        <a:spcAft>
                          <a:spcPts val="0"/>
                        </a:spcAft>
                      </a:pPr>
                      <a:r>
                        <a:rPr lang="es-ES" sz="900" b="1">
                          <a:effectLst/>
                          <a:latin typeface="Arial"/>
                          <a:ea typeface="Calibri"/>
                          <a:cs typeface="Times New Roman"/>
                        </a:rPr>
                        <a:t>Delgadez aceptable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17,00 - 18,49</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17,00 - 18,49</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rowSpan="2">
                  <a:txBody>
                    <a:bodyPr/>
                    <a:lstStyle/>
                    <a:p>
                      <a:pPr marL="0" marR="0" algn="just">
                        <a:lnSpc>
                          <a:spcPct val="150000"/>
                        </a:lnSpc>
                        <a:spcBef>
                          <a:spcPts val="0"/>
                        </a:spcBef>
                        <a:spcAft>
                          <a:spcPts val="0"/>
                        </a:spcAft>
                      </a:pPr>
                      <a:r>
                        <a:rPr lang="es-ES" sz="900" b="1">
                          <a:effectLst/>
                          <a:latin typeface="Arial"/>
                          <a:ea typeface="Calibri"/>
                          <a:cs typeface="Times New Roman"/>
                        </a:rPr>
                        <a:t>Normal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just">
                        <a:lnSpc>
                          <a:spcPct val="150000"/>
                        </a:lnSpc>
                        <a:spcBef>
                          <a:spcPts val="0"/>
                        </a:spcBef>
                        <a:spcAft>
                          <a:spcPts val="0"/>
                        </a:spcAft>
                      </a:pPr>
                      <a:r>
                        <a:rPr lang="es-ES" sz="900" b="1">
                          <a:effectLst/>
                          <a:latin typeface="Arial"/>
                          <a:ea typeface="Calibri"/>
                          <a:cs typeface="Times New Roman"/>
                        </a:rPr>
                        <a:t>18,50 - 24,99</a:t>
                      </a:r>
                      <a:endParaRPr lang="en-US" sz="900">
                        <a:effectLst/>
                        <a:latin typeface="Calibri"/>
                        <a:ea typeface="Calibri"/>
                        <a:cs typeface="Times New Roman"/>
                      </a:endParaRPr>
                    </a:p>
                    <a:p>
                      <a:pPr marL="0" marR="0" algn="just">
                        <a:lnSpc>
                          <a:spcPct val="150000"/>
                        </a:lnSpc>
                        <a:spcBef>
                          <a:spcPts val="0"/>
                        </a:spcBef>
                        <a:spcAft>
                          <a:spcPts val="0"/>
                        </a:spcAft>
                      </a:pPr>
                      <a:r>
                        <a:rPr lang="es-ES" sz="900" b="1">
                          <a:effectLst/>
                          <a:latin typeface="Arial"/>
                          <a:ea typeface="Calibri"/>
                          <a:cs typeface="Times New Roman"/>
                        </a:rPr>
                        <a:t>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18,50 - 22,99</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vMerge="1">
                  <a:txBody>
                    <a:bodyPr/>
                    <a:lstStyle/>
                    <a:p>
                      <a:endParaRPr lang="en-US"/>
                    </a:p>
                  </a:txBody>
                  <a:tcPr/>
                </a:tc>
                <a:tc vMerge="1">
                  <a:txBody>
                    <a:bodyPr/>
                    <a:lstStyle/>
                    <a:p>
                      <a:endParaRPr lang="en-US"/>
                    </a:p>
                  </a:txBody>
                  <a:tcPr/>
                </a:tc>
                <a:tc>
                  <a:txBody>
                    <a:bodyPr/>
                    <a:lstStyle/>
                    <a:p>
                      <a:pPr marL="0" marR="0" algn="just">
                        <a:lnSpc>
                          <a:spcPct val="150000"/>
                        </a:lnSpc>
                        <a:spcBef>
                          <a:spcPts val="0"/>
                        </a:spcBef>
                        <a:spcAft>
                          <a:spcPts val="0"/>
                        </a:spcAft>
                      </a:pPr>
                      <a:r>
                        <a:rPr lang="es-ES" sz="900" b="1">
                          <a:effectLst/>
                          <a:latin typeface="Arial"/>
                          <a:ea typeface="Calibri"/>
                          <a:cs typeface="Times New Roman"/>
                        </a:rPr>
                        <a:t>23,00 - 24,99</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a:txBody>
                    <a:bodyPr/>
                    <a:lstStyle/>
                    <a:p>
                      <a:pPr marL="0" marR="0" algn="just">
                        <a:lnSpc>
                          <a:spcPct val="150000"/>
                        </a:lnSpc>
                        <a:spcBef>
                          <a:spcPts val="0"/>
                        </a:spcBef>
                        <a:spcAft>
                          <a:spcPts val="0"/>
                        </a:spcAft>
                      </a:pPr>
                      <a:r>
                        <a:rPr lang="es-ES" sz="900" b="1">
                          <a:effectLst/>
                          <a:latin typeface="Arial"/>
                          <a:ea typeface="Calibri"/>
                          <a:cs typeface="Times New Roman"/>
                        </a:rPr>
                        <a:t>Sobrepeso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≥25,00</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≥25,00</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rowSpan="2">
                  <a:txBody>
                    <a:bodyPr/>
                    <a:lstStyle/>
                    <a:p>
                      <a:pPr marL="0" marR="0" algn="just">
                        <a:lnSpc>
                          <a:spcPct val="150000"/>
                        </a:lnSpc>
                        <a:spcBef>
                          <a:spcPts val="0"/>
                        </a:spcBef>
                        <a:spcAft>
                          <a:spcPts val="0"/>
                        </a:spcAft>
                      </a:pPr>
                      <a:r>
                        <a:rPr lang="es-ES" sz="900" b="1">
                          <a:effectLst/>
                          <a:latin typeface="Arial"/>
                          <a:ea typeface="Calibri"/>
                          <a:cs typeface="Times New Roman"/>
                        </a:rPr>
                        <a:t>Preobeso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just">
                        <a:lnSpc>
                          <a:spcPct val="150000"/>
                        </a:lnSpc>
                        <a:spcBef>
                          <a:spcPts val="0"/>
                        </a:spcBef>
                        <a:spcAft>
                          <a:spcPts val="0"/>
                        </a:spcAft>
                      </a:pPr>
                      <a:r>
                        <a:rPr lang="es-ES" sz="900" b="1">
                          <a:effectLst/>
                          <a:latin typeface="Arial"/>
                          <a:ea typeface="Calibri"/>
                          <a:cs typeface="Times New Roman"/>
                        </a:rPr>
                        <a:t>25,00 - 29,99</a:t>
                      </a:r>
                      <a:endParaRPr lang="en-US" sz="900">
                        <a:effectLst/>
                        <a:latin typeface="Calibri"/>
                        <a:ea typeface="Calibri"/>
                        <a:cs typeface="Times New Roman"/>
                      </a:endParaRPr>
                    </a:p>
                    <a:p>
                      <a:pPr marL="0" marR="0" algn="just">
                        <a:lnSpc>
                          <a:spcPct val="150000"/>
                        </a:lnSpc>
                        <a:spcBef>
                          <a:spcPts val="0"/>
                        </a:spcBef>
                        <a:spcAft>
                          <a:spcPts val="0"/>
                        </a:spcAft>
                      </a:pPr>
                      <a:r>
                        <a:rPr lang="es-ES" sz="900" b="1">
                          <a:effectLst/>
                          <a:latin typeface="Arial"/>
                          <a:ea typeface="Calibri"/>
                          <a:cs typeface="Times New Roman"/>
                        </a:rPr>
                        <a:t>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25,00 - 27,49</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vMerge="1">
                  <a:txBody>
                    <a:bodyPr/>
                    <a:lstStyle/>
                    <a:p>
                      <a:endParaRPr lang="en-US"/>
                    </a:p>
                  </a:txBody>
                  <a:tcPr/>
                </a:tc>
                <a:tc vMerge="1">
                  <a:txBody>
                    <a:bodyPr/>
                    <a:lstStyle/>
                    <a:p>
                      <a:endParaRPr lang="en-US"/>
                    </a:p>
                  </a:txBody>
                  <a:tcPr/>
                </a:tc>
                <a:tc>
                  <a:txBody>
                    <a:bodyPr/>
                    <a:lstStyle/>
                    <a:p>
                      <a:pPr marL="0" marR="0" algn="just">
                        <a:lnSpc>
                          <a:spcPct val="150000"/>
                        </a:lnSpc>
                        <a:spcBef>
                          <a:spcPts val="0"/>
                        </a:spcBef>
                        <a:spcAft>
                          <a:spcPts val="0"/>
                        </a:spcAft>
                      </a:pPr>
                      <a:r>
                        <a:rPr lang="es-ES" sz="900" b="1">
                          <a:effectLst/>
                          <a:latin typeface="Arial"/>
                          <a:ea typeface="Calibri"/>
                          <a:cs typeface="Times New Roman"/>
                        </a:rPr>
                        <a:t>27,50 - 29,99</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a:txBody>
                    <a:bodyPr/>
                    <a:lstStyle/>
                    <a:p>
                      <a:pPr marL="0" marR="0" algn="just">
                        <a:lnSpc>
                          <a:spcPct val="150000"/>
                        </a:lnSpc>
                        <a:spcBef>
                          <a:spcPts val="0"/>
                        </a:spcBef>
                        <a:spcAft>
                          <a:spcPts val="0"/>
                        </a:spcAft>
                      </a:pPr>
                      <a:r>
                        <a:rPr lang="es-ES" sz="900" b="1">
                          <a:effectLst/>
                          <a:latin typeface="Arial"/>
                          <a:ea typeface="Calibri"/>
                          <a:cs typeface="Times New Roman"/>
                        </a:rPr>
                        <a:t>Obeso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≥30,00</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≥30,00</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rowSpan="2">
                  <a:txBody>
                    <a:bodyPr/>
                    <a:lstStyle/>
                    <a:p>
                      <a:pPr marL="0" marR="0" algn="just">
                        <a:lnSpc>
                          <a:spcPct val="150000"/>
                        </a:lnSpc>
                        <a:spcBef>
                          <a:spcPts val="0"/>
                        </a:spcBef>
                        <a:spcAft>
                          <a:spcPts val="0"/>
                        </a:spcAft>
                      </a:pPr>
                      <a:r>
                        <a:rPr lang="es-ES" sz="900" b="1">
                          <a:effectLst/>
                          <a:latin typeface="Arial"/>
                          <a:ea typeface="Calibri"/>
                          <a:cs typeface="Times New Roman"/>
                        </a:rPr>
                        <a:t>Obeso tipo I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just">
                        <a:lnSpc>
                          <a:spcPct val="150000"/>
                        </a:lnSpc>
                        <a:spcBef>
                          <a:spcPts val="0"/>
                        </a:spcBef>
                        <a:spcAft>
                          <a:spcPts val="0"/>
                        </a:spcAft>
                      </a:pPr>
                      <a:r>
                        <a:rPr lang="es-ES" sz="900" b="1">
                          <a:effectLst/>
                          <a:latin typeface="Arial"/>
                          <a:ea typeface="Calibri"/>
                          <a:cs typeface="Times New Roman"/>
                        </a:rPr>
                        <a:t>30,00 - 34,99</a:t>
                      </a:r>
                      <a:endParaRPr lang="en-US" sz="900">
                        <a:effectLst/>
                        <a:latin typeface="Calibri"/>
                        <a:ea typeface="Calibri"/>
                        <a:cs typeface="Times New Roman"/>
                      </a:endParaRPr>
                    </a:p>
                    <a:p>
                      <a:pPr marL="0" marR="0" algn="just">
                        <a:lnSpc>
                          <a:spcPct val="150000"/>
                        </a:lnSpc>
                        <a:spcBef>
                          <a:spcPts val="0"/>
                        </a:spcBef>
                        <a:spcAft>
                          <a:spcPts val="0"/>
                        </a:spcAft>
                      </a:pPr>
                      <a:r>
                        <a:rPr lang="es-ES" sz="900" b="1">
                          <a:effectLst/>
                          <a:latin typeface="Arial"/>
                          <a:ea typeface="Calibri"/>
                          <a:cs typeface="Times New Roman"/>
                        </a:rPr>
                        <a:t>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30,00 - 32,49</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vMerge="1">
                  <a:txBody>
                    <a:bodyPr/>
                    <a:lstStyle/>
                    <a:p>
                      <a:endParaRPr lang="en-US"/>
                    </a:p>
                  </a:txBody>
                  <a:tcPr/>
                </a:tc>
                <a:tc vMerge="1">
                  <a:txBody>
                    <a:bodyPr/>
                    <a:lstStyle/>
                    <a:p>
                      <a:endParaRPr lang="en-US"/>
                    </a:p>
                  </a:txBody>
                  <a:tcPr/>
                </a:tc>
                <a:tc>
                  <a:txBody>
                    <a:bodyPr/>
                    <a:lstStyle/>
                    <a:p>
                      <a:pPr marL="0" marR="0" algn="just">
                        <a:lnSpc>
                          <a:spcPct val="150000"/>
                        </a:lnSpc>
                        <a:spcBef>
                          <a:spcPts val="0"/>
                        </a:spcBef>
                        <a:spcAft>
                          <a:spcPts val="0"/>
                        </a:spcAft>
                      </a:pPr>
                      <a:r>
                        <a:rPr lang="es-ES" sz="900" b="1">
                          <a:effectLst/>
                          <a:latin typeface="Arial"/>
                          <a:ea typeface="Calibri"/>
                          <a:cs typeface="Times New Roman"/>
                        </a:rPr>
                        <a:t>32,50 - 34,99</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rowSpan="2">
                  <a:txBody>
                    <a:bodyPr/>
                    <a:lstStyle/>
                    <a:p>
                      <a:pPr marL="0" marR="0" algn="just">
                        <a:lnSpc>
                          <a:spcPct val="150000"/>
                        </a:lnSpc>
                        <a:spcBef>
                          <a:spcPts val="0"/>
                        </a:spcBef>
                        <a:spcAft>
                          <a:spcPts val="0"/>
                        </a:spcAft>
                      </a:pPr>
                      <a:r>
                        <a:rPr lang="es-ES" sz="900" b="1">
                          <a:effectLst/>
                          <a:latin typeface="Arial"/>
                          <a:ea typeface="Calibri"/>
                          <a:cs typeface="Times New Roman"/>
                        </a:rPr>
                        <a:t>Obeso tipo II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marL="0" marR="0" algn="just">
                        <a:lnSpc>
                          <a:spcPct val="150000"/>
                        </a:lnSpc>
                        <a:spcBef>
                          <a:spcPts val="0"/>
                        </a:spcBef>
                        <a:spcAft>
                          <a:spcPts val="0"/>
                        </a:spcAft>
                      </a:pPr>
                      <a:r>
                        <a:rPr lang="es-ES" sz="900" b="1">
                          <a:effectLst/>
                          <a:latin typeface="Arial"/>
                          <a:ea typeface="Calibri"/>
                          <a:cs typeface="Times New Roman"/>
                        </a:rPr>
                        <a:t>35,00 - 39,99</a:t>
                      </a:r>
                      <a:endParaRPr lang="en-US" sz="900">
                        <a:effectLst/>
                        <a:latin typeface="Calibri"/>
                        <a:ea typeface="Calibri"/>
                        <a:cs typeface="Times New Roman"/>
                      </a:endParaRPr>
                    </a:p>
                    <a:p>
                      <a:pPr marL="0" marR="0" algn="just">
                        <a:lnSpc>
                          <a:spcPct val="150000"/>
                        </a:lnSpc>
                        <a:spcBef>
                          <a:spcPts val="0"/>
                        </a:spcBef>
                        <a:spcAft>
                          <a:spcPts val="0"/>
                        </a:spcAft>
                      </a:pPr>
                      <a:r>
                        <a:rPr lang="es-ES" sz="900" b="1">
                          <a:effectLst/>
                          <a:latin typeface="Arial"/>
                          <a:ea typeface="Calibri"/>
                          <a:cs typeface="Times New Roman"/>
                        </a:rPr>
                        <a:t>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35,00 - 37,49</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vMerge="1">
                  <a:txBody>
                    <a:bodyPr/>
                    <a:lstStyle/>
                    <a:p>
                      <a:endParaRPr lang="en-US"/>
                    </a:p>
                  </a:txBody>
                  <a:tcPr/>
                </a:tc>
                <a:tc vMerge="1">
                  <a:txBody>
                    <a:bodyPr/>
                    <a:lstStyle/>
                    <a:p>
                      <a:endParaRPr lang="en-US"/>
                    </a:p>
                  </a:txBody>
                  <a:tcPr/>
                </a:tc>
                <a:tc>
                  <a:txBody>
                    <a:bodyPr/>
                    <a:lstStyle/>
                    <a:p>
                      <a:pPr marL="0" marR="0" algn="just">
                        <a:lnSpc>
                          <a:spcPct val="150000"/>
                        </a:lnSpc>
                        <a:spcBef>
                          <a:spcPts val="0"/>
                        </a:spcBef>
                        <a:spcAft>
                          <a:spcPts val="0"/>
                        </a:spcAft>
                      </a:pPr>
                      <a:r>
                        <a:rPr lang="es-ES" sz="900" b="1">
                          <a:effectLst/>
                          <a:latin typeface="Arial"/>
                          <a:ea typeface="Calibri"/>
                          <a:cs typeface="Times New Roman"/>
                        </a:rPr>
                        <a:t>37,50 - 39,99</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1385">
                <a:tc>
                  <a:txBody>
                    <a:bodyPr/>
                    <a:lstStyle/>
                    <a:p>
                      <a:pPr marL="0" marR="0" algn="just">
                        <a:lnSpc>
                          <a:spcPct val="150000"/>
                        </a:lnSpc>
                        <a:spcBef>
                          <a:spcPts val="0"/>
                        </a:spcBef>
                        <a:spcAft>
                          <a:spcPts val="0"/>
                        </a:spcAft>
                      </a:pPr>
                      <a:r>
                        <a:rPr lang="es-ES" sz="900" b="1">
                          <a:effectLst/>
                          <a:latin typeface="Arial"/>
                          <a:ea typeface="Calibri"/>
                          <a:cs typeface="Times New Roman"/>
                        </a:rPr>
                        <a:t>Obeso tipo III </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a:effectLst/>
                          <a:latin typeface="Arial"/>
                          <a:ea typeface="Calibri"/>
                          <a:cs typeface="Times New Roman"/>
                        </a:rPr>
                        <a:t>≥40,00</a:t>
                      </a:r>
                      <a:endParaRPr lang="en-US" sz="90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just">
                        <a:lnSpc>
                          <a:spcPct val="150000"/>
                        </a:lnSpc>
                        <a:spcBef>
                          <a:spcPts val="0"/>
                        </a:spcBef>
                        <a:spcAft>
                          <a:spcPts val="0"/>
                        </a:spcAft>
                      </a:pPr>
                      <a:r>
                        <a:rPr lang="es-ES" sz="900" b="1" dirty="0">
                          <a:effectLst/>
                          <a:latin typeface="Arial"/>
                          <a:ea typeface="Calibri"/>
                          <a:cs typeface="Times New Roman"/>
                        </a:rPr>
                        <a:t>≥40,00</a:t>
                      </a:r>
                      <a:endParaRPr lang="en-US" sz="900" dirty="0">
                        <a:effectLst/>
                        <a:latin typeface="Calibri"/>
                        <a:ea typeface="Calibri"/>
                        <a:cs typeface="Times New Roman"/>
                      </a:endParaRPr>
                    </a:p>
                  </a:txBody>
                  <a:tcPr marL="55367" marR="55367"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87189753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457200" y="685800"/>
            <a:ext cx="5029200" cy="5943600"/>
          </a:xfrm>
        </p:spPr>
        <p:txBody>
          <a:bodyPr numCol="1">
            <a:noAutofit/>
          </a:bodyPr>
          <a:lstStyle/>
          <a:p>
            <a:pPr marL="0" marR="0" indent="0" algn="just">
              <a:lnSpc>
                <a:spcPct val="150000"/>
              </a:lnSpc>
              <a:spcBef>
                <a:spcPts val="0"/>
              </a:spcBef>
              <a:spcAft>
                <a:spcPts val="0"/>
              </a:spcAft>
              <a:buNone/>
            </a:pPr>
            <a:r>
              <a:rPr lang="es-ES" sz="1800" dirty="0" smtClean="0">
                <a:solidFill>
                  <a:schemeClr val="tx1"/>
                </a:solidFill>
                <a:latin typeface="Arial"/>
                <a:ea typeface="Calibri"/>
                <a:cs typeface="Times New Roman"/>
              </a:rPr>
              <a:t>Es </a:t>
            </a:r>
            <a:r>
              <a:rPr lang="es-ES" sz="1800" dirty="0">
                <a:solidFill>
                  <a:schemeClr val="tx1"/>
                </a:solidFill>
                <a:latin typeface="Arial"/>
                <a:ea typeface="Calibri"/>
                <a:cs typeface="Times New Roman"/>
              </a:rPr>
              <a:t>resultado de una deficiencia relativa o absoluta de energía y proteínas, que puede ser primaria por consumo inadecuado o secundario a otras enfermedades.</a:t>
            </a:r>
            <a:endParaRPr lang="en-US" sz="1800" dirty="0">
              <a:solidFill>
                <a:schemeClr val="tx1"/>
              </a:solidFill>
              <a:latin typeface="Calibri"/>
              <a:ea typeface="Calibri"/>
              <a:cs typeface="Times New Roman"/>
            </a:endParaRPr>
          </a:p>
          <a:p>
            <a:pPr marL="0" marR="0" indent="0">
              <a:lnSpc>
                <a:spcPct val="150000"/>
              </a:lnSpc>
              <a:spcBef>
                <a:spcPts val="0"/>
              </a:spcBef>
              <a:spcAft>
                <a:spcPts val="0"/>
              </a:spcAft>
              <a:buNone/>
            </a:pPr>
            <a:r>
              <a:rPr lang="es-ES" sz="1600" b="1" dirty="0">
                <a:solidFill>
                  <a:schemeClr val="tx1"/>
                </a:solidFill>
                <a:latin typeface="Arial"/>
                <a:ea typeface="Calibri"/>
                <a:cs typeface="Times New Roman"/>
              </a:rPr>
              <a:t>CAUSAS</a:t>
            </a:r>
            <a:endParaRPr lang="en-US" sz="1600" dirty="0">
              <a:solidFill>
                <a:schemeClr val="tx1"/>
              </a:solidFill>
              <a:latin typeface="Calibri"/>
              <a:ea typeface="Calibri"/>
              <a:cs typeface="Times New Roman"/>
            </a:endParaRPr>
          </a:p>
          <a:p>
            <a:pPr marL="0" marR="0">
              <a:lnSpc>
                <a:spcPct val="150000"/>
              </a:lnSpc>
              <a:spcBef>
                <a:spcPts val="0"/>
              </a:spcBef>
              <a:spcAft>
                <a:spcPts val="0"/>
              </a:spcAft>
            </a:pPr>
            <a:r>
              <a:rPr lang="es-BO" sz="1600" dirty="0">
                <a:solidFill>
                  <a:schemeClr val="tx1"/>
                </a:solidFill>
                <a:latin typeface="Arial"/>
                <a:ea typeface="Calibri"/>
                <a:cs typeface="Times New Roman"/>
              </a:rPr>
              <a:t>La desnutrición está asociada:</a:t>
            </a:r>
            <a:endParaRPr lang="en-US" sz="1600" dirty="0">
              <a:solidFill>
                <a:schemeClr val="tx1"/>
              </a:solidFill>
              <a:latin typeface="Calibri"/>
              <a:ea typeface="Calibri"/>
              <a:cs typeface="Times New Roman"/>
            </a:endParaRPr>
          </a:p>
          <a:p>
            <a:pPr marL="342900" marR="0" lvl="0" indent="-342900">
              <a:lnSpc>
                <a:spcPct val="150000"/>
              </a:lnSpc>
              <a:spcBef>
                <a:spcPts val="0"/>
              </a:spcBef>
              <a:spcAft>
                <a:spcPts val="0"/>
              </a:spcAft>
              <a:buFont typeface="Symbol"/>
              <a:buChar char=""/>
            </a:pPr>
            <a:r>
              <a:rPr lang="es-BO" sz="1600" dirty="0">
                <a:solidFill>
                  <a:schemeClr val="tx1"/>
                </a:solidFill>
                <a:latin typeface="Arial"/>
                <a:ea typeface="Calibri"/>
                <a:cs typeface="Times New Roman"/>
              </a:rPr>
              <a:t>Alteración de la inmunidad</a:t>
            </a:r>
            <a:endParaRPr lang="en-US" sz="1600" dirty="0">
              <a:solidFill>
                <a:schemeClr val="tx1"/>
              </a:solidFill>
              <a:latin typeface="Calibri"/>
              <a:ea typeface="Calibri"/>
              <a:cs typeface="Times New Roman"/>
            </a:endParaRPr>
          </a:p>
          <a:p>
            <a:pPr marL="342900" marR="0" lvl="0" indent="-342900">
              <a:lnSpc>
                <a:spcPct val="150000"/>
              </a:lnSpc>
              <a:spcBef>
                <a:spcPts val="0"/>
              </a:spcBef>
              <a:spcAft>
                <a:spcPts val="0"/>
              </a:spcAft>
              <a:buFont typeface="Symbol"/>
              <a:buChar char=""/>
            </a:pPr>
            <a:r>
              <a:rPr lang="es-BO" sz="1600" dirty="0">
                <a:solidFill>
                  <a:schemeClr val="tx1"/>
                </a:solidFill>
                <a:latin typeface="Arial"/>
                <a:ea typeface="Calibri"/>
                <a:cs typeface="Times New Roman"/>
              </a:rPr>
              <a:t>Retardo en la cicatrización de heridas o aparición de úlceras por </a:t>
            </a:r>
            <a:r>
              <a:rPr lang="es-BO" sz="1600" dirty="0" smtClean="0">
                <a:solidFill>
                  <a:schemeClr val="tx1"/>
                </a:solidFill>
                <a:latin typeface="Arial"/>
                <a:ea typeface="Calibri"/>
                <a:cs typeface="Times New Roman"/>
              </a:rPr>
              <a:t>presión</a:t>
            </a:r>
            <a:endParaRPr lang="en-US" sz="1600" dirty="0">
              <a:solidFill>
                <a:schemeClr val="tx1"/>
              </a:solidFill>
              <a:latin typeface="Calibri"/>
              <a:ea typeface="Calibri"/>
              <a:cs typeface="Times New Roman"/>
            </a:endParaRPr>
          </a:p>
          <a:p>
            <a:pPr marL="342900" marR="0" lvl="0" indent="-342900">
              <a:lnSpc>
                <a:spcPct val="150000"/>
              </a:lnSpc>
              <a:spcBef>
                <a:spcPts val="0"/>
              </a:spcBef>
              <a:spcAft>
                <a:spcPts val="0"/>
              </a:spcAft>
              <a:buFont typeface="Symbol"/>
              <a:buChar char=""/>
            </a:pPr>
            <a:r>
              <a:rPr lang="es-BO" sz="1600" dirty="0">
                <a:solidFill>
                  <a:schemeClr val="tx1"/>
                </a:solidFill>
                <a:latin typeface="Arial"/>
                <a:ea typeface="Calibri"/>
                <a:cs typeface="Times New Roman"/>
              </a:rPr>
              <a:t>Caídas</a:t>
            </a:r>
            <a:endParaRPr lang="en-US" sz="1600" dirty="0">
              <a:solidFill>
                <a:schemeClr val="tx1"/>
              </a:solidFill>
              <a:latin typeface="Calibri"/>
              <a:ea typeface="Calibri"/>
              <a:cs typeface="Times New Roman"/>
            </a:endParaRPr>
          </a:p>
          <a:p>
            <a:pPr marL="342900" marR="0" lvl="0" indent="-342900">
              <a:lnSpc>
                <a:spcPct val="150000"/>
              </a:lnSpc>
              <a:spcBef>
                <a:spcPts val="0"/>
              </a:spcBef>
              <a:spcAft>
                <a:spcPts val="0"/>
              </a:spcAft>
              <a:buFont typeface="Symbol"/>
              <a:buChar char=""/>
            </a:pPr>
            <a:r>
              <a:rPr lang="es-BO" sz="1600" dirty="0">
                <a:solidFill>
                  <a:schemeClr val="tx1"/>
                </a:solidFill>
                <a:latin typeface="Arial"/>
                <a:ea typeface="Calibri"/>
                <a:cs typeface="Times New Roman"/>
              </a:rPr>
              <a:t>Deterioro cognitivo</a:t>
            </a:r>
            <a:endParaRPr lang="en-US" sz="1600" dirty="0">
              <a:solidFill>
                <a:schemeClr val="tx1"/>
              </a:solidFill>
              <a:latin typeface="Calibri"/>
              <a:ea typeface="Calibri"/>
              <a:cs typeface="Times New Roman"/>
            </a:endParaRPr>
          </a:p>
          <a:p>
            <a:pPr marL="342900" marR="0" lvl="0" indent="-342900">
              <a:lnSpc>
                <a:spcPct val="150000"/>
              </a:lnSpc>
              <a:spcBef>
                <a:spcPts val="0"/>
              </a:spcBef>
              <a:spcAft>
                <a:spcPts val="0"/>
              </a:spcAft>
              <a:buFont typeface="Symbol"/>
              <a:buChar char=""/>
            </a:pPr>
            <a:r>
              <a:rPr lang="es-BO" sz="1600" dirty="0">
                <a:solidFill>
                  <a:schemeClr val="tx1"/>
                </a:solidFill>
                <a:latin typeface="Arial"/>
                <a:ea typeface="Calibri"/>
                <a:cs typeface="Times New Roman"/>
              </a:rPr>
              <a:t>Osteopenia</a:t>
            </a:r>
            <a:endParaRPr lang="en-US" sz="1600" dirty="0">
              <a:solidFill>
                <a:schemeClr val="tx1"/>
              </a:solidFill>
              <a:latin typeface="Calibri"/>
              <a:ea typeface="Calibri"/>
              <a:cs typeface="Times New Roman"/>
            </a:endParaRPr>
          </a:p>
          <a:p>
            <a:pPr marL="342900" marR="0" lvl="0" indent="-342900">
              <a:lnSpc>
                <a:spcPct val="150000"/>
              </a:lnSpc>
              <a:spcBef>
                <a:spcPts val="0"/>
              </a:spcBef>
              <a:spcAft>
                <a:spcPts val="0"/>
              </a:spcAft>
              <a:buFont typeface="Symbol"/>
              <a:buChar char=""/>
            </a:pPr>
            <a:r>
              <a:rPr lang="es-BO" sz="1600" dirty="0">
                <a:solidFill>
                  <a:schemeClr val="tx1"/>
                </a:solidFill>
                <a:latin typeface="Arial"/>
                <a:ea typeface="Calibri"/>
                <a:cs typeface="Times New Roman"/>
              </a:rPr>
              <a:t>Alteración en el metabolismo de los fármacos</a:t>
            </a:r>
            <a:endParaRPr lang="en-US" sz="1600" dirty="0">
              <a:solidFill>
                <a:schemeClr val="tx1"/>
              </a:solidFill>
              <a:latin typeface="Calibri"/>
              <a:ea typeface="Calibri"/>
              <a:cs typeface="Times New Roman"/>
            </a:endParaRPr>
          </a:p>
          <a:p>
            <a:pPr marL="342900" marR="0" lvl="0" indent="-342900">
              <a:lnSpc>
                <a:spcPct val="150000"/>
              </a:lnSpc>
              <a:spcBef>
                <a:spcPts val="0"/>
              </a:spcBef>
              <a:spcAft>
                <a:spcPts val="0"/>
              </a:spcAft>
              <a:buFont typeface="Symbol"/>
              <a:buChar char=""/>
            </a:pPr>
            <a:r>
              <a:rPr lang="es-BO" sz="1600" dirty="0" err="1">
                <a:solidFill>
                  <a:schemeClr val="tx1"/>
                </a:solidFill>
                <a:latin typeface="Arial"/>
                <a:ea typeface="Calibri"/>
                <a:cs typeface="Times New Roman"/>
              </a:rPr>
              <a:t>Sarcopenia</a:t>
            </a:r>
            <a:endParaRPr lang="en-US" sz="1600" dirty="0">
              <a:solidFill>
                <a:schemeClr val="tx1"/>
              </a:solidFill>
              <a:latin typeface="Calibri"/>
              <a:ea typeface="Calibri"/>
              <a:cs typeface="Times New Roman"/>
            </a:endParaRPr>
          </a:p>
          <a:p>
            <a:pPr marL="342900" marR="0" lvl="0" indent="-342900">
              <a:lnSpc>
                <a:spcPct val="150000"/>
              </a:lnSpc>
              <a:spcBef>
                <a:spcPts val="0"/>
              </a:spcBef>
              <a:spcAft>
                <a:spcPts val="0"/>
              </a:spcAft>
              <a:buFont typeface="Symbol"/>
              <a:buChar char=""/>
            </a:pPr>
            <a:r>
              <a:rPr lang="es-BO" sz="1600" dirty="0">
                <a:solidFill>
                  <a:schemeClr val="tx1"/>
                </a:solidFill>
                <a:latin typeface="Arial"/>
                <a:ea typeface="Calibri"/>
                <a:cs typeface="Times New Roman"/>
              </a:rPr>
              <a:t>Descenso de la máxima capacidad </a:t>
            </a:r>
            <a:r>
              <a:rPr lang="es-BO" sz="1600" dirty="0" smtClean="0">
                <a:solidFill>
                  <a:schemeClr val="tx1"/>
                </a:solidFill>
                <a:latin typeface="Arial"/>
                <a:ea typeface="Calibri"/>
                <a:cs typeface="Times New Roman"/>
              </a:rPr>
              <a:t>respiratoria</a:t>
            </a:r>
            <a:endParaRPr lang="en-US" sz="1600" dirty="0">
              <a:solidFill>
                <a:schemeClr val="tx1"/>
              </a:solidFill>
              <a:latin typeface="Calibri"/>
              <a:ea typeface="Calibri"/>
              <a:cs typeface="Times New Roman"/>
            </a:endParaRPr>
          </a:p>
        </p:txBody>
      </p:sp>
      <p:sp>
        <p:nvSpPr>
          <p:cNvPr id="3" name="2 Título"/>
          <p:cNvSpPr>
            <a:spLocks noGrp="1"/>
          </p:cNvSpPr>
          <p:nvPr>
            <p:ph type="title"/>
          </p:nvPr>
        </p:nvSpPr>
        <p:spPr>
          <a:xfrm>
            <a:off x="457200" y="76200"/>
            <a:ext cx="8229600" cy="762000"/>
          </a:xfrm>
        </p:spPr>
        <p:txBody>
          <a:bodyPr>
            <a:noAutofit/>
          </a:bodyPr>
          <a:lstStyle/>
          <a:p>
            <a:pPr marL="0" marR="0" algn="just">
              <a:lnSpc>
                <a:spcPct val="150000"/>
              </a:lnSpc>
              <a:spcBef>
                <a:spcPts val="0"/>
              </a:spcBef>
              <a:spcAft>
                <a:spcPts val="0"/>
              </a:spcAft>
            </a:pPr>
            <a:r>
              <a:rPr lang="es-ES" sz="3200" b="1" dirty="0" smtClean="0">
                <a:solidFill>
                  <a:srgbClr val="000000"/>
                </a:solidFill>
                <a:latin typeface="Arial"/>
                <a:ea typeface="Calibri"/>
                <a:cs typeface="Times New Roman"/>
              </a:rPr>
              <a:t>DESNUTRICION</a:t>
            </a:r>
            <a:endParaRPr lang="en-US" sz="32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3200400"/>
            <a:ext cx="2362200" cy="31614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550670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304800" y="1143000"/>
            <a:ext cx="8229599" cy="5105400"/>
          </a:xfrm>
        </p:spPr>
        <p:txBody>
          <a:bodyPr numCol="2">
            <a:normAutofit fontScale="77500" lnSpcReduction="20000"/>
          </a:bodyPr>
          <a:lstStyle/>
          <a:p>
            <a:pPr marL="0" marR="0" indent="0" algn="just">
              <a:lnSpc>
                <a:spcPct val="150000"/>
              </a:lnSpc>
              <a:spcBef>
                <a:spcPts val="0"/>
              </a:spcBef>
              <a:spcAft>
                <a:spcPts val="0"/>
              </a:spcAft>
              <a:buNone/>
            </a:pPr>
            <a:r>
              <a:rPr lang="es-ES" b="1" dirty="0">
                <a:solidFill>
                  <a:srgbClr val="000000"/>
                </a:solidFill>
                <a:latin typeface="Arial"/>
                <a:ea typeface="Calibri"/>
                <a:cs typeface="Times New Roman"/>
              </a:rPr>
              <a:t>Causas </a:t>
            </a:r>
            <a:r>
              <a:rPr lang="es-ES" b="1" dirty="0" smtClean="0">
                <a:solidFill>
                  <a:srgbClr val="000000"/>
                </a:solidFill>
                <a:latin typeface="Arial"/>
                <a:ea typeface="Calibri"/>
                <a:cs typeface="Times New Roman"/>
              </a:rPr>
              <a:t>Fisiológicas</a:t>
            </a:r>
            <a:r>
              <a:rPr lang="en-US" dirty="0" smtClean="0">
                <a:latin typeface="Calibri"/>
                <a:ea typeface="Calibri"/>
                <a:cs typeface="Times New Roman"/>
              </a:rPr>
              <a:t>:  </a:t>
            </a:r>
          </a:p>
          <a:p>
            <a:pPr marL="0" marR="0" indent="0" algn="just">
              <a:lnSpc>
                <a:spcPct val="150000"/>
              </a:lnSpc>
              <a:spcBef>
                <a:spcPts val="0"/>
              </a:spcBef>
              <a:spcAft>
                <a:spcPts val="0"/>
              </a:spcAft>
              <a:buNone/>
            </a:pPr>
            <a:r>
              <a:rPr lang="es-ES" b="1" dirty="0" smtClean="0">
                <a:solidFill>
                  <a:srgbClr val="000000"/>
                </a:solidFill>
                <a:latin typeface="Arial"/>
                <a:ea typeface="Calibri"/>
                <a:cs typeface="Times New Roman"/>
              </a:rPr>
              <a:t>Cambios </a:t>
            </a:r>
            <a:r>
              <a:rPr lang="es-ES" b="1" dirty="0">
                <a:solidFill>
                  <a:srgbClr val="000000"/>
                </a:solidFill>
                <a:latin typeface="Arial"/>
                <a:ea typeface="Calibri"/>
                <a:cs typeface="Times New Roman"/>
              </a:rPr>
              <a:t>en la composición corporal:</a:t>
            </a:r>
            <a:endParaRPr lang="en-US"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dirty="0">
                <a:solidFill>
                  <a:srgbClr val="000000"/>
                </a:solidFill>
                <a:latin typeface="Arial"/>
                <a:ea typeface="Calibri"/>
                <a:cs typeface="Times New Roman"/>
              </a:rPr>
              <a:t>Disminución de la masa </a:t>
            </a:r>
            <a:r>
              <a:rPr lang="es-ES" dirty="0" smtClean="0">
                <a:solidFill>
                  <a:srgbClr val="000000"/>
                </a:solidFill>
                <a:latin typeface="Arial"/>
                <a:ea typeface="Calibri"/>
                <a:cs typeface="Times New Roman"/>
              </a:rPr>
              <a:t>(</a:t>
            </a:r>
            <a:r>
              <a:rPr lang="es-ES" dirty="0">
                <a:solidFill>
                  <a:srgbClr val="000000"/>
                </a:solidFill>
                <a:latin typeface="Arial"/>
                <a:ea typeface="Calibri"/>
                <a:cs typeface="Times New Roman"/>
              </a:rPr>
              <a:t>músculo y hueso)</a:t>
            </a:r>
            <a:endParaRPr lang="en-US"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dirty="0">
                <a:solidFill>
                  <a:srgbClr val="000000"/>
                </a:solidFill>
                <a:latin typeface="Arial"/>
                <a:ea typeface="Calibri"/>
                <a:cs typeface="Times New Roman"/>
              </a:rPr>
              <a:t>Disminución del agua corporal total.</a:t>
            </a:r>
            <a:endParaRPr lang="en-US"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dirty="0">
                <a:solidFill>
                  <a:srgbClr val="000000"/>
                </a:solidFill>
                <a:latin typeface="Arial"/>
                <a:ea typeface="Calibri"/>
                <a:cs typeface="Times New Roman"/>
              </a:rPr>
              <a:t>Disminución de la masa ósea.</a:t>
            </a:r>
            <a:endParaRPr lang="en-US" dirty="0">
              <a:latin typeface="Calibri"/>
              <a:ea typeface="Calibri"/>
              <a:cs typeface="Times New Roman"/>
            </a:endParaRPr>
          </a:p>
          <a:p>
            <a:pPr marL="0" marR="0" indent="0" algn="just">
              <a:lnSpc>
                <a:spcPct val="150000"/>
              </a:lnSpc>
              <a:spcBef>
                <a:spcPts val="0"/>
              </a:spcBef>
              <a:spcAft>
                <a:spcPts val="0"/>
              </a:spcAft>
              <a:buNone/>
            </a:pPr>
            <a:r>
              <a:rPr lang="es-ES" b="1" dirty="0">
                <a:latin typeface="Arial"/>
                <a:ea typeface="Calibri"/>
                <a:cs typeface="Times New Roman"/>
              </a:rPr>
              <a:t>• </a:t>
            </a:r>
            <a:r>
              <a:rPr lang="es-ES" b="1" dirty="0">
                <a:solidFill>
                  <a:srgbClr val="000000"/>
                </a:solidFill>
                <a:latin typeface="Arial"/>
                <a:ea typeface="Calibri"/>
                <a:cs typeface="Times New Roman"/>
              </a:rPr>
              <a:t>Menor gasto energético</a:t>
            </a:r>
            <a:endParaRPr lang="en-US"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dirty="0">
                <a:solidFill>
                  <a:srgbClr val="000000"/>
                </a:solidFill>
                <a:latin typeface="Arial"/>
                <a:ea typeface="Calibri"/>
                <a:cs typeface="Times New Roman"/>
              </a:rPr>
              <a:t>(Disminución del metabolismo basal y actividad física)</a:t>
            </a:r>
            <a:endParaRPr lang="en-US" dirty="0">
              <a:latin typeface="Calibri"/>
              <a:ea typeface="Calibri"/>
              <a:cs typeface="Times New Roman"/>
            </a:endParaRPr>
          </a:p>
          <a:p>
            <a:pPr marL="0" marR="0" indent="0" algn="just">
              <a:lnSpc>
                <a:spcPct val="150000"/>
              </a:lnSpc>
              <a:spcBef>
                <a:spcPts val="0"/>
              </a:spcBef>
              <a:spcAft>
                <a:spcPts val="0"/>
              </a:spcAft>
              <a:buNone/>
            </a:pPr>
            <a:r>
              <a:rPr lang="es-ES" b="1" dirty="0">
                <a:latin typeface="Arial"/>
                <a:ea typeface="Calibri"/>
                <a:cs typeface="Times New Roman"/>
              </a:rPr>
              <a:t>•</a:t>
            </a:r>
            <a:r>
              <a:rPr lang="es-ES" b="1" dirty="0">
                <a:solidFill>
                  <a:srgbClr val="0033CD"/>
                </a:solidFill>
                <a:latin typeface="Arial"/>
                <a:ea typeface="Calibri"/>
                <a:cs typeface="Times New Roman"/>
              </a:rPr>
              <a:t> </a:t>
            </a:r>
            <a:r>
              <a:rPr lang="es-ES" b="1" dirty="0">
                <a:solidFill>
                  <a:srgbClr val="000000"/>
                </a:solidFill>
                <a:latin typeface="Arial"/>
                <a:ea typeface="Calibri"/>
                <a:cs typeface="Times New Roman"/>
              </a:rPr>
              <a:t>Deterioro de los sentidos del gusto, olfato y vista.</a:t>
            </a:r>
            <a:endParaRPr lang="en-US" dirty="0">
              <a:latin typeface="Calibri"/>
              <a:ea typeface="Calibri"/>
              <a:cs typeface="Times New Roman"/>
            </a:endParaRPr>
          </a:p>
          <a:p>
            <a:pPr marL="0" marR="0" algn="just">
              <a:lnSpc>
                <a:spcPct val="150000"/>
              </a:lnSpc>
              <a:spcBef>
                <a:spcPts val="0"/>
              </a:spcBef>
              <a:spcAft>
                <a:spcPts val="0"/>
              </a:spcAft>
            </a:pPr>
            <a:r>
              <a:rPr lang="es-ES" dirty="0">
                <a:solidFill>
                  <a:srgbClr val="000000"/>
                </a:solidFill>
                <a:latin typeface="Arial"/>
                <a:ea typeface="Calibri"/>
                <a:cs typeface="Times New Roman"/>
              </a:rPr>
              <a:t>Alteraciones digestivas:</a:t>
            </a:r>
            <a:endParaRPr lang="en-US"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dirty="0">
                <a:solidFill>
                  <a:srgbClr val="000000"/>
                </a:solidFill>
                <a:latin typeface="Arial"/>
                <a:ea typeface="Calibri"/>
                <a:cs typeface="Times New Roman"/>
              </a:rPr>
              <a:t>Disminución masticación, (Problemas de dentición)</a:t>
            </a:r>
            <a:endParaRPr lang="en-US"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dirty="0">
                <a:solidFill>
                  <a:srgbClr val="000000"/>
                </a:solidFill>
                <a:latin typeface="Arial"/>
                <a:ea typeface="Calibri"/>
                <a:cs typeface="Times New Roman"/>
              </a:rPr>
              <a:t>Alteración de la deglución.</a:t>
            </a:r>
            <a:endParaRPr lang="en-US"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dirty="0">
                <a:solidFill>
                  <a:srgbClr val="000000"/>
                </a:solidFill>
                <a:latin typeface="Arial"/>
                <a:ea typeface="Calibri"/>
                <a:cs typeface="Times New Roman"/>
              </a:rPr>
              <a:t>Disminución peristaltismo-estreñimiento.</a:t>
            </a:r>
            <a:endParaRPr lang="en-US"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dirty="0">
                <a:solidFill>
                  <a:srgbClr val="000000"/>
                </a:solidFill>
                <a:latin typeface="Arial"/>
                <a:ea typeface="Calibri"/>
                <a:cs typeface="Times New Roman"/>
              </a:rPr>
              <a:t>Disminución de la secreción salival, gástrica</a:t>
            </a:r>
            <a:endParaRPr lang="en-US"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dirty="0">
                <a:solidFill>
                  <a:srgbClr val="000000"/>
                </a:solidFill>
                <a:latin typeface="Arial"/>
                <a:ea typeface="Calibri"/>
                <a:cs typeface="Times New Roman"/>
              </a:rPr>
              <a:t>y pancreática.</a:t>
            </a:r>
            <a:endParaRPr lang="en-US"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dirty="0">
                <a:solidFill>
                  <a:srgbClr val="000000"/>
                </a:solidFill>
                <a:latin typeface="Arial"/>
                <a:ea typeface="Calibri"/>
                <a:cs typeface="Times New Roman"/>
              </a:rPr>
              <a:t>Disminución de la absorción de disacáridos.</a:t>
            </a:r>
            <a:endParaRPr lang="en-US"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dirty="0">
                <a:solidFill>
                  <a:srgbClr val="000000"/>
                </a:solidFill>
                <a:latin typeface="Arial"/>
                <a:ea typeface="Calibri"/>
                <a:cs typeface="Times New Roman"/>
              </a:rPr>
              <a:t>Aumento del </a:t>
            </a:r>
            <a:r>
              <a:rPr lang="es-ES" dirty="0" err="1">
                <a:solidFill>
                  <a:srgbClr val="000000"/>
                </a:solidFill>
                <a:latin typeface="Arial"/>
                <a:ea typeface="Calibri"/>
                <a:cs typeface="Times New Roman"/>
              </a:rPr>
              <a:t>sobrecrecimiento</a:t>
            </a:r>
            <a:r>
              <a:rPr lang="es-ES" dirty="0">
                <a:solidFill>
                  <a:srgbClr val="000000"/>
                </a:solidFill>
                <a:latin typeface="Arial"/>
                <a:ea typeface="Calibri"/>
                <a:cs typeface="Times New Roman"/>
              </a:rPr>
              <a:t> bacteriano</a:t>
            </a:r>
            <a:r>
              <a:rPr lang="es-ES" dirty="0" smtClean="0">
                <a:solidFill>
                  <a:srgbClr val="000000"/>
                </a:solidFill>
                <a:latin typeface="Arial"/>
                <a:ea typeface="Calibri"/>
                <a:cs typeface="Times New Roman"/>
              </a:rPr>
              <a:t>.</a:t>
            </a:r>
            <a:endParaRPr lang="en-US" dirty="0">
              <a:latin typeface="Calibri"/>
              <a:ea typeface="Calibri"/>
              <a:cs typeface="Times New Roman"/>
            </a:endParaRPr>
          </a:p>
        </p:txBody>
      </p:sp>
      <p:sp>
        <p:nvSpPr>
          <p:cNvPr id="3" name="2 Título"/>
          <p:cNvSpPr>
            <a:spLocks noGrp="1"/>
          </p:cNvSpPr>
          <p:nvPr>
            <p:ph type="title"/>
          </p:nvPr>
        </p:nvSpPr>
        <p:spPr>
          <a:xfrm>
            <a:off x="457200" y="338328"/>
            <a:ext cx="7924800" cy="957072"/>
          </a:xfrm>
        </p:spPr>
        <p:txBody>
          <a:bodyPr>
            <a:noAutofit/>
          </a:bodyPr>
          <a:lstStyle/>
          <a:p>
            <a:pPr marL="0" marR="0" algn="just">
              <a:lnSpc>
                <a:spcPct val="150000"/>
              </a:lnSpc>
              <a:spcBef>
                <a:spcPts val="0"/>
              </a:spcBef>
              <a:spcAft>
                <a:spcPts val="0"/>
              </a:spcAft>
            </a:pPr>
            <a:r>
              <a:rPr lang="es-ES" sz="2400" b="1" dirty="0">
                <a:solidFill>
                  <a:srgbClr val="000000"/>
                </a:solidFill>
                <a:latin typeface="Arial"/>
                <a:ea typeface="Calibri"/>
                <a:cs typeface="Times New Roman"/>
              </a:rPr>
              <a:t>CAUSAS FAVORECEDORAS DE LA </a:t>
            </a:r>
            <a:r>
              <a:rPr lang="es-ES" sz="2400" b="1" dirty="0" smtClean="0">
                <a:solidFill>
                  <a:srgbClr val="000000"/>
                </a:solidFill>
                <a:latin typeface="Arial"/>
                <a:ea typeface="Calibri"/>
                <a:cs typeface="Times New Roman"/>
              </a:rPr>
              <a:t>MALNUTRICIÓN</a:t>
            </a:r>
            <a:endParaRPr lang="en-US" sz="2400" dirty="0">
              <a:effectLst/>
              <a:latin typeface="Calibri"/>
              <a:ea typeface="Calibri"/>
              <a:cs typeface="Times New Roman"/>
            </a:endParaRPr>
          </a:p>
        </p:txBody>
      </p:sp>
    </p:spTree>
    <p:extLst>
      <p:ext uri="{BB962C8B-B14F-4D97-AF65-F5344CB8AC3E}">
        <p14:creationId xmlns:p14="http://schemas.microsoft.com/office/powerpoint/2010/main" val="173788230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85800" y="609600"/>
            <a:ext cx="8001000" cy="5715000"/>
          </a:xfrm>
        </p:spPr>
        <p:txBody>
          <a:bodyPr>
            <a:noAutofit/>
          </a:bodyPr>
          <a:lstStyle/>
          <a:p>
            <a:pPr marL="0" marR="0" indent="0" algn="just">
              <a:lnSpc>
                <a:spcPct val="150000"/>
              </a:lnSpc>
              <a:spcBef>
                <a:spcPts val="0"/>
              </a:spcBef>
              <a:spcAft>
                <a:spcPts val="0"/>
              </a:spcAft>
              <a:buNone/>
            </a:pPr>
            <a:r>
              <a:rPr lang="es-ES" sz="1700" b="1" dirty="0">
                <a:solidFill>
                  <a:srgbClr val="000000"/>
                </a:solidFill>
                <a:latin typeface="Arial"/>
                <a:ea typeface="Calibri"/>
                <a:cs typeface="Times New Roman"/>
              </a:rPr>
              <a:t>Causas Psicosociales</a:t>
            </a:r>
            <a:endParaRPr lang="en-US" sz="1700" dirty="0">
              <a:latin typeface="Calibri"/>
              <a:ea typeface="Calibri"/>
              <a:cs typeface="Times New Roman"/>
            </a:endParaRPr>
          </a:p>
          <a:p>
            <a:pPr marL="0" marR="0" algn="just">
              <a:lnSpc>
                <a:spcPct val="150000"/>
              </a:lnSpc>
              <a:spcBef>
                <a:spcPts val="0"/>
              </a:spcBef>
              <a:spcAft>
                <a:spcPts val="0"/>
              </a:spcAft>
            </a:pPr>
            <a:r>
              <a:rPr lang="es-ES" sz="1700" dirty="0">
                <a:solidFill>
                  <a:srgbClr val="000000"/>
                </a:solidFill>
                <a:latin typeface="Arial"/>
                <a:ea typeface="Calibri"/>
                <a:cs typeface="Times New Roman"/>
              </a:rPr>
              <a:t>Soledad, aburrimiento, depresión, </a:t>
            </a:r>
            <a:r>
              <a:rPr lang="es-ES" sz="1700" dirty="0" smtClean="0">
                <a:solidFill>
                  <a:srgbClr val="000000"/>
                </a:solidFill>
                <a:latin typeface="Arial"/>
                <a:ea typeface="Calibri"/>
                <a:cs typeface="Times New Roman"/>
              </a:rPr>
              <a:t>enviudes, </a:t>
            </a:r>
            <a:r>
              <a:rPr lang="es-ES" sz="1700" dirty="0">
                <a:solidFill>
                  <a:srgbClr val="000000"/>
                </a:solidFill>
                <a:latin typeface="Arial"/>
                <a:ea typeface="Calibri"/>
                <a:cs typeface="Times New Roman"/>
              </a:rPr>
              <a:t>alcoholismo.</a:t>
            </a:r>
            <a:endParaRPr lang="en-US" sz="17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1700" dirty="0">
                <a:solidFill>
                  <a:srgbClr val="000000"/>
                </a:solidFill>
                <a:latin typeface="Arial"/>
                <a:ea typeface="Calibri"/>
                <a:cs typeface="Times New Roman"/>
              </a:rPr>
              <a:t>Limitación de recursos económicos.</a:t>
            </a:r>
            <a:endParaRPr lang="en-US" sz="17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1700" dirty="0">
                <a:solidFill>
                  <a:srgbClr val="000000"/>
                </a:solidFill>
                <a:latin typeface="Arial"/>
                <a:ea typeface="Calibri"/>
                <a:cs typeface="Times New Roman"/>
              </a:rPr>
              <a:t>Ingreso en </a:t>
            </a:r>
            <a:r>
              <a:rPr lang="es-ES" sz="1700" dirty="0" smtClean="0">
                <a:solidFill>
                  <a:srgbClr val="000000"/>
                </a:solidFill>
                <a:latin typeface="Arial"/>
                <a:ea typeface="Calibri"/>
                <a:cs typeface="Times New Roman"/>
              </a:rPr>
              <a:t>instituciones.</a:t>
            </a:r>
            <a:endParaRPr lang="en-US" sz="1700" dirty="0" smtClean="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1700" dirty="0" smtClean="0">
                <a:solidFill>
                  <a:srgbClr val="000000"/>
                </a:solidFill>
                <a:latin typeface="Arial"/>
                <a:ea typeface="Calibri"/>
                <a:cs typeface="Times New Roman"/>
              </a:rPr>
              <a:t>Aislamiento</a:t>
            </a:r>
            <a:r>
              <a:rPr lang="es-ES" sz="1700" dirty="0">
                <a:solidFill>
                  <a:srgbClr val="000000"/>
                </a:solidFill>
                <a:latin typeface="Arial"/>
                <a:ea typeface="Calibri"/>
                <a:cs typeface="Times New Roman"/>
              </a:rPr>
              <a:t>, dificultad para el </a:t>
            </a:r>
            <a:r>
              <a:rPr lang="es-ES" sz="1700" dirty="0" smtClean="0">
                <a:solidFill>
                  <a:srgbClr val="000000"/>
                </a:solidFill>
                <a:latin typeface="Arial"/>
                <a:ea typeface="Calibri"/>
                <a:cs typeface="Times New Roman"/>
              </a:rPr>
              <a:t>transporte</a:t>
            </a:r>
            <a:r>
              <a:rPr lang="es-ES" sz="1700" dirty="0">
                <a:solidFill>
                  <a:srgbClr val="000000"/>
                </a:solidFill>
                <a:latin typeface="Arial"/>
                <a:ea typeface="Calibri"/>
                <a:cs typeface="Times New Roman"/>
              </a:rPr>
              <a:t> </a:t>
            </a:r>
            <a:endParaRPr lang="en-US" sz="1700" dirty="0">
              <a:latin typeface="Calibri"/>
              <a:ea typeface="Calibri"/>
              <a:cs typeface="Times New Roman"/>
            </a:endParaRPr>
          </a:p>
          <a:p>
            <a:pPr marL="0" marR="0" indent="0" algn="just">
              <a:lnSpc>
                <a:spcPct val="150000"/>
              </a:lnSpc>
              <a:spcBef>
                <a:spcPts val="0"/>
              </a:spcBef>
              <a:spcAft>
                <a:spcPts val="0"/>
              </a:spcAft>
              <a:buNone/>
            </a:pPr>
            <a:r>
              <a:rPr lang="es-ES" sz="1700" b="1" dirty="0">
                <a:solidFill>
                  <a:srgbClr val="000000"/>
                </a:solidFill>
                <a:latin typeface="Arial"/>
                <a:ea typeface="Calibri"/>
                <a:cs typeface="Times New Roman"/>
              </a:rPr>
              <a:t>Causas Patológicas</a:t>
            </a:r>
            <a:endParaRPr lang="en-US" sz="17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1700" dirty="0" smtClean="0">
                <a:solidFill>
                  <a:srgbClr val="000000"/>
                </a:solidFill>
                <a:latin typeface="Arial"/>
                <a:ea typeface="Calibri"/>
                <a:cs typeface="Times New Roman"/>
              </a:rPr>
              <a:t>Poli medicación </a:t>
            </a:r>
            <a:r>
              <a:rPr lang="es-ES" sz="1700" dirty="0">
                <a:solidFill>
                  <a:srgbClr val="000000"/>
                </a:solidFill>
                <a:latin typeface="Arial"/>
                <a:ea typeface="Calibri"/>
                <a:cs typeface="Times New Roman"/>
              </a:rPr>
              <a:t>(Los medicamentos también pueden influir en la absorción o eliminación de los nutrientes y alterar el metabolismo vitamínico).</a:t>
            </a:r>
            <a:endParaRPr lang="en-US" sz="17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1700" dirty="0" err="1">
                <a:solidFill>
                  <a:srgbClr val="000000"/>
                </a:solidFill>
                <a:latin typeface="Arial"/>
                <a:ea typeface="Calibri"/>
                <a:cs typeface="Times New Roman"/>
              </a:rPr>
              <a:t>Pluripatología</a:t>
            </a:r>
            <a:r>
              <a:rPr lang="es-ES" sz="1700" dirty="0">
                <a:solidFill>
                  <a:srgbClr val="000000"/>
                </a:solidFill>
                <a:latin typeface="Arial"/>
                <a:ea typeface="Calibri"/>
                <a:cs typeface="Times New Roman"/>
              </a:rPr>
              <a:t> (problemas </a:t>
            </a:r>
            <a:r>
              <a:rPr lang="es-ES" sz="1700" dirty="0" smtClean="0">
                <a:solidFill>
                  <a:srgbClr val="000000"/>
                </a:solidFill>
                <a:latin typeface="Arial"/>
                <a:ea typeface="Calibri"/>
                <a:cs typeface="Times New Roman"/>
              </a:rPr>
              <a:t>gastrointestinales--con </a:t>
            </a:r>
            <a:r>
              <a:rPr lang="es-ES" sz="1700" dirty="0">
                <a:solidFill>
                  <a:srgbClr val="000000"/>
                </a:solidFill>
                <a:latin typeface="Arial"/>
                <a:ea typeface="Calibri"/>
                <a:cs typeface="Times New Roman"/>
              </a:rPr>
              <a:t>las náuseas y la anorexia. La diarrea y el estreñimiento también guardan relación con una ingesta insuficiente de alimentos en individuos con enfermedades crónicas. </a:t>
            </a:r>
            <a:endParaRPr lang="es-ES" sz="1700" dirty="0" smtClean="0">
              <a:solidFill>
                <a:srgbClr val="000000"/>
              </a:solidFill>
              <a:latin typeface="Arial"/>
              <a:ea typeface="Calibri"/>
              <a:cs typeface="Times New Roman"/>
            </a:endParaRPr>
          </a:p>
          <a:p>
            <a:pPr marL="342900" marR="0" lvl="0" indent="-342900" algn="just">
              <a:lnSpc>
                <a:spcPct val="150000"/>
              </a:lnSpc>
              <a:spcBef>
                <a:spcPts val="0"/>
              </a:spcBef>
              <a:spcAft>
                <a:spcPts val="0"/>
              </a:spcAft>
              <a:buFont typeface="Symbol"/>
              <a:buChar char=""/>
            </a:pPr>
            <a:r>
              <a:rPr lang="es-ES" sz="1700" dirty="0" smtClean="0">
                <a:solidFill>
                  <a:srgbClr val="000000"/>
                </a:solidFill>
                <a:latin typeface="Arial"/>
                <a:ea typeface="Calibri"/>
                <a:cs typeface="Times New Roman"/>
              </a:rPr>
              <a:t>La </a:t>
            </a:r>
            <a:r>
              <a:rPr lang="es-ES" sz="1700" dirty="0">
                <a:solidFill>
                  <a:srgbClr val="000000"/>
                </a:solidFill>
                <a:latin typeface="Arial"/>
                <a:ea typeface="Calibri"/>
                <a:cs typeface="Times New Roman"/>
              </a:rPr>
              <a:t>diabetes mellitus, la enfermedad de las arterias coronarias, la </a:t>
            </a:r>
            <a:r>
              <a:rPr lang="es-ES" sz="1700" dirty="0" smtClean="0">
                <a:solidFill>
                  <a:srgbClr val="000000"/>
                </a:solidFill>
                <a:latin typeface="Arial"/>
                <a:ea typeface="Calibri"/>
                <a:cs typeface="Times New Roman"/>
              </a:rPr>
              <a:t>ICC y </a:t>
            </a:r>
            <a:r>
              <a:rPr lang="es-ES" sz="1700" dirty="0">
                <a:solidFill>
                  <a:srgbClr val="000000"/>
                </a:solidFill>
                <a:latin typeface="Arial"/>
                <a:ea typeface="Calibri"/>
                <a:cs typeface="Times New Roman"/>
              </a:rPr>
              <a:t>la </a:t>
            </a:r>
            <a:r>
              <a:rPr lang="es-ES" sz="1700" dirty="0" smtClean="0">
                <a:solidFill>
                  <a:srgbClr val="000000"/>
                </a:solidFill>
                <a:latin typeface="Arial"/>
                <a:ea typeface="Calibri"/>
                <a:cs typeface="Times New Roman"/>
              </a:rPr>
              <a:t>HTA, se </a:t>
            </a:r>
            <a:r>
              <a:rPr lang="es-ES" sz="1700" dirty="0">
                <a:solidFill>
                  <a:srgbClr val="000000"/>
                </a:solidFill>
                <a:latin typeface="Arial"/>
                <a:ea typeface="Calibri"/>
                <a:cs typeface="Times New Roman"/>
              </a:rPr>
              <a:t>tratan con restricciones dietéticas de los azúcares, grasas o sal, los tres componentes de la dieta responsables del sabor de la comida).</a:t>
            </a:r>
            <a:endParaRPr lang="en-US" sz="17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1700" dirty="0">
                <a:solidFill>
                  <a:srgbClr val="000000"/>
                </a:solidFill>
                <a:latin typeface="Arial"/>
                <a:ea typeface="Calibri"/>
                <a:cs typeface="Times New Roman"/>
              </a:rPr>
              <a:t>Discapacidades (La menor actividad física</a:t>
            </a:r>
            <a:r>
              <a:rPr lang="es-ES" sz="1700" dirty="0" smtClean="0">
                <a:solidFill>
                  <a:srgbClr val="000000"/>
                </a:solidFill>
                <a:latin typeface="Arial"/>
                <a:ea typeface="Calibri"/>
                <a:cs typeface="Times New Roman"/>
              </a:rPr>
              <a:t>).</a:t>
            </a:r>
            <a:endParaRPr lang="en-US" sz="1700" dirty="0">
              <a:latin typeface="Calibri"/>
              <a:ea typeface="Calibri"/>
              <a:cs typeface="Times New Roman"/>
            </a:endParaRPr>
          </a:p>
        </p:txBody>
      </p:sp>
    </p:spTree>
    <p:extLst>
      <p:ext uri="{BB962C8B-B14F-4D97-AF65-F5344CB8AC3E}">
        <p14:creationId xmlns:p14="http://schemas.microsoft.com/office/powerpoint/2010/main" val="81180792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09600" y="381000"/>
            <a:ext cx="7848600" cy="5943600"/>
          </a:xfrm>
        </p:spPr>
        <p:txBody>
          <a:bodyPr>
            <a:noAutofit/>
          </a:bodyPr>
          <a:lstStyle/>
          <a:p>
            <a:pPr marL="0" marR="0" algn="just">
              <a:lnSpc>
                <a:spcPct val="150000"/>
              </a:lnSpc>
              <a:spcBef>
                <a:spcPts val="0"/>
              </a:spcBef>
              <a:spcAft>
                <a:spcPts val="0"/>
              </a:spcAft>
            </a:pPr>
            <a:r>
              <a:rPr lang="es-ES" sz="1800" b="1" dirty="0">
                <a:solidFill>
                  <a:srgbClr val="000000"/>
                </a:solidFill>
                <a:latin typeface="Arial"/>
                <a:ea typeface="Calibri"/>
                <a:cs typeface="Times New Roman"/>
              </a:rPr>
              <a:t>DIAGNÓSTICO</a:t>
            </a:r>
            <a:endParaRPr lang="en-US" sz="18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1800" dirty="0">
                <a:solidFill>
                  <a:srgbClr val="000000"/>
                </a:solidFill>
                <a:latin typeface="Arial"/>
                <a:ea typeface="Calibri"/>
                <a:cs typeface="Times New Roman"/>
              </a:rPr>
              <a:t>El peso, la talla y el índice de masa corporal (IMC) </a:t>
            </a:r>
            <a:endParaRPr lang="en-US" sz="18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1800" dirty="0" smtClean="0">
                <a:solidFill>
                  <a:srgbClr val="000000"/>
                </a:solidFill>
                <a:latin typeface="Arial"/>
                <a:ea typeface="Calibri"/>
                <a:cs typeface="Times New Roman"/>
              </a:rPr>
              <a:t>La </a:t>
            </a:r>
            <a:r>
              <a:rPr lang="es-ES" sz="1800" dirty="0">
                <a:solidFill>
                  <a:srgbClr val="000000"/>
                </a:solidFill>
                <a:latin typeface="Arial"/>
                <a:ea typeface="Calibri"/>
                <a:cs typeface="Times New Roman"/>
              </a:rPr>
              <a:t>antropometría (pliegue </a:t>
            </a:r>
            <a:r>
              <a:rPr lang="es-ES" sz="1800" dirty="0" err="1">
                <a:solidFill>
                  <a:srgbClr val="000000"/>
                </a:solidFill>
                <a:latin typeface="Arial"/>
                <a:ea typeface="Calibri"/>
                <a:cs typeface="Times New Roman"/>
              </a:rPr>
              <a:t>tricipital</a:t>
            </a:r>
            <a:r>
              <a:rPr lang="es-ES" sz="1800" dirty="0">
                <a:solidFill>
                  <a:srgbClr val="000000"/>
                </a:solidFill>
                <a:latin typeface="Arial"/>
                <a:ea typeface="Calibri"/>
                <a:cs typeface="Times New Roman"/>
              </a:rPr>
              <a:t>, circunferencia braquial) nos indican la repercusión en el volumen corporal.</a:t>
            </a:r>
            <a:endParaRPr lang="en-US" sz="18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1800" dirty="0">
                <a:solidFill>
                  <a:srgbClr val="000000"/>
                </a:solidFill>
                <a:latin typeface="Arial"/>
                <a:ea typeface="Calibri"/>
                <a:cs typeface="Times New Roman"/>
              </a:rPr>
              <a:t>Los valores séricos de albúmina, </a:t>
            </a:r>
            <a:r>
              <a:rPr lang="es-ES" sz="1800" dirty="0" err="1">
                <a:solidFill>
                  <a:srgbClr val="000000"/>
                </a:solidFill>
                <a:latin typeface="Arial"/>
                <a:ea typeface="Calibri"/>
                <a:cs typeface="Times New Roman"/>
              </a:rPr>
              <a:t>linfopenia</a:t>
            </a:r>
            <a:r>
              <a:rPr lang="es-ES" sz="1800" dirty="0">
                <a:solidFill>
                  <a:srgbClr val="000000"/>
                </a:solidFill>
                <a:latin typeface="Arial"/>
                <a:ea typeface="Calibri"/>
                <a:cs typeface="Times New Roman"/>
              </a:rPr>
              <a:t> y </a:t>
            </a:r>
            <a:r>
              <a:rPr lang="es-ES" sz="1800" dirty="0" err="1">
                <a:solidFill>
                  <a:srgbClr val="000000"/>
                </a:solidFill>
                <a:latin typeface="Arial"/>
                <a:ea typeface="Calibri"/>
                <a:cs typeface="Times New Roman"/>
              </a:rPr>
              <a:t>transferrina</a:t>
            </a:r>
            <a:r>
              <a:rPr lang="es-ES" sz="1800" dirty="0">
                <a:solidFill>
                  <a:srgbClr val="000000"/>
                </a:solidFill>
                <a:latin typeface="Arial"/>
                <a:ea typeface="Calibri"/>
                <a:cs typeface="Times New Roman"/>
              </a:rPr>
              <a:t> son útiles como medidas de seguimiento en la intervención.</a:t>
            </a:r>
            <a:endParaRPr lang="en-US" sz="18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1800" dirty="0">
                <a:solidFill>
                  <a:srgbClr val="000000"/>
                </a:solidFill>
                <a:latin typeface="Arial"/>
                <a:ea typeface="Calibri"/>
                <a:cs typeface="Times New Roman"/>
              </a:rPr>
              <a:t>Registro de la ingesta dietética: permiten valorar </a:t>
            </a:r>
            <a:r>
              <a:rPr lang="es-ES" sz="1800" dirty="0" smtClean="0">
                <a:solidFill>
                  <a:srgbClr val="000000"/>
                </a:solidFill>
                <a:latin typeface="Arial"/>
                <a:ea typeface="Calibri"/>
                <a:cs typeface="Times New Roman"/>
              </a:rPr>
              <a:t>cuantitativamente </a:t>
            </a:r>
            <a:r>
              <a:rPr lang="es-ES" sz="1800" dirty="0">
                <a:solidFill>
                  <a:srgbClr val="000000"/>
                </a:solidFill>
                <a:latin typeface="Arial"/>
                <a:ea typeface="Calibri"/>
                <a:cs typeface="Times New Roman"/>
              </a:rPr>
              <a:t>la ingesta de </a:t>
            </a:r>
            <a:r>
              <a:rPr lang="es-ES" sz="1800" dirty="0" smtClean="0">
                <a:solidFill>
                  <a:srgbClr val="000000"/>
                </a:solidFill>
                <a:latin typeface="Arial"/>
                <a:ea typeface="Calibri"/>
                <a:cs typeface="Times New Roman"/>
              </a:rPr>
              <a:t>alimentos</a:t>
            </a:r>
          </a:p>
          <a:p>
            <a:pPr marL="342900" marR="0" lvl="0" indent="-342900" algn="just">
              <a:lnSpc>
                <a:spcPct val="150000"/>
              </a:lnSpc>
              <a:spcBef>
                <a:spcPts val="0"/>
              </a:spcBef>
              <a:spcAft>
                <a:spcPts val="0"/>
              </a:spcAft>
              <a:buFont typeface="Symbol"/>
              <a:buChar char=""/>
            </a:pPr>
            <a:r>
              <a:rPr lang="es-ES" sz="1800" dirty="0" smtClean="0">
                <a:solidFill>
                  <a:srgbClr val="000000"/>
                </a:solidFill>
                <a:latin typeface="Arial"/>
                <a:ea typeface="Calibri"/>
                <a:cs typeface="Times New Roman"/>
              </a:rPr>
              <a:t>la </a:t>
            </a:r>
            <a:r>
              <a:rPr lang="es-ES" sz="1800" dirty="0">
                <a:solidFill>
                  <a:srgbClr val="000000"/>
                </a:solidFill>
                <a:latin typeface="Arial"/>
                <a:ea typeface="Calibri"/>
                <a:cs typeface="Times New Roman"/>
              </a:rPr>
              <a:t>frecuencia de consumo de los distintos grupos, así como el posterior estudio de aporte de energía y nutrientes.</a:t>
            </a:r>
            <a:endParaRPr lang="en-US" sz="18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1800" dirty="0">
                <a:solidFill>
                  <a:srgbClr val="000000"/>
                </a:solidFill>
                <a:latin typeface="Arial"/>
                <a:ea typeface="Calibri"/>
                <a:cs typeface="Times New Roman"/>
              </a:rPr>
              <a:t>Historia dietética, recordatorio de 24 horas, registro diario dietético (costumbres alimentarias, secuencia de comidas, modalidades y costumbres culinarias</a:t>
            </a:r>
            <a:r>
              <a:rPr lang="es-ES" sz="1800" dirty="0" smtClean="0">
                <a:solidFill>
                  <a:srgbClr val="000000"/>
                </a:solidFill>
                <a:latin typeface="Arial"/>
                <a:ea typeface="Calibri"/>
                <a:cs typeface="Times New Roman"/>
              </a:rPr>
              <a:t>.</a:t>
            </a:r>
            <a:endParaRPr lang="en-US" sz="1800" dirty="0">
              <a:latin typeface="Calibri"/>
              <a:ea typeface="Calibri"/>
              <a:cs typeface="Times New Roman"/>
            </a:endParaRPr>
          </a:p>
        </p:txBody>
      </p:sp>
    </p:spTree>
    <p:extLst>
      <p:ext uri="{BB962C8B-B14F-4D97-AF65-F5344CB8AC3E}">
        <p14:creationId xmlns:p14="http://schemas.microsoft.com/office/powerpoint/2010/main" val="130874105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685800"/>
            <a:ext cx="7408333" cy="5440363"/>
          </a:xfrm>
        </p:spPr>
        <p:txBody>
          <a:bodyPr>
            <a:normAutofit/>
          </a:bodyPr>
          <a:lstStyle/>
          <a:p>
            <a:pPr marL="0" marR="0" indent="0" algn="just">
              <a:lnSpc>
                <a:spcPct val="150000"/>
              </a:lnSpc>
              <a:spcBef>
                <a:spcPts val="0"/>
              </a:spcBef>
              <a:spcAft>
                <a:spcPts val="0"/>
              </a:spcAft>
              <a:buNone/>
            </a:pPr>
            <a:r>
              <a:rPr lang="es-ES" sz="2000" b="1" dirty="0" smtClean="0">
                <a:solidFill>
                  <a:srgbClr val="000000"/>
                </a:solidFill>
                <a:latin typeface="Arial"/>
                <a:ea typeface="Calibri"/>
                <a:cs typeface="Times New Roman"/>
              </a:rPr>
              <a:t>EXÁMENES COMPLEMENTARIOS </a:t>
            </a:r>
            <a:r>
              <a:rPr lang="es-ES" sz="2000" b="1" dirty="0">
                <a:solidFill>
                  <a:srgbClr val="000000"/>
                </a:solidFill>
                <a:latin typeface="Arial"/>
                <a:ea typeface="Calibri"/>
                <a:cs typeface="Times New Roman"/>
              </a:rPr>
              <a:t>RECOMENDADOS</a:t>
            </a:r>
            <a:endParaRPr lang="en-US" sz="2000" dirty="0">
              <a:latin typeface="Calibri"/>
              <a:ea typeface="Calibri"/>
              <a:cs typeface="Times New Roman"/>
            </a:endParaRPr>
          </a:p>
          <a:p>
            <a:pPr marL="0" marR="0" algn="just">
              <a:lnSpc>
                <a:spcPct val="150000"/>
              </a:lnSpc>
              <a:spcBef>
                <a:spcPts val="0"/>
              </a:spcBef>
              <a:spcAft>
                <a:spcPts val="0"/>
              </a:spcAft>
            </a:pPr>
            <a:r>
              <a:rPr lang="es-ES" sz="2000" b="1" dirty="0">
                <a:solidFill>
                  <a:srgbClr val="000000"/>
                </a:solidFill>
                <a:latin typeface="Arial"/>
                <a:ea typeface="Calibri"/>
                <a:cs typeface="Times New Roman"/>
              </a:rPr>
              <a:t>Laboratorio</a:t>
            </a:r>
            <a:endParaRPr lang="en-US" sz="20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2000" dirty="0">
                <a:solidFill>
                  <a:srgbClr val="000000"/>
                </a:solidFill>
                <a:latin typeface="Arial"/>
                <a:ea typeface="Calibri"/>
                <a:cs typeface="Times New Roman"/>
              </a:rPr>
              <a:t>Hemograma</a:t>
            </a:r>
            <a:endParaRPr lang="en-US" sz="20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2000" dirty="0">
                <a:solidFill>
                  <a:srgbClr val="000000"/>
                </a:solidFill>
                <a:latin typeface="Arial"/>
                <a:ea typeface="Calibri"/>
                <a:cs typeface="Times New Roman"/>
              </a:rPr>
              <a:t>Glucemia</a:t>
            </a:r>
            <a:endParaRPr lang="en-US" sz="20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2000" dirty="0">
                <a:solidFill>
                  <a:srgbClr val="000000"/>
                </a:solidFill>
                <a:latin typeface="Arial"/>
                <a:ea typeface="Calibri"/>
                <a:cs typeface="Times New Roman"/>
              </a:rPr>
              <a:t>Creatinina</a:t>
            </a:r>
            <a:endParaRPr lang="en-US" sz="20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2000" dirty="0">
                <a:solidFill>
                  <a:srgbClr val="000000"/>
                </a:solidFill>
                <a:latin typeface="Arial"/>
                <a:ea typeface="Calibri"/>
                <a:cs typeface="Times New Roman"/>
              </a:rPr>
              <a:t>Nitrógeno </a:t>
            </a:r>
            <a:r>
              <a:rPr lang="es-ES" sz="2000" dirty="0" smtClean="0">
                <a:solidFill>
                  <a:srgbClr val="000000"/>
                </a:solidFill>
                <a:latin typeface="Arial"/>
                <a:ea typeface="Calibri"/>
                <a:cs typeface="Times New Roman"/>
              </a:rPr>
              <a:t>ureico</a:t>
            </a:r>
            <a:endParaRPr lang="en-US" sz="20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2000" dirty="0">
                <a:solidFill>
                  <a:srgbClr val="000000"/>
                </a:solidFill>
                <a:latin typeface="Arial"/>
                <a:ea typeface="Calibri"/>
                <a:cs typeface="Times New Roman"/>
              </a:rPr>
              <a:t>Proteínas totales y albúmina</a:t>
            </a:r>
            <a:endParaRPr lang="en-US" sz="20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2000" dirty="0">
                <a:solidFill>
                  <a:srgbClr val="000000"/>
                </a:solidFill>
                <a:latin typeface="Arial"/>
                <a:ea typeface="Calibri"/>
                <a:cs typeface="Times New Roman"/>
              </a:rPr>
              <a:t>Electrolitos séricos</a:t>
            </a:r>
            <a:endParaRPr lang="en-US" sz="20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2000" dirty="0">
                <a:solidFill>
                  <a:srgbClr val="000000"/>
                </a:solidFill>
                <a:latin typeface="Arial"/>
                <a:ea typeface="Calibri"/>
                <a:cs typeface="Times New Roman"/>
              </a:rPr>
              <a:t>Perfil lipídico</a:t>
            </a:r>
            <a:endParaRPr lang="en-US" sz="20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2000" dirty="0">
                <a:solidFill>
                  <a:srgbClr val="000000"/>
                </a:solidFill>
                <a:latin typeface="Arial"/>
                <a:ea typeface="Calibri"/>
                <a:cs typeface="Times New Roman"/>
              </a:rPr>
              <a:t>Pruebas tiroideas</a:t>
            </a:r>
            <a:endParaRPr lang="en-US" sz="2000" dirty="0">
              <a:latin typeface="Calibri"/>
              <a:ea typeface="Calibri"/>
              <a:cs typeface="Times New Roman"/>
            </a:endParaRPr>
          </a:p>
          <a:p>
            <a:pPr marL="342900" marR="0" lvl="0" indent="-342900" algn="just">
              <a:lnSpc>
                <a:spcPct val="150000"/>
              </a:lnSpc>
              <a:spcBef>
                <a:spcPts val="0"/>
              </a:spcBef>
              <a:spcAft>
                <a:spcPts val="0"/>
              </a:spcAft>
              <a:buFont typeface="Symbol"/>
              <a:buChar char=""/>
            </a:pPr>
            <a:r>
              <a:rPr lang="es-ES" sz="2000" dirty="0">
                <a:solidFill>
                  <a:srgbClr val="000000"/>
                </a:solidFill>
                <a:latin typeface="Arial"/>
                <a:ea typeface="Calibri"/>
                <a:cs typeface="Times New Roman"/>
              </a:rPr>
              <a:t>Hierro sérico</a:t>
            </a:r>
            <a:endParaRPr lang="en-US" sz="2000" dirty="0">
              <a:latin typeface="Calibri"/>
              <a:ea typeface="Calibri"/>
              <a:cs typeface="Times New Roman"/>
            </a:endParaRPr>
          </a:p>
          <a:p>
            <a:endParaRPr lang="en-US" dirty="0"/>
          </a:p>
        </p:txBody>
      </p:sp>
    </p:spTree>
    <p:extLst>
      <p:ext uri="{BB962C8B-B14F-4D97-AF65-F5344CB8AC3E}">
        <p14:creationId xmlns:p14="http://schemas.microsoft.com/office/powerpoint/2010/main" val="22363230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09601" y="1066800"/>
            <a:ext cx="7670800" cy="5059363"/>
          </a:xfrm>
        </p:spPr>
        <p:txBody>
          <a:bodyPr>
            <a:normAutofit fontScale="85000" lnSpcReduction="10000"/>
          </a:bodyPr>
          <a:lstStyle/>
          <a:p>
            <a:pPr marL="0" marR="0" algn="just">
              <a:lnSpc>
                <a:spcPct val="150000"/>
              </a:lnSpc>
              <a:spcBef>
                <a:spcPts val="0"/>
              </a:spcBef>
              <a:spcAft>
                <a:spcPts val="0"/>
              </a:spcAft>
            </a:pPr>
            <a:r>
              <a:rPr lang="es-ES" b="1" dirty="0">
                <a:solidFill>
                  <a:srgbClr val="000000"/>
                </a:solidFill>
                <a:latin typeface="Arial"/>
                <a:ea typeface="Calibri"/>
              </a:rPr>
              <a:t>a)</a:t>
            </a:r>
            <a:r>
              <a:rPr lang="es-ES" dirty="0">
                <a:solidFill>
                  <a:srgbClr val="000000"/>
                </a:solidFill>
                <a:latin typeface="Arial"/>
                <a:ea typeface="Calibri"/>
              </a:rPr>
              <a:t> </a:t>
            </a:r>
            <a:r>
              <a:rPr lang="es-ES" b="1" dirty="0" smtClean="0">
                <a:solidFill>
                  <a:srgbClr val="000000"/>
                </a:solidFill>
                <a:latin typeface="Arial"/>
                <a:ea typeface="Calibri"/>
              </a:rPr>
              <a:t>Energía</a:t>
            </a:r>
            <a:r>
              <a:rPr lang="es-ES" dirty="0" smtClean="0">
                <a:solidFill>
                  <a:srgbClr val="000000"/>
                </a:solidFill>
                <a:latin typeface="Arial"/>
                <a:ea typeface="Calibri"/>
              </a:rPr>
              <a:t>: </a:t>
            </a:r>
            <a:r>
              <a:rPr lang="es-ES" dirty="0" smtClean="0">
                <a:solidFill>
                  <a:srgbClr val="000000"/>
                </a:solidFill>
                <a:latin typeface="Arial"/>
                <a:ea typeface="Calibri"/>
                <a:cs typeface="Times New Roman"/>
              </a:rPr>
              <a:t>cantidades </a:t>
            </a:r>
            <a:r>
              <a:rPr lang="es-ES" dirty="0">
                <a:solidFill>
                  <a:srgbClr val="000000"/>
                </a:solidFill>
                <a:latin typeface="Arial"/>
                <a:ea typeface="Calibri"/>
                <a:cs typeface="Times New Roman"/>
              </a:rPr>
              <a:t>adecuadas de proteínas, calcio, hierro y </a:t>
            </a:r>
            <a:r>
              <a:rPr lang="es-ES" dirty="0" smtClean="0">
                <a:solidFill>
                  <a:srgbClr val="000000"/>
                </a:solidFill>
                <a:latin typeface="Arial"/>
                <a:ea typeface="Calibri"/>
                <a:cs typeface="Times New Roman"/>
              </a:rPr>
              <a:t>vitaminas: Cantidades de </a:t>
            </a:r>
            <a:r>
              <a:rPr lang="es-ES" dirty="0">
                <a:solidFill>
                  <a:srgbClr val="000000"/>
                </a:solidFill>
                <a:latin typeface="Arial"/>
                <a:ea typeface="Calibri"/>
                <a:cs typeface="Times New Roman"/>
              </a:rPr>
              <a:t>quinua, avena</a:t>
            </a:r>
            <a:r>
              <a:rPr lang="es-ES" dirty="0" smtClean="0">
                <a:solidFill>
                  <a:srgbClr val="000000"/>
                </a:solidFill>
                <a:latin typeface="Arial"/>
                <a:ea typeface="Calibri"/>
                <a:cs typeface="Times New Roman"/>
              </a:rPr>
              <a:t>, etc. </a:t>
            </a:r>
            <a:endParaRPr lang="en-US" dirty="0">
              <a:latin typeface="Calibri"/>
              <a:ea typeface="Calibri"/>
              <a:cs typeface="Times New Roman"/>
            </a:endParaRPr>
          </a:p>
          <a:p>
            <a:pPr marL="0" marR="0" algn="just">
              <a:lnSpc>
                <a:spcPct val="150000"/>
              </a:lnSpc>
              <a:spcBef>
                <a:spcPts val="0"/>
              </a:spcBef>
              <a:spcAft>
                <a:spcPts val="0"/>
              </a:spcAft>
            </a:pPr>
            <a:r>
              <a:rPr lang="es-ES" dirty="0">
                <a:solidFill>
                  <a:srgbClr val="000000"/>
                </a:solidFill>
                <a:latin typeface="Arial"/>
                <a:ea typeface="Calibri"/>
                <a:cs typeface="Times New Roman"/>
              </a:rPr>
              <a:t>Aceite preferible crudo añadido a las sopas o ensaladas.</a:t>
            </a:r>
            <a:endParaRPr lang="en-US" dirty="0">
              <a:latin typeface="Calibri"/>
              <a:ea typeface="Calibri"/>
              <a:cs typeface="Times New Roman"/>
            </a:endParaRPr>
          </a:p>
          <a:p>
            <a:pPr marL="0" marR="0" algn="just">
              <a:lnSpc>
                <a:spcPct val="150000"/>
              </a:lnSpc>
              <a:spcBef>
                <a:spcPts val="0"/>
              </a:spcBef>
              <a:spcAft>
                <a:spcPts val="0"/>
              </a:spcAft>
            </a:pPr>
            <a:r>
              <a:rPr lang="es-ES" dirty="0">
                <a:solidFill>
                  <a:srgbClr val="000000"/>
                </a:solidFill>
                <a:latin typeface="Arial"/>
                <a:ea typeface="Calibri"/>
                <a:cs typeface="Times New Roman"/>
              </a:rPr>
              <a:t>Utilizar miel de preferencia como endulzante.</a:t>
            </a:r>
            <a:endParaRPr lang="en-US" dirty="0">
              <a:latin typeface="Calibri"/>
              <a:ea typeface="Calibri"/>
              <a:cs typeface="Times New Roman"/>
            </a:endParaRPr>
          </a:p>
          <a:p>
            <a:pPr marL="0" marR="0" algn="just">
              <a:lnSpc>
                <a:spcPct val="150000"/>
              </a:lnSpc>
              <a:spcBef>
                <a:spcPts val="0"/>
              </a:spcBef>
              <a:spcAft>
                <a:spcPts val="0"/>
              </a:spcAft>
            </a:pPr>
            <a:r>
              <a:rPr lang="es-ES" b="1" dirty="0">
                <a:solidFill>
                  <a:srgbClr val="000000"/>
                </a:solidFill>
                <a:latin typeface="Arial"/>
                <a:ea typeface="Calibri"/>
                <a:cs typeface="Times New Roman"/>
              </a:rPr>
              <a:t>b)</a:t>
            </a:r>
            <a:r>
              <a:rPr lang="es-ES" dirty="0">
                <a:solidFill>
                  <a:srgbClr val="000000"/>
                </a:solidFill>
                <a:latin typeface="Arial"/>
                <a:ea typeface="Calibri"/>
                <a:cs typeface="Times New Roman"/>
              </a:rPr>
              <a:t> </a:t>
            </a:r>
            <a:r>
              <a:rPr lang="es-ES" b="1" dirty="0" smtClean="0">
                <a:solidFill>
                  <a:srgbClr val="000000"/>
                </a:solidFill>
                <a:latin typeface="Arial"/>
                <a:ea typeface="Calibri"/>
                <a:cs typeface="Times New Roman"/>
              </a:rPr>
              <a:t>Proteínas</a:t>
            </a:r>
            <a:r>
              <a:rPr lang="es-ES" dirty="0" smtClean="0">
                <a:solidFill>
                  <a:srgbClr val="000000"/>
                </a:solidFill>
                <a:latin typeface="Arial"/>
                <a:ea typeface="Calibri"/>
                <a:cs typeface="Times New Roman"/>
              </a:rPr>
              <a:t>: Carne </a:t>
            </a:r>
            <a:r>
              <a:rPr lang="es-ES" dirty="0">
                <a:solidFill>
                  <a:srgbClr val="000000"/>
                </a:solidFill>
                <a:latin typeface="Arial"/>
                <a:ea typeface="Calibri"/>
                <a:cs typeface="Times New Roman"/>
              </a:rPr>
              <a:t>de pescado, pollo, res, vísceras como </a:t>
            </a:r>
            <a:r>
              <a:rPr lang="es-ES" dirty="0" smtClean="0">
                <a:solidFill>
                  <a:srgbClr val="000000"/>
                </a:solidFill>
                <a:latin typeface="Arial"/>
                <a:ea typeface="Calibri"/>
                <a:cs typeface="Times New Roman"/>
              </a:rPr>
              <a:t>hígado, leche, </a:t>
            </a:r>
            <a:r>
              <a:rPr lang="es-ES" dirty="0">
                <a:solidFill>
                  <a:srgbClr val="000000"/>
                </a:solidFill>
                <a:latin typeface="Arial"/>
                <a:ea typeface="Calibri"/>
                <a:cs typeface="Times New Roman"/>
              </a:rPr>
              <a:t>huevo, queso, yogurt</a:t>
            </a:r>
            <a:r>
              <a:rPr lang="es-ES" dirty="0" smtClean="0">
                <a:solidFill>
                  <a:srgbClr val="000000"/>
                </a:solidFill>
                <a:latin typeface="Arial"/>
                <a:ea typeface="Calibri"/>
                <a:cs typeface="Times New Roman"/>
              </a:rPr>
              <a:t>.</a:t>
            </a:r>
          </a:p>
          <a:p>
            <a:pPr marL="0" marR="0" algn="just">
              <a:lnSpc>
                <a:spcPct val="150000"/>
              </a:lnSpc>
              <a:spcBef>
                <a:spcPts val="0"/>
              </a:spcBef>
              <a:spcAft>
                <a:spcPts val="0"/>
              </a:spcAft>
            </a:pPr>
            <a:r>
              <a:rPr lang="es-ES" b="1" dirty="0">
                <a:solidFill>
                  <a:srgbClr val="000000"/>
                </a:solidFill>
                <a:latin typeface="Arial"/>
                <a:ea typeface="Calibri"/>
                <a:cs typeface="Times New Roman"/>
              </a:rPr>
              <a:t>c) Carbohidratos</a:t>
            </a:r>
            <a:r>
              <a:rPr lang="es-ES" dirty="0">
                <a:solidFill>
                  <a:srgbClr val="000000"/>
                </a:solidFill>
                <a:latin typeface="Arial"/>
                <a:ea typeface="Calibri"/>
                <a:cs typeface="Times New Roman"/>
              </a:rPr>
              <a:t> </a:t>
            </a:r>
            <a:r>
              <a:rPr lang="es-ES" dirty="0" smtClean="0">
                <a:solidFill>
                  <a:srgbClr val="000000"/>
                </a:solidFill>
                <a:latin typeface="Arial"/>
                <a:ea typeface="Calibri"/>
                <a:cs typeface="Times New Roman"/>
              </a:rPr>
              <a:t>Se </a:t>
            </a:r>
            <a:r>
              <a:rPr lang="es-ES" dirty="0">
                <a:solidFill>
                  <a:srgbClr val="000000"/>
                </a:solidFill>
                <a:latin typeface="Arial"/>
                <a:ea typeface="Calibri"/>
                <a:cs typeface="Times New Roman"/>
              </a:rPr>
              <a:t>recomienda 55% de carbohidratos del total de requerimiento energético</a:t>
            </a:r>
            <a:r>
              <a:rPr lang="es-ES" dirty="0" smtClean="0">
                <a:solidFill>
                  <a:srgbClr val="000000"/>
                </a:solidFill>
                <a:latin typeface="Arial"/>
                <a:ea typeface="Calibri"/>
                <a:cs typeface="Times New Roman"/>
              </a:rPr>
              <a:t>. </a:t>
            </a:r>
            <a:r>
              <a:rPr lang="es-ES" dirty="0" smtClean="0">
                <a:solidFill>
                  <a:srgbClr val="000000"/>
                </a:solidFill>
                <a:latin typeface="Arial"/>
                <a:ea typeface="Calibri"/>
              </a:rPr>
              <a:t>Dieta </a:t>
            </a:r>
            <a:r>
              <a:rPr lang="es-ES" dirty="0">
                <a:solidFill>
                  <a:srgbClr val="000000"/>
                </a:solidFill>
                <a:latin typeface="Arial"/>
                <a:ea typeface="Calibri"/>
              </a:rPr>
              <a:t>proveniente de frutas y verduras crudas</a:t>
            </a:r>
            <a:endParaRPr lang="en-US" dirty="0">
              <a:latin typeface="Calibri"/>
              <a:ea typeface="Calibri"/>
              <a:cs typeface="Times New Roman"/>
            </a:endParaRPr>
          </a:p>
          <a:p>
            <a:pPr marL="0" marR="0" algn="just">
              <a:lnSpc>
                <a:spcPct val="150000"/>
              </a:lnSpc>
              <a:spcBef>
                <a:spcPts val="0"/>
              </a:spcBef>
              <a:spcAft>
                <a:spcPts val="0"/>
              </a:spcAft>
            </a:pPr>
            <a:r>
              <a:rPr lang="es-ES" b="1" dirty="0">
                <a:solidFill>
                  <a:srgbClr val="000000"/>
                </a:solidFill>
                <a:latin typeface="Arial"/>
                <a:ea typeface="Calibri"/>
              </a:rPr>
              <a:t>d)</a:t>
            </a:r>
            <a:r>
              <a:rPr lang="es-ES" dirty="0">
                <a:solidFill>
                  <a:srgbClr val="000000"/>
                </a:solidFill>
                <a:latin typeface="Arial"/>
                <a:ea typeface="Calibri"/>
              </a:rPr>
              <a:t> </a:t>
            </a:r>
            <a:r>
              <a:rPr lang="es-ES" b="1" dirty="0" smtClean="0">
                <a:solidFill>
                  <a:srgbClr val="000000"/>
                </a:solidFill>
                <a:latin typeface="Arial"/>
                <a:ea typeface="Calibri"/>
              </a:rPr>
              <a:t>Grasas </a:t>
            </a:r>
            <a:r>
              <a:rPr lang="es-ES" dirty="0" smtClean="0">
                <a:solidFill>
                  <a:srgbClr val="000000"/>
                </a:solidFill>
                <a:latin typeface="Arial"/>
                <a:ea typeface="Calibri"/>
                <a:cs typeface="Times New Roman"/>
              </a:rPr>
              <a:t>El </a:t>
            </a:r>
            <a:r>
              <a:rPr lang="es-ES" dirty="0">
                <a:solidFill>
                  <a:srgbClr val="000000"/>
                </a:solidFill>
                <a:latin typeface="Arial"/>
                <a:ea typeface="Calibri"/>
                <a:cs typeface="Times New Roman"/>
              </a:rPr>
              <a:t>requerimiento es de 30% del valor calórico total.</a:t>
            </a:r>
            <a:endParaRPr lang="en-US" dirty="0">
              <a:latin typeface="Calibri"/>
              <a:ea typeface="Calibri"/>
              <a:cs typeface="Times New Roman"/>
            </a:endParaRPr>
          </a:p>
          <a:p>
            <a:pPr marL="0" lvl="0" indent="0">
              <a:buClr>
                <a:srgbClr val="31B6FD"/>
              </a:buClr>
              <a:buNone/>
            </a:pPr>
            <a:r>
              <a:rPr lang="es-ES" b="1" dirty="0" smtClean="0">
                <a:solidFill>
                  <a:srgbClr val="000000"/>
                </a:solidFill>
                <a:latin typeface="Arial"/>
                <a:ea typeface="Calibri"/>
              </a:rPr>
              <a:t> </a:t>
            </a:r>
            <a:r>
              <a:rPr lang="es-ES" dirty="0" smtClean="0">
                <a:solidFill>
                  <a:srgbClr val="000000"/>
                </a:solidFill>
                <a:latin typeface="Arial"/>
                <a:ea typeface="Calibri"/>
              </a:rPr>
              <a:t>la </a:t>
            </a:r>
            <a:r>
              <a:rPr lang="es-ES" dirty="0">
                <a:solidFill>
                  <a:srgbClr val="000000"/>
                </a:solidFill>
                <a:latin typeface="Arial"/>
                <a:ea typeface="Calibri"/>
              </a:rPr>
              <a:t>carne de cordero, cerdo y embutidos. </a:t>
            </a:r>
            <a:endParaRPr lang="en-US" dirty="0">
              <a:solidFill>
                <a:srgbClr val="073E87"/>
              </a:solidFill>
            </a:endParaRPr>
          </a:p>
        </p:txBody>
      </p:sp>
      <p:sp>
        <p:nvSpPr>
          <p:cNvPr id="3" name="2 Título"/>
          <p:cNvSpPr>
            <a:spLocks noGrp="1"/>
          </p:cNvSpPr>
          <p:nvPr>
            <p:ph type="title"/>
          </p:nvPr>
        </p:nvSpPr>
        <p:spPr>
          <a:xfrm>
            <a:off x="457200" y="338328"/>
            <a:ext cx="8229600" cy="652272"/>
          </a:xfrm>
        </p:spPr>
        <p:txBody>
          <a:bodyPr>
            <a:normAutofit/>
          </a:bodyPr>
          <a:lstStyle/>
          <a:p>
            <a:pPr marL="0" marR="0" algn="just">
              <a:lnSpc>
                <a:spcPct val="150000"/>
              </a:lnSpc>
              <a:spcBef>
                <a:spcPts val="0"/>
              </a:spcBef>
              <a:spcAft>
                <a:spcPts val="0"/>
              </a:spcAft>
            </a:pPr>
            <a:r>
              <a:rPr lang="es-ES" sz="2400" b="1" dirty="0">
                <a:solidFill>
                  <a:srgbClr val="000000"/>
                </a:solidFill>
                <a:latin typeface="Arial"/>
                <a:ea typeface="Calibri"/>
                <a:cs typeface="Times New Roman"/>
              </a:rPr>
              <a:t>REQUERIMIENTOS </a:t>
            </a:r>
            <a:r>
              <a:rPr lang="es-ES" sz="2400" b="1" dirty="0" smtClean="0">
                <a:solidFill>
                  <a:srgbClr val="000000"/>
                </a:solidFill>
                <a:latin typeface="Arial"/>
                <a:ea typeface="Calibri"/>
                <a:cs typeface="Times New Roman"/>
              </a:rPr>
              <a:t>NUTRICIONALES</a:t>
            </a:r>
            <a:endParaRPr lang="en-US" sz="2400" dirty="0"/>
          </a:p>
        </p:txBody>
      </p:sp>
    </p:spTree>
    <p:extLst>
      <p:ext uri="{BB962C8B-B14F-4D97-AF65-F5344CB8AC3E}">
        <p14:creationId xmlns:p14="http://schemas.microsoft.com/office/powerpoint/2010/main" val="37606395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85801" y="762000"/>
            <a:ext cx="7594600" cy="5364163"/>
          </a:xfrm>
        </p:spPr>
        <p:txBody>
          <a:bodyPr>
            <a:normAutofit fontScale="85000" lnSpcReduction="10000"/>
          </a:bodyPr>
          <a:lstStyle/>
          <a:p>
            <a:pPr marL="0" marR="0" algn="just">
              <a:lnSpc>
                <a:spcPct val="150000"/>
              </a:lnSpc>
              <a:spcBef>
                <a:spcPts val="0"/>
              </a:spcBef>
              <a:spcAft>
                <a:spcPts val="0"/>
              </a:spcAft>
            </a:pPr>
            <a:r>
              <a:rPr lang="es-ES" b="1" dirty="0">
                <a:solidFill>
                  <a:srgbClr val="000000"/>
                </a:solidFill>
                <a:latin typeface="Arial"/>
                <a:ea typeface="Calibri"/>
                <a:cs typeface="Times New Roman"/>
              </a:rPr>
              <a:t>e)</a:t>
            </a:r>
            <a:r>
              <a:rPr lang="es-ES" dirty="0">
                <a:solidFill>
                  <a:srgbClr val="000000"/>
                </a:solidFill>
                <a:latin typeface="Arial"/>
                <a:ea typeface="Calibri"/>
                <a:cs typeface="Times New Roman"/>
              </a:rPr>
              <a:t> </a:t>
            </a:r>
            <a:r>
              <a:rPr lang="es-ES" b="1" dirty="0">
                <a:solidFill>
                  <a:srgbClr val="000000"/>
                </a:solidFill>
                <a:latin typeface="Arial"/>
                <a:ea typeface="Calibri"/>
                <a:cs typeface="Times New Roman"/>
              </a:rPr>
              <a:t>Minerales</a:t>
            </a:r>
            <a:r>
              <a:rPr lang="es-ES" dirty="0">
                <a:solidFill>
                  <a:srgbClr val="000000"/>
                </a:solidFill>
                <a:latin typeface="Arial"/>
                <a:ea typeface="Calibri"/>
                <a:cs typeface="Times New Roman"/>
              </a:rPr>
              <a:t> </a:t>
            </a:r>
            <a:r>
              <a:rPr lang="es-ES" dirty="0" smtClean="0">
                <a:solidFill>
                  <a:srgbClr val="000000"/>
                </a:solidFill>
                <a:latin typeface="Arial"/>
                <a:ea typeface="Calibri"/>
                <a:cs typeface="Times New Roman"/>
              </a:rPr>
              <a:t>La </a:t>
            </a:r>
            <a:r>
              <a:rPr lang="es-ES" dirty="0">
                <a:solidFill>
                  <a:srgbClr val="000000"/>
                </a:solidFill>
                <a:latin typeface="Arial"/>
                <a:ea typeface="Calibri"/>
                <a:cs typeface="Times New Roman"/>
              </a:rPr>
              <a:t>osteoporosis y la disminución de absorción de calcio sugieren un incremento en el consumo de este mineral. El calcio se encuentra en la leche, yogurt y queso.</a:t>
            </a:r>
            <a:endParaRPr lang="en-US" dirty="0">
              <a:latin typeface="Calibri"/>
              <a:ea typeface="Calibri"/>
              <a:cs typeface="Times New Roman"/>
            </a:endParaRPr>
          </a:p>
          <a:p>
            <a:pPr marL="0" marR="0" algn="just">
              <a:lnSpc>
                <a:spcPct val="150000"/>
              </a:lnSpc>
              <a:spcBef>
                <a:spcPts val="0"/>
              </a:spcBef>
              <a:spcAft>
                <a:spcPts val="0"/>
              </a:spcAft>
            </a:pPr>
            <a:r>
              <a:rPr lang="es-ES" dirty="0">
                <a:solidFill>
                  <a:srgbClr val="000000"/>
                </a:solidFill>
                <a:latin typeface="Arial"/>
                <a:ea typeface="Calibri"/>
                <a:cs typeface="Times New Roman"/>
              </a:rPr>
              <a:t>La anemia por falta de aporte y hierro puede relacionarse por pérdida de sangre del sistema </a:t>
            </a:r>
            <a:r>
              <a:rPr lang="es-ES" dirty="0" smtClean="0">
                <a:solidFill>
                  <a:srgbClr val="000000"/>
                </a:solidFill>
                <a:latin typeface="Arial"/>
                <a:ea typeface="Calibri"/>
                <a:cs typeface="Times New Roman"/>
              </a:rPr>
              <a:t>gastrointestinal.</a:t>
            </a:r>
            <a:endParaRPr lang="en-US" dirty="0">
              <a:latin typeface="Calibri"/>
              <a:ea typeface="Calibri"/>
              <a:cs typeface="Times New Roman"/>
            </a:endParaRPr>
          </a:p>
          <a:p>
            <a:pPr marL="0" marR="0" algn="just">
              <a:lnSpc>
                <a:spcPct val="150000"/>
              </a:lnSpc>
              <a:spcBef>
                <a:spcPts val="0"/>
              </a:spcBef>
              <a:spcAft>
                <a:spcPts val="0"/>
              </a:spcAft>
            </a:pPr>
            <a:r>
              <a:rPr lang="es-ES" dirty="0">
                <a:solidFill>
                  <a:srgbClr val="000000"/>
                </a:solidFill>
                <a:latin typeface="Arial"/>
                <a:ea typeface="Calibri"/>
                <a:cs typeface="Times New Roman"/>
              </a:rPr>
              <a:t>La deficiencia de zinc está relacionada con alteraciones de la función inmunológica, anorexia, cicatrización retardada de las heridas y presencia de ulceras por presión. Este mineral se halla en las carnes </a:t>
            </a:r>
            <a:r>
              <a:rPr lang="es-ES" dirty="0" smtClean="0">
                <a:solidFill>
                  <a:srgbClr val="000000"/>
                </a:solidFill>
                <a:latin typeface="Arial"/>
                <a:ea typeface="Calibri"/>
                <a:cs typeface="Times New Roman"/>
              </a:rPr>
              <a:t>rojas.</a:t>
            </a:r>
          </a:p>
          <a:p>
            <a:pPr marL="0" marR="0" algn="just">
              <a:lnSpc>
                <a:spcPct val="150000"/>
              </a:lnSpc>
              <a:spcBef>
                <a:spcPts val="0"/>
              </a:spcBef>
              <a:spcAft>
                <a:spcPts val="0"/>
              </a:spcAft>
            </a:pPr>
            <a:r>
              <a:rPr lang="es-ES" dirty="0">
                <a:solidFill>
                  <a:srgbClr val="000000"/>
                </a:solidFill>
                <a:latin typeface="Arial"/>
                <a:ea typeface="Calibri"/>
              </a:rPr>
              <a:t>La hipertensión arterial es frecuente en el Adulto Mayor, por lo que se debe reducir el consumo de alimentos que contienen sodio. </a:t>
            </a:r>
            <a:endParaRPr lang="en-US" dirty="0">
              <a:latin typeface="Calibri"/>
              <a:ea typeface="Calibri"/>
              <a:cs typeface="Times New Roman"/>
            </a:endParaRPr>
          </a:p>
        </p:txBody>
      </p:sp>
    </p:spTree>
    <p:extLst>
      <p:ext uri="{BB962C8B-B14F-4D97-AF65-F5344CB8AC3E}">
        <p14:creationId xmlns:p14="http://schemas.microsoft.com/office/powerpoint/2010/main" val="29782086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85801" y="685800"/>
            <a:ext cx="7772400" cy="5440363"/>
          </a:xfrm>
        </p:spPr>
        <p:txBody>
          <a:bodyPr>
            <a:normAutofit/>
          </a:bodyPr>
          <a:lstStyle/>
          <a:p>
            <a:pPr marL="0" marR="0" algn="just">
              <a:lnSpc>
                <a:spcPct val="150000"/>
              </a:lnSpc>
              <a:spcBef>
                <a:spcPts val="0"/>
              </a:spcBef>
              <a:spcAft>
                <a:spcPts val="0"/>
              </a:spcAft>
            </a:pPr>
            <a:r>
              <a:rPr lang="es-ES" sz="2000" b="1" dirty="0">
                <a:solidFill>
                  <a:srgbClr val="000000"/>
                </a:solidFill>
                <a:latin typeface="Arial"/>
                <a:ea typeface="Calibri"/>
                <a:cs typeface="Times New Roman"/>
              </a:rPr>
              <a:t>f)</a:t>
            </a:r>
            <a:r>
              <a:rPr lang="es-ES" sz="2000" dirty="0">
                <a:solidFill>
                  <a:srgbClr val="000000"/>
                </a:solidFill>
                <a:latin typeface="Arial"/>
                <a:ea typeface="Calibri"/>
                <a:cs typeface="Times New Roman"/>
              </a:rPr>
              <a:t> </a:t>
            </a:r>
            <a:r>
              <a:rPr lang="es-ES" sz="2000" b="1" dirty="0" smtClean="0">
                <a:solidFill>
                  <a:srgbClr val="000000"/>
                </a:solidFill>
                <a:latin typeface="Arial"/>
                <a:ea typeface="Calibri"/>
                <a:cs typeface="Times New Roman"/>
              </a:rPr>
              <a:t>Vitaminas</a:t>
            </a:r>
            <a:r>
              <a:rPr lang="es-ES" sz="2000" dirty="0" smtClean="0">
                <a:solidFill>
                  <a:srgbClr val="000000"/>
                </a:solidFill>
                <a:latin typeface="Arial"/>
                <a:ea typeface="Calibri"/>
                <a:cs typeface="Times New Roman"/>
              </a:rPr>
              <a:t> se </a:t>
            </a:r>
            <a:r>
              <a:rPr lang="es-ES" sz="2000" dirty="0">
                <a:solidFill>
                  <a:srgbClr val="000000"/>
                </a:solidFill>
                <a:latin typeface="Arial"/>
                <a:ea typeface="Calibri"/>
                <a:cs typeface="Times New Roman"/>
              </a:rPr>
              <a:t>mantienen los niveles plasmáticos adecuados de </a:t>
            </a:r>
            <a:r>
              <a:rPr lang="es-ES" sz="2000" dirty="0" err="1">
                <a:solidFill>
                  <a:srgbClr val="000000"/>
                </a:solidFill>
                <a:latin typeface="Arial"/>
                <a:ea typeface="Calibri"/>
                <a:cs typeface="Times New Roman"/>
              </a:rPr>
              <a:t>retinol</a:t>
            </a:r>
            <a:r>
              <a:rPr lang="es-ES" sz="2000" dirty="0">
                <a:solidFill>
                  <a:srgbClr val="000000"/>
                </a:solidFill>
                <a:latin typeface="Arial"/>
                <a:ea typeface="Calibri"/>
                <a:cs typeface="Times New Roman"/>
              </a:rPr>
              <a:t> </a:t>
            </a:r>
            <a:r>
              <a:rPr lang="es-ES" sz="2000" dirty="0" err="1">
                <a:solidFill>
                  <a:srgbClr val="000000"/>
                </a:solidFill>
                <a:latin typeface="Arial"/>
                <a:ea typeface="Calibri"/>
                <a:cs typeface="Times New Roman"/>
              </a:rPr>
              <a:t>serico</a:t>
            </a:r>
            <a:r>
              <a:rPr lang="es-ES" sz="2000" dirty="0">
                <a:solidFill>
                  <a:srgbClr val="000000"/>
                </a:solidFill>
                <a:latin typeface="Arial"/>
                <a:ea typeface="Calibri"/>
                <a:cs typeface="Times New Roman"/>
              </a:rPr>
              <a:t> durante toda la </a:t>
            </a:r>
            <a:r>
              <a:rPr lang="es-ES" sz="2000" dirty="0" smtClean="0">
                <a:solidFill>
                  <a:srgbClr val="000000"/>
                </a:solidFill>
                <a:latin typeface="Arial"/>
                <a:ea typeface="Calibri"/>
                <a:cs typeface="Times New Roman"/>
              </a:rPr>
              <a:t>vida.</a:t>
            </a:r>
          </a:p>
          <a:p>
            <a:pPr marL="0" marR="0" algn="just">
              <a:lnSpc>
                <a:spcPct val="150000"/>
              </a:lnSpc>
              <a:spcBef>
                <a:spcPts val="0"/>
              </a:spcBef>
              <a:spcAft>
                <a:spcPts val="0"/>
              </a:spcAft>
            </a:pPr>
            <a:r>
              <a:rPr lang="es-ES" sz="2000" dirty="0" smtClean="0">
                <a:solidFill>
                  <a:srgbClr val="000000"/>
                </a:solidFill>
                <a:latin typeface="Arial"/>
                <a:ea typeface="Calibri"/>
                <a:cs typeface="Times New Roman"/>
              </a:rPr>
              <a:t>La </a:t>
            </a:r>
            <a:r>
              <a:rPr lang="es-ES" sz="2000" dirty="0">
                <a:solidFill>
                  <a:srgbClr val="000000"/>
                </a:solidFill>
                <a:latin typeface="Arial"/>
                <a:ea typeface="Calibri"/>
                <a:cs typeface="Times New Roman"/>
              </a:rPr>
              <a:t>exposición a la luz solar es un factor importante en el mantenimiento de niveles adecuados de vitamina D.</a:t>
            </a:r>
            <a:endParaRPr lang="en-US" sz="2000" dirty="0">
              <a:latin typeface="Calibri"/>
              <a:ea typeface="Calibri"/>
              <a:cs typeface="Times New Roman"/>
            </a:endParaRPr>
          </a:p>
          <a:p>
            <a:pPr marL="0" marR="0" algn="just">
              <a:lnSpc>
                <a:spcPct val="150000"/>
              </a:lnSpc>
              <a:spcBef>
                <a:spcPts val="0"/>
              </a:spcBef>
              <a:spcAft>
                <a:spcPts val="0"/>
              </a:spcAft>
            </a:pPr>
            <a:r>
              <a:rPr lang="es-ES" sz="2000" dirty="0">
                <a:solidFill>
                  <a:srgbClr val="000000"/>
                </a:solidFill>
                <a:latin typeface="Arial"/>
                <a:ea typeface="Calibri"/>
                <a:cs typeface="Times New Roman"/>
              </a:rPr>
              <a:t>La falta de vitamina D y calcio se relaciona con osteoporosis y osteomalacia.</a:t>
            </a:r>
            <a:endParaRPr lang="en-US" sz="2000" dirty="0">
              <a:latin typeface="Calibri"/>
              <a:ea typeface="Calibri"/>
              <a:cs typeface="Times New Roman"/>
            </a:endParaRPr>
          </a:p>
          <a:p>
            <a:pPr marL="0" marR="0" algn="just">
              <a:lnSpc>
                <a:spcPct val="150000"/>
              </a:lnSpc>
              <a:spcBef>
                <a:spcPts val="0"/>
              </a:spcBef>
              <a:spcAft>
                <a:spcPts val="0"/>
              </a:spcAft>
            </a:pPr>
            <a:r>
              <a:rPr lang="es-ES" sz="2000" b="1" dirty="0">
                <a:solidFill>
                  <a:srgbClr val="000000"/>
                </a:solidFill>
                <a:latin typeface="Arial"/>
                <a:ea typeface="Calibri"/>
                <a:cs typeface="Times New Roman"/>
              </a:rPr>
              <a:t>g) Agua</a:t>
            </a:r>
            <a:r>
              <a:rPr lang="es-ES" sz="2000" dirty="0">
                <a:solidFill>
                  <a:srgbClr val="000000"/>
                </a:solidFill>
                <a:latin typeface="Arial"/>
                <a:ea typeface="Calibri"/>
                <a:cs typeface="Times New Roman"/>
              </a:rPr>
              <a:t> </a:t>
            </a:r>
            <a:r>
              <a:rPr lang="es-ES" sz="2000" dirty="0" smtClean="0">
                <a:solidFill>
                  <a:srgbClr val="000000"/>
                </a:solidFill>
                <a:latin typeface="Arial"/>
                <a:ea typeface="Calibri"/>
                <a:cs typeface="Times New Roman"/>
              </a:rPr>
              <a:t>Los </a:t>
            </a:r>
            <a:r>
              <a:rPr lang="es-ES" sz="2000" dirty="0">
                <a:solidFill>
                  <a:srgbClr val="000000"/>
                </a:solidFill>
                <a:latin typeface="Arial"/>
                <a:ea typeface="Calibri"/>
                <a:cs typeface="Times New Roman"/>
              </a:rPr>
              <a:t>adultos mayores con incontinencia tienen mayor riesgo de deshidratación. Recomendación 30-35 ml/kilo peso ideal, equivalente a 8 vasos diarios</a:t>
            </a:r>
            <a:r>
              <a:rPr lang="es-ES" sz="2000" dirty="0" smtClean="0">
                <a:solidFill>
                  <a:srgbClr val="000000"/>
                </a:solidFill>
                <a:latin typeface="Arial"/>
                <a:ea typeface="Calibri"/>
                <a:cs typeface="Times New Roman"/>
              </a:rPr>
              <a:t>.</a:t>
            </a:r>
            <a:endParaRPr lang="en-US" sz="2000" dirty="0">
              <a:latin typeface="Calibri"/>
              <a:ea typeface="Calibri"/>
              <a:cs typeface="Times New Roman"/>
            </a:endParaRPr>
          </a:p>
        </p:txBody>
      </p:sp>
    </p:spTree>
    <p:extLst>
      <p:ext uri="{BB962C8B-B14F-4D97-AF65-F5344CB8AC3E}">
        <p14:creationId xmlns:p14="http://schemas.microsoft.com/office/powerpoint/2010/main" val="277541602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381000" y="533400"/>
            <a:ext cx="8077199" cy="5715000"/>
          </a:xfrm>
        </p:spPr>
        <p:txBody>
          <a:bodyPr>
            <a:normAutofit fontScale="55000" lnSpcReduction="20000"/>
          </a:bodyPr>
          <a:lstStyle/>
          <a:p>
            <a:pPr marL="0" marR="0" algn="just">
              <a:lnSpc>
                <a:spcPct val="150000"/>
              </a:lnSpc>
              <a:spcBef>
                <a:spcPts val="0"/>
              </a:spcBef>
              <a:spcAft>
                <a:spcPts val="0"/>
              </a:spcAft>
            </a:pPr>
            <a:r>
              <a:rPr lang="es-ES" sz="2900" b="1" dirty="0">
                <a:solidFill>
                  <a:schemeClr val="tx1"/>
                </a:solidFill>
                <a:latin typeface="Arial"/>
                <a:ea typeface="Calibri"/>
                <a:cs typeface="Times New Roman"/>
              </a:rPr>
              <a:t>TRATAMIENTO DIETOTERÁPIA</a:t>
            </a:r>
            <a:endParaRPr lang="en-US" sz="2900" dirty="0">
              <a:solidFill>
                <a:schemeClr val="tx1"/>
              </a:solidFill>
              <a:latin typeface="Calibri"/>
              <a:ea typeface="Calibri"/>
              <a:cs typeface="Times New Roman"/>
            </a:endParaRPr>
          </a:p>
          <a:p>
            <a:pPr marL="0" marR="0" algn="just">
              <a:lnSpc>
                <a:spcPct val="150000"/>
              </a:lnSpc>
              <a:spcBef>
                <a:spcPts val="0"/>
              </a:spcBef>
              <a:spcAft>
                <a:spcPts val="0"/>
              </a:spcAft>
            </a:pPr>
            <a:r>
              <a:rPr lang="es-ES" sz="2900" b="1" dirty="0">
                <a:solidFill>
                  <a:schemeClr val="tx1"/>
                </a:solidFill>
                <a:latin typeface="Arial"/>
                <a:ea typeface="Calibri"/>
                <a:cs typeface="Times New Roman"/>
              </a:rPr>
              <a:t>En</a:t>
            </a:r>
            <a:r>
              <a:rPr lang="es-ES" sz="2900" b="1" dirty="0">
                <a:solidFill>
                  <a:srgbClr val="000000"/>
                </a:solidFill>
                <a:latin typeface="Arial"/>
                <a:ea typeface="Calibri"/>
                <a:cs typeface="Times New Roman"/>
              </a:rPr>
              <a:t> el primer nivel</a:t>
            </a:r>
            <a:endParaRPr lang="en-US" sz="2900" dirty="0">
              <a:latin typeface="Calibri"/>
              <a:ea typeface="Calibri"/>
              <a:cs typeface="Times New Roman"/>
            </a:endParaRPr>
          </a:p>
          <a:p>
            <a:pPr marL="0" marR="0" algn="just">
              <a:lnSpc>
                <a:spcPct val="150000"/>
              </a:lnSpc>
              <a:spcBef>
                <a:spcPts val="0"/>
              </a:spcBef>
              <a:spcAft>
                <a:spcPts val="0"/>
              </a:spcAft>
            </a:pPr>
            <a:r>
              <a:rPr lang="es-ES" sz="2900" dirty="0">
                <a:solidFill>
                  <a:srgbClr val="000000"/>
                </a:solidFill>
                <a:latin typeface="Arial"/>
                <a:ea typeface="Calibri"/>
                <a:cs typeface="Times New Roman"/>
              </a:rPr>
              <a:t>• Evaluación nutricional según IMC.</a:t>
            </a:r>
            <a:endParaRPr lang="en-US" sz="2900" dirty="0">
              <a:latin typeface="Calibri"/>
              <a:ea typeface="Calibri"/>
              <a:cs typeface="Times New Roman"/>
            </a:endParaRPr>
          </a:p>
          <a:p>
            <a:pPr marL="0" marR="0" algn="just">
              <a:lnSpc>
                <a:spcPct val="150000"/>
              </a:lnSpc>
              <a:spcBef>
                <a:spcPts val="0"/>
              </a:spcBef>
              <a:spcAft>
                <a:spcPts val="0"/>
              </a:spcAft>
            </a:pPr>
            <a:r>
              <a:rPr lang="es-ES" sz="2900" dirty="0">
                <a:solidFill>
                  <a:srgbClr val="000000"/>
                </a:solidFill>
                <a:latin typeface="Arial"/>
                <a:ea typeface="Calibri"/>
                <a:cs typeface="Times New Roman"/>
              </a:rPr>
              <a:t>• Realizar anamnesis alimentaria.</a:t>
            </a:r>
            <a:endParaRPr lang="en-US" sz="2900" dirty="0">
              <a:latin typeface="Calibri"/>
              <a:ea typeface="Calibri"/>
              <a:cs typeface="Times New Roman"/>
            </a:endParaRPr>
          </a:p>
          <a:p>
            <a:pPr marL="0" marR="0" algn="just">
              <a:lnSpc>
                <a:spcPct val="150000"/>
              </a:lnSpc>
              <a:spcBef>
                <a:spcPts val="0"/>
              </a:spcBef>
              <a:spcAft>
                <a:spcPts val="0"/>
              </a:spcAft>
            </a:pPr>
            <a:r>
              <a:rPr lang="es-ES" sz="2900" dirty="0">
                <a:solidFill>
                  <a:srgbClr val="000000"/>
                </a:solidFill>
                <a:latin typeface="Arial"/>
                <a:ea typeface="Calibri"/>
                <a:cs typeface="Times New Roman"/>
              </a:rPr>
              <a:t>• Plan nutricional individual según hábitos alimentarios.</a:t>
            </a:r>
            <a:endParaRPr lang="en-US" sz="2900" dirty="0">
              <a:latin typeface="Calibri"/>
              <a:ea typeface="Calibri"/>
              <a:cs typeface="Times New Roman"/>
            </a:endParaRPr>
          </a:p>
          <a:p>
            <a:pPr marL="0" marR="0" algn="just">
              <a:lnSpc>
                <a:spcPct val="150000"/>
              </a:lnSpc>
              <a:spcBef>
                <a:spcPts val="0"/>
              </a:spcBef>
              <a:spcAft>
                <a:spcPts val="0"/>
              </a:spcAft>
            </a:pPr>
            <a:r>
              <a:rPr lang="es-ES" sz="2900" dirty="0">
                <a:solidFill>
                  <a:srgbClr val="000000"/>
                </a:solidFill>
                <a:latin typeface="Arial"/>
                <a:ea typeface="Calibri"/>
                <a:cs typeface="Times New Roman"/>
              </a:rPr>
              <a:t>En caso de desnutrición en los adultos mayores se debe iniciar una alimentación con alto contenido calórico, </a:t>
            </a:r>
            <a:r>
              <a:rPr lang="es-ES" sz="2900" dirty="0" smtClean="0">
                <a:solidFill>
                  <a:srgbClr val="000000"/>
                </a:solidFill>
                <a:latin typeface="Arial"/>
                <a:ea typeface="Calibri"/>
                <a:cs typeface="Times New Roman"/>
              </a:rPr>
              <a:t>proteico, </a:t>
            </a:r>
            <a:r>
              <a:rPr lang="es-ES" sz="2900" dirty="0">
                <a:solidFill>
                  <a:srgbClr val="000000"/>
                </a:solidFill>
                <a:latin typeface="Arial"/>
                <a:ea typeface="Calibri"/>
                <a:cs typeface="Times New Roman"/>
              </a:rPr>
              <a:t>con incremento de la frecuencia de 4 a 6 comidas día, </a:t>
            </a:r>
            <a:r>
              <a:rPr lang="es-ES" sz="2900" dirty="0" smtClean="0">
                <a:solidFill>
                  <a:srgbClr val="000000"/>
                </a:solidFill>
                <a:latin typeface="Arial"/>
                <a:ea typeface="Calibri"/>
                <a:cs typeface="Times New Roman"/>
              </a:rPr>
              <a:t>consistencia </a:t>
            </a:r>
            <a:r>
              <a:rPr lang="es-ES" sz="2900" dirty="0">
                <a:solidFill>
                  <a:srgbClr val="000000"/>
                </a:solidFill>
                <a:latin typeface="Arial"/>
                <a:ea typeface="Calibri"/>
                <a:cs typeface="Times New Roman"/>
              </a:rPr>
              <a:t>semilíquida o papilla, temperatura templada para evitar el retardo de la evacuación gástrica, volumen disminuido. </a:t>
            </a:r>
            <a:endParaRPr lang="en-US" sz="2900" dirty="0">
              <a:latin typeface="Calibri"/>
              <a:ea typeface="Calibri"/>
              <a:cs typeface="Times New Roman"/>
            </a:endParaRPr>
          </a:p>
          <a:p>
            <a:pPr marL="0" marR="0" algn="just">
              <a:lnSpc>
                <a:spcPct val="150000"/>
              </a:lnSpc>
              <a:spcBef>
                <a:spcPts val="0"/>
              </a:spcBef>
              <a:spcAft>
                <a:spcPts val="0"/>
              </a:spcAft>
            </a:pPr>
            <a:r>
              <a:rPr lang="es-ES" sz="2900" b="1" dirty="0">
                <a:solidFill>
                  <a:srgbClr val="000000"/>
                </a:solidFill>
                <a:latin typeface="Arial"/>
                <a:ea typeface="Calibri"/>
                <a:cs typeface="Times New Roman"/>
              </a:rPr>
              <a:t>En segundo y tercer nivel</a:t>
            </a:r>
            <a:endParaRPr lang="en-US" sz="2900" dirty="0">
              <a:latin typeface="Calibri"/>
              <a:ea typeface="Calibri"/>
              <a:cs typeface="Times New Roman"/>
            </a:endParaRPr>
          </a:p>
          <a:p>
            <a:pPr marL="0" marR="0" algn="just">
              <a:lnSpc>
                <a:spcPct val="150000"/>
              </a:lnSpc>
              <a:spcBef>
                <a:spcPts val="0"/>
              </a:spcBef>
              <a:spcAft>
                <a:spcPts val="0"/>
              </a:spcAft>
            </a:pPr>
            <a:r>
              <a:rPr lang="es-ES" sz="2900" dirty="0">
                <a:solidFill>
                  <a:srgbClr val="000000"/>
                </a:solidFill>
                <a:latin typeface="Arial"/>
                <a:ea typeface="Calibri"/>
                <a:cs typeface="Times New Roman"/>
              </a:rPr>
              <a:t>• Realimentación progresiva de acuerdo a tolerancia, iniciar proteínas con 1 g/ kg/día, hasta llegar </a:t>
            </a:r>
            <a:r>
              <a:rPr lang="es-ES" sz="2900" dirty="0" smtClean="0">
                <a:solidFill>
                  <a:srgbClr val="000000"/>
                </a:solidFill>
                <a:latin typeface="Arial"/>
                <a:ea typeface="Calibri"/>
                <a:cs typeface="Times New Roman"/>
              </a:rPr>
              <a:t>a</a:t>
            </a:r>
            <a:r>
              <a:rPr lang="en-US" sz="2900" dirty="0">
                <a:latin typeface="Calibri"/>
                <a:ea typeface="Calibri"/>
                <a:cs typeface="Times New Roman"/>
              </a:rPr>
              <a:t> </a:t>
            </a:r>
            <a:r>
              <a:rPr lang="es-ES" sz="2900" dirty="0" smtClean="0">
                <a:solidFill>
                  <a:srgbClr val="000000"/>
                </a:solidFill>
                <a:latin typeface="Arial"/>
                <a:ea typeface="Calibri"/>
                <a:cs typeface="Times New Roman"/>
              </a:rPr>
              <a:t>1.5 </a:t>
            </a:r>
            <a:r>
              <a:rPr lang="es-ES" sz="2900" dirty="0">
                <a:solidFill>
                  <a:srgbClr val="000000"/>
                </a:solidFill>
                <a:latin typeface="Arial"/>
                <a:ea typeface="Calibri"/>
                <a:cs typeface="Times New Roman"/>
              </a:rPr>
              <a:t>g/kg/día y con 30 kcal/kg/ día hasta llegar a 45 kcal/kg/día de calorías</a:t>
            </a:r>
            <a:endParaRPr lang="en-US" sz="2900" dirty="0">
              <a:latin typeface="Calibri"/>
              <a:ea typeface="Calibri"/>
              <a:cs typeface="Times New Roman"/>
            </a:endParaRPr>
          </a:p>
          <a:p>
            <a:pPr marL="0" marR="0" algn="just">
              <a:lnSpc>
                <a:spcPct val="150000"/>
              </a:lnSpc>
              <a:spcBef>
                <a:spcPts val="0"/>
              </a:spcBef>
              <a:spcAft>
                <a:spcPts val="0"/>
              </a:spcAft>
            </a:pPr>
            <a:r>
              <a:rPr lang="es-ES" sz="2900" dirty="0">
                <a:solidFill>
                  <a:srgbClr val="000000"/>
                </a:solidFill>
                <a:latin typeface="Arial"/>
                <a:ea typeface="Calibri"/>
                <a:cs typeface="Times New Roman"/>
              </a:rPr>
              <a:t>• Vitaminas y minerales</a:t>
            </a:r>
            <a:endParaRPr lang="en-US" sz="2900" dirty="0">
              <a:latin typeface="Calibri"/>
              <a:ea typeface="Calibri"/>
              <a:cs typeface="Times New Roman"/>
            </a:endParaRPr>
          </a:p>
          <a:p>
            <a:pPr marL="0" marR="0" algn="just">
              <a:lnSpc>
                <a:spcPct val="150000"/>
              </a:lnSpc>
              <a:spcBef>
                <a:spcPts val="0"/>
              </a:spcBef>
              <a:spcAft>
                <a:spcPts val="0"/>
              </a:spcAft>
            </a:pPr>
            <a:r>
              <a:rPr lang="es-ES" sz="2900" dirty="0">
                <a:solidFill>
                  <a:srgbClr val="000000"/>
                </a:solidFill>
                <a:latin typeface="Arial"/>
                <a:ea typeface="Calibri"/>
                <a:cs typeface="Times New Roman"/>
              </a:rPr>
              <a:t>• Restricción moderada de sal</a:t>
            </a:r>
            <a:endParaRPr lang="en-US" sz="2900" dirty="0">
              <a:latin typeface="Calibri"/>
              <a:ea typeface="Calibri"/>
              <a:cs typeface="Times New Roman"/>
            </a:endParaRPr>
          </a:p>
          <a:p>
            <a:pPr marL="0" marR="0" algn="just">
              <a:lnSpc>
                <a:spcPct val="150000"/>
              </a:lnSpc>
              <a:spcBef>
                <a:spcPts val="0"/>
              </a:spcBef>
              <a:spcAft>
                <a:spcPts val="0"/>
              </a:spcAft>
            </a:pPr>
            <a:r>
              <a:rPr lang="es-ES" sz="2900" dirty="0">
                <a:solidFill>
                  <a:srgbClr val="000000"/>
                </a:solidFill>
                <a:latin typeface="Arial"/>
                <a:ea typeface="Calibri"/>
                <a:cs typeface="Times New Roman"/>
              </a:rPr>
              <a:t>• No usar diuréticos</a:t>
            </a:r>
            <a:endParaRPr lang="en-US" sz="2900" dirty="0">
              <a:latin typeface="Calibri"/>
              <a:ea typeface="Calibri"/>
              <a:cs typeface="Times New Roman"/>
            </a:endParaRPr>
          </a:p>
          <a:p>
            <a:r>
              <a:rPr lang="es-ES" sz="2900" dirty="0">
                <a:solidFill>
                  <a:srgbClr val="000000"/>
                </a:solidFill>
                <a:latin typeface="Arial"/>
                <a:ea typeface="Calibri"/>
              </a:rPr>
              <a:t>• En casos de intolerancia oral, nutrición enteral o </a:t>
            </a:r>
            <a:r>
              <a:rPr lang="es-ES" sz="2900" dirty="0" smtClean="0">
                <a:solidFill>
                  <a:srgbClr val="000000"/>
                </a:solidFill>
                <a:latin typeface="Arial"/>
                <a:ea typeface="Calibri"/>
              </a:rPr>
              <a:t>parenteral</a:t>
            </a:r>
            <a:endParaRPr lang="en-US" sz="2900" dirty="0"/>
          </a:p>
        </p:txBody>
      </p:sp>
    </p:spTree>
    <p:extLst>
      <p:ext uri="{BB962C8B-B14F-4D97-AF65-F5344CB8AC3E}">
        <p14:creationId xmlns:p14="http://schemas.microsoft.com/office/powerpoint/2010/main" val="40730560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1524000"/>
            <a:ext cx="7408333" cy="4876800"/>
          </a:xfrm>
        </p:spPr>
        <p:txBody>
          <a:bodyPr>
            <a:normAutofit lnSpcReduction="10000"/>
          </a:bodyPr>
          <a:lstStyle/>
          <a:p>
            <a:endParaRPr lang="es-ES" dirty="0" smtClean="0">
              <a:solidFill>
                <a:schemeClr val="tx1"/>
              </a:solidFill>
            </a:endParaRPr>
          </a:p>
          <a:p>
            <a:pPr marL="0" indent="0">
              <a:buNone/>
            </a:pPr>
            <a:endParaRPr lang="es-ES" dirty="0" smtClean="0">
              <a:solidFill>
                <a:schemeClr val="tx1"/>
              </a:solidFill>
            </a:endParaRPr>
          </a:p>
          <a:p>
            <a:pPr marL="0" indent="0">
              <a:buNone/>
            </a:pPr>
            <a:endParaRPr lang="es-ES" dirty="0">
              <a:solidFill>
                <a:schemeClr val="tx1"/>
              </a:solidFill>
            </a:endParaRPr>
          </a:p>
          <a:p>
            <a:r>
              <a:rPr lang="es-ES" dirty="0" smtClean="0">
                <a:solidFill>
                  <a:schemeClr val="tx1"/>
                </a:solidFill>
              </a:rPr>
              <a:t> </a:t>
            </a:r>
            <a:r>
              <a:rPr lang="es-ES" dirty="0">
                <a:solidFill>
                  <a:schemeClr val="tx1"/>
                </a:solidFill>
              </a:rPr>
              <a:t>Educación nutricional.</a:t>
            </a:r>
          </a:p>
          <a:p>
            <a:r>
              <a:rPr lang="es-ES" dirty="0" smtClean="0">
                <a:solidFill>
                  <a:schemeClr val="tx1"/>
                </a:solidFill>
              </a:rPr>
              <a:t> </a:t>
            </a:r>
            <a:r>
              <a:rPr lang="es-ES" dirty="0">
                <a:solidFill>
                  <a:schemeClr val="tx1"/>
                </a:solidFill>
              </a:rPr>
              <a:t>Consejo Dietético personalizado. El adulto mayor sano y con vida activa las recomendaciones serán similares a las del adulto joven.</a:t>
            </a:r>
          </a:p>
          <a:p>
            <a:r>
              <a:rPr lang="es-ES" dirty="0" smtClean="0">
                <a:solidFill>
                  <a:schemeClr val="tx1"/>
                </a:solidFill>
              </a:rPr>
              <a:t> </a:t>
            </a:r>
            <a:r>
              <a:rPr lang="es-ES" dirty="0">
                <a:solidFill>
                  <a:schemeClr val="tx1"/>
                </a:solidFill>
              </a:rPr>
              <a:t>Vigilancia periódica del peso.</a:t>
            </a:r>
          </a:p>
          <a:p>
            <a:r>
              <a:rPr lang="es-ES" dirty="0" smtClean="0">
                <a:solidFill>
                  <a:schemeClr val="tx1"/>
                </a:solidFill>
              </a:rPr>
              <a:t> </a:t>
            </a:r>
            <a:r>
              <a:rPr lang="es-ES" dirty="0">
                <a:solidFill>
                  <a:schemeClr val="tx1"/>
                </a:solidFill>
              </a:rPr>
              <a:t>Valorar el riesgo de desnutrición teniendo presentes los riesgos que pueden desencadenarla.</a:t>
            </a:r>
          </a:p>
          <a:p>
            <a:r>
              <a:rPr lang="es-ES" dirty="0" smtClean="0">
                <a:solidFill>
                  <a:schemeClr val="tx1"/>
                </a:solidFill>
              </a:rPr>
              <a:t> </a:t>
            </a:r>
            <a:r>
              <a:rPr lang="es-ES" dirty="0">
                <a:solidFill>
                  <a:schemeClr val="tx1"/>
                </a:solidFill>
              </a:rPr>
              <a:t>Están indicados los suplementos energéticos en caso de desnutrición manifiesta.</a:t>
            </a:r>
          </a:p>
          <a:p>
            <a:endParaRPr lang="en-US" dirty="0"/>
          </a:p>
        </p:txBody>
      </p:sp>
      <p:sp>
        <p:nvSpPr>
          <p:cNvPr id="3" name="2 Título"/>
          <p:cNvSpPr>
            <a:spLocks noGrp="1"/>
          </p:cNvSpPr>
          <p:nvPr>
            <p:ph type="title"/>
          </p:nvPr>
        </p:nvSpPr>
        <p:spPr>
          <a:xfrm rot="10800000" flipV="1">
            <a:off x="457200" y="304800"/>
            <a:ext cx="8229600" cy="990600"/>
          </a:xfrm>
        </p:spPr>
        <p:txBody>
          <a:bodyPr>
            <a:normAutofit/>
          </a:bodyPr>
          <a:lstStyle/>
          <a:p>
            <a:pPr algn="l"/>
            <a:r>
              <a:rPr lang="en-US" sz="3200" dirty="0">
                <a:solidFill>
                  <a:schemeClr val="tx1"/>
                </a:solidFill>
              </a:rPr>
              <a:t>MANEJO PREVENTIVO</a:t>
            </a:r>
          </a:p>
        </p:txBody>
      </p:sp>
    </p:spTree>
    <p:extLst>
      <p:ext uri="{BB962C8B-B14F-4D97-AF65-F5344CB8AC3E}">
        <p14:creationId xmlns:p14="http://schemas.microsoft.com/office/powerpoint/2010/main" val="328974670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685800" y="1295400"/>
            <a:ext cx="7772400" cy="4876800"/>
          </a:xfrm>
        </p:spPr>
        <p:txBody>
          <a:bodyPr/>
          <a:lstStyle/>
          <a:p>
            <a:pPr>
              <a:buFont typeface="Arial" pitchFamily="34" charset="0"/>
              <a:buChar char="•"/>
            </a:pPr>
            <a:r>
              <a:rPr lang="es-ES" dirty="0">
                <a:solidFill>
                  <a:schemeClr val="tx1"/>
                </a:solidFill>
              </a:rPr>
              <a:t>Es el exceso de tejido adiposo, por desequilibrio en la homeostasis entre ingesta y el gasto energético, de causa multifactorial</a:t>
            </a:r>
            <a:r>
              <a:rPr lang="es-ES" dirty="0" smtClean="0">
                <a:solidFill>
                  <a:schemeClr val="tx1"/>
                </a:solidFill>
              </a:rPr>
              <a:t>.</a:t>
            </a:r>
          </a:p>
          <a:p>
            <a:pPr marL="0" indent="0">
              <a:buNone/>
            </a:pPr>
            <a:r>
              <a:rPr lang="en-US" b="1" dirty="0">
                <a:solidFill>
                  <a:schemeClr val="tx1"/>
                </a:solidFill>
              </a:rPr>
              <a:t>FACTORES DE RIESGO</a:t>
            </a:r>
          </a:p>
          <a:p>
            <a:pPr>
              <a:buFont typeface="Arial" pitchFamily="34" charset="0"/>
              <a:buChar char="•"/>
            </a:pPr>
            <a:r>
              <a:rPr lang="en-US" dirty="0">
                <a:solidFill>
                  <a:schemeClr val="tx1"/>
                </a:solidFill>
              </a:rPr>
              <a:t>•	</a:t>
            </a:r>
            <a:r>
              <a:rPr lang="en-US" dirty="0" err="1">
                <a:solidFill>
                  <a:schemeClr val="tx1"/>
                </a:solidFill>
              </a:rPr>
              <a:t>Antecedentes</a:t>
            </a:r>
            <a:r>
              <a:rPr lang="en-US" dirty="0">
                <a:solidFill>
                  <a:schemeClr val="tx1"/>
                </a:solidFill>
              </a:rPr>
              <a:t> </a:t>
            </a:r>
            <a:r>
              <a:rPr lang="en-US" dirty="0" err="1">
                <a:solidFill>
                  <a:schemeClr val="tx1"/>
                </a:solidFill>
              </a:rPr>
              <a:t>familiares</a:t>
            </a:r>
            <a:endParaRPr lang="en-US" dirty="0">
              <a:solidFill>
                <a:schemeClr val="tx1"/>
              </a:solidFill>
            </a:endParaRPr>
          </a:p>
          <a:p>
            <a:pPr>
              <a:buFont typeface="Arial" pitchFamily="34" charset="0"/>
              <a:buChar char="•"/>
            </a:pPr>
            <a:r>
              <a:rPr lang="en-US" dirty="0">
                <a:solidFill>
                  <a:schemeClr val="tx1"/>
                </a:solidFill>
              </a:rPr>
              <a:t>•	</a:t>
            </a:r>
            <a:r>
              <a:rPr lang="en-US" dirty="0" err="1">
                <a:solidFill>
                  <a:schemeClr val="tx1"/>
                </a:solidFill>
              </a:rPr>
              <a:t>Hábitos</a:t>
            </a:r>
            <a:r>
              <a:rPr lang="en-US" dirty="0">
                <a:solidFill>
                  <a:schemeClr val="tx1"/>
                </a:solidFill>
              </a:rPr>
              <a:t> </a:t>
            </a:r>
            <a:r>
              <a:rPr lang="en-US" dirty="0" err="1">
                <a:solidFill>
                  <a:schemeClr val="tx1"/>
                </a:solidFill>
              </a:rPr>
              <a:t>dietéticos</a:t>
            </a:r>
            <a:endParaRPr lang="en-US" dirty="0">
              <a:solidFill>
                <a:schemeClr val="tx1"/>
              </a:solidFill>
            </a:endParaRPr>
          </a:p>
          <a:p>
            <a:pPr>
              <a:buFont typeface="Arial" pitchFamily="34" charset="0"/>
              <a:buChar char="•"/>
            </a:pPr>
            <a:r>
              <a:rPr lang="en-US" dirty="0">
                <a:solidFill>
                  <a:schemeClr val="tx1"/>
                </a:solidFill>
              </a:rPr>
              <a:t>•	</a:t>
            </a:r>
            <a:r>
              <a:rPr lang="en-US" dirty="0" err="1">
                <a:solidFill>
                  <a:schemeClr val="tx1"/>
                </a:solidFill>
              </a:rPr>
              <a:t>Edad</a:t>
            </a:r>
            <a:r>
              <a:rPr lang="en-US" dirty="0">
                <a:solidFill>
                  <a:schemeClr val="tx1"/>
                </a:solidFill>
              </a:rPr>
              <a:t> de </a:t>
            </a:r>
            <a:r>
              <a:rPr lang="en-US" dirty="0" err="1">
                <a:solidFill>
                  <a:schemeClr val="tx1"/>
                </a:solidFill>
              </a:rPr>
              <a:t>inicio</a:t>
            </a:r>
            <a:endParaRPr lang="en-US" dirty="0">
              <a:solidFill>
                <a:schemeClr val="tx1"/>
              </a:solidFill>
            </a:endParaRPr>
          </a:p>
          <a:p>
            <a:pPr>
              <a:buFont typeface="Arial" pitchFamily="34" charset="0"/>
              <a:buChar char="•"/>
            </a:pPr>
            <a:r>
              <a:rPr lang="en-US" dirty="0">
                <a:solidFill>
                  <a:schemeClr val="tx1"/>
                </a:solidFill>
              </a:rPr>
              <a:t>•	</a:t>
            </a:r>
            <a:r>
              <a:rPr lang="en-US" dirty="0" err="1">
                <a:solidFill>
                  <a:schemeClr val="tx1"/>
                </a:solidFill>
              </a:rPr>
              <a:t>Sedentarismo</a:t>
            </a:r>
            <a:endParaRPr lang="en-US" dirty="0">
              <a:solidFill>
                <a:schemeClr val="tx1"/>
              </a:solidFill>
            </a:endParaRPr>
          </a:p>
          <a:p>
            <a:pPr>
              <a:buFont typeface="Arial" pitchFamily="34" charset="0"/>
              <a:buChar char="•"/>
            </a:pPr>
            <a:r>
              <a:rPr lang="en-US" dirty="0">
                <a:solidFill>
                  <a:schemeClr val="tx1"/>
                </a:solidFill>
              </a:rPr>
              <a:t>•	</a:t>
            </a:r>
            <a:r>
              <a:rPr lang="en-US" dirty="0" err="1">
                <a:solidFill>
                  <a:schemeClr val="tx1"/>
                </a:solidFill>
              </a:rPr>
              <a:t>Uso</a:t>
            </a:r>
            <a:r>
              <a:rPr lang="en-US" dirty="0">
                <a:solidFill>
                  <a:schemeClr val="tx1"/>
                </a:solidFill>
              </a:rPr>
              <a:t> de </a:t>
            </a:r>
            <a:r>
              <a:rPr lang="en-US" dirty="0" err="1">
                <a:solidFill>
                  <a:schemeClr val="tx1"/>
                </a:solidFill>
              </a:rPr>
              <a:t>fármacos</a:t>
            </a:r>
            <a:endParaRPr lang="en-US" dirty="0">
              <a:solidFill>
                <a:schemeClr val="tx1"/>
              </a:solidFill>
            </a:endParaRPr>
          </a:p>
          <a:p>
            <a:pPr>
              <a:buFont typeface="Arial" pitchFamily="34" charset="0"/>
              <a:buChar char="•"/>
            </a:pPr>
            <a:r>
              <a:rPr lang="en-US" dirty="0">
                <a:solidFill>
                  <a:schemeClr val="tx1"/>
                </a:solidFill>
              </a:rPr>
              <a:t>•	</a:t>
            </a:r>
            <a:r>
              <a:rPr lang="en-US" dirty="0" err="1">
                <a:solidFill>
                  <a:schemeClr val="tx1"/>
                </a:solidFill>
              </a:rPr>
              <a:t>Enfermedades</a:t>
            </a:r>
            <a:r>
              <a:rPr lang="en-US" dirty="0">
                <a:solidFill>
                  <a:schemeClr val="tx1"/>
                </a:solidFill>
              </a:rPr>
              <a:t> </a:t>
            </a:r>
            <a:r>
              <a:rPr lang="en-US" dirty="0" err="1">
                <a:solidFill>
                  <a:schemeClr val="tx1"/>
                </a:solidFill>
              </a:rPr>
              <a:t>asociadas</a:t>
            </a:r>
            <a:endParaRPr lang="en-US" dirty="0">
              <a:solidFill>
                <a:schemeClr val="tx1"/>
              </a:solidFill>
            </a:endParaRPr>
          </a:p>
          <a:p>
            <a:pPr>
              <a:buFont typeface="Arial" pitchFamily="34" charset="0"/>
              <a:buChar char="•"/>
            </a:pPr>
            <a:endParaRPr lang="en-US" dirty="0">
              <a:solidFill>
                <a:schemeClr val="tx1"/>
              </a:solidFill>
            </a:endParaRPr>
          </a:p>
        </p:txBody>
      </p:sp>
      <p:sp>
        <p:nvSpPr>
          <p:cNvPr id="3" name="2 Título"/>
          <p:cNvSpPr>
            <a:spLocks noGrp="1"/>
          </p:cNvSpPr>
          <p:nvPr>
            <p:ph type="title"/>
          </p:nvPr>
        </p:nvSpPr>
        <p:spPr>
          <a:xfrm>
            <a:off x="381000" y="152400"/>
            <a:ext cx="8229600" cy="1252728"/>
          </a:xfrm>
        </p:spPr>
        <p:txBody>
          <a:bodyPr/>
          <a:lstStyle/>
          <a:p>
            <a:pPr algn="l"/>
            <a:r>
              <a:rPr lang="en-US" dirty="0" smtClean="0">
                <a:solidFill>
                  <a:schemeClr val="tx1"/>
                </a:solidFill>
              </a:rPr>
              <a:t>OBESIDAD:</a:t>
            </a:r>
            <a:endParaRPr lang="en-US" dirty="0">
              <a:solidFill>
                <a:schemeClr val="tx1"/>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3429000"/>
            <a:ext cx="3767137" cy="1920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976231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381000"/>
            <a:ext cx="7408333" cy="5745163"/>
          </a:xfrm>
        </p:spPr>
        <p:txBody>
          <a:bodyPr>
            <a:normAutofit fontScale="92500" lnSpcReduction="10000"/>
          </a:bodyPr>
          <a:lstStyle/>
          <a:p>
            <a:r>
              <a:rPr lang="es-ES" sz="2200" b="1" dirty="0">
                <a:solidFill>
                  <a:schemeClr val="tx1"/>
                </a:solidFill>
              </a:rPr>
              <a:t>MANIFESTACIONES CLÍNICAS</a:t>
            </a:r>
          </a:p>
          <a:p>
            <a:r>
              <a:rPr lang="es-ES" sz="2200" dirty="0" smtClean="0">
                <a:solidFill>
                  <a:schemeClr val="tx1"/>
                </a:solidFill>
              </a:rPr>
              <a:t>Alteración </a:t>
            </a:r>
            <a:r>
              <a:rPr lang="es-ES" sz="2200" dirty="0">
                <a:solidFill>
                  <a:schemeClr val="tx1"/>
                </a:solidFill>
              </a:rPr>
              <a:t>del índice masa corporal.</a:t>
            </a:r>
          </a:p>
          <a:p>
            <a:r>
              <a:rPr lang="es-ES" sz="2200" dirty="0" smtClean="0">
                <a:solidFill>
                  <a:schemeClr val="tx1"/>
                </a:solidFill>
              </a:rPr>
              <a:t>Disminución </a:t>
            </a:r>
            <a:r>
              <a:rPr lang="es-ES" sz="2200" dirty="0">
                <a:solidFill>
                  <a:schemeClr val="tx1"/>
                </a:solidFill>
              </a:rPr>
              <a:t>de tolerancia al ejercicio físico.</a:t>
            </a:r>
          </a:p>
          <a:p>
            <a:pPr marL="0" indent="0">
              <a:buNone/>
            </a:pPr>
            <a:r>
              <a:rPr lang="es-ES" sz="2200" b="1" dirty="0" smtClean="0">
                <a:solidFill>
                  <a:schemeClr val="tx1"/>
                </a:solidFill>
              </a:rPr>
              <a:t>EXÁMENES </a:t>
            </a:r>
            <a:r>
              <a:rPr lang="es-ES" sz="2200" b="1" dirty="0">
                <a:solidFill>
                  <a:schemeClr val="tx1"/>
                </a:solidFill>
              </a:rPr>
              <a:t>COMPLEMENTARIOS</a:t>
            </a:r>
          </a:p>
          <a:p>
            <a:r>
              <a:rPr lang="es-ES" sz="2200" dirty="0">
                <a:solidFill>
                  <a:schemeClr val="tx1"/>
                </a:solidFill>
              </a:rPr>
              <a:t>Laboratorio</a:t>
            </a:r>
          </a:p>
          <a:p>
            <a:r>
              <a:rPr lang="es-ES" sz="2200" dirty="0" smtClean="0">
                <a:solidFill>
                  <a:schemeClr val="tx1"/>
                </a:solidFill>
              </a:rPr>
              <a:t>Glicemia </a:t>
            </a:r>
            <a:endParaRPr lang="es-ES" sz="2200" dirty="0">
              <a:solidFill>
                <a:schemeClr val="tx1"/>
              </a:solidFill>
            </a:endParaRPr>
          </a:p>
          <a:p>
            <a:r>
              <a:rPr lang="es-ES" sz="2200" dirty="0" smtClean="0">
                <a:solidFill>
                  <a:schemeClr val="tx1"/>
                </a:solidFill>
              </a:rPr>
              <a:t>Hemograma </a:t>
            </a:r>
            <a:r>
              <a:rPr lang="es-ES" sz="2200" dirty="0">
                <a:solidFill>
                  <a:schemeClr val="tx1"/>
                </a:solidFill>
              </a:rPr>
              <a:t>completo</a:t>
            </a:r>
          </a:p>
          <a:p>
            <a:r>
              <a:rPr lang="es-ES" sz="2200" dirty="0" smtClean="0">
                <a:solidFill>
                  <a:schemeClr val="tx1"/>
                </a:solidFill>
              </a:rPr>
              <a:t>Examen </a:t>
            </a:r>
            <a:r>
              <a:rPr lang="es-ES" sz="2200" dirty="0">
                <a:solidFill>
                  <a:schemeClr val="tx1"/>
                </a:solidFill>
              </a:rPr>
              <a:t>general de </a:t>
            </a:r>
            <a:r>
              <a:rPr lang="es-ES" sz="2200" dirty="0" smtClean="0">
                <a:solidFill>
                  <a:schemeClr val="tx1"/>
                </a:solidFill>
              </a:rPr>
              <a:t>orina</a:t>
            </a:r>
          </a:p>
          <a:p>
            <a:pPr marL="0" indent="0">
              <a:buNone/>
            </a:pPr>
            <a:r>
              <a:rPr lang="es-ES" sz="2200" b="1" dirty="0" smtClean="0">
                <a:solidFill>
                  <a:schemeClr val="tx1"/>
                </a:solidFill>
              </a:rPr>
              <a:t>COMPLICACIONES</a:t>
            </a:r>
            <a:endParaRPr lang="es-ES" sz="2200" b="1" dirty="0">
              <a:solidFill>
                <a:schemeClr val="tx1"/>
              </a:solidFill>
            </a:endParaRPr>
          </a:p>
          <a:p>
            <a:pPr marL="0" indent="0">
              <a:buNone/>
            </a:pPr>
            <a:r>
              <a:rPr lang="es-ES" sz="2200" dirty="0">
                <a:solidFill>
                  <a:schemeClr val="tx1"/>
                </a:solidFill>
              </a:rPr>
              <a:t>Incremento de la </a:t>
            </a:r>
            <a:r>
              <a:rPr lang="es-ES" sz="2200" dirty="0" err="1">
                <a:solidFill>
                  <a:schemeClr val="tx1"/>
                </a:solidFill>
              </a:rPr>
              <a:t>morbi</a:t>
            </a:r>
            <a:r>
              <a:rPr lang="es-ES" sz="2200" dirty="0">
                <a:solidFill>
                  <a:schemeClr val="tx1"/>
                </a:solidFill>
              </a:rPr>
              <a:t>-mortalidad: Riesgo muy aumentado de </a:t>
            </a:r>
            <a:r>
              <a:rPr lang="es-ES" sz="2200" dirty="0" smtClean="0">
                <a:solidFill>
                  <a:schemeClr val="tx1"/>
                </a:solidFill>
              </a:rPr>
              <a:t>padecer:</a:t>
            </a:r>
          </a:p>
          <a:p>
            <a:r>
              <a:rPr lang="es-ES" sz="2200" dirty="0" smtClean="0">
                <a:solidFill>
                  <a:schemeClr val="tx1"/>
                </a:solidFill>
              </a:rPr>
              <a:t>Diabetes </a:t>
            </a:r>
            <a:r>
              <a:rPr lang="es-ES" sz="2200" dirty="0">
                <a:solidFill>
                  <a:schemeClr val="tx1"/>
                </a:solidFill>
              </a:rPr>
              <a:t>mellitus tipo 2</a:t>
            </a:r>
          </a:p>
          <a:p>
            <a:r>
              <a:rPr lang="es-ES" sz="2200" dirty="0" smtClean="0">
                <a:solidFill>
                  <a:schemeClr val="tx1"/>
                </a:solidFill>
              </a:rPr>
              <a:t>Enfermedades </a:t>
            </a:r>
            <a:r>
              <a:rPr lang="es-ES" sz="2200" dirty="0">
                <a:solidFill>
                  <a:schemeClr val="tx1"/>
                </a:solidFill>
              </a:rPr>
              <a:t>de la vesícula biliar</a:t>
            </a:r>
          </a:p>
          <a:p>
            <a:r>
              <a:rPr lang="es-ES" sz="2200" dirty="0" err="1" smtClean="0">
                <a:solidFill>
                  <a:schemeClr val="tx1"/>
                </a:solidFill>
              </a:rPr>
              <a:t>Dislipidemias</a:t>
            </a:r>
            <a:r>
              <a:rPr lang="es-ES" sz="2200" dirty="0" smtClean="0">
                <a:solidFill>
                  <a:schemeClr val="tx1"/>
                </a:solidFill>
              </a:rPr>
              <a:t> </a:t>
            </a:r>
            <a:r>
              <a:rPr lang="es-ES" sz="2200" dirty="0">
                <a:solidFill>
                  <a:schemeClr val="tx1"/>
                </a:solidFill>
              </a:rPr>
              <a:t>(alteración del metabolismo de los lípidos)</a:t>
            </a:r>
          </a:p>
          <a:p>
            <a:r>
              <a:rPr lang="es-ES" sz="2200" dirty="0" smtClean="0">
                <a:solidFill>
                  <a:schemeClr val="tx1"/>
                </a:solidFill>
              </a:rPr>
              <a:t>Resistencia </a:t>
            </a:r>
            <a:r>
              <a:rPr lang="es-ES" sz="2200" dirty="0">
                <a:solidFill>
                  <a:schemeClr val="tx1"/>
                </a:solidFill>
              </a:rPr>
              <a:t>a la insulina</a:t>
            </a:r>
          </a:p>
          <a:p>
            <a:r>
              <a:rPr lang="es-ES" sz="2200" dirty="0" smtClean="0">
                <a:solidFill>
                  <a:schemeClr val="tx1"/>
                </a:solidFill>
              </a:rPr>
              <a:t>Síndrome </a:t>
            </a:r>
            <a:r>
              <a:rPr lang="es-ES" sz="2200" dirty="0">
                <a:solidFill>
                  <a:schemeClr val="tx1"/>
                </a:solidFill>
              </a:rPr>
              <a:t>de </a:t>
            </a:r>
            <a:r>
              <a:rPr lang="es-ES" sz="2200" dirty="0" err="1">
                <a:solidFill>
                  <a:schemeClr val="tx1"/>
                </a:solidFill>
              </a:rPr>
              <a:t>hipoventilación</a:t>
            </a:r>
            <a:endParaRPr lang="es-ES" sz="2200" dirty="0">
              <a:solidFill>
                <a:schemeClr val="tx1"/>
              </a:solidFill>
            </a:endParaRPr>
          </a:p>
          <a:p>
            <a:r>
              <a:rPr lang="es-ES" sz="2200" dirty="0" smtClean="0">
                <a:solidFill>
                  <a:schemeClr val="tx1"/>
                </a:solidFill>
              </a:rPr>
              <a:t>Síndrome </a:t>
            </a:r>
            <a:r>
              <a:rPr lang="es-ES" sz="2200" dirty="0">
                <a:solidFill>
                  <a:schemeClr val="tx1"/>
                </a:solidFill>
              </a:rPr>
              <a:t>de apnea de sueño</a:t>
            </a:r>
          </a:p>
          <a:p>
            <a:endParaRPr lang="en-US" dirty="0"/>
          </a:p>
        </p:txBody>
      </p:sp>
    </p:spTree>
    <p:extLst>
      <p:ext uri="{BB962C8B-B14F-4D97-AF65-F5344CB8AC3E}">
        <p14:creationId xmlns:p14="http://schemas.microsoft.com/office/powerpoint/2010/main" val="38569784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381000"/>
            <a:ext cx="7408333" cy="5745163"/>
          </a:xfrm>
        </p:spPr>
        <p:txBody>
          <a:bodyPr>
            <a:normAutofit fontScale="92500" lnSpcReduction="20000"/>
          </a:bodyPr>
          <a:lstStyle/>
          <a:p>
            <a:pPr marL="0" indent="0">
              <a:buNone/>
            </a:pPr>
            <a:r>
              <a:rPr lang="es-ES" b="1" dirty="0">
                <a:solidFill>
                  <a:schemeClr val="tx1"/>
                </a:solidFill>
              </a:rPr>
              <a:t>Riesgo moderadamente aumentado de </a:t>
            </a:r>
            <a:r>
              <a:rPr lang="es-ES" b="1" dirty="0" smtClean="0">
                <a:solidFill>
                  <a:schemeClr val="tx1"/>
                </a:solidFill>
              </a:rPr>
              <a:t>padecer:</a:t>
            </a:r>
          </a:p>
          <a:p>
            <a:pPr marL="0" indent="0">
              <a:buNone/>
            </a:pPr>
            <a:r>
              <a:rPr lang="es-ES" dirty="0" smtClean="0">
                <a:solidFill>
                  <a:schemeClr val="tx1"/>
                </a:solidFill>
              </a:rPr>
              <a:t>Enfermedad </a:t>
            </a:r>
            <a:r>
              <a:rPr lang="es-ES" dirty="0">
                <a:solidFill>
                  <a:schemeClr val="tx1"/>
                </a:solidFill>
              </a:rPr>
              <a:t>coronaria</a:t>
            </a:r>
          </a:p>
          <a:p>
            <a:r>
              <a:rPr lang="es-ES" dirty="0" smtClean="0">
                <a:solidFill>
                  <a:schemeClr val="tx1"/>
                </a:solidFill>
              </a:rPr>
              <a:t>Hipertensión </a:t>
            </a:r>
            <a:r>
              <a:rPr lang="es-ES" dirty="0">
                <a:solidFill>
                  <a:schemeClr val="tx1"/>
                </a:solidFill>
              </a:rPr>
              <a:t>arterial</a:t>
            </a:r>
          </a:p>
          <a:p>
            <a:r>
              <a:rPr lang="es-ES" dirty="0" smtClean="0">
                <a:solidFill>
                  <a:schemeClr val="tx1"/>
                </a:solidFill>
              </a:rPr>
              <a:t>Osteoartritis</a:t>
            </a:r>
            <a:endParaRPr lang="es-ES" dirty="0">
              <a:solidFill>
                <a:schemeClr val="tx1"/>
              </a:solidFill>
            </a:endParaRPr>
          </a:p>
          <a:p>
            <a:r>
              <a:rPr lang="es-ES" dirty="0" smtClean="0">
                <a:solidFill>
                  <a:schemeClr val="tx1"/>
                </a:solidFill>
              </a:rPr>
              <a:t>Hiperuricemia</a:t>
            </a:r>
            <a:endParaRPr lang="es-ES" dirty="0">
              <a:solidFill>
                <a:schemeClr val="tx1"/>
              </a:solidFill>
            </a:endParaRPr>
          </a:p>
          <a:p>
            <a:r>
              <a:rPr lang="es-ES" dirty="0" smtClean="0">
                <a:solidFill>
                  <a:schemeClr val="tx1"/>
                </a:solidFill>
              </a:rPr>
              <a:t>Gota</a:t>
            </a:r>
            <a:endParaRPr lang="es-ES" dirty="0">
              <a:solidFill>
                <a:schemeClr val="tx1"/>
              </a:solidFill>
            </a:endParaRPr>
          </a:p>
          <a:p>
            <a:pPr marL="0" indent="0">
              <a:buNone/>
            </a:pPr>
            <a:r>
              <a:rPr lang="es-ES" b="1" dirty="0">
                <a:solidFill>
                  <a:schemeClr val="tx1"/>
                </a:solidFill>
              </a:rPr>
              <a:t>Riesgo ligeramente aumentado de padecer:</a:t>
            </a:r>
          </a:p>
          <a:p>
            <a:r>
              <a:rPr lang="es-ES" dirty="0">
                <a:solidFill>
                  <a:schemeClr val="tx1"/>
                </a:solidFill>
              </a:rPr>
              <a:t>•	Cáncer (mama y colon).</a:t>
            </a:r>
          </a:p>
          <a:p>
            <a:r>
              <a:rPr lang="es-ES" dirty="0">
                <a:solidFill>
                  <a:schemeClr val="tx1"/>
                </a:solidFill>
              </a:rPr>
              <a:t>•	Dolor lumbar.</a:t>
            </a:r>
          </a:p>
          <a:p>
            <a:r>
              <a:rPr lang="es-ES" dirty="0">
                <a:solidFill>
                  <a:schemeClr val="tx1"/>
                </a:solidFill>
              </a:rPr>
              <a:t>•	Aumento del riesgo </a:t>
            </a:r>
            <a:r>
              <a:rPr lang="es-ES" dirty="0" smtClean="0">
                <a:solidFill>
                  <a:schemeClr val="tx1"/>
                </a:solidFill>
              </a:rPr>
              <a:t>anestésico.</a:t>
            </a:r>
          </a:p>
          <a:p>
            <a:pPr marL="0" indent="0">
              <a:buNone/>
            </a:pPr>
            <a:r>
              <a:rPr lang="es-ES" b="1" dirty="0" smtClean="0">
                <a:solidFill>
                  <a:schemeClr val="tx1"/>
                </a:solidFill>
              </a:rPr>
              <a:t>TRATAMIENTO </a:t>
            </a:r>
            <a:r>
              <a:rPr lang="es-ES" b="1" dirty="0">
                <a:solidFill>
                  <a:schemeClr val="tx1"/>
                </a:solidFill>
              </a:rPr>
              <a:t>NO FARMACOLÓGICO</a:t>
            </a:r>
          </a:p>
          <a:p>
            <a:r>
              <a:rPr lang="es-ES" dirty="0">
                <a:solidFill>
                  <a:schemeClr val="tx1"/>
                </a:solidFill>
              </a:rPr>
              <a:t>Educación nutricional</a:t>
            </a:r>
          </a:p>
          <a:p>
            <a:r>
              <a:rPr lang="es-ES" dirty="0">
                <a:solidFill>
                  <a:schemeClr val="tx1"/>
                </a:solidFill>
              </a:rPr>
              <a:t>Incremento de la actividad física</a:t>
            </a:r>
          </a:p>
          <a:p>
            <a:r>
              <a:rPr lang="es-ES" dirty="0">
                <a:solidFill>
                  <a:schemeClr val="tx1"/>
                </a:solidFill>
              </a:rPr>
              <a:t>Régimen hipocalórico</a:t>
            </a:r>
          </a:p>
          <a:p>
            <a:r>
              <a:rPr lang="es-ES" dirty="0">
                <a:solidFill>
                  <a:schemeClr val="tx1"/>
                </a:solidFill>
              </a:rPr>
              <a:t>Psicoterapia</a:t>
            </a:r>
          </a:p>
          <a:p>
            <a:pPr marL="0" indent="0">
              <a:buNone/>
            </a:pPr>
            <a:r>
              <a:rPr lang="es-ES" b="1" dirty="0">
                <a:solidFill>
                  <a:schemeClr val="tx1"/>
                </a:solidFill>
              </a:rPr>
              <a:t>TRATAMIENTO </a:t>
            </a:r>
          </a:p>
          <a:p>
            <a:r>
              <a:rPr lang="es-ES" dirty="0">
                <a:solidFill>
                  <a:schemeClr val="tx1"/>
                </a:solidFill>
              </a:rPr>
              <a:t>Quirúrgico En obesidad mórbida</a:t>
            </a:r>
          </a:p>
          <a:p>
            <a:endParaRPr lang="en-US" dirty="0"/>
          </a:p>
        </p:txBody>
      </p:sp>
    </p:spTree>
    <p:extLst>
      <p:ext uri="{BB962C8B-B14F-4D97-AF65-F5344CB8AC3E}">
        <p14:creationId xmlns:p14="http://schemas.microsoft.com/office/powerpoint/2010/main" val="36663100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914400" y="381000"/>
            <a:ext cx="7408333" cy="5745163"/>
          </a:xfrm>
        </p:spPr>
        <p:txBody>
          <a:bodyPr/>
          <a:lstStyle/>
          <a:p>
            <a:pPr marL="0" indent="0">
              <a:buNone/>
            </a:pPr>
            <a:r>
              <a:rPr lang="es-ES" b="1" dirty="0">
                <a:solidFill>
                  <a:schemeClr val="tx1"/>
                </a:solidFill>
              </a:rPr>
              <a:t>TRATAMIENTO NO FARMACOLÓGICO</a:t>
            </a:r>
          </a:p>
          <a:p>
            <a:r>
              <a:rPr lang="es-ES" dirty="0" smtClean="0">
                <a:solidFill>
                  <a:schemeClr val="tx1"/>
                </a:solidFill>
              </a:rPr>
              <a:t>Educación </a:t>
            </a:r>
            <a:r>
              <a:rPr lang="es-ES" dirty="0">
                <a:solidFill>
                  <a:schemeClr val="tx1"/>
                </a:solidFill>
              </a:rPr>
              <a:t>nutricional</a:t>
            </a:r>
          </a:p>
          <a:p>
            <a:r>
              <a:rPr lang="es-ES" dirty="0" smtClean="0">
                <a:solidFill>
                  <a:schemeClr val="tx1"/>
                </a:solidFill>
              </a:rPr>
              <a:t>Incremento </a:t>
            </a:r>
            <a:r>
              <a:rPr lang="es-ES" dirty="0">
                <a:solidFill>
                  <a:schemeClr val="tx1"/>
                </a:solidFill>
              </a:rPr>
              <a:t>de la actividad física</a:t>
            </a:r>
          </a:p>
          <a:p>
            <a:r>
              <a:rPr lang="es-ES" dirty="0" smtClean="0">
                <a:solidFill>
                  <a:schemeClr val="tx1"/>
                </a:solidFill>
              </a:rPr>
              <a:t>Régimen </a:t>
            </a:r>
            <a:r>
              <a:rPr lang="es-ES" dirty="0" smtClean="0">
                <a:solidFill>
                  <a:schemeClr val="tx1"/>
                </a:solidFill>
              </a:rPr>
              <a:t>hipocalórico</a:t>
            </a:r>
          </a:p>
          <a:p>
            <a:r>
              <a:rPr lang="es-ES" dirty="0" smtClean="0">
                <a:solidFill>
                  <a:schemeClr val="tx1"/>
                </a:solidFill>
              </a:rPr>
              <a:t>Psicoterapia</a:t>
            </a:r>
            <a:endParaRPr lang="es-ES" dirty="0">
              <a:solidFill>
                <a:schemeClr val="tx1"/>
              </a:solidFill>
            </a:endParaRPr>
          </a:p>
          <a:p>
            <a:pPr marL="0" indent="0">
              <a:buNone/>
            </a:pPr>
            <a:endParaRPr lang="es-ES" b="1" dirty="0" smtClean="0">
              <a:solidFill>
                <a:schemeClr val="tx1"/>
              </a:solidFill>
            </a:endParaRPr>
          </a:p>
          <a:p>
            <a:pPr marL="0" indent="0">
              <a:buNone/>
            </a:pPr>
            <a:endParaRPr lang="es-ES" b="1" dirty="0">
              <a:solidFill>
                <a:schemeClr val="tx1"/>
              </a:solidFill>
            </a:endParaRPr>
          </a:p>
          <a:p>
            <a:pPr marL="0" indent="0">
              <a:buNone/>
            </a:pPr>
            <a:endParaRPr lang="es-ES" b="1" dirty="0" smtClean="0">
              <a:solidFill>
                <a:schemeClr val="tx1"/>
              </a:solidFill>
            </a:endParaRPr>
          </a:p>
          <a:p>
            <a:pPr marL="0" indent="0">
              <a:buNone/>
            </a:pPr>
            <a:endParaRPr lang="es-ES" b="1" dirty="0">
              <a:solidFill>
                <a:schemeClr val="tx1"/>
              </a:solidFill>
            </a:endParaRPr>
          </a:p>
          <a:p>
            <a:pPr marL="0" indent="0">
              <a:buNone/>
            </a:pPr>
            <a:endParaRPr lang="es-ES" b="1" dirty="0" smtClean="0">
              <a:solidFill>
                <a:schemeClr val="tx1"/>
              </a:solidFill>
            </a:endParaRPr>
          </a:p>
          <a:p>
            <a:pPr marL="0" indent="0">
              <a:buNone/>
            </a:pPr>
            <a:endParaRPr lang="es-ES" b="1" dirty="0" smtClean="0">
              <a:solidFill>
                <a:schemeClr val="tx1"/>
              </a:solidFill>
            </a:endParaRPr>
          </a:p>
          <a:p>
            <a:pPr marL="0" indent="0">
              <a:buNone/>
            </a:pPr>
            <a:r>
              <a:rPr lang="es-ES" b="1" dirty="0" smtClean="0">
                <a:solidFill>
                  <a:schemeClr val="tx1"/>
                </a:solidFill>
              </a:rPr>
              <a:t>TRATAMIENTO </a:t>
            </a:r>
            <a:endParaRPr lang="es-ES" b="1" dirty="0">
              <a:solidFill>
                <a:schemeClr val="tx1"/>
              </a:solidFill>
            </a:endParaRPr>
          </a:p>
          <a:p>
            <a:r>
              <a:rPr lang="es-ES" dirty="0" smtClean="0">
                <a:solidFill>
                  <a:schemeClr val="tx1"/>
                </a:solidFill>
              </a:rPr>
              <a:t>Quirúrgico </a:t>
            </a:r>
            <a:r>
              <a:rPr lang="es-ES" dirty="0">
                <a:solidFill>
                  <a:schemeClr val="tx1"/>
                </a:solidFill>
              </a:rPr>
              <a:t>En obesidad mórbida</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609667"/>
            <a:ext cx="3069147" cy="20685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2615689"/>
            <a:ext cx="2200275"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804721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762000"/>
            <a:ext cx="7408333" cy="5364163"/>
          </a:xfrm>
        </p:spPr>
        <p:txBody>
          <a:bodyPr>
            <a:normAutofit/>
          </a:bodyPr>
          <a:lstStyle/>
          <a:p>
            <a:pPr marL="0" indent="0">
              <a:buNone/>
            </a:pPr>
            <a:r>
              <a:rPr lang="es-ES" dirty="0" smtClean="0">
                <a:solidFill>
                  <a:schemeClr val="tx1"/>
                </a:solidFill>
              </a:rPr>
              <a:t>Frecuencia </a:t>
            </a:r>
            <a:r>
              <a:rPr lang="es-ES" dirty="0">
                <a:solidFill>
                  <a:schemeClr val="tx1"/>
                </a:solidFill>
              </a:rPr>
              <a:t>de defecaciones menor de tres veces por semana, con mayor esfuerzo, heces duras deposiciones dolorosas y sensación de evacuación incompleta.</a:t>
            </a:r>
          </a:p>
          <a:p>
            <a:pPr marL="0" indent="0">
              <a:buNone/>
            </a:pPr>
            <a:r>
              <a:rPr lang="es-ES" b="1" dirty="0" smtClean="0">
                <a:solidFill>
                  <a:schemeClr val="tx1"/>
                </a:solidFill>
              </a:rPr>
              <a:t>ETIOLOGÍA:</a:t>
            </a:r>
            <a:endParaRPr lang="es-ES" b="1" dirty="0">
              <a:solidFill>
                <a:schemeClr val="tx1"/>
              </a:solidFill>
            </a:endParaRPr>
          </a:p>
          <a:p>
            <a:r>
              <a:rPr lang="es-ES" dirty="0" smtClean="0">
                <a:solidFill>
                  <a:schemeClr val="tx1"/>
                </a:solidFill>
              </a:rPr>
              <a:t>Obstrucción </a:t>
            </a:r>
            <a:r>
              <a:rPr lang="es-ES" dirty="0">
                <a:solidFill>
                  <a:schemeClr val="tx1"/>
                </a:solidFill>
              </a:rPr>
              <a:t>biomecánica.</a:t>
            </a:r>
          </a:p>
          <a:p>
            <a:r>
              <a:rPr lang="es-ES" dirty="0" smtClean="0">
                <a:solidFill>
                  <a:schemeClr val="tx1"/>
                </a:solidFill>
              </a:rPr>
              <a:t>Íleo </a:t>
            </a:r>
            <a:r>
              <a:rPr lang="es-ES" dirty="0">
                <a:solidFill>
                  <a:schemeClr val="tx1"/>
                </a:solidFill>
              </a:rPr>
              <a:t>adinámico.</a:t>
            </a:r>
          </a:p>
          <a:p>
            <a:r>
              <a:rPr lang="es-ES" dirty="0" smtClean="0">
                <a:solidFill>
                  <a:schemeClr val="tx1"/>
                </a:solidFill>
              </a:rPr>
              <a:t>Alteraciones </a:t>
            </a:r>
            <a:r>
              <a:rPr lang="es-ES" dirty="0">
                <a:solidFill>
                  <a:schemeClr val="tx1"/>
                </a:solidFill>
              </a:rPr>
              <a:t>en el hábito de defecación. (alteración en el tránsito de salida) .</a:t>
            </a:r>
          </a:p>
          <a:p>
            <a:r>
              <a:rPr lang="es-ES" dirty="0" err="1" smtClean="0">
                <a:solidFill>
                  <a:schemeClr val="tx1"/>
                </a:solidFill>
              </a:rPr>
              <a:t>Automedicado</a:t>
            </a:r>
            <a:r>
              <a:rPr lang="es-ES" dirty="0" smtClean="0">
                <a:solidFill>
                  <a:schemeClr val="tx1"/>
                </a:solidFill>
              </a:rPr>
              <a:t> </a:t>
            </a:r>
            <a:r>
              <a:rPr lang="es-ES" dirty="0">
                <a:solidFill>
                  <a:schemeClr val="tx1"/>
                </a:solidFill>
              </a:rPr>
              <a:t>con frecuencia.</a:t>
            </a:r>
          </a:p>
          <a:p>
            <a:r>
              <a:rPr lang="es-ES" dirty="0" smtClean="0">
                <a:solidFill>
                  <a:schemeClr val="tx1"/>
                </a:solidFill>
              </a:rPr>
              <a:t>Falta </a:t>
            </a:r>
            <a:r>
              <a:rPr lang="es-ES" dirty="0">
                <a:solidFill>
                  <a:schemeClr val="tx1"/>
                </a:solidFill>
              </a:rPr>
              <a:t>de consumo de fibra.</a:t>
            </a:r>
          </a:p>
          <a:p>
            <a:r>
              <a:rPr lang="es-ES" dirty="0" smtClean="0">
                <a:solidFill>
                  <a:schemeClr val="tx1"/>
                </a:solidFill>
              </a:rPr>
              <a:t>Endocrinas</a:t>
            </a:r>
            <a:r>
              <a:rPr lang="es-ES" dirty="0">
                <a:solidFill>
                  <a:schemeClr val="tx1"/>
                </a:solidFill>
              </a:rPr>
              <a:t>: Hipotiroidismo, diabetes.</a:t>
            </a:r>
          </a:p>
          <a:p>
            <a:r>
              <a:rPr lang="es-ES" dirty="0" err="1" smtClean="0">
                <a:solidFill>
                  <a:schemeClr val="tx1"/>
                </a:solidFill>
              </a:rPr>
              <a:t>Metabolicas</a:t>
            </a:r>
            <a:r>
              <a:rPr lang="es-ES" dirty="0">
                <a:solidFill>
                  <a:schemeClr val="tx1"/>
                </a:solidFill>
              </a:rPr>
              <a:t>: </a:t>
            </a:r>
            <a:r>
              <a:rPr lang="es-ES" dirty="0" err="1" smtClean="0">
                <a:solidFill>
                  <a:schemeClr val="tx1"/>
                </a:solidFill>
              </a:rPr>
              <a:t>Hipokalemia</a:t>
            </a:r>
            <a:r>
              <a:rPr lang="pt-BR" dirty="0" smtClean="0">
                <a:solidFill>
                  <a:schemeClr val="tx1"/>
                </a:solidFill>
              </a:rPr>
              <a:t>.</a:t>
            </a:r>
          </a:p>
          <a:p>
            <a:endParaRPr lang="es-ES" dirty="0">
              <a:solidFill>
                <a:schemeClr val="tx1"/>
              </a:solidFill>
            </a:endParaRPr>
          </a:p>
        </p:txBody>
      </p:sp>
      <p:sp>
        <p:nvSpPr>
          <p:cNvPr id="3" name="2 Título"/>
          <p:cNvSpPr>
            <a:spLocks noGrp="1"/>
          </p:cNvSpPr>
          <p:nvPr>
            <p:ph type="title"/>
          </p:nvPr>
        </p:nvSpPr>
        <p:spPr>
          <a:xfrm>
            <a:off x="457200" y="685800"/>
            <a:ext cx="8229600" cy="76200"/>
          </a:xfrm>
        </p:spPr>
        <p:txBody>
          <a:bodyPr>
            <a:normAutofit fontScale="90000"/>
          </a:bodyPr>
          <a:lstStyle/>
          <a:p>
            <a:pPr algn="l"/>
            <a:r>
              <a:rPr lang="en-US" sz="3100" dirty="0" smtClean="0">
                <a:solidFill>
                  <a:schemeClr val="tx1"/>
                </a:solidFill>
              </a:rPr>
              <a:t>CONSTIPACIÓN.-</a:t>
            </a:r>
            <a:r>
              <a:rPr lang="en-US" dirty="0"/>
              <a:t/>
            </a:r>
            <a:br>
              <a:rPr lang="en-US" dirty="0"/>
            </a:br>
            <a:endParaRPr lang="en-US" dirty="0"/>
          </a:p>
        </p:txBody>
      </p:sp>
    </p:spTree>
    <p:extLst>
      <p:ext uri="{BB962C8B-B14F-4D97-AF65-F5344CB8AC3E}">
        <p14:creationId xmlns:p14="http://schemas.microsoft.com/office/powerpoint/2010/main" val="42667736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457200"/>
            <a:ext cx="7408333" cy="5668963"/>
          </a:xfrm>
        </p:spPr>
        <p:txBody>
          <a:bodyPr>
            <a:normAutofit fontScale="55000" lnSpcReduction="20000"/>
          </a:bodyPr>
          <a:lstStyle/>
          <a:p>
            <a:pPr marL="0" indent="0">
              <a:buNone/>
            </a:pPr>
            <a:r>
              <a:rPr lang="es-ES" sz="3800" b="1" dirty="0" smtClean="0">
                <a:solidFill>
                  <a:schemeClr val="tx1"/>
                </a:solidFill>
              </a:rPr>
              <a:t>CLASIFICACIÓN</a:t>
            </a:r>
            <a:r>
              <a:rPr lang="es-ES" sz="3800" dirty="0" smtClean="0">
                <a:solidFill>
                  <a:schemeClr val="tx1"/>
                </a:solidFill>
              </a:rPr>
              <a:t>:</a:t>
            </a:r>
          </a:p>
          <a:p>
            <a:pPr marL="0" indent="0">
              <a:buNone/>
            </a:pPr>
            <a:r>
              <a:rPr lang="es-ES" sz="3300" dirty="0" smtClean="0">
                <a:solidFill>
                  <a:schemeClr val="tx1"/>
                </a:solidFill>
              </a:rPr>
              <a:t> Aguda.</a:t>
            </a:r>
          </a:p>
          <a:p>
            <a:pPr marL="0" indent="0">
              <a:buNone/>
            </a:pPr>
            <a:r>
              <a:rPr lang="es-ES" sz="3300" dirty="0" smtClean="0">
                <a:solidFill>
                  <a:schemeClr val="tx1"/>
                </a:solidFill>
              </a:rPr>
              <a:t>Crónica.</a:t>
            </a:r>
            <a:endParaRPr lang="es-ES" sz="3300" dirty="0">
              <a:solidFill>
                <a:schemeClr val="tx1"/>
              </a:solidFill>
            </a:endParaRPr>
          </a:p>
          <a:p>
            <a:pPr marL="0" indent="0">
              <a:buNone/>
            </a:pPr>
            <a:r>
              <a:rPr lang="es-ES" sz="3800" b="1" dirty="0" smtClean="0">
                <a:solidFill>
                  <a:schemeClr val="tx1"/>
                </a:solidFill>
              </a:rPr>
              <a:t>MANIFESTACIONES </a:t>
            </a:r>
            <a:r>
              <a:rPr lang="es-ES" sz="3800" b="1" dirty="0">
                <a:solidFill>
                  <a:schemeClr val="tx1"/>
                </a:solidFill>
              </a:rPr>
              <a:t>CLÍNICAS</a:t>
            </a:r>
          </a:p>
          <a:p>
            <a:r>
              <a:rPr lang="es-ES" sz="3300" dirty="0" smtClean="0">
                <a:solidFill>
                  <a:schemeClr val="tx1"/>
                </a:solidFill>
              </a:rPr>
              <a:t>Frecuencia </a:t>
            </a:r>
            <a:r>
              <a:rPr lang="es-ES" sz="3300" dirty="0">
                <a:solidFill>
                  <a:schemeClr val="tx1"/>
                </a:solidFill>
              </a:rPr>
              <a:t>espaciada de defecaciones, menor a tres veces por semana.</a:t>
            </a:r>
          </a:p>
          <a:p>
            <a:r>
              <a:rPr lang="es-ES" sz="3300" dirty="0" smtClean="0">
                <a:solidFill>
                  <a:schemeClr val="tx1"/>
                </a:solidFill>
              </a:rPr>
              <a:t>Características </a:t>
            </a:r>
            <a:r>
              <a:rPr lang="es-ES" sz="3300" dirty="0">
                <a:solidFill>
                  <a:schemeClr val="tx1"/>
                </a:solidFill>
              </a:rPr>
              <a:t>anormales de evacuaciones (coprolitos, duras).</a:t>
            </a:r>
          </a:p>
          <a:p>
            <a:r>
              <a:rPr lang="es-ES" sz="3300" dirty="0" smtClean="0">
                <a:solidFill>
                  <a:schemeClr val="tx1"/>
                </a:solidFill>
              </a:rPr>
              <a:t>Defecación </a:t>
            </a:r>
            <a:r>
              <a:rPr lang="es-ES" sz="3300" dirty="0">
                <a:solidFill>
                  <a:schemeClr val="tx1"/>
                </a:solidFill>
              </a:rPr>
              <a:t>dificultosa y tormentosa (pujo, sensación de evacuación incompleta).</a:t>
            </a:r>
          </a:p>
          <a:p>
            <a:r>
              <a:rPr lang="es-ES" sz="3300" dirty="0" smtClean="0">
                <a:solidFill>
                  <a:schemeClr val="tx1"/>
                </a:solidFill>
              </a:rPr>
              <a:t>Sensación </a:t>
            </a:r>
            <a:r>
              <a:rPr lang="es-ES" sz="3300" dirty="0">
                <a:solidFill>
                  <a:schemeClr val="tx1"/>
                </a:solidFill>
              </a:rPr>
              <a:t>de distensión abdominal.</a:t>
            </a:r>
          </a:p>
          <a:p>
            <a:pPr marL="0" indent="0">
              <a:buNone/>
            </a:pPr>
            <a:r>
              <a:rPr lang="es-ES" sz="3800" b="1" dirty="0" smtClean="0">
                <a:solidFill>
                  <a:schemeClr val="tx1"/>
                </a:solidFill>
              </a:rPr>
              <a:t>EXÁMENES </a:t>
            </a:r>
            <a:r>
              <a:rPr lang="es-ES" sz="3800" b="1" dirty="0">
                <a:solidFill>
                  <a:schemeClr val="tx1"/>
                </a:solidFill>
              </a:rPr>
              <a:t>COMPLEMENTARIOS</a:t>
            </a:r>
          </a:p>
          <a:p>
            <a:r>
              <a:rPr lang="es-ES" sz="3300" dirty="0" smtClean="0">
                <a:solidFill>
                  <a:schemeClr val="tx1"/>
                </a:solidFill>
              </a:rPr>
              <a:t>Primer </a:t>
            </a:r>
            <a:r>
              <a:rPr lang="es-ES" sz="3300" dirty="0">
                <a:solidFill>
                  <a:schemeClr val="tx1"/>
                </a:solidFill>
              </a:rPr>
              <a:t>y Segundo Nivel</a:t>
            </a:r>
          </a:p>
          <a:p>
            <a:r>
              <a:rPr lang="es-ES" sz="3300" dirty="0" smtClean="0">
                <a:solidFill>
                  <a:schemeClr val="tx1"/>
                </a:solidFill>
              </a:rPr>
              <a:t>Placa </a:t>
            </a:r>
            <a:r>
              <a:rPr lang="es-ES" sz="3300" dirty="0">
                <a:solidFill>
                  <a:schemeClr val="tx1"/>
                </a:solidFill>
              </a:rPr>
              <a:t>simple de abdomen de pie.</a:t>
            </a:r>
          </a:p>
          <a:p>
            <a:r>
              <a:rPr lang="es-ES" sz="3300" dirty="0">
                <a:solidFill>
                  <a:schemeClr val="tx1"/>
                </a:solidFill>
              </a:rPr>
              <a:t>Tercer Nivel</a:t>
            </a:r>
          </a:p>
          <a:p>
            <a:r>
              <a:rPr lang="es-ES" sz="3300" dirty="0" smtClean="0">
                <a:solidFill>
                  <a:schemeClr val="tx1"/>
                </a:solidFill>
              </a:rPr>
              <a:t>Colon </a:t>
            </a:r>
            <a:r>
              <a:rPr lang="es-ES" sz="3300" dirty="0">
                <a:solidFill>
                  <a:schemeClr val="tx1"/>
                </a:solidFill>
              </a:rPr>
              <a:t>por enema (en caso de obstrucción por cuerpo extraño)</a:t>
            </a:r>
          </a:p>
          <a:p>
            <a:r>
              <a:rPr lang="es-ES" sz="3300" dirty="0" smtClean="0">
                <a:solidFill>
                  <a:schemeClr val="tx1"/>
                </a:solidFill>
              </a:rPr>
              <a:t>Manometría ano </a:t>
            </a:r>
            <a:r>
              <a:rPr lang="es-ES" sz="3300" dirty="0">
                <a:solidFill>
                  <a:schemeClr val="tx1"/>
                </a:solidFill>
              </a:rPr>
              <a:t>rectal. </a:t>
            </a:r>
            <a:endParaRPr lang="es-ES" sz="3300" dirty="0" smtClean="0">
              <a:solidFill>
                <a:schemeClr val="tx1"/>
              </a:solidFill>
            </a:endParaRPr>
          </a:p>
          <a:p>
            <a:r>
              <a:rPr lang="es-ES" sz="3800" b="1" dirty="0" smtClean="0">
                <a:solidFill>
                  <a:schemeClr val="tx1"/>
                </a:solidFill>
              </a:rPr>
              <a:t>DIAGNOSTICO DIFERENCIAL</a:t>
            </a:r>
          </a:p>
          <a:p>
            <a:r>
              <a:rPr lang="es-ES" sz="3300" dirty="0" smtClean="0">
                <a:solidFill>
                  <a:schemeClr val="tx1"/>
                </a:solidFill>
              </a:rPr>
              <a:t>Causas </a:t>
            </a:r>
            <a:r>
              <a:rPr lang="es-ES" sz="3300" dirty="0">
                <a:solidFill>
                  <a:schemeClr val="tx1"/>
                </a:solidFill>
              </a:rPr>
              <a:t>orgánicas – obstrucción de colon (benigno o maligno)</a:t>
            </a:r>
          </a:p>
          <a:p>
            <a:r>
              <a:rPr lang="es-ES" sz="3300" dirty="0" smtClean="0">
                <a:solidFill>
                  <a:schemeClr val="tx1"/>
                </a:solidFill>
              </a:rPr>
              <a:t>Hiperparatiroidismo</a:t>
            </a:r>
            <a:r>
              <a:rPr lang="es-ES" sz="3300" dirty="0">
                <a:solidFill>
                  <a:schemeClr val="tx1"/>
                </a:solidFill>
              </a:rPr>
              <a:t>/ hipoparatiroidismo</a:t>
            </a:r>
            <a:r>
              <a:rPr lang="es-ES" sz="3300" dirty="0" smtClean="0">
                <a:solidFill>
                  <a:schemeClr val="tx1"/>
                </a:solidFill>
              </a:rPr>
              <a:t>.</a:t>
            </a:r>
            <a:endParaRPr lang="es-ES" sz="3300" dirty="0">
              <a:solidFill>
                <a:schemeClr val="tx1"/>
              </a:solidFill>
            </a:endParaRPr>
          </a:p>
          <a:p>
            <a:r>
              <a:rPr lang="es-ES" sz="3300" dirty="0" smtClean="0">
                <a:solidFill>
                  <a:schemeClr val="tx1"/>
                </a:solidFill>
              </a:rPr>
              <a:t>Enfermedad </a:t>
            </a:r>
            <a:r>
              <a:rPr lang="es-ES" sz="3300" dirty="0">
                <a:solidFill>
                  <a:schemeClr val="tx1"/>
                </a:solidFill>
              </a:rPr>
              <a:t>de Chagas (Megacolon).</a:t>
            </a:r>
          </a:p>
          <a:p>
            <a:r>
              <a:rPr lang="es-ES" sz="3300" dirty="0" smtClean="0">
                <a:solidFill>
                  <a:schemeClr val="tx1"/>
                </a:solidFill>
              </a:rPr>
              <a:t>Obstrucción </a:t>
            </a:r>
            <a:r>
              <a:rPr lang="es-ES" sz="3300" dirty="0">
                <a:solidFill>
                  <a:schemeClr val="tx1"/>
                </a:solidFill>
              </a:rPr>
              <a:t>por cuerpo extraño.</a:t>
            </a:r>
          </a:p>
          <a:p>
            <a:endParaRPr lang="es-ES" dirty="0">
              <a:solidFill>
                <a:schemeClr val="tx1"/>
              </a:solidFill>
            </a:endParaRPr>
          </a:p>
          <a:p>
            <a:endParaRPr lang="en-US" dirty="0"/>
          </a:p>
        </p:txBody>
      </p:sp>
    </p:spTree>
    <p:extLst>
      <p:ext uri="{BB962C8B-B14F-4D97-AF65-F5344CB8AC3E}">
        <p14:creationId xmlns:p14="http://schemas.microsoft.com/office/powerpoint/2010/main" val="33548058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838200"/>
            <a:ext cx="4690533" cy="5791200"/>
          </a:xfrm>
        </p:spPr>
        <p:txBody>
          <a:bodyPr>
            <a:normAutofit/>
          </a:bodyPr>
          <a:lstStyle/>
          <a:p>
            <a:pPr marL="0" indent="0">
              <a:buNone/>
            </a:pPr>
            <a:endParaRPr lang="es-ES" dirty="0" smtClean="0">
              <a:solidFill>
                <a:schemeClr val="tx1"/>
              </a:solidFill>
            </a:endParaRPr>
          </a:p>
          <a:p>
            <a:r>
              <a:rPr lang="es-ES" dirty="0" smtClean="0">
                <a:solidFill>
                  <a:schemeClr val="tx1"/>
                </a:solidFill>
              </a:rPr>
              <a:t>1</a:t>
            </a:r>
            <a:r>
              <a:rPr lang="es-ES" dirty="0">
                <a:solidFill>
                  <a:schemeClr val="tx1"/>
                </a:solidFill>
              </a:rPr>
              <a:t>. </a:t>
            </a:r>
            <a:r>
              <a:rPr lang="es-ES" b="1" dirty="0">
                <a:solidFill>
                  <a:schemeClr val="tx1"/>
                </a:solidFill>
              </a:rPr>
              <a:t>Tratamiento no </a:t>
            </a:r>
            <a:r>
              <a:rPr lang="es-ES" b="1" dirty="0" smtClean="0">
                <a:solidFill>
                  <a:schemeClr val="tx1"/>
                </a:solidFill>
              </a:rPr>
              <a:t>farmacológico</a:t>
            </a:r>
            <a:endParaRPr lang="es-ES" b="1" dirty="0">
              <a:solidFill>
                <a:schemeClr val="tx1"/>
              </a:solidFill>
            </a:endParaRPr>
          </a:p>
          <a:p>
            <a:r>
              <a:rPr lang="es-ES" dirty="0" smtClean="0">
                <a:solidFill>
                  <a:schemeClr val="tx1"/>
                </a:solidFill>
              </a:rPr>
              <a:t>Educación </a:t>
            </a:r>
            <a:r>
              <a:rPr lang="es-ES" dirty="0">
                <a:solidFill>
                  <a:schemeClr val="tx1"/>
                </a:solidFill>
              </a:rPr>
              <a:t>al paciente.</a:t>
            </a:r>
          </a:p>
          <a:p>
            <a:r>
              <a:rPr lang="es-ES" dirty="0" smtClean="0">
                <a:solidFill>
                  <a:schemeClr val="tx1"/>
                </a:solidFill>
              </a:rPr>
              <a:t>Hábitos </a:t>
            </a:r>
            <a:r>
              <a:rPr lang="es-ES" dirty="0">
                <a:solidFill>
                  <a:schemeClr val="tx1"/>
                </a:solidFill>
              </a:rPr>
              <a:t>dietéticos: consumir alimentos con fibra 20 a 30 gramos en 24/h. (legumbres, frutas).</a:t>
            </a:r>
          </a:p>
          <a:p>
            <a:r>
              <a:rPr lang="es-ES" dirty="0" smtClean="0">
                <a:solidFill>
                  <a:schemeClr val="tx1"/>
                </a:solidFill>
              </a:rPr>
              <a:t>Reeducación </a:t>
            </a:r>
            <a:r>
              <a:rPr lang="es-ES" dirty="0">
                <a:solidFill>
                  <a:schemeClr val="tx1"/>
                </a:solidFill>
              </a:rPr>
              <a:t>del hábito intestinal.</a:t>
            </a:r>
          </a:p>
          <a:p>
            <a:r>
              <a:rPr lang="es-ES" dirty="0" smtClean="0">
                <a:solidFill>
                  <a:schemeClr val="tx1"/>
                </a:solidFill>
              </a:rPr>
              <a:t>Actividad </a:t>
            </a:r>
            <a:r>
              <a:rPr lang="es-ES" dirty="0">
                <a:solidFill>
                  <a:schemeClr val="tx1"/>
                </a:solidFill>
              </a:rPr>
              <a:t>física (caminata).</a:t>
            </a:r>
          </a:p>
          <a:p>
            <a:r>
              <a:rPr lang="es-ES" dirty="0" smtClean="0">
                <a:solidFill>
                  <a:schemeClr val="tx1"/>
                </a:solidFill>
              </a:rPr>
              <a:t>Ingesta </a:t>
            </a:r>
            <a:r>
              <a:rPr lang="es-ES" dirty="0">
                <a:solidFill>
                  <a:schemeClr val="tx1"/>
                </a:solidFill>
              </a:rPr>
              <a:t>de agua (2 a 3 litros diarios)</a:t>
            </a:r>
          </a:p>
          <a:p>
            <a:r>
              <a:rPr lang="es-ES" dirty="0" smtClean="0">
                <a:solidFill>
                  <a:schemeClr val="tx1"/>
                </a:solidFill>
              </a:rPr>
              <a:t>Reducción </a:t>
            </a:r>
            <a:r>
              <a:rPr lang="es-ES" dirty="0">
                <a:solidFill>
                  <a:schemeClr val="tx1"/>
                </a:solidFill>
              </a:rPr>
              <a:t>de ingesta de algunos derivados lácteos.</a:t>
            </a:r>
          </a:p>
          <a:p>
            <a:endParaRPr lang="es-ES" dirty="0"/>
          </a:p>
        </p:txBody>
      </p:sp>
      <p:sp>
        <p:nvSpPr>
          <p:cNvPr id="3" name="2 Título"/>
          <p:cNvSpPr>
            <a:spLocks noGrp="1"/>
          </p:cNvSpPr>
          <p:nvPr>
            <p:ph type="title"/>
          </p:nvPr>
        </p:nvSpPr>
        <p:spPr>
          <a:xfrm>
            <a:off x="17206" y="0"/>
            <a:ext cx="9126794" cy="914400"/>
          </a:xfrm>
        </p:spPr>
        <p:txBody>
          <a:bodyPr>
            <a:normAutofit/>
          </a:bodyPr>
          <a:lstStyle/>
          <a:p>
            <a:pPr algn="l"/>
            <a:r>
              <a:rPr lang="en-US" dirty="0" smtClean="0">
                <a:solidFill>
                  <a:schemeClr val="tx1"/>
                </a:solidFill>
              </a:rPr>
              <a:t>        TRATAMIENTO</a:t>
            </a:r>
            <a:endParaRPr lang="en-US" dirty="0">
              <a:solidFill>
                <a:schemeClr val="tx1"/>
              </a:solidFill>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2362200"/>
            <a:ext cx="3152775" cy="2524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3889015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914400"/>
            <a:ext cx="7408333" cy="5211763"/>
          </a:xfrm>
        </p:spPr>
        <p:txBody>
          <a:bodyPr>
            <a:normAutofit fontScale="62500" lnSpcReduction="20000"/>
          </a:bodyPr>
          <a:lstStyle/>
          <a:p>
            <a:pPr marL="0" marR="0" indent="0">
              <a:lnSpc>
                <a:spcPct val="150000"/>
              </a:lnSpc>
              <a:spcBef>
                <a:spcPts val="0"/>
              </a:spcBef>
              <a:spcAft>
                <a:spcPts val="0"/>
              </a:spcAft>
              <a:buNone/>
            </a:pPr>
            <a:r>
              <a:rPr lang="es-ES" dirty="0">
                <a:solidFill>
                  <a:srgbClr val="000000"/>
                </a:solidFill>
                <a:latin typeface="Arial"/>
                <a:ea typeface="Calibri"/>
                <a:cs typeface="Times New Roman"/>
              </a:rPr>
              <a:t>Valoración geriátrica </a:t>
            </a:r>
            <a:r>
              <a:rPr lang="es-ES" dirty="0" smtClean="0">
                <a:solidFill>
                  <a:srgbClr val="000000"/>
                </a:solidFill>
                <a:latin typeface="Arial"/>
                <a:ea typeface="Calibri"/>
                <a:cs typeface="Times New Roman"/>
              </a:rPr>
              <a:t>integral.</a:t>
            </a:r>
            <a:endParaRPr lang="en-US" dirty="0" smtClean="0">
              <a:latin typeface="Calibri"/>
              <a:ea typeface="Calibri"/>
              <a:cs typeface="Times New Roman"/>
            </a:endParaRPr>
          </a:p>
          <a:p>
            <a:pPr marL="0" marR="0">
              <a:lnSpc>
                <a:spcPct val="150000"/>
              </a:lnSpc>
              <a:spcBef>
                <a:spcPts val="0"/>
              </a:spcBef>
              <a:spcAft>
                <a:spcPts val="0"/>
              </a:spcAft>
            </a:pPr>
            <a:r>
              <a:rPr lang="es-ES" sz="2400" dirty="0" smtClean="0">
                <a:solidFill>
                  <a:srgbClr val="000000"/>
                </a:solidFill>
                <a:latin typeface="Arial"/>
                <a:ea typeface="Calibri"/>
                <a:cs typeface="Times New Roman"/>
              </a:rPr>
              <a:t>Agentes </a:t>
            </a:r>
            <a:r>
              <a:rPr lang="es-ES" sz="2400" dirty="0">
                <a:solidFill>
                  <a:srgbClr val="000000"/>
                </a:solidFill>
                <a:latin typeface="Arial"/>
                <a:ea typeface="Calibri"/>
                <a:cs typeface="Times New Roman"/>
              </a:rPr>
              <a:t>formadores de volumen</a:t>
            </a:r>
            <a:endParaRPr lang="en-US" sz="2400" dirty="0">
              <a:latin typeface="Calibri"/>
              <a:ea typeface="Calibri"/>
              <a:cs typeface="Times New Roman"/>
            </a:endParaRPr>
          </a:p>
          <a:p>
            <a:pPr marL="342900" marR="0" lvl="0" indent="-342900">
              <a:lnSpc>
                <a:spcPct val="150000"/>
              </a:lnSpc>
              <a:spcBef>
                <a:spcPts val="0"/>
              </a:spcBef>
              <a:spcAft>
                <a:spcPts val="0"/>
              </a:spcAft>
              <a:buFont typeface="Symbol"/>
              <a:buChar char=""/>
            </a:pPr>
            <a:r>
              <a:rPr lang="es-ES" dirty="0">
                <a:solidFill>
                  <a:srgbClr val="000000"/>
                </a:solidFill>
                <a:latin typeface="Arial"/>
                <a:ea typeface="Calibri"/>
                <a:cs typeface="Times New Roman"/>
              </a:rPr>
              <a:t>Preparados de ciruela: Una cuchara antes de dormirse. (Añadiendo 2 vasos de líquido adicionales).</a:t>
            </a:r>
            <a:endParaRPr lang="en-US" dirty="0">
              <a:latin typeface="Calibri"/>
              <a:ea typeface="Calibri"/>
              <a:cs typeface="Times New Roman"/>
            </a:endParaRPr>
          </a:p>
          <a:p>
            <a:pPr marL="457200" marR="0" lvl="1" indent="0">
              <a:lnSpc>
                <a:spcPct val="150000"/>
              </a:lnSpc>
              <a:spcBef>
                <a:spcPts val="0"/>
              </a:spcBef>
              <a:spcAft>
                <a:spcPts val="0"/>
              </a:spcAft>
              <a:buNone/>
            </a:pPr>
            <a:r>
              <a:rPr lang="es-ES" sz="2400" dirty="0">
                <a:solidFill>
                  <a:srgbClr val="000000"/>
                </a:solidFill>
                <a:latin typeface="Arial"/>
                <a:ea typeface="Calibri"/>
                <a:cs typeface="Times New Roman"/>
              </a:rPr>
              <a:t>Agentes osmóticos o catárticos salinos</a:t>
            </a:r>
            <a:endParaRPr lang="en-US" sz="2400" dirty="0">
              <a:latin typeface="Calibri"/>
              <a:ea typeface="Calibri"/>
              <a:cs typeface="Times New Roman"/>
            </a:endParaRPr>
          </a:p>
          <a:p>
            <a:pPr marL="342900" marR="0" lvl="0" indent="-342900">
              <a:lnSpc>
                <a:spcPct val="150000"/>
              </a:lnSpc>
              <a:spcBef>
                <a:spcPts val="0"/>
              </a:spcBef>
              <a:spcAft>
                <a:spcPts val="0"/>
              </a:spcAft>
              <a:buFont typeface="Symbol"/>
              <a:buChar char=""/>
            </a:pPr>
            <a:r>
              <a:rPr lang="es-ES" dirty="0">
                <a:solidFill>
                  <a:srgbClr val="000000"/>
                </a:solidFill>
                <a:latin typeface="Arial"/>
                <a:ea typeface="Calibri"/>
                <a:cs typeface="Times New Roman"/>
              </a:rPr>
              <a:t>Sulfato de magnesia: una cuchara después del desayuno (actúan dentro de las tres horas de la ingesta).</a:t>
            </a:r>
            <a:endParaRPr lang="en-US" dirty="0">
              <a:latin typeface="Calibri"/>
              <a:ea typeface="Calibri"/>
              <a:cs typeface="Times New Roman"/>
            </a:endParaRPr>
          </a:p>
          <a:p>
            <a:pPr marL="457200" marR="0" lvl="1" indent="0">
              <a:lnSpc>
                <a:spcPct val="150000"/>
              </a:lnSpc>
              <a:spcBef>
                <a:spcPts val="0"/>
              </a:spcBef>
              <a:spcAft>
                <a:spcPts val="0"/>
              </a:spcAft>
              <a:buNone/>
            </a:pPr>
            <a:r>
              <a:rPr lang="es-ES" sz="2400" dirty="0">
                <a:solidFill>
                  <a:srgbClr val="000000"/>
                </a:solidFill>
                <a:latin typeface="Arial"/>
                <a:ea typeface="Calibri"/>
                <a:cs typeface="Times New Roman"/>
              </a:rPr>
              <a:t>Agentes Catártico secretores o estimulantes</a:t>
            </a:r>
            <a:endParaRPr lang="en-US" sz="2400" dirty="0">
              <a:latin typeface="Calibri"/>
              <a:ea typeface="Calibri"/>
              <a:cs typeface="Times New Roman"/>
            </a:endParaRPr>
          </a:p>
          <a:p>
            <a:pPr marL="342900" marR="0" lvl="0" indent="-342900">
              <a:lnSpc>
                <a:spcPct val="150000"/>
              </a:lnSpc>
              <a:spcBef>
                <a:spcPts val="0"/>
              </a:spcBef>
              <a:spcAft>
                <a:spcPts val="0"/>
              </a:spcAft>
              <a:buFont typeface="Symbol"/>
              <a:buChar char=""/>
            </a:pPr>
            <a:r>
              <a:rPr lang="es-ES" dirty="0" err="1">
                <a:solidFill>
                  <a:srgbClr val="000000"/>
                </a:solidFill>
                <a:latin typeface="Arial"/>
                <a:ea typeface="Calibri"/>
                <a:cs typeface="Times New Roman"/>
              </a:rPr>
              <a:t>Bisacodilo</a:t>
            </a:r>
            <a:r>
              <a:rPr lang="es-ES" dirty="0">
                <a:solidFill>
                  <a:srgbClr val="000000"/>
                </a:solidFill>
                <a:latin typeface="Arial"/>
                <a:ea typeface="Calibri"/>
                <a:cs typeface="Times New Roman"/>
              </a:rPr>
              <a:t>: Un comprimido antes de dormirse (adicionar 2 a 3 vasos de líquido). (Actúan dentro de las 6 a 8 horas de la ingesta)</a:t>
            </a:r>
            <a:endParaRPr lang="en-US" dirty="0">
              <a:latin typeface="Calibri"/>
              <a:ea typeface="Calibri"/>
              <a:cs typeface="Times New Roman"/>
            </a:endParaRPr>
          </a:p>
          <a:p>
            <a:pPr marL="342900" marR="0" lvl="0" indent="-342900">
              <a:lnSpc>
                <a:spcPct val="150000"/>
              </a:lnSpc>
              <a:spcBef>
                <a:spcPts val="0"/>
              </a:spcBef>
              <a:spcAft>
                <a:spcPts val="0"/>
              </a:spcAft>
              <a:buFont typeface="Symbol"/>
              <a:buChar char=""/>
            </a:pPr>
            <a:r>
              <a:rPr lang="es-ES" dirty="0">
                <a:solidFill>
                  <a:srgbClr val="000000"/>
                </a:solidFill>
                <a:latin typeface="Arial"/>
                <a:ea typeface="Calibri"/>
                <a:cs typeface="Times New Roman"/>
              </a:rPr>
              <a:t>Vaselina liquida 20 cc. C/12 </a:t>
            </a:r>
            <a:r>
              <a:rPr lang="es-ES" dirty="0" err="1">
                <a:solidFill>
                  <a:srgbClr val="000000"/>
                </a:solidFill>
                <a:latin typeface="Arial"/>
                <a:ea typeface="Calibri"/>
                <a:cs typeface="Times New Roman"/>
              </a:rPr>
              <a:t>hrs</a:t>
            </a:r>
            <a:r>
              <a:rPr lang="es-ES" dirty="0">
                <a:solidFill>
                  <a:srgbClr val="000000"/>
                </a:solidFill>
                <a:latin typeface="Arial"/>
                <a:ea typeface="Calibri"/>
                <a:cs typeface="Times New Roman"/>
              </a:rPr>
              <a:t>.</a:t>
            </a:r>
            <a:endParaRPr lang="en-US" dirty="0">
              <a:latin typeface="Calibri"/>
              <a:ea typeface="Calibri"/>
              <a:cs typeface="Times New Roman"/>
            </a:endParaRPr>
          </a:p>
          <a:p>
            <a:pPr marL="342900" marR="0" lvl="0" indent="-342900">
              <a:lnSpc>
                <a:spcPct val="150000"/>
              </a:lnSpc>
              <a:spcBef>
                <a:spcPts val="0"/>
              </a:spcBef>
              <a:spcAft>
                <a:spcPts val="0"/>
              </a:spcAft>
              <a:buFont typeface="Symbol"/>
              <a:buChar char=""/>
            </a:pPr>
            <a:r>
              <a:rPr lang="es-ES" dirty="0">
                <a:solidFill>
                  <a:srgbClr val="000000"/>
                </a:solidFill>
                <a:latin typeface="Arial"/>
                <a:ea typeface="Calibri"/>
                <a:cs typeface="Times New Roman"/>
              </a:rPr>
              <a:t>Glicerina supositorio 2-4 g c/día</a:t>
            </a:r>
            <a:endParaRPr lang="en-US" dirty="0">
              <a:latin typeface="Calibri"/>
              <a:ea typeface="Calibri"/>
              <a:cs typeface="Times New Roman"/>
            </a:endParaRPr>
          </a:p>
          <a:p>
            <a:pPr marL="342900" marR="0" lvl="0" indent="-342900">
              <a:lnSpc>
                <a:spcPct val="150000"/>
              </a:lnSpc>
              <a:spcBef>
                <a:spcPts val="0"/>
              </a:spcBef>
              <a:spcAft>
                <a:spcPts val="0"/>
              </a:spcAft>
              <a:buFont typeface="Symbol"/>
              <a:buChar char=""/>
            </a:pPr>
            <a:r>
              <a:rPr lang="es-ES" dirty="0">
                <a:solidFill>
                  <a:srgbClr val="000000"/>
                </a:solidFill>
                <a:latin typeface="Arial"/>
                <a:ea typeface="Calibri"/>
                <a:cs typeface="Times New Roman"/>
              </a:rPr>
              <a:t>Enema </a:t>
            </a:r>
            <a:r>
              <a:rPr lang="es-ES" dirty="0" smtClean="0">
                <a:solidFill>
                  <a:srgbClr val="000000"/>
                </a:solidFill>
                <a:latin typeface="Arial"/>
                <a:ea typeface="Calibri"/>
                <a:cs typeface="Times New Roman"/>
              </a:rPr>
              <a:t>evacuante</a:t>
            </a:r>
          </a:p>
          <a:p>
            <a:pPr marL="0" marR="0" lvl="0" indent="0">
              <a:lnSpc>
                <a:spcPct val="150000"/>
              </a:lnSpc>
              <a:spcBef>
                <a:spcPts val="0"/>
              </a:spcBef>
              <a:spcAft>
                <a:spcPts val="0"/>
              </a:spcAft>
              <a:buNone/>
            </a:pPr>
            <a:r>
              <a:rPr lang="es-ES" b="1" dirty="0" smtClean="0">
                <a:solidFill>
                  <a:srgbClr val="000000"/>
                </a:solidFill>
                <a:latin typeface="Arial"/>
                <a:ea typeface="Calibri"/>
                <a:cs typeface="Times New Roman"/>
              </a:rPr>
              <a:t>COMPLICACIONES</a:t>
            </a:r>
            <a:endParaRPr lang="es-ES" b="1" dirty="0">
              <a:solidFill>
                <a:srgbClr val="000000"/>
              </a:solidFill>
              <a:latin typeface="Arial"/>
              <a:ea typeface="Calibri"/>
              <a:cs typeface="Times New Roman"/>
            </a:endParaRPr>
          </a:p>
          <a:p>
            <a:pPr marL="342900" marR="0" lvl="0" indent="-342900">
              <a:lnSpc>
                <a:spcPct val="150000"/>
              </a:lnSpc>
              <a:spcBef>
                <a:spcPts val="0"/>
              </a:spcBef>
              <a:spcAft>
                <a:spcPts val="0"/>
              </a:spcAft>
              <a:buFont typeface="Symbol"/>
              <a:buChar char=""/>
            </a:pPr>
            <a:r>
              <a:rPr lang="es-ES" dirty="0">
                <a:solidFill>
                  <a:srgbClr val="000000"/>
                </a:solidFill>
                <a:latin typeface="Arial"/>
                <a:ea typeface="Calibri"/>
                <a:cs typeface="Times New Roman"/>
              </a:rPr>
              <a:t>• </a:t>
            </a:r>
            <a:r>
              <a:rPr lang="es-ES" dirty="0" err="1">
                <a:solidFill>
                  <a:srgbClr val="000000"/>
                </a:solidFill>
                <a:latin typeface="Arial"/>
                <a:ea typeface="Calibri"/>
                <a:cs typeface="Times New Roman"/>
              </a:rPr>
              <a:t>Impactación</a:t>
            </a:r>
            <a:r>
              <a:rPr lang="es-ES" dirty="0">
                <a:solidFill>
                  <a:srgbClr val="000000"/>
                </a:solidFill>
                <a:latin typeface="Arial"/>
                <a:ea typeface="Calibri"/>
                <a:cs typeface="Times New Roman"/>
              </a:rPr>
              <a:t> fecal.</a:t>
            </a:r>
          </a:p>
          <a:p>
            <a:pPr marL="342900" marR="0" lvl="0" indent="-342900">
              <a:lnSpc>
                <a:spcPct val="150000"/>
              </a:lnSpc>
              <a:spcBef>
                <a:spcPts val="0"/>
              </a:spcBef>
              <a:spcAft>
                <a:spcPts val="0"/>
              </a:spcAft>
              <a:buFont typeface="Symbol"/>
              <a:buChar char=""/>
            </a:pPr>
            <a:r>
              <a:rPr lang="es-ES" dirty="0">
                <a:solidFill>
                  <a:srgbClr val="000000"/>
                </a:solidFill>
                <a:latin typeface="Arial"/>
                <a:ea typeface="Calibri"/>
                <a:cs typeface="Times New Roman"/>
              </a:rPr>
              <a:t>• Megacolon Idiopático.</a:t>
            </a:r>
          </a:p>
          <a:p>
            <a:pPr marL="342900" marR="0" lvl="0" indent="-342900">
              <a:lnSpc>
                <a:spcPct val="150000"/>
              </a:lnSpc>
              <a:spcBef>
                <a:spcPts val="0"/>
              </a:spcBef>
              <a:spcAft>
                <a:spcPts val="0"/>
              </a:spcAft>
              <a:buFont typeface="Symbol"/>
              <a:buChar char=""/>
            </a:pPr>
            <a:r>
              <a:rPr lang="es-ES" dirty="0">
                <a:solidFill>
                  <a:srgbClr val="000000"/>
                </a:solidFill>
                <a:latin typeface="Arial"/>
                <a:ea typeface="Calibri"/>
                <a:cs typeface="Times New Roman"/>
              </a:rPr>
              <a:t>• Síndrome catártico (diarrea</a:t>
            </a:r>
          </a:p>
          <a:p>
            <a:pPr marL="342900" marR="0" lvl="0" indent="-342900">
              <a:lnSpc>
                <a:spcPct val="150000"/>
              </a:lnSpc>
              <a:spcBef>
                <a:spcPts val="0"/>
              </a:spcBef>
              <a:spcAft>
                <a:spcPts val="0"/>
              </a:spcAft>
              <a:buFont typeface="Symbol"/>
              <a:buChar char=""/>
            </a:pPr>
            <a:endParaRPr lang="en-US" dirty="0"/>
          </a:p>
        </p:txBody>
      </p:sp>
      <p:sp>
        <p:nvSpPr>
          <p:cNvPr id="3" name="2 Título"/>
          <p:cNvSpPr>
            <a:spLocks noGrp="1"/>
          </p:cNvSpPr>
          <p:nvPr>
            <p:ph type="title"/>
          </p:nvPr>
        </p:nvSpPr>
        <p:spPr>
          <a:xfrm>
            <a:off x="457200" y="0"/>
            <a:ext cx="8229600" cy="990600"/>
          </a:xfrm>
        </p:spPr>
        <p:txBody>
          <a:bodyPr>
            <a:normAutofit fontScale="90000"/>
          </a:bodyPr>
          <a:lstStyle/>
          <a:p>
            <a:r>
              <a:rPr lang="es-ES" dirty="0"/>
              <a:t/>
            </a:r>
            <a:br>
              <a:rPr lang="es-ES" dirty="0"/>
            </a:br>
            <a:r>
              <a:rPr lang="es-ES" sz="3600" dirty="0">
                <a:solidFill>
                  <a:schemeClr val="tx1"/>
                </a:solidFill>
              </a:rPr>
              <a:t>2. Tratamiento farmacológico (primer nivel</a:t>
            </a:r>
            <a:r>
              <a:rPr lang="es-ES" sz="3600" dirty="0" smtClean="0">
                <a:solidFill>
                  <a:schemeClr val="tx1"/>
                </a:solidFill>
              </a:rPr>
              <a:t>)</a:t>
            </a:r>
            <a:endParaRPr lang="en-US" dirty="0"/>
          </a:p>
        </p:txBody>
      </p:sp>
    </p:spTree>
    <p:extLst>
      <p:ext uri="{BB962C8B-B14F-4D97-AF65-F5344CB8AC3E}">
        <p14:creationId xmlns:p14="http://schemas.microsoft.com/office/powerpoint/2010/main" val="38940879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381000"/>
            <a:ext cx="7408333" cy="5745163"/>
          </a:xfrm>
        </p:spPr>
        <p:txBody>
          <a:bodyPr>
            <a:normAutofit lnSpcReduction="10000"/>
          </a:bodyPr>
          <a:lstStyle/>
          <a:p>
            <a:r>
              <a:rPr lang="es-ES" b="1" dirty="0">
                <a:solidFill>
                  <a:schemeClr val="tx1"/>
                </a:solidFill>
              </a:rPr>
              <a:t>CUIDADOS DE ENFERMERÍA:</a:t>
            </a:r>
          </a:p>
          <a:p>
            <a:r>
              <a:rPr lang="es-ES" dirty="0" smtClean="0">
                <a:solidFill>
                  <a:schemeClr val="tx1"/>
                </a:solidFill>
              </a:rPr>
              <a:t>1.Anamnesis </a:t>
            </a:r>
            <a:r>
              <a:rPr lang="es-ES" dirty="0">
                <a:solidFill>
                  <a:schemeClr val="tx1"/>
                </a:solidFill>
              </a:rPr>
              <a:t>de la dieta y las costumbres </a:t>
            </a:r>
            <a:r>
              <a:rPr lang="es-ES" dirty="0" smtClean="0">
                <a:solidFill>
                  <a:schemeClr val="tx1"/>
                </a:solidFill>
              </a:rPr>
              <a:t>,IMC</a:t>
            </a:r>
            <a:r>
              <a:rPr lang="es-ES" dirty="0">
                <a:solidFill>
                  <a:schemeClr val="tx1"/>
                </a:solidFill>
              </a:rPr>
              <a:t>, antropometría y </a:t>
            </a:r>
            <a:r>
              <a:rPr lang="es-ES" dirty="0" smtClean="0">
                <a:solidFill>
                  <a:schemeClr val="tx1"/>
                </a:solidFill>
              </a:rPr>
              <a:t>analítica y  velocidad de pérdida porcentual </a:t>
            </a:r>
            <a:r>
              <a:rPr lang="es-ES" dirty="0">
                <a:solidFill>
                  <a:schemeClr val="tx1"/>
                </a:solidFill>
              </a:rPr>
              <a:t>del peso.</a:t>
            </a:r>
          </a:p>
          <a:p>
            <a:r>
              <a:rPr lang="es-ES" dirty="0" smtClean="0">
                <a:solidFill>
                  <a:schemeClr val="tx1"/>
                </a:solidFill>
              </a:rPr>
              <a:t>2.Cualquier </a:t>
            </a:r>
            <a:r>
              <a:rPr lang="es-ES" dirty="0">
                <a:solidFill>
                  <a:schemeClr val="tx1"/>
                </a:solidFill>
              </a:rPr>
              <a:t>cambio en la dieta de la persona mayor debe hacerse tras valorar sus hábitos y gustos dietéticos, sin olvidar aspectos como la dentición, economía, entorno familiar, etc</a:t>
            </a:r>
            <a:r>
              <a:rPr lang="es-ES" dirty="0" smtClean="0">
                <a:solidFill>
                  <a:schemeClr val="tx1"/>
                </a:solidFill>
              </a:rPr>
              <a:t>., </a:t>
            </a:r>
            <a:r>
              <a:rPr lang="es-ES" dirty="0">
                <a:solidFill>
                  <a:schemeClr val="tx1"/>
                </a:solidFill>
              </a:rPr>
              <a:t>los cambios tienen que ser graduales y con su consentimiento.</a:t>
            </a:r>
          </a:p>
          <a:p>
            <a:r>
              <a:rPr lang="es-ES" dirty="0">
                <a:solidFill>
                  <a:schemeClr val="tx1"/>
                </a:solidFill>
              </a:rPr>
              <a:t>3.	La comida es un acto social, por lo que comer en solitario lleva consigo alteraciones nutricionales importantes, como una menor ingesta, una dieta descuidada con comidas de fácil preparación y no siempre equilibradas. Por todo ello, es muy importante utilizar la comida para poder conocer y entablar una mejor relación con la persona mayor.</a:t>
            </a:r>
          </a:p>
          <a:p>
            <a:endParaRPr lang="en-US" dirty="0"/>
          </a:p>
        </p:txBody>
      </p:sp>
      <p:sp>
        <p:nvSpPr>
          <p:cNvPr id="3" name="2 Título"/>
          <p:cNvSpPr>
            <a:spLocks noGrp="1"/>
          </p:cNvSpPr>
          <p:nvPr>
            <p:ph type="title"/>
          </p:nvPr>
        </p:nvSpPr>
        <p:spPr>
          <a:xfrm>
            <a:off x="457200" y="0"/>
            <a:ext cx="8229600" cy="45719"/>
          </a:xfrm>
        </p:spPr>
        <p:txBody>
          <a:bodyPr>
            <a:normAutofit fontScale="90000"/>
          </a:bodyPr>
          <a:lstStyle/>
          <a:p>
            <a:endParaRPr lang="en-US" dirty="0"/>
          </a:p>
        </p:txBody>
      </p:sp>
    </p:spTree>
    <p:extLst>
      <p:ext uri="{BB962C8B-B14F-4D97-AF65-F5344CB8AC3E}">
        <p14:creationId xmlns:p14="http://schemas.microsoft.com/office/powerpoint/2010/main" val="387544810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457200"/>
            <a:ext cx="7408333" cy="5668963"/>
          </a:xfrm>
        </p:spPr>
        <p:txBody>
          <a:bodyPr/>
          <a:lstStyle/>
          <a:p>
            <a:pPr marL="457200" indent="-457200">
              <a:buAutoNum type="arabicPeriod" startAt="4"/>
            </a:pPr>
            <a:r>
              <a:rPr lang="es-ES" b="1" dirty="0" smtClean="0">
                <a:solidFill>
                  <a:schemeClr val="tx1"/>
                </a:solidFill>
              </a:rPr>
              <a:t>Recomendaciones </a:t>
            </a:r>
            <a:r>
              <a:rPr lang="es-ES" b="1" dirty="0">
                <a:solidFill>
                  <a:schemeClr val="tx1"/>
                </a:solidFill>
              </a:rPr>
              <a:t>para una buena </a:t>
            </a:r>
            <a:r>
              <a:rPr lang="es-ES" b="1" dirty="0" smtClean="0">
                <a:solidFill>
                  <a:schemeClr val="tx1"/>
                </a:solidFill>
              </a:rPr>
              <a:t>nutrición:</a:t>
            </a:r>
          </a:p>
          <a:p>
            <a:pPr marL="457200" indent="-457200">
              <a:buAutoNum type="arabicPeriod" startAt="4"/>
            </a:pPr>
            <a:endParaRPr lang="es-ES" dirty="0">
              <a:solidFill>
                <a:schemeClr val="tx1"/>
              </a:solidFill>
            </a:endParaRPr>
          </a:p>
          <a:p>
            <a:r>
              <a:rPr lang="es-ES" dirty="0" smtClean="0">
                <a:solidFill>
                  <a:schemeClr val="tx1"/>
                </a:solidFill>
              </a:rPr>
              <a:t>Algunas </a:t>
            </a:r>
            <a:r>
              <a:rPr lang="es-ES" dirty="0">
                <a:solidFill>
                  <a:schemeClr val="tx1"/>
                </a:solidFill>
              </a:rPr>
              <a:t>de las opciones que se tiene para estimular el apetito en el adulto mayor, son las siguientes:</a:t>
            </a:r>
          </a:p>
          <a:p>
            <a:r>
              <a:rPr lang="es-ES" dirty="0" smtClean="0">
                <a:solidFill>
                  <a:schemeClr val="tx1"/>
                </a:solidFill>
              </a:rPr>
              <a:t>Fomentar </a:t>
            </a:r>
            <a:r>
              <a:rPr lang="es-ES" dirty="0">
                <a:solidFill>
                  <a:schemeClr val="tx1"/>
                </a:solidFill>
              </a:rPr>
              <a:t>la higiene bucal y en especial la lengua, con el fin de mejorar la percepción de los sabores.</a:t>
            </a:r>
          </a:p>
          <a:p>
            <a:r>
              <a:rPr lang="es-ES" dirty="0" smtClean="0">
                <a:solidFill>
                  <a:schemeClr val="tx1"/>
                </a:solidFill>
              </a:rPr>
              <a:t>Tener </a:t>
            </a:r>
            <a:r>
              <a:rPr lang="es-ES" dirty="0">
                <a:solidFill>
                  <a:schemeClr val="tx1"/>
                </a:solidFill>
              </a:rPr>
              <a:t>en consideración el gusto del adulto mayor en relación al sabor y el olor.</a:t>
            </a:r>
          </a:p>
          <a:p>
            <a:r>
              <a:rPr lang="es-ES" dirty="0" smtClean="0">
                <a:solidFill>
                  <a:schemeClr val="tx1"/>
                </a:solidFill>
              </a:rPr>
              <a:t>Procurar </a:t>
            </a:r>
            <a:r>
              <a:rPr lang="es-ES" dirty="0">
                <a:solidFill>
                  <a:schemeClr val="tx1"/>
                </a:solidFill>
              </a:rPr>
              <a:t>que los alimentos tengan una temperatura adecuada.</a:t>
            </a:r>
          </a:p>
          <a:p>
            <a:r>
              <a:rPr lang="es-ES" dirty="0" smtClean="0">
                <a:solidFill>
                  <a:schemeClr val="tx1"/>
                </a:solidFill>
              </a:rPr>
              <a:t>Integrar </a:t>
            </a:r>
            <a:r>
              <a:rPr lang="es-ES" dirty="0">
                <a:solidFill>
                  <a:schemeClr val="tx1"/>
                </a:solidFill>
              </a:rPr>
              <a:t>dentro del menú alimentos preferidos por la persona mayor.</a:t>
            </a:r>
          </a:p>
          <a:p>
            <a:endParaRPr lang="en-US" dirty="0"/>
          </a:p>
        </p:txBody>
      </p:sp>
    </p:spTree>
    <p:extLst>
      <p:ext uri="{BB962C8B-B14F-4D97-AF65-F5344CB8AC3E}">
        <p14:creationId xmlns:p14="http://schemas.microsoft.com/office/powerpoint/2010/main" val="134769818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609600"/>
            <a:ext cx="7408333" cy="5516563"/>
          </a:xfrm>
        </p:spPr>
        <p:txBody>
          <a:bodyPr>
            <a:normAutofit fontScale="92500" lnSpcReduction="10000"/>
          </a:bodyPr>
          <a:lstStyle/>
          <a:p>
            <a:r>
              <a:rPr lang="es-ES" dirty="0" smtClean="0">
                <a:solidFill>
                  <a:schemeClr val="tx1"/>
                </a:solidFill>
              </a:rPr>
              <a:t>Para </a:t>
            </a:r>
            <a:r>
              <a:rPr lang="es-ES" dirty="0">
                <a:solidFill>
                  <a:schemeClr val="tx1"/>
                </a:solidFill>
              </a:rPr>
              <a:t>mejorar el sabor de los alimentos y estimular el apetito, puede utilizarse en forma moderada la margarina (de preferencia las marcas que estén enriquecidas con vitamina A), así como los condimentos que realzan el sabor de los alimentos y que no irritan el intestino como son el cilantro, perejil y no así la pimienta, clavo o comino.</a:t>
            </a:r>
          </a:p>
          <a:p>
            <a:r>
              <a:rPr lang="es-ES" dirty="0" smtClean="0">
                <a:solidFill>
                  <a:schemeClr val="tx1"/>
                </a:solidFill>
              </a:rPr>
              <a:t>Comer </a:t>
            </a:r>
            <a:r>
              <a:rPr lang="es-ES" dirty="0">
                <a:solidFill>
                  <a:schemeClr val="tx1"/>
                </a:solidFill>
              </a:rPr>
              <a:t>sentado o semisentado.</a:t>
            </a:r>
          </a:p>
          <a:p>
            <a:r>
              <a:rPr lang="es-ES" dirty="0" smtClean="0">
                <a:solidFill>
                  <a:schemeClr val="tx1"/>
                </a:solidFill>
              </a:rPr>
              <a:t>Se </a:t>
            </a:r>
            <a:r>
              <a:rPr lang="es-ES" dirty="0">
                <a:solidFill>
                  <a:schemeClr val="tx1"/>
                </a:solidFill>
              </a:rPr>
              <a:t>procurará que coma de forma lenta, sin prisas, evitando atragantamiento o cansancio.</a:t>
            </a:r>
          </a:p>
          <a:p>
            <a:r>
              <a:rPr lang="es-ES" dirty="0" smtClean="0">
                <a:solidFill>
                  <a:schemeClr val="tx1"/>
                </a:solidFill>
              </a:rPr>
              <a:t>La </a:t>
            </a:r>
            <a:r>
              <a:rPr lang="es-ES" dirty="0">
                <a:solidFill>
                  <a:schemeClr val="tx1"/>
                </a:solidFill>
              </a:rPr>
              <a:t>comida más ligera del día será la cena.</a:t>
            </a:r>
          </a:p>
          <a:p>
            <a:r>
              <a:rPr lang="es-ES" dirty="0" smtClean="0">
                <a:solidFill>
                  <a:schemeClr val="tx1"/>
                </a:solidFill>
              </a:rPr>
              <a:t> </a:t>
            </a:r>
            <a:r>
              <a:rPr lang="es-ES" dirty="0">
                <a:solidFill>
                  <a:schemeClr val="tx1"/>
                </a:solidFill>
              </a:rPr>
              <a:t>Reducir el consumo de grasas y de comidas que sean ricas en colesterol.</a:t>
            </a:r>
          </a:p>
          <a:p>
            <a:r>
              <a:rPr lang="es-ES" dirty="0" smtClean="0">
                <a:solidFill>
                  <a:schemeClr val="tx1"/>
                </a:solidFill>
              </a:rPr>
              <a:t>Disminuir </a:t>
            </a:r>
            <a:r>
              <a:rPr lang="es-ES" dirty="0">
                <a:solidFill>
                  <a:schemeClr val="tx1"/>
                </a:solidFill>
              </a:rPr>
              <a:t>la ingesta de sal.</a:t>
            </a:r>
          </a:p>
          <a:p>
            <a:r>
              <a:rPr lang="es-ES" dirty="0" smtClean="0">
                <a:solidFill>
                  <a:schemeClr val="tx1"/>
                </a:solidFill>
              </a:rPr>
              <a:t>Mantener </a:t>
            </a:r>
            <a:r>
              <a:rPr lang="es-ES" dirty="0">
                <a:solidFill>
                  <a:schemeClr val="tx1"/>
                </a:solidFill>
              </a:rPr>
              <a:t>un consumo adecuado de líquidos, como mínimo 1  litro al día.</a:t>
            </a:r>
          </a:p>
          <a:p>
            <a:endParaRPr lang="en-US" dirty="0"/>
          </a:p>
        </p:txBody>
      </p:sp>
    </p:spTree>
    <p:extLst>
      <p:ext uri="{BB962C8B-B14F-4D97-AF65-F5344CB8AC3E}">
        <p14:creationId xmlns:p14="http://schemas.microsoft.com/office/powerpoint/2010/main" val="293034650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304800"/>
            <a:ext cx="7408333" cy="5821363"/>
          </a:xfrm>
        </p:spPr>
        <p:txBody>
          <a:bodyPr>
            <a:normAutofit lnSpcReduction="10000"/>
          </a:bodyPr>
          <a:lstStyle/>
          <a:p>
            <a:pPr marL="0" indent="0">
              <a:buNone/>
            </a:pPr>
            <a:r>
              <a:rPr lang="es-ES" dirty="0" smtClean="0">
                <a:solidFill>
                  <a:schemeClr val="tx1"/>
                </a:solidFill>
              </a:rPr>
              <a:t>5. Aumentar</a:t>
            </a:r>
            <a:r>
              <a:rPr lang="es-ES" dirty="0">
                <a:solidFill>
                  <a:schemeClr val="tx1"/>
                </a:solidFill>
              </a:rPr>
              <a:t>, si es necesario, la ingesta de proteínas. Adecuada ingesta de proteínas, que pueden ser obtenidas a través del consumo de lácteos desgrasados. Estos favorecerán una menor pérdida de densidad ósea, particularmente en las ancianas, por ser estos productos la mayor fuente de calcio. </a:t>
            </a:r>
          </a:p>
          <a:p>
            <a:pPr marL="0" indent="0">
              <a:buNone/>
            </a:pPr>
            <a:r>
              <a:rPr lang="es-ES" dirty="0" smtClean="0">
                <a:solidFill>
                  <a:schemeClr val="tx1"/>
                </a:solidFill>
              </a:rPr>
              <a:t>6. Otra </a:t>
            </a:r>
            <a:r>
              <a:rPr lang="es-ES" dirty="0">
                <a:solidFill>
                  <a:schemeClr val="tx1"/>
                </a:solidFill>
              </a:rPr>
              <a:t>importante fuente proteica libre de grasa son las leguminosas: garbanzos, lentejas y porotos entre ellos el de soya. Esto servirá para aminorar la progresiva pérdida de masa muscular producida por el transcurso de los años. </a:t>
            </a:r>
            <a:endParaRPr lang="es-ES" dirty="0" smtClean="0">
              <a:solidFill>
                <a:schemeClr val="tx1"/>
              </a:solidFill>
            </a:endParaRPr>
          </a:p>
          <a:p>
            <a:pPr marL="0" indent="0">
              <a:buNone/>
            </a:pPr>
            <a:r>
              <a:rPr lang="es-ES" dirty="0" smtClean="0">
                <a:solidFill>
                  <a:schemeClr val="tx1"/>
                </a:solidFill>
              </a:rPr>
              <a:t>7. La </a:t>
            </a:r>
            <a:r>
              <a:rPr lang="es-ES" dirty="0">
                <a:solidFill>
                  <a:schemeClr val="tx1"/>
                </a:solidFill>
              </a:rPr>
              <a:t>menor actividad física también está relacionada con la disminución del apetito. En estos casos, se debe orientar a que la persona aumente el ejercicio físico de bajo impacto como caminar, hacer yoga, baile, según sea su capacidad.</a:t>
            </a:r>
          </a:p>
          <a:p>
            <a:endParaRPr lang="en-US" dirty="0"/>
          </a:p>
        </p:txBody>
      </p:sp>
    </p:spTree>
    <p:extLst>
      <p:ext uri="{BB962C8B-B14F-4D97-AF65-F5344CB8AC3E}">
        <p14:creationId xmlns:p14="http://schemas.microsoft.com/office/powerpoint/2010/main" val="20216904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685800"/>
            <a:ext cx="7408333" cy="6172200"/>
          </a:xfrm>
        </p:spPr>
        <p:txBody>
          <a:bodyPr>
            <a:normAutofit/>
          </a:bodyPr>
          <a:lstStyle/>
          <a:p>
            <a:pPr marL="0" indent="0">
              <a:buNone/>
            </a:pPr>
            <a:r>
              <a:rPr lang="es-ES" sz="2200" dirty="0" smtClean="0">
                <a:solidFill>
                  <a:schemeClr val="tx1"/>
                </a:solidFill>
              </a:rPr>
              <a:t>8. Los </a:t>
            </a:r>
            <a:r>
              <a:rPr lang="es-ES" sz="2200" dirty="0">
                <a:solidFill>
                  <a:schemeClr val="tx1"/>
                </a:solidFill>
              </a:rPr>
              <a:t>horarios de comida deben tratar de mantenerse. </a:t>
            </a:r>
          </a:p>
          <a:p>
            <a:pPr marL="0" indent="0">
              <a:buNone/>
            </a:pPr>
            <a:r>
              <a:rPr lang="es-ES" sz="2200" dirty="0" smtClean="0">
                <a:solidFill>
                  <a:schemeClr val="tx1"/>
                </a:solidFill>
              </a:rPr>
              <a:t>9.-depende </a:t>
            </a:r>
            <a:r>
              <a:rPr lang="es-ES" sz="2200" dirty="0">
                <a:solidFill>
                  <a:schemeClr val="tx1"/>
                </a:solidFill>
              </a:rPr>
              <a:t>del estado nutricional en que se encuentre la persona, puede necesitar más de cuatro comidas, ya sea por una posible patología como la diabetes o para reforzar su alimentación. </a:t>
            </a:r>
          </a:p>
          <a:p>
            <a:pPr marL="0" indent="0">
              <a:buNone/>
            </a:pPr>
            <a:r>
              <a:rPr lang="es-ES" sz="2200" dirty="0" smtClean="0">
                <a:solidFill>
                  <a:schemeClr val="tx1"/>
                </a:solidFill>
              </a:rPr>
              <a:t>10. </a:t>
            </a:r>
            <a:r>
              <a:rPr lang="es-ES" sz="2200" dirty="0">
                <a:solidFill>
                  <a:schemeClr val="tx1"/>
                </a:solidFill>
              </a:rPr>
              <a:t>L</a:t>
            </a:r>
            <a:r>
              <a:rPr lang="es-ES" sz="2200" dirty="0" smtClean="0">
                <a:solidFill>
                  <a:schemeClr val="tx1"/>
                </a:solidFill>
              </a:rPr>
              <a:t>os </a:t>
            </a:r>
            <a:r>
              <a:rPr lang="es-ES" sz="2200" dirty="0">
                <a:solidFill>
                  <a:schemeClr val="tx1"/>
                </a:solidFill>
              </a:rPr>
              <a:t>adultos mayores </a:t>
            </a:r>
            <a:r>
              <a:rPr lang="es-ES" sz="2200" dirty="0" smtClean="0">
                <a:solidFill>
                  <a:schemeClr val="tx1"/>
                </a:solidFill>
              </a:rPr>
              <a:t>disminuye su </a:t>
            </a:r>
            <a:r>
              <a:rPr lang="es-ES" sz="2200" dirty="0">
                <a:solidFill>
                  <a:schemeClr val="tx1"/>
                </a:solidFill>
              </a:rPr>
              <a:t>capacidad de tolerancia al volumen, se debe fraccionar la alimentación para </a:t>
            </a:r>
            <a:r>
              <a:rPr lang="es-ES" sz="2200" dirty="0" smtClean="0">
                <a:solidFill>
                  <a:schemeClr val="tx1"/>
                </a:solidFill>
              </a:rPr>
              <a:t>absorber </a:t>
            </a:r>
            <a:r>
              <a:rPr lang="es-ES" sz="2200" dirty="0" smtClean="0">
                <a:solidFill>
                  <a:schemeClr val="tx1"/>
                </a:solidFill>
              </a:rPr>
              <a:t>las </a:t>
            </a:r>
            <a:r>
              <a:rPr lang="es-ES" sz="2200" dirty="0">
                <a:solidFill>
                  <a:schemeClr val="tx1"/>
                </a:solidFill>
              </a:rPr>
              <a:t>calorías necesarias</a:t>
            </a:r>
            <a:r>
              <a:rPr lang="es-ES" sz="2200" dirty="0" smtClean="0">
                <a:solidFill>
                  <a:schemeClr val="tx1"/>
                </a:solidFill>
              </a:rPr>
              <a:t>.</a:t>
            </a:r>
          </a:p>
          <a:p>
            <a:pPr marL="0" indent="0">
              <a:buNone/>
            </a:pPr>
            <a:r>
              <a:rPr lang="es-ES" sz="2200" dirty="0" smtClean="0">
                <a:solidFill>
                  <a:schemeClr val="tx1"/>
                </a:solidFill>
              </a:rPr>
              <a:t>11. Apoyar </a:t>
            </a:r>
            <a:r>
              <a:rPr lang="es-ES" sz="2200" dirty="0">
                <a:solidFill>
                  <a:schemeClr val="tx1"/>
                </a:solidFill>
              </a:rPr>
              <a:t>al </a:t>
            </a:r>
            <a:r>
              <a:rPr lang="es-ES" sz="2200" dirty="0" err="1" smtClean="0">
                <a:solidFill>
                  <a:schemeClr val="tx1"/>
                </a:solidFill>
              </a:rPr>
              <a:t>Pcte</a:t>
            </a:r>
            <a:r>
              <a:rPr lang="es-ES" sz="2200" dirty="0" smtClean="0">
                <a:solidFill>
                  <a:schemeClr val="tx1"/>
                </a:solidFill>
              </a:rPr>
              <a:t>. a </a:t>
            </a:r>
            <a:r>
              <a:rPr lang="es-ES" sz="2200" dirty="0">
                <a:solidFill>
                  <a:schemeClr val="tx1"/>
                </a:solidFill>
              </a:rPr>
              <a:t>través de otras vías de </a:t>
            </a:r>
            <a:r>
              <a:rPr lang="es-ES" sz="2200" dirty="0" smtClean="0">
                <a:solidFill>
                  <a:schemeClr val="tx1"/>
                </a:solidFill>
              </a:rPr>
              <a:t>alimentación: como la alimentación enteral,  (</a:t>
            </a:r>
            <a:r>
              <a:rPr lang="es-ES" sz="2200" dirty="0">
                <a:solidFill>
                  <a:schemeClr val="tx1"/>
                </a:solidFill>
              </a:rPr>
              <a:t>aporte extra) o por sondas de alimentación. </a:t>
            </a:r>
            <a:r>
              <a:rPr lang="es-ES" sz="2200" dirty="0" smtClean="0">
                <a:solidFill>
                  <a:schemeClr val="tx1"/>
                </a:solidFill>
              </a:rPr>
              <a:t> Está </a:t>
            </a:r>
            <a:r>
              <a:rPr lang="es-ES" sz="2200" dirty="0">
                <a:solidFill>
                  <a:schemeClr val="tx1"/>
                </a:solidFill>
              </a:rPr>
              <a:t>indicada para:</a:t>
            </a:r>
          </a:p>
          <a:p>
            <a:pPr marL="0" indent="0">
              <a:buNone/>
            </a:pPr>
            <a:r>
              <a:rPr lang="es-ES" sz="2200" dirty="0" smtClean="0">
                <a:solidFill>
                  <a:schemeClr val="tx1"/>
                </a:solidFill>
              </a:rPr>
              <a:t>- Pacientes </a:t>
            </a:r>
            <a:r>
              <a:rPr lang="es-ES" sz="2200" dirty="0" smtClean="0">
                <a:solidFill>
                  <a:schemeClr val="tx1"/>
                </a:solidFill>
              </a:rPr>
              <a:t>con alteración </a:t>
            </a:r>
            <a:r>
              <a:rPr lang="es-ES" sz="2200" dirty="0">
                <a:solidFill>
                  <a:schemeClr val="tx1"/>
                </a:solidFill>
              </a:rPr>
              <a:t>de la deglución.</a:t>
            </a:r>
          </a:p>
          <a:p>
            <a:pPr marL="0" indent="0">
              <a:buNone/>
            </a:pPr>
            <a:r>
              <a:rPr lang="es-ES" sz="2200" dirty="0" smtClean="0">
                <a:solidFill>
                  <a:schemeClr val="tx1"/>
                </a:solidFill>
              </a:rPr>
              <a:t>- Pacientes </a:t>
            </a:r>
            <a:r>
              <a:rPr lang="es-ES" sz="2200" dirty="0">
                <a:solidFill>
                  <a:schemeClr val="tx1"/>
                </a:solidFill>
              </a:rPr>
              <a:t>con algún tipo de anorexia.</a:t>
            </a:r>
          </a:p>
          <a:p>
            <a:pPr marL="0" indent="0">
              <a:buNone/>
            </a:pPr>
            <a:r>
              <a:rPr lang="es-ES" sz="2200" dirty="0" smtClean="0">
                <a:solidFill>
                  <a:schemeClr val="tx1"/>
                </a:solidFill>
              </a:rPr>
              <a:t>- Personas </a:t>
            </a:r>
            <a:r>
              <a:rPr lang="es-ES" sz="2200" dirty="0">
                <a:solidFill>
                  <a:schemeClr val="tx1"/>
                </a:solidFill>
              </a:rPr>
              <a:t>que han aumentado su gasto metabólico (cáncer, quemados, etc.).</a:t>
            </a:r>
          </a:p>
          <a:p>
            <a:pPr marL="0" indent="0">
              <a:buNone/>
            </a:pPr>
            <a:r>
              <a:rPr lang="es-ES" sz="2200" dirty="0" smtClean="0">
                <a:solidFill>
                  <a:schemeClr val="tx1"/>
                </a:solidFill>
              </a:rPr>
              <a:t>- Desnutriciones </a:t>
            </a:r>
            <a:r>
              <a:rPr lang="es-ES" sz="2200" dirty="0">
                <a:solidFill>
                  <a:schemeClr val="tx1"/>
                </a:solidFill>
              </a:rPr>
              <a:t>extremas.</a:t>
            </a:r>
          </a:p>
          <a:p>
            <a:pPr marL="0" indent="0">
              <a:buNone/>
            </a:pPr>
            <a:endParaRPr lang="es-ES" dirty="0">
              <a:solidFill>
                <a:schemeClr val="tx1"/>
              </a:solidFill>
            </a:endParaRPr>
          </a:p>
          <a:p>
            <a:endParaRPr lang="en-US" dirty="0"/>
          </a:p>
        </p:txBody>
      </p:sp>
      <p:sp>
        <p:nvSpPr>
          <p:cNvPr id="3" name="2 Título"/>
          <p:cNvSpPr>
            <a:spLocks noGrp="1"/>
          </p:cNvSpPr>
          <p:nvPr>
            <p:ph type="title"/>
          </p:nvPr>
        </p:nvSpPr>
        <p:spPr>
          <a:xfrm flipV="1">
            <a:off x="457200" y="152400"/>
            <a:ext cx="8229600" cy="185928"/>
          </a:xfrm>
        </p:spPr>
        <p:txBody>
          <a:bodyPr>
            <a:normAutofit fontScale="90000"/>
          </a:bodyPr>
          <a:lstStyle/>
          <a:p>
            <a:endParaRPr lang="en-US" dirty="0"/>
          </a:p>
        </p:txBody>
      </p:sp>
    </p:spTree>
    <p:extLst>
      <p:ext uri="{BB962C8B-B14F-4D97-AF65-F5344CB8AC3E}">
        <p14:creationId xmlns:p14="http://schemas.microsoft.com/office/powerpoint/2010/main" val="11386836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381000"/>
            <a:ext cx="7408333" cy="5745163"/>
          </a:xfrm>
        </p:spPr>
        <p:txBody>
          <a:bodyPr>
            <a:normAutofit fontScale="85000" lnSpcReduction="20000"/>
          </a:bodyPr>
          <a:lstStyle/>
          <a:p>
            <a:r>
              <a:rPr lang="es-ES" dirty="0">
                <a:solidFill>
                  <a:schemeClr val="tx1"/>
                </a:solidFill>
              </a:rPr>
              <a:t>12.	Administrar una dieta correcta según sus necesidades del paciente asesorado por un </a:t>
            </a:r>
            <a:r>
              <a:rPr lang="es-ES" dirty="0" smtClean="0">
                <a:solidFill>
                  <a:schemeClr val="tx1"/>
                </a:solidFill>
              </a:rPr>
              <a:t>Nutricionista:</a:t>
            </a:r>
            <a:endParaRPr lang="es-ES" dirty="0">
              <a:solidFill>
                <a:schemeClr val="tx1"/>
              </a:solidFill>
            </a:endParaRPr>
          </a:p>
          <a:p>
            <a:pPr marL="0" indent="0">
              <a:buNone/>
            </a:pPr>
            <a:r>
              <a:rPr lang="es-ES" b="1" dirty="0" smtClean="0">
                <a:solidFill>
                  <a:schemeClr val="tx1"/>
                </a:solidFill>
              </a:rPr>
              <a:t>Variada</a:t>
            </a:r>
            <a:r>
              <a:rPr lang="es-ES" b="1" dirty="0">
                <a:solidFill>
                  <a:schemeClr val="tx1"/>
                </a:solidFill>
              </a:rPr>
              <a:t>: </a:t>
            </a:r>
            <a:r>
              <a:rPr lang="es-ES" dirty="0">
                <a:solidFill>
                  <a:schemeClr val="tx1"/>
                </a:solidFill>
              </a:rPr>
              <a:t>contiene fruta, verduras, carnes, pescados, huevo, leche.</a:t>
            </a:r>
          </a:p>
          <a:p>
            <a:r>
              <a:rPr lang="es-ES" dirty="0">
                <a:solidFill>
                  <a:schemeClr val="tx1"/>
                </a:solidFill>
              </a:rPr>
              <a:t>Si contiene una cantidad de 15 % de proteínas, 30% de grasas y 55% de azúcares llamadas también hidratos de carbono.</a:t>
            </a:r>
          </a:p>
          <a:p>
            <a:pPr marL="0" indent="0">
              <a:buNone/>
            </a:pPr>
            <a:r>
              <a:rPr lang="es-ES" b="1" dirty="0">
                <a:solidFill>
                  <a:schemeClr val="tx1"/>
                </a:solidFill>
              </a:rPr>
              <a:t>Agradable: </a:t>
            </a:r>
            <a:r>
              <a:rPr lang="es-ES" dirty="0">
                <a:solidFill>
                  <a:schemeClr val="tx1"/>
                </a:solidFill>
              </a:rPr>
              <a:t>Se </a:t>
            </a:r>
            <a:r>
              <a:rPr lang="es-ES" dirty="0" smtClean="0">
                <a:solidFill>
                  <a:schemeClr val="tx1"/>
                </a:solidFill>
              </a:rPr>
              <a:t>considera vistosa </a:t>
            </a:r>
            <a:r>
              <a:rPr lang="es-ES" dirty="0">
                <a:solidFill>
                  <a:schemeClr val="tx1"/>
                </a:solidFill>
              </a:rPr>
              <a:t>y atractiva, cuando se respetan los horarios y las preferencias de la persona, en la medida de lo posible. </a:t>
            </a:r>
            <a:endParaRPr lang="es-ES" dirty="0" smtClean="0">
              <a:solidFill>
                <a:schemeClr val="tx1"/>
              </a:solidFill>
            </a:endParaRPr>
          </a:p>
          <a:p>
            <a:r>
              <a:rPr lang="es-ES" dirty="0" smtClean="0">
                <a:solidFill>
                  <a:schemeClr val="tx1"/>
                </a:solidFill>
              </a:rPr>
              <a:t>Es </a:t>
            </a:r>
            <a:r>
              <a:rPr lang="es-ES" dirty="0">
                <a:solidFill>
                  <a:schemeClr val="tx1"/>
                </a:solidFill>
              </a:rPr>
              <a:t>importante preparar los alimentos según la capacidad para </a:t>
            </a:r>
            <a:r>
              <a:rPr lang="es-ES" dirty="0" smtClean="0">
                <a:solidFill>
                  <a:schemeClr val="tx1"/>
                </a:solidFill>
              </a:rPr>
              <a:t>y deglutir variar</a:t>
            </a:r>
            <a:r>
              <a:rPr lang="es-ES" dirty="0">
                <a:solidFill>
                  <a:schemeClr val="tx1"/>
                </a:solidFill>
              </a:rPr>
              <a:t>, pudiendo ser ésta entera, picada, pastosa, molida o líquida.</a:t>
            </a:r>
          </a:p>
          <a:p>
            <a:pPr marL="0" indent="0">
              <a:buNone/>
            </a:pPr>
            <a:r>
              <a:rPr lang="es-ES" b="1" dirty="0">
                <a:solidFill>
                  <a:schemeClr val="tx1"/>
                </a:solidFill>
              </a:rPr>
              <a:t>Fraccionada:  </a:t>
            </a:r>
          </a:p>
          <a:p>
            <a:r>
              <a:rPr lang="es-ES" dirty="0" smtClean="0">
                <a:solidFill>
                  <a:schemeClr val="tx1"/>
                </a:solidFill>
              </a:rPr>
              <a:t>3 </a:t>
            </a:r>
            <a:r>
              <a:rPr lang="es-ES" dirty="0">
                <a:solidFill>
                  <a:schemeClr val="tx1"/>
                </a:solidFill>
              </a:rPr>
              <a:t>comidas, esta se puede dividir en 4 o 5 comidas al día.</a:t>
            </a:r>
          </a:p>
          <a:p>
            <a:r>
              <a:rPr lang="es-ES" dirty="0">
                <a:solidFill>
                  <a:schemeClr val="tx1"/>
                </a:solidFill>
              </a:rPr>
              <a:t>Un ejemplo de división en 5 comidas durante el día sería:</a:t>
            </a:r>
          </a:p>
          <a:p>
            <a:r>
              <a:rPr lang="es-ES" dirty="0">
                <a:solidFill>
                  <a:schemeClr val="tx1"/>
                </a:solidFill>
              </a:rPr>
              <a:t>• Desayuno</a:t>
            </a:r>
          </a:p>
          <a:p>
            <a:r>
              <a:rPr lang="es-ES" dirty="0">
                <a:solidFill>
                  <a:schemeClr val="tx1"/>
                </a:solidFill>
              </a:rPr>
              <a:t>• Colación o refrigerio (matutino)</a:t>
            </a:r>
          </a:p>
          <a:p>
            <a:r>
              <a:rPr lang="es-ES" dirty="0">
                <a:solidFill>
                  <a:schemeClr val="tx1"/>
                </a:solidFill>
              </a:rPr>
              <a:t>• Comida</a:t>
            </a:r>
          </a:p>
          <a:p>
            <a:r>
              <a:rPr lang="es-ES" dirty="0">
                <a:solidFill>
                  <a:schemeClr val="tx1"/>
                </a:solidFill>
              </a:rPr>
              <a:t>• Colación o refrigerio (vespertino)</a:t>
            </a:r>
          </a:p>
          <a:p>
            <a:r>
              <a:rPr lang="es-ES" dirty="0">
                <a:solidFill>
                  <a:schemeClr val="tx1"/>
                </a:solidFill>
              </a:rPr>
              <a:t>• Merienda o cena.</a:t>
            </a:r>
          </a:p>
          <a:p>
            <a:endParaRPr lang="en-US" dirty="0"/>
          </a:p>
        </p:txBody>
      </p:sp>
    </p:spTree>
    <p:extLst>
      <p:ext uri="{BB962C8B-B14F-4D97-AF65-F5344CB8AC3E}">
        <p14:creationId xmlns:p14="http://schemas.microsoft.com/office/powerpoint/2010/main" val="114231742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contenido"/>
          <p:cNvSpPr>
            <a:spLocks noGrp="1"/>
          </p:cNvSpPr>
          <p:nvPr>
            <p:ph idx="1"/>
          </p:nvPr>
        </p:nvSpPr>
        <p:spPr>
          <a:xfrm>
            <a:off x="872067" y="381000"/>
            <a:ext cx="7408333" cy="5745163"/>
          </a:xfrm>
        </p:spPr>
        <p:txBody>
          <a:bodyPr/>
          <a:lstStyle/>
          <a:p>
            <a:pPr marL="0" indent="0">
              <a:buNone/>
            </a:pPr>
            <a:endParaRPr lang="es-ES" dirty="0" smtClean="0">
              <a:solidFill>
                <a:schemeClr val="tx1"/>
              </a:solidFill>
            </a:endParaRPr>
          </a:p>
          <a:p>
            <a:pPr marL="0" indent="0">
              <a:buNone/>
            </a:pPr>
            <a:r>
              <a:rPr lang="es-ES" dirty="0" smtClean="0">
                <a:solidFill>
                  <a:schemeClr val="tx1"/>
                </a:solidFill>
              </a:rPr>
              <a:t>13. Cuidar </a:t>
            </a:r>
            <a:r>
              <a:rPr lang="es-ES" dirty="0">
                <a:solidFill>
                  <a:schemeClr val="tx1"/>
                </a:solidFill>
              </a:rPr>
              <a:t>el consumo de alimentos con alto contenido de azúcar e hidratos de carbono refinados y de elevado índice glicérico, como: las galletas y otras golosinas, tan de gusto de los ancianos. Su mayor ingesta puede aumentar el riesgo de padecer entre otras; obesidad, resistencia a la insulina, intolerancia a la glucosa y diabetes mellitus.</a:t>
            </a:r>
          </a:p>
          <a:p>
            <a:pPr marL="0" indent="0">
              <a:buNone/>
            </a:pPr>
            <a:r>
              <a:rPr lang="es-ES" dirty="0" smtClean="0">
                <a:solidFill>
                  <a:schemeClr val="tx1"/>
                </a:solidFill>
              </a:rPr>
              <a:t>14. Verificar </a:t>
            </a:r>
            <a:r>
              <a:rPr lang="es-ES" dirty="0">
                <a:solidFill>
                  <a:schemeClr val="tx1"/>
                </a:solidFill>
              </a:rPr>
              <a:t>el consumo de líquidos con atención, ya que muchas veces la deshidratación en los adultos mayores puede pasar inadvertida. Los ancianos crónicamente enfermos, inmovilizados, dementes o con problemas de control vesical a menudo no beben suficiente líquido.</a:t>
            </a:r>
          </a:p>
          <a:p>
            <a:endParaRPr lang="en-US" dirty="0"/>
          </a:p>
        </p:txBody>
      </p:sp>
    </p:spTree>
    <p:extLst>
      <p:ext uri="{BB962C8B-B14F-4D97-AF65-F5344CB8AC3E}">
        <p14:creationId xmlns:p14="http://schemas.microsoft.com/office/powerpoint/2010/main" val="224018890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609600"/>
            <a:ext cx="8229600" cy="5516563"/>
          </a:xfrm>
        </p:spPr>
        <p:txBody>
          <a:bodyPr>
            <a:normAutofit fontScale="85000" lnSpcReduction="20000"/>
          </a:bodyPr>
          <a:lstStyle/>
          <a:p>
            <a:pPr marL="0" marR="0" algn="just">
              <a:lnSpc>
                <a:spcPct val="150000"/>
              </a:lnSpc>
              <a:spcBef>
                <a:spcPts val="0"/>
              </a:spcBef>
              <a:spcAft>
                <a:spcPts val="0"/>
              </a:spcAft>
            </a:pPr>
            <a:r>
              <a:rPr lang="es-ES" dirty="0" smtClean="0">
                <a:solidFill>
                  <a:srgbClr val="000000"/>
                </a:solidFill>
                <a:effectLst/>
                <a:latin typeface="Arial"/>
                <a:ea typeface="Calibri"/>
                <a:cs typeface="Times New Roman"/>
              </a:rPr>
              <a:t>“El alimento es medicamento, por ello haz que tu medicamento sea tu alimento” HIPÓCRATES, 400 a.C.</a:t>
            </a:r>
          </a:p>
          <a:p>
            <a:pPr marL="0" marR="0" algn="just">
              <a:lnSpc>
                <a:spcPct val="150000"/>
              </a:lnSpc>
              <a:spcBef>
                <a:spcPts val="0"/>
              </a:spcBef>
              <a:spcAft>
                <a:spcPts val="0"/>
              </a:spcAft>
            </a:pPr>
            <a:endParaRPr lang="es-ES" dirty="0">
              <a:solidFill>
                <a:srgbClr val="000000"/>
              </a:solidFill>
              <a:latin typeface="Arial"/>
              <a:ea typeface="Calibri"/>
              <a:cs typeface="Times New Roman"/>
            </a:endParaRPr>
          </a:p>
          <a:p>
            <a:pPr marL="0" marR="0" algn="just">
              <a:lnSpc>
                <a:spcPct val="150000"/>
              </a:lnSpc>
              <a:spcBef>
                <a:spcPts val="0"/>
              </a:spcBef>
              <a:spcAft>
                <a:spcPts val="0"/>
              </a:spcAft>
            </a:pPr>
            <a:endParaRPr lang="es-ES" dirty="0" smtClean="0">
              <a:solidFill>
                <a:srgbClr val="000000"/>
              </a:solidFill>
              <a:effectLst/>
              <a:latin typeface="Arial"/>
              <a:ea typeface="Calibri"/>
              <a:cs typeface="Times New Roman"/>
            </a:endParaRPr>
          </a:p>
          <a:p>
            <a:pPr marL="0" marR="0" algn="just">
              <a:lnSpc>
                <a:spcPct val="150000"/>
              </a:lnSpc>
              <a:spcBef>
                <a:spcPts val="0"/>
              </a:spcBef>
              <a:spcAft>
                <a:spcPts val="0"/>
              </a:spcAft>
            </a:pPr>
            <a:endParaRPr lang="es-ES" dirty="0" smtClean="0">
              <a:solidFill>
                <a:srgbClr val="000000"/>
              </a:solidFill>
              <a:effectLst/>
              <a:latin typeface="Arial"/>
              <a:ea typeface="Calibri"/>
              <a:cs typeface="Times New Roman"/>
            </a:endParaRPr>
          </a:p>
          <a:p>
            <a:pPr marL="0" marR="0" algn="just">
              <a:lnSpc>
                <a:spcPct val="150000"/>
              </a:lnSpc>
              <a:spcBef>
                <a:spcPts val="0"/>
              </a:spcBef>
              <a:spcAft>
                <a:spcPts val="0"/>
              </a:spcAft>
            </a:pPr>
            <a:endParaRPr lang="es-ES" dirty="0" smtClean="0">
              <a:solidFill>
                <a:srgbClr val="000000"/>
              </a:solidFill>
              <a:effectLst/>
              <a:latin typeface="Arial"/>
              <a:ea typeface="Calibri"/>
              <a:cs typeface="Times New Roman"/>
            </a:endParaRPr>
          </a:p>
          <a:p>
            <a:pPr marL="0" marR="0" algn="just">
              <a:lnSpc>
                <a:spcPct val="150000"/>
              </a:lnSpc>
              <a:spcBef>
                <a:spcPts val="0"/>
              </a:spcBef>
              <a:spcAft>
                <a:spcPts val="0"/>
              </a:spcAft>
            </a:pPr>
            <a:endParaRPr lang="es-ES" dirty="0">
              <a:solidFill>
                <a:srgbClr val="000000"/>
              </a:solidFill>
              <a:latin typeface="Arial"/>
              <a:ea typeface="Calibri"/>
              <a:cs typeface="Times New Roman"/>
            </a:endParaRPr>
          </a:p>
          <a:p>
            <a:pPr marL="0" marR="0" algn="just">
              <a:lnSpc>
                <a:spcPct val="150000"/>
              </a:lnSpc>
              <a:spcBef>
                <a:spcPts val="0"/>
              </a:spcBef>
              <a:spcAft>
                <a:spcPts val="0"/>
              </a:spcAft>
            </a:pPr>
            <a:endParaRPr lang="es-ES" dirty="0" smtClean="0">
              <a:solidFill>
                <a:srgbClr val="000000"/>
              </a:solidFill>
              <a:latin typeface="Arial"/>
              <a:ea typeface="Calibri"/>
              <a:cs typeface="Times New Roman"/>
            </a:endParaRPr>
          </a:p>
          <a:p>
            <a:pPr marL="0" marR="0" algn="just">
              <a:lnSpc>
                <a:spcPct val="150000"/>
              </a:lnSpc>
              <a:spcBef>
                <a:spcPts val="0"/>
              </a:spcBef>
              <a:spcAft>
                <a:spcPts val="0"/>
              </a:spcAft>
            </a:pPr>
            <a:endParaRPr lang="es-ES" dirty="0">
              <a:solidFill>
                <a:srgbClr val="000000"/>
              </a:solidFill>
              <a:latin typeface="Arial"/>
              <a:ea typeface="Calibri"/>
              <a:cs typeface="Times New Roman"/>
            </a:endParaRPr>
          </a:p>
          <a:p>
            <a:pPr marL="0" marR="0" algn="just">
              <a:lnSpc>
                <a:spcPct val="150000"/>
              </a:lnSpc>
              <a:spcBef>
                <a:spcPts val="0"/>
              </a:spcBef>
              <a:spcAft>
                <a:spcPts val="0"/>
              </a:spcAft>
            </a:pPr>
            <a:endParaRPr lang="es-ES" dirty="0" smtClean="0">
              <a:solidFill>
                <a:srgbClr val="000000"/>
              </a:solidFill>
              <a:latin typeface="Arial"/>
              <a:ea typeface="Calibri"/>
              <a:cs typeface="Times New Roman"/>
            </a:endParaRPr>
          </a:p>
          <a:p>
            <a:pPr marL="0" marR="0" algn="just">
              <a:lnSpc>
                <a:spcPct val="150000"/>
              </a:lnSpc>
              <a:spcBef>
                <a:spcPts val="0"/>
              </a:spcBef>
              <a:spcAft>
                <a:spcPts val="0"/>
              </a:spcAft>
            </a:pPr>
            <a:endParaRPr lang="es-ES" dirty="0">
              <a:solidFill>
                <a:srgbClr val="000000"/>
              </a:solidFill>
              <a:latin typeface="Arial"/>
              <a:ea typeface="Calibri"/>
              <a:cs typeface="Times New Roman"/>
            </a:endParaRPr>
          </a:p>
          <a:p>
            <a:pPr marL="0" marR="0" indent="0" algn="ctr">
              <a:lnSpc>
                <a:spcPct val="150000"/>
              </a:lnSpc>
              <a:spcBef>
                <a:spcPts val="0"/>
              </a:spcBef>
              <a:spcAft>
                <a:spcPts val="0"/>
              </a:spcAft>
              <a:buNone/>
            </a:pPr>
            <a:r>
              <a:rPr lang="es-ES" sz="4200" dirty="0" smtClean="0">
                <a:solidFill>
                  <a:srgbClr val="000000"/>
                </a:solidFill>
                <a:latin typeface="Arial"/>
                <a:ea typeface="Calibri"/>
                <a:cs typeface="Times New Roman"/>
              </a:rPr>
              <a:t>GRACIAS</a:t>
            </a:r>
            <a:endParaRPr lang="en-US" sz="4200" dirty="0">
              <a:ea typeface="Calibri"/>
              <a:cs typeface="Times New Roman"/>
            </a:endParaRPr>
          </a:p>
          <a:p>
            <a:pPr marL="0" indent="0">
              <a:buNone/>
            </a:pPr>
            <a:endParaRPr lang="en-US" dirty="0"/>
          </a:p>
          <a:p>
            <a:endParaRPr lang="en-US" dirty="0" smtClean="0"/>
          </a:p>
          <a:p>
            <a:endParaRPr lang="en-US" dirty="0"/>
          </a:p>
        </p:txBody>
      </p:sp>
      <p:pic>
        <p:nvPicPr>
          <p:cNvPr id="4" name="3 Imagen" descr="https://encrypted-tbn2.gstatic.com/images?q=tbn:ANd9GcTWxupyhxns2vCo8JZd2ch37-HFGXr5w6oV0Y70xKa1EkLHYkaRgQ"/>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818968"/>
            <a:ext cx="3657600" cy="3210232"/>
          </a:xfrm>
          <a:prstGeom prst="rect">
            <a:avLst/>
          </a:prstGeom>
          <a:noFill/>
          <a:ln>
            <a:noFill/>
          </a:ln>
        </p:spPr>
      </p:pic>
    </p:spTree>
    <p:extLst>
      <p:ext uri="{BB962C8B-B14F-4D97-AF65-F5344CB8AC3E}">
        <p14:creationId xmlns:p14="http://schemas.microsoft.com/office/powerpoint/2010/main" val="3236521046"/>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orma de onda">
  <a:themeElements>
    <a:clrScheme name="Forma de onda">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Forma de onda">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Forma de onda">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246</TotalTime>
  <Words>2268</Words>
  <Application>Microsoft Office PowerPoint</Application>
  <PresentationFormat>Presentación en pantalla (4:3)</PresentationFormat>
  <Paragraphs>321</Paragraphs>
  <Slides>30</Slides>
  <Notes>0</Notes>
  <HiddenSlides>0</HiddenSlides>
  <MMClips>0</MMClips>
  <ScaleCrop>false</ScaleCrop>
  <HeadingPairs>
    <vt:vector size="4" baseType="variant">
      <vt:variant>
        <vt:lpstr>Tema</vt:lpstr>
      </vt:variant>
      <vt:variant>
        <vt:i4>1</vt:i4>
      </vt:variant>
      <vt:variant>
        <vt:lpstr>Títulos de diapositiva</vt:lpstr>
      </vt:variant>
      <vt:variant>
        <vt:i4>30</vt:i4>
      </vt:variant>
    </vt:vector>
  </HeadingPairs>
  <TitlesOfParts>
    <vt:vector size="31" baseType="lpstr">
      <vt:lpstr>Forma de onda</vt:lpstr>
      <vt:lpstr>ALTERACIONES NUTRICIONALES EN EL ADULTO MAYOR</vt:lpstr>
      <vt:lpstr>INTRODUCCIÓN</vt:lpstr>
      <vt:lpstr>“Índice de Masa Corporal”, o “Índice de Quetelet” (nombre del creador).</vt:lpstr>
      <vt:lpstr>Presentación de PowerPoint</vt:lpstr>
      <vt:lpstr>DESNUTRICION</vt:lpstr>
      <vt:lpstr>CAUSAS FAVORECEDORAS DE LA MALNUTRICIÓN</vt:lpstr>
      <vt:lpstr>Presentación de PowerPoint</vt:lpstr>
      <vt:lpstr>Presentación de PowerPoint</vt:lpstr>
      <vt:lpstr>Presentación de PowerPoint</vt:lpstr>
      <vt:lpstr>REQUERIMIENTOS NUTRICIONALES</vt:lpstr>
      <vt:lpstr>Presentación de PowerPoint</vt:lpstr>
      <vt:lpstr>Presentación de PowerPoint</vt:lpstr>
      <vt:lpstr>Presentación de PowerPoint</vt:lpstr>
      <vt:lpstr>MANEJO PREVENTIVO</vt:lpstr>
      <vt:lpstr>OBESIDAD:</vt:lpstr>
      <vt:lpstr>Presentación de PowerPoint</vt:lpstr>
      <vt:lpstr>Presentación de PowerPoint</vt:lpstr>
      <vt:lpstr>Presentación de PowerPoint</vt:lpstr>
      <vt:lpstr>CONSTIPACIÓN.- </vt:lpstr>
      <vt:lpstr>Presentación de PowerPoint</vt:lpstr>
      <vt:lpstr>        TRATAMIENTO</vt:lpstr>
      <vt:lpstr> 2. Tratamiento farmacológico (primer nivel)</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GP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ALTERACIONES NUTRICIONALES EN EL ADULTO MAYOR</dc:title>
  <dc:creator>hp</dc:creator>
  <cp:lastModifiedBy>hp</cp:lastModifiedBy>
  <cp:revision>22</cp:revision>
  <dcterms:created xsi:type="dcterms:W3CDTF">2014-11-27T21:15:14Z</dcterms:created>
  <dcterms:modified xsi:type="dcterms:W3CDTF">2014-11-29T11:40:53Z</dcterms:modified>
</cp:coreProperties>
</file>