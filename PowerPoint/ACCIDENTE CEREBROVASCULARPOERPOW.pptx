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diagrams/quickStyle1.xml" ContentType="application/vnd.openxmlformats-officedocument.drawingml.diagramStyl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diagrams/layout1.xml" ContentType="application/vnd.openxmlformats-officedocument.drawingml.diagram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5"/>
  </p:notesMasterIdLst>
  <p:sldIdLst>
    <p:sldId id="263" r:id="rId2"/>
    <p:sldId id="264" r:id="rId3"/>
    <p:sldId id="265" r:id="rId4"/>
    <p:sldId id="266" r:id="rId5"/>
    <p:sldId id="267" r:id="rId6"/>
    <p:sldId id="268" r:id="rId7"/>
    <p:sldId id="269" r:id="rId8"/>
    <p:sldId id="270" r:id="rId9"/>
    <p:sldId id="271" r:id="rId10"/>
    <p:sldId id="277" r:id="rId11"/>
    <p:sldId id="278" r:id="rId12"/>
    <p:sldId id="279" r:id="rId13"/>
    <p:sldId id="280" r:id="rId14"/>
    <p:sldId id="281" r:id="rId15"/>
    <p:sldId id="282" r:id="rId16"/>
    <p:sldId id="283" r:id="rId17"/>
    <p:sldId id="284" r:id="rId18"/>
    <p:sldId id="285" r:id="rId19"/>
    <p:sldId id="286" r:id="rId20"/>
    <p:sldId id="287" r:id="rId21"/>
    <p:sldId id="288" r:id="rId22"/>
    <p:sldId id="289" r:id="rId23"/>
    <p:sldId id="290" r:id="rId24"/>
  </p:sldIdLst>
  <p:sldSz cx="9144000" cy="6858000" type="screen4x3"/>
  <p:notesSz cx="6858000" cy="9144000"/>
  <p:defaultTextStyle>
    <a:defPPr>
      <a:defRPr lang="es-B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1" d="100"/>
          <a:sy n="61" d="100"/>
        </p:scale>
        <p:origin x="-1349" y="-72"/>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2D71A71-552A-4837-88DE-B916D834F303}"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s-BO"/>
        </a:p>
      </dgm:t>
    </dgm:pt>
    <dgm:pt modelId="{AE7EBF13-A29C-43DC-B1F8-2A7EB2A40294}">
      <dgm:prSet phldrT="[Texto]"/>
      <dgm:spPr/>
      <dgm:t>
        <a:bodyPr/>
        <a:lstStyle/>
        <a:p>
          <a:r>
            <a:rPr lang="es-ES" dirty="0" smtClean="0"/>
            <a:t>Concepto</a:t>
          </a:r>
          <a:endParaRPr lang="es-BO" dirty="0"/>
        </a:p>
      </dgm:t>
    </dgm:pt>
    <dgm:pt modelId="{3C04B196-B9BB-4505-849C-6AC1A56AB280}" type="parTrans" cxnId="{6EC3AB4F-B8C3-4873-97E1-DE6BB46F0DF0}">
      <dgm:prSet/>
      <dgm:spPr/>
      <dgm:t>
        <a:bodyPr/>
        <a:lstStyle/>
        <a:p>
          <a:endParaRPr lang="es-BO"/>
        </a:p>
      </dgm:t>
    </dgm:pt>
    <dgm:pt modelId="{4FFD4EB4-15DB-404A-A989-04344FB2C7DC}" type="sibTrans" cxnId="{6EC3AB4F-B8C3-4873-97E1-DE6BB46F0DF0}">
      <dgm:prSet/>
      <dgm:spPr/>
      <dgm:t>
        <a:bodyPr/>
        <a:lstStyle/>
        <a:p>
          <a:endParaRPr lang="es-BO"/>
        </a:p>
      </dgm:t>
    </dgm:pt>
    <dgm:pt modelId="{0D9F76FE-EE8E-47E8-94BE-F43FFF2C59DB}">
      <dgm:prSet phldrT="[Texto]"/>
      <dgm:spPr/>
      <dgm:t>
        <a:bodyPr/>
        <a:lstStyle/>
        <a:p>
          <a:r>
            <a:rPr lang="es-BO" dirty="0" smtClean="0"/>
            <a:t>Accidente Cerebro vascular hemorrágico ocurre cuando se revienta un vaso sanguíneo y sangra dentro del cerebro (una hemorragia). Esto daña las células del cerebro y comienzan a morir. Existen dos tipos principales de accidente </a:t>
          </a:r>
          <a:r>
            <a:rPr lang="es-BO" dirty="0" err="1" smtClean="0"/>
            <a:t>cerebrovascular</a:t>
          </a:r>
          <a:r>
            <a:rPr lang="es-BO" smtClean="0"/>
            <a:t> </a:t>
          </a:r>
          <a:r>
            <a:rPr lang="es-BO" smtClean="0"/>
            <a:t>hemorrágico.</a:t>
          </a:r>
          <a:endParaRPr lang="es-BO" dirty="0"/>
        </a:p>
      </dgm:t>
    </dgm:pt>
    <dgm:pt modelId="{477B0A14-4869-4C67-8A21-2A649B255244}" type="parTrans" cxnId="{5C068BCE-14B2-436C-8591-1373DB2832A2}">
      <dgm:prSet/>
      <dgm:spPr/>
      <dgm:t>
        <a:bodyPr/>
        <a:lstStyle/>
        <a:p>
          <a:endParaRPr lang="es-BO"/>
        </a:p>
      </dgm:t>
    </dgm:pt>
    <dgm:pt modelId="{2707C208-207C-45D3-A89C-C5BBFF3A23D7}" type="sibTrans" cxnId="{5C068BCE-14B2-436C-8591-1373DB2832A2}">
      <dgm:prSet/>
      <dgm:spPr/>
      <dgm:t>
        <a:bodyPr/>
        <a:lstStyle/>
        <a:p>
          <a:endParaRPr lang="es-BO"/>
        </a:p>
      </dgm:t>
    </dgm:pt>
    <dgm:pt modelId="{07E8A82C-CB08-412C-B5A9-6C003922E7BE}">
      <dgm:prSet phldrT="[Texto]" phldr="1"/>
      <dgm:spPr/>
      <dgm:t>
        <a:bodyPr/>
        <a:lstStyle/>
        <a:p>
          <a:endParaRPr lang="es-BO" dirty="0"/>
        </a:p>
      </dgm:t>
    </dgm:pt>
    <dgm:pt modelId="{9598C346-2A82-4192-ADB2-CC88E83AC934}" type="parTrans" cxnId="{7160A544-651B-4C85-8599-527AE0542A11}">
      <dgm:prSet/>
      <dgm:spPr/>
      <dgm:t>
        <a:bodyPr/>
        <a:lstStyle/>
        <a:p>
          <a:endParaRPr lang="es-BO"/>
        </a:p>
      </dgm:t>
    </dgm:pt>
    <dgm:pt modelId="{79CC3809-78F3-4C7B-92BB-912210F91BDC}" type="sibTrans" cxnId="{7160A544-651B-4C85-8599-527AE0542A11}">
      <dgm:prSet/>
      <dgm:spPr/>
      <dgm:t>
        <a:bodyPr/>
        <a:lstStyle/>
        <a:p>
          <a:endParaRPr lang="es-BO"/>
        </a:p>
      </dgm:t>
    </dgm:pt>
    <dgm:pt modelId="{5AF62201-13D5-4408-A420-01ACA5061C88}">
      <dgm:prSet phldrT="[Texto]"/>
      <dgm:spPr/>
      <dgm:t>
        <a:bodyPr/>
        <a:lstStyle/>
        <a:p>
          <a:r>
            <a:rPr lang="es-BO" b="1" dirty="0" smtClean="0"/>
            <a:t>Hemorragia </a:t>
          </a:r>
          <a:r>
            <a:rPr lang="es-BO" b="1" dirty="0" err="1" smtClean="0"/>
            <a:t>intracerebral</a:t>
          </a:r>
          <a:r>
            <a:rPr lang="es-BO" dirty="0" smtClean="0"/>
            <a:t>. Quiere decir que el accidente cerebrovascular hemorrágico fue provocado por una hemorragia en su cerebro.</a:t>
          </a:r>
          <a:endParaRPr lang="es-BO" dirty="0"/>
        </a:p>
      </dgm:t>
    </dgm:pt>
    <dgm:pt modelId="{19EA8314-1565-4AF9-8514-7B1EF65DADC7}" type="parTrans" cxnId="{AF8ED65C-A040-4F88-B019-90D15CB77010}">
      <dgm:prSet/>
      <dgm:spPr/>
      <dgm:t>
        <a:bodyPr/>
        <a:lstStyle/>
        <a:p>
          <a:endParaRPr lang="es-BO"/>
        </a:p>
      </dgm:t>
    </dgm:pt>
    <dgm:pt modelId="{9E2C5753-675A-44DC-8A5F-2A5512CDCC7F}" type="sibTrans" cxnId="{AF8ED65C-A040-4F88-B019-90D15CB77010}">
      <dgm:prSet/>
      <dgm:spPr/>
      <dgm:t>
        <a:bodyPr/>
        <a:lstStyle/>
        <a:p>
          <a:endParaRPr lang="es-BO"/>
        </a:p>
      </dgm:t>
    </dgm:pt>
    <dgm:pt modelId="{D420913F-A8F4-416A-A34E-AB0BA17527B8}">
      <dgm:prSet phldrT="[Texto]" phldr="1"/>
      <dgm:spPr/>
      <dgm:t>
        <a:bodyPr/>
        <a:lstStyle/>
        <a:p>
          <a:endParaRPr lang="es-BO"/>
        </a:p>
      </dgm:t>
    </dgm:pt>
    <dgm:pt modelId="{9361646F-4796-427A-932B-40C02866EAB3}" type="parTrans" cxnId="{F7924061-2B64-4D61-9A3A-3A7559D920AB}">
      <dgm:prSet/>
      <dgm:spPr/>
      <dgm:t>
        <a:bodyPr/>
        <a:lstStyle/>
        <a:p>
          <a:endParaRPr lang="es-BO"/>
        </a:p>
      </dgm:t>
    </dgm:pt>
    <dgm:pt modelId="{032D7A6C-14F8-4A60-81CD-AF7567BBA092}" type="sibTrans" cxnId="{F7924061-2B64-4D61-9A3A-3A7559D920AB}">
      <dgm:prSet/>
      <dgm:spPr/>
      <dgm:t>
        <a:bodyPr/>
        <a:lstStyle/>
        <a:p>
          <a:endParaRPr lang="es-BO"/>
        </a:p>
      </dgm:t>
    </dgm:pt>
    <dgm:pt modelId="{2ECD5810-5683-400B-A7A1-4B8B4978C1E6}">
      <dgm:prSet phldrT="[Texto]" phldr="1"/>
      <dgm:spPr/>
      <dgm:t>
        <a:bodyPr/>
        <a:lstStyle/>
        <a:p>
          <a:endParaRPr lang="es-BO"/>
        </a:p>
      </dgm:t>
    </dgm:pt>
    <dgm:pt modelId="{A87B39BD-6FF3-4768-9D23-1A0316AA4FAC}" type="parTrans" cxnId="{A9BBB041-A9A4-4E05-B64B-77A45CEFE98C}">
      <dgm:prSet/>
      <dgm:spPr/>
      <dgm:t>
        <a:bodyPr/>
        <a:lstStyle/>
        <a:p>
          <a:endParaRPr lang="es-BO"/>
        </a:p>
      </dgm:t>
    </dgm:pt>
    <dgm:pt modelId="{BA1A9035-3458-4AA4-88C8-301F5C32E8B7}" type="sibTrans" cxnId="{A9BBB041-A9A4-4E05-B64B-77A45CEFE98C}">
      <dgm:prSet/>
      <dgm:spPr/>
      <dgm:t>
        <a:bodyPr/>
        <a:lstStyle/>
        <a:p>
          <a:endParaRPr lang="es-BO"/>
        </a:p>
      </dgm:t>
    </dgm:pt>
    <dgm:pt modelId="{CB35E04D-6A42-4873-B8C9-A7ACF38D0AFC}">
      <dgm:prSet phldrT="[Texto]" phldr="1"/>
      <dgm:spPr/>
      <dgm:t>
        <a:bodyPr/>
        <a:lstStyle/>
        <a:p>
          <a:endParaRPr lang="es-BO" dirty="0"/>
        </a:p>
      </dgm:t>
    </dgm:pt>
    <dgm:pt modelId="{487B7B92-102B-44B4-99AB-0FA29FF00120}" type="parTrans" cxnId="{4758E596-D378-4948-BB0A-D5B5003EFA49}">
      <dgm:prSet/>
      <dgm:spPr/>
      <dgm:t>
        <a:bodyPr/>
        <a:lstStyle/>
        <a:p>
          <a:endParaRPr lang="es-BO"/>
        </a:p>
      </dgm:t>
    </dgm:pt>
    <dgm:pt modelId="{1FF029CE-CFF0-41C8-A2C7-865DFE5FFF36}" type="sibTrans" cxnId="{4758E596-D378-4948-BB0A-D5B5003EFA49}">
      <dgm:prSet/>
      <dgm:spPr/>
      <dgm:t>
        <a:bodyPr/>
        <a:lstStyle/>
        <a:p>
          <a:endParaRPr lang="es-BO"/>
        </a:p>
      </dgm:t>
    </dgm:pt>
    <dgm:pt modelId="{51531338-0A92-4490-9C97-DA6822226D9C}">
      <dgm:prSet phldrT="[Texto]"/>
      <dgm:spPr/>
      <dgm:t>
        <a:bodyPr/>
        <a:lstStyle/>
        <a:p>
          <a:r>
            <a:rPr lang="es-BO" dirty="0" smtClean="0"/>
            <a:t>•    </a:t>
          </a:r>
          <a:r>
            <a:rPr lang="es-BO" b="1" dirty="0" smtClean="0"/>
            <a:t>Hemorragia </a:t>
          </a:r>
          <a:r>
            <a:rPr lang="es-BO" b="1" dirty="0" err="1" smtClean="0"/>
            <a:t>subaracnoidea</a:t>
          </a:r>
          <a:r>
            <a:rPr lang="es-BO" dirty="0" smtClean="0"/>
            <a:t>. Quiere decir que el accidente cerebro vascular fue provocado por una hemorragia en la superficie de su cerebro en el espacio </a:t>
          </a:r>
          <a:r>
            <a:rPr lang="es-BO" dirty="0" err="1" smtClean="0"/>
            <a:t>subaracnoideo</a:t>
          </a:r>
          <a:r>
            <a:rPr lang="es-BO" dirty="0" smtClean="0"/>
            <a:t> (formado por dos membranas que cubren el cerebro).</a:t>
          </a:r>
          <a:endParaRPr lang="es-BO" dirty="0"/>
        </a:p>
      </dgm:t>
    </dgm:pt>
    <dgm:pt modelId="{32907E41-5C4B-4844-B402-9C6C27BC0EA6}" type="parTrans" cxnId="{C73AD3F5-6423-4278-B74E-06CA239062D2}">
      <dgm:prSet/>
      <dgm:spPr/>
      <dgm:t>
        <a:bodyPr/>
        <a:lstStyle/>
        <a:p>
          <a:endParaRPr lang="es-BO"/>
        </a:p>
      </dgm:t>
    </dgm:pt>
    <dgm:pt modelId="{C0EE3EC3-2863-4F8E-9881-27C14638C516}" type="sibTrans" cxnId="{C73AD3F5-6423-4278-B74E-06CA239062D2}">
      <dgm:prSet/>
      <dgm:spPr/>
      <dgm:t>
        <a:bodyPr/>
        <a:lstStyle/>
        <a:p>
          <a:endParaRPr lang="es-BO"/>
        </a:p>
      </dgm:t>
    </dgm:pt>
    <dgm:pt modelId="{B53D5B0A-CB96-493D-90F3-ACF316EAC232}" type="pres">
      <dgm:prSet presAssocID="{92D71A71-552A-4837-88DE-B916D834F303}" presName="linearFlow" presStyleCnt="0">
        <dgm:presLayoutVars>
          <dgm:dir/>
          <dgm:animLvl val="lvl"/>
          <dgm:resizeHandles val="exact"/>
        </dgm:presLayoutVars>
      </dgm:prSet>
      <dgm:spPr/>
      <dgm:t>
        <a:bodyPr/>
        <a:lstStyle/>
        <a:p>
          <a:endParaRPr lang="es-BO"/>
        </a:p>
      </dgm:t>
    </dgm:pt>
    <dgm:pt modelId="{0F027364-4781-45C8-AA08-E1D3EB931720}" type="pres">
      <dgm:prSet presAssocID="{AE7EBF13-A29C-43DC-B1F8-2A7EB2A40294}" presName="composite" presStyleCnt="0"/>
      <dgm:spPr/>
    </dgm:pt>
    <dgm:pt modelId="{F6C715CE-F95A-4556-8CC4-D228ED39513E}" type="pres">
      <dgm:prSet presAssocID="{AE7EBF13-A29C-43DC-B1F8-2A7EB2A40294}" presName="parentText" presStyleLbl="alignNode1" presStyleIdx="0" presStyleCnt="3">
        <dgm:presLayoutVars>
          <dgm:chMax val="1"/>
          <dgm:bulletEnabled val="1"/>
        </dgm:presLayoutVars>
      </dgm:prSet>
      <dgm:spPr/>
      <dgm:t>
        <a:bodyPr/>
        <a:lstStyle/>
        <a:p>
          <a:endParaRPr lang="es-BO"/>
        </a:p>
      </dgm:t>
    </dgm:pt>
    <dgm:pt modelId="{E7887A26-9629-4720-8FB5-90EE9BF67ED4}" type="pres">
      <dgm:prSet presAssocID="{AE7EBF13-A29C-43DC-B1F8-2A7EB2A40294}" presName="descendantText" presStyleLbl="alignAcc1" presStyleIdx="0" presStyleCnt="3" custScaleY="188428" custLinFactNeighborX="289" custLinFactNeighborY="7393">
        <dgm:presLayoutVars>
          <dgm:bulletEnabled val="1"/>
        </dgm:presLayoutVars>
      </dgm:prSet>
      <dgm:spPr/>
      <dgm:t>
        <a:bodyPr/>
        <a:lstStyle/>
        <a:p>
          <a:endParaRPr lang="es-BO"/>
        </a:p>
      </dgm:t>
    </dgm:pt>
    <dgm:pt modelId="{3075EDC7-5D3F-4ABD-A3AD-F4A98FAE27E4}" type="pres">
      <dgm:prSet presAssocID="{4FFD4EB4-15DB-404A-A989-04344FB2C7DC}" presName="sp" presStyleCnt="0"/>
      <dgm:spPr/>
    </dgm:pt>
    <dgm:pt modelId="{B0040361-6B58-4010-B9F1-3A76BD2BA53A}" type="pres">
      <dgm:prSet presAssocID="{07E8A82C-CB08-412C-B5A9-6C003922E7BE}" presName="composite" presStyleCnt="0"/>
      <dgm:spPr/>
    </dgm:pt>
    <dgm:pt modelId="{3EF473F5-6ABA-4B59-A086-A1706B794E36}" type="pres">
      <dgm:prSet presAssocID="{07E8A82C-CB08-412C-B5A9-6C003922E7BE}" presName="parentText" presStyleLbl="alignNode1" presStyleIdx="1" presStyleCnt="3">
        <dgm:presLayoutVars>
          <dgm:chMax val="1"/>
          <dgm:bulletEnabled val="1"/>
        </dgm:presLayoutVars>
      </dgm:prSet>
      <dgm:spPr/>
      <dgm:t>
        <a:bodyPr/>
        <a:lstStyle/>
        <a:p>
          <a:endParaRPr lang="es-BO"/>
        </a:p>
      </dgm:t>
    </dgm:pt>
    <dgm:pt modelId="{3C37247D-CDD2-47B1-A4A2-87DAED65F5A7}" type="pres">
      <dgm:prSet presAssocID="{07E8A82C-CB08-412C-B5A9-6C003922E7BE}" presName="descendantText" presStyleLbl="alignAcc1" presStyleIdx="1" presStyleCnt="3" custScaleY="143332" custLinFactNeighborX="2846" custLinFactNeighborY="12210">
        <dgm:presLayoutVars>
          <dgm:bulletEnabled val="1"/>
        </dgm:presLayoutVars>
      </dgm:prSet>
      <dgm:spPr/>
      <dgm:t>
        <a:bodyPr/>
        <a:lstStyle/>
        <a:p>
          <a:endParaRPr lang="es-BO"/>
        </a:p>
      </dgm:t>
    </dgm:pt>
    <dgm:pt modelId="{5ED92257-95F0-4634-B024-BC0DCB59F0D3}" type="pres">
      <dgm:prSet presAssocID="{79CC3809-78F3-4C7B-92BB-912210F91BDC}" presName="sp" presStyleCnt="0"/>
      <dgm:spPr/>
    </dgm:pt>
    <dgm:pt modelId="{3E5F6486-C68E-4B7A-8F00-BC6B3D521F45}" type="pres">
      <dgm:prSet presAssocID="{2ECD5810-5683-400B-A7A1-4B8B4978C1E6}" presName="composite" presStyleCnt="0"/>
      <dgm:spPr/>
    </dgm:pt>
    <dgm:pt modelId="{4FCA59A4-CDFB-4A71-9E7F-396D08FBD151}" type="pres">
      <dgm:prSet presAssocID="{2ECD5810-5683-400B-A7A1-4B8B4978C1E6}" presName="parentText" presStyleLbl="alignNode1" presStyleIdx="2" presStyleCnt="3">
        <dgm:presLayoutVars>
          <dgm:chMax val="1"/>
          <dgm:bulletEnabled val="1"/>
        </dgm:presLayoutVars>
      </dgm:prSet>
      <dgm:spPr/>
      <dgm:t>
        <a:bodyPr/>
        <a:lstStyle/>
        <a:p>
          <a:endParaRPr lang="es-BO"/>
        </a:p>
      </dgm:t>
    </dgm:pt>
    <dgm:pt modelId="{E21A9952-F25B-4944-A768-4C2E1D7B361A}" type="pres">
      <dgm:prSet presAssocID="{2ECD5810-5683-400B-A7A1-4B8B4978C1E6}" presName="descendantText" presStyleLbl="alignAcc1" presStyleIdx="2" presStyleCnt="3" custScaleY="179801" custLinFactNeighborX="3323" custLinFactNeighborY="3161">
        <dgm:presLayoutVars>
          <dgm:bulletEnabled val="1"/>
        </dgm:presLayoutVars>
      </dgm:prSet>
      <dgm:spPr/>
      <dgm:t>
        <a:bodyPr/>
        <a:lstStyle/>
        <a:p>
          <a:endParaRPr lang="es-BO"/>
        </a:p>
      </dgm:t>
    </dgm:pt>
  </dgm:ptLst>
  <dgm:cxnLst>
    <dgm:cxn modelId="{AF8ED65C-A040-4F88-B019-90D15CB77010}" srcId="{07E8A82C-CB08-412C-B5A9-6C003922E7BE}" destId="{5AF62201-13D5-4408-A420-01ACA5061C88}" srcOrd="0" destOrd="0" parTransId="{19EA8314-1565-4AF9-8514-7B1EF65DADC7}" sibTransId="{9E2C5753-675A-44DC-8A5F-2A5512CDCC7F}"/>
    <dgm:cxn modelId="{7160A544-651B-4C85-8599-527AE0542A11}" srcId="{92D71A71-552A-4837-88DE-B916D834F303}" destId="{07E8A82C-CB08-412C-B5A9-6C003922E7BE}" srcOrd="1" destOrd="0" parTransId="{9598C346-2A82-4192-ADB2-CC88E83AC934}" sibTransId="{79CC3809-78F3-4C7B-92BB-912210F91BDC}"/>
    <dgm:cxn modelId="{6EC3AB4F-B8C3-4873-97E1-DE6BB46F0DF0}" srcId="{92D71A71-552A-4837-88DE-B916D834F303}" destId="{AE7EBF13-A29C-43DC-B1F8-2A7EB2A40294}" srcOrd="0" destOrd="0" parTransId="{3C04B196-B9BB-4505-849C-6AC1A56AB280}" sibTransId="{4FFD4EB4-15DB-404A-A989-04344FB2C7DC}"/>
    <dgm:cxn modelId="{D212F853-F74A-4C41-AE0B-96E0E38BFF39}" type="presOf" srcId="{2ECD5810-5683-400B-A7A1-4B8B4978C1E6}" destId="{4FCA59A4-CDFB-4A71-9E7F-396D08FBD151}" srcOrd="0" destOrd="0" presId="urn:microsoft.com/office/officeart/2005/8/layout/chevron2"/>
    <dgm:cxn modelId="{FC26D2FE-6A1A-4F36-8031-B0BA3134AAF6}" type="presOf" srcId="{51531338-0A92-4490-9C97-DA6822226D9C}" destId="{E21A9952-F25B-4944-A768-4C2E1D7B361A}" srcOrd="0" destOrd="1" presId="urn:microsoft.com/office/officeart/2005/8/layout/chevron2"/>
    <dgm:cxn modelId="{5C068BCE-14B2-436C-8591-1373DB2832A2}" srcId="{AE7EBF13-A29C-43DC-B1F8-2A7EB2A40294}" destId="{0D9F76FE-EE8E-47E8-94BE-F43FFF2C59DB}" srcOrd="0" destOrd="0" parTransId="{477B0A14-4869-4C67-8A21-2A649B255244}" sibTransId="{2707C208-207C-45D3-A89C-C5BBFF3A23D7}"/>
    <dgm:cxn modelId="{F7924061-2B64-4D61-9A3A-3A7559D920AB}" srcId="{07E8A82C-CB08-412C-B5A9-6C003922E7BE}" destId="{D420913F-A8F4-416A-A34E-AB0BA17527B8}" srcOrd="1" destOrd="0" parTransId="{9361646F-4796-427A-932B-40C02866EAB3}" sibTransId="{032D7A6C-14F8-4A60-81CD-AF7567BBA092}"/>
    <dgm:cxn modelId="{A9BBB041-A9A4-4E05-B64B-77A45CEFE98C}" srcId="{92D71A71-552A-4837-88DE-B916D834F303}" destId="{2ECD5810-5683-400B-A7A1-4B8B4978C1E6}" srcOrd="2" destOrd="0" parTransId="{A87B39BD-6FF3-4768-9D23-1A0316AA4FAC}" sibTransId="{BA1A9035-3458-4AA4-88C8-301F5C32E8B7}"/>
    <dgm:cxn modelId="{C73AD3F5-6423-4278-B74E-06CA239062D2}" srcId="{2ECD5810-5683-400B-A7A1-4B8B4978C1E6}" destId="{51531338-0A92-4490-9C97-DA6822226D9C}" srcOrd="1" destOrd="0" parTransId="{32907E41-5C4B-4844-B402-9C6C27BC0EA6}" sibTransId="{C0EE3EC3-2863-4F8E-9881-27C14638C516}"/>
    <dgm:cxn modelId="{0DBB2113-E38D-4136-9C25-CE562E19FCB3}" type="presOf" srcId="{0D9F76FE-EE8E-47E8-94BE-F43FFF2C59DB}" destId="{E7887A26-9629-4720-8FB5-90EE9BF67ED4}" srcOrd="0" destOrd="0" presId="urn:microsoft.com/office/officeart/2005/8/layout/chevron2"/>
    <dgm:cxn modelId="{9F20AF50-481C-4B37-9CB9-2441804A2750}" type="presOf" srcId="{5AF62201-13D5-4408-A420-01ACA5061C88}" destId="{3C37247D-CDD2-47B1-A4A2-87DAED65F5A7}" srcOrd="0" destOrd="0" presId="urn:microsoft.com/office/officeart/2005/8/layout/chevron2"/>
    <dgm:cxn modelId="{7F88E476-D671-40BE-BD55-7F6011D366D8}" type="presOf" srcId="{D420913F-A8F4-416A-A34E-AB0BA17527B8}" destId="{3C37247D-CDD2-47B1-A4A2-87DAED65F5A7}" srcOrd="0" destOrd="1" presId="urn:microsoft.com/office/officeart/2005/8/layout/chevron2"/>
    <dgm:cxn modelId="{A85DF5BD-CBB6-414C-959F-833D01CB6A44}" type="presOf" srcId="{AE7EBF13-A29C-43DC-B1F8-2A7EB2A40294}" destId="{F6C715CE-F95A-4556-8CC4-D228ED39513E}" srcOrd="0" destOrd="0" presId="urn:microsoft.com/office/officeart/2005/8/layout/chevron2"/>
    <dgm:cxn modelId="{3BB698EC-CD73-45EC-90C9-86043E111712}" type="presOf" srcId="{92D71A71-552A-4837-88DE-B916D834F303}" destId="{B53D5B0A-CB96-493D-90F3-ACF316EAC232}" srcOrd="0" destOrd="0" presId="urn:microsoft.com/office/officeart/2005/8/layout/chevron2"/>
    <dgm:cxn modelId="{4758E596-D378-4948-BB0A-D5B5003EFA49}" srcId="{2ECD5810-5683-400B-A7A1-4B8B4978C1E6}" destId="{CB35E04D-6A42-4873-B8C9-A7ACF38D0AFC}" srcOrd="0" destOrd="0" parTransId="{487B7B92-102B-44B4-99AB-0FA29FF00120}" sibTransId="{1FF029CE-CFF0-41C8-A2C7-865DFE5FFF36}"/>
    <dgm:cxn modelId="{F7492FCC-B65E-42BD-98A3-DE066F734268}" type="presOf" srcId="{07E8A82C-CB08-412C-B5A9-6C003922E7BE}" destId="{3EF473F5-6ABA-4B59-A086-A1706B794E36}" srcOrd="0" destOrd="0" presId="urn:microsoft.com/office/officeart/2005/8/layout/chevron2"/>
    <dgm:cxn modelId="{D19131C1-7FB7-42FB-965D-BBEB54644106}" type="presOf" srcId="{CB35E04D-6A42-4873-B8C9-A7ACF38D0AFC}" destId="{E21A9952-F25B-4944-A768-4C2E1D7B361A}" srcOrd="0" destOrd="0" presId="urn:microsoft.com/office/officeart/2005/8/layout/chevron2"/>
    <dgm:cxn modelId="{7CA3A9D0-E6F0-4E32-B5FF-440226F15B8B}" type="presParOf" srcId="{B53D5B0A-CB96-493D-90F3-ACF316EAC232}" destId="{0F027364-4781-45C8-AA08-E1D3EB931720}" srcOrd="0" destOrd="0" presId="urn:microsoft.com/office/officeart/2005/8/layout/chevron2"/>
    <dgm:cxn modelId="{69298AD5-16DA-47C4-8517-D7C6D935F36D}" type="presParOf" srcId="{0F027364-4781-45C8-AA08-E1D3EB931720}" destId="{F6C715CE-F95A-4556-8CC4-D228ED39513E}" srcOrd="0" destOrd="0" presId="urn:microsoft.com/office/officeart/2005/8/layout/chevron2"/>
    <dgm:cxn modelId="{4D2D44A0-E83C-4D3F-B03D-C9548343EEA8}" type="presParOf" srcId="{0F027364-4781-45C8-AA08-E1D3EB931720}" destId="{E7887A26-9629-4720-8FB5-90EE9BF67ED4}" srcOrd="1" destOrd="0" presId="urn:microsoft.com/office/officeart/2005/8/layout/chevron2"/>
    <dgm:cxn modelId="{FD5A918E-DE6F-45A5-9964-732C591AACA7}" type="presParOf" srcId="{B53D5B0A-CB96-493D-90F3-ACF316EAC232}" destId="{3075EDC7-5D3F-4ABD-A3AD-F4A98FAE27E4}" srcOrd="1" destOrd="0" presId="urn:microsoft.com/office/officeart/2005/8/layout/chevron2"/>
    <dgm:cxn modelId="{4556841E-2DEF-4217-8B98-E0CF34D8E45D}" type="presParOf" srcId="{B53D5B0A-CB96-493D-90F3-ACF316EAC232}" destId="{B0040361-6B58-4010-B9F1-3A76BD2BA53A}" srcOrd="2" destOrd="0" presId="urn:microsoft.com/office/officeart/2005/8/layout/chevron2"/>
    <dgm:cxn modelId="{A35E416E-2BB1-407E-867D-6396C38DEC35}" type="presParOf" srcId="{B0040361-6B58-4010-B9F1-3A76BD2BA53A}" destId="{3EF473F5-6ABA-4B59-A086-A1706B794E36}" srcOrd="0" destOrd="0" presId="urn:microsoft.com/office/officeart/2005/8/layout/chevron2"/>
    <dgm:cxn modelId="{A19AAAE6-9A21-477A-8024-D883E0EF3841}" type="presParOf" srcId="{B0040361-6B58-4010-B9F1-3A76BD2BA53A}" destId="{3C37247D-CDD2-47B1-A4A2-87DAED65F5A7}" srcOrd="1" destOrd="0" presId="urn:microsoft.com/office/officeart/2005/8/layout/chevron2"/>
    <dgm:cxn modelId="{C02BA58C-863B-4727-89CB-78985099F088}" type="presParOf" srcId="{B53D5B0A-CB96-493D-90F3-ACF316EAC232}" destId="{5ED92257-95F0-4634-B024-BC0DCB59F0D3}" srcOrd="3" destOrd="0" presId="urn:microsoft.com/office/officeart/2005/8/layout/chevron2"/>
    <dgm:cxn modelId="{52FFFA07-0766-4BC4-B124-A966407F9272}" type="presParOf" srcId="{B53D5B0A-CB96-493D-90F3-ACF316EAC232}" destId="{3E5F6486-C68E-4B7A-8F00-BC6B3D521F45}" srcOrd="4" destOrd="0" presId="urn:microsoft.com/office/officeart/2005/8/layout/chevron2"/>
    <dgm:cxn modelId="{A2DF0CEC-C5E7-4814-AF9D-A64F3A62E144}" type="presParOf" srcId="{3E5F6486-C68E-4B7A-8F00-BC6B3D521F45}" destId="{4FCA59A4-CDFB-4A71-9E7F-396D08FBD151}" srcOrd="0" destOrd="0" presId="urn:microsoft.com/office/officeart/2005/8/layout/chevron2"/>
    <dgm:cxn modelId="{8C182952-08DF-4B0F-9E40-4B12435ED5B6}" type="presParOf" srcId="{3E5F6486-C68E-4B7A-8F00-BC6B3D521F45}" destId="{E21A9952-F25B-4944-A768-4C2E1D7B361A}" srcOrd="1" destOrd="0" presId="urn:microsoft.com/office/officeart/2005/8/layout/chevron2"/>
  </dgm:cxnLst>
  <dgm:bg/>
  <dgm:whole/>
  <dgm:extLst>
    <a:ext uri="http://schemas.microsoft.com/office/drawing/2008/diagram">
      <dsp:dataModelExt xmlns=""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C715CE-F95A-4556-8CC4-D228ED39513E}">
      <dsp:nvSpPr>
        <dsp:cNvPr id="0" name=""/>
        <dsp:cNvSpPr/>
      </dsp:nvSpPr>
      <dsp:spPr>
        <a:xfrm rot="5400000">
          <a:off x="-196367" y="581697"/>
          <a:ext cx="1309118" cy="916382"/>
        </a:xfrm>
        <a:prstGeom prst="chevron">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endParaRPr lang="es-BO" sz="2200" kern="1200"/>
        </a:p>
      </dsp:txBody>
      <dsp:txXfrm rot="-5400000">
        <a:off x="1" y="843520"/>
        <a:ext cx="916382" cy="392736"/>
      </dsp:txXfrm>
    </dsp:sp>
    <dsp:sp modelId="{E7887A26-9629-4720-8FB5-90EE9BF67ED4}">
      <dsp:nvSpPr>
        <dsp:cNvPr id="0" name=""/>
        <dsp:cNvSpPr/>
      </dsp:nvSpPr>
      <dsp:spPr>
        <a:xfrm rot="5400000">
          <a:off x="3529999" y="-2541606"/>
          <a:ext cx="1603384" cy="6830617"/>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2456" tIns="8255" rIns="8255" bIns="8255" numCol="1" spcCol="1270" anchor="ctr" anchorCtr="0">
          <a:noAutofit/>
        </a:bodyPr>
        <a:lstStyle/>
        <a:p>
          <a:pPr marL="114300" lvl="1" indent="-114300" algn="l" defTabSz="577850">
            <a:lnSpc>
              <a:spcPct val="90000"/>
            </a:lnSpc>
            <a:spcBef>
              <a:spcPct val="0"/>
            </a:spcBef>
            <a:spcAft>
              <a:spcPct val="15000"/>
            </a:spcAft>
            <a:buChar char="••"/>
          </a:pPr>
          <a:r>
            <a:rPr lang="es-BO" sz="1300" kern="1200" dirty="0" smtClean="0"/>
            <a:t>Accidente Cerebro vascular hemorrágico ocurre cuando se revienta un vaso sanguíneo y sangra dentro del cerebro (una hemorragia). Esto daña las células del cerebro y comienzan a morir. Existen dos tipos principales de accidente cerebrovascular hemorrágico</a:t>
          </a:r>
          <a:endParaRPr lang="es-BO" sz="1300" kern="1200" dirty="0"/>
        </a:p>
        <a:p>
          <a:pPr marL="114300" lvl="1" indent="-114300" algn="l" defTabSz="577850">
            <a:lnSpc>
              <a:spcPct val="90000"/>
            </a:lnSpc>
            <a:spcBef>
              <a:spcPct val="0"/>
            </a:spcBef>
            <a:spcAft>
              <a:spcPct val="15000"/>
            </a:spcAft>
            <a:buChar char="••"/>
          </a:pPr>
          <a:endParaRPr lang="es-BO" sz="1300" kern="1200"/>
        </a:p>
      </dsp:txBody>
      <dsp:txXfrm rot="-5400000">
        <a:off x="916383" y="150281"/>
        <a:ext cx="6752346" cy="1446842"/>
      </dsp:txXfrm>
    </dsp:sp>
    <dsp:sp modelId="{3EF473F5-6ABA-4B59-A086-A1706B794E36}">
      <dsp:nvSpPr>
        <dsp:cNvPr id="0" name=""/>
        <dsp:cNvSpPr/>
      </dsp:nvSpPr>
      <dsp:spPr>
        <a:xfrm rot="5400000">
          <a:off x="-196367" y="1920593"/>
          <a:ext cx="1309118" cy="916382"/>
        </a:xfrm>
        <a:prstGeom prst="chevron">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endParaRPr lang="es-BO" sz="2200" kern="1200" dirty="0"/>
        </a:p>
      </dsp:txBody>
      <dsp:txXfrm rot="-5400000">
        <a:off x="1" y="2182416"/>
        <a:ext cx="916382" cy="392736"/>
      </dsp:txXfrm>
    </dsp:sp>
    <dsp:sp modelId="{3C37247D-CDD2-47B1-A4A2-87DAED65F5A7}">
      <dsp:nvSpPr>
        <dsp:cNvPr id="0" name=""/>
        <dsp:cNvSpPr/>
      </dsp:nvSpPr>
      <dsp:spPr>
        <a:xfrm rot="5400000">
          <a:off x="3721866" y="-1161720"/>
          <a:ext cx="1219650" cy="6830617"/>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2456" tIns="8255" rIns="8255" bIns="8255" numCol="1" spcCol="1270" anchor="ctr" anchorCtr="0">
          <a:noAutofit/>
        </a:bodyPr>
        <a:lstStyle/>
        <a:p>
          <a:pPr marL="114300" lvl="1" indent="-114300" algn="l" defTabSz="577850">
            <a:lnSpc>
              <a:spcPct val="90000"/>
            </a:lnSpc>
            <a:spcBef>
              <a:spcPct val="0"/>
            </a:spcBef>
            <a:spcAft>
              <a:spcPct val="15000"/>
            </a:spcAft>
            <a:buChar char="••"/>
          </a:pPr>
          <a:r>
            <a:rPr lang="es-BO" sz="1300" b="1" kern="1200" dirty="0" smtClean="0"/>
            <a:t>Hemorragia </a:t>
          </a:r>
          <a:r>
            <a:rPr lang="es-BO" sz="1300" b="1" kern="1200" dirty="0" err="1" smtClean="0"/>
            <a:t>intracerebral</a:t>
          </a:r>
          <a:r>
            <a:rPr lang="es-BO" sz="1300" kern="1200" dirty="0" smtClean="0"/>
            <a:t>. Quiere decir que el accidente cerebrovascular hemorrágico fue provocado por una hemorragia en su cerebro.</a:t>
          </a:r>
          <a:endParaRPr lang="es-BO" sz="1300" kern="1200" dirty="0"/>
        </a:p>
        <a:p>
          <a:pPr marL="114300" lvl="1" indent="-114300" algn="l" defTabSz="577850">
            <a:lnSpc>
              <a:spcPct val="90000"/>
            </a:lnSpc>
            <a:spcBef>
              <a:spcPct val="0"/>
            </a:spcBef>
            <a:spcAft>
              <a:spcPct val="15000"/>
            </a:spcAft>
            <a:buChar char="••"/>
          </a:pPr>
          <a:endParaRPr lang="es-BO" sz="1300" kern="1200"/>
        </a:p>
      </dsp:txBody>
      <dsp:txXfrm rot="-5400000">
        <a:off x="916383" y="1703301"/>
        <a:ext cx="6771079" cy="1100574"/>
      </dsp:txXfrm>
    </dsp:sp>
    <dsp:sp modelId="{4FCA59A4-CDFB-4A71-9E7F-396D08FBD151}">
      <dsp:nvSpPr>
        <dsp:cNvPr id="0" name=""/>
        <dsp:cNvSpPr/>
      </dsp:nvSpPr>
      <dsp:spPr>
        <a:xfrm rot="5400000">
          <a:off x="-196367" y="3414652"/>
          <a:ext cx="1309118" cy="916382"/>
        </a:xfrm>
        <a:prstGeom prst="chevron">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endParaRPr lang="es-BO" sz="2200" kern="1200"/>
        </a:p>
      </dsp:txBody>
      <dsp:txXfrm rot="-5400000">
        <a:off x="1" y="3676475"/>
        <a:ext cx="916382" cy="392736"/>
      </dsp:txXfrm>
    </dsp:sp>
    <dsp:sp modelId="{E21A9952-F25B-4944-A768-4C2E1D7B361A}">
      <dsp:nvSpPr>
        <dsp:cNvPr id="0" name=""/>
        <dsp:cNvSpPr/>
      </dsp:nvSpPr>
      <dsp:spPr>
        <a:xfrm rot="5400000">
          <a:off x="3566703" y="255337"/>
          <a:ext cx="1529974" cy="6830617"/>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2456" tIns="8255" rIns="8255" bIns="8255" numCol="1" spcCol="1270" anchor="ctr" anchorCtr="0">
          <a:noAutofit/>
        </a:bodyPr>
        <a:lstStyle/>
        <a:p>
          <a:pPr marL="114300" lvl="1" indent="-114300" algn="l" defTabSz="577850">
            <a:lnSpc>
              <a:spcPct val="90000"/>
            </a:lnSpc>
            <a:spcBef>
              <a:spcPct val="0"/>
            </a:spcBef>
            <a:spcAft>
              <a:spcPct val="15000"/>
            </a:spcAft>
            <a:buChar char="••"/>
          </a:pPr>
          <a:endParaRPr lang="es-BO" sz="1300" kern="1200" dirty="0"/>
        </a:p>
        <a:p>
          <a:pPr marL="114300" lvl="1" indent="-114300" algn="l" defTabSz="577850">
            <a:lnSpc>
              <a:spcPct val="90000"/>
            </a:lnSpc>
            <a:spcBef>
              <a:spcPct val="0"/>
            </a:spcBef>
            <a:spcAft>
              <a:spcPct val="15000"/>
            </a:spcAft>
            <a:buChar char="••"/>
          </a:pPr>
          <a:r>
            <a:rPr lang="es-BO" sz="1300" kern="1200" dirty="0" smtClean="0"/>
            <a:t>•    </a:t>
          </a:r>
          <a:r>
            <a:rPr lang="es-BO" sz="1300" b="1" kern="1200" dirty="0" smtClean="0"/>
            <a:t>Hemorragia </a:t>
          </a:r>
          <a:r>
            <a:rPr lang="es-BO" sz="1300" b="1" kern="1200" dirty="0" err="1" smtClean="0"/>
            <a:t>subaracnoidea</a:t>
          </a:r>
          <a:r>
            <a:rPr lang="es-BO" sz="1300" kern="1200" dirty="0" smtClean="0"/>
            <a:t>. Quiere decir que el accidente cerebro vascular fue provocado por una hemorragia en la superficie de su cerebro en el espacio </a:t>
          </a:r>
          <a:r>
            <a:rPr lang="es-BO" sz="1300" kern="1200" dirty="0" err="1" smtClean="0"/>
            <a:t>subaracnoideo</a:t>
          </a:r>
          <a:r>
            <a:rPr lang="es-BO" sz="1300" kern="1200" dirty="0" smtClean="0"/>
            <a:t> (formado por dos membranas que cubren el cerebro).</a:t>
          </a:r>
          <a:endParaRPr lang="es-BO" sz="1300" kern="1200" dirty="0"/>
        </a:p>
      </dsp:txBody>
      <dsp:txXfrm rot="-5400000">
        <a:off x="916382" y="2980346"/>
        <a:ext cx="6755930" cy="1380600"/>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BO"/>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EEE697C-4ABA-4BBB-9366-8050CE2216FC}" type="datetimeFigureOut">
              <a:rPr lang="es-BO" smtClean="0"/>
              <a:pPr/>
              <a:t>05/04/2014</a:t>
            </a:fld>
            <a:endParaRPr lang="es-BO"/>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BO"/>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BO"/>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BO"/>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FDA4CCB-ABC7-4682-9FA2-7A564693C671}" type="slidenum">
              <a:rPr lang="es-BO" smtClean="0"/>
              <a:pPr/>
              <a:t>‹Nº›</a:t>
            </a:fld>
            <a:endParaRPr lang="es-BO"/>
          </a:p>
        </p:txBody>
      </p:sp>
    </p:spTree>
    <p:extLst>
      <p:ext uri="{BB962C8B-B14F-4D97-AF65-F5344CB8AC3E}">
        <p14:creationId xmlns="" xmlns:p14="http://schemas.microsoft.com/office/powerpoint/2010/main" val="279492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BO" dirty="0"/>
          </a:p>
        </p:txBody>
      </p:sp>
      <p:sp>
        <p:nvSpPr>
          <p:cNvPr id="4" name="3 Marcador de número de diapositiva"/>
          <p:cNvSpPr>
            <a:spLocks noGrp="1"/>
          </p:cNvSpPr>
          <p:nvPr>
            <p:ph type="sldNum" sz="quarter" idx="10"/>
          </p:nvPr>
        </p:nvSpPr>
        <p:spPr/>
        <p:txBody>
          <a:bodyPr/>
          <a:lstStyle/>
          <a:p>
            <a:fld id="{8FDA4CCB-ABC7-4682-9FA2-7A564693C671}" type="slidenum">
              <a:rPr lang="es-BO" smtClean="0"/>
              <a:pPr/>
              <a:t>9</a:t>
            </a:fld>
            <a:endParaRPr lang="es-BO"/>
          </a:p>
        </p:txBody>
      </p:sp>
    </p:spTree>
    <p:extLst>
      <p:ext uri="{BB962C8B-B14F-4D97-AF65-F5344CB8AC3E}">
        <p14:creationId xmlns="" xmlns:p14="http://schemas.microsoft.com/office/powerpoint/2010/main" val="14330285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BO" dirty="0"/>
          </a:p>
        </p:txBody>
      </p:sp>
      <p:sp>
        <p:nvSpPr>
          <p:cNvPr id="4" name="3 Marcador de número de diapositiva"/>
          <p:cNvSpPr>
            <a:spLocks noGrp="1"/>
          </p:cNvSpPr>
          <p:nvPr>
            <p:ph type="sldNum" sz="quarter" idx="10"/>
          </p:nvPr>
        </p:nvSpPr>
        <p:spPr/>
        <p:txBody>
          <a:bodyPr/>
          <a:lstStyle/>
          <a:p>
            <a:fld id="{8FDA4CCB-ABC7-4682-9FA2-7A564693C671}" type="slidenum">
              <a:rPr lang="es-BO" smtClean="0"/>
              <a:pPr/>
              <a:t>20</a:t>
            </a:fld>
            <a:endParaRPr lang="es-BO"/>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Ref idx="1003">
        <a:schemeClr val="bg2"/>
      </p:bgRef>
    </p:bg>
    <p:spTree>
      <p:nvGrpSpPr>
        <p:cNvPr id="1" name=""/>
        <p:cNvGrpSpPr/>
        <p:nvPr/>
      </p:nvGrpSpPr>
      <p:grpSpPr>
        <a:xfrm>
          <a:off x="0" y="0"/>
          <a:ext cx="0" cy="0"/>
          <a:chOff x="0" y="0"/>
          <a:chExt cx="0" cy="0"/>
        </a:xfrm>
      </p:grpSpPr>
      <p:pic>
        <p:nvPicPr>
          <p:cNvPr id="7" name="Picture 6" descr="CoverOverlay.png"/>
          <p:cNvPicPr>
            <a:picLocks noChangeAspect="1"/>
          </p:cNvPicPr>
          <p:nvPr/>
        </p:nvPicPr>
        <p:blipFill>
          <a:blip r:embed="rId2" cstate="print"/>
          <a:stretch>
            <a:fillRect/>
          </a:stretch>
        </p:blipFill>
        <p:spPr>
          <a:xfrm>
            <a:off x="0" y="0"/>
            <a:ext cx="9144000" cy="6858000"/>
          </a:xfrm>
          <a:prstGeom prst="rect">
            <a:avLst/>
          </a:prstGeom>
        </p:spPr>
      </p:pic>
      <p:sp>
        <p:nvSpPr>
          <p:cNvPr id="4" name="Date Placeholder 3"/>
          <p:cNvSpPr>
            <a:spLocks noGrp="1"/>
          </p:cNvSpPr>
          <p:nvPr>
            <p:ph type="dt" sz="half" idx="10"/>
          </p:nvPr>
        </p:nvSpPr>
        <p:spPr/>
        <p:txBody>
          <a:bodyPr/>
          <a:lstStyle>
            <a:lvl1pPr>
              <a:defRPr>
                <a:solidFill>
                  <a:schemeClr val="tx2"/>
                </a:solidFill>
              </a:defRPr>
            </a:lvl1pPr>
          </a:lstStyle>
          <a:p>
            <a:fld id="{D4898189-4B78-41ED-BD65-EB4FC51F59C7}" type="datetimeFigureOut">
              <a:rPr lang="es-BO" smtClean="0"/>
              <a:pPr/>
              <a:t>05/04/2014</a:t>
            </a:fld>
            <a:endParaRPr lang="es-BO"/>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s-BO"/>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B32C46B5-1879-4EF7-93C2-E9B6D8E1235D}" type="slidenum">
              <a:rPr lang="es-BO" smtClean="0"/>
              <a:pPr/>
              <a:t>‹Nº›</a:t>
            </a:fld>
            <a:endParaRPr lang="es-BO"/>
          </a:p>
        </p:txBody>
      </p:sp>
      <p:grpSp>
        <p:nvGrpSpPr>
          <p:cNvPr id="8" name="Group 7"/>
          <p:cNvGrpSpPr/>
          <p:nvPr/>
        </p:nvGrpSpPr>
        <p:grpSpPr>
          <a:xfrm>
            <a:off x="1194101" y="2887530"/>
            <a:ext cx="6779110" cy="923330"/>
            <a:chOff x="1172584" y="1381459"/>
            <a:chExt cx="6779110" cy="923330"/>
          </a:xfrm>
          <a:effectLst>
            <a:outerShdw blurRad="38100" dist="12700" dir="16200000" rotWithShape="0">
              <a:prstClr val="black">
                <a:alpha val="30000"/>
              </a:prstClr>
            </a:outerShdw>
          </a:effectLst>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rPr>
                <a:t></a:t>
              </a:r>
              <a:endParaRPr lang="en-US" sz="5400" dirty="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293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83341" y="1387737"/>
            <a:ext cx="6777318" cy="1731982"/>
          </a:xfrm>
        </p:spPr>
        <p:txBody>
          <a:bodyPr anchor="b"/>
          <a:lstStyle>
            <a:lvl1pPr>
              <a:defRPr>
                <a:ln w="3175">
                  <a:solidFill>
                    <a:schemeClr val="tx1">
                      <a:alpha val="65000"/>
                    </a:schemeClr>
                  </a:solidFill>
                </a:ln>
                <a:solidFill>
                  <a:schemeClr val="tx1"/>
                </a:solidFill>
                <a:effectLst>
                  <a:outerShdw blurRad="25400" dist="12700" dir="14220000" rotWithShape="0">
                    <a:prstClr val="black">
                      <a:alpha val="50000"/>
                    </a:prstClr>
                  </a:outerShdw>
                </a:effectLst>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371600" y="3767862"/>
            <a:ext cx="6400800" cy="1752600"/>
          </a:xfrm>
        </p:spPr>
        <p:txBody>
          <a:bodyPr/>
          <a:lstStyle>
            <a:lvl1pPr marL="0" indent="0" algn="ctr">
              <a:buNone/>
              <a:defRPr>
                <a:solidFill>
                  <a:schemeClr val="tx1"/>
                </a:solidFill>
                <a:effectLst>
                  <a:outerShdw blurRad="34925" dist="12700" dir="14400000" rotWithShape="0">
                    <a:prstClr val="black">
                      <a:alpha val="21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D4898189-4B78-41ED-BD65-EB4FC51F59C7}" type="datetimeFigureOut">
              <a:rPr lang="es-BO" smtClean="0"/>
              <a:pPr/>
              <a:t>05/04/2014</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B32C46B5-1879-4EF7-93C2-E9B6D8E1235D}" type="slidenum">
              <a:rPr lang="es-BO" smtClean="0"/>
              <a:pPr/>
              <a:t>‹Nº›</a:t>
            </a:fld>
            <a:endParaRPr lang="es-BO"/>
          </a:p>
        </p:txBody>
      </p:sp>
      <p:sp>
        <p:nvSpPr>
          <p:cNvPr id="11" name="Title 10"/>
          <p:cNvSpPr>
            <a:spLocks noGrp="1"/>
          </p:cNvSpPr>
          <p:nvPr>
            <p:ph type="title"/>
          </p:nvPr>
        </p:nvSpPr>
        <p:spPr/>
        <p:txBody>
          <a:bodyPr/>
          <a:lstStyle/>
          <a:p>
            <a:r>
              <a:rPr lang="es-ES" smtClean="0"/>
              <a:t>Haga clic para modificar el estilo de título del patrón</a:t>
            </a:r>
            <a:endParaRPr lang="en-US"/>
          </a:p>
        </p:txBody>
      </p:sp>
      <p:grpSp>
        <p:nvGrpSpPr>
          <p:cNvPr id="12" name="Group 11"/>
          <p:cNvGrpSpPr/>
          <p:nvPr/>
        </p:nvGrpSpPr>
        <p:grpSpPr>
          <a:xfrm>
            <a:off x="1172584" y="1392217"/>
            <a:ext cx="6779110" cy="923330"/>
            <a:chOff x="1172584" y="1381459"/>
            <a:chExt cx="6779110" cy="923330"/>
          </a:xfrm>
        </p:grpSpPr>
        <p:sp>
          <p:nvSpPr>
            <p:cNvPr id="13" name="TextBox 12"/>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4" name="Straight Connector 13"/>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bg>
      <p:bgRef idx="1002">
        <a:schemeClr val="bg2"/>
      </p:bgRef>
    </p:bg>
    <p:spTree>
      <p:nvGrpSpPr>
        <p:cNvPr id="1" name=""/>
        <p:cNvGrpSpPr/>
        <p:nvPr/>
      </p:nvGrpSpPr>
      <p:grpSpPr>
        <a:xfrm>
          <a:off x="0" y="0"/>
          <a:ext cx="0" cy="0"/>
          <a:chOff x="0" y="0"/>
          <a:chExt cx="0" cy="0"/>
        </a:xfrm>
      </p:grpSpPr>
      <p:pic>
        <p:nvPicPr>
          <p:cNvPr id="12" name="Picture 11" descr="CoverOverlay.png"/>
          <p:cNvPicPr>
            <a:picLocks noChangeAspect="1"/>
          </p:cNvPicPr>
          <p:nvPr/>
        </p:nvPicPr>
        <p:blipFill>
          <a:blip r:embed="rId2" cstate="print">
            <a:lum/>
          </a:blip>
          <a:stretch>
            <a:fillRect/>
          </a:stretch>
        </p:blipFill>
        <p:spPr>
          <a:xfrm>
            <a:off x="0" y="0"/>
            <a:ext cx="9144000" cy="6858000"/>
          </a:xfrm>
          <a:prstGeom prst="rect">
            <a:avLst/>
          </a:prstGeom>
        </p:spPr>
      </p:pic>
      <p:grpSp>
        <p:nvGrpSpPr>
          <p:cNvPr id="7" name="Group 7"/>
          <p:cNvGrpSpPr/>
          <p:nvPr/>
        </p:nvGrpSpPr>
        <p:grpSpPr>
          <a:xfrm>
            <a:off x="1172584" y="2887579"/>
            <a:ext cx="6779110" cy="923330"/>
            <a:chOff x="1172584" y="1381459"/>
            <a:chExt cx="6779110" cy="923330"/>
          </a:xfrm>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7412"/>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690040" y="1204857"/>
            <a:ext cx="7754713" cy="1910716"/>
          </a:xfrm>
        </p:spPr>
        <p:txBody>
          <a:bodyPr anchor="b"/>
          <a:lstStyle>
            <a:lvl1pPr algn="ctr">
              <a:defRPr sz="5400" b="0" cap="none" baseline="0">
                <a:solidFill>
                  <a:schemeClr val="tx2"/>
                </a:solidFill>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99248" y="3767316"/>
            <a:ext cx="7734747" cy="1500187"/>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D4898189-4B78-41ED-BD65-EB4FC51F59C7}" type="datetimeFigureOut">
              <a:rPr lang="es-BO" smtClean="0"/>
              <a:pPr/>
              <a:t>05/04/2014</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B32C46B5-1879-4EF7-93C2-E9B6D8E1235D}" type="slidenum">
              <a:rPr lang="es-BO" smtClean="0"/>
              <a:pPr/>
              <a:t>‹Nº›</a:t>
            </a:fld>
            <a:endParaRPr lang="es-BO"/>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D4898189-4B78-41ED-BD65-EB4FC51F59C7}" type="datetimeFigureOut">
              <a:rPr lang="es-BO" smtClean="0"/>
              <a:pPr/>
              <a:t>05/04/2014</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B32C46B5-1879-4EF7-93C2-E9B6D8E1235D}" type="slidenum">
              <a:rPr lang="es-BO" smtClean="0"/>
              <a:pPr/>
              <a:t>‹Nº›</a:t>
            </a:fld>
            <a:endParaRPr lang="es-BO"/>
          </a:p>
        </p:txBody>
      </p:sp>
      <p:sp>
        <p:nvSpPr>
          <p:cNvPr id="12" name="Title 11"/>
          <p:cNvSpPr>
            <a:spLocks noGrp="1"/>
          </p:cNvSpPr>
          <p:nvPr>
            <p:ph type="title"/>
          </p:nvPr>
        </p:nvSpPr>
        <p:spPr/>
        <p:txBody>
          <a:bodyPr/>
          <a:lstStyle>
            <a:lvl1pPr>
              <a:defRPr>
                <a:solidFill>
                  <a:schemeClr val="tx2"/>
                </a:solidFill>
              </a:defRPr>
            </a:lvl1pPr>
          </a:lstStyle>
          <a:p>
            <a:r>
              <a:rPr lang="es-ES" smtClean="0"/>
              <a:t>Haga clic para modificar el estilo de título del patrón</a:t>
            </a:r>
            <a:endParaRPr lang="en-US" dirty="0"/>
          </a:p>
        </p:txBody>
      </p:sp>
      <p:grpSp>
        <p:nvGrpSpPr>
          <p:cNvPr id="13" name="Group 12"/>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8" name="Content Placeholder 7"/>
          <p:cNvSpPr>
            <a:spLocks noGrp="1"/>
          </p:cNvSpPr>
          <p:nvPr>
            <p:ph sz="quarter" idx="13"/>
          </p:nvPr>
        </p:nvSpPr>
        <p:spPr>
          <a:xfrm>
            <a:off x="685800" y="2240280"/>
            <a:ext cx="3803904" cy="3877056"/>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10" name="Content Placeholder 9"/>
          <p:cNvSpPr>
            <a:spLocks noGrp="1"/>
          </p:cNvSpPr>
          <p:nvPr>
            <p:ph sz="quarter" idx="14"/>
          </p:nvPr>
        </p:nvSpPr>
        <p:spPr>
          <a:xfrm>
            <a:off x="4645151" y="2240280"/>
            <a:ext cx="3803904" cy="3877056"/>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a:p>
        </p:txBody>
      </p:sp>
      <p:sp>
        <p:nvSpPr>
          <p:cNvPr id="3" name="Text Placeholder 2"/>
          <p:cNvSpPr>
            <a:spLocks noGrp="1"/>
          </p:cNvSpPr>
          <p:nvPr>
            <p:ph type="body" idx="1"/>
          </p:nvPr>
        </p:nvSpPr>
        <p:spPr>
          <a:xfrm>
            <a:off x="1051560" y="2240280"/>
            <a:ext cx="3442446"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688488" y="2947595"/>
            <a:ext cx="3803904"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5002306" y="2240280"/>
            <a:ext cx="3447288"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4645026" y="2944368"/>
            <a:ext cx="3799728"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D4898189-4B78-41ED-BD65-EB4FC51F59C7}" type="datetimeFigureOut">
              <a:rPr lang="es-BO" smtClean="0"/>
              <a:pPr/>
              <a:t>05/04/2014</a:t>
            </a:fld>
            <a:endParaRPr lang="es-BO"/>
          </a:p>
        </p:txBody>
      </p:sp>
      <p:sp>
        <p:nvSpPr>
          <p:cNvPr id="8" name="Footer Placeholder 7"/>
          <p:cNvSpPr>
            <a:spLocks noGrp="1"/>
          </p:cNvSpPr>
          <p:nvPr>
            <p:ph type="ftr" sz="quarter" idx="11"/>
          </p:nvPr>
        </p:nvSpPr>
        <p:spPr/>
        <p:txBody>
          <a:bodyPr/>
          <a:lstStyle/>
          <a:p>
            <a:endParaRPr lang="es-BO"/>
          </a:p>
        </p:txBody>
      </p:sp>
      <p:sp>
        <p:nvSpPr>
          <p:cNvPr id="9" name="Slide Number Placeholder 8"/>
          <p:cNvSpPr>
            <a:spLocks noGrp="1"/>
          </p:cNvSpPr>
          <p:nvPr>
            <p:ph type="sldNum" sz="quarter" idx="12"/>
          </p:nvPr>
        </p:nvSpPr>
        <p:spPr/>
        <p:txBody>
          <a:bodyPr/>
          <a:lstStyle/>
          <a:p>
            <a:fld id="{B32C46B5-1879-4EF7-93C2-E9B6D8E1235D}" type="slidenum">
              <a:rPr lang="es-BO" smtClean="0"/>
              <a:pPr/>
              <a:t>‹Nº›</a:t>
            </a:fld>
            <a:endParaRPr lang="es-BO"/>
          </a:p>
        </p:txBody>
      </p:sp>
      <p:grpSp>
        <p:nvGrpSpPr>
          <p:cNvPr id="14" name="Group 13"/>
          <p:cNvGrpSpPr/>
          <p:nvPr/>
        </p:nvGrpSpPr>
        <p:grpSpPr>
          <a:xfrm>
            <a:off x="1172584" y="1392217"/>
            <a:ext cx="6779110" cy="923330"/>
            <a:chOff x="1172584" y="1381459"/>
            <a:chExt cx="6779110" cy="923330"/>
          </a:xfrm>
        </p:grpSpPr>
        <p:sp>
          <p:nvSpPr>
            <p:cNvPr id="16" name="TextBox 15"/>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7" name="Straight Connector 16"/>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D4898189-4B78-41ED-BD65-EB4FC51F59C7}" type="datetimeFigureOut">
              <a:rPr lang="es-BO" smtClean="0"/>
              <a:pPr/>
              <a:t>05/04/2014</a:t>
            </a:fld>
            <a:endParaRPr lang="es-BO"/>
          </a:p>
        </p:txBody>
      </p:sp>
      <p:sp>
        <p:nvSpPr>
          <p:cNvPr id="4" name="Footer Placeholder 3"/>
          <p:cNvSpPr>
            <a:spLocks noGrp="1"/>
          </p:cNvSpPr>
          <p:nvPr>
            <p:ph type="ftr" sz="quarter" idx="11"/>
          </p:nvPr>
        </p:nvSpPr>
        <p:spPr/>
        <p:txBody>
          <a:bodyPr/>
          <a:lstStyle/>
          <a:p>
            <a:endParaRPr lang="es-BO"/>
          </a:p>
        </p:txBody>
      </p:sp>
      <p:sp>
        <p:nvSpPr>
          <p:cNvPr id="5" name="Slide Number Placeholder 4"/>
          <p:cNvSpPr>
            <a:spLocks noGrp="1"/>
          </p:cNvSpPr>
          <p:nvPr>
            <p:ph type="sldNum" sz="quarter" idx="12"/>
          </p:nvPr>
        </p:nvSpPr>
        <p:spPr/>
        <p:txBody>
          <a:bodyPr/>
          <a:lstStyle/>
          <a:p>
            <a:fld id="{B32C46B5-1879-4EF7-93C2-E9B6D8E1235D}" type="slidenum">
              <a:rPr lang="es-BO" smtClean="0"/>
              <a:pPr/>
              <a:t>‹Nº›</a:t>
            </a:fld>
            <a:endParaRPr lang="es-BO"/>
          </a:p>
        </p:txBody>
      </p:sp>
      <p:grpSp>
        <p:nvGrpSpPr>
          <p:cNvPr id="10" name="Group 9"/>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898189-4B78-41ED-BD65-EB4FC51F59C7}" type="datetimeFigureOut">
              <a:rPr lang="es-BO" smtClean="0"/>
              <a:pPr/>
              <a:t>05/04/2014</a:t>
            </a:fld>
            <a:endParaRPr lang="es-BO"/>
          </a:p>
        </p:txBody>
      </p:sp>
      <p:sp>
        <p:nvSpPr>
          <p:cNvPr id="3" name="Footer Placeholder 2"/>
          <p:cNvSpPr>
            <a:spLocks noGrp="1"/>
          </p:cNvSpPr>
          <p:nvPr>
            <p:ph type="ftr" sz="quarter" idx="11"/>
          </p:nvPr>
        </p:nvSpPr>
        <p:spPr/>
        <p:txBody>
          <a:bodyPr/>
          <a:lstStyle/>
          <a:p>
            <a:endParaRPr lang="es-BO"/>
          </a:p>
        </p:txBody>
      </p:sp>
      <p:sp>
        <p:nvSpPr>
          <p:cNvPr id="4" name="Slide Number Placeholder 3"/>
          <p:cNvSpPr>
            <a:spLocks noGrp="1"/>
          </p:cNvSpPr>
          <p:nvPr>
            <p:ph type="sldNum" sz="quarter" idx="12"/>
          </p:nvPr>
        </p:nvSpPr>
        <p:spPr/>
        <p:txBody>
          <a:bodyPr/>
          <a:lstStyle/>
          <a:p>
            <a:fld id="{B32C46B5-1879-4EF7-93C2-E9B6D8E1235D}" type="slidenum">
              <a:rPr lang="es-BO" smtClean="0"/>
              <a:pPr/>
              <a:t>‹Nº›</a:t>
            </a:fld>
            <a:endParaRPr lang="es-B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034579" y="1678195"/>
            <a:ext cx="3422483" cy="1886921"/>
          </a:xfrm>
        </p:spPr>
        <p:txBody>
          <a:bodyPr anchor="b"/>
          <a:lstStyle>
            <a:lvl1pPr algn="l">
              <a:defRPr sz="2800" b="0"/>
            </a:lvl1pPr>
          </a:lstStyle>
          <a:p>
            <a:r>
              <a:rPr lang="es-ES" smtClean="0"/>
              <a:t>Haga clic para modificar el estilo de título del patrón</a:t>
            </a:r>
            <a:endParaRPr lang="en-US"/>
          </a:p>
        </p:txBody>
      </p:sp>
      <p:sp>
        <p:nvSpPr>
          <p:cNvPr id="3" name="Content Placeholder 2"/>
          <p:cNvSpPr>
            <a:spLocks noGrp="1"/>
          </p:cNvSpPr>
          <p:nvPr>
            <p:ph idx="1"/>
          </p:nvPr>
        </p:nvSpPr>
        <p:spPr>
          <a:xfrm>
            <a:off x="692001" y="559398"/>
            <a:ext cx="4116667" cy="5566765"/>
          </a:xfrm>
        </p:spPr>
        <p:txBody>
          <a:bodyPr anchor="ct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5034579" y="3603812"/>
            <a:ext cx="3411725" cy="2517289"/>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D4898189-4B78-41ED-BD65-EB4FC51F59C7}" type="datetimeFigureOut">
              <a:rPr lang="es-BO" smtClean="0"/>
              <a:pPr/>
              <a:t>05/04/2014</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B32C46B5-1879-4EF7-93C2-E9B6D8E1235D}" type="slidenum">
              <a:rPr lang="es-BO" smtClean="0"/>
              <a:pPr/>
              <a:t>‹Nº›</a:t>
            </a:fld>
            <a:endParaRPr lang="es-BO"/>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731" y="4668818"/>
            <a:ext cx="7767021" cy="644729"/>
          </a:xfrm>
        </p:spPr>
        <p:txBody>
          <a:bodyPr anchor="b"/>
          <a:lstStyle>
            <a:lvl1pPr algn="ctr">
              <a:defRPr sz="2800" b="0"/>
            </a:lvl1pPr>
          </a:lstStyle>
          <a:p>
            <a:r>
              <a:rPr lang="es-ES" smtClean="0"/>
              <a:t>Haga clic para modificar el estilo de título del patrón</a:t>
            </a:r>
            <a:endParaRPr lang="en-US"/>
          </a:p>
        </p:txBody>
      </p:sp>
      <p:sp>
        <p:nvSpPr>
          <p:cNvPr id="3" name="Picture Placeholder 2"/>
          <p:cNvSpPr>
            <a:spLocks noGrp="1"/>
          </p:cNvSpPr>
          <p:nvPr>
            <p:ph type="pic" idx="1"/>
          </p:nvPr>
        </p:nvSpPr>
        <p:spPr>
          <a:xfrm rot="240000">
            <a:off x="2183792" y="666965"/>
            <a:ext cx="4772156" cy="3598016"/>
          </a:xfrm>
          <a:solidFill>
            <a:srgbClr val="FFFFFF">
              <a:shade val="85000"/>
            </a:srgbClr>
          </a:solidFill>
          <a:ln w="190500" cap="sq">
            <a:solidFill>
              <a:srgbClr val="FFFFFF"/>
            </a:solidFill>
            <a:miter lim="800000"/>
          </a:ln>
          <a:effectLst>
            <a:outerShdw blurRad="65000" dist="50800" dir="12900000" kx="195000" ky="145000" algn="tl" rotWithShape="0">
              <a:srgbClr val="000000">
                <a:alpha val="24000"/>
              </a:srgbClr>
            </a:outerShdw>
          </a:effectLst>
          <a:scene3d>
            <a:camera prst="orthographicFront">
              <a:rot lat="0" lon="0" rev="360000"/>
            </a:camera>
            <a:lightRig rig="twoPt" dir="t">
              <a:rot lat="0" lon="0" rev="7200000"/>
            </a:lightRig>
          </a:scene3d>
          <a:sp3d contourW="12700">
            <a:bevelT w="25400" h="19050"/>
            <a:contourClr>
              <a:srgbClr val="969696"/>
            </a:contourClr>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688489" y="5324306"/>
            <a:ext cx="7756264" cy="804862"/>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D4898189-4B78-41ED-BD65-EB4FC51F59C7}" type="datetimeFigureOut">
              <a:rPr lang="es-BO" smtClean="0"/>
              <a:pPr/>
              <a:t>05/04/2014</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B32C46B5-1879-4EF7-93C2-E9B6D8E1235D}" type="slidenum">
              <a:rPr lang="es-BO" smtClean="0"/>
              <a:pPr/>
              <a:t>‹Nº›</a:t>
            </a:fld>
            <a:endParaRPr lang="es-BO"/>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3" name="Vertical Text Placeholder 2"/>
          <p:cNvSpPr>
            <a:spLocks noGrp="1"/>
          </p:cNvSpPr>
          <p:nvPr>
            <p:ph type="body" orient="vert" idx="1"/>
          </p:nvPr>
        </p:nvSpPr>
        <p:spPr/>
        <p:txBody>
          <a:bodyPr vert="eaVert" anchor="ct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D4898189-4B78-41ED-BD65-EB4FC51F59C7}" type="datetimeFigureOut">
              <a:rPr lang="es-BO" smtClean="0"/>
              <a:pPr/>
              <a:t>05/04/2014</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B32C46B5-1879-4EF7-93C2-E9B6D8E1235D}" type="slidenum">
              <a:rPr lang="es-BO" smtClean="0"/>
              <a:pPr/>
              <a:t>‹Nº›</a:t>
            </a:fld>
            <a:endParaRPr lang="es-BO"/>
          </a:p>
        </p:txBody>
      </p:sp>
      <p:grpSp>
        <p:nvGrpSpPr>
          <p:cNvPr id="11" name="Group 10"/>
          <p:cNvGrpSpPr/>
          <p:nvPr/>
        </p:nvGrpSpPr>
        <p:grpSpPr>
          <a:xfrm>
            <a:off x="1172584" y="1392217"/>
            <a:ext cx="6779110" cy="923330"/>
            <a:chOff x="1172584" y="1381459"/>
            <a:chExt cx="6779110" cy="923330"/>
          </a:xfrm>
        </p:grpSpPr>
        <p:sp>
          <p:nvSpPr>
            <p:cNvPr id="15" name="TextBox 14"/>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6" name="Straight Connector 15"/>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6560" y="559398"/>
            <a:ext cx="1678193" cy="5566765"/>
          </a:xfrm>
        </p:spPr>
        <p:txBody>
          <a:bodyPr vert="eaVert"/>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88488" y="849854"/>
            <a:ext cx="5507917" cy="5023821"/>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D4898189-4B78-41ED-BD65-EB4FC51F59C7}" type="datetimeFigureOut">
              <a:rPr lang="es-BO" smtClean="0"/>
              <a:pPr/>
              <a:t>05/04/2014</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B32C46B5-1879-4EF7-93C2-E9B6D8E1235D}" type="slidenum">
              <a:rPr lang="es-BO" smtClean="0"/>
              <a:pPr/>
              <a:t>‹Nº›</a:t>
            </a:fld>
            <a:endParaRPr lang="es-BO"/>
          </a:p>
        </p:txBody>
      </p:sp>
      <p:grpSp>
        <p:nvGrpSpPr>
          <p:cNvPr id="11" name="Group 10"/>
          <p:cNvGrpSpPr/>
          <p:nvPr/>
        </p:nvGrpSpPr>
        <p:grpSpPr>
          <a:xfrm rot="5400000">
            <a:off x="3909050" y="2880823"/>
            <a:ext cx="5480154" cy="923330"/>
            <a:chOff x="1815339" y="1381459"/>
            <a:chExt cx="5480154" cy="923330"/>
          </a:xfrm>
        </p:grpSpPr>
        <p:sp>
          <p:nvSpPr>
            <p:cNvPr id="12" name="TextBox 11"/>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3" name="Straight Connector 12"/>
            <p:cNvCxnSpPr/>
            <p:nvPr/>
          </p:nvCxnSpPr>
          <p:spPr>
            <a:xfrm flipH="1" flipV="1">
              <a:off x="1815339" y="1924709"/>
              <a:ext cx="2468880" cy="2505"/>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826613" y="1927417"/>
              <a:ext cx="2468880"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gradFill flip="none" rotWithShape="1">
            <a:gsLst>
              <a:gs pos="83000">
                <a:schemeClr val="bg1">
                  <a:alpha val="11000"/>
                </a:schemeClr>
              </a:gs>
              <a:gs pos="100000">
                <a:schemeClr val="bg2">
                  <a:lumMod val="75000"/>
                  <a:alpha val="23000"/>
                </a:schemeClr>
              </a:gs>
            </a:gsLst>
            <a:path path="rect">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88490" y="570156"/>
            <a:ext cx="7756263" cy="1054250"/>
          </a:xfrm>
          <a:prstGeom prst="rect">
            <a:avLst/>
          </a:prstGeom>
        </p:spPr>
        <p:txBody>
          <a:bodyPr vert="horz" lIns="91440" tIns="45720" rIns="91440" bIns="45720" rtlCol="0" anchor="ctr">
            <a:no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99247" y="2248347"/>
            <a:ext cx="7745505" cy="3877815"/>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360378" y="6161442"/>
            <a:ext cx="2133600" cy="365125"/>
          </a:xfrm>
          <a:prstGeom prst="rect">
            <a:avLst/>
          </a:prstGeom>
        </p:spPr>
        <p:txBody>
          <a:bodyPr vert="horz" lIns="91440" tIns="45720" rIns="91440" bIns="45720" rtlCol="0" anchor="ctr"/>
          <a:lstStyle>
            <a:lvl1pPr algn="l">
              <a:defRPr sz="1200">
                <a:solidFill>
                  <a:schemeClr val="tx2"/>
                </a:solidFill>
              </a:defRPr>
            </a:lvl1pPr>
          </a:lstStyle>
          <a:p>
            <a:fld id="{D4898189-4B78-41ED-BD65-EB4FC51F59C7}" type="datetimeFigureOut">
              <a:rPr lang="es-BO" smtClean="0"/>
              <a:pPr/>
              <a:t>05/04/2014</a:t>
            </a:fld>
            <a:endParaRPr lang="es-BO"/>
          </a:p>
        </p:txBody>
      </p:sp>
      <p:sp>
        <p:nvSpPr>
          <p:cNvPr id="5" name="Footer Placeholder 4"/>
          <p:cNvSpPr>
            <a:spLocks noGrp="1"/>
          </p:cNvSpPr>
          <p:nvPr>
            <p:ph type="ftr" sz="quarter" idx="3"/>
          </p:nvPr>
        </p:nvSpPr>
        <p:spPr>
          <a:xfrm>
            <a:off x="3124200" y="6161442"/>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s-BO"/>
          </a:p>
        </p:txBody>
      </p:sp>
      <p:sp>
        <p:nvSpPr>
          <p:cNvPr id="6" name="Slide Number Placeholder 5"/>
          <p:cNvSpPr>
            <a:spLocks noGrp="1"/>
          </p:cNvSpPr>
          <p:nvPr>
            <p:ph type="sldNum" sz="quarter" idx="4"/>
          </p:nvPr>
        </p:nvSpPr>
        <p:spPr>
          <a:xfrm>
            <a:off x="6639264" y="6161442"/>
            <a:ext cx="2133600" cy="365125"/>
          </a:xfrm>
          <a:prstGeom prst="rect">
            <a:avLst/>
          </a:prstGeom>
        </p:spPr>
        <p:txBody>
          <a:bodyPr vert="horz" lIns="91440" tIns="45720" rIns="91440" bIns="45720" rtlCol="0" anchor="ctr"/>
          <a:lstStyle>
            <a:lvl1pPr algn="r">
              <a:defRPr sz="1200">
                <a:solidFill>
                  <a:schemeClr val="tx2"/>
                </a:solidFill>
              </a:defRPr>
            </a:lvl1pPr>
          </a:lstStyle>
          <a:p>
            <a:fld id="{B32C46B5-1879-4EF7-93C2-E9B6D8E1235D}" type="slidenum">
              <a:rPr lang="es-BO" smtClean="0"/>
              <a:pPr/>
              <a:t>‹Nº›</a:t>
            </a:fld>
            <a:endParaRPr lang="es-BO"/>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p:txBody>
          <a:bodyPr>
            <a:normAutofit lnSpcReduction="10000"/>
          </a:bodyPr>
          <a:lstStyle/>
          <a:p>
            <a:r>
              <a:rPr lang="es-ES" b="1" i="1" dirty="0"/>
              <a:t>Accidente Cerebrovascular</a:t>
            </a:r>
            <a:r>
              <a:rPr lang="es-ES" b="1" dirty="0"/>
              <a:t> (ACV) normalmente es de dos tipos: </a:t>
            </a:r>
            <a:endParaRPr lang="es-BO" dirty="0"/>
          </a:p>
          <a:p>
            <a:pPr lvl="0"/>
            <a:r>
              <a:rPr lang="es-ES" b="1" dirty="0"/>
              <a:t>Hemorrágico</a:t>
            </a:r>
            <a:r>
              <a:rPr lang="es-ES" dirty="0"/>
              <a:t> (causado por un desgarro de la pared de la arteria que produce una hemorragia en el cerebro) </a:t>
            </a:r>
            <a:endParaRPr lang="es-BO" dirty="0"/>
          </a:p>
          <a:p>
            <a:pPr lvl="0"/>
            <a:r>
              <a:rPr lang="es-ES" b="1" dirty="0"/>
              <a:t>Isquémico</a:t>
            </a:r>
            <a:r>
              <a:rPr lang="es-ES" dirty="0"/>
              <a:t> (causado por una obstrucción en una arteria).</a:t>
            </a:r>
            <a:endParaRPr lang="es-BO" dirty="0"/>
          </a:p>
          <a:p>
            <a:r>
              <a:rPr lang="es-ES" dirty="0"/>
              <a:t>Las consecuencias de un ACV, el tipo de funciones afectadas y la gravedad, difieren según el punto en el que se localiza la oclusión y la extensión de la lesión.</a:t>
            </a:r>
            <a:endParaRPr lang="es-BO" dirty="0"/>
          </a:p>
        </p:txBody>
      </p:sp>
      <p:sp>
        <p:nvSpPr>
          <p:cNvPr id="3" name="2 Título"/>
          <p:cNvSpPr>
            <a:spLocks noGrp="1"/>
          </p:cNvSpPr>
          <p:nvPr>
            <p:ph type="title"/>
          </p:nvPr>
        </p:nvSpPr>
        <p:spPr/>
        <p:txBody>
          <a:bodyPr/>
          <a:lstStyle/>
          <a:p>
            <a:r>
              <a:rPr lang="es-ES" b="1" dirty="0"/>
              <a:t>ACCIDENTE CEREBROVASCULAR </a:t>
            </a:r>
            <a:endParaRPr lang="es-BO" dirty="0"/>
          </a:p>
        </p:txBody>
      </p:sp>
    </p:spTree>
    <p:extLst>
      <p:ext uri="{BB962C8B-B14F-4D97-AF65-F5344CB8AC3E}">
        <p14:creationId xmlns="" xmlns:p14="http://schemas.microsoft.com/office/powerpoint/2010/main" val="205678518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6 Marcador de contenido"/>
          <p:cNvGraphicFramePr>
            <a:graphicFrameLocks noGrp="1"/>
          </p:cNvGraphicFramePr>
          <p:nvPr>
            <p:ph idx="1"/>
            <p:extLst>
              <p:ext uri="{D42A27DB-BD31-4B8C-83A1-F6EECF244321}">
                <p14:modId xmlns="" xmlns:p14="http://schemas.microsoft.com/office/powerpoint/2010/main" val="1323725925"/>
              </p:ext>
            </p:extLst>
          </p:nvPr>
        </p:nvGraphicFramePr>
        <p:xfrm>
          <a:off x="683568" y="1988840"/>
          <a:ext cx="7747000" cy="4536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2 Título"/>
          <p:cNvSpPr>
            <a:spLocks noGrp="1"/>
          </p:cNvSpPr>
          <p:nvPr>
            <p:ph type="title"/>
          </p:nvPr>
        </p:nvSpPr>
        <p:spPr/>
        <p:txBody>
          <a:bodyPr/>
          <a:lstStyle/>
          <a:p>
            <a:r>
              <a:rPr lang="es-ES" b="1" dirty="0"/>
              <a:t> </a:t>
            </a:r>
            <a:r>
              <a:rPr lang="es-BO" sz="2000" b="1" dirty="0">
                <a:latin typeface="Arial Narrow" pitchFamily="34" charset="0"/>
              </a:rPr>
              <a:t>ACCIDENTE CEREBROVASCULAR HEMORRÁGICO</a:t>
            </a:r>
            <a:endParaRPr lang="es-BO" sz="2000" dirty="0">
              <a:latin typeface="Arial Narrow" pitchFamily="34" charset="0"/>
            </a:endParaRPr>
          </a:p>
        </p:txBody>
      </p:sp>
    </p:spTree>
    <p:extLst>
      <p:ext uri="{BB962C8B-B14F-4D97-AF65-F5344CB8AC3E}">
        <p14:creationId xmlns="" xmlns:p14="http://schemas.microsoft.com/office/powerpoint/2010/main" val="364838919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699247" y="1340768"/>
            <a:ext cx="7745505" cy="5256583"/>
          </a:xfrm>
        </p:spPr>
        <p:txBody>
          <a:bodyPr>
            <a:normAutofit fontScale="77500" lnSpcReduction="20000"/>
          </a:bodyPr>
          <a:lstStyle/>
          <a:p>
            <a:r>
              <a:rPr lang="es-BO" dirty="0" smtClean="0"/>
              <a:t> </a:t>
            </a:r>
            <a:r>
              <a:rPr lang="es-BO" b="1" dirty="0"/>
              <a:t>debilidad facial, debilidad en el brazo o problemas en el habla.</a:t>
            </a:r>
            <a:endParaRPr lang="es-BO" dirty="0"/>
          </a:p>
          <a:p>
            <a:pPr marL="0" indent="0">
              <a:buNone/>
            </a:pPr>
            <a:r>
              <a:rPr lang="es-BO" dirty="0"/>
              <a:t>Los síntomas del Accidente Cerebro Vascular Hemorrágico pueden incluir:   </a:t>
            </a:r>
          </a:p>
          <a:p>
            <a:pPr marL="0" indent="0">
              <a:buNone/>
            </a:pPr>
            <a:r>
              <a:rPr lang="es-BO" dirty="0"/>
              <a:t>•    Dolor de cabeza intenso y repentino</a:t>
            </a:r>
          </a:p>
          <a:p>
            <a:pPr marL="0" indent="0">
              <a:buNone/>
            </a:pPr>
            <a:r>
              <a:rPr lang="es-BO" dirty="0"/>
              <a:t>•    Pérdida de conocimiento (si es prolongado, se llama coma)</a:t>
            </a:r>
          </a:p>
          <a:p>
            <a:pPr marL="0" indent="0">
              <a:buNone/>
            </a:pPr>
            <a:r>
              <a:rPr lang="es-BO" dirty="0"/>
              <a:t>•    Vómitos</a:t>
            </a:r>
          </a:p>
          <a:p>
            <a:pPr marL="0" indent="0">
              <a:buNone/>
            </a:pPr>
            <a:r>
              <a:rPr lang="es-BO" dirty="0"/>
              <a:t>•    Tortícolis</a:t>
            </a:r>
          </a:p>
          <a:p>
            <a:pPr marL="0" indent="0">
              <a:buNone/>
            </a:pPr>
            <a:r>
              <a:rPr lang="es-BO" dirty="0"/>
              <a:t>•    Entumecimiento, debilidad o imposibilidad de mover la cara, brazo o pierna de </a:t>
            </a:r>
          </a:p>
          <a:p>
            <a:pPr marL="0" indent="0">
              <a:buNone/>
            </a:pPr>
            <a:r>
              <a:rPr lang="es-BO" dirty="0"/>
              <a:t>      un lado del cuerpo.</a:t>
            </a:r>
          </a:p>
          <a:p>
            <a:pPr marL="0" indent="0">
              <a:buNone/>
            </a:pPr>
            <a:r>
              <a:rPr lang="es-BO" dirty="0"/>
              <a:t>•    dificultad para hablar y que lo entiendan.</a:t>
            </a:r>
          </a:p>
          <a:p>
            <a:pPr marL="0" indent="0">
              <a:buNone/>
            </a:pPr>
            <a:r>
              <a:rPr lang="es-BO" dirty="0"/>
              <a:t>•    Mareos y vértigo</a:t>
            </a:r>
          </a:p>
          <a:p>
            <a:pPr marL="0" indent="0">
              <a:buNone/>
            </a:pPr>
            <a:r>
              <a:rPr lang="es-BO" dirty="0"/>
              <a:t>•    dificultad para mantener las piernas </a:t>
            </a:r>
            <a:r>
              <a:rPr lang="es-BO" dirty="0" err="1"/>
              <a:t>derectas</a:t>
            </a:r>
            <a:r>
              <a:rPr lang="es-BO" dirty="0"/>
              <a:t> y elevarlas</a:t>
            </a:r>
          </a:p>
          <a:p>
            <a:pPr marL="0" indent="0">
              <a:buNone/>
            </a:pPr>
            <a:r>
              <a:rPr lang="es-BO" dirty="0"/>
              <a:t>•    Fiebre</a:t>
            </a:r>
          </a:p>
          <a:p>
            <a:pPr marL="0" indent="0">
              <a:buNone/>
            </a:pPr>
            <a:r>
              <a:rPr lang="es-BO" dirty="0"/>
              <a:t>•    Sensibilidad a la luz</a:t>
            </a:r>
          </a:p>
          <a:p>
            <a:pPr marL="0" indent="0">
              <a:buNone/>
            </a:pPr>
            <a:r>
              <a:rPr lang="es-BO" dirty="0"/>
              <a:t>•    Inquietud y confusión (delirio)</a:t>
            </a:r>
          </a:p>
          <a:p>
            <a:pPr marL="0" indent="0">
              <a:buNone/>
            </a:pPr>
            <a:r>
              <a:rPr lang="es-BO" dirty="0"/>
              <a:t>•    Ataques (convulsiones)</a:t>
            </a:r>
          </a:p>
        </p:txBody>
      </p:sp>
      <p:sp>
        <p:nvSpPr>
          <p:cNvPr id="3" name="2 Título"/>
          <p:cNvSpPr>
            <a:spLocks noGrp="1"/>
          </p:cNvSpPr>
          <p:nvPr>
            <p:ph type="title"/>
          </p:nvPr>
        </p:nvSpPr>
        <p:spPr>
          <a:xfrm>
            <a:off x="688490" y="570156"/>
            <a:ext cx="7756263" cy="770612"/>
          </a:xfrm>
        </p:spPr>
        <p:txBody>
          <a:bodyPr/>
          <a:lstStyle/>
          <a:p>
            <a:r>
              <a:rPr lang="es-BO" sz="2000" b="1" dirty="0"/>
              <a:t>Síntomas del Accidente Cerebro Vascular Hemorrágico</a:t>
            </a:r>
            <a:endParaRPr lang="es-BO" sz="2000" dirty="0"/>
          </a:p>
        </p:txBody>
      </p:sp>
    </p:spTree>
    <p:extLst>
      <p:ext uri="{BB962C8B-B14F-4D97-AF65-F5344CB8AC3E}">
        <p14:creationId xmlns="" xmlns:p14="http://schemas.microsoft.com/office/powerpoint/2010/main" val="404923365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699247" y="692697"/>
            <a:ext cx="7745505" cy="5433466"/>
          </a:xfrm>
        </p:spPr>
        <p:txBody>
          <a:bodyPr>
            <a:normAutofit lnSpcReduction="10000"/>
          </a:bodyPr>
          <a:lstStyle/>
          <a:p>
            <a:pPr lvl="0"/>
            <a:r>
              <a:rPr lang="es-BO" dirty="0"/>
              <a:t>Debilidad o parálisis, generalmente a un lado del cuerpo</a:t>
            </a:r>
          </a:p>
          <a:p>
            <a:pPr lvl="0"/>
            <a:r>
              <a:rPr lang="es-BO" dirty="0"/>
              <a:t>Falta de conciencia de un lado de su cuerpo (generalmente el lado izquierdo)</a:t>
            </a:r>
          </a:p>
          <a:p>
            <a:pPr lvl="0"/>
            <a:r>
              <a:rPr lang="es-BO" dirty="0"/>
              <a:t>Pérdida de la sensibilidad a un lado del cuerpo</a:t>
            </a:r>
          </a:p>
          <a:p>
            <a:pPr lvl="0"/>
            <a:r>
              <a:rPr lang="es-BO" dirty="0"/>
              <a:t>Dificultad para tragar</a:t>
            </a:r>
          </a:p>
          <a:p>
            <a:pPr lvl="0"/>
            <a:r>
              <a:rPr lang="es-BO" dirty="0"/>
              <a:t>Cansancio extremo y problemas para dormir</a:t>
            </a:r>
          </a:p>
          <a:p>
            <a:pPr lvl="0"/>
            <a:r>
              <a:rPr lang="es-BO" dirty="0"/>
              <a:t>Problemas para hablar, leer y escribir</a:t>
            </a:r>
          </a:p>
          <a:p>
            <a:pPr lvl="0"/>
            <a:r>
              <a:rPr lang="es-BO" dirty="0"/>
              <a:t>Problemas con la visión, por ejemplo, visión doble o ceguera parcial</a:t>
            </a:r>
          </a:p>
          <a:p>
            <a:pPr lvl="0"/>
            <a:r>
              <a:rPr lang="es-BO" dirty="0"/>
              <a:t>Dificultades con la memoria y la concentración</a:t>
            </a:r>
          </a:p>
          <a:p>
            <a:pPr lvl="0"/>
            <a:r>
              <a:rPr lang="es-BO" dirty="0"/>
              <a:t>Dificultad para controlar su vejiga y movimientos intestinales (incontinencia), o estreñimiento.</a:t>
            </a:r>
          </a:p>
          <a:p>
            <a:pPr lvl="0"/>
            <a:r>
              <a:rPr lang="es-BO" dirty="0"/>
              <a:t>Cambios de comportamiento.</a:t>
            </a:r>
          </a:p>
        </p:txBody>
      </p:sp>
      <p:sp>
        <p:nvSpPr>
          <p:cNvPr id="3" name="2 Título"/>
          <p:cNvSpPr>
            <a:spLocks noGrp="1"/>
          </p:cNvSpPr>
          <p:nvPr>
            <p:ph type="title"/>
          </p:nvPr>
        </p:nvSpPr>
        <p:spPr>
          <a:xfrm>
            <a:off x="688490" y="692696"/>
            <a:ext cx="7756263" cy="72008"/>
          </a:xfrm>
        </p:spPr>
        <p:txBody>
          <a:bodyPr/>
          <a:lstStyle/>
          <a:p>
            <a:r>
              <a:rPr lang="es-BO" sz="2000" b="1" dirty="0"/>
              <a:t>Complicaciones del Accidente Cerebro Vascular Hemorrágico</a:t>
            </a:r>
            <a:r>
              <a:rPr lang="es-BO" sz="2000" dirty="0"/>
              <a:t/>
            </a:r>
            <a:br>
              <a:rPr lang="es-BO" sz="2000" dirty="0"/>
            </a:br>
            <a:r>
              <a:rPr lang="es-BO" b="1" dirty="0"/>
              <a:t> </a:t>
            </a:r>
            <a:endParaRPr lang="es-BO" dirty="0"/>
          </a:p>
        </p:txBody>
      </p:sp>
    </p:spTree>
    <p:extLst>
      <p:ext uri="{BB962C8B-B14F-4D97-AF65-F5344CB8AC3E}">
        <p14:creationId xmlns="" xmlns:p14="http://schemas.microsoft.com/office/powerpoint/2010/main" val="282788549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755576" y="1124744"/>
            <a:ext cx="7745505" cy="5472608"/>
          </a:xfrm>
        </p:spPr>
        <p:txBody>
          <a:bodyPr>
            <a:normAutofit lnSpcReduction="10000"/>
          </a:bodyPr>
          <a:lstStyle/>
          <a:p>
            <a:r>
              <a:rPr lang="es-BO" b="1" dirty="0"/>
              <a:t>Exámenes </a:t>
            </a:r>
            <a:r>
              <a:rPr lang="es-BO" b="1" dirty="0" smtClean="0"/>
              <a:t>complementarios</a:t>
            </a:r>
          </a:p>
          <a:p>
            <a:pPr marL="0" indent="0">
              <a:buNone/>
            </a:pPr>
            <a:endParaRPr lang="es-BO" b="1" dirty="0" smtClean="0"/>
          </a:p>
          <a:p>
            <a:pPr marL="0" indent="0">
              <a:buNone/>
            </a:pPr>
            <a:r>
              <a:rPr lang="es-BO" b="1" dirty="0" smtClean="0"/>
              <a:t>Tac,IRM.</a:t>
            </a:r>
          </a:p>
          <a:p>
            <a:endParaRPr lang="es-BO" b="1" dirty="0" smtClean="0"/>
          </a:p>
          <a:p>
            <a:pPr marL="0" indent="0">
              <a:buNone/>
            </a:pPr>
            <a:r>
              <a:rPr lang="es-BO" b="1" dirty="0"/>
              <a:t>Otros exámenes pueden abarcar:</a:t>
            </a:r>
            <a:br>
              <a:rPr lang="es-BO" b="1" dirty="0"/>
            </a:br>
            <a:r>
              <a:rPr lang="es-BO" dirty="0"/>
              <a:t/>
            </a:r>
            <a:br>
              <a:rPr lang="es-BO" dirty="0"/>
            </a:br>
            <a:r>
              <a:rPr lang="es-BO" dirty="0"/>
              <a:t>Tiempo de sangrado</a:t>
            </a:r>
            <a:br>
              <a:rPr lang="es-BO" dirty="0"/>
            </a:br>
            <a:r>
              <a:rPr lang="es-BO" dirty="0"/>
              <a:t>Tiempo parcial de tromboplastina / protrombina (TP/TPT)</a:t>
            </a:r>
            <a:br>
              <a:rPr lang="es-BO" dirty="0"/>
            </a:br>
            <a:r>
              <a:rPr lang="es-BO" dirty="0"/>
              <a:t>Examen del LCR (líquido cefalorraquídeo) (se necesita en pocas ocasiones)</a:t>
            </a:r>
            <a:br>
              <a:rPr lang="es-BO" dirty="0"/>
            </a:br>
            <a:r>
              <a:rPr lang="es-BO" dirty="0"/>
              <a:t>Tratamiento Volver al comienzo</a:t>
            </a:r>
            <a:br>
              <a:rPr lang="es-BO" dirty="0"/>
            </a:br>
            <a:r>
              <a:rPr lang="es-BO" dirty="0"/>
              <a:t/>
            </a:r>
            <a:br>
              <a:rPr lang="es-BO" dirty="0"/>
            </a:br>
            <a:r>
              <a:rPr lang="es-BO" dirty="0"/>
              <a:t/>
            </a:r>
            <a:br>
              <a:rPr lang="es-BO" dirty="0"/>
            </a:br>
            <a:endParaRPr lang="es-BO" dirty="0"/>
          </a:p>
        </p:txBody>
      </p:sp>
    </p:spTree>
    <p:extLst>
      <p:ext uri="{BB962C8B-B14F-4D97-AF65-F5344CB8AC3E}">
        <p14:creationId xmlns="" xmlns:p14="http://schemas.microsoft.com/office/powerpoint/2010/main" val="25348170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699247" y="785794"/>
            <a:ext cx="7745505" cy="5340369"/>
          </a:xfrm>
        </p:spPr>
        <p:txBody>
          <a:bodyPr>
            <a:normAutofit fontScale="85000" lnSpcReduction="20000"/>
          </a:bodyPr>
          <a:lstStyle/>
          <a:p>
            <a:r>
              <a:rPr lang="es-BO" b="1" dirty="0"/>
              <a:t>Tratamiento inmediato</a:t>
            </a:r>
            <a:br>
              <a:rPr lang="es-BO" b="1" dirty="0"/>
            </a:br>
            <a:r>
              <a:rPr lang="es-BO" dirty="0"/>
              <a:t/>
            </a:r>
            <a:br>
              <a:rPr lang="es-BO" dirty="0"/>
            </a:br>
            <a:r>
              <a:rPr lang="es-BO" dirty="0"/>
              <a:t>El tratamiento se suministra de manera ideal en una unidad de cuidados intensivos, donde se pueden detectar de manera inmediata las complicaciones. El personal médico presta atención cuidadosa a la respiración debido a que, en algunas ocasiones, las personas con hemorragia cerebral desarrollan patrones de respiración muy irregulares e incluso dejan de respirar por completo</a:t>
            </a:r>
            <a:r>
              <a:rPr lang="es-BO" dirty="0" smtClean="0"/>
              <a:t>.</a:t>
            </a:r>
          </a:p>
          <a:p>
            <a:r>
              <a:rPr lang="es-BO" b="1" dirty="0"/>
              <a:t>Cirugía </a:t>
            </a:r>
            <a:br>
              <a:rPr lang="es-BO" b="1" dirty="0"/>
            </a:br>
            <a:r>
              <a:rPr lang="es-BO" dirty="0"/>
              <a:t/>
            </a:r>
            <a:br>
              <a:rPr lang="es-BO" dirty="0"/>
            </a:br>
            <a:r>
              <a:rPr lang="es-BO" dirty="0"/>
              <a:t>En algunas ocasiones, son necesarias intervenciones quirúrgicas para salvar la vida de los pacientes o para mejorar sus posibilidades de recuperación significativa y el tipo de cirugía depende de la causa específica del sangrado cerebral. Por ejemplo, una hemorragia debida a un aneurisma requiere tratamiento especial (ver aneurisma).</a:t>
            </a:r>
            <a:br>
              <a:rPr lang="es-BO" dirty="0"/>
            </a:br>
            <a:r>
              <a:rPr lang="es-BO" dirty="0"/>
              <a:t/>
            </a:r>
            <a:br>
              <a:rPr lang="es-BO" dirty="0"/>
            </a:br>
            <a:endParaRPr lang="es-BO" dirty="0"/>
          </a:p>
        </p:txBody>
      </p:sp>
    </p:spTree>
    <p:extLst>
      <p:ext uri="{BB962C8B-B14F-4D97-AF65-F5344CB8AC3E}">
        <p14:creationId xmlns="" xmlns:p14="http://schemas.microsoft.com/office/powerpoint/2010/main" val="9735584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827584" y="857232"/>
            <a:ext cx="7745505" cy="6000768"/>
          </a:xfrm>
        </p:spPr>
        <p:txBody>
          <a:bodyPr>
            <a:normAutofit fontScale="77500" lnSpcReduction="20000"/>
          </a:bodyPr>
          <a:lstStyle/>
          <a:p>
            <a:r>
              <a:rPr lang="es-BO" b="1" dirty="0"/>
              <a:t>Cuidados de Enfermería</a:t>
            </a:r>
            <a:endParaRPr lang="es-BO" dirty="0"/>
          </a:p>
          <a:p>
            <a:r>
              <a:rPr lang="es-BO" dirty="0"/>
              <a:t> </a:t>
            </a:r>
            <a:r>
              <a:rPr lang="es-BO" b="1" dirty="0"/>
              <a:t>Objetivos: </a:t>
            </a:r>
            <a:endParaRPr lang="es-BO" dirty="0"/>
          </a:p>
          <a:p>
            <a:pPr lvl="0"/>
            <a:r>
              <a:rPr lang="es-BO" dirty="0"/>
              <a:t>Prevenir las deformidades, desmejora física y pérdida del arco de movimiento. </a:t>
            </a:r>
          </a:p>
          <a:p>
            <a:pPr lvl="0"/>
            <a:r>
              <a:rPr lang="es-BO" dirty="0"/>
              <a:t>Desarrollar habilidades compensatorias para las alteraciones de la percepción sensitiva. </a:t>
            </a:r>
          </a:p>
          <a:p>
            <a:pPr lvl="0"/>
            <a:r>
              <a:rPr lang="es-BO" dirty="0"/>
              <a:t>Fomentar la independencia en el auto cuidado. </a:t>
            </a:r>
          </a:p>
          <a:p>
            <a:pPr lvl="0"/>
            <a:r>
              <a:rPr lang="es-BO" dirty="0"/>
              <a:t>Establecer una mejor comunicación con el paciente. </a:t>
            </a:r>
          </a:p>
          <a:p>
            <a:pPr lvl="0"/>
            <a:r>
              <a:rPr lang="es-BO" dirty="0"/>
              <a:t>Motivar a la familia para que dé el apoyo necesario para el proceso de rehabilitación. </a:t>
            </a:r>
          </a:p>
          <a:p>
            <a:r>
              <a:rPr lang="es-BO" b="1" dirty="0"/>
              <a:t> Diagnóstico de enfermería</a:t>
            </a:r>
            <a:endParaRPr lang="es-BO" dirty="0"/>
          </a:p>
          <a:p>
            <a:pPr lvl="0"/>
            <a:r>
              <a:rPr lang="es-BO" dirty="0"/>
              <a:t>Trastorno de la movilidad física relacionado con hemiplejia, debilidad y espasticidad</a:t>
            </a:r>
          </a:p>
          <a:p>
            <a:pPr lvl="0"/>
            <a:r>
              <a:rPr lang="es-BO" dirty="0"/>
              <a:t>Alteración de la percepción sensorial (visual, táctil, propioceptiva, cenestésica) relacionada con el trastorno de la función cerebral. </a:t>
            </a:r>
          </a:p>
          <a:p>
            <a:pPr lvl="0"/>
            <a:r>
              <a:rPr lang="es-BO" dirty="0"/>
              <a:t>Déficit de auto-cuidado relacionado con la disminución de la fuerza y la resistencia; parálisis.</a:t>
            </a:r>
          </a:p>
          <a:p>
            <a:pPr lvl="0"/>
            <a:r>
              <a:rPr lang="es-BO" dirty="0"/>
              <a:t>Trastorno de la comunicación verbal relacionado con afasia, déficit motores, déficit cognoscitivo generalizado o todo lo anterior. </a:t>
            </a:r>
          </a:p>
          <a:p>
            <a:pPr lvl="0"/>
            <a:r>
              <a:rPr lang="es-BO" dirty="0"/>
              <a:t>Posibilidad de enfrentamiento familiar ineficaz a los problemas relacionados con la magnitud del déficit neurológico del paciente, enfermedad duradera, alteración del estilo de vida familiar. </a:t>
            </a:r>
          </a:p>
          <a:p>
            <a:pPr marL="0" indent="0">
              <a:buNone/>
            </a:pPr>
            <a:endParaRPr lang="es-BO" dirty="0"/>
          </a:p>
        </p:txBody>
      </p:sp>
    </p:spTree>
    <p:extLst>
      <p:ext uri="{BB962C8B-B14F-4D97-AF65-F5344CB8AC3E}">
        <p14:creationId xmlns="" xmlns:p14="http://schemas.microsoft.com/office/powerpoint/2010/main" val="103971694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755576" y="548680"/>
            <a:ext cx="7745505" cy="5832648"/>
          </a:xfrm>
        </p:spPr>
        <p:txBody>
          <a:bodyPr>
            <a:normAutofit fontScale="85000" lnSpcReduction="20000"/>
          </a:bodyPr>
          <a:lstStyle/>
          <a:p>
            <a:r>
              <a:rPr lang="es-BO" b="1" dirty="0"/>
              <a:t> Actividades de enfermería</a:t>
            </a:r>
            <a:endParaRPr lang="es-BO" dirty="0"/>
          </a:p>
          <a:p>
            <a:pPr lvl="0"/>
            <a:r>
              <a:rPr lang="es-BO" dirty="0"/>
              <a:t>Colocar al paciente correctamente en la cama para evitar contracturas, aliviar presiones y conservar una buena alineación corporal. </a:t>
            </a:r>
          </a:p>
          <a:p>
            <a:pPr lvl="0"/>
            <a:r>
              <a:rPr lang="es-BO" dirty="0"/>
              <a:t>Poner una tabla debajo del colchón para dar apoyo firme al cuerpo. Estimularlo a que permanezca plano en la cama, excepto cuando realiza las actividades diarias, para evitar deformaciones en flexión de la cadera. </a:t>
            </a:r>
          </a:p>
          <a:p>
            <a:pPr lvl="0"/>
            <a:r>
              <a:rPr lang="es-BO" dirty="0"/>
              <a:t>Usar tabla para el pie durante el periodo flácido; luego de apoplejía para conservar los pies extendidos: se previene el pie péndulo, acortamiento del tendón de Aquiles y flexión plantar. </a:t>
            </a:r>
          </a:p>
          <a:p>
            <a:pPr lvl="0"/>
            <a:r>
              <a:rPr lang="es-BO" dirty="0"/>
              <a:t>Evitar la presión excesiva en la parte carnosa del pie después de aparecer espasticidad. </a:t>
            </a:r>
          </a:p>
          <a:p>
            <a:pPr lvl="0"/>
            <a:r>
              <a:rPr lang="es-BO" dirty="0"/>
              <a:t>Utilizar cojines para colocarlos en las articulaciones y evitar la fricción y daño de la piel. </a:t>
            </a:r>
          </a:p>
          <a:p>
            <a:pPr lvl="0"/>
            <a:r>
              <a:rPr lang="es-BO" dirty="0"/>
              <a:t>Realizar cambios de posición cada 2 horas. </a:t>
            </a:r>
          </a:p>
          <a:p>
            <a:pPr lvl="0"/>
            <a:r>
              <a:rPr lang="es-BO" dirty="0"/>
              <a:t>Realizar masajes para mejorar la circulación </a:t>
            </a:r>
          </a:p>
          <a:p>
            <a:pPr lvl="0"/>
            <a:r>
              <a:rPr lang="es-BO" dirty="0"/>
              <a:t>Realizar ejercicios de flexión y extensión </a:t>
            </a:r>
          </a:p>
          <a:p>
            <a:pPr lvl="0"/>
            <a:r>
              <a:rPr lang="es-BO" dirty="0"/>
              <a:t>Probar si hay hemianopsia (visión defectuosa en la mitad del campo visual).  Poner el botón de llamada, mesa de cabecera, etc., del lado sano. </a:t>
            </a:r>
          </a:p>
        </p:txBody>
      </p:sp>
    </p:spTree>
    <p:extLst>
      <p:ext uri="{BB962C8B-B14F-4D97-AF65-F5344CB8AC3E}">
        <p14:creationId xmlns="" xmlns:p14="http://schemas.microsoft.com/office/powerpoint/2010/main" val="296156163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827584" y="548680"/>
            <a:ext cx="7745505" cy="6192688"/>
          </a:xfrm>
        </p:spPr>
        <p:txBody>
          <a:bodyPr>
            <a:normAutofit fontScale="70000" lnSpcReduction="20000"/>
          </a:bodyPr>
          <a:lstStyle/>
          <a:p>
            <a:pPr lvl="0"/>
            <a:r>
              <a:rPr lang="es-BO" dirty="0"/>
              <a:t>Alentar al paciente a girar la cabeza de un lado a otro para tener una visión completa del campo visual normal. </a:t>
            </a:r>
          </a:p>
          <a:p>
            <a:pPr lvl="0"/>
            <a:r>
              <a:rPr lang="es-BO" dirty="0"/>
              <a:t>Hacer que el paciente use sus anteojos.</a:t>
            </a:r>
          </a:p>
          <a:p>
            <a:pPr lvl="0"/>
            <a:r>
              <a:rPr lang="es-BO" dirty="0"/>
              <a:t>Ayudar al paciente a aprender de nuevo la secuencia de deglución. </a:t>
            </a:r>
          </a:p>
          <a:p>
            <a:pPr lvl="0"/>
            <a:r>
              <a:rPr lang="es-BO" dirty="0"/>
              <a:t>Pedirle al paciente que realice ejercicios de succión, usando un dedo enguantado, o hielo </a:t>
            </a:r>
          </a:p>
          <a:p>
            <a:pPr lvl="0"/>
            <a:r>
              <a:rPr lang="es-BO" dirty="0"/>
              <a:t>Dar los alimentos y líquidos por el lado sano (si la boca está caída) </a:t>
            </a:r>
          </a:p>
          <a:p>
            <a:pPr lvl="0"/>
            <a:r>
              <a:rPr lang="es-BO" dirty="0"/>
              <a:t>Recordar al paciente que debe masticar del lado no afectado. </a:t>
            </a:r>
          </a:p>
          <a:p>
            <a:pPr lvl="0"/>
            <a:r>
              <a:rPr lang="es-BO" dirty="0"/>
              <a:t>Ayudar a establecer metas realistas y añadir una nueva tarea al día, si es posible. </a:t>
            </a:r>
          </a:p>
          <a:p>
            <a:pPr lvl="0"/>
            <a:r>
              <a:rPr lang="es-BO" dirty="0"/>
              <a:t>Hacer que el paciente transfiera de inmediato todas las actividades de   cuidado de sí mismo al lado no afectado. </a:t>
            </a:r>
          </a:p>
          <a:p>
            <a:pPr lvl="0"/>
            <a:r>
              <a:rPr lang="es-BO" dirty="0"/>
              <a:t>Alentar al paciente a cepillarse los dientes, peinar el cabello, bañarse y alimentarse.</a:t>
            </a:r>
          </a:p>
          <a:p>
            <a:pPr lvl="0"/>
            <a:r>
              <a:rPr lang="es-BO" dirty="0"/>
              <a:t>Asegurarse de que el paciente no descuide el lado afectado.</a:t>
            </a:r>
          </a:p>
          <a:p>
            <a:pPr lvl="0"/>
            <a:r>
              <a:rPr lang="es-BO" dirty="0"/>
              <a:t>Alentar al paciente a vestirse para actividades de deambulación.</a:t>
            </a:r>
          </a:p>
          <a:p>
            <a:pPr lvl="0"/>
            <a:r>
              <a:rPr lang="es-BO" dirty="0"/>
              <a:t>Valorar la capacidad de comunicación del paciente: suele establecerla el patólogo para el lenguaje y el habla, en colaboración con el neurólogo.</a:t>
            </a:r>
          </a:p>
          <a:p>
            <a:pPr lvl="0"/>
            <a:r>
              <a:rPr lang="es-BO" dirty="0"/>
              <a:t>Dar al enfermo tanta seguridad psicológica como sea posible.</a:t>
            </a:r>
          </a:p>
          <a:p>
            <a:pPr lvl="0"/>
            <a:r>
              <a:rPr lang="es-BO" dirty="0"/>
              <a:t>Proporcionarle tiempo suficiente para hablar y responder: no puede comprender bien los mensajes que recibe y formular una respuesta bajo presión.</a:t>
            </a:r>
          </a:p>
          <a:p>
            <a:pPr lvl="0"/>
            <a:r>
              <a:rPr lang="es-BO" dirty="0"/>
              <a:t>Hablar lentamente mientras se hace contacto visual con él.</a:t>
            </a:r>
          </a:p>
          <a:p>
            <a:pPr lvl="0"/>
            <a:r>
              <a:rPr lang="es-BO" dirty="0"/>
              <a:t>Mirarlo desde el lado no afectado. </a:t>
            </a:r>
          </a:p>
        </p:txBody>
      </p:sp>
      <p:sp>
        <p:nvSpPr>
          <p:cNvPr id="3" name="2 Título"/>
          <p:cNvSpPr>
            <a:spLocks noGrp="1"/>
          </p:cNvSpPr>
          <p:nvPr>
            <p:ph type="title"/>
          </p:nvPr>
        </p:nvSpPr>
        <p:spPr>
          <a:xfrm flipV="1">
            <a:off x="688490" y="524437"/>
            <a:ext cx="7756263" cy="45719"/>
          </a:xfrm>
        </p:spPr>
        <p:txBody>
          <a:bodyPr/>
          <a:lstStyle/>
          <a:p>
            <a:endParaRPr lang="es-BO" dirty="0"/>
          </a:p>
        </p:txBody>
      </p:sp>
    </p:spTree>
    <p:extLst>
      <p:ext uri="{BB962C8B-B14F-4D97-AF65-F5344CB8AC3E}">
        <p14:creationId xmlns="" xmlns:p14="http://schemas.microsoft.com/office/powerpoint/2010/main" val="365992544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p:txBody>
          <a:bodyPr/>
          <a:lstStyle/>
          <a:p>
            <a:endParaRPr lang="es-BO"/>
          </a:p>
        </p:txBody>
      </p:sp>
      <p:sp>
        <p:nvSpPr>
          <p:cNvPr id="3" name="2 Título"/>
          <p:cNvSpPr>
            <a:spLocks noGrp="1"/>
          </p:cNvSpPr>
          <p:nvPr>
            <p:ph type="title"/>
          </p:nvPr>
        </p:nvSpPr>
        <p:spPr/>
        <p:txBody>
          <a:bodyPr/>
          <a:lstStyle/>
          <a:p>
            <a:endParaRPr lang="es-BO"/>
          </a:p>
        </p:txBody>
      </p:sp>
      <p:pic>
        <p:nvPicPr>
          <p:cNvPr id="4" name="3 Imagen" descr="http://image.slidesharecdn.com/paeenpacientesconaveisquemico-130803212048-phpapp01/95/slide-10-638.jpg?cb=1375582928"/>
          <p:cNvPicPr/>
          <p:nvPr/>
        </p:nvPicPr>
        <p:blipFill>
          <a:blip r:embed="rId2">
            <a:extLst>
              <a:ext uri="{28A0092B-C50C-407E-A947-70E740481C1C}">
                <a14:useLocalDpi xmlns="" xmlns:a14="http://schemas.microsoft.com/office/drawing/2010/main" val="0"/>
              </a:ext>
            </a:extLst>
          </a:blip>
          <a:srcRect/>
          <a:stretch>
            <a:fillRect/>
          </a:stretch>
        </p:blipFill>
        <p:spPr bwMode="auto">
          <a:xfrm>
            <a:off x="755576" y="548680"/>
            <a:ext cx="7848872" cy="5521915"/>
          </a:xfrm>
          <a:prstGeom prst="rect">
            <a:avLst/>
          </a:prstGeom>
          <a:noFill/>
          <a:ln>
            <a:noFill/>
          </a:ln>
        </p:spPr>
      </p:pic>
    </p:spTree>
    <p:extLst>
      <p:ext uri="{BB962C8B-B14F-4D97-AF65-F5344CB8AC3E}">
        <p14:creationId xmlns="" xmlns:p14="http://schemas.microsoft.com/office/powerpoint/2010/main" val="173245843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p:txBody>
          <a:bodyPr/>
          <a:lstStyle/>
          <a:p>
            <a:endParaRPr lang="es-BO"/>
          </a:p>
        </p:txBody>
      </p:sp>
      <p:sp>
        <p:nvSpPr>
          <p:cNvPr id="3" name="2 Título"/>
          <p:cNvSpPr>
            <a:spLocks noGrp="1"/>
          </p:cNvSpPr>
          <p:nvPr>
            <p:ph type="title"/>
          </p:nvPr>
        </p:nvSpPr>
        <p:spPr/>
        <p:txBody>
          <a:bodyPr/>
          <a:lstStyle/>
          <a:p>
            <a:endParaRPr lang="es-BO"/>
          </a:p>
        </p:txBody>
      </p:sp>
      <p:pic>
        <p:nvPicPr>
          <p:cNvPr id="4" name="3 Imagen" descr="http://image.slidesharecdn.com/paeenpacientesconaveisquemico-130803212048-phpapp01/95/slide-11-638.jpg?cb=1375582928"/>
          <p:cNvPicPr/>
          <p:nvPr/>
        </p:nvPicPr>
        <p:blipFill>
          <a:blip r:embed="rId2">
            <a:extLst>
              <a:ext uri="{28A0092B-C50C-407E-A947-70E740481C1C}">
                <a14:useLocalDpi xmlns="" xmlns:a14="http://schemas.microsoft.com/office/drawing/2010/main" val="0"/>
              </a:ext>
            </a:extLst>
          </a:blip>
          <a:srcRect/>
          <a:stretch>
            <a:fillRect/>
          </a:stretch>
        </p:blipFill>
        <p:spPr bwMode="auto">
          <a:xfrm>
            <a:off x="683568" y="476672"/>
            <a:ext cx="7776864" cy="5976664"/>
          </a:xfrm>
          <a:prstGeom prst="rect">
            <a:avLst/>
          </a:prstGeom>
          <a:noFill/>
          <a:ln>
            <a:noFill/>
          </a:ln>
        </p:spPr>
      </p:pic>
    </p:spTree>
    <p:extLst>
      <p:ext uri="{BB962C8B-B14F-4D97-AF65-F5344CB8AC3E}">
        <p14:creationId xmlns="" xmlns:p14="http://schemas.microsoft.com/office/powerpoint/2010/main" val="148845801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p:txBody>
          <a:bodyPr/>
          <a:lstStyle/>
          <a:p>
            <a:endParaRPr lang="es-BO"/>
          </a:p>
        </p:txBody>
      </p:sp>
      <p:sp>
        <p:nvSpPr>
          <p:cNvPr id="3" name="2 Título"/>
          <p:cNvSpPr>
            <a:spLocks noGrp="1"/>
          </p:cNvSpPr>
          <p:nvPr>
            <p:ph type="title"/>
          </p:nvPr>
        </p:nvSpPr>
        <p:spPr/>
        <p:txBody>
          <a:bodyPr/>
          <a:lstStyle/>
          <a:p>
            <a:endParaRPr lang="es-BO"/>
          </a:p>
        </p:txBody>
      </p:sp>
      <p:pic>
        <p:nvPicPr>
          <p:cNvPr id="4" name="3 Imagen" descr="http://image.slidesharecdn.com/paeenpacientesconaveisquemico-130803212048-phpapp01/95/slide-12-638.jpg?cb=1375582928"/>
          <p:cNvPicPr/>
          <p:nvPr/>
        </p:nvPicPr>
        <p:blipFill>
          <a:blip r:embed="rId2">
            <a:extLst>
              <a:ext uri="{28A0092B-C50C-407E-A947-70E740481C1C}">
                <a14:useLocalDpi xmlns="" xmlns:a14="http://schemas.microsoft.com/office/drawing/2010/main" val="0"/>
              </a:ext>
            </a:extLst>
          </a:blip>
          <a:srcRect/>
          <a:stretch>
            <a:fillRect/>
          </a:stretch>
        </p:blipFill>
        <p:spPr bwMode="auto">
          <a:xfrm>
            <a:off x="395536" y="620688"/>
            <a:ext cx="8208912" cy="5665931"/>
          </a:xfrm>
          <a:prstGeom prst="rect">
            <a:avLst/>
          </a:prstGeom>
          <a:noFill/>
          <a:ln>
            <a:noFill/>
          </a:ln>
        </p:spPr>
      </p:pic>
    </p:spTree>
    <p:extLst>
      <p:ext uri="{BB962C8B-B14F-4D97-AF65-F5344CB8AC3E}">
        <p14:creationId xmlns="" xmlns:p14="http://schemas.microsoft.com/office/powerpoint/2010/main" val="421326618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p:txBody>
          <a:bodyPr/>
          <a:lstStyle/>
          <a:p>
            <a:endParaRPr lang="es-BO"/>
          </a:p>
        </p:txBody>
      </p:sp>
      <p:sp>
        <p:nvSpPr>
          <p:cNvPr id="3" name="2 Título"/>
          <p:cNvSpPr>
            <a:spLocks noGrp="1"/>
          </p:cNvSpPr>
          <p:nvPr>
            <p:ph type="title"/>
          </p:nvPr>
        </p:nvSpPr>
        <p:spPr/>
        <p:txBody>
          <a:bodyPr/>
          <a:lstStyle/>
          <a:p>
            <a:endParaRPr lang="es-BO"/>
          </a:p>
        </p:txBody>
      </p:sp>
      <p:pic>
        <p:nvPicPr>
          <p:cNvPr id="4" name="3 Imagen" descr="http://image.slidesharecdn.com/paeenpacientesconaveisquemico-130803212048-phpapp01/95/slide-13-638.jpg?cb=1375582928"/>
          <p:cNvPicPr/>
          <p:nvPr/>
        </p:nvPicPr>
        <p:blipFill>
          <a:blip r:embed="rId2">
            <a:extLst>
              <a:ext uri="{28A0092B-C50C-407E-A947-70E740481C1C}">
                <a14:useLocalDpi xmlns="" xmlns:a14="http://schemas.microsoft.com/office/drawing/2010/main" val="0"/>
              </a:ext>
            </a:extLst>
          </a:blip>
          <a:srcRect/>
          <a:stretch>
            <a:fillRect/>
          </a:stretch>
        </p:blipFill>
        <p:spPr bwMode="auto">
          <a:xfrm>
            <a:off x="755576" y="548680"/>
            <a:ext cx="7992888" cy="5544616"/>
          </a:xfrm>
          <a:prstGeom prst="rect">
            <a:avLst/>
          </a:prstGeom>
          <a:noFill/>
          <a:ln>
            <a:noFill/>
          </a:ln>
        </p:spPr>
      </p:pic>
    </p:spTree>
    <p:extLst>
      <p:ext uri="{BB962C8B-B14F-4D97-AF65-F5344CB8AC3E}">
        <p14:creationId xmlns="" xmlns:p14="http://schemas.microsoft.com/office/powerpoint/2010/main" val="314397128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p:txBody>
          <a:bodyPr/>
          <a:lstStyle/>
          <a:p>
            <a:endParaRPr lang="es-BO"/>
          </a:p>
        </p:txBody>
      </p:sp>
      <p:sp>
        <p:nvSpPr>
          <p:cNvPr id="3" name="2 Título"/>
          <p:cNvSpPr>
            <a:spLocks noGrp="1"/>
          </p:cNvSpPr>
          <p:nvPr>
            <p:ph type="title"/>
          </p:nvPr>
        </p:nvSpPr>
        <p:spPr/>
        <p:txBody>
          <a:bodyPr/>
          <a:lstStyle/>
          <a:p>
            <a:endParaRPr lang="es-BO"/>
          </a:p>
        </p:txBody>
      </p:sp>
      <p:pic>
        <p:nvPicPr>
          <p:cNvPr id="4" name="3 Imagen" descr="http://image.slidesharecdn.com/paeenpacientesconaveisquemico-130803212048-phpapp01/95/slide-15-638.jpg?cb=1375582928"/>
          <p:cNvPicPr/>
          <p:nvPr/>
        </p:nvPicPr>
        <p:blipFill>
          <a:blip r:embed="rId2">
            <a:extLst>
              <a:ext uri="{28A0092B-C50C-407E-A947-70E740481C1C}">
                <a14:useLocalDpi xmlns="" xmlns:a14="http://schemas.microsoft.com/office/drawing/2010/main" val="0"/>
              </a:ext>
            </a:extLst>
          </a:blip>
          <a:srcRect/>
          <a:stretch>
            <a:fillRect/>
          </a:stretch>
        </p:blipFill>
        <p:spPr bwMode="auto">
          <a:xfrm>
            <a:off x="683568" y="648342"/>
            <a:ext cx="7632848" cy="5760640"/>
          </a:xfrm>
          <a:prstGeom prst="rect">
            <a:avLst/>
          </a:prstGeom>
          <a:noFill/>
          <a:ln>
            <a:noFill/>
          </a:ln>
        </p:spPr>
      </p:pic>
    </p:spTree>
    <p:extLst>
      <p:ext uri="{BB962C8B-B14F-4D97-AF65-F5344CB8AC3E}">
        <p14:creationId xmlns="" xmlns:p14="http://schemas.microsoft.com/office/powerpoint/2010/main" val="127331803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699247" y="764704"/>
            <a:ext cx="7745505" cy="5976664"/>
          </a:xfrm>
        </p:spPr>
        <p:txBody>
          <a:bodyPr/>
          <a:lstStyle/>
          <a:p>
            <a:r>
              <a:rPr lang="es-ES" b="1" dirty="0" smtClean="0"/>
              <a:t>Tabaco</a:t>
            </a:r>
          </a:p>
          <a:p>
            <a:r>
              <a:rPr lang="es-ES" b="1" dirty="0"/>
              <a:t>Diabetes y resistencia a la insulina </a:t>
            </a:r>
            <a:endParaRPr lang="es-ES" b="1" dirty="0" smtClean="0"/>
          </a:p>
          <a:p>
            <a:r>
              <a:rPr lang="es-ES" b="1" dirty="0"/>
              <a:t>Obesidad y </a:t>
            </a:r>
            <a:r>
              <a:rPr lang="es-ES" b="1" dirty="0" smtClean="0"/>
              <a:t>sedentarismo</a:t>
            </a:r>
          </a:p>
          <a:p>
            <a:r>
              <a:rPr lang="es-ES" b="1" dirty="0"/>
              <a:t>Abuso de drogas, alcohol y </a:t>
            </a:r>
            <a:r>
              <a:rPr lang="es-ES" b="1" dirty="0" smtClean="0"/>
              <a:t>café</a:t>
            </a:r>
          </a:p>
          <a:p>
            <a:r>
              <a:rPr lang="es-ES" b="1" dirty="0"/>
              <a:t>Factores genéticos y congénitos </a:t>
            </a:r>
            <a:endParaRPr lang="es-ES" b="1" dirty="0" smtClean="0"/>
          </a:p>
          <a:p>
            <a:r>
              <a:rPr lang="es-ES" b="1" dirty="0"/>
              <a:t>Factores mentales y emocionales </a:t>
            </a:r>
            <a:endParaRPr lang="es-BO" dirty="0"/>
          </a:p>
          <a:p>
            <a:r>
              <a:rPr lang="es-ES" b="1" dirty="0"/>
              <a:t>Migraña y factores de riesgo </a:t>
            </a:r>
            <a:r>
              <a:rPr lang="es-ES" b="1" dirty="0" smtClean="0"/>
              <a:t>asociados</a:t>
            </a:r>
          </a:p>
          <a:p>
            <a:pPr marL="0" indent="0">
              <a:buNone/>
            </a:pPr>
            <a:r>
              <a:rPr lang="es-ES" b="1" dirty="0" smtClean="0"/>
              <a:t> </a:t>
            </a:r>
            <a:endParaRPr lang="es-BO" dirty="0"/>
          </a:p>
        </p:txBody>
      </p:sp>
      <p:sp>
        <p:nvSpPr>
          <p:cNvPr id="3" name="2 Título"/>
          <p:cNvSpPr>
            <a:spLocks noGrp="1"/>
          </p:cNvSpPr>
          <p:nvPr>
            <p:ph type="title"/>
          </p:nvPr>
        </p:nvSpPr>
        <p:spPr>
          <a:xfrm flipV="1">
            <a:off x="683568" y="548680"/>
            <a:ext cx="7756263" cy="1008112"/>
          </a:xfrm>
        </p:spPr>
        <p:txBody>
          <a:bodyPr/>
          <a:lstStyle/>
          <a:p>
            <a:endParaRPr lang="es-BO" dirty="0"/>
          </a:p>
        </p:txBody>
      </p:sp>
    </p:spTree>
    <p:extLst>
      <p:ext uri="{BB962C8B-B14F-4D97-AF65-F5344CB8AC3E}">
        <p14:creationId xmlns="" xmlns:p14="http://schemas.microsoft.com/office/powerpoint/2010/main" val="94477650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699247" y="188640"/>
            <a:ext cx="7745505" cy="6480719"/>
          </a:xfrm>
        </p:spPr>
        <p:txBody>
          <a:bodyPr>
            <a:normAutofit fontScale="70000" lnSpcReduction="20000"/>
          </a:bodyPr>
          <a:lstStyle/>
          <a:p>
            <a:r>
              <a:rPr lang="es-ES" b="1" dirty="0"/>
              <a:t>Tratamiento del accidente cerebrovascular isquémico</a:t>
            </a:r>
            <a:endParaRPr lang="es-BO" dirty="0"/>
          </a:p>
          <a:p>
            <a:pPr marL="0" indent="0">
              <a:buNone/>
            </a:pPr>
            <a:r>
              <a:rPr lang="es-ES" b="1" dirty="0"/>
              <a:t>Medicamentos</a:t>
            </a:r>
            <a:endParaRPr lang="es-BO" dirty="0"/>
          </a:p>
          <a:p>
            <a:pPr marL="0" indent="0">
              <a:buNone/>
            </a:pPr>
            <a:r>
              <a:rPr lang="es-ES" dirty="0"/>
              <a:t>Podrían recetarle los siguientes medicamentos para tratar el accidente cerebro vascular isquémico.</a:t>
            </a:r>
            <a:endParaRPr lang="es-BO" dirty="0"/>
          </a:p>
          <a:p>
            <a:pPr marL="0" indent="0">
              <a:buNone/>
            </a:pPr>
            <a:r>
              <a:rPr lang="es-ES" dirty="0"/>
              <a:t/>
            </a:r>
            <a:br>
              <a:rPr lang="es-ES" dirty="0"/>
            </a:br>
            <a:r>
              <a:rPr lang="es-ES" dirty="0"/>
              <a:t>•    Aspirina, </a:t>
            </a:r>
            <a:r>
              <a:rPr lang="es-ES" dirty="0" err="1"/>
              <a:t>clopidogrel</a:t>
            </a:r>
            <a:r>
              <a:rPr lang="es-ES" dirty="0"/>
              <a:t> y </a:t>
            </a:r>
            <a:r>
              <a:rPr lang="es-ES" dirty="0" err="1"/>
              <a:t>dipiridamol</a:t>
            </a:r>
            <a:r>
              <a:rPr lang="es-ES" dirty="0"/>
              <a:t> son todos medicamentos usados para reducir su riesgo de formación de coágulos sanguíneos después de un accidente cerebro vascular. Es posible que le den uno de estos medicamentos en forma de tabletas o a través de un tubo de alimentación colocado en la nariz. La aspirina también se puede administrar como supositorio, un medicamento que se inserta en el recto (ano). Estos medicamentos también se pueden usar para la prevención a largo plazo de accidentes cerebro vasculares.</a:t>
            </a:r>
            <a:br>
              <a:rPr lang="es-ES" dirty="0"/>
            </a:br>
            <a:r>
              <a:rPr lang="es-ES" dirty="0"/>
              <a:t>•    </a:t>
            </a:r>
            <a:r>
              <a:rPr lang="es-ES" dirty="0" err="1"/>
              <a:t>Warfarina</a:t>
            </a:r>
            <a:r>
              <a:rPr lang="es-ES" dirty="0"/>
              <a:t> y heparina son medicamentos que también previenen la formación de coágulos de sangre. Se usan principalmente para prevenir accidentes cerebro vascular.</a:t>
            </a:r>
            <a:endParaRPr lang="es-BO" dirty="0"/>
          </a:p>
          <a:p>
            <a:pPr marL="0" indent="0">
              <a:buNone/>
            </a:pPr>
            <a:r>
              <a:rPr lang="es-ES" dirty="0"/>
              <a:t>También se le puede dar otros medicamentos para controlar su presión arterial y disminuir su colesterol.</a:t>
            </a:r>
            <a:endParaRPr lang="es-BO" dirty="0"/>
          </a:p>
          <a:p>
            <a:pPr marL="0" indent="0">
              <a:buNone/>
            </a:pPr>
            <a:r>
              <a:rPr lang="es-ES" dirty="0"/>
              <a:t> </a:t>
            </a:r>
            <a:endParaRPr lang="es-BO" dirty="0"/>
          </a:p>
          <a:p>
            <a:r>
              <a:rPr lang="es-ES" b="1" dirty="0"/>
              <a:t> Consideraciones  sobre  el tratamiento de la rehabilitación   </a:t>
            </a:r>
            <a:endParaRPr lang="es-BO" dirty="0"/>
          </a:p>
          <a:p>
            <a:pPr marL="0" indent="0">
              <a:buNone/>
            </a:pPr>
            <a:r>
              <a:rPr lang="es-ES" b="1" dirty="0"/>
              <a:t> </a:t>
            </a:r>
            <a:endParaRPr lang="es-BO" dirty="0"/>
          </a:p>
          <a:p>
            <a:pPr marL="0" indent="0">
              <a:buNone/>
            </a:pPr>
            <a:r>
              <a:rPr lang="es-ES" b="1" dirty="0"/>
              <a:t> </a:t>
            </a:r>
            <a:r>
              <a:rPr lang="es-ES" dirty="0"/>
              <a:t>La fisioterapia debería iniciarse tan pronto como el paciente esté estable, y si fuera posibles dos días después del ACV. Algunos pacientes experimentan una mejora más rápida en los primeros días, y muchos de ellos siguen mejorando en los siguientes seis meses o más. Como el ACV afecta a diferentes partes del cerebro, las diferentes opciones específicas de rehabilitación varían en gran medida en función de cada paciente: </a:t>
            </a:r>
            <a:endParaRPr lang="es-BO" dirty="0"/>
          </a:p>
          <a:p>
            <a:endParaRPr lang="es-BO" dirty="0"/>
          </a:p>
        </p:txBody>
      </p:sp>
      <p:sp>
        <p:nvSpPr>
          <p:cNvPr id="3" name="2 Título"/>
          <p:cNvSpPr>
            <a:spLocks noGrp="1"/>
          </p:cNvSpPr>
          <p:nvPr>
            <p:ph type="title"/>
          </p:nvPr>
        </p:nvSpPr>
        <p:spPr>
          <a:xfrm>
            <a:off x="755576" y="-527125"/>
            <a:ext cx="7756263" cy="527125"/>
          </a:xfrm>
        </p:spPr>
        <p:txBody>
          <a:bodyPr/>
          <a:lstStyle/>
          <a:p>
            <a:endParaRPr lang="es-BO" dirty="0"/>
          </a:p>
        </p:txBody>
      </p:sp>
    </p:spTree>
    <p:extLst>
      <p:ext uri="{BB962C8B-B14F-4D97-AF65-F5344CB8AC3E}">
        <p14:creationId xmlns="" xmlns:p14="http://schemas.microsoft.com/office/powerpoint/2010/main" val="126687858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699247" y="116632"/>
            <a:ext cx="7745505" cy="6009531"/>
          </a:xfrm>
        </p:spPr>
        <p:txBody>
          <a:bodyPr>
            <a:normAutofit fontScale="92500" lnSpcReduction="20000"/>
          </a:bodyPr>
          <a:lstStyle/>
          <a:p>
            <a:r>
              <a:rPr lang="es-ES" b="1" dirty="0"/>
              <a:t>Cirugía</a:t>
            </a:r>
            <a:endParaRPr lang="es-BO" dirty="0"/>
          </a:p>
          <a:p>
            <a:r>
              <a:rPr lang="es-ES" b="1" dirty="0" err="1"/>
              <a:t>Endarterectomíacarotídea</a:t>
            </a:r>
            <a:r>
              <a:rPr lang="es-ES" b="1" dirty="0"/>
              <a:t> como prevención del ACV isquémico </a:t>
            </a:r>
            <a:endParaRPr lang="es-BO" dirty="0"/>
          </a:p>
          <a:p>
            <a:pPr marL="0" indent="0">
              <a:buNone/>
            </a:pPr>
            <a:r>
              <a:rPr lang="es-ES" dirty="0"/>
              <a:t>La </a:t>
            </a:r>
            <a:r>
              <a:rPr lang="es-ES" dirty="0" err="1"/>
              <a:t>endarterectomía</a:t>
            </a:r>
            <a:r>
              <a:rPr lang="es-ES" dirty="0"/>
              <a:t> de la carótida es una técnica quirúrgica empleada para limpiar y abrir la arteria carótida estrechada. Se usa para evitar una trombosis (trombo en una gran arteria) causada por la obstrucción de la arteria carótida interna, que es responsable de un 9% de los ACV isquémicos. </a:t>
            </a:r>
            <a:endParaRPr lang="es-BO" dirty="0"/>
          </a:p>
          <a:p>
            <a:pPr marL="0" indent="0">
              <a:buNone/>
            </a:pPr>
            <a:r>
              <a:rPr lang="es-ES" b="1" dirty="0"/>
              <a:t>Descripción del procedimiento</a:t>
            </a:r>
            <a:r>
              <a:rPr lang="es-ES" i="1" dirty="0"/>
              <a:t>.</a:t>
            </a:r>
            <a:r>
              <a:rPr lang="es-ES" dirty="0"/>
              <a:t> El objeto de este procedimiento, es limpiar y abrir la arteria carótida reducida. Un tubo de derivación [</a:t>
            </a:r>
            <a:r>
              <a:rPr lang="es-ES" dirty="0" err="1"/>
              <a:t>by-pass</a:t>
            </a:r>
            <a:r>
              <a:rPr lang="es-ES" dirty="0"/>
              <a:t>] se coloca para transportar la sangre alrededor del área bloqueada durante el procedimiento. Después de que el cirujano haya eliminado la placa acumulada en la pared arterial, se cose la arteria y el flujo sanguíneo directamente a través de la arteria es restaurado. Al paciente se le da la anestesia general durante la operación y generalmente permanece en el hospital cerca de dos días. A menudo el paciente siente un leve dolor en el cuello durante dos semanas y debe evitar lo máximo posible girar la cabeza durante este periodo. </a:t>
            </a:r>
            <a:endParaRPr lang="es-BO" dirty="0"/>
          </a:p>
        </p:txBody>
      </p:sp>
      <p:sp>
        <p:nvSpPr>
          <p:cNvPr id="3" name="2 Título"/>
          <p:cNvSpPr>
            <a:spLocks noGrp="1"/>
          </p:cNvSpPr>
          <p:nvPr>
            <p:ph type="title"/>
          </p:nvPr>
        </p:nvSpPr>
        <p:spPr>
          <a:xfrm>
            <a:off x="1115616" y="-482580"/>
            <a:ext cx="7756263" cy="482580"/>
          </a:xfrm>
        </p:spPr>
        <p:txBody>
          <a:bodyPr/>
          <a:lstStyle/>
          <a:p>
            <a:endParaRPr lang="es-BO" dirty="0"/>
          </a:p>
        </p:txBody>
      </p:sp>
    </p:spTree>
    <p:extLst>
      <p:ext uri="{BB962C8B-B14F-4D97-AF65-F5344CB8AC3E}">
        <p14:creationId xmlns="" xmlns:p14="http://schemas.microsoft.com/office/powerpoint/2010/main" val="303100713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699247" y="692697"/>
            <a:ext cx="7745505" cy="5433466"/>
          </a:xfrm>
        </p:spPr>
        <p:txBody>
          <a:bodyPr/>
          <a:lstStyle/>
          <a:p>
            <a:r>
              <a:rPr lang="es-ES" b="1" dirty="0"/>
              <a:t>Actuación de Enfermería</a:t>
            </a:r>
            <a:endParaRPr lang="es-BO" dirty="0"/>
          </a:p>
          <a:p>
            <a:pPr marL="0" indent="0">
              <a:buNone/>
            </a:pPr>
            <a:r>
              <a:rPr lang="es-ES" dirty="0"/>
              <a:t>El manejo de enfermería en los pacientes con accidente cerebro vascular (ACV) incorpora una variedad de diagnósticos de enfermería, cuyas prioridades están dirigidas hacia la valoración frecuente hemodinámica y neurológica, el monitoreo de las complicaciones y la educación al paciente y la familia.</a:t>
            </a:r>
            <a:endParaRPr lang="es-BO" dirty="0"/>
          </a:p>
          <a:p>
            <a:r>
              <a:rPr lang="es-ES" b="1" dirty="0"/>
              <a:t>Valoración </a:t>
            </a:r>
            <a:r>
              <a:rPr lang="es-ES" b="1" dirty="0" smtClean="0"/>
              <a:t>neurológica</a:t>
            </a:r>
            <a:endParaRPr lang="es-BO" b="1" dirty="0" smtClean="0"/>
          </a:p>
          <a:p>
            <a:r>
              <a:rPr lang="es-ES" dirty="0" smtClean="0"/>
              <a:t>Requiere de la permanente observación, del monitoreo continuo de los signos vitales y neurológicos para el reconocimiento temprano del deterioro hemodinámica y neurológico.</a:t>
            </a:r>
            <a:endParaRPr lang="es-BO" dirty="0" smtClean="0"/>
          </a:p>
          <a:p>
            <a:endParaRPr lang="es-BO" dirty="0"/>
          </a:p>
        </p:txBody>
      </p:sp>
      <p:sp>
        <p:nvSpPr>
          <p:cNvPr id="3" name="2 Título"/>
          <p:cNvSpPr>
            <a:spLocks noGrp="1"/>
          </p:cNvSpPr>
          <p:nvPr>
            <p:ph type="title"/>
          </p:nvPr>
        </p:nvSpPr>
        <p:spPr>
          <a:xfrm>
            <a:off x="688490" y="-819472"/>
            <a:ext cx="7756263" cy="432048"/>
          </a:xfrm>
        </p:spPr>
        <p:txBody>
          <a:bodyPr/>
          <a:lstStyle/>
          <a:p>
            <a:endParaRPr lang="es-BO" dirty="0"/>
          </a:p>
        </p:txBody>
      </p:sp>
    </p:spTree>
    <p:extLst>
      <p:ext uri="{BB962C8B-B14F-4D97-AF65-F5344CB8AC3E}">
        <p14:creationId xmlns="" xmlns:p14="http://schemas.microsoft.com/office/powerpoint/2010/main" val="37481766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699247" y="571480"/>
            <a:ext cx="7745505" cy="5554683"/>
          </a:xfrm>
        </p:spPr>
        <p:txBody>
          <a:bodyPr/>
          <a:lstStyle/>
          <a:p>
            <a:endParaRPr lang="es-BO" dirty="0" smtClean="0"/>
          </a:p>
          <a:p>
            <a:r>
              <a:rPr lang="es-ES" b="1" dirty="0" smtClean="0"/>
              <a:t>1</a:t>
            </a:r>
            <a:r>
              <a:rPr lang="es-ES" dirty="0" smtClean="0"/>
              <a:t>. Valoración de la vía aérea, respiración y circulación (ABC). </a:t>
            </a:r>
          </a:p>
          <a:p>
            <a:r>
              <a:rPr lang="es-ES" b="1" dirty="0" smtClean="0"/>
              <a:t>2</a:t>
            </a:r>
            <a:r>
              <a:rPr lang="es-ES" dirty="0" smtClean="0"/>
              <a:t>. Reconocer el estado de conciencia, recordando los diferentes estadios de la misma: alerta, letargo, obnubilación, estupor, coma.</a:t>
            </a:r>
            <a:endParaRPr lang="es-BO" dirty="0" smtClean="0"/>
          </a:p>
          <a:p>
            <a:r>
              <a:rPr lang="es-ES" b="1" dirty="0" smtClean="0"/>
              <a:t>3.</a:t>
            </a:r>
            <a:r>
              <a:rPr lang="es-ES" dirty="0" smtClean="0"/>
              <a:t> Valorar la movilidad de los cuatro miembros</a:t>
            </a:r>
            <a:endParaRPr lang="es-BO" dirty="0" smtClean="0"/>
          </a:p>
          <a:p>
            <a:r>
              <a:rPr lang="es-ES" b="1" dirty="0" smtClean="0"/>
              <a:t>4.</a:t>
            </a:r>
            <a:r>
              <a:rPr lang="es-ES" dirty="0" smtClean="0"/>
              <a:t> Control estricto de signos vitales: Frecuencia Cardiaca </a:t>
            </a:r>
          </a:p>
          <a:p>
            <a:r>
              <a:rPr lang="es-ES" b="1" dirty="0" smtClean="0"/>
              <a:t>5</a:t>
            </a:r>
            <a:r>
              <a:rPr lang="es-ES" dirty="0" smtClean="0"/>
              <a:t>. Colocación de vía </a:t>
            </a:r>
            <a:r>
              <a:rPr lang="es-ES" dirty="0" err="1" smtClean="0"/>
              <a:t>endovenosa</a:t>
            </a:r>
            <a:r>
              <a:rPr lang="es-ES" dirty="0" smtClean="0"/>
              <a:t> periférica (seleccionar el miembro superior no afectado) </a:t>
            </a:r>
          </a:p>
          <a:p>
            <a:r>
              <a:rPr lang="es-ES" b="1" dirty="0" smtClean="0"/>
              <a:t>6</a:t>
            </a:r>
            <a:r>
              <a:rPr lang="es-ES" dirty="0" smtClean="0"/>
              <a:t>. Coordinarla actividad con los servicios de apoyo: Rayos y Laboratorio.</a:t>
            </a:r>
            <a:endParaRPr lang="es-BO" dirty="0" smtClean="0"/>
          </a:p>
          <a:p>
            <a:endParaRPr lang="es-BO" dirty="0"/>
          </a:p>
        </p:txBody>
      </p:sp>
    </p:spTree>
    <p:extLst>
      <p:ext uri="{BB962C8B-B14F-4D97-AF65-F5344CB8AC3E}">
        <p14:creationId xmlns="" xmlns:p14="http://schemas.microsoft.com/office/powerpoint/2010/main" val="195303227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699247" y="785795"/>
            <a:ext cx="7745505" cy="5340368"/>
          </a:xfrm>
        </p:spPr>
        <p:txBody>
          <a:bodyPr/>
          <a:lstStyle/>
          <a:p>
            <a:r>
              <a:rPr lang="es-ES" b="1" dirty="0" smtClean="0"/>
              <a:t>7.</a:t>
            </a:r>
            <a:r>
              <a:rPr lang="es-ES" dirty="0" smtClean="0"/>
              <a:t> Observar en forma continua al paciente en busca de , episodios de desorientación, cambios en la coloración de la piel, signos vitales,  registrar e informar.</a:t>
            </a:r>
          </a:p>
          <a:p>
            <a:r>
              <a:rPr lang="es-ES" b="1" dirty="0" smtClean="0"/>
              <a:t>8</a:t>
            </a:r>
            <a:r>
              <a:rPr lang="es-ES" dirty="0" smtClean="0"/>
              <a:t>. Conocer y Aplicar la escala de Glasgow.</a:t>
            </a:r>
          </a:p>
          <a:p>
            <a:r>
              <a:rPr lang="es-ES" b="1" dirty="0" smtClean="0"/>
              <a:t>9.</a:t>
            </a:r>
            <a:r>
              <a:rPr lang="es-ES" dirty="0" smtClean="0"/>
              <a:t> No quitar la ropa si no es necesario. Tener precauciones con las pertenencias de valor y las prótesis.</a:t>
            </a:r>
            <a:endParaRPr lang="es-BO" dirty="0" smtClean="0"/>
          </a:p>
          <a:p>
            <a:r>
              <a:rPr lang="es-ES" b="1" dirty="0" smtClean="0"/>
              <a:t>10.</a:t>
            </a:r>
            <a:r>
              <a:rPr lang="es-ES" dirty="0" smtClean="0"/>
              <a:t> Asegurar el correcto y seguro traslado el paciente a lo servicios de apoyo. Actividades a desarrollar en las primeras 24 a 48 horas de evolución .</a:t>
            </a:r>
          </a:p>
          <a:p>
            <a:pPr>
              <a:buNone/>
            </a:pPr>
            <a:endParaRPr lang="es-BO" dirty="0"/>
          </a:p>
        </p:txBody>
      </p:sp>
    </p:spTree>
    <p:extLst>
      <p:ext uri="{BB962C8B-B14F-4D97-AF65-F5344CB8AC3E}">
        <p14:creationId xmlns="" xmlns:p14="http://schemas.microsoft.com/office/powerpoint/2010/main" val="86904575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699247" y="1357298"/>
            <a:ext cx="7745505" cy="5000659"/>
          </a:xfrm>
        </p:spPr>
        <p:txBody>
          <a:bodyPr>
            <a:normAutofit/>
          </a:bodyPr>
          <a:lstStyle/>
          <a:p>
            <a:r>
              <a:rPr lang="es-ES" b="1" dirty="0" smtClean="0"/>
              <a:t>1</a:t>
            </a:r>
            <a:r>
              <a:rPr lang="es-ES" dirty="0" smtClean="0"/>
              <a:t>. Controlar Signos vitales cada 30 minutos, cada hora, según la necesidad del paciente</a:t>
            </a:r>
          </a:p>
          <a:p>
            <a:r>
              <a:rPr lang="es-ES" b="1" dirty="0" smtClean="0"/>
              <a:t>2.</a:t>
            </a:r>
            <a:r>
              <a:rPr lang="es-ES" dirty="0" smtClean="0"/>
              <a:t> Controlar el estado de conciencia y aplicar la escala de Glasgow.</a:t>
            </a:r>
          </a:p>
          <a:p>
            <a:r>
              <a:rPr lang="es-ES" b="1" dirty="0" smtClean="0"/>
              <a:t>3.</a:t>
            </a:r>
            <a:r>
              <a:rPr lang="es-ES" dirty="0" smtClean="0"/>
              <a:t> Conocer, registrar e informar el BALANCE HIDROELECTROLÍTICO</a:t>
            </a:r>
          </a:p>
          <a:p>
            <a:r>
              <a:rPr lang="es-ES" b="1" dirty="0" smtClean="0"/>
              <a:t>4.</a:t>
            </a:r>
            <a:r>
              <a:rPr lang="es-ES" dirty="0" smtClean="0"/>
              <a:t> Es responsabilidad de la enfermera controlar la diuresis, según la evolución</a:t>
            </a:r>
          </a:p>
          <a:p>
            <a:r>
              <a:rPr lang="es-ES" b="1" dirty="0" smtClean="0"/>
              <a:t>5.</a:t>
            </a:r>
            <a:r>
              <a:rPr lang="es-ES" dirty="0" smtClean="0"/>
              <a:t> Aplicar medidas de confort relacionadas con su inmovilidad. Es muy importante establecer y reconocer la movilidad espontánea para delinear un plan de atención.</a:t>
            </a:r>
            <a:endParaRPr lang="es-BO" dirty="0" smtClean="0"/>
          </a:p>
          <a:p>
            <a:endParaRPr lang="es-BO" dirty="0"/>
          </a:p>
        </p:txBody>
      </p:sp>
      <p:sp>
        <p:nvSpPr>
          <p:cNvPr id="3" name="2 Título"/>
          <p:cNvSpPr>
            <a:spLocks noGrp="1"/>
          </p:cNvSpPr>
          <p:nvPr>
            <p:ph type="title"/>
          </p:nvPr>
        </p:nvSpPr>
        <p:spPr>
          <a:xfrm>
            <a:off x="688490" y="428604"/>
            <a:ext cx="7756263" cy="785818"/>
          </a:xfrm>
        </p:spPr>
        <p:txBody>
          <a:bodyPr/>
          <a:lstStyle/>
          <a:p>
            <a:pPr algn="l"/>
            <a:r>
              <a:rPr lang="es-ES" sz="4000" dirty="0" smtClean="0"/>
              <a:t>Cuidados de </a:t>
            </a:r>
            <a:r>
              <a:rPr lang="es-ES" sz="4000" dirty="0" err="1" smtClean="0"/>
              <a:t>Enfermeria</a:t>
            </a:r>
            <a:endParaRPr lang="es-BO" sz="4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699247" y="642919"/>
            <a:ext cx="7745505" cy="5483244"/>
          </a:xfrm>
        </p:spPr>
        <p:txBody>
          <a:bodyPr>
            <a:normAutofit fontScale="92500" lnSpcReduction="10000"/>
          </a:bodyPr>
          <a:lstStyle/>
          <a:p>
            <a:r>
              <a:rPr lang="es-ES" b="1" dirty="0" smtClean="0"/>
              <a:t>6.</a:t>
            </a:r>
            <a:r>
              <a:rPr lang="es-ES" dirty="0" smtClean="0"/>
              <a:t> Propiciar un ambiente tranquilo: es de suma importancia este aspecto, de manera que no se estimule inapropiadamente al paciente.</a:t>
            </a:r>
          </a:p>
          <a:p>
            <a:r>
              <a:rPr lang="es-ES" b="1" dirty="0" smtClean="0"/>
              <a:t>7.</a:t>
            </a:r>
            <a:r>
              <a:rPr lang="es-ES" dirty="0" smtClean="0"/>
              <a:t> Acompañar la situación de crisis del paciente y la familia y reconocer cuándo brindar la ayuda convenientemente. o Incorporar a la familia precozmente en el cuidado del paciente.</a:t>
            </a:r>
          </a:p>
          <a:p>
            <a:pPr>
              <a:buNone/>
            </a:pPr>
            <a:r>
              <a:rPr lang="es-ES" b="1" dirty="0" smtClean="0"/>
              <a:t> IMPORTANTE:</a:t>
            </a:r>
          </a:p>
          <a:p>
            <a:pPr>
              <a:buNone/>
            </a:pPr>
            <a:r>
              <a:rPr lang="es-ES" dirty="0" smtClean="0"/>
              <a:t> Es muy importante Fijar Metas Alcanzables, y sumar tareas o nuevas actividades diariamente. Ej.: paciente con hemiplejia derecha, intentar el aseo corporal con el miembro superior izquierdo.</a:t>
            </a:r>
          </a:p>
          <a:p>
            <a:pPr>
              <a:buNone/>
            </a:pPr>
            <a:endParaRPr lang="es-BO" dirty="0" smtClean="0"/>
          </a:p>
          <a:p>
            <a:pPr>
              <a:buNone/>
            </a:pPr>
            <a:r>
              <a:rPr lang="es-ES" dirty="0" smtClean="0"/>
              <a:t> La comunicación, el entorno, el ambiente y la actitud de los profesionales del equipo que lo asisten debe de ser positiva.</a:t>
            </a:r>
            <a:endParaRPr lang="es-BO" dirty="0" smtClean="0"/>
          </a:p>
          <a:p>
            <a:endParaRPr lang="es-ES" dirty="0" smtClean="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699247" y="642918"/>
            <a:ext cx="7745505" cy="6000792"/>
          </a:xfrm>
        </p:spPr>
        <p:txBody>
          <a:bodyPr>
            <a:normAutofit lnSpcReduction="10000"/>
          </a:bodyPr>
          <a:lstStyle/>
          <a:p>
            <a:r>
              <a:rPr lang="es-ES" dirty="0" smtClean="0"/>
              <a:t>Elegir y acordar los códigos más apropiados para comunicarse. Mantener apoyo significativo en los momentos de incomunicación</a:t>
            </a:r>
          </a:p>
          <a:p>
            <a:r>
              <a:rPr lang="es-ES" dirty="0" smtClean="0"/>
              <a:t>Siempre tratarlo como un adulto, no mantener y reforzar conductas regresivas.</a:t>
            </a:r>
          </a:p>
          <a:p>
            <a:r>
              <a:rPr lang="es-ES" dirty="0" smtClean="0"/>
              <a:t>Responder a todos sus llamados apropiadamente, aun cuando estos sean repetitivos y nos parecieran sin sentido</a:t>
            </a:r>
          </a:p>
          <a:p>
            <a:r>
              <a:rPr lang="es-ES" dirty="0" smtClean="0"/>
              <a:t>Hablar con lentitud, claramente, las órdenes deben ser claras, NO imperativas.</a:t>
            </a:r>
          </a:p>
          <a:p>
            <a:r>
              <a:rPr lang="es-ES" dirty="0" smtClean="0"/>
              <a:t>Esperar con tranquilidad la respuesta a las órdenes o pedidos de colaboración.</a:t>
            </a:r>
          </a:p>
          <a:p>
            <a:r>
              <a:rPr lang="es-ES" dirty="0" smtClean="0"/>
              <a:t>Motivar en forma permanente a la independencia.</a:t>
            </a:r>
          </a:p>
          <a:p>
            <a:r>
              <a:rPr lang="es-ES" dirty="0" smtClean="0"/>
              <a:t>Demostrar paciencia y seguridad en todos los procedimientos.</a:t>
            </a:r>
            <a:endParaRPr lang="es-BO" dirty="0" smtClean="0"/>
          </a:p>
          <a:p>
            <a:endParaRPr lang="es-BO"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artoné">
  <a:themeElements>
    <a:clrScheme name="Cartoné">
      <a:dk1>
        <a:sysClr val="windowText" lastClr="000000"/>
      </a:dk1>
      <a:lt1>
        <a:sysClr val="window" lastClr="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Cartoné">
      <a:majorFont>
        <a:latin typeface="Book Antiqua"/>
        <a:ea typeface=""/>
        <a:cs typeface=""/>
        <a:font script="Grek" typeface="Times New Roman"/>
        <a:font script="Cyrl" typeface="Times New Roman"/>
        <a:font script="Jpan" typeface="HGS明朝E"/>
        <a:font script="Hang" typeface="궁서"/>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ook Antiqua"/>
        <a:ea typeface=""/>
        <a:cs typeface=""/>
        <a:font script="Grek" typeface="Times New Roman"/>
        <a:font script="Cyrl" typeface="Times New Roman"/>
        <a:font script="Jpan" typeface="HGS明朝E"/>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artoné">
      <a:fillStyleLst>
        <a:solidFill>
          <a:schemeClr val="phClr"/>
        </a:solidFill>
        <a:solidFill>
          <a:schemeClr val="phClr">
            <a:tint val="68000"/>
            <a:shade val="94000"/>
            <a:satMod val="300000"/>
            <a:lumMod val="110000"/>
          </a:schemeClr>
        </a:solidFill>
        <a:gradFill rotWithShape="1">
          <a:gsLst>
            <a:gs pos="0">
              <a:schemeClr val="phClr">
                <a:tint val="94000"/>
                <a:satMod val="180000"/>
                <a:lumMod val="98000"/>
              </a:schemeClr>
            </a:gs>
            <a:gs pos="100000">
              <a:schemeClr val="phClr">
                <a:satMod val="130000"/>
              </a:schemeClr>
            </a:gs>
          </a:gsLst>
          <a:lin ang="5160000" scaled="0"/>
        </a:gradFill>
      </a:fillStyleLst>
      <a:lnStyleLst>
        <a:ln w="12700" cap="flat" cmpd="sng" algn="ctr">
          <a:solidFill>
            <a:schemeClr val="phClr">
              <a:shade val="90000"/>
              <a:lumMod val="90000"/>
            </a:schemeClr>
          </a:solidFill>
          <a:prstDash val="solid"/>
        </a:ln>
        <a:ln w="19050" cap="flat" cmpd="sng" algn="ctr">
          <a:solidFill>
            <a:schemeClr val="phClr">
              <a:shade val="75000"/>
              <a:lumMod val="90000"/>
            </a:schemeClr>
          </a:solidFill>
          <a:prstDash val="solid"/>
        </a:ln>
        <a:ln w="25400" cap="flat" cmpd="sng" algn="ctr">
          <a:solidFill>
            <a:schemeClr val="phClr"/>
          </a:solidFill>
          <a:prstDash val="solid"/>
        </a:ln>
      </a:lnStyleLst>
      <a:effectStyleLst>
        <a:effectStyle>
          <a:effectLst>
            <a:outerShdw blurRad="38100" dist="12700" dir="5400000" rotWithShape="0">
              <a:srgbClr val="000000">
                <a:alpha val="15000"/>
              </a:srgbClr>
            </a:outerShdw>
          </a:effectLst>
        </a:effectStyle>
        <a:effectStyle>
          <a:effectLst>
            <a:outerShdw blurRad="50800" dist="25400" dir="5400000" rotWithShape="0">
              <a:srgbClr val="000000">
                <a:alpha val="46000"/>
              </a:srgbClr>
            </a:outerShdw>
          </a:effectLst>
        </a:effectStyle>
        <a:effectStyle>
          <a:effectLst>
            <a:outerShdw blurRad="50800" dist="25400" dir="5400000" rotWithShape="0">
              <a:srgbClr val="000000">
                <a:alpha val="48000"/>
              </a:srgbClr>
            </a:outerShdw>
          </a:effectLst>
          <a:scene3d>
            <a:camera prst="orthographicFront">
              <a:rot lat="0" lon="0" rev="0"/>
            </a:camera>
            <a:lightRig rig="threePt" dir="tl">
              <a:rot lat="0" lon="0" rev="2400000"/>
            </a:lightRig>
          </a:scene3d>
          <a:sp3d>
            <a:bevelT w="25400" h="25400"/>
          </a:sp3d>
        </a:effectStyle>
      </a:effectStyleLst>
      <a:bgFillStyleLst>
        <a:solidFill>
          <a:schemeClr val="phClr">
            <a:tint val="96000"/>
            <a:lumMod val="110000"/>
          </a:schemeClr>
        </a:solidFill>
        <a:blipFill rotWithShape="1">
          <a:blip xmlns:r="http://schemas.openxmlformats.org/officeDocument/2006/relationships" r:embed="rId1">
            <a:duotone>
              <a:schemeClr val="phClr">
                <a:tint val="93000"/>
                <a:shade val="20000"/>
              </a:schemeClr>
              <a:schemeClr val="phClr">
                <a:tint val="90000"/>
                <a:shade val="85000"/>
                <a:satMod val="115000"/>
              </a:schemeClr>
            </a:duotone>
          </a:blip>
          <a:tile tx="0" ty="0" sx="60000" sy="60000" flip="none" algn="tl"/>
        </a:blipFill>
        <a:blipFill rotWithShape="1">
          <a:blip xmlns:r="http://schemas.openxmlformats.org/officeDocument/2006/relationships" r:embed="rId2">
            <a:duotone>
              <a:schemeClr val="phClr">
                <a:shade val="50000"/>
                <a:satMod val="340000"/>
                <a:lumMod val="40000"/>
              </a:schemeClr>
              <a:schemeClr val="phClr">
                <a:tint val="92000"/>
                <a:shade val="94000"/>
                <a:hueMod val="110000"/>
                <a:satMod val="236000"/>
                <a:lumMod val="120000"/>
              </a:schemeClr>
            </a:duotone>
          </a:blip>
          <a:stretch/>
        </a:blip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Hardcover</Template>
  <TotalTime>146</TotalTime>
  <Words>1762</Words>
  <Application>Microsoft Office PowerPoint</Application>
  <PresentationFormat>Presentación en pantalla (4:3)</PresentationFormat>
  <Paragraphs>140</Paragraphs>
  <Slides>23</Slides>
  <Notes>2</Notes>
  <HiddenSlides>0</HiddenSlides>
  <MMClips>0</MMClips>
  <ScaleCrop>false</ScaleCrop>
  <HeadingPairs>
    <vt:vector size="4" baseType="variant">
      <vt:variant>
        <vt:lpstr>Tema</vt:lpstr>
      </vt:variant>
      <vt:variant>
        <vt:i4>1</vt:i4>
      </vt:variant>
      <vt:variant>
        <vt:lpstr>Títulos de diapositiva</vt:lpstr>
      </vt:variant>
      <vt:variant>
        <vt:i4>23</vt:i4>
      </vt:variant>
    </vt:vector>
  </HeadingPairs>
  <TitlesOfParts>
    <vt:vector size="24" baseType="lpstr">
      <vt:lpstr>Cartoné</vt:lpstr>
      <vt:lpstr>ACCIDENTE CEREBROVASCULAR </vt:lpstr>
      <vt:lpstr> ACCIDENTE CEREBROVASCULAR HEMORRÁGICO</vt:lpstr>
      <vt:lpstr>Síntomas del Accidente Cerebro Vascular Hemorrágico</vt:lpstr>
      <vt:lpstr>Complicaciones del Accidente Cerebro Vascular Hemorrágico  </vt:lpstr>
      <vt:lpstr>Diapositiva 5</vt:lpstr>
      <vt:lpstr>Diapositiva 6</vt:lpstr>
      <vt:lpstr>Diapositiva 7</vt:lpstr>
      <vt:lpstr>Diapositiva 8</vt:lpstr>
      <vt:lpstr>Diapositiva 9</vt:lpstr>
      <vt:lpstr>Diapositiva 10</vt:lpstr>
      <vt:lpstr>Diapositiva 11</vt:lpstr>
      <vt:lpstr>Diapositiva 12</vt:lpstr>
      <vt:lpstr>Diapositiva 13</vt:lpstr>
      <vt:lpstr>Diapositiva 14</vt:lpstr>
      <vt:lpstr>Diapositiva 15</vt:lpstr>
      <vt:lpstr>Diapositiva 16</vt:lpstr>
      <vt:lpstr>Diapositiva 17</vt:lpstr>
      <vt:lpstr>Diapositiva 18</vt:lpstr>
      <vt:lpstr>Diapositiva 19</vt:lpstr>
      <vt:lpstr>Diapositiva 20</vt:lpstr>
      <vt:lpstr>Cuidados de Enfermeria</vt:lpstr>
      <vt:lpstr>Diapositiva 22</vt:lpstr>
      <vt:lpstr>Diapositiva 23</vt:lpstr>
    </vt:vector>
  </TitlesOfParts>
  <Company>GP</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UTI</dc:creator>
  <cp:lastModifiedBy>Jaime</cp:lastModifiedBy>
  <cp:revision>12</cp:revision>
  <dcterms:created xsi:type="dcterms:W3CDTF">2014-04-04T23:08:53Z</dcterms:created>
  <dcterms:modified xsi:type="dcterms:W3CDTF">2014-04-05T12:06:39Z</dcterms:modified>
</cp:coreProperties>
</file>