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drawings/drawing2.xml" ContentType="application/vnd.openxmlformats-officedocument.drawingml.chartshapes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charts/chart17.xml" ContentType="application/vnd.openxmlformats-officedocument.drawingml.char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charts/chart13.xml" ContentType="application/vnd.openxmlformats-officedocument.drawingml.chart+xml"/>
  <Override PartName="/ppt/drawings/drawing17.xml" ContentType="application/vnd.openxmlformats-officedocument.drawingml.chartshapes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charts/chart7.xml" ContentType="application/vnd.openxmlformats-officedocument.drawingml.chart+xml"/>
  <Override PartName="/ppt/drawings/drawing13.xml" ContentType="application/vnd.openxmlformats-officedocument.drawingml.chartshapes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charts/chart3.xml" ContentType="application/vnd.openxmlformats-officedocument.drawingml.chart+xml"/>
  <Override PartName="/ppt/drawings/drawing7.xml" ContentType="application/vnd.openxmlformats-officedocument.drawingml.chartshape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drawings/drawing5.xml" ContentType="application/vnd.openxmlformats-officedocument.drawingml.chartshap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drawings/drawing3.xml" ContentType="application/vnd.openxmlformats-officedocument.drawingml.chartshape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drawings/drawing1.xml" ContentType="application/vnd.openxmlformats-officedocument.drawingml.chartshapes+xml"/>
  <Override PartName="/ppt/charts/chart18.xml" ContentType="application/vnd.openxmlformats-officedocument.drawingml.char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emf" ContentType="image/x-emf"/>
  <Override PartName="/ppt/charts/chart16.xml" ContentType="application/vnd.openxmlformats-officedocument.drawingml.char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charts/chart14.xml" ContentType="application/vnd.openxmlformats-officedocument.drawingml.chart+xml"/>
  <Override PartName="/ppt/drawings/drawing18.xml" ContentType="application/vnd.openxmlformats-officedocument.drawingml.chartshap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charts/chart8.xml" ContentType="application/vnd.openxmlformats-officedocument.drawingml.chart+xml"/>
  <Override PartName="/ppt/charts/chart12.xml" ContentType="application/vnd.openxmlformats-officedocument.drawingml.chart+xml"/>
  <Override PartName="/ppt/drawings/drawing16.xml" ContentType="application/vnd.openxmlformats-officedocument.drawingml.chartshapes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charts/chart6.xml" ContentType="application/vnd.openxmlformats-officedocument.drawingml.chart+xml"/>
  <Override PartName="/ppt/charts/chart10.xml" ContentType="application/vnd.openxmlformats-officedocument.drawingml.chart+xml"/>
  <Override PartName="/ppt/drawings/drawing14.xml" ContentType="application/vnd.openxmlformats-officedocument.drawingml.chartshapes+xml"/>
  <Override PartName="/ppt/diagrams/data3.xml" ContentType="application/vnd.openxmlformats-officedocument.drawingml.diagramData+xml"/>
  <Override PartName="/ppt/charts/chart4.xml" ContentType="application/vnd.openxmlformats-officedocument.drawingml.chart+xml"/>
  <Override PartName="/ppt/drawings/drawing8.xml" ContentType="application/vnd.openxmlformats-officedocument.drawingml.chartshapes+xml"/>
  <Override PartName="/ppt/drawings/drawing12.xml" ContentType="application/vnd.openxmlformats-officedocument.drawingml.chartshapes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charts/chart2.xml" ContentType="application/vnd.openxmlformats-officedocument.drawingml.chart+xml"/>
  <Override PartName="/ppt/drawings/drawing6.xml" ContentType="application/vnd.openxmlformats-officedocument.drawingml.chartshapes+xml"/>
  <Override PartName="/ppt/drawings/drawing10.xml" ContentType="application/vnd.openxmlformats-officedocument.drawingml.chartshape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rawings/drawing4.xml" ContentType="application/vnd.openxmlformats-officedocument.drawingml.chartshape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charts/chart19.xml" ContentType="application/vnd.openxmlformats-officedocument.drawingml.char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drawings/drawing19.xml" ContentType="application/vnd.openxmlformats-officedocument.drawingml.chartshapes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charts/chart15.xml" ContentType="application/vnd.openxmlformats-officedocument.drawingml.chart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charts/chart9.xml" ContentType="application/vnd.openxmlformats-officedocument.drawingml.chart+xml"/>
  <Override PartName="/ppt/charts/chart11.xml" ContentType="application/vnd.openxmlformats-officedocument.drawingml.chart+xml"/>
  <Override PartName="/ppt/drawings/drawing15.xml" ContentType="application/vnd.openxmlformats-officedocument.drawingml.chartshapes+xml"/>
  <Override PartName="/ppt/diagrams/layout3.xml" ContentType="application/vnd.openxmlformats-officedocument.drawingml.diagramLayout+xml"/>
  <Override PartName="/ppt/drawings/drawing9.xml" ContentType="application/vnd.openxmlformats-officedocument.drawingml.chartshapes+xml"/>
  <Override PartName="/ppt/charts/chart5.xml" ContentType="application/vnd.openxmlformats-officedocument.drawingml.chart+xml"/>
  <Override PartName="/ppt/drawings/drawing11.xml" ContentType="application/vnd.openxmlformats-officedocument.drawingml.chartshap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62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  <p:sldId id="281" r:id="rId26"/>
    <p:sldId id="282" r:id="rId27"/>
    <p:sldId id="283" r:id="rId28"/>
    <p:sldId id="285" r:id="rId29"/>
    <p:sldId id="286" r:id="rId30"/>
    <p:sldId id="298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9" r:id="rId43"/>
    <p:sldId id="300" r:id="rId44"/>
    <p:sldId id="301" r:id="rId45"/>
    <p:sldId id="302" r:id="rId46"/>
    <p:sldId id="304" r:id="rId47"/>
    <p:sldId id="306" r:id="rId48"/>
    <p:sldId id="307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20" r:id="rId6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.xml"/><Relationship Id="rId2" Type="http://schemas.openxmlformats.org/officeDocument/2006/relationships/oleObject" Target="file:///C:\Users\Guest\Documents\TABULACI&#211;N-v200%20sin%20cambios.xls" TargetMode="External"/><Relationship Id="rId1" Type="http://schemas.openxmlformats.org/officeDocument/2006/relationships/image" Target="../media/image5.jpeg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2.xml"/><Relationship Id="rId2" Type="http://schemas.openxmlformats.org/officeDocument/2006/relationships/oleObject" Target="file:///C:\Users\Guest\Documents\TABULACI&#211;N-v200%20sin%20cambios.xls" TargetMode="External"/><Relationship Id="rId1" Type="http://schemas.openxmlformats.org/officeDocument/2006/relationships/image" Target="../media/image5.jpeg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3.xml"/><Relationship Id="rId2" Type="http://schemas.openxmlformats.org/officeDocument/2006/relationships/oleObject" Target="file:///C:\Users\Guest\Documents\TABULACI&#211;N-v200%20sin%20cambios.xls" TargetMode="External"/><Relationship Id="rId1" Type="http://schemas.openxmlformats.org/officeDocument/2006/relationships/image" Target="../media/image5.jpeg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4.xml"/><Relationship Id="rId2" Type="http://schemas.openxmlformats.org/officeDocument/2006/relationships/oleObject" Target="file:///C:\Users\Guest\Documents\TABULACI&#211;N-v200%20sin%20cambios.xls" TargetMode="External"/><Relationship Id="rId1" Type="http://schemas.openxmlformats.org/officeDocument/2006/relationships/image" Target="../media/image5.jpeg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5.xml"/><Relationship Id="rId2" Type="http://schemas.openxmlformats.org/officeDocument/2006/relationships/oleObject" Target="file:///C:\Users\Guest\Documents\TABULACI&#211;N-v200%20sin%20cambios.xls" TargetMode="External"/><Relationship Id="rId1" Type="http://schemas.openxmlformats.org/officeDocument/2006/relationships/image" Target="../media/image5.jpeg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6.xml"/><Relationship Id="rId2" Type="http://schemas.openxmlformats.org/officeDocument/2006/relationships/oleObject" Target="file:///G:\TABULACI&#211;N-v200%20sin%20cambios.xls" TargetMode="External"/><Relationship Id="rId1" Type="http://schemas.openxmlformats.org/officeDocument/2006/relationships/image" Target="../media/image5.jpeg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7.xml"/><Relationship Id="rId2" Type="http://schemas.openxmlformats.org/officeDocument/2006/relationships/oleObject" Target="file:///C:\Users\Guest\Documents\TABULACI&#211;N-v200%20sin%20cambios.xls" TargetMode="External"/><Relationship Id="rId1" Type="http://schemas.openxmlformats.org/officeDocument/2006/relationships/image" Target="../media/image5.jpeg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8.xml"/><Relationship Id="rId2" Type="http://schemas.openxmlformats.org/officeDocument/2006/relationships/oleObject" Target="file:///C:\Users\Guest\Documents\TABULACI&#211;N-v200%20sin%20cambios.xls" TargetMode="External"/><Relationship Id="rId1" Type="http://schemas.openxmlformats.org/officeDocument/2006/relationships/image" Target="../media/image5.jpeg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9.xml"/><Relationship Id="rId2" Type="http://schemas.openxmlformats.org/officeDocument/2006/relationships/oleObject" Target="file:///C:\Users\Guest\Documents\TABULACI&#211;N-v200%20sin%20cambios.xls" TargetMode="External"/><Relationship Id="rId1" Type="http://schemas.openxmlformats.org/officeDocument/2006/relationships/image" Target="../media/image5.jpeg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0.xml"/><Relationship Id="rId2" Type="http://schemas.openxmlformats.org/officeDocument/2006/relationships/oleObject" Target="file:///G:\TABULACI&#211;N%20TESIS\TABULACI&#211;N-v2003+c.xls" TargetMode="External"/><Relationship Id="rId1" Type="http://schemas.openxmlformats.org/officeDocument/2006/relationships/image" Target="../media/image5.jpeg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1.xml"/><Relationship Id="rId2" Type="http://schemas.openxmlformats.org/officeDocument/2006/relationships/oleObject" Target="file:///G:\TABULACI&#211;N%20TESIS\TABULACI&#211;N-v2003+c.xls" TargetMode="External"/><Relationship Id="rId1" Type="http://schemas.openxmlformats.org/officeDocument/2006/relationships/image" Target="../media/image5.jpeg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2.xml"/><Relationship Id="rId2" Type="http://schemas.openxmlformats.org/officeDocument/2006/relationships/oleObject" Target="file:///G:\TABULACI&#211;N%20TESIS\TABULACI&#211;N-v2003+c.xls" TargetMode="External"/><Relationship Id="rId1" Type="http://schemas.openxmlformats.org/officeDocument/2006/relationships/image" Target="../media/image5.jpeg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3.xml"/><Relationship Id="rId2" Type="http://schemas.openxmlformats.org/officeDocument/2006/relationships/oleObject" Target="file:///G:\TABULACI&#211;N%20TESIS\TABULACI&#211;N-v2003+c.xls" TargetMode="External"/><Relationship Id="rId1" Type="http://schemas.openxmlformats.org/officeDocument/2006/relationships/image" Target="../media/image5.jpeg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4.xml"/><Relationship Id="rId2" Type="http://schemas.openxmlformats.org/officeDocument/2006/relationships/oleObject" Target="file:///G:\TABULACI&#211;N%20TESIS\TABULACI&#211;N-v2003+c.xls" TargetMode="External"/><Relationship Id="rId1" Type="http://schemas.openxmlformats.org/officeDocument/2006/relationships/image" Target="../media/image5.jpeg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5.xml"/><Relationship Id="rId2" Type="http://schemas.openxmlformats.org/officeDocument/2006/relationships/oleObject" Target="file:///G:\TABULACI&#211;N%20TESIS\TABULACI&#211;N-v2003+c.xls" TargetMode="External"/><Relationship Id="rId1" Type="http://schemas.openxmlformats.org/officeDocument/2006/relationships/image" Target="../media/image5.jpeg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6.xml"/><Relationship Id="rId2" Type="http://schemas.openxmlformats.org/officeDocument/2006/relationships/oleObject" Target="file:///G:\TABULACI&#211;N%20TESIS\TABULACI&#211;N-v2003+c.xls" TargetMode="External"/><Relationship Id="rId1" Type="http://schemas.openxmlformats.org/officeDocument/2006/relationships/image" Target="../media/image5.jpeg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7.xml"/><Relationship Id="rId2" Type="http://schemas.openxmlformats.org/officeDocument/2006/relationships/oleObject" Target="file:///G:\TABULACI&#211;N%20TESIS\TABULACI&#211;N-v2003+c.xls" TargetMode="External"/><Relationship Id="rId1" Type="http://schemas.openxmlformats.org/officeDocument/2006/relationships/image" Target="../media/image5.jpeg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8.xml"/><Relationship Id="rId2" Type="http://schemas.openxmlformats.org/officeDocument/2006/relationships/oleObject" Target="file:///G:\TABULACI&#211;N%20TESIS\TABULACI&#211;N-v2003+c.xls" TargetMode="External"/><Relationship Id="rId1" Type="http://schemas.openxmlformats.org/officeDocument/2006/relationships/image" Target="../media/image5.jpeg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9.xml"/><Relationship Id="rId2" Type="http://schemas.openxmlformats.org/officeDocument/2006/relationships/oleObject" Target="file:///G:\TABULACI&#211;N%20TESIS\TABULACI&#211;N-v2003+c.xls" TargetMode="External"/><Relationship Id="rId1" Type="http://schemas.openxmlformats.org/officeDocument/2006/relationships/image" Target="../media/image5.jpe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ES"/>
  <c:style val="27"/>
  <c:chart>
    <c:autoTitleDeleted val="1"/>
    <c:view3D>
      <c:depthPercent val="100"/>
      <c:perspective val="30"/>
    </c:view3D>
    <c:side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</c:sideWall>
    <c:back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  <c:pictureOptions>
        <c:pictureFormat val="stretch"/>
      </c:pictureOptions>
    </c:backWall>
    <c:plotArea>
      <c:layout>
        <c:manualLayout>
          <c:layoutTarget val="inner"/>
          <c:xMode val="edge"/>
          <c:yMode val="edge"/>
          <c:x val="0.10256518780723529"/>
          <c:y val="0.16031825296578744"/>
          <c:w val="0.69446921544445805"/>
          <c:h val="0.66247064511672871"/>
        </c:manualLayout>
      </c:layout>
      <c:bar3DChart>
        <c:barDir val="col"/>
        <c:grouping val="stacked"/>
        <c:ser>
          <c:idx val="0"/>
          <c:order val="0"/>
          <c:tx>
            <c:strRef>
              <c:f>'otros cruces'!$C$294</c:f>
              <c:strCache>
                <c:ptCount val="1"/>
                <c:pt idx="0">
                  <c:v>Ano imperforado</c:v>
                </c:pt>
              </c:strCache>
            </c:strRef>
          </c:tx>
          <c:spPr>
            <a:solidFill>
              <a:srgbClr val="0000FF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dLbl>
              <c:idx val="3"/>
              <c:layout>
                <c:manualLayout>
                  <c:x val="1.0236724248240668E-2"/>
                  <c:y val="6.5789473684210523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lang="es-BO" sz="800" b="1">
                      <a:solidFill>
                        <a:sysClr val="windowText" lastClr="000000"/>
                      </a:solidFill>
                    </a:defRPr>
                  </a:pPr>
                  <a:endParaRPr lang="es-ES"/>
                </a:p>
              </c:txPr>
              <c:showVal val="1"/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lang="es-BO" sz="800" b="1"/>
                </a:pPr>
                <a:endParaRPr lang="es-ES"/>
              </a:p>
            </c:txPr>
            <c:showVal val="1"/>
          </c:dLbls>
          <c:cat>
            <c:strRef>
              <c:f>'otros cruces'!$B$313:$B$314</c:f>
              <c:strCache>
                <c:ptCount val="2"/>
                <c:pt idx="0">
                  <c:v>Femenino</c:v>
                </c:pt>
                <c:pt idx="1">
                  <c:v>Masculino</c:v>
                </c:pt>
              </c:strCache>
            </c:strRef>
          </c:cat>
          <c:val>
            <c:numRef>
              <c:f>'otros cruces'!$C$313:$C$314</c:f>
              <c:numCache>
                <c:formatCode>#,##0.0%</c:formatCode>
                <c:ptCount val="2"/>
                <c:pt idx="0">
                  <c:v>0.15789473684210753</c:v>
                </c:pt>
                <c:pt idx="1">
                  <c:v>0.52631578947368418</c:v>
                </c:pt>
              </c:numCache>
            </c:numRef>
          </c:val>
        </c:ser>
        <c:ser>
          <c:idx val="1"/>
          <c:order val="1"/>
          <c:tx>
            <c:strRef>
              <c:f>'otros cruces'!$D$294</c:f>
              <c:strCache>
                <c:ptCount val="1"/>
                <c:pt idx="0">
                  <c:v>Fístula Rectovesical</c:v>
                </c:pt>
              </c:strCache>
            </c:strRef>
          </c:tx>
          <c:spPr>
            <a:solidFill>
              <a:srgbClr val="FF00FF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lang="es-BO" sz="800" b="1"/>
                </a:pPr>
                <a:endParaRPr lang="es-ES"/>
              </a:p>
            </c:txPr>
            <c:showVal val="1"/>
          </c:dLbls>
          <c:cat>
            <c:strRef>
              <c:f>'otros cruces'!$B$313:$B$314</c:f>
              <c:strCache>
                <c:ptCount val="2"/>
                <c:pt idx="0">
                  <c:v>Femenino</c:v>
                </c:pt>
                <c:pt idx="1">
                  <c:v>Masculino</c:v>
                </c:pt>
              </c:strCache>
            </c:strRef>
          </c:cat>
          <c:val>
            <c:numRef>
              <c:f>'otros cruces'!$D$313:$D$314</c:f>
              <c:numCache>
                <c:formatCode>General</c:formatCode>
                <c:ptCount val="2"/>
                <c:pt idx="0" formatCode="#,##0.0%">
                  <c:v>5.2631578947368432E-2</c:v>
                </c:pt>
              </c:numCache>
            </c:numRef>
          </c:val>
        </c:ser>
        <c:ser>
          <c:idx val="2"/>
          <c:order val="2"/>
          <c:tx>
            <c:strRef>
              <c:f>'otros cruces'!$E$294</c:f>
              <c:strCache>
                <c:ptCount val="1"/>
                <c:pt idx="0">
                  <c:v>Fístula Vestibular</c:v>
                </c:pt>
              </c:strCache>
            </c:strRef>
          </c:tx>
          <c:spPr>
            <a:solidFill>
              <a:srgbClr val="7030A0"/>
            </a:solidFill>
          </c:spPr>
          <c:dLbls>
            <c:dLbl>
              <c:idx val="0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lang="es-BO" sz="800" b="1"/>
                  </a:pPr>
                  <a:endParaRPr lang="es-ES"/>
                </a:p>
              </c:txPr>
            </c:dLbl>
            <c:dLbl>
              <c:idx val="1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lang="es-BO" sz="800" b="1"/>
                  </a:pPr>
                  <a:endParaRPr lang="es-ES"/>
                </a:p>
              </c:txPr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lang="es-BO" b="1"/>
                </a:pPr>
                <a:endParaRPr lang="es-ES"/>
              </a:p>
            </c:txPr>
            <c:showVal val="1"/>
          </c:dLbls>
          <c:cat>
            <c:strRef>
              <c:f>'otros cruces'!$B$313:$B$314</c:f>
              <c:strCache>
                <c:ptCount val="2"/>
                <c:pt idx="0">
                  <c:v>Femenino</c:v>
                </c:pt>
                <c:pt idx="1">
                  <c:v>Masculino</c:v>
                </c:pt>
              </c:strCache>
            </c:strRef>
          </c:cat>
          <c:val>
            <c:numRef>
              <c:f>'otros cruces'!$E$313:$E$314</c:f>
              <c:numCache>
                <c:formatCode>#,##0.0%</c:formatCode>
                <c:ptCount val="2"/>
                <c:pt idx="0">
                  <c:v>5.2631578947368432E-2</c:v>
                </c:pt>
                <c:pt idx="1">
                  <c:v>5.2631578947368432E-2</c:v>
                </c:pt>
              </c:numCache>
            </c:numRef>
          </c:val>
        </c:ser>
        <c:ser>
          <c:idx val="3"/>
          <c:order val="3"/>
          <c:tx>
            <c:strRef>
              <c:f>'otros cruces'!$F$294</c:f>
              <c:strCache>
                <c:ptCount val="1"/>
                <c:pt idx="0">
                  <c:v>Fístula Escrotal</c:v>
                </c:pt>
              </c:strCache>
            </c:strRef>
          </c:tx>
          <c:spPr>
            <a:solidFill>
              <a:srgbClr val="00CC00"/>
            </a:solidFill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cruces'!$B$313:$B$314</c:f>
              <c:strCache>
                <c:ptCount val="2"/>
                <c:pt idx="0">
                  <c:v>Femenino</c:v>
                </c:pt>
                <c:pt idx="1">
                  <c:v>Masculino</c:v>
                </c:pt>
              </c:strCache>
            </c:strRef>
          </c:cat>
          <c:val>
            <c:numRef>
              <c:f>'otros cruces'!$F$313:$F$314</c:f>
              <c:numCache>
                <c:formatCode>#,##0.0%</c:formatCode>
                <c:ptCount val="2"/>
                <c:pt idx="1">
                  <c:v>5.2631578947368432E-2</c:v>
                </c:pt>
              </c:numCache>
            </c:numRef>
          </c:val>
        </c:ser>
        <c:ser>
          <c:idx val="4"/>
          <c:order val="4"/>
          <c:tx>
            <c:strRef>
              <c:f>'otros cruces'!$G$294</c:f>
              <c:strCache>
                <c:ptCount val="1"/>
                <c:pt idx="0">
                  <c:v>Fístula Vestíbulouretral</c:v>
                </c:pt>
              </c:strCache>
            </c:strRef>
          </c:tx>
          <c:spPr>
            <a:solidFill>
              <a:srgbClr val="FFFF00"/>
            </a:solidFill>
          </c:spPr>
          <c:dLbls>
            <c:dLbl>
              <c:idx val="0"/>
              <c:delete val="1"/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lang="es-BO" sz="800" b="1"/>
                </a:pPr>
                <a:endParaRPr lang="es-ES"/>
              </a:p>
            </c:txPr>
            <c:showVal val="1"/>
          </c:dLbls>
          <c:cat>
            <c:strRef>
              <c:f>'otros cruces'!$B$313:$B$314</c:f>
              <c:strCache>
                <c:ptCount val="2"/>
                <c:pt idx="0">
                  <c:v>Femenino</c:v>
                </c:pt>
                <c:pt idx="1">
                  <c:v>Masculino</c:v>
                </c:pt>
              </c:strCache>
            </c:strRef>
          </c:cat>
          <c:val>
            <c:numRef>
              <c:f>'otros cruces'!$G$313:$G$314</c:f>
              <c:numCache>
                <c:formatCode>#,##0.0%</c:formatCode>
                <c:ptCount val="2"/>
                <c:pt idx="1">
                  <c:v>5.2631578947368432E-2</c:v>
                </c:pt>
              </c:numCache>
            </c:numRef>
          </c:val>
        </c:ser>
        <c:ser>
          <c:idx val="5"/>
          <c:order val="5"/>
          <c:tx>
            <c:strRef>
              <c:f>'otros cruces'!$H$294</c:f>
              <c:strCache>
                <c:ptCount val="1"/>
                <c:pt idx="0">
                  <c:v>Fístula Rectovaginal</c:v>
                </c:pt>
              </c:strCache>
            </c:strRef>
          </c:tx>
          <c:spPr>
            <a:solidFill>
              <a:schemeClr val="bg1"/>
            </a:solidFill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cruces'!$B$313:$B$314</c:f>
              <c:strCache>
                <c:ptCount val="2"/>
                <c:pt idx="0">
                  <c:v>Femenino</c:v>
                </c:pt>
                <c:pt idx="1">
                  <c:v>Masculino</c:v>
                </c:pt>
              </c:strCache>
            </c:strRef>
          </c:cat>
          <c:val>
            <c:numRef>
              <c:f>'otros cruces'!$H$313:$H$314</c:f>
              <c:numCache>
                <c:formatCode>General</c:formatCode>
                <c:ptCount val="2"/>
                <c:pt idx="0" formatCode="#,##0.0%">
                  <c:v>5.2631578947368432E-2</c:v>
                </c:pt>
              </c:numCache>
            </c:numRef>
          </c:val>
        </c:ser>
        <c:shape val="box"/>
        <c:axId val="126910848"/>
        <c:axId val="126913152"/>
        <c:axId val="0"/>
      </c:bar3DChart>
      <c:catAx>
        <c:axId val="126910848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lang="es-BO">
                    <a:solidFill>
                      <a:srgbClr val="C00000"/>
                    </a:solidFill>
                  </a:defRPr>
                </a:pPr>
                <a:r>
                  <a:rPr lang="es-ES">
                    <a:solidFill>
                      <a:srgbClr val="C00000"/>
                    </a:solidFill>
                  </a:rPr>
                  <a:t>Sexo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0" sourceLinked="1"/>
        <c:majorTickMark val="none"/>
        <c:tickLblPos val="nextTo"/>
        <c:txPr>
          <a:bodyPr/>
          <a:lstStyle/>
          <a:p>
            <a:pPr>
              <a:defRPr lang="es-BO" sz="700" b="1"/>
            </a:pPr>
            <a:endParaRPr lang="es-ES"/>
          </a:p>
        </c:txPr>
        <c:crossAx val="126913152"/>
        <c:crosses val="autoZero"/>
        <c:auto val="1"/>
        <c:lblAlgn val="ctr"/>
        <c:lblOffset val="100"/>
      </c:catAx>
      <c:valAx>
        <c:axId val="126913152"/>
        <c:scaling>
          <c:orientation val="minMax"/>
          <c:max val="0.70000000000000062"/>
          <c:min val="0"/>
        </c:scaling>
        <c:axPos val="l"/>
        <c:majorGridlines/>
        <c:title>
          <c:tx>
            <c:rich>
              <a:bodyPr/>
              <a:lstStyle/>
              <a:p>
                <a:pPr>
                  <a:defRPr lang="es-BO">
                    <a:solidFill>
                      <a:srgbClr val="006000"/>
                    </a:solidFill>
                  </a:defRPr>
                </a:pPr>
                <a:r>
                  <a:rPr lang="es-ES">
                    <a:solidFill>
                      <a:srgbClr val="006000"/>
                    </a:solidFill>
                  </a:rPr>
                  <a:t>Porcentaje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%" sourceLinked="1"/>
        <c:tickLblPos val="nextTo"/>
        <c:txPr>
          <a:bodyPr/>
          <a:lstStyle/>
          <a:p>
            <a:pPr>
              <a:defRPr lang="es-BO" sz="800" b="1">
                <a:solidFill>
                  <a:schemeClr val="accent3">
                    <a:lumMod val="50000"/>
                  </a:schemeClr>
                </a:solidFill>
              </a:defRPr>
            </a:pPr>
            <a:endParaRPr lang="es-ES"/>
          </a:p>
        </c:txPr>
        <c:crossAx val="126910848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80034423407918243"/>
          <c:y val="0.31788079470199093"/>
          <c:w val="0.17668731167640317"/>
          <c:h val="0.54539059521401612"/>
        </c:manualLayout>
      </c:layout>
      <c:txPr>
        <a:bodyPr/>
        <a:lstStyle/>
        <a:p>
          <a:pPr>
            <a:defRPr lang="es-BO" sz="700" b="1" i="1"/>
          </a:pPr>
          <a:endParaRPr lang="es-ES"/>
        </a:p>
      </c:txPr>
    </c:legend>
    <c:plotVisOnly val="1"/>
    <c:dispBlanksAs val="gap"/>
  </c:chart>
  <c:spPr>
    <a:blipFill>
      <a:blip xmlns:r="http://schemas.openxmlformats.org/officeDocument/2006/relationships" r:embed="rId1"/>
      <a:stretch>
        <a:fillRect/>
      </a:stretch>
    </a:blipFill>
    <a:scene3d>
      <a:camera prst="orthographicFront"/>
      <a:lightRig rig="threePt" dir="t"/>
    </a:scene3d>
    <a:sp3d prstMaterial="matte">
      <a:bevelT w="127000" h="63500"/>
    </a:sp3d>
  </c:spPr>
  <c:txPr>
    <a:bodyPr/>
    <a:lstStyle/>
    <a:p>
      <a:pPr>
        <a:defRPr>
          <a:latin typeface="Arial Narrow" pitchFamily="34" charset="0"/>
        </a:defRPr>
      </a:pPr>
      <a:endParaRPr lang="es-ES"/>
    </a:p>
  </c:txPr>
  <c:externalData r:id="rId2"/>
  <c:userShapes r:id="rId3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ES"/>
  <c:style val="27"/>
  <c:chart>
    <c:autoTitleDeleted val="1"/>
    <c:view3D>
      <c:depthPercent val="100"/>
      <c:perspective val="30"/>
    </c:view3D>
    <c:side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</c:sideWall>
    <c:back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  <c:pictureOptions>
        <c:pictureFormat val="stretch"/>
      </c:pictureOptions>
    </c:backWall>
    <c:plotArea>
      <c:layout>
        <c:manualLayout>
          <c:layoutTarget val="inner"/>
          <c:xMode val="edge"/>
          <c:yMode val="edge"/>
          <c:x val="0.10256512561649569"/>
          <c:y val="0.15587719298245756"/>
          <c:w val="0.69446921544445495"/>
          <c:h val="0.66247064511672871"/>
        </c:manualLayout>
      </c:layout>
      <c:bar3DChart>
        <c:barDir val="col"/>
        <c:grouping val="stacked"/>
        <c:ser>
          <c:idx val="0"/>
          <c:order val="0"/>
          <c:tx>
            <c:strRef>
              <c:f>'otros cruces'!$C$294</c:f>
              <c:strCache>
                <c:ptCount val="1"/>
                <c:pt idx="0">
                  <c:v>Ano imperforado</c:v>
                </c:pt>
              </c:strCache>
            </c:strRef>
          </c:tx>
          <c:spPr>
            <a:solidFill>
              <a:srgbClr val="0000FF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dLbl>
              <c:idx val="3"/>
              <c:layout>
                <c:manualLayout>
                  <c:x val="-4.0167870582442332E-3"/>
                  <c:y val="1.7165354330708631E-2"/>
                </c:manualLayout>
              </c:layout>
              <c:showVal val="1"/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lang="es-BO" sz="800" b="1"/>
                </a:pPr>
                <a:endParaRPr lang="es-ES"/>
              </a:p>
            </c:txPr>
            <c:showVal val="1"/>
          </c:dLbls>
          <c:cat>
            <c:strRef>
              <c:f>'otros cruces'!$B$303:$B$310</c:f>
              <c:strCache>
                <c:ptCount val="8"/>
                <c:pt idx="0">
                  <c:v>Enero</c:v>
                </c:pt>
                <c:pt idx="1">
                  <c:v>Febrero</c:v>
                </c:pt>
                <c:pt idx="2">
                  <c:v>Marzo</c:v>
                </c:pt>
                <c:pt idx="3">
                  <c:v>Abril</c:v>
                </c:pt>
                <c:pt idx="4">
                  <c:v>Junio</c:v>
                </c:pt>
                <c:pt idx="5">
                  <c:v>Agosto</c:v>
                </c:pt>
                <c:pt idx="6">
                  <c:v>Octubre</c:v>
                </c:pt>
                <c:pt idx="7">
                  <c:v>Diciembre</c:v>
                </c:pt>
              </c:strCache>
            </c:strRef>
          </c:cat>
          <c:val>
            <c:numRef>
              <c:f>'otros cruces'!$C$303:$C$310</c:f>
              <c:numCache>
                <c:formatCode>#,##0.0%</c:formatCode>
                <c:ptCount val="8"/>
                <c:pt idx="0">
                  <c:v>5.2631578947368432E-2</c:v>
                </c:pt>
                <c:pt idx="1">
                  <c:v>0.10526315789473686</c:v>
                </c:pt>
                <c:pt idx="2">
                  <c:v>0.21052631578947498</c:v>
                </c:pt>
                <c:pt idx="3">
                  <c:v>5.2631578947368432E-2</c:v>
                </c:pt>
                <c:pt idx="4">
                  <c:v>0.10526315789473686</c:v>
                </c:pt>
                <c:pt idx="5">
                  <c:v>0.10526315789473686</c:v>
                </c:pt>
                <c:pt idx="6">
                  <c:v>5.2631578947368432E-2</c:v>
                </c:pt>
              </c:numCache>
            </c:numRef>
          </c:val>
        </c:ser>
        <c:ser>
          <c:idx val="1"/>
          <c:order val="1"/>
          <c:tx>
            <c:strRef>
              <c:f>'otros cruces'!$D$294</c:f>
              <c:strCache>
                <c:ptCount val="1"/>
                <c:pt idx="0">
                  <c:v>Fístula Rectovesical</c:v>
                </c:pt>
              </c:strCache>
            </c:strRef>
          </c:tx>
          <c:spPr>
            <a:solidFill>
              <a:srgbClr val="FFFF99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cruces'!$B$303:$B$310</c:f>
              <c:strCache>
                <c:ptCount val="8"/>
                <c:pt idx="0">
                  <c:v>Enero</c:v>
                </c:pt>
                <c:pt idx="1">
                  <c:v>Febrero</c:v>
                </c:pt>
                <c:pt idx="2">
                  <c:v>Marzo</c:v>
                </c:pt>
                <c:pt idx="3">
                  <c:v>Abril</c:v>
                </c:pt>
                <c:pt idx="4">
                  <c:v>Junio</c:v>
                </c:pt>
                <c:pt idx="5">
                  <c:v>Agosto</c:v>
                </c:pt>
                <c:pt idx="6">
                  <c:v>Octubre</c:v>
                </c:pt>
                <c:pt idx="7">
                  <c:v>Diciembre</c:v>
                </c:pt>
              </c:strCache>
            </c:strRef>
          </c:cat>
          <c:val>
            <c:numRef>
              <c:f>'otros cruces'!$D$303:$D$310</c:f>
              <c:numCache>
                <c:formatCode>General</c:formatCode>
                <c:ptCount val="8"/>
                <c:pt idx="0" formatCode="#,##0.0%">
                  <c:v>5.2631578947368432E-2</c:v>
                </c:pt>
              </c:numCache>
            </c:numRef>
          </c:val>
        </c:ser>
        <c:ser>
          <c:idx val="2"/>
          <c:order val="2"/>
          <c:tx>
            <c:strRef>
              <c:f>'otros cruces'!$E$294</c:f>
              <c:strCache>
                <c:ptCount val="1"/>
                <c:pt idx="0">
                  <c:v>Fístula Vestibular</c:v>
                </c:pt>
              </c:strCache>
            </c:strRef>
          </c:tx>
          <c:spPr>
            <a:solidFill>
              <a:srgbClr val="FF0066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cruces'!$B$303:$B$310</c:f>
              <c:strCache>
                <c:ptCount val="8"/>
                <c:pt idx="0">
                  <c:v>Enero</c:v>
                </c:pt>
                <c:pt idx="1">
                  <c:v>Febrero</c:v>
                </c:pt>
                <c:pt idx="2">
                  <c:v>Marzo</c:v>
                </c:pt>
                <c:pt idx="3">
                  <c:v>Abril</c:v>
                </c:pt>
                <c:pt idx="4">
                  <c:v>Junio</c:v>
                </c:pt>
                <c:pt idx="5">
                  <c:v>Agosto</c:v>
                </c:pt>
                <c:pt idx="6">
                  <c:v>Octubre</c:v>
                </c:pt>
                <c:pt idx="7">
                  <c:v>Diciembre</c:v>
                </c:pt>
              </c:strCache>
            </c:strRef>
          </c:cat>
          <c:val>
            <c:numRef>
              <c:f>'otros cruces'!$E$303:$E$310</c:f>
              <c:numCache>
                <c:formatCode>General</c:formatCode>
                <c:ptCount val="8"/>
                <c:pt idx="0" formatCode="#,##0.0%">
                  <c:v>5.2631578947368432E-2</c:v>
                </c:pt>
                <c:pt idx="2" formatCode="#,##0.0%">
                  <c:v>5.2631578947368432E-2</c:v>
                </c:pt>
              </c:numCache>
            </c:numRef>
          </c:val>
        </c:ser>
        <c:ser>
          <c:idx val="3"/>
          <c:order val="3"/>
          <c:tx>
            <c:strRef>
              <c:f>'otros cruces'!$F$294</c:f>
              <c:strCache>
                <c:ptCount val="1"/>
                <c:pt idx="0">
                  <c:v>Fístula Escrotal</c:v>
                </c:pt>
              </c:strCache>
            </c:strRef>
          </c:tx>
          <c:spPr>
            <a:solidFill>
              <a:srgbClr val="33CC33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cruces'!$B$303:$B$310</c:f>
              <c:strCache>
                <c:ptCount val="8"/>
                <c:pt idx="0">
                  <c:v>Enero</c:v>
                </c:pt>
                <c:pt idx="1">
                  <c:v>Febrero</c:v>
                </c:pt>
                <c:pt idx="2">
                  <c:v>Marzo</c:v>
                </c:pt>
                <c:pt idx="3">
                  <c:v>Abril</c:v>
                </c:pt>
                <c:pt idx="4">
                  <c:v>Junio</c:v>
                </c:pt>
                <c:pt idx="5">
                  <c:v>Agosto</c:v>
                </c:pt>
                <c:pt idx="6">
                  <c:v>Octubre</c:v>
                </c:pt>
                <c:pt idx="7">
                  <c:v>Diciembre</c:v>
                </c:pt>
              </c:strCache>
            </c:strRef>
          </c:cat>
          <c:val>
            <c:numRef>
              <c:f>'otros cruces'!$F$303:$F$310</c:f>
              <c:numCache>
                <c:formatCode>General</c:formatCode>
                <c:ptCount val="8"/>
                <c:pt idx="4" formatCode="#,##0.0%">
                  <c:v>5.2631578947368432E-2</c:v>
                </c:pt>
              </c:numCache>
            </c:numRef>
          </c:val>
        </c:ser>
        <c:ser>
          <c:idx val="4"/>
          <c:order val="4"/>
          <c:tx>
            <c:strRef>
              <c:f>'otros cruces'!$G$294</c:f>
              <c:strCache>
                <c:ptCount val="1"/>
                <c:pt idx="0">
                  <c:v>Fístula Vestíbulouretral</c:v>
                </c:pt>
              </c:strCache>
            </c:strRef>
          </c:tx>
          <c:spPr>
            <a:solidFill>
              <a:srgbClr val="FF660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cruces'!$B$303:$B$310</c:f>
              <c:strCache>
                <c:ptCount val="8"/>
                <c:pt idx="0">
                  <c:v>Enero</c:v>
                </c:pt>
                <c:pt idx="1">
                  <c:v>Febrero</c:v>
                </c:pt>
                <c:pt idx="2">
                  <c:v>Marzo</c:v>
                </c:pt>
                <c:pt idx="3">
                  <c:v>Abril</c:v>
                </c:pt>
                <c:pt idx="4">
                  <c:v>Junio</c:v>
                </c:pt>
                <c:pt idx="5">
                  <c:v>Agosto</c:v>
                </c:pt>
                <c:pt idx="6">
                  <c:v>Octubre</c:v>
                </c:pt>
                <c:pt idx="7">
                  <c:v>Diciembre</c:v>
                </c:pt>
              </c:strCache>
            </c:strRef>
          </c:cat>
          <c:val>
            <c:numRef>
              <c:f>'otros cruces'!$G$303:$G$310</c:f>
              <c:numCache>
                <c:formatCode>General</c:formatCode>
                <c:ptCount val="8"/>
                <c:pt idx="6" formatCode="#,##0.0%">
                  <c:v>5.2631578947368432E-2</c:v>
                </c:pt>
              </c:numCache>
            </c:numRef>
          </c:val>
        </c:ser>
        <c:ser>
          <c:idx val="5"/>
          <c:order val="5"/>
          <c:tx>
            <c:strRef>
              <c:f>'otros cruces'!$H$294</c:f>
              <c:strCache>
                <c:ptCount val="1"/>
                <c:pt idx="0">
                  <c:v>Fístula Rectovaginal</c:v>
                </c:pt>
              </c:strCache>
            </c:strRef>
          </c:tx>
          <c:spPr>
            <a:solidFill>
              <a:srgbClr val="FFFF0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cruces'!$B$303:$B$310</c:f>
              <c:strCache>
                <c:ptCount val="8"/>
                <c:pt idx="0">
                  <c:v>Enero</c:v>
                </c:pt>
                <c:pt idx="1">
                  <c:v>Febrero</c:v>
                </c:pt>
                <c:pt idx="2">
                  <c:v>Marzo</c:v>
                </c:pt>
                <c:pt idx="3">
                  <c:v>Abril</c:v>
                </c:pt>
                <c:pt idx="4">
                  <c:v>Junio</c:v>
                </c:pt>
                <c:pt idx="5">
                  <c:v>Agosto</c:v>
                </c:pt>
                <c:pt idx="6">
                  <c:v>Octubre</c:v>
                </c:pt>
                <c:pt idx="7">
                  <c:v>Diciembre</c:v>
                </c:pt>
              </c:strCache>
            </c:strRef>
          </c:cat>
          <c:val>
            <c:numRef>
              <c:f>'otros cruces'!$H$303:$H$310</c:f>
              <c:numCache>
                <c:formatCode>General</c:formatCode>
                <c:ptCount val="8"/>
                <c:pt idx="7" formatCode="#,##0.0%">
                  <c:v>5.2631578947368432E-2</c:v>
                </c:pt>
              </c:numCache>
            </c:numRef>
          </c:val>
        </c:ser>
        <c:shape val="box"/>
        <c:axId val="134592384"/>
        <c:axId val="134861184"/>
        <c:axId val="0"/>
      </c:bar3DChart>
      <c:catAx>
        <c:axId val="134592384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lang="es-BO" sz="1000" b="1" i="0" u="none" strike="noStrike" baseline="0">
                    <a:solidFill>
                      <a:srgbClr val="993300"/>
                    </a:solidFill>
                    <a:latin typeface="Arial Narrow"/>
                    <a:ea typeface="Arial Narrow"/>
                    <a:cs typeface="Arial Narrow"/>
                  </a:defRPr>
                </a:pPr>
                <a:r>
                  <a:rPr lang="es-BO"/>
                  <a:t>mes de ingreso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0" sourceLinked="1"/>
        <c:majorTickMark val="none"/>
        <c:tickLblPos val="nextTo"/>
        <c:txPr>
          <a:bodyPr/>
          <a:lstStyle/>
          <a:p>
            <a:pPr>
              <a:defRPr lang="es-BO" sz="700" b="1"/>
            </a:pPr>
            <a:endParaRPr lang="es-ES"/>
          </a:p>
        </c:txPr>
        <c:crossAx val="134861184"/>
        <c:crosses val="autoZero"/>
        <c:auto val="1"/>
        <c:lblAlgn val="ctr"/>
        <c:lblOffset val="100"/>
      </c:catAx>
      <c:valAx>
        <c:axId val="134861184"/>
        <c:scaling>
          <c:orientation val="minMax"/>
          <c:max val="0.30000000000000032"/>
        </c:scaling>
        <c:axPos val="l"/>
        <c:majorGridlines/>
        <c:title>
          <c:tx>
            <c:rich>
              <a:bodyPr/>
              <a:lstStyle/>
              <a:p>
                <a:pPr>
                  <a:defRPr lang="es-BO">
                    <a:solidFill>
                      <a:srgbClr val="006000"/>
                    </a:solidFill>
                  </a:defRPr>
                </a:pPr>
                <a:r>
                  <a:rPr lang="es-ES">
                    <a:solidFill>
                      <a:srgbClr val="006000"/>
                    </a:solidFill>
                  </a:rPr>
                  <a:t>Porcentaje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%" sourceLinked="1"/>
        <c:tickLblPos val="nextTo"/>
        <c:txPr>
          <a:bodyPr/>
          <a:lstStyle/>
          <a:p>
            <a:pPr>
              <a:defRPr lang="es-BO" sz="800" b="1">
                <a:solidFill>
                  <a:schemeClr val="accent3">
                    <a:lumMod val="50000"/>
                  </a:schemeClr>
                </a:solidFill>
              </a:defRPr>
            </a:pPr>
            <a:endParaRPr lang="es-ES"/>
          </a:p>
        </c:txPr>
        <c:crossAx val="134592384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80034423407918243"/>
          <c:y val="0.33774834437086515"/>
          <c:w val="0.1772805507745267"/>
          <c:h val="0.48673600100328757"/>
        </c:manualLayout>
      </c:layout>
      <c:txPr>
        <a:bodyPr/>
        <a:lstStyle/>
        <a:p>
          <a:pPr>
            <a:defRPr lang="es-BO" sz="700" b="1" i="1"/>
          </a:pPr>
          <a:endParaRPr lang="es-ES"/>
        </a:p>
      </c:txPr>
    </c:legend>
    <c:plotVisOnly val="1"/>
    <c:dispBlanksAs val="gap"/>
  </c:chart>
  <c:spPr>
    <a:blipFill>
      <a:blip xmlns:r="http://schemas.openxmlformats.org/officeDocument/2006/relationships" r:embed="rId1"/>
      <a:stretch>
        <a:fillRect/>
      </a:stretch>
    </a:blipFill>
    <a:scene3d>
      <a:camera prst="orthographicFront"/>
      <a:lightRig rig="threePt" dir="t"/>
    </a:scene3d>
    <a:sp3d prstMaterial="matte">
      <a:bevelT w="127000" h="63500"/>
    </a:sp3d>
  </c:spPr>
  <c:txPr>
    <a:bodyPr/>
    <a:lstStyle/>
    <a:p>
      <a:pPr>
        <a:defRPr>
          <a:latin typeface="Arial Narrow" pitchFamily="34" charset="0"/>
        </a:defRPr>
      </a:pPr>
      <a:endParaRPr lang="es-ES"/>
    </a:p>
  </c:txPr>
  <c:externalData r:id="rId2"/>
  <c:userShapes r:id="rId3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ES"/>
  <c:style val="27"/>
  <c:chart>
    <c:view3D>
      <c:depthPercent val="100"/>
      <c:perspective val="30"/>
    </c:view3D>
    <c:side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</c:sideWall>
    <c:back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  <c:pictureOptions>
        <c:pictureFormat val="stretch"/>
      </c:pictureOptions>
    </c:backWall>
    <c:plotArea>
      <c:layout>
        <c:manualLayout>
          <c:layoutTarget val="inner"/>
          <c:xMode val="edge"/>
          <c:yMode val="edge"/>
          <c:x val="8.6828816908594841E-2"/>
          <c:y val="9.954980001076176E-2"/>
          <c:w val="0.70567986230637947"/>
          <c:h val="0.68125362461811212"/>
        </c:manualLayout>
      </c:layout>
      <c:bar3DChart>
        <c:barDir val="col"/>
        <c:grouping val="stacked"/>
        <c:ser>
          <c:idx val="0"/>
          <c:order val="0"/>
          <c:tx>
            <c:strRef>
              <c:f>'otros cruces'!$C$294</c:f>
              <c:strCache>
                <c:ptCount val="1"/>
                <c:pt idx="0">
                  <c:v>Ano imperforado</c:v>
                </c:pt>
              </c:strCache>
            </c:strRef>
          </c:tx>
          <c:spPr>
            <a:solidFill>
              <a:srgbClr val="0000FF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dLbl>
              <c:idx val="3"/>
              <c:layout>
                <c:manualLayout>
                  <c:x val="1.0236724248240583E-2"/>
                  <c:y val="6.5789473684210523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lang="es-BO" sz="800" b="1">
                      <a:solidFill>
                        <a:sysClr val="windowText" lastClr="000000"/>
                      </a:solidFill>
                    </a:defRPr>
                  </a:pPr>
                  <a:endParaRPr lang="es-ES"/>
                </a:p>
              </c:txPr>
              <c:showVal val="1"/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lang="es-BO" sz="800" b="1"/>
                </a:pPr>
                <a:endParaRPr lang="es-ES"/>
              </a:p>
            </c:txPr>
            <c:showVal val="1"/>
          </c:dLbls>
          <c:cat>
            <c:strRef>
              <c:f>'otros cruces'!$B$295:$B$302</c:f>
              <c:strCache>
                <c:ptCount val="8"/>
                <c:pt idx="0">
                  <c:v>Chapare</c:v>
                </c:pt>
                <c:pt idx="1">
                  <c:v>Jaihuayco</c:v>
                </c:pt>
                <c:pt idx="2">
                  <c:v>Quillacollo</c:v>
                </c:pt>
                <c:pt idx="3">
                  <c:v>Sipe Sipe</c:v>
                </c:pt>
                <c:pt idx="4">
                  <c:v>Sacaba</c:v>
                </c:pt>
                <c:pt idx="5">
                  <c:v>Colcapirhua</c:v>
                </c:pt>
                <c:pt idx="6">
                  <c:v>Punata</c:v>
                </c:pt>
                <c:pt idx="7">
                  <c:v>Pucara</c:v>
                </c:pt>
              </c:strCache>
            </c:strRef>
          </c:cat>
          <c:val>
            <c:numRef>
              <c:f>'otros cruces'!$C$295:$C$302</c:f>
              <c:numCache>
                <c:formatCode>#,##0.0%</c:formatCode>
                <c:ptCount val="8"/>
                <c:pt idx="0">
                  <c:v>0.26315789473684231</c:v>
                </c:pt>
                <c:pt idx="1">
                  <c:v>5.2631578947368432E-2</c:v>
                </c:pt>
                <c:pt idx="2">
                  <c:v>0.10526315789473686</c:v>
                </c:pt>
                <c:pt idx="4">
                  <c:v>0.10526315789473686</c:v>
                </c:pt>
                <c:pt idx="5">
                  <c:v>5.2631578947368432E-2</c:v>
                </c:pt>
                <c:pt idx="6">
                  <c:v>5.2631578947368432E-2</c:v>
                </c:pt>
                <c:pt idx="7">
                  <c:v>5.2631578947368432E-2</c:v>
                </c:pt>
              </c:numCache>
            </c:numRef>
          </c:val>
        </c:ser>
        <c:ser>
          <c:idx val="1"/>
          <c:order val="1"/>
          <c:tx>
            <c:strRef>
              <c:f>'otros cruces'!$D$294</c:f>
              <c:strCache>
                <c:ptCount val="1"/>
                <c:pt idx="0">
                  <c:v>Fístula Rectovesical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cruces'!$B$295:$B$302</c:f>
              <c:strCache>
                <c:ptCount val="8"/>
                <c:pt idx="0">
                  <c:v>Chapare</c:v>
                </c:pt>
                <c:pt idx="1">
                  <c:v>Jaihuayco</c:v>
                </c:pt>
                <c:pt idx="2">
                  <c:v>Quillacollo</c:v>
                </c:pt>
                <c:pt idx="3">
                  <c:v>Sipe Sipe</c:v>
                </c:pt>
                <c:pt idx="4">
                  <c:v>Sacaba</c:v>
                </c:pt>
                <c:pt idx="5">
                  <c:v>Colcapirhua</c:v>
                </c:pt>
                <c:pt idx="6">
                  <c:v>Punata</c:v>
                </c:pt>
                <c:pt idx="7">
                  <c:v>Pucara</c:v>
                </c:pt>
              </c:strCache>
            </c:strRef>
          </c:cat>
          <c:val>
            <c:numRef>
              <c:f>'otros cruces'!$D$295:$D$302</c:f>
              <c:numCache>
                <c:formatCode>General</c:formatCode>
                <c:ptCount val="8"/>
                <c:pt idx="3" formatCode="#,##0.0%">
                  <c:v>5.2631578947368432E-2</c:v>
                </c:pt>
              </c:numCache>
            </c:numRef>
          </c:val>
        </c:ser>
        <c:ser>
          <c:idx val="2"/>
          <c:order val="2"/>
          <c:tx>
            <c:strRef>
              <c:f>'otros cruces'!$E$294</c:f>
              <c:strCache>
                <c:ptCount val="1"/>
                <c:pt idx="0">
                  <c:v>Fístula Vestibular</c:v>
                </c:pt>
              </c:strCache>
            </c:strRef>
          </c:tx>
          <c:spPr>
            <a:solidFill>
              <a:srgbClr val="FFFF0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cruces'!$B$295:$B$302</c:f>
              <c:strCache>
                <c:ptCount val="8"/>
                <c:pt idx="0">
                  <c:v>Chapare</c:v>
                </c:pt>
                <c:pt idx="1">
                  <c:v>Jaihuayco</c:v>
                </c:pt>
                <c:pt idx="2">
                  <c:v>Quillacollo</c:v>
                </c:pt>
                <c:pt idx="3">
                  <c:v>Sipe Sipe</c:v>
                </c:pt>
                <c:pt idx="4">
                  <c:v>Sacaba</c:v>
                </c:pt>
                <c:pt idx="5">
                  <c:v>Colcapirhua</c:v>
                </c:pt>
                <c:pt idx="6">
                  <c:v>Punata</c:v>
                </c:pt>
                <c:pt idx="7">
                  <c:v>Pucara</c:v>
                </c:pt>
              </c:strCache>
            </c:strRef>
          </c:cat>
          <c:val>
            <c:numRef>
              <c:f>'otros cruces'!$E$295:$E$302</c:f>
              <c:numCache>
                <c:formatCode>#,##0.0%</c:formatCode>
                <c:ptCount val="8"/>
                <c:pt idx="0">
                  <c:v>5.2631578947368432E-2</c:v>
                </c:pt>
                <c:pt idx="1">
                  <c:v>5.2631578947368432E-2</c:v>
                </c:pt>
              </c:numCache>
            </c:numRef>
          </c:val>
        </c:ser>
        <c:ser>
          <c:idx val="3"/>
          <c:order val="3"/>
          <c:tx>
            <c:strRef>
              <c:f>'otros cruces'!$F$294</c:f>
              <c:strCache>
                <c:ptCount val="1"/>
                <c:pt idx="0">
                  <c:v>Fístula Escrotal</c:v>
                </c:pt>
              </c:strCache>
            </c:strRef>
          </c:tx>
          <c:spPr>
            <a:solidFill>
              <a:srgbClr val="00800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cruces'!$B$295:$B$302</c:f>
              <c:strCache>
                <c:ptCount val="8"/>
                <c:pt idx="0">
                  <c:v>Chapare</c:v>
                </c:pt>
                <c:pt idx="1">
                  <c:v>Jaihuayco</c:v>
                </c:pt>
                <c:pt idx="2">
                  <c:v>Quillacollo</c:v>
                </c:pt>
                <c:pt idx="3">
                  <c:v>Sipe Sipe</c:v>
                </c:pt>
                <c:pt idx="4">
                  <c:v>Sacaba</c:v>
                </c:pt>
                <c:pt idx="5">
                  <c:v>Colcapirhua</c:v>
                </c:pt>
                <c:pt idx="6">
                  <c:v>Punata</c:v>
                </c:pt>
                <c:pt idx="7">
                  <c:v>Pucara</c:v>
                </c:pt>
              </c:strCache>
            </c:strRef>
          </c:cat>
          <c:val>
            <c:numRef>
              <c:f>'otros cruces'!$F$295:$F$302</c:f>
              <c:numCache>
                <c:formatCode>General</c:formatCode>
                <c:ptCount val="8"/>
                <c:pt idx="7" formatCode="#,##0.0%">
                  <c:v>5.2631578947368432E-2</c:v>
                </c:pt>
              </c:numCache>
            </c:numRef>
          </c:val>
        </c:ser>
        <c:ser>
          <c:idx val="4"/>
          <c:order val="4"/>
          <c:tx>
            <c:strRef>
              <c:f>'otros cruces'!$G$294</c:f>
              <c:strCache>
                <c:ptCount val="1"/>
                <c:pt idx="0">
                  <c:v>Fístula Vestíbulouretral</c:v>
                </c:pt>
              </c:strCache>
            </c:strRef>
          </c:tx>
          <c:spPr>
            <a:solidFill>
              <a:srgbClr val="FF00FF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cruces'!$B$295:$B$302</c:f>
              <c:strCache>
                <c:ptCount val="8"/>
                <c:pt idx="0">
                  <c:v>Chapare</c:v>
                </c:pt>
                <c:pt idx="1">
                  <c:v>Jaihuayco</c:v>
                </c:pt>
                <c:pt idx="2">
                  <c:v>Quillacollo</c:v>
                </c:pt>
                <c:pt idx="3">
                  <c:v>Sipe Sipe</c:v>
                </c:pt>
                <c:pt idx="4">
                  <c:v>Sacaba</c:v>
                </c:pt>
                <c:pt idx="5">
                  <c:v>Colcapirhua</c:v>
                </c:pt>
                <c:pt idx="6">
                  <c:v>Punata</c:v>
                </c:pt>
                <c:pt idx="7">
                  <c:v>Pucara</c:v>
                </c:pt>
              </c:strCache>
            </c:strRef>
          </c:cat>
          <c:val>
            <c:numRef>
              <c:f>'otros cruces'!$G$295:$G$302</c:f>
              <c:numCache>
                <c:formatCode>General</c:formatCode>
                <c:ptCount val="8"/>
                <c:pt idx="0" formatCode="#,##0.0%">
                  <c:v>5.2631578947368432E-2</c:v>
                </c:pt>
              </c:numCache>
            </c:numRef>
          </c:val>
        </c:ser>
        <c:ser>
          <c:idx val="5"/>
          <c:order val="5"/>
          <c:tx>
            <c:strRef>
              <c:f>'otros cruces'!$H$294</c:f>
              <c:strCache>
                <c:ptCount val="1"/>
                <c:pt idx="0">
                  <c:v>Fístula Rectovaginal</c:v>
                </c:pt>
              </c:strCache>
            </c:strRef>
          </c:tx>
          <c:spPr>
            <a:solidFill>
              <a:srgbClr val="80008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cruces'!$B$295:$B$302</c:f>
              <c:strCache>
                <c:ptCount val="8"/>
                <c:pt idx="0">
                  <c:v>Chapare</c:v>
                </c:pt>
                <c:pt idx="1">
                  <c:v>Jaihuayco</c:v>
                </c:pt>
                <c:pt idx="2">
                  <c:v>Quillacollo</c:v>
                </c:pt>
                <c:pt idx="3">
                  <c:v>Sipe Sipe</c:v>
                </c:pt>
                <c:pt idx="4">
                  <c:v>Sacaba</c:v>
                </c:pt>
                <c:pt idx="5">
                  <c:v>Colcapirhua</c:v>
                </c:pt>
                <c:pt idx="6">
                  <c:v>Punata</c:v>
                </c:pt>
                <c:pt idx="7">
                  <c:v>Pucara</c:v>
                </c:pt>
              </c:strCache>
            </c:strRef>
          </c:cat>
          <c:val>
            <c:numRef>
              <c:f>'otros cruces'!$H$295:$H$302</c:f>
              <c:numCache>
                <c:formatCode>#,##0.0%</c:formatCode>
                <c:ptCount val="8"/>
                <c:pt idx="1">
                  <c:v>5.2631578947368432E-2</c:v>
                </c:pt>
              </c:numCache>
            </c:numRef>
          </c:val>
        </c:ser>
        <c:shape val="box"/>
        <c:axId val="128451712"/>
        <c:axId val="128454016"/>
        <c:axId val="0"/>
      </c:bar3DChart>
      <c:catAx>
        <c:axId val="128451712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lang="es-BO" sz="1000" b="1" i="0" u="none" strike="noStrike" baseline="0">
                    <a:solidFill>
                      <a:srgbClr val="993300"/>
                    </a:solidFill>
                    <a:latin typeface="Arial Narrow"/>
                    <a:ea typeface="Arial Narrow"/>
                    <a:cs typeface="Arial Narrow"/>
                  </a:defRPr>
                </a:pPr>
                <a:r>
                  <a:rPr lang="en-US"/>
                  <a:t>Referencia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0" sourceLinked="1"/>
        <c:majorTickMark val="none"/>
        <c:tickLblPos val="nextTo"/>
        <c:txPr>
          <a:bodyPr/>
          <a:lstStyle/>
          <a:p>
            <a:pPr>
              <a:defRPr lang="es-BO" sz="700" b="1"/>
            </a:pPr>
            <a:endParaRPr lang="es-ES"/>
          </a:p>
        </c:txPr>
        <c:crossAx val="128454016"/>
        <c:crosses val="autoZero"/>
        <c:auto val="1"/>
        <c:lblAlgn val="ctr"/>
        <c:lblOffset val="100"/>
      </c:catAx>
      <c:valAx>
        <c:axId val="128454016"/>
        <c:scaling>
          <c:orientation val="minMax"/>
          <c:max val="0.4"/>
        </c:scaling>
        <c:axPos val="l"/>
        <c:majorGridlines/>
        <c:title>
          <c:tx>
            <c:rich>
              <a:bodyPr/>
              <a:lstStyle/>
              <a:p>
                <a:pPr>
                  <a:defRPr lang="es-BO">
                    <a:solidFill>
                      <a:srgbClr val="006000"/>
                    </a:solidFill>
                  </a:defRPr>
                </a:pPr>
                <a:r>
                  <a:rPr lang="es-ES">
                    <a:solidFill>
                      <a:srgbClr val="006000"/>
                    </a:solidFill>
                  </a:rPr>
                  <a:t>Porcentaje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%" sourceLinked="1"/>
        <c:tickLblPos val="nextTo"/>
        <c:txPr>
          <a:bodyPr/>
          <a:lstStyle/>
          <a:p>
            <a:pPr>
              <a:defRPr lang="es-BO" sz="800" b="1">
                <a:solidFill>
                  <a:schemeClr val="accent3">
                    <a:lumMod val="50000"/>
                  </a:schemeClr>
                </a:solidFill>
              </a:defRPr>
            </a:pPr>
            <a:endParaRPr lang="es-ES"/>
          </a:p>
        </c:txPr>
        <c:crossAx val="128451712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80034419091353282"/>
          <c:y val="0.25080387474088556"/>
          <c:w val="0.1691191566457817"/>
          <c:h val="0.5474548564312347"/>
        </c:manualLayout>
      </c:layout>
      <c:txPr>
        <a:bodyPr/>
        <a:lstStyle/>
        <a:p>
          <a:pPr>
            <a:defRPr lang="es-BO" sz="700" b="1" i="1"/>
          </a:pPr>
          <a:endParaRPr lang="es-ES"/>
        </a:p>
      </c:txPr>
    </c:legend>
    <c:plotVisOnly val="1"/>
    <c:dispBlanksAs val="gap"/>
  </c:chart>
  <c:spPr>
    <a:blipFill>
      <a:blip xmlns:r="http://schemas.openxmlformats.org/officeDocument/2006/relationships" r:embed="rId1"/>
      <a:stretch>
        <a:fillRect/>
      </a:stretch>
    </a:blipFill>
    <a:scene3d>
      <a:camera prst="orthographicFront"/>
      <a:lightRig rig="threePt" dir="t"/>
    </a:scene3d>
    <a:sp3d prstMaterial="matte">
      <a:bevelT w="127000" h="63500"/>
    </a:sp3d>
  </c:spPr>
  <c:txPr>
    <a:bodyPr/>
    <a:lstStyle/>
    <a:p>
      <a:pPr>
        <a:defRPr>
          <a:latin typeface="Arial Narrow" pitchFamily="34" charset="0"/>
        </a:defRPr>
      </a:pPr>
      <a:endParaRPr lang="es-ES"/>
    </a:p>
  </c:txPr>
  <c:externalData r:id="rId2"/>
  <c:userShapes r:id="rId3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ES"/>
  <c:style val="27"/>
  <c:chart>
    <c:view3D>
      <c:depthPercent val="100"/>
      <c:perspective val="30"/>
    </c:view3D>
    <c:side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</c:sideWall>
    <c:back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  <c:pictureOptions>
        <c:pictureFormat val="stretch"/>
      </c:pictureOptions>
    </c:backWall>
    <c:plotArea>
      <c:layout>
        <c:manualLayout>
          <c:layoutTarget val="inner"/>
          <c:xMode val="edge"/>
          <c:yMode val="edge"/>
          <c:x val="0.11963346871777775"/>
          <c:y val="5.946862905872919E-2"/>
          <c:w val="0.70567986230637947"/>
          <c:h val="0.56745996987062797"/>
        </c:manualLayout>
      </c:layout>
      <c:bar3DChart>
        <c:barDir val="col"/>
        <c:grouping val="stacked"/>
        <c:ser>
          <c:idx val="0"/>
          <c:order val="0"/>
          <c:tx>
            <c:strRef>
              <c:f>'otros cruces'!$C$294</c:f>
              <c:strCache>
                <c:ptCount val="1"/>
                <c:pt idx="0">
                  <c:v>Ano imperforado</c:v>
                </c:pt>
              </c:strCache>
            </c:strRef>
          </c:tx>
          <c:spPr>
            <a:solidFill>
              <a:srgbClr val="0000FF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dLbl>
              <c:idx val="3"/>
              <c:layout>
                <c:manualLayout>
                  <c:x val="2.7492734924214628E-5"/>
                  <c:y val="3.4285588688912679E-3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lang="es-BO" sz="800" b="1">
                      <a:solidFill>
                        <a:sysClr val="windowText" lastClr="000000"/>
                      </a:solidFill>
                    </a:defRPr>
                  </a:pPr>
                  <a:endParaRPr lang="es-ES"/>
                </a:p>
              </c:txPr>
              <c:showVal val="1"/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lang="es-BO" sz="800" b="1"/>
                </a:pPr>
                <a:endParaRPr lang="es-ES"/>
              </a:p>
            </c:txPr>
            <c:showVal val="1"/>
          </c:dLbls>
          <c:cat>
            <c:strRef>
              <c:f>'otros cruces'!$B$295:$B$301</c:f>
              <c:strCache>
                <c:ptCount val="7"/>
                <c:pt idx="0">
                  <c:v>Sdme. Down</c:v>
                </c:pt>
                <c:pt idx="1">
                  <c:v>polidactilia</c:v>
                </c:pt>
                <c:pt idx="2">
                  <c:v>hidronefrosis</c:v>
                </c:pt>
                <c:pt idx="3">
                  <c:v>gastrosquisis </c:v>
                </c:pt>
                <c:pt idx="4">
                  <c:v>atresia esofágica</c:v>
                </c:pt>
                <c:pt idx="5">
                  <c:v>múltiple </c:v>
                </c:pt>
                <c:pt idx="6">
                  <c:v>ninguno</c:v>
                </c:pt>
              </c:strCache>
            </c:strRef>
          </c:cat>
          <c:val>
            <c:numRef>
              <c:f>'otros cruces'!$C$295:$C$301</c:f>
              <c:numCache>
                <c:formatCode>#,##0.0%</c:formatCode>
                <c:ptCount val="7"/>
                <c:pt idx="0">
                  <c:v>0.21052631578947523</c:v>
                </c:pt>
                <c:pt idx="1">
                  <c:v>5.2631578947368432E-2</c:v>
                </c:pt>
                <c:pt idx="2">
                  <c:v>5.2631578947368432E-2</c:v>
                </c:pt>
                <c:pt idx="3">
                  <c:v>5.2631578947368432E-2</c:v>
                </c:pt>
                <c:pt idx="5">
                  <c:v>0.15789473684210792</c:v>
                </c:pt>
                <c:pt idx="6">
                  <c:v>0.15789473684210792</c:v>
                </c:pt>
              </c:numCache>
            </c:numRef>
          </c:val>
        </c:ser>
        <c:ser>
          <c:idx val="1"/>
          <c:order val="1"/>
          <c:tx>
            <c:strRef>
              <c:f>'otros cruces'!$D$294</c:f>
              <c:strCache>
                <c:ptCount val="1"/>
                <c:pt idx="0">
                  <c:v>Fístula Rectovesical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cruces'!$B$295:$B$301</c:f>
              <c:strCache>
                <c:ptCount val="7"/>
                <c:pt idx="0">
                  <c:v>Sdme. Down</c:v>
                </c:pt>
                <c:pt idx="1">
                  <c:v>polidactilia</c:v>
                </c:pt>
                <c:pt idx="2">
                  <c:v>hidronefrosis</c:v>
                </c:pt>
                <c:pt idx="3">
                  <c:v>gastrosquisis </c:v>
                </c:pt>
                <c:pt idx="4">
                  <c:v>atresia esofágica</c:v>
                </c:pt>
                <c:pt idx="5">
                  <c:v>múltiple </c:v>
                </c:pt>
                <c:pt idx="6">
                  <c:v>ninguno</c:v>
                </c:pt>
              </c:strCache>
            </c:strRef>
          </c:cat>
          <c:val>
            <c:numRef>
              <c:f>'otros cruces'!$D$295:$D$301</c:f>
              <c:numCache>
                <c:formatCode>General</c:formatCode>
                <c:ptCount val="7"/>
                <c:pt idx="6" formatCode="#,##0.0%">
                  <c:v>5.2631578947368432E-2</c:v>
                </c:pt>
              </c:numCache>
            </c:numRef>
          </c:val>
        </c:ser>
        <c:ser>
          <c:idx val="2"/>
          <c:order val="2"/>
          <c:tx>
            <c:strRef>
              <c:f>'otros cruces'!$E$294</c:f>
              <c:strCache>
                <c:ptCount val="1"/>
                <c:pt idx="0">
                  <c:v>Fístula Vestibular</c:v>
                </c:pt>
              </c:strCache>
            </c:strRef>
          </c:tx>
          <c:spPr>
            <a:solidFill>
              <a:srgbClr val="FFFF0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cruces'!$B$295:$B$301</c:f>
              <c:strCache>
                <c:ptCount val="7"/>
                <c:pt idx="0">
                  <c:v>Sdme. Down</c:v>
                </c:pt>
                <c:pt idx="1">
                  <c:v>polidactilia</c:v>
                </c:pt>
                <c:pt idx="2">
                  <c:v>hidronefrosis</c:v>
                </c:pt>
                <c:pt idx="3">
                  <c:v>gastrosquisis </c:v>
                </c:pt>
                <c:pt idx="4">
                  <c:v>atresia esofágica</c:v>
                </c:pt>
                <c:pt idx="5">
                  <c:v>múltiple </c:v>
                </c:pt>
                <c:pt idx="6">
                  <c:v>ninguno</c:v>
                </c:pt>
              </c:strCache>
            </c:strRef>
          </c:cat>
          <c:val>
            <c:numRef>
              <c:f>'otros cruces'!$E$295:$E$301</c:f>
              <c:numCache>
                <c:formatCode>General</c:formatCode>
                <c:ptCount val="7"/>
                <c:pt idx="6" formatCode="#,##0.0%">
                  <c:v>0.10526315789473686</c:v>
                </c:pt>
              </c:numCache>
            </c:numRef>
          </c:val>
        </c:ser>
        <c:ser>
          <c:idx val="3"/>
          <c:order val="3"/>
          <c:tx>
            <c:strRef>
              <c:f>'otros cruces'!$F$294</c:f>
              <c:strCache>
                <c:ptCount val="1"/>
                <c:pt idx="0">
                  <c:v>Fístula Escrotal</c:v>
                </c:pt>
              </c:strCache>
            </c:strRef>
          </c:tx>
          <c:spPr>
            <a:solidFill>
              <a:srgbClr val="00800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cruces'!$B$295:$B$301</c:f>
              <c:strCache>
                <c:ptCount val="7"/>
                <c:pt idx="0">
                  <c:v>Sdme. Down</c:v>
                </c:pt>
                <c:pt idx="1">
                  <c:v>polidactilia</c:v>
                </c:pt>
                <c:pt idx="2">
                  <c:v>hidronefrosis</c:v>
                </c:pt>
                <c:pt idx="3">
                  <c:v>gastrosquisis </c:v>
                </c:pt>
                <c:pt idx="4">
                  <c:v>atresia esofágica</c:v>
                </c:pt>
                <c:pt idx="5">
                  <c:v>múltiple </c:v>
                </c:pt>
                <c:pt idx="6">
                  <c:v>ninguno</c:v>
                </c:pt>
              </c:strCache>
            </c:strRef>
          </c:cat>
          <c:val>
            <c:numRef>
              <c:f>'otros cruces'!$F$295:$F$301</c:f>
              <c:numCache>
                <c:formatCode>General</c:formatCode>
                <c:ptCount val="7"/>
                <c:pt idx="6" formatCode="#,##0.0%">
                  <c:v>5.2631578947368432E-2</c:v>
                </c:pt>
              </c:numCache>
            </c:numRef>
          </c:val>
        </c:ser>
        <c:ser>
          <c:idx val="4"/>
          <c:order val="4"/>
          <c:tx>
            <c:strRef>
              <c:f>'otros cruces'!$G$294</c:f>
              <c:strCache>
                <c:ptCount val="1"/>
                <c:pt idx="0">
                  <c:v>Fístula Vestíbulouretral</c:v>
                </c:pt>
              </c:strCache>
            </c:strRef>
          </c:tx>
          <c:spPr>
            <a:solidFill>
              <a:srgbClr val="FF00FF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cruces'!$B$295:$B$301</c:f>
              <c:strCache>
                <c:ptCount val="7"/>
                <c:pt idx="0">
                  <c:v>Sdme. Down</c:v>
                </c:pt>
                <c:pt idx="1">
                  <c:v>polidactilia</c:v>
                </c:pt>
                <c:pt idx="2">
                  <c:v>hidronefrosis</c:v>
                </c:pt>
                <c:pt idx="3">
                  <c:v>gastrosquisis </c:v>
                </c:pt>
                <c:pt idx="4">
                  <c:v>atresia esofágica</c:v>
                </c:pt>
                <c:pt idx="5">
                  <c:v>múltiple </c:v>
                </c:pt>
                <c:pt idx="6">
                  <c:v>ninguno</c:v>
                </c:pt>
              </c:strCache>
            </c:strRef>
          </c:cat>
          <c:val>
            <c:numRef>
              <c:f>'otros cruces'!$G$295:$G$301</c:f>
              <c:numCache>
                <c:formatCode>General</c:formatCode>
                <c:ptCount val="7"/>
                <c:pt idx="4" formatCode="#,##0.0%">
                  <c:v>5.2631578947368432E-2</c:v>
                </c:pt>
              </c:numCache>
            </c:numRef>
          </c:val>
        </c:ser>
        <c:ser>
          <c:idx val="5"/>
          <c:order val="5"/>
          <c:tx>
            <c:strRef>
              <c:f>'otros cruces'!$H$294</c:f>
              <c:strCache>
                <c:ptCount val="1"/>
                <c:pt idx="0">
                  <c:v>Fístula Rectovaginal</c:v>
                </c:pt>
              </c:strCache>
            </c:strRef>
          </c:tx>
          <c:spPr>
            <a:solidFill>
              <a:srgbClr val="80008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cruces'!$B$295:$B$301</c:f>
              <c:strCache>
                <c:ptCount val="7"/>
                <c:pt idx="0">
                  <c:v>Sdme. Down</c:v>
                </c:pt>
                <c:pt idx="1">
                  <c:v>polidactilia</c:v>
                </c:pt>
                <c:pt idx="2">
                  <c:v>hidronefrosis</c:v>
                </c:pt>
                <c:pt idx="3">
                  <c:v>gastrosquisis </c:v>
                </c:pt>
                <c:pt idx="4">
                  <c:v>atresia esofágica</c:v>
                </c:pt>
                <c:pt idx="5">
                  <c:v>múltiple </c:v>
                </c:pt>
                <c:pt idx="6">
                  <c:v>ninguno</c:v>
                </c:pt>
              </c:strCache>
            </c:strRef>
          </c:cat>
          <c:val>
            <c:numRef>
              <c:f>'otros cruces'!$H$295:$H$301</c:f>
              <c:numCache>
                <c:formatCode>General</c:formatCode>
                <c:ptCount val="7"/>
                <c:pt idx="6" formatCode="#,##0.0%">
                  <c:v>5.2631578947368432E-2</c:v>
                </c:pt>
              </c:numCache>
            </c:numRef>
          </c:val>
        </c:ser>
        <c:shape val="box"/>
        <c:axId val="132525440"/>
        <c:axId val="132535808"/>
        <c:axId val="0"/>
      </c:bar3DChart>
      <c:catAx>
        <c:axId val="132525440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lang="es-BO" sz="1000" b="1" i="0" u="none" strike="noStrike" baseline="0">
                    <a:solidFill>
                      <a:srgbClr val="993300"/>
                    </a:solidFill>
                    <a:latin typeface="Arial Narrow"/>
                    <a:ea typeface="Arial Narrow"/>
                    <a:cs typeface="Arial Narrow"/>
                  </a:defRPr>
                </a:pPr>
                <a:r>
                  <a:rPr lang="en-US"/>
                  <a:t>Otra malformación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0" sourceLinked="1"/>
        <c:majorTickMark val="none"/>
        <c:tickLblPos val="nextTo"/>
        <c:txPr>
          <a:bodyPr/>
          <a:lstStyle/>
          <a:p>
            <a:pPr>
              <a:defRPr lang="es-BO" sz="700" b="1"/>
            </a:pPr>
            <a:endParaRPr lang="es-ES"/>
          </a:p>
        </c:txPr>
        <c:crossAx val="132535808"/>
        <c:crosses val="autoZero"/>
        <c:auto val="1"/>
        <c:lblAlgn val="ctr"/>
        <c:lblOffset val="100"/>
      </c:catAx>
      <c:valAx>
        <c:axId val="132535808"/>
        <c:scaling>
          <c:orientation val="minMax"/>
          <c:max val="0.45"/>
          <c:min val="0"/>
        </c:scaling>
        <c:axPos val="l"/>
        <c:majorGridlines/>
        <c:title>
          <c:tx>
            <c:rich>
              <a:bodyPr/>
              <a:lstStyle/>
              <a:p>
                <a:pPr>
                  <a:defRPr lang="es-BO">
                    <a:solidFill>
                      <a:srgbClr val="006000"/>
                    </a:solidFill>
                  </a:defRPr>
                </a:pPr>
                <a:r>
                  <a:rPr lang="es-ES">
                    <a:solidFill>
                      <a:srgbClr val="006000"/>
                    </a:solidFill>
                  </a:rPr>
                  <a:t>Porcentaje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%" sourceLinked="1"/>
        <c:tickLblPos val="nextTo"/>
        <c:txPr>
          <a:bodyPr/>
          <a:lstStyle/>
          <a:p>
            <a:pPr>
              <a:defRPr lang="es-BO" sz="800" b="1">
                <a:solidFill>
                  <a:schemeClr val="accent3">
                    <a:lumMod val="50000"/>
                  </a:schemeClr>
                </a:solidFill>
              </a:defRPr>
            </a:pPr>
            <a:endParaRPr lang="es-ES"/>
          </a:p>
        </c:txPr>
        <c:crossAx val="13252544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0034419091353282"/>
          <c:y val="0.25080387474088556"/>
          <c:w val="0.16911915664578173"/>
          <c:h val="0.47438393320612082"/>
        </c:manualLayout>
      </c:layout>
      <c:txPr>
        <a:bodyPr/>
        <a:lstStyle/>
        <a:p>
          <a:pPr>
            <a:defRPr lang="es-BO" sz="700" b="1" i="1"/>
          </a:pPr>
          <a:endParaRPr lang="es-ES"/>
        </a:p>
      </c:txPr>
    </c:legend>
    <c:plotVisOnly val="1"/>
    <c:dispBlanksAs val="gap"/>
  </c:chart>
  <c:spPr>
    <a:blipFill>
      <a:blip xmlns:r="http://schemas.openxmlformats.org/officeDocument/2006/relationships" r:embed="rId1"/>
      <a:stretch>
        <a:fillRect/>
      </a:stretch>
    </a:blipFill>
    <a:scene3d>
      <a:camera prst="orthographicFront"/>
      <a:lightRig rig="threePt" dir="t"/>
    </a:scene3d>
    <a:sp3d prstMaterial="matte">
      <a:bevelT w="127000" h="63500"/>
    </a:sp3d>
  </c:spPr>
  <c:txPr>
    <a:bodyPr/>
    <a:lstStyle/>
    <a:p>
      <a:pPr>
        <a:defRPr>
          <a:latin typeface="Arial Narrow" pitchFamily="34" charset="0"/>
        </a:defRPr>
      </a:pPr>
      <a:endParaRPr lang="es-ES"/>
    </a:p>
  </c:txPr>
  <c:externalData r:id="rId2"/>
  <c:userShapes r:id="rId3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ES"/>
  <c:style val="27"/>
  <c:chart>
    <c:view3D>
      <c:depthPercent val="100"/>
      <c:perspective val="30"/>
    </c:view3D>
    <c:side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</c:sideWall>
    <c:back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  <c:pictureOptions>
        <c:pictureFormat val="stretch"/>
      </c:pictureOptions>
    </c:backWall>
    <c:plotArea>
      <c:layout>
        <c:manualLayout>
          <c:layoutTarget val="inner"/>
          <c:xMode val="edge"/>
          <c:yMode val="edge"/>
          <c:x val="9.90799580374047E-2"/>
          <c:y val="7.5352724664812923E-2"/>
          <c:w val="0.70567986230637947"/>
          <c:h val="0.69801985138904865"/>
        </c:manualLayout>
      </c:layout>
      <c:bar3DChart>
        <c:barDir val="col"/>
        <c:grouping val="stacked"/>
        <c:ser>
          <c:idx val="0"/>
          <c:order val="0"/>
          <c:tx>
            <c:strRef>
              <c:f>'otros cruces'!$C$294</c:f>
              <c:strCache>
                <c:ptCount val="1"/>
                <c:pt idx="0">
                  <c:v>Ano imperforado</c:v>
                </c:pt>
              </c:strCache>
            </c:strRef>
          </c:tx>
          <c:spPr>
            <a:solidFill>
              <a:srgbClr val="0000FF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dLbl>
              <c:idx val="3"/>
              <c:layout>
                <c:manualLayout>
                  <c:x val="1.0236724248240583E-2"/>
                  <c:y val="6.5789473684210523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lang="es-BO" sz="800" b="1">
                      <a:solidFill>
                        <a:sysClr val="windowText" lastClr="000000"/>
                      </a:solidFill>
                    </a:defRPr>
                  </a:pPr>
                  <a:endParaRPr lang="es-ES"/>
                </a:p>
              </c:txPr>
              <c:showVal val="1"/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lang="es-BO" sz="800" b="1"/>
                </a:pPr>
                <a:endParaRPr lang="es-ES"/>
              </a:p>
            </c:txPr>
            <c:showVal val="1"/>
          </c:dLbls>
          <c:cat>
            <c:strRef>
              <c:f>'otros cruces'!$B$295:$B$302</c:f>
              <c:strCache>
                <c:ptCount val="8"/>
                <c:pt idx="0">
                  <c:v>Sepsis</c:v>
                </c:pt>
                <c:pt idx="1">
                  <c:v>Hiperbilirrubinemia</c:v>
                </c:pt>
                <c:pt idx="2">
                  <c:v>Anemia</c:v>
                </c:pt>
                <c:pt idx="3">
                  <c:v>Enterocolitis</c:v>
                </c:pt>
                <c:pt idx="4">
                  <c:v>Dif.  Resp.</c:v>
                </c:pt>
                <c:pt idx="5">
                  <c:v>Insuf.  Renal</c:v>
                </c:pt>
                <c:pt idx="6">
                  <c:v>Múltiple</c:v>
                </c:pt>
                <c:pt idx="7">
                  <c:v>Ninguno</c:v>
                </c:pt>
              </c:strCache>
            </c:strRef>
          </c:cat>
          <c:val>
            <c:numRef>
              <c:f>'otros cruces'!$C$295:$C$302</c:f>
              <c:numCache>
                <c:formatCode>#,##0.0%</c:formatCode>
                <c:ptCount val="8"/>
                <c:pt idx="0">
                  <c:v>0.15789473684210792</c:v>
                </c:pt>
                <c:pt idx="1">
                  <c:v>0.10526315789473686</c:v>
                </c:pt>
                <c:pt idx="2">
                  <c:v>5.2631578947368432E-2</c:v>
                </c:pt>
                <c:pt idx="5">
                  <c:v>5.2631578947368432E-2</c:v>
                </c:pt>
                <c:pt idx="6">
                  <c:v>0.10526315789473686</c:v>
                </c:pt>
                <c:pt idx="7">
                  <c:v>0.21052631578947523</c:v>
                </c:pt>
              </c:numCache>
            </c:numRef>
          </c:val>
        </c:ser>
        <c:ser>
          <c:idx val="1"/>
          <c:order val="1"/>
          <c:tx>
            <c:strRef>
              <c:f>'otros cruces'!$D$294</c:f>
              <c:strCache>
                <c:ptCount val="1"/>
                <c:pt idx="0">
                  <c:v>Fístula Rectovesical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cruces'!$B$295:$B$302</c:f>
              <c:strCache>
                <c:ptCount val="8"/>
                <c:pt idx="0">
                  <c:v>Sepsis</c:v>
                </c:pt>
                <c:pt idx="1">
                  <c:v>Hiperbilirrubinemia</c:v>
                </c:pt>
                <c:pt idx="2">
                  <c:v>Anemia</c:v>
                </c:pt>
                <c:pt idx="3">
                  <c:v>Enterocolitis</c:v>
                </c:pt>
                <c:pt idx="4">
                  <c:v>Dif.  Resp.</c:v>
                </c:pt>
                <c:pt idx="5">
                  <c:v>Insuf.  Renal</c:v>
                </c:pt>
                <c:pt idx="6">
                  <c:v>Múltiple</c:v>
                </c:pt>
                <c:pt idx="7">
                  <c:v>Ninguno</c:v>
                </c:pt>
              </c:strCache>
            </c:strRef>
          </c:cat>
          <c:val>
            <c:numRef>
              <c:f>'otros cruces'!$D$295:$D$302</c:f>
              <c:numCache>
                <c:formatCode>General</c:formatCode>
                <c:ptCount val="8"/>
                <c:pt idx="0" formatCode="#,##0.0%">
                  <c:v>5.2631578947368432E-2</c:v>
                </c:pt>
              </c:numCache>
            </c:numRef>
          </c:val>
        </c:ser>
        <c:ser>
          <c:idx val="2"/>
          <c:order val="2"/>
          <c:tx>
            <c:strRef>
              <c:f>'otros cruces'!$E$294</c:f>
              <c:strCache>
                <c:ptCount val="1"/>
                <c:pt idx="0">
                  <c:v>Fístula Vestibular</c:v>
                </c:pt>
              </c:strCache>
            </c:strRef>
          </c:tx>
          <c:spPr>
            <a:solidFill>
              <a:srgbClr val="FFFF0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cruces'!$B$295:$B$302</c:f>
              <c:strCache>
                <c:ptCount val="8"/>
                <c:pt idx="0">
                  <c:v>Sepsis</c:v>
                </c:pt>
                <c:pt idx="1">
                  <c:v>Hiperbilirrubinemia</c:v>
                </c:pt>
                <c:pt idx="2">
                  <c:v>Anemia</c:v>
                </c:pt>
                <c:pt idx="3">
                  <c:v>Enterocolitis</c:v>
                </c:pt>
                <c:pt idx="4">
                  <c:v>Dif.  Resp.</c:v>
                </c:pt>
                <c:pt idx="5">
                  <c:v>Insuf.  Renal</c:v>
                </c:pt>
                <c:pt idx="6">
                  <c:v>Múltiple</c:v>
                </c:pt>
                <c:pt idx="7">
                  <c:v>Ninguno</c:v>
                </c:pt>
              </c:strCache>
            </c:strRef>
          </c:cat>
          <c:val>
            <c:numRef>
              <c:f>'otros cruces'!$E$295:$E$302</c:f>
              <c:numCache>
                <c:formatCode>#,##0.0%</c:formatCode>
                <c:ptCount val="8"/>
                <c:pt idx="1">
                  <c:v>5.2631578947368432E-2</c:v>
                </c:pt>
                <c:pt idx="7">
                  <c:v>5.2631578947368432E-2</c:v>
                </c:pt>
              </c:numCache>
            </c:numRef>
          </c:val>
        </c:ser>
        <c:ser>
          <c:idx val="3"/>
          <c:order val="3"/>
          <c:tx>
            <c:strRef>
              <c:f>'otros cruces'!$F$294</c:f>
              <c:strCache>
                <c:ptCount val="1"/>
                <c:pt idx="0">
                  <c:v>Fístula Escrotal</c:v>
                </c:pt>
              </c:strCache>
            </c:strRef>
          </c:tx>
          <c:spPr>
            <a:solidFill>
              <a:srgbClr val="00800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cruces'!$B$295:$B$302</c:f>
              <c:strCache>
                <c:ptCount val="8"/>
                <c:pt idx="0">
                  <c:v>Sepsis</c:v>
                </c:pt>
                <c:pt idx="1">
                  <c:v>Hiperbilirrubinemia</c:v>
                </c:pt>
                <c:pt idx="2">
                  <c:v>Anemia</c:v>
                </c:pt>
                <c:pt idx="3">
                  <c:v>Enterocolitis</c:v>
                </c:pt>
                <c:pt idx="4">
                  <c:v>Dif.  Resp.</c:v>
                </c:pt>
                <c:pt idx="5">
                  <c:v>Insuf.  Renal</c:v>
                </c:pt>
                <c:pt idx="6">
                  <c:v>Múltiple</c:v>
                </c:pt>
                <c:pt idx="7">
                  <c:v>Ninguno</c:v>
                </c:pt>
              </c:strCache>
            </c:strRef>
          </c:cat>
          <c:val>
            <c:numRef>
              <c:f>'otros cruces'!$F$295:$F$302</c:f>
              <c:numCache>
                <c:formatCode>General</c:formatCode>
                <c:ptCount val="8"/>
                <c:pt idx="7" formatCode="#,##0.0%">
                  <c:v>5.2631578947368432E-2</c:v>
                </c:pt>
              </c:numCache>
            </c:numRef>
          </c:val>
        </c:ser>
        <c:ser>
          <c:idx val="4"/>
          <c:order val="4"/>
          <c:tx>
            <c:strRef>
              <c:f>'otros cruces'!$G$294</c:f>
              <c:strCache>
                <c:ptCount val="1"/>
                <c:pt idx="0">
                  <c:v>Fístula Vestíbulouretral</c:v>
                </c:pt>
              </c:strCache>
            </c:strRef>
          </c:tx>
          <c:spPr>
            <a:solidFill>
              <a:srgbClr val="FF00FF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cruces'!$B$295:$B$302</c:f>
              <c:strCache>
                <c:ptCount val="8"/>
                <c:pt idx="0">
                  <c:v>Sepsis</c:v>
                </c:pt>
                <c:pt idx="1">
                  <c:v>Hiperbilirrubinemia</c:v>
                </c:pt>
                <c:pt idx="2">
                  <c:v>Anemia</c:v>
                </c:pt>
                <c:pt idx="3">
                  <c:v>Enterocolitis</c:v>
                </c:pt>
                <c:pt idx="4">
                  <c:v>Dif.  Resp.</c:v>
                </c:pt>
                <c:pt idx="5">
                  <c:v>Insuf.  Renal</c:v>
                </c:pt>
                <c:pt idx="6">
                  <c:v>Múltiple</c:v>
                </c:pt>
                <c:pt idx="7">
                  <c:v>Ninguno</c:v>
                </c:pt>
              </c:strCache>
            </c:strRef>
          </c:cat>
          <c:val>
            <c:numRef>
              <c:f>'otros cruces'!$G$295:$G$302</c:f>
              <c:numCache>
                <c:formatCode>General</c:formatCode>
                <c:ptCount val="8"/>
                <c:pt idx="4" formatCode="#,##0.0%">
                  <c:v>5.2631578947368432E-2</c:v>
                </c:pt>
              </c:numCache>
            </c:numRef>
          </c:val>
        </c:ser>
        <c:ser>
          <c:idx val="5"/>
          <c:order val="5"/>
          <c:tx>
            <c:strRef>
              <c:f>'otros cruces'!$H$294</c:f>
              <c:strCache>
                <c:ptCount val="1"/>
                <c:pt idx="0">
                  <c:v>Fístula Rectovaginal</c:v>
                </c:pt>
              </c:strCache>
            </c:strRef>
          </c:tx>
          <c:spPr>
            <a:solidFill>
              <a:srgbClr val="80008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cruces'!$B$295:$B$302</c:f>
              <c:strCache>
                <c:ptCount val="8"/>
                <c:pt idx="0">
                  <c:v>Sepsis</c:v>
                </c:pt>
                <c:pt idx="1">
                  <c:v>Hiperbilirrubinemia</c:v>
                </c:pt>
                <c:pt idx="2">
                  <c:v>Anemia</c:v>
                </c:pt>
                <c:pt idx="3">
                  <c:v>Enterocolitis</c:v>
                </c:pt>
                <c:pt idx="4">
                  <c:v>Dif.  Resp.</c:v>
                </c:pt>
                <c:pt idx="5">
                  <c:v>Insuf.  Renal</c:v>
                </c:pt>
                <c:pt idx="6">
                  <c:v>Múltiple</c:v>
                </c:pt>
                <c:pt idx="7">
                  <c:v>Ninguno</c:v>
                </c:pt>
              </c:strCache>
            </c:strRef>
          </c:cat>
          <c:val>
            <c:numRef>
              <c:f>'otros cruces'!$H$295:$H$302</c:f>
              <c:numCache>
                <c:formatCode>General</c:formatCode>
                <c:ptCount val="8"/>
                <c:pt idx="3" formatCode="#,##0.0%">
                  <c:v>5.2631578947368432E-2</c:v>
                </c:pt>
              </c:numCache>
            </c:numRef>
          </c:val>
        </c:ser>
        <c:shape val="box"/>
        <c:axId val="133641344"/>
        <c:axId val="133643648"/>
        <c:axId val="0"/>
      </c:bar3DChart>
      <c:catAx>
        <c:axId val="133641344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lang="es-BO" sz="1000" b="1" i="0" u="none" strike="noStrike" baseline="0">
                    <a:solidFill>
                      <a:srgbClr val="993300"/>
                    </a:solidFill>
                    <a:latin typeface="Arial Narrow"/>
                    <a:ea typeface="Arial Narrow"/>
                    <a:cs typeface="Arial Narrow"/>
                  </a:defRPr>
                </a:pPr>
                <a:r>
                  <a:rPr lang="en-US"/>
                  <a:t>Otra enfermedad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0" sourceLinked="1"/>
        <c:majorTickMark val="none"/>
        <c:tickLblPos val="nextTo"/>
        <c:txPr>
          <a:bodyPr/>
          <a:lstStyle/>
          <a:p>
            <a:pPr>
              <a:defRPr lang="es-BO" sz="700" b="1"/>
            </a:pPr>
            <a:endParaRPr lang="es-ES"/>
          </a:p>
        </c:txPr>
        <c:crossAx val="133643648"/>
        <c:crosses val="autoZero"/>
        <c:auto val="1"/>
        <c:lblAlgn val="ctr"/>
        <c:lblOffset val="100"/>
      </c:catAx>
      <c:valAx>
        <c:axId val="133643648"/>
        <c:scaling>
          <c:orientation val="minMax"/>
          <c:max val="0.35000000000000031"/>
        </c:scaling>
        <c:axPos val="l"/>
        <c:majorGridlines/>
        <c:title>
          <c:tx>
            <c:rich>
              <a:bodyPr/>
              <a:lstStyle/>
              <a:p>
                <a:pPr>
                  <a:defRPr lang="es-BO">
                    <a:solidFill>
                      <a:srgbClr val="006000"/>
                    </a:solidFill>
                  </a:defRPr>
                </a:pPr>
                <a:r>
                  <a:rPr lang="es-ES">
                    <a:solidFill>
                      <a:srgbClr val="006000"/>
                    </a:solidFill>
                  </a:rPr>
                  <a:t>Porcentaje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%" sourceLinked="1"/>
        <c:tickLblPos val="nextTo"/>
        <c:txPr>
          <a:bodyPr/>
          <a:lstStyle/>
          <a:p>
            <a:pPr>
              <a:defRPr lang="es-BO" sz="800" b="1">
                <a:solidFill>
                  <a:schemeClr val="accent3">
                    <a:lumMod val="50000"/>
                  </a:schemeClr>
                </a:solidFill>
              </a:defRPr>
            </a:pPr>
            <a:endParaRPr lang="es-ES"/>
          </a:p>
        </c:txPr>
        <c:crossAx val="13364134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0034419091353282"/>
          <c:y val="0.25080387474088556"/>
          <c:w val="0.16911915664578173"/>
          <c:h val="0.47438393320612082"/>
        </c:manualLayout>
      </c:layout>
      <c:txPr>
        <a:bodyPr/>
        <a:lstStyle/>
        <a:p>
          <a:pPr>
            <a:defRPr lang="es-BO" sz="700" b="1" i="1"/>
          </a:pPr>
          <a:endParaRPr lang="es-ES"/>
        </a:p>
      </c:txPr>
    </c:legend>
    <c:plotVisOnly val="1"/>
    <c:dispBlanksAs val="gap"/>
  </c:chart>
  <c:spPr>
    <a:blipFill>
      <a:blip xmlns:r="http://schemas.openxmlformats.org/officeDocument/2006/relationships" r:embed="rId1"/>
      <a:stretch>
        <a:fillRect/>
      </a:stretch>
    </a:blipFill>
    <a:scene3d>
      <a:camera prst="orthographicFront"/>
      <a:lightRig rig="threePt" dir="t"/>
    </a:scene3d>
    <a:sp3d prstMaterial="matte">
      <a:bevelT w="127000" h="63500"/>
    </a:sp3d>
  </c:spPr>
  <c:txPr>
    <a:bodyPr/>
    <a:lstStyle/>
    <a:p>
      <a:pPr>
        <a:defRPr>
          <a:latin typeface="Arial Narrow" pitchFamily="34" charset="0"/>
        </a:defRPr>
      </a:pPr>
      <a:endParaRPr lang="es-ES"/>
    </a:p>
  </c:txPr>
  <c:externalData r:id="rId2"/>
  <c:userShapes r:id="rId3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ES"/>
  <c:style val="27"/>
  <c:chart>
    <c:view3D>
      <c:depthPercent val="100"/>
      <c:perspective val="30"/>
    </c:view3D>
    <c:side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</c:sideWall>
    <c:back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  <c:pictureOptions>
        <c:pictureFormat val="stretch"/>
      </c:pictureOptions>
    </c:backWall>
    <c:plotArea>
      <c:layout>
        <c:manualLayout>
          <c:layoutTarget val="inner"/>
          <c:xMode val="edge"/>
          <c:yMode val="edge"/>
          <c:x val="9.1222030981067168E-2"/>
          <c:y val="9.8345904960078223E-2"/>
          <c:w val="0.70567986230637725"/>
          <c:h val="0.6224006683849207"/>
        </c:manualLayout>
      </c:layout>
      <c:bar3DChart>
        <c:barDir val="col"/>
        <c:grouping val="stacked"/>
        <c:ser>
          <c:idx val="0"/>
          <c:order val="0"/>
          <c:tx>
            <c:strRef>
              <c:f>'otros cruces'!$C$294</c:f>
              <c:strCache>
                <c:ptCount val="1"/>
                <c:pt idx="0">
                  <c:v>Ano imperforado</c:v>
                </c:pt>
              </c:strCache>
            </c:strRef>
          </c:tx>
          <c:spPr>
            <a:solidFill>
              <a:srgbClr val="0000FF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dLbl>
              <c:idx val="3"/>
              <c:layout>
                <c:manualLayout>
                  <c:x val="1.0236724248240583E-2"/>
                  <c:y val="6.5789473684210523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lang="es-BO" sz="800" b="1">
                      <a:solidFill>
                        <a:sysClr val="windowText" lastClr="000000"/>
                      </a:solidFill>
                    </a:defRPr>
                  </a:pPr>
                  <a:endParaRPr lang="es-ES"/>
                </a:p>
              </c:txPr>
              <c:showVal val="1"/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lang="es-BO" sz="800" b="1"/>
                </a:pPr>
                <a:endParaRPr lang="es-ES"/>
              </a:p>
            </c:txPr>
            <c:showVal val="1"/>
          </c:dLbls>
          <c:cat>
            <c:strRef>
              <c:f>'otros cruces'!$B$295:$B$298</c:f>
              <c:strCache>
                <c:ptCount val="4"/>
                <c:pt idx="0">
                  <c:v>anoplastia</c:v>
                </c:pt>
                <c:pt idx="1">
                  <c:v>dilatacion de fistula</c:v>
                </c:pt>
                <c:pt idx="2">
                  <c:v>anoplastia y colostomia</c:v>
                </c:pt>
                <c:pt idx="3">
                  <c:v>ninguno</c:v>
                </c:pt>
              </c:strCache>
            </c:strRef>
          </c:cat>
          <c:val>
            <c:numRef>
              <c:f>'otros cruces'!$C$295:$C$298</c:f>
              <c:numCache>
                <c:formatCode>General</c:formatCode>
                <c:ptCount val="4"/>
                <c:pt idx="0" formatCode="#,##0.0%">
                  <c:v>0.21052631578947492</c:v>
                </c:pt>
                <c:pt idx="2" formatCode="#,##0.0%">
                  <c:v>0.10526315789473686</c:v>
                </c:pt>
                <c:pt idx="3" formatCode="#,##0.0%">
                  <c:v>0.26315789473684231</c:v>
                </c:pt>
              </c:numCache>
            </c:numRef>
          </c:val>
        </c:ser>
        <c:ser>
          <c:idx val="1"/>
          <c:order val="1"/>
          <c:tx>
            <c:strRef>
              <c:f>'otros cruces'!$D$294</c:f>
              <c:strCache>
                <c:ptCount val="1"/>
                <c:pt idx="0">
                  <c:v>Fístula Rectovesical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dLbls>
            <c:dLbl>
              <c:idx val="1"/>
              <c:layout>
                <c:manualLayout>
                  <c:x val="1.3605442176870748E-2"/>
                  <c:y val="0"/>
                </c:manualLayout>
              </c:layout>
              <c:showVal val="1"/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lang="es-BO" sz="800" b="1"/>
                </a:pPr>
                <a:endParaRPr lang="es-ES"/>
              </a:p>
            </c:txPr>
            <c:showVal val="1"/>
          </c:dLbls>
          <c:cat>
            <c:strRef>
              <c:f>'otros cruces'!$B$295:$B$298</c:f>
              <c:strCache>
                <c:ptCount val="4"/>
                <c:pt idx="0">
                  <c:v>anoplastia</c:v>
                </c:pt>
                <c:pt idx="1">
                  <c:v>dilatacion de fistula</c:v>
                </c:pt>
                <c:pt idx="2">
                  <c:v>anoplastia y colostomia</c:v>
                </c:pt>
                <c:pt idx="3">
                  <c:v>ninguno</c:v>
                </c:pt>
              </c:strCache>
            </c:strRef>
          </c:cat>
          <c:val>
            <c:numRef>
              <c:f>'otros cruces'!$D$295:$D$298</c:f>
              <c:numCache>
                <c:formatCode>General</c:formatCode>
                <c:ptCount val="4"/>
                <c:pt idx="2" formatCode="#,##0.0%">
                  <c:v>5.2631578947368432E-2</c:v>
                </c:pt>
              </c:numCache>
            </c:numRef>
          </c:val>
        </c:ser>
        <c:ser>
          <c:idx val="2"/>
          <c:order val="2"/>
          <c:tx>
            <c:strRef>
              <c:f>'otros cruces'!$E$294</c:f>
              <c:strCache>
                <c:ptCount val="1"/>
                <c:pt idx="0">
                  <c:v>Fístula Vestibular</c:v>
                </c:pt>
              </c:strCache>
            </c:strRef>
          </c:tx>
          <c:spPr>
            <a:solidFill>
              <a:srgbClr val="FFFF0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lang="es-BO" sz="800" b="1"/>
                </a:pPr>
                <a:endParaRPr lang="es-ES"/>
              </a:p>
            </c:txPr>
            <c:showVal val="1"/>
          </c:dLbls>
          <c:cat>
            <c:strRef>
              <c:f>'otros cruces'!$B$295:$B$298</c:f>
              <c:strCache>
                <c:ptCount val="4"/>
                <c:pt idx="0">
                  <c:v>anoplastia</c:v>
                </c:pt>
                <c:pt idx="1">
                  <c:v>dilatacion de fistula</c:v>
                </c:pt>
                <c:pt idx="2">
                  <c:v>anoplastia y colostomia</c:v>
                </c:pt>
                <c:pt idx="3">
                  <c:v>ninguno</c:v>
                </c:pt>
              </c:strCache>
            </c:strRef>
          </c:cat>
          <c:val>
            <c:numRef>
              <c:f>'otros cruces'!$E$295:$E$298</c:f>
              <c:numCache>
                <c:formatCode>#,##0.0%</c:formatCode>
                <c:ptCount val="4"/>
                <c:pt idx="1">
                  <c:v>0.10526315789473686</c:v>
                </c:pt>
              </c:numCache>
            </c:numRef>
          </c:val>
        </c:ser>
        <c:ser>
          <c:idx val="3"/>
          <c:order val="3"/>
          <c:tx>
            <c:strRef>
              <c:f>'otros cruces'!$F$294</c:f>
              <c:strCache>
                <c:ptCount val="1"/>
                <c:pt idx="0">
                  <c:v>Fístula Escrotal</c:v>
                </c:pt>
              </c:strCache>
            </c:strRef>
          </c:tx>
          <c:spPr>
            <a:solidFill>
              <a:srgbClr val="00800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cruces'!$B$295:$B$298</c:f>
              <c:strCache>
                <c:ptCount val="4"/>
                <c:pt idx="0">
                  <c:v>anoplastia</c:v>
                </c:pt>
                <c:pt idx="1">
                  <c:v>dilatacion de fistula</c:v>
                </c:pt>
                <c:pt idx="2">
                  <c:v>anoplastia y colostomia</c:v>
                </c:pt>
                <c:pt idx="3">
                  <c:v>ninguno</c:v>
                </c:pt>
              </c:strCache>
            </c:strRef>
          </c:cat>
          <c:val>
            <c:numRef>
              <c:f>'otros cruces'!$F$295:$F$298</c:f>
              <c:numCache>
                <c:formatCode>#,##0.0%</c:formatCode>
                <c:ptCount val="4"/>
                <c:pt idx="1">
                  <c:v>5.2631578947368432E-2</c:v>
                </c:pt>
              </c:numCache>
            </c:numRef>
          </c:val>
        </c:ser>
        <c:ser>
          <c:idx val="4"/>
          <c:order val="4"/>
          <c:tx>
            <c:strRef>
              <c:f>'otros cruces'!$G$294</c:f>
              <c:strCache>
                <c:ptCount val="1"/>
                <c:pt idx="0">
                  <c:v>Fístula Vestíbulouretral</c:v>
                </c:pt>
              </c:strCache>
            </c:strRef>
          </c:tx>
          <c:spPr>
            <a:solidFill>
              <a:srgbClr val="FF00FF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cruces'!$B$295:$B$298</c:f>
              <c:strCache>
                <c:ptCount val="4"/>
                <c:pt idx="0">
                  <c:v>anoplastia</c:v>
                </c:pt>
                <c:pt idx="1">
                  <c:v>dilatacion de fistula</c:v>
                </c:pt>
                <c:pt idx="2">
                  <c:v>anoplastia y colostomia</c:v>
                </c:pt>
                <c:pt idx="3">
                  <c:v>ninguno</c:v>
                </c:pt>
              </c:strCache>
            </c:strRef>
          </c:cat>
          <c:val>
            <c:numRef>
              <c:f>'otros cruces'!$G$295:$G$298</c:f>
              <c:numCache>
                <c:formatCode>General</c:formatCode>
                <c:ptCount val="4"/>
                <c:pt idx="3" formatCode="#,##0.0%">
                  <c:v>5.2631578947368432E-2</c:v>
                </c:pt>
              </c:numCache>
            </c:numRef>
          </c:val>
        </c:ser>
        <c:ser>
          <c:idx val="5"/>
          <c:order val="5"/>
          <c:tx>
            <c:strRef>
              <c:f>'otros cruces'!$H$294</c:f>
              <c:strCache>
                <c:ptCount val="1"/>
                <c:pt idx="0">
                  <c:v>Fístula Rectovaginal</c:v>
                </c:pt>
              </c:strCache>
            </c:strRef>
          </c:tx>
          <c:spPr>
            <a:solidFill>
              <a:srgbClr val="80008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cruces'!$B$295:$B$298</c:f>
              <c:strCache>
                <c:ptCount val="4"/>
                <c:pt idx="0">
                  <c:v>anoplastia</c:v>
                </c:pt>
                <c:pt idx="1">
                  <c:v>dilatacion de fistula</c:v>
                </c:pt>
                <c:pt idx="2">
                  <c:v>anoplastia y colostomia</c:v>
                </c:pt>
                <c:pt idx="3">
                  <c:v>ninguno</c:v>
                </c:pt>
              </c:strCache>
            </c:strRef>
          </c:cat>
          <c:val>
            <c:numRef>
              <c:f>'otros cruces'!$H$295:$H$298</c:f>
              <c:numCache>
                <c:formatCode>General</c:formatCode>
                <c:ptCount val="4"/>
                <c:pt idx="3" formatCode="#,##0.0%">
                  <c:v>5.2631578947368432E-2</c:v>
                </c:pt>
              </c:numCache>
            </c:numRef>
          </c:val>
        </c:ser>
        <c:shape val="box"/>
        <c:axId val="138420992"/>
        <c:axId val="138422912"/>
        <c:axId val="0"/>
      </c:bar3DChart>
      <c:catAx>
        <c:axId val="138420992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lang="es-BO" sz="1000" b="1" i="0" u="none" strike="noStrike" baseline="0">
                    <a:solidFill>
                      <a:srgbClr val="993300"/>
                    </a:solidFill>
                    <a:latin typeface="Arial Narrow"/>
                    <a:ea typeface="Arial Narrow"/>
                    <a:cs typeface="Arial Narrow"/>
                  </a:defRPr>
                </a:pPr>
                <a:r>
                  <a:rPr lang="es-BO"/>
                  <a:t>tratamiento recibido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0" sourceLinked="1"/>
        <c:majorTickMark val="none"/>
        <c:tickLblPos val="nextTo"/>
        <c:txPr>
          <a:bodyPr/>
          <a:lstStyle/>
          <a:p>
            <a:pPr>
              <a:defRPr lang="es-BO" sz="700" b="1"/>
            </a:pPr>
            <a:endParaRPr lang="es-ES"/>
          </a:p>
        </c:txPr>
        <c:crossAx val="138422912"/>
        <c:crosses val="autoZero"/>
        <c:auto val="1"/>
        <c:lblAlgn val="ctr"/>
        <c:lblOffset val="100"/>
      </c:catAx>
      <c:valAx>
        <c:axId val="138422912"/>
        <c:scaling>
          <c:orientation val="minMax"/>
          <c:max val="0.4"/>
        </c:scaling>
        <c:axPos val="l"/>
        <c:majorGridlines/>
        <c:title>
          <c:tx>
            <c:rich>
              <a:bodyPr/>
              <a:lstStyle/>
              <a:p>
                <a:pPr>
                  <a:defRPr lang="es-BO">
                    <a:solidFill>
                      <a:srgbClr val="006000"/>
                    </a:solidFill>
                  </a:defRPr>
                </a:pPr>
                <a:r>
                  <a:rPr lang="es-ES">
                    <a:solidFill>
                      <a:srgbClr val="006000"/>
                    </a:solidFill>
                  </a:rPr>
                  <a:t>Porcentaje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%" sourceLinked="1"/>
        <c:tickLblPos val="nextTo"/>
        <c:txPr>
          <a:bodyPr/>
          <a:lstStyle/>
          <a:p>
            <a:pPr>
              <a:defRPr lang="es-BO" sz="800" b="1">
                <a:solidFill>
                  <a:schemeClr val="accent3">
                    <a:lumMod val="50000"/>
                  </a:schemeClr>
                </a:solidFill>
              </a:defRPr>
            </a:pPr>
            <a:endParaRPr lang="es-ES"/>
          </a:p>
        </c:txPr>
        <c:crossAx val="138420992"/>
        <c:crosses val="autoZero"/>
        <c:crossBetween val="between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80034419091353282"/>
          <c:y val="0.25080387474088506"/>
          <c:w val="0.1691191566457817"/>
          <c:h val="0.5474548564312347"/>
        </c:manualLayout>
      </c:layout>
      <c:txPr>
        <a:bodyPr/>
        <a:lstStyle/>
        <a:p>
          <a:pPr>
            <a:defRPr lang="es-BO" sz="700" b="1" i="1"/>
          </a:pPr>
          <a:endParaRPr lang="es-ES"/>
        </a:p>
      </c:txPr>
    </c:legend>
    <c:plotVisOnly val="1"/>
    <c:dispBlanksAs val="gap"/>
  </c:chart>
  <c:spPr>
    <a:blipFill>
      <a:blip xmlns:r="http://schemas.openxmlformats.org/officeDocument/2006/relationships" r:embed="rId1"/>
      <a:stretch>
        <a:fillRect/>
      </a:stretch>
    </a:blipFill>
    <a:scene3d>
      <a:camera prst="orthographicFront"/>
      <a:lightRig rig="threePt" dir="t"/>
    </a:scene3d>
    <a:sp3d prstMaterial="matte">
      <a:bevelT w="127000" h="63500"/>
    </a:sp3d>
  </c:spPr>
  <c:txPr>
    <a:bodyPr/>
    <a:lstStyle/>
    <a:p>
      <a:pPr>
        <a:defRPr>
          <a:latin typeface="Arial Narrow" pitchFamily="34" charset="0"/>
        </a:defRPr>
      </a:pPr>
      <a:endParaRPr lang="es-ES"/>
    </a:p>
  </c:txPr>
  <c:externalData r:id="rId2"/>
  <c:userShapes r:id="rId3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ES"/>
  <c:style val="27"/>
  <c:chart>
    <c:view3D>
      <c:depthPercent val="100"/>
      <c:perspective val="30"/>
    </c:view3D>
    <c:side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</c:sideWall>
    <c:back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  <c:pictureOptions>
        <c:pictureFormat val="stretch"/>
      </c:pictureOptions>
    </c:backWall>
    <c:plotArea>
      <c:layout>
        <c:manualLayout>
          <c:layoutTarget val="inner"/>
          <c:xMode val="edge"/>
          <c:yMode val="edge"/>
          <c:x val="9.90799580374047E-2"/>
          <c:y val="7.330139869631741E-2"/>
          <c:w val="0.70567986230637947"/>
          <c:h val="0.64203786911812255"/>
        </c:manualLayout>
      </c:layout>
      <c:bar3DChart>
        <c:barDir val="col"/>
        <c:grouping val="stacked"/>
        <c:ser>
          <c:idx val="0"/>
          <c:order val="0"/>
          <c:tx>
            <c:strRef>
              <c:f>'otros cruces'!$C$294</c:f>
              <c:strCache>
                <c:ptCount val="1"/>
                <c:pt idx="0">
                  <c:v>Ano imperforado</c:v>
                </c:pt>
              </c:strCache>
            </c:strRef>
          </c:tx>
          <c:spPr>
            <a:solidFill>
              <a:srgbClr val="0000FF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dLbl>
              <c:idx val="3"/>
              <c:layout>
                <c:manualLayout>
                  <c:x val="2.7492734924214628E-5"/>
                  <c:y val="3.4285588688912679E-3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lang="es-BO" sz="800" b="1">
                      <a:solidFill>
                        <a:sysClr val="windowText" lastClr="000000"/>
                      </a:solidFill>
                    </a:defRPr>
                  </a:pPr>
                  <a:endParaRPr lang="es-ES"/>
                </a:p>
              </c:txPr>
              <c:showVal val="1"/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lang="es-BO" sz="800" b="1"/>
                </a:pPr>
                <a:endParaRPr lang="es-ES"/>
              </a:p>
            </c:txPr>
            <c:showVal val="1"/>
          </c:dLbls>
          <c:cat>
            <c:strRef>
              <c:f>'otros cruces'!$B$295:$B$297</c:f>
              <c:strCache>
                <c:ptCount val="3"/>
                <c:pt idx="0">
                  <c:v>alta con control</c:v>
                </c:pt>
                <c:pt idx="1">
                  <c:v>alta solicitada</c:v>
                </c:pt>
                <c:pt idx="2">
                  <c:v>fallece</c:v>
                </c:pt>
              </c:strCache>
            </c:strRef>
          </c:cat>
          <c:val>
            <c:numRef>
              <c:f>'otros cruces'!$C$295:$C$297</c:f>
              <c:numCache>
                <c:formatCode>#,##0.0%</c:formatCode>
                <c:ptCount val="3"/>
                <c:pt idx="0">
                  <c:v>0.42105263157895023</c:v>
                </c:pt>
                <c:pt idx="1">
                  <c:v>0.10526315789473686</c:v>
                </c:pt>
                <c:pt idx="2">
                  <c:v>0.15789473684210792</c:v>
                </c:pt>
              </c:numCache>
            </c:numRef>
          </c:val>
        </c:ser>
        <c:ser>
          <c:idx val="1"/>
          <c:order val="1"/>
          <c:tx>
            <c:strRef>
              <c:f>'otros cruces'!$D$294</c:f>
              <c:strCache>
                <c:ptCount val="1"/>
                <c:pt idx="0">
                  <c:v>Fístula Rectovesical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cruces'!$B$295:$B$297</c:f>
              <c:strCache>
                <c:ptCount val="3"/>
                <c:pt idx="0">
                  <c:v>alta con control</c:v>
                </c:pt>
                <c:pt idx="1">
                  <c:v>alta solicitada</c:v>
                </c:pt>
                <c:pt idx="2">
                  <c:v>fallece</c:v>
                </c:pt>
              </c:strCache>
            </c:strRef>
          </c:cat>
          <c:val>
            <c:numRef>
              <c:f>'otros cruces'!$D$295:$D$297</c:f>
              <c:numCache>
                <c:formatCode>General</c:formatCode>
                <c:ptCount val="3"/>
                <c:pt idx="0" formatCode="#,##0.0%">
                  <c:v>5.2631578947368432E-2</c:v>
                </c:pt>
              </c:numCache>
            </c:numRef>
          </c:val>
        </c:ser>
        <c:ser>
          <c:idx val="2"/>
          <c:order val="2"/>
          <c:tx>
            <c:strRef>
              <c:f>'otros cruces'!$E$294</c:f>
              <c:strCache>
                <c:ptCount val="1"/>
                <c:pt idx="0">
                  <c:v>Fístula Vestibular</c:v>
                </c:pt>
              </c:strCache>
            </c:strRef>
          </c:tx>
          <c:spPr>
            <a:solidFill>
              <a:srgbClr val="FFFF0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cruces'!$B$295:$B$297</c:f>
              <c:strCache>
                <c:ptCount val="3"/>
                <c:pt idx="0">
                  <c:v>alta con control</c:v>
                </c:pt>
                <c:pt idx="1">
                  <c:v>alta solicitada</c:v>
                </c:pt>
                <c:pt idx="2">
                  <c:v>fallece</c:v>
                </c:pt>
              </c:strCache>
            </c:strRef>
          </c:cat>
          <c:val>
            <c:numRef>
              <c:f>'otros cruces'!$E$295:$E$297</c:f>
              <c:numCache>
                <c:formatCode>General</c:formatCode>
                <c:ptCount val="3"/>
                <c:pt idx="0" formatCode="#,##0.0%">
                  <c:v>0.10526315789473686</c:v>
                </c:pt>
              </c:numCache>
            </c:numRef>
          </c:val>
        </c:ser>
        <c:ser>
          <c:idx val="3"/>
          <c:order val="3"/>
          <c:tx>
            <c:strRef>
              <c:f>'otros cruces'!$F$294</c:f>
              <c:strCache>
                <c:ptCount val="1"/>
                <c:pt idx="0">
                  <c:v>Fístula Escrotal</c:v>
                </c:pt>
              </c:strCache>
            </c:strRef>
          </c:tx>
          <c:spPr>
            <a:solidFill>
              <a:srgbClr val="00800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cruces'!$B$295:$B$297</c:f>
              <c:strCache>
                <c:ptCount val="3"/>
                <c:pt idx="0">
                  <c:v>alta con control</c:v>
                </c:pt>
                <c:pt idx="1">
                  <c:v>alta solicitada</c:v>
                </c:pt>
                <c:pt idx="2">
                  <c:v>fallece</c:v>
                </c:pt>
              </c:strCache>
            </c:strRef>
          </c:cat>
          <c:val>
            <c:numRef>
              <c:f>'otros cruces'!$F$295:$F$297</c:f>
              <c:numCache>
                <c:formatCode>General</c:formatCode>
                <c:ptCount val="3"/>
                <c:pt idx="0" formatCode="#,##0.0%">
                  <c:v>5.2631578947368432E-2</c:v>
                </c:pt>
              </c:numCache>
            </c:numRef>
          </c:val>
        </c:ser>
        <c:ser>
          <c:idx val="4"/>
          <c:order val="4"/>
          <c:tx>
            <c:strRef>
              <c:f>'otros cruces'!$G$294</c:f>
              <c:strCache>
                <c:ptCount val="1"/>
                <c:pt idx="0">
                  <c:v>Fístula Vestíbulouretral</c:v>
                </c:pt>
              </c:strCache>
            </c:strRef>
          </c:tx>
          <c:spPr>
            <a:solidFill>
              <a:srgbClr val="FF00FF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cruces'!$B$295:$B$297</c:f>
              <c:strCache>
                <c:ptCount val="3"/>
                <c:pt idx="0">
                  <c:v>alta con control</c:v>
                </c:pt>
                <c:pt idx="1">
                  <c:v>alta solicitada</c:v>
                </c:pt>
                <c:pt idx="2">
                  <c:v>fallece</c:v>
                </c:pt>
              </c:strCache>
            </c:strRef>
          </c:cat>
          <c:val>
            <c:numRef>
              <c:f>'otros cruces'!$G$295:$G$297</c:f>
              <c:numCache>
                <c:formatCode>#,##0.0%</c:formatCode>
                <c:ptCount val="3"/>
                <c:pt idx="1">
                  <c:v>5.2631578947368432E-2</c:v>
                </c:pt>
              </c:numCache>
            </c:numRef>
          </c:val>
        </c:ser>
        <c:ser>
          <c:idx val="5"/>
          <c:order val="5"/>
          <c:tx>
            <c:strRef>
              <c:f>'otros cruces'!$H$294</c:f>
              <c:strCache>
                <c:ptCount val="1"/>
                <c:pt idx="0">
                  <c:v>Fístula Rectovaginal</c:v>
                </c:pt>
              </c:strCache>
            </c:strRef>
          </c:tx>
          <c:spPr>
            <a:solidFill>
              <a:srgbClr val="80008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cruces'!$B$295:$B$297</c:f>
              <c:strCache>
                <c:ptCount val="3"/>
                <c:pt idx="0">
                  <c:v>alta con control</c:v>
                </c:pt>
                <c:pt idx="1">
                  <c:v>alta solicitada</c:v>
                </c:pt>
                <c:pt idx="2">
                  <c:v>fallece</c:v>
                </c:pt>
              </c:strCache>
            </c:strRef>
          </c:cat>
          <c:val>
            <c:numRef>
              <c:f>'otros cruces'!$H$295:$H$297</c:f>
              <c:numCache>
                <c:formatCode>#,##0.0%</c:formatCode>
                <c:ptCount val="3"/>
                <c:pt idx="1">
                  <c:v>5.2631578947368432E-2</c:v>
                </c:pt>
              </c:numCache>
            </c:numRef>
          </c:val>
        </c:ser>
        <c:shape val="box"/>
        <c:axId val="138450816"/>
        <c:axId val="138716672"/>
        <c:axId val="0"/>
      </c:bar3DChart>
      <c:catAx>
        <c:axId val="138450816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lang="es-BO" sz="1000" b="1" i="0" u="none" strike="noStrike" baseline="0">
                    <a:solidFill>
                      <a:srgbClr val="993300"/>
                    </a:solidFill>
                    <a:latin typeface="Arial Narrow"/>
                    <a:ea typeface="Arial Narrow"/>
                    <a:cs typeface="Arial Narrow"/>
                  </a:defRPr>
                </a:pPr>
                <a:r>
                  <a:rPr lang="en-US"/>
                  <a:t>Condición de egreso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0" sourceLinked="1"/>
        <c:majorTickMark val="none"/>
        <c:tickLblPos val="nextTo"/>
        <c:txPr>
          <a:bodyPr/>
          <a:lstStyle/>
          <a:p>
            <a:pPr>
              <a:defRPr lang="es-BO" sz="700" b="1"/>
            </a:pPr>
            <a:endParaRPr lang="es-ES"/>
          </a:p>
        </c:txPr>
        <c:crossAx val="138716672"/>
        <c:crosses val="autoZero"/>
        <c:auto val="1"/>
        <c:lblAlgn val="ctr"/>
        <c:lblOffset val="100"/>
      </c:catAx>
      <c:valAx>
        <c:axId val="138716672"/>
        <c:scaling>
          <c:orientation val="minMax"/>
          <c:max val="0.70000000000000062"/>
          <c:min val="0"/>
        </c:scaling>
        <c:axPos val="l"/>
        <c:majorGridlines/>
        <c:title>
          <c:tx>
            <c:rich>
              <a:bodyPr/>
              <a:lstStyle/>
              <a:p>
                <a:pPr>
                  <a:defRPr lang="es-BO">
                    <a:solidFill>
                      <a:srgbClr val="006000"/>
                    </a:solidFill>
                  </a:defRPr>
                </a:pPr>
                <a:r>
                  <a:rPr lang="es-ES">
                    <a:solidFill>
                      <a:srgbClr val="006000"/>
                    </a:solidFill>
                  </a:rPr>
                  <a:t>Porcentaje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%" sourceLinked="1"/>
        <c:tickLblPos val="nextTo"/>
        <c:txPr>
          <a:bodyPr/>
          <a:lstStyle/>
          <a:p>
            <a:pPr>
              <a:defRPr lang="es-BO" sz="800" b="1">
                <a:solidFill>
                  <a:schemeClr val="accent3">
                    <a:lumMod val="50000"/>
                  </a:schemeClr>
                </a:solidFill>
              </a:defRPr>
            </a:pPr>
            <a:endParaRPr lang="es-ES"/>
          </a:p>
        </c:txPr>
        <c:crossAx val="13845081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0034419091353282"/>
          <c:y val="0.25080387474088556"/>
          <c:w val="0.16911915664578173"/>
          <c:h val="0.58776260110343337"/>
        </c:manualLayout>
      </c:layout>
      <c:txPr>
        <a:bodyPr/>
        <a:lstStyle/>
        <a:p>
          <a:pPr>
            <a:defRPr lang="es-BO" sz="700" b="1" i="1"/>
          </a:pPr>
          <a:endParaRPr lang="es-ES"/>
        </a:p>
      </c:txPr>
    </c:legend>
    <c:plotVisOnly val="1"/>
    <c:dispBlanksAs val="gap"/>
  </c:chart>
  <c:spPr>
    <a:blipFill>
      <a:blip xmlns:r="http://schemas.openxmlformats.org/officeDocument/2006/relationships" r:embed="rId1"/>
      <a:stretch>
        <a:fillRect/>
      </a:stretch>
    </a:blipFill>
    <a:scene3d>
      <a:camera prst="orthographicFront"/>
      <a:lightRig rig="threePt" dir="t"/>
    </a:scene3d>
    <a:sp3d prstMaterial="matte">
      <a:bevelT w="127000" h="63500"/>
    </a:sp3d>
  </c:spPr>
  <c:txPr>
    <a:bodyPr/>
    <a:lstStyle/>
    <a:p>
      <a:pPr>
        <a:defRPr>
          <a:latin typeface="Arial Narrow" pitchFamily="34" charset="0"/>
        </a:defRPr>
      </a:pPr>
      <a:endParaRPr lang="es-ES"/>
    </a:p>
  </c:txPr>
  <c:externalData r:id="rId2"/>
  <c:userShapes r:id="rId3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ES"/>
  <c:style val="27"/>
  <c:chart>
    <c:view3D>
      <c:depthPercent val="100"/>
      <c:perspective val="30"/>
    </c:view3D>
    <c:side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</c:sideWall>
    <c:back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  <c:pictureOptions>
        <c:pictureFormat val="stretch"/>
      </c:pictureOptions>
    </c:backWall>
    <c:plotArea>
      <c:layout>
        <c:manualLayout>
          <c:layoutTarget val="inner"/>
          <c:xMode val="edge"/>
          <c:yMode val="edge"/>
          <c:x val="9.90799580374047E-2"/>
          <c:y val="6.9362042786247094E-2"/>
          <c:w val="0.70567986230637947"/>
          <c:h val="0.70413993552820042"/>
        </c:manualLayout>
      </c:layout>
      <c:bar3DChart>
        <c:barDir val="col"/>
        <c:grouping val="stacked"/>
        <c:ser>
          <c:idx val="0"/>
          <c:order val="0"/>
          <c:tx>
            <c:strRef>
              <c:f>'otros cruces'!$C$294</c:f>
              <c:strCache>
                <c:ptCount val="1"/>
                <c:pt idx="0">
                  <c:v>Ano imperforado</c:v>
                </c:pt>
              </c:strCache>
            </c:strRef>
          </c:tx>
          <c:spPr>
            <a:solidFill>
              <a:srgbClr val="0000FF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dLbl>
              <c:idx val="3"/>
              <c:layout>
                <c:manualLayout>
                  <c:x val="2.7492734924214628E-5"/>
                  <c:y val="3.4285588688912679E-3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lang="es-BO" sz="800" b="1">
                      <a:solidFill>
                        <a:sysClr val="windowText" lastClr="000000"/>
                      </a:solidFill>
                    </a:defRPr>
                  </a:pPr>
                  <a:endParaRPr lang="es-ES"/>
                </a:p>
              </c:txPr>
              <c:showVal val="1"/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lang="es-BO" sz="800" b="1"/>
                </a:pPr>
                <a:endParaRPr lang="es-ES"/>
              </a:p>
            </c:txPr>
            <c:showVal val="1"/>
          </c:dLbls>
          <c:cat>
            <c:strRef>
              <c:f>'otros cruces'!$B$295:$B$298</c:f>
              <c:strCache>
                <c:ptCount val="4"/>
                <c:pt idx="0">
                  <c:v>15 a 20 años</c:v>
                </c:pt>
                <c:pt idx="1">
                  <c:v>21 a 25 años</c:v>
                </c:pt>
                <c:pt idx="2">
                  <c:v>26 a 30 años</c:v>
                </c:pt>
                <c:pt idx="3">
                  <c:v>30 a mas años</c:v>
                </c:pt>
              </c:strCache>
            </c:strRef>
          </c:cat>
          <c:val>
            <c:numRef>
              <c:f>'otros cruces'!$C$295:$C$298</c:f>
              <c:numCache>
                <c:formatCode>#,##0.0%</c:formatCode>
                <c:ptCount val="4"/>
                <c:pt idx="0">
                  <c:v>5.2631578947368432E-2</c:v>
                </c:pt>
                <c:pt idx="1">
                  <c:v>0.10526315789473686</c:v>
                </c:pt>
                <c:pt idx="2">
                  <c:v>0.21052631578947523</c:v>
                </c:pt>
                <c:pt idx="3">
                  <c:v>0.31578947368421623</c:v>
                </c:pt>
              </c:numCache>
            </c:numRef>
          </c:val>
        </c:ser>
        <c:ser>
          <c:idx val="1"/>
          <c:order val="1"/>
          <c:tx>
            <c:strRef>
              <c:f>'otros cruces'!$D$294</c:f>
              <c:strCache>
                <c:ptCount val="1"/>
                <c:pt idx="0">
                  <c:v>Fístula Rectovesical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cruces'!$B$295:$B$298</c:f>
              <c:strCache>
                <c:ptCount val="4"/>
                <c:pt idx="0">
                  <c:v>15 a 20 años</c:v>
                </c:pt>
                <c:pt idx="1">
                  <c:v>21 a 25 años</c:v>
                </c:pt>
                <c:pt idx="2">
                  <c:v>26 a 30 años</c:v>
                </c:pt>
                <c:pt idx="3">
                  <c:v>30 a mas años</c:v>
                </c:pt>
              </c:strCache>
            </c:strRef>
          </c:cat>
          <c:val>
            <c:numRef>
              <c:f>'otros cruces'!$D$295:$D$298</c:f>
              <c:numCache>
                <c:formatCode>General</c:formatCode>
                <c:ptCount val="4"/>
                <c:pt idx="3" formatCode="#,##0.0%">
                  <c:v>5.2631578947368432E-2</c:v>
                </c:pt>
              </c:numCache>
            </c:numRef>
          </c:val>
        </c:ser>
        <c:ser>
          <c:idx val="2"/>
          <c:order val="2"/>
          <c:tx>
            <c:strRef>
              <c:f>'otros cruces'!$E$294</c:f>
              <c:strCache>
                <c:ptCount val="1"/>
                <c:pt idx="0">
                  <c:v>Fístula Vestibular</c:v>
                </c:pt>
              </c:strCache>
            </c:strRef>
          </c:tx>
          <c:spPr>
            <a:solidFill>
              <a:srgbClr val="FFFF0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cruces'!$B$295:$B$298</c:f>
              <c:strCache>
                <c:ptCount val="4"/>
                <c:pt idx="0">
                  <c:v>15 a 20 años</c:v>
                </c:pt>
                <c:pt idx="1">
                  <c:v>21 a 25 años</c:v>
                </c:pt>
                <c:pt idx="2">
                  <c:v>26 a 30 años</c:v>
                </c:pt>
                <c:pt idx="3">
                  <c:v>30 a mas años</c:v>
                </c:pt>
              </c:strCache>
            </c:strRef>
          </c:cat>
          <c:val>
            <c:numRef>
              <c:f>'otros cruces'!$E$295:$E$298</c:f>
              <c:numCache>
                <c:formatCode>General</c:formatCode>
                <c:ptCount val="4"/>
                <c:pt idx="2" formatCode="#,##0.0%">
                  <c:v>0.10526315789473686</c:v>
                </c:pt>
              </c:numCache>
            </c:numRef>
          </c:val>
        </c:ser>
        <c:ser>
          <c:idx val="3"/>
          <c:order val="3"/>
          <c:tx>
            <c:strRef>
              <c:f>'otros cruces'!$F$294</c:f>
              <c:strCache>
                <c:ptCount val="1"/>
                <c:pt idx="0">
                  <c:v>Fístula Escrotal</c:v>
                </c:pt>
              </c:strCache>
            </c:strRef>
          </c:tx>
          <c:spPr>
            <a:solidFill>
              <a:srgbClr val="00800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cruces'!$B$295:$B$298</c:f>
              <c:strCache>
                <c:ptCount val="4"/>
                <c:pt idx="0">
                  <c:v>15 a 20 años</c:v>
                </c:pt>
                <c:pt idx="1">
                  <c:v>21 a 25 años</c:v>
                </c:pt>
                <c:pt idx="2">
                  <c:v>26 a 30 años</c:v>
                </c:pt>
                <c:pt idx="3">
                  <c:v>30 a mas años</c:v>
                </c:pt>
              </c:strCache>
            </c:strRef>
          </c:cat>
          <c:val>
            <c:numRef>
              <c:f>'otros cruces'!$F$295:$F$298</c:f>
              <c:numCache>
                <c:formatCode>General</c:formatCode>
                <c:ptCount val="4"/>
                <c:pt idx="3" formatCode="#,##0.0%">
                  <c:v>5.2631578947368432E-2</c:v>
                </c:pt>
              </c:numCache>
            </c:numRef>
          </c:val>
        </c:ser>
        <c:ser>
          <c:idx val="4"/>
          <c:order val="4"/>
          <c:tx>
            <c:strRef>
              <c:f>'otros cruces'!$G$294</c:f>
              <c:strCache>
                <c:ptCount val="1"/>
                <c:pt idx="0">
                  <c:v>Fístula Vestíbulouretral</c:v>
                </c:pt>
              </c:strCache>
            </c:strRef>
          </c:tx>
          <c:spPr>
            <a:solidFill>
              <a:srgbClr val="FF00FF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cruces'!$B$295:$B$298</c:f>
              <c:strCache>
                <c:ptCount val="4"/>
                <c:pt idx="0">
                  <c:v>15 a 20 años</c:v>
                </c:pt>
                <c:pt idx="1">
                  <c:v>21 a 25 años</c:v>
                </c:pt>
                <c:pt idx="2">
                  <c:v>26 a 30 años</c:v>
                </c:pt>
                <c:pt idx="3">
                  <c:v>30 a mas años</c:v>
                </c:pt>
              </c:strCache>
            </c:strRef>
          </c:cat>
          <c:val>
            <c:numRef>
              <c:f>'otros cruces'!$G$295:$G$298</c:f>
              <c:numCache>
                <c:formatCode>#,##0.0%</c:formatCode>
                <c:ptCount val="4"/>
                <c:pt idx="1">
                  <c:v>5.2631578947368432E-2</c:v>
                </c:pt>
              </c:numCache>
            </c:numRef>
          </c:val>
        </c:ser>
        <c:ser>
          <c:idx val="5"/>
          <c:order val="5"/>
          <c:tx>
            <c:strRef>
              <c:f>'otros cruces'!$H$294</c:f>
              <c:strCache>
                <c:ptCount val="1"/>
                <c:pt idx="0">
                  <c:v>Fístula Rectovaginal</c:v>
                </c:pt>
              </c:strCache>
            </c:strRef>
          </c:tx>
          <c:spPr>
            <a:solidFill>
              <a:srgbClr val="80008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cruces'!$B$295:$B$298</c:f>
              <c:strCache>
                <c:ptCount val="4"/>
                <c:pt idx="0">
                  <c:v>15 a 20 años</c:v>
                </c:pt>
                <c:pt idx="1">
                  <c:v>21 a 25 años</c:v>
                </c:pt>
                <c:pt idx="2">
                  <c:v>26 a 30 años</c:v>
                </c:pt>
                <c:pt idx="3">
                  <c:v>30 a mas años</c:v>
                </c:pt>
              </c:strCache>
            </c:strRef>
          </c:cat>
          <c:val>
            <c:numRef>
              <c:f>'otros cruces'!$H$295:$H$298</c:f>
              <c:numCache>
                <c:formatCode>General</c:formatCode>
                <c:ptCount val="4"/>
                <c:pt idx="2" formatCode="#,##0.0%">
                  <c:v>5.2631578947368432E-2</c:v>
                </c:pt>
              </c:numCache>
            </c:numRef>
          </c:val>
        </c:ser>
        <c:shape val="box"/>
        <c:axId val="138707712"/>
        <c:axId val="138715136"/>
        <c:axId val="0"/>
      </c:bar3DChart>
      <c:catAx>
        <c:axId val="138707712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lang="es-BO" sz="1000" b="1" i="0" u="none" strike="noStrike" baseline="0">
                    <a:solidFill>
                      <a:srgbClr val="993300"/>
                    </a:solidFill>
                    <a:latin typeface="Arial Narrow"/>
                    <a:ea typeface="Arial Narrow"/>
                    <a:cs typeface="Arial Narrow"/>
                  </a:defRPr>
                </a:pPr>
                <a:r>
                  <a:rPr lang="en-US"/>
                  <a:t>Edad materna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0" sourceLinked="1"/>
        <c:majorTickMark val="none"/>
        <c:tickLblPos val="nextTo"/>
        <c:txPr>
          <a:bodyPr/>
          <a:lstStyle/>
          <a:p>
            <a:pPr>
              <a:defRPr lang="es-BO" sz="700" b="1"/>
            </a:pPr>
            <a:endParaRPr lang="es-ES"/>
          </a:p>
        </c:txPr>
        <c:crossAx val="138715136"/>
        <c:crosses val="autoZero"/>
        <c:auto val="1"/>
        <c:lblAlgn val="ctr"/>
        <c:lblOffset val="100"/>
      </c:catAx>
      <c:valAx>
        <c:axId val="138715136"/>
        <c:scaling>
          <c:orientation val="minMax"/>
          <c:max val="0.45"/>
        </c:scaling>
        <c:axPos val="l"/>
        <c:majorGridlines/>
        <c:title>
          <c:tx>
            <c:rich>
              <a:bodyPr/>
              <a:lstStyle/>
              <a:p>
                <a:pPr>
                  <a:defRPr lang="es-BO">
                    <a:solidFill>
                      <a:srgbClr val="006000"/>
                    </a:solidFill>
                  </a:defRPr>
                </a:pPr>
                <a:r>
                  <a:rPr lang="es-ES">
                    <a:solidFill>
                      <a:srgbClr val="006000"/>
                    </a:solidFill>
                  </a:rPr>
                  <a:t>Porcentaje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%" sourceLinked="1"/>
        <c:tickLblPos val="nextTo"/>
        <c:txPr>
          <a:bodyPr/>
          <a:lstStyle/>
          <a:p>
            <a:pPr>
              <a:defRPr lang="es-BO" sz="800" b="1">
                <a:solidFill>
                  <a:schemeClr val="accent3">
                    <a:lumMod val="50000"/>
                  </a:schemeClr>
                </a:solidFill>
              </a:defRPr>
            </a:pPr>
            <a:endParaRPr lang="es-ES"/>
          </a:p>
        </c:txPr>
        <c:crossAx val="13870771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0034419091353282"/>
          <c:y val="0.25080387474088556"/>
          <c:w val="0.16911915664578173"/>
          <c:h val="0.47438393320612082"/>
        </c:manualLayout>
      </c:layout>
      <c:txPr>
        <a:bodyPr/>
        <a:lstStyle/>
        <a:p>
          <a:pPr>
            <a:defRPr lang="es-BO" sz="700" b="1" i="1"/>
          </a:pPr>
          <a:endParaRPr lang="es-ES"/>
        </a:p>
      </c:txPr>
    </c:legend>
    <c:plotVisOnly val="1"/>
    <c:dispBlanksAs val="gap"/>
  </c:chart>
  <c:spPr>
    <a:blipFill>
      <a:blip xmlns:r="http://schemas.openxmlformats.org/officeDocument/2006/relationships" r:embed="rId1"/>
      <a:stretch>
        <a:fillRect/>
      </a:stretch>
    </a:blipFill>
    <a:scene3d>
      <a:camera prst="orthographicFront"/>
      <a:lightRig rig="threePt" dir="t"/>
    </a:scene3d>
    <a:sp3d prstMaterial="matte">
      <a:bevelT w="127000" h="63500"/>
    </a:sp3d>
  </c:spPr>
  <c:txPr>
    <a:bodyPr/>
    <a:lstStyle/>
    <a:p>
      <a:pPr>
        <a:defRPr>
          <a:latin typeface="Arial Narrow" pitchFamily="34" charset="0"/>
        </a:defRPr>
      </a:pPr>
      <a:endParaRPr lang="es-ES"/>
    </a:p>
  </c:txPr>
  <c:externalData r:id="rId2"/>
  <c:userShapes r:id="rId3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ES"/>
  <c:style val="27"/>
  <c:chart>
    <c:view3D>
      <c:depthPercent val="100"/>
      <c:perspective val="30"/>
    </c:view3D>
    <c:side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</c:sideWall>
    <c:back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  <c:pictureOptions>
        <c:pictureFormat val="stretch"/>
      </c:pictureOptions>
    </c:backWall>
    <c:plotArea>
      <c:layout>
        <c:manualLayout>
          <c:layoutTarget val="inner"/>
          <c:xMode val="edge"/>
          <c:yMode val="edge"/>
          <c:x val="9.90799580374047E-2"/>
          <c:y val="6.7448682580961622E-2"/>
          <c:w val="0.70567986230637947"/>
          <c:h val="0.7814259016400088"/>
        </c:manualLayout>
      </c:layout>
      <c:bar3DChart>
        <c:barDir val="col"/>
        <c:grouping val="stacked"/>
        <c:ser>
          <c:idx val="0"/>
          <c:order val="0"/>
          <c:tx>
            <c:strRef>
              <c:f>'otros cruces'!$C$294</c:f>
              <c:strCache>
                <c:ptCount val="1"/>
                <c:pt idx="0">
                  <c:v>Ano imperforado</c:v>
                </c:pt>
              </c:strCache>
            </c:strRef>
          </c:tx>
          <c:spPr>
            <a:solidFill>
              <a:srgbClr val="0000FF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dLbl>
              <c:idx val="3"/>
              <c:layout>
                <c:manualLayout>
                  <c:x val="2.7492734924214628E-5"/>
                  <c:y val="3.4285588688912679E-3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lang="es-BO" sz="800" b="1">
                      <a:solidFill>
                        <a:sysClr val="windowText" lastClr="000000"/>
                      </a:solidFill>
                    </a:defRPr>
                  </a:pPr>
                  <a:endParaRPr lang="es-ES"/>
                </a:p>
              </c:txPr>
              <c:showVal val="1"/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lang="es-BO" sz="800" b="1"/>
                </a:pPr>
                <a:endParaRPr lang="es-ES"/>
              </a:p>
            </c:txPr>
            <c:showVal val="1"/>
          </c:dLbls>
          <c:cat>
            <c:strRef>
              <c:f>'otros cruces'!$B$295:$B$298</c:f>
              <c:strCache>
                <c:ptCount val="4"/>
                <c:pt idx="0">
                  <c:v>Agricultor</c:v>
                </c:pt>
                <c:pt idx="1">
                  <c:v>labores de casa</c:v>
                </c:pt>
                <c:pt idx="2">
                  <c:v>comerciante</c:v>
                </c:pt>
                <c:pt idx="3">
                  <c:v>estudiante</c:v>
                </c:pt>
              </c:strCache>
            </c:strRef>
          </c:cat>
          <c:val>
            <c:numRef>
              <c:f>'otros cruces'!$C$295:$C$298</c:f>
              <c:numCache>
                <c:formatCode>#,##0.0%</c:formatCode>
                <c:ptCount val="4"/>
                <c:pt idx="0">
                  <c:v>0.31578947368421623</c:v>
                </c:pt>
                <c:pt idx="1">
                  <c:v>0.21052631578947523</c:v>
                </c:pt>
                <c:pt idx="2">
                  <c:v>5.2631578947368432E-2</c:v>
                </c:pt>
                <c:pt idx="3">
                  <c:v>0.10526315789473686</c:v>
                </c:pt>
              </c:numCache>
            </c:numRef>
          </c:val>
        </c:ser>
        <c:ser>
          <c:idx val="1"/>
          <c:order val="1"/>
          <c:tx>
            <c:strRef>
              <c:f>'otros cruces'!$D$294</c:f>
              <c:strCache>
                <c:ptCount val="1"/>
                <c:pt idx="0">
                  <c:v>Fístula Rectovesical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51000"/>
                    <a:satMod val="130000"/>
                  </a:schemeClr>
                </a:gs>
                <a:gs pos="80000">
                  <a:schemeClr val="accent2">
                    <a:shade val="93000"/>
                    <a:satMod val="130000"/>
                  </a:schemeClr>
                </a:gs>
                <a:gs pos="100000">
                  <a:schemeClr val="accent2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cruces'!$B$295:$B$298</c:f>
              <c:strCache>
                <c:ptCount val="4"/>
                <c:pt idx="0">
                  <c:v>Agricultor</c:v>
                </c:pt>
                <c:pt idx="1">
                  <c:v>labores de casa</c:v>
                </c:pt>
                <c:pt idx="2">
                  <c:v>comerciante</c:v>
                </c:pt>
                <c:pt idx="3">
                  <c:v>estudiante</c:v>
                </c:pt>
              </c:strCache>
            </c:strRef>
          </c:cat>
          <c:val>
            <c:numRef>
              <c:f>'otros cruces'!$D$295:$D$298</c:f>
              <c:numCache>
                <c:formatCode>#,##0.0%</c:formatCode>
                <c:ptCount val="4"/>
                <c:pt idx="1">
                  <c:v>5.2631578947368432E-2</c:v>
                </c:pt>
              </c:numCache>
            </c:numRef>
          </c:val>
        </c:ser>
        <c:ser>
          <c:idx val="2"/>
          <c:order val="2"/>
          <c:tx>
            <c:strRef>
              <c:f>'otros cruces'!$E$294</c:f>
              <c:strCache>
                <c:ptCount val="1"/>
                <c:pt idx="0">
                  <c:v>Fístula Vestibular</c:v>
                </c:pt>
              </c:strCache>
            </c:strRef>
          </c:tx>
          <c:spPr>
            <a:solidFill>
              <a:srgbClr val="FFFF0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cruces'!$B$295:$B$298</c:f>
              <c:strCache>
                <c:ptCount val="4"/>
                <c:pt idx="0">
                  <c:v>Agricultor</c:v>
                </c:pt>
                <c:pt idx="1">
                  <c:v>labores de casa</c:v>
                </c:pt>
                <c:pt idx="2">
                  <c:v>comerciante</c:v>
                </c:pt>
                <c:pt idx="3">
                  <c:v>estudiante</c:v>
                </c:pt>
              </c:strCache>
            </c:strRef>
          </c:cat>
          <c:val>
            <c:numRef>
              <c:f>'otros cruces'!$E$295:$E$298</c:f>
              <c:numCache>
                <c:formatCode>#,##0.0%</c:formatCode>
                <c:ptCount val="4"/>
                <c:pt idx="1">
                  <c:v>5.2631578947368432E-2</c:v>
                </c:pt>
                <c:pt idx="2">
                  <c:v>5.2631578947368432E-2</c:v>
                </c:pt>
              </c:numCache>
            </c:numRef>
          </c:val>
        </c:ser>
        <c:ser>
          <c:idx val="3"/>
          <c:order val="3"/>
          <c:tx>
            <c:strRef>
              <c:f>'otros cruces'!$F$294</c:f>
              <c:strCache>
                <c:ptCount val="1"/>
                <c:pt idx="0">
                  <c:v>Fístula Escrotal</c:v>
                </c:pt>
              </c:strCache>
            </c:strRef>
          </c:tx>
          <c:spPr>
            <a:solidFill>
              <a:srgbClr val="00800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cruces'!$B$295:$B$298</c:f>
              <c:strCache>
                <c:ptCount val="4"/>
                <c:pt idx="0">
                  <c:v>Agricultor</c:v>
                </c:pt>
                <c:pt idx="1">
                  <c:v>labores de casa</c:v>
                </c:pt>
                <c:pt idx="2">
                  <c:v>comerciante</c:v>
                </c:pt>
                <c:pt idx="3">
                  <c:v>estudiante</c:v>
                </c:pt>
              </c:strCache>
            </c:strRef>
          </c:cat>
          <c:val>
            <c:numRef>
              <c:f>'otros cruces'!$F$295:$F$298</c:f>
              <c:numCache>
                <c:formatCode>General</c:formatCode>
                <c:ptCount val="4"/>
                <c:pt idx="0" formatCode="#,##0.0%">
                  <c:v>5.2631578947368432E-2</c:v>
                </c:pt>
              </c:numCache>
            </c:numRef>
          </c:val>
        </c:ser>
        <c:ser>
          <c:idx val="4"/>
          <c:order val="4"/>
          <c:tx>
            <c:strRef>
              <c:f>'otros cruces'!$G$294</c:f>
              <c:strCache>
                <c:ptCount val="1"/>
                <c:pt idx="0">
                  <c:v>Fístula Vestíbulouretral</c:v>
                </c:pt>
              </c:strCache>
            </c:strRef>
          </c:tx>
          <c:spPr>
            <a:solidFill>
              <a:srgbClr val="FF00FF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cruces'!$B$295:$B$298</c:f>
              <c:strCache>
                <c:ptCount val="4"/>
                <c:pt idx="0">
                  <c:v>Agricultor</c:v>
                </c:pt>
                <c:pt idx="1">
                  <c:v>labores de casa</c:v>
                </c:pt>
                <c:pt idx="2">
                  <c:v>comerciante</c:v>
                </c:pt>
                <c:pt idx="3">
                  <c:v>estudiante</c:v>
                </c:pt>
              </c:strCache>
            </c:strRef>
          </c:cat>
          <c:val>
            <c:numRef>
              <c:f>'otros cruces'!$G$295:$G$298</c:f>
              <c:numCache>
                <c:formatCode>General</c:formatCode>
                <c:ptCount val="4"/>
                <c:pt idx="2" formatCode="#,##0.0%">
                  <c:v>5.2631578947368432E-2</c:v>
                </c:pt>
              </c:numCache>
            </c:numRef>
          </c:val>
        </c:ser>
        <c:ser>
          <c:idx val="5"/>
          <c:order val="5"/>
          <c:tx>
            <c:strRef>
              <c:f>'otros cruces'!$H$294</c:f>
              <c:strCache>
                <c:ptCount val="1"/>
                <c:pt idx="0">
                  <c:v>Fístula Rectovaginal</c:v>
                </c:pt>
              </c:strCache>
            </c:strRef>
          </c:tx>
          <c:spPr>
            <a:solidFill>
              <a:srgbClr val="80008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cruces'!$B$295:$B$298</c:f>
              <c:strCache>
                <c:ptCount val="4"/>
                <c:pt idx="0">
                  <c:v>Agricultor</c:v>
                </c:pt>
                <c:pt idx="1">
                  <c:v>labores de casa</c:v>
                </c:pt>
                <c:pt idx="2">
                  <c:v>comerciante</c:v>
                </c:pt>
                <c:pt idx="3">
                  <c:v>estudiante</c:v>
                </c:pt>
              </c:strCache>
            </c:strRef>
          </c:cat>
          <c:val>
            <c:numRef>
              <c:f>'otros cruces'!$H$295:$H$298</c:f>
              <c:numCache>
                <c:formatCode>#,##0.0%</c:formatCode>
                <c:ptCount val="4"/>
                <c:pt idx="1">
                  <c:v>5.2631578947368432E-2</c:v>
                </c:pt>
              </c:numCache>
            </c:numRef>
          </c:val>
        </c:ser>
        <c:shape val="box"/>
        <c:axId val="146249600"/>
        <c:axId val="146414208"/>
        <c:axId val="0"/>
      </c:bar3DChart>
      <c:catAx>
        <c:axId val="146249600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lang="es-BO" sz="1000" b="1" i="0" u="none" strike="noStrike" baseline="0">
                    <a:solidFill>
                      <a:srgbClr val="993300"/>
                    </a:solidFill>
                    <a:latin typeface="Arial Narrow"/>
                    <a:ea typeface="Arial Narrow"/>
                    <a:cs typeface="Arial Narrow"/>
                  </a:defRPr>
                </a:pPr>
                <a:r>
                  <a:rPr lang="en-US"/>
                  <a:t>ocupación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0" sourceLinked="1"/>
        <c:majorTickMark val="none"/>
        <c:tickLblPos val="nextTo"/>
        <c:txPr>
          <a:bodyPr/>
          <a:lstStyle/>
          <a:p>
            <a:pPr>
              <a:defRPr lang="es-BO" sz="700" b="1"/>
            </a:pPr>
            <a:endParaRPr lang="es-ES"/>
          </a:p>
        </c:txPr>
        <c:crossAx val="146414208"/>
        <c:crosses val="autoZero"/>
        <c:auto val="1"/>
        <c:lblAlgn val="ctr"/>
        <c:lblOffset val="100"/>
      </c:catAx>
      <c:valAx>
        <c:axId val="146414208"/>
        <c:scaling>
          <c:orientation val="minMax"/>
          <c:max val="0.45"/>
        </c:scaling>
        <c:axPos val="l"/>
        <c:majorGridlines/>
        <c:title>
          <c:tx>
            <c:rich>
              <a:bodyPr/>
              <a:lstStyle/>
              <a:p>
                <a:pPr>
                  <a:defRPr lang="es-BO">
                    <a:solidFill>
                      <a:srgbClr val="006000"/>
                    </a:solidFill>
                  </a:defRPr>
                </a:pPr>
                <a:r>
                  <a:rPr lang="es-ES">
                    <a:solidFill>
                      <a:srgbClr val="006000"/>
                    </a:solidFill>
                  </a:rPr>
                  <a:t>Porcentaje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%" sourceLinked="1"/>
        <c:tickLblPos val="nextTo"/>
        <c:txPr>
          <a:bodyPr/>
          <a:lstStyle/>
          <a:p>
            <a:pPr>
              <a:defRPr lang="es-BO" sz="800" b="1">
                <a:solidFill>
                  <a:schemeClr val="accent3">
                    <a:lumMod val="50000"/>
                  </a:schemeClr>
                </a:solidFill>
              </a:defRPr>
            </a:pPr>
            <a:endParaRPr lang="es-ES"/>
          </a:p>
        </c:txPr>
        <c:crossAx val="14624960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0034419091353282"/>
          <c:y val="0.25080387474088556"/>
          <c:w val="0.16911915664578173"/>
          <c:h val="0.47438393320612082"/>
        </c:manualLayout>
      </c:layout>
      <c:txPr>
        <a:bodyPr/>
        <a:lstStyle/>
        <a:p>
          <a:pPr>
            <a:defRPr lang="es-BO" sz="700" b="1" i="1"/>
          </a:pPr>
          <a:endParaRPr lang="es-ES"/>
        </a:p>
      </c:txPr>
    </c:legend>
    <c:plotVisOnly val="1"/>
    <c:dispBlanksAs val="gap"/>
  </c:chart>
  <c:spPr>
    <a:blipFill>
      <a:blip xmlns:r="http://schemas.openxmlformats.org/officeDocument/2006/relationships" r:embed="rId1"/>
      <a:stretch>
        <a:fillRect/>
      </a:stretch>
    </a:blipFill>
    <a:scene3d>
      <a:camera prst="orthographicFront"/>
      <a:lightRig rig="threePt" dir="t"/>
    </a:scene3d>
    <a:sp3d prstMaterial="matte">
      <a:bevelT w="127000" h="63500"/>
    </a:sp3d>
  </c:spPr>
  <c:txPr>
    <a:bodyPr/>
    <a:lstStyle/>
    <a:p>
      <a:pPr>
        <a:defRPr>
          <a:latin typeface="Arial Narrow" pitchFamily="34" charset="0"/>
        </a:defRPr>
      </a:pPr>
      <a:endParaRPr lang="es-ES"/>
    </a:p>
  </c:txPr>
  <c:externalData r:id="rId2"/>
  <c:userShapes r:id="rId3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ES"/>
  <c:style val="27"/>
  <c:chart>
    <c:autoTitleDeleted val="1"/>
    <c:view3D>
      <c:depthPercent val="100"/>
      <c:perspective val="30"/>
    </c:view3D>
    <c:side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</c:sideWall>
    <c:back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  <c:pictureOptions>
        <c:pictureFormat val="stretch"/>
      </c:pictureOptions>
    </c:backWall>
    <c:plotArea>
      <c:layout>
        <c:manualLayout>
          <c:layoutTarget val="inner"/>
          <c:xMode val="edge"/>
          <c:yMode val="edge"/>
          <c:x val="0.10838467452844319"/>
          <c:y val="9.8650706044922765E-2"/>
          <c:w val="0.65030804717065915"/>
          <c:h val="0.75493446496758065"/>
        </c:manualLayout>
      </c:layout>
      <c:bar3DChart>
        <c:barDir val="col"/>
        <c:grouping val="stacked"/>
        <c:ser>
          <c:idx val="0"/>
          <c:order val="0"/>
          <c:tx>
            <c:strRef>
              <c:f>'otros cruces'!$C$294</c:f>
              <c:strCache>
                <c:ptCount val="1"/>
                <c:pt idx="0">
                  <c:v>Ano imperforado</c:v>
                </c:pt>
              </c:strCache>
            </c:strRef>
          </c:tx>
          <c:spPr>
            <a:solidFill>
              <a:srgbClr val="0000FF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dLbl>
              <c:idx val="3"/>
              <c:layout>
                <c:manualLayout>
                  <c:x val="1.0236724248240583E-2"/>
                  <c:y val="6.5789473684210523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lang="es-BO" sz="800" b="1">
                      <a:solidFill>
                        <a:sysClr val="windowText" lastClr="000000"/>
                      </a:solidFill>
                    </a:defRPr>
                  </a:pPr>
                  <a:endParaRPr lang="es-ES"/>
                </a:p>
              </c:txPr>
              <c:showVal val="1"/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lang="es-BO" sz="800" b="1"/>
                </a:pPr>
                <a:endParaRPr lang="es-ES"/>
              </a:p>
            </c:txPr>
            <c:showVal val="1"/>
          </c:dLbls>
          <c:cat>
            <c:strRef>
              <c:f>'otros cruces'!$B$295:$B$297</c:f>
              <c:strCache>
                <c:ptCount val="3"/>
                <c:pt idx="0">
                  <c:v>Dos meses</c:v>
                </c:pt>
                <c:pt idx="1">
                  <c:v>Tres meses</c:v>
                </c:pt>
                <c:pt idx="2">
                  <c:v>Mas de tres meses</c:v>
                </c:pt>
              </c:strCache>
            </c:strRef>
          </c:cat>
          <c:val>
            <c:numRef>
              <c:f>'otros cruces'!$C$295:$C$297</c:f>
              <c:numCache>
                <c:formatCode>#,##0.0%</c:formatCode>
                <c:ptCount val="3"/>
                <c:pt idx="0">
                  <c:v>0.4</c:v>
                </c:pt>
                <c:pt idx="1">
                  <c:v>0.2</c:v>
                </c:pt>
                <c:pt idx="2">
                  <c:v>0.1</c:v>
                </c:pt>
              </c:numCache>
            </c:numRef>
          </c:val>
        </c:ser>
        <c:ser>
          <c:idx val="2"/>
          <c:order val="1"/>
          <c:tx>
            <c:strRef>
              <c:f>'otros cruces'!$D$294</c:f>
              <c:strCache>
                <c:ptCount val="1"/>
                <c:pt idx="0">
                  <c:v>Fístula Vestibular</c:v>
                </c:pt>
              </c:strCache>
            </c:strRef>
          </c:tx>
          <c:spPr>
            <a:solidFill>
              <a:srgbClr val="FF0066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lang="es-BO" sz="800" b="1"/>
                </a:pPr>
                <a:endParaRPr lang="es-ES"/>
              </a:p>
            </c:txPr>
            <c:showVal val="1"/>
          </c:dLbls>
          <c:cat>
            <c:strRef>
              <c:f>'otros cruces'!$B$295:$B$297</c:f>
              <c:strCache>
                <c:ptCount val="3"/>
                <c:pt idx="0">
                  <c:v>Dos meses</c:v>
                </c:pt>
                <c:pt idx="1">
                  <c:v>Tres meses</c:v>
                </c:pt>
                <c:pt idx="2">
                  <c:v>Mas de tres meses</c:v>
                </c:pt>
              </c:strCache>
            </c:strRef>
          </c:cat>
          <c:val>
            <c:numRef>
              <c:f>'otros cruces'!$D$295:$D$297</c:f>
              <c:numCache>
                <c:formatCode>General</c:formatCode>
                <c:ptCount val="3"/>
                <c:pt idx="0" formatCode="#,##0.0%">
                  <c:v>0.1</c:v>
                </c:pt>
              </c:numCache>
            </c:numRef>
          </c:val>
        </c:ser>
        <c:ser>
          <c:idx val="3"/>
          <c:order val="2"/>
          <c:tx>
            <c:strRef>
              <c:f>'otros cruces'!$E$294</c:f>
              <c:strCache>
                <c:ptCount val="1"/>
                <c:pt idx="0">
                  <c:v>Fístula Escrotal</c:v>
                </c:pt>
              </c:strCache>
            </c:strRef>
          </c:tx>
          <c:spPr>
            <a:solidFill>
              <a:srgbClr val="FFFF0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cruces'!$B$295:$B$297</c:f>
              <c:strCache>
                <c:ptCount val="3"/>
                <c:pt idx="0">
                  <c:v>Dos meses</c:v>
                </c:pt>
                <c:pt idx="1">
                  <c:v>Tres meses</c:v>
                </c:pt>
                <c:pt idx="2">
                  <c:v>Mas de tres meses</c:v>
                </c:pt>
              </c:strCache>
            </c:strRef>
          </c:cat>
          <c:val>
            <c:numRef>
              <c:f>'otros cruces'!$E$295:$E$297</c:f>
              <c:numCache>
                <c:formatCode>General</c:formatCode>
                <c:ptCount val="3"/>
                <c:pt idx="0" formatCode="#,##0.0%">
                  <c:v>0.1</c:v>
                </c:pt>
              </c:numCache>
            </c:numRef>
          </c:val>
        </c:ser>
        <c:ser>
          <c:idx val="5"/>
          <c:order val="3"/>
          <c:tx>
            <c:strRef>
              <c:f>'otros cruces'!$F$294</c:f>
              <c:strCache>
                <c:ptCount val="1"/>
                <c:pt idx="0">
                  <c:v>Fístula Rectovaginal</c:v>
                </c:pt>
              </c:strCache>
            </c:strRef>
          </c:tx>
          <c:spPr>
            <a:solidFill>
              <a:srgbClr val="9900CC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cruces'!$B$295:$B$297</c:f>
              <c:strCache>
                <c:ptCount val="3"/>
                <c:pt idx="0">
                  <c:v>Dos meses</c:v>
                </c:pt>
                <c:pt idx="1">
                  <c:v>Tres meses</c:v>
                </c:pt>
                <c:pt idx="2">
                  <c:v>Mas de tres meses</c:v>
                </c:pt>
              </c:strCache>
            </c:strRef>
          </c:cat>
          <c:val>
            <c:numRef>
              <c:f>'otros cruces'!$F$295:$F$297</c:f>
              <c:numCache>
                <c:formatCode>General</c:formatCode>
                <c:ptCount val="3"/>
                <c:pt idx="2" formatCode="#,##0.0%">
                  <c:v>0.1</c:v>
                </c:pt>
              </c:numCache>
            </c:numRef>
          </c:val>
        </c:ser>
        <c:shape val="box"/>
        <c:axId val="146216832"/>
        <c:axId val="146590336"/>
        <c:axId val="0"/>
      </c:bar3DChart>
      <c:catAx>
        <c:axId val="146216832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lang="es-BO" sz="1000" b="1" i="0" u="none" strike="noStrike" baseline="0">
                    <a:solidFill>
                      <a:srgbClr val="993300"/>
                    </a:solidFill>
                    <a:latin typeface="Arial Narrow"/>
                    <a:ea typeface="Arial Narrow"/>
                    <a:cs typeface="Arial Narrow"/>
                  </a:defRPr>
                </a:pPr>
                <a:r>
                  <a:rPr lang="en-US"/>
                  <a:t>Tiempo gestacional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0" sourceLinked="1"/>
        <c:majorTickMark val="none"/>
        <c:tickLblPos val="nextTo"/>
        <c:txPr>
          <a:bodyPr/>
          <a:lstStyle/>
          <a:p>
            <a:pPr>
              <a:defRPr lang="es-BO" sz="700" b="1"/>
            </a:pPr>
            <a:endParaRPr lang="es-ES"/>
          </a:p>
        </c:txPr>
        <c:crossAx val="146590336"/>
        <c:crosses val="autoZero"/>
        <c:auto val="1"/>
        <c:lblAlgn val="ctr"/>
        <c:lblOffset val="100"/>
      </c:catAx>
      <c:valAx>
        <c:axId val="146590336"/>
        <c:scaling>
          <c:orientation val="minMax"/>
          <c:max val="0.70000000000000062"/>
          <c:min val="0"/>
        </c:scaling>
        <c:axPos val="l"/>
        <c:majorGridlines/>
        <c:title>
          <c:tx>
            <c:rich>
              <a:bodyPr/>
              <a:lstStyle/>
              <a:p>
                <a:pPr>
                  <a:defRPr lang="es-BO">
                    <a:solidFill>
                      <a:srgbClr val="006000"/>
                    </a:solidFill>
                  </a:defRPr>
                </a:pPr>
                <a:r>
                  <a:rPr lang="es-ES">
                    <a:solidFill>
                      <a:srgbClr val="006000"/>
                    </a:solidFill>
                  </a:rPr>
                  <a:t>Porcentaje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%" sourceLinked="1"/>
        <c:tickLblPos val="nextTo"/>
        <c:txPr>
          <a:bodyPr/>
          <a:lstStyle/>
          <a:p>
            <a:pPr>
              <a:defRPr lang="es-BO" sz="800" b="1">
                <a:solidFill>
                  <a:schemeClr val="accent3">
                    <a:lumMod val="50000"/>
                  </a:schemeClr>
                </a:solidFill>
              </a:defRPr>
            </a:pPr>
            <a:endParaRPr lang="es-ES"/>
          </a:p>
        </c:txPr>
        <c:crossAx val="146216832"/>
        <c:crosses val="autoZero"/>
        <c:crossBetween val="between"/>
        <c:majorUnit val="0.1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76278268897369461"/>
          <c:y val="0.23987604353194286"/>
          <c:w val="0.18821141222377891"/>
          <c:h val="0.39800034341501928"/>
        </c:manualLayout>
      </c:layout>
      <c:txPr>
        <a:bodyPr/>
        <a:lstStyle/>
        <a:p>
          <a:pPr>
            <a:defRPr lang="es-BO" sz="700" b="1" i="1"/>
          </a:pPr>
          <a:endParaRPr lang="es-ES"/>
        </a:p>
      </c:txPr>
    </c:legend>
    <c:plotVisOnly val="1"/>
    <c:dispBlanksAs val="gap"/>
  </c:chart>
  <c:spPr>
    <a:blipFill>
      <a:blip xmlns:r="http://schemas.openxmlformats.org/officeDocument/2006/relationships" r:embed="rId1"/>
      <a:stretch>
        <a:fillRect/>
      </a:stretch>
    </a:blipFill>
    <a:scene3d>
      <a:camera prst="orthographicFront"/>
      <a:lightRig rig="threePt" dir="t"/>
    </a:scene3d>
    <a:sp3d prstMaterial="matte">
      <a:bevelT w="127000" h="63500"/>
    </a:sp3d>
  </c:spPr>
  <c:txPr>
    <a:bodyPr/>
    <a:lstStyle/>
    <a:p>
      <a:pPr>
        <a:defRPr>
          <a:latin typeface="Arial Narrow" pitchFamily="34" charset="0"/>
        </a:defRPr>
      </a:pPr>
      <a:endParaRPr lang="es-ES"/>
    </a:p>
  </c:txPr>
  <c:externalData r:id="rId2"/>
  <c:userShapes r:id="rId3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ES"/>
  <c:style val="27"/>
  <c:chart>
    <c:autoTitleDeleted val="1"/>
    <c:view3D>
      <c:depthPercent val="100"/>
      <c:perspective val="30"/>
    </c:view3D>
    <c:side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</c:sideWall>
    <c:back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  <c:pictureOptions>
        <c:pictureFormat val="stretch"/>
      </c:pictureOptions>
    </c:backWall>
    <c:plotArea>
      <c:layout>
        <c:manualLayout>
          <c:layoutTarget val="inner"/>
          <c:xMode val="edge"/>
          <c:yMode val="edge"/>
          <c:x val="0.10838467452844319"/>
          <c:y val="9.8650706044922765E-2"/>
          <c:w val="0.65030804717065915"/>
          <c:h val="0.75493446496758065"/>
        </c:manualLayout>
      </c:layout>
      <c:bar3DChart>
        <c:barDir val="col"/>
        <c:grouping val="stacked"/>
        <c:ser>
          <c:idx val="0"/>
          <c:order val="0"/>
          <c:tx>
            <c:strRef>
              <c:f>'otros cruces'!$C$294</c:f>
              <c:strCache>
                <c:ptCount val="1"/>
                <c:pt idx="0">
                  <c:v>Ano imperforado</c:v>
                </c:pt>
              </c:strCache>
            </c:strRef>
          </c:tx>
          <c:spPr>
            <a:solidFill>
              <a:srgbClr val="0000FF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dLbl>
              <c:idx val="3"/>
              <c:layout>
                <c:manualLayout>
                  <c:x val="1.0236724248240583E-2"/>
                  <c:y val="6.5789473684210523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lang="es-BO" sz="800" b="1">
                      <a:solidFill>
                        <a:sysClr val="windowText" lastClr="000000"/>
                      </a:solidFill>
                    </a:defRPr>
                  </a:pPr>
                  <a:endParaRPr lang="es-ES"/>
                </a:p>
              </c:txPr>
              <c:showVal val="1"/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lang="es-BO" sz="800" b="1"/>
                </a:pPr>
                <a:endParaRPr lang="es-ES"/>
              </a:p>
            </c:txPr>
            <c:showVal val="1"/>
          </c:dLbls>
          <c:cat>
            <c:strRef>
              <c:f>'otros cruces'!$B$295:$B$296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'otros cruces'!$C$295:$C$296</c:f>
              <c:numCache>
                <c:formatCode>#,##0.0%</c:formatCode>
                <c:ptCount val="2"/>
                <c:pt idx="0">
                  <c:v>0.5</c:v>
                </c:pt>
                <c:pt idx="1">
                  <c:v>0.2</c:v>
                </c:pt>
              </c:numCache>
            </c:numRef>
          </c:val>
        </c:ser>
        <c:ser>
          <c:idx val="2"/>
          <c:order val="1"/>
          <c:tx>
            <c:strRef>
              <c:f>'otros cruces'!$D$294</c:f>
              <c:strCache>
                <c:ptCount val="1"/>
                <c:pt idx="0">
                  <c:v>Fístula Vestibular</c:v>
                </c:pt>
              </c:strCache>
            </c:strRef>
          </c:tx>
          <c:spPr>
            <a:solidFill>
              <a:srgbClr val="FF0066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lang="es-BO" sz="800" b="1"/>
                </a:pPr>
                <a:endParaRPr lang="es-ES"/>
              </a:p>
            </c:txPr>
            <c:showVal val="1"/>
          </c:dLbls>
          <c:cat>
            <c:strRef>
              <c:f>'otros cruces'!$B$295:$B$296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'otros cruces'!$D$295:$D$296</c:f>
              <c:numCache>
                <c:formatCode>#,##0.0%</c:formatCode>
                <c:ptCount val="2"/>
                <c:pt idx="1">
                  <c:v>0.1</c:v>
                </c:pt>
              </c:numCache>
            </c:numRef>
          </c:val>
        </c:ser>
        <c:ser>
          <c:idx val="3"/>
          <c:order val="2"/>
          <c:tx>
            <c:strRef>
              <c:f>'otros cruces'!$E$294</c:f>
              <c:strCache>
                <c:ptCount val="1"/>
                <c:pt idx="0">
                  <c:v>Fístula Escrotal</c:v>
                </c:pt>
              </c:strCache>
            </c:strRef>
          </c:tx>
          <c:spPr>
            <a:solidFill>
              <a:srgbClr val="FFFF0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cruces'!$B$295:$B$296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'otros cruces'!$E$295:$E$296</c:f>
              <c:numCache>
                <c:formatCode>General</c:formatCode>
                <c:ptCount val="2"/>
                <c:pt idx="0" formatCode="#,##0.0%">
                  <c:v>0.1</c:v>
                </c:pt>
              </c:numCache>
            </c:numRef>
          </c:val>
        </c:ser>
        <c:ser>
          <c:idx val="5"/>
          <c:order val="3"/>
          <c:tx>
            <c:strRef>
              <c:f>'otros cruces'!$F$294</c:f>
              <c:strCache>
                <c:ptCount val="1"/>
                <c:pt idx="0">
                  <c:v>Fístula Rectovaginal</c:v>
                </c:pt>
              </c:strCache>
            </c:strRef>
          </c:tx>
          <c:spPr>
            <a:solidFill>
              <a:srgbClr val="9900CC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cruces'!$B$295:$B$296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'otros cruces'!$F$295:$F$296</c:f>
              <c:numCache>
                <c:formatCode>#,##0.0%</c:formatCode>
                <c:ptCount val="2"/>
                <c:pt idx="1">
                  <c:v>0.1</c:v>
                </c:pt>
              </c:numCache>
            </c:numRef>
          </c:val>
        </c:ser>
        <c:shape val="box"/>
        <c:axId val="134206976"/>
        <c:axId val="138162176"/>
        <c:axId val="0"/>
      </c:bar3DChart>
      <c:catAx>
        <c:axId val="134206976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lang="es-BO" sz="1000" b="1" i="0" u="none" strike="noStrike" baseline="0">
                    <a:solidFill>
                      <a:srgbClr val="993300"/>
                    </a:solidFill>
                    <a:latin typeface="Arial Narrow"/>
                    <a:ea typeface="Arial Narrow"/>
                    <a:cs typeface="Arial Narrow"/>
                  </a:defRPr>
                </a:pPr>
                <a:r>
                  <a:rPr lang="es-BO"/>
                  <a:t>Consumo</a:t>
                </a:r>
                <a:r>
                  <a:rPr lang="es-BO" baseline="0"/>
                  <a:t> de bebidas alcoholicas</a:t>
                </a:r>
                <a:r>
                  <a:rPr lang="es-BO"/>
                  <a:t> 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0" sourceLinked="1"/>
        <c:majorTickMark val="none"/>
        <c:tickLblPos val="nextTo"/>
        <c:txPr>
          <a:bodyPr/>
          <a:lstStyle/>
          <a:p>
            <a:pPr>
              <a:defRPr lang="es-BO" sz="700" b="1"/>
            </a:pPr>
            <a:endParaRPr lang="es-ES"/>
          </a:p>
        </c:txPr>
        <c:crossAx val="138162176"/>
        <c:crosses val="autoZero"/>
        <c:auto val="1"/>
        <c:lblAlgn val="ctr"/>
        <c:lblOffset val="100"/>
      </c:catAx>
      <c:valAx>
        <c:axId val="138162176"/>
        <c:scaling>
          <c:orientation val="minMax"/>
          <c:max val="0.70000000000000062"/>
          <c:min val="0"/>
        </c:scaling>
        <c:axPos val="l"/>
        <c:majorGridlines/>
        <c:title>
          <c:tx>
            <c:rich>
              <a:bodyPr/>
              <a:lstStyle/>
              <a:p>
                <a:pPr>
                  <a:defRPr lang="es-BO">
                    <a:solidFill>
                      <a:srgbClr val="006000"/>
                    </a:solidFill>
                  </a:defRPr>
                </a:pPr>
                <a:r>
                  <a:rPr lang="es-ES">
                    <a:solidFill>
                      <a:srgbClr val="006000"/>
                    </a:solidFill>
                  </a:rPr>
                  <a:t>Porcentaje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%" sourceLinked="1"/>
        <c:tickLblPos val="nextTo"/>
        <c:txPr>
          <a:bodyPr/>
          <a:lstStyle/>
          <a:p>
            <a:pPr>
              <a:defRPr lang="es-BO" sz="800" b="1">
                <a:solidFill>
                  <a:schemeClr val="accent3">
                    <a:lumMod val="50000"/>
                  </a:schemeClr>
                </a:solidFill>
              </a:defRPr>
            </a:pPr>
            <a:endParaRPr lang="es-ES"/>
          </a:p>
        </c:txPr>
        <c:crossAx val="134206976"/>
        <c:crosses val="autoZero"/>
        <c:crossBetween val="between"/>
        <c:majorUnit val="0.1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76278268897369461"/>
          <c:y val="0.23987604353194286"/>
          <c:w val="0.18821141222377891"/>
          <c:h val="0.39800034341501928"/>
        </c:manualLayout>
      </c:layout>
      <c:txPr>
        <a:bodyPr/>
        <a:lstStyle/>
        <a:p>
          <a:pPr>
            <a:defRPr lang="es-BO" sz="700" b="1" i="1"/>
          </a:pPr>
          <a:endParaRPr lang="es-ES"/>
        </a:p>
      </c:txPr>
    </c:legend>
    <c:plotVisOnly val="1"/>
    <c:dispBlanksAs val="gap"/>
  </c:chart>
  <c:spPr>
    <a:blipFill>
      <a:blip xmlns:r="http://schemas.openxmlformats.org/officeDocument/2006/relationships" r:embed="rId1"/>
      <a:stretch>
        <a:fillRect/>
      </a:stretch>
    </a:blipFill>
    <a:scene3d>
      <a:camera prst="orthographicFront"/>
      <a:lightRig rig="threePt" dir="t"/>
    </a:scene3d>
    <a:sp3d prstMaterial="matte">
      <a:bevelT w="127000" h="63500"/>
    </a:sp3d>
  </c:spPr>
  <c:txPr>
    <a:bodyPr/>
    <a:lstStyle/>
    <a:p>
      <a:pPr>
        <a:defRPr>
          <a:latin typeface="Arial Narrow" pitchFamily="34" charset="0"/>
        </a:defRPr>
      </a:pPr>
      <a:endParaRPr lang="es-ES"/>
    </a:p>
  </c:txPr>
  <c:externalData r:id="rId2"/>
  <c:userShapes r:id="rId3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ES"/>
  <c:style val="27"/>
  <c:chart>
    <c:autoTitleDeleted val="1"/>
    <c:view3D>
      <c:depthPercent val="100"/>
      <c:perspective val="30"/>
    </c:view3D>
    <c:side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</c:sideWall>
    <c:back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  <c:pictureOptions>
        <c:pictureFormat val="stretch"/>
      </c:pictureOptions>
    </c:backWall>
    <c:plotArea>
      <c:layout>
        <c:manualLayout>
          <c:layoutTarget val="inner"/>
          <c:xMode val="edge"/>
          <c:yMode val="edge"/>
          <c:x val="0.10838467452844319"/>
          <c:y val="9.8650706044922765E-2"/>
          <c:w val="0.65030804717065915"/>
          <c:h val="0.75493446496758065"/>
        </c:manualLayout>
      </c:layout>
      <c:bar3DChart>
        <c:barDir val="col"/>
        <c:grouping val="stacked"/>
        <c:ser>
          <c:idx val="0"/>
          <c:order val="0"/>
          <c:tx>
            <c:strRef>
              <c:f>'otros cruces'!$C$294</c:f>
              <c:strCache>
                <c:ptCount val="1"/>
                <c:pt idx="0">
                  <c:v>Ano imperforado</c:v>
                </c:pt>
              </c:strCache>
            </c:strRef>
          </c:tx>
          <c:spPr>
            <a:solidFill>
              <a:srgbClr val="0000FF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dLbl>
              <c:idx val="3"/>
              <c:layout>
                <c:manualLayout>
                  <c:x val="1.0236724248240583E-2"/>
                  <c:y val="6.5789473684210523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lang="es-BO" sz="800" b="1">
                      <a:solidFill>
                        <a:sysClr val="windowText" lastClr="000000"/>
                      </a:solidFill>
                    </a:defRPr>
                  </a:pPr>
                  <a:endParaRPr lang="es-ES"/>
                </a:p>
              </c:txPr>
              <c:showVal val="1"/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lang="es-BO" sz="800" b="1"/>
                </a:pPr>
                <a:endParaRPr lang="es-ES"/>
              </a:p>
            </c:txPr>
            <c:showVal val="1"/>
          </c:dLbls>
          <c:cat>
            <c:strRef>
              <c:f>'otros cruces'!$B$295:$B$296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'otros cruces'!$C$295:$C$296</c:f>
              <c:numCache>
                <c:formatCode>#,##0.0%</c:formatCode>
                <c:ptCount val="2"/>
                <c:pt idx="0">
                  <c:v>0.5</c:v>
                </c:pt>
                <c:pt idx="1">
                  <c:v>0.2</c:v>
                </c:pt>
              </c:numCache>
            </c:numRef>
          </c:val>
        </c:ser>
        <c:ser>
          <c:idx val="2"/>
          <c:order val="1"/>
          <c:tx>
            <c:strRef>
              <c:f>'otros cruces'!$D$294</c:f>
              <c:strCache>
                <c:ptCount val="1"/>
                <c:pt idx="0">
                  <c:v>Fístula Vestibular</c:v>
                </c:pt>
              </c:strCache>
            </c:strRef>
          </c:tx>
          <c:spPr>
            <a:solidFill>
              <a:srgbClr val="FF0066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lang="es-BO" sz="800" b="1"/>
                </a:pPr>
                <a:endParaRPr lang="es-ES"/>
              </a:p>
            </c:txPr>
            <c:showVal val="1"/>
          </c:dLbls>
          <c:cat>
            <c:strRef>
              <c:f>'otros cruces'!$B$295:$B$296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'otros cruces'!$D$295:$D$296</c:f>
              <c:numCache>
                <c:formatCode>#,##0.0%</c:formatCode>
                <c:ptCount val="2"/>
                <c:pt idx="1">
                  <c:v>0.1</c:v>
                </c:pt>
              </c:numCache>
            </c:numRef>
          </c:val>
        </c:ser>
        <c:ser>
          <c:idx val="3"/>
          <c:order val="2"/>
          <c:tx>
            <c:strRef>
              <c:f>'otros cruces'!$E$294</c:f>
              <c:strCache>
                <c:ptCount val="1"/>
                <c:pt idx="0">
                  <c:v>Fístula Escrotal</c:v>
                </c:pt>
              </c:strCache>
            </c:strRef>
          </c:tx>
          <c:spPr>
            <a:solidFill>
              <a:srgbClr val="FFFF0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cruces'!$B$295:$B$296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'otros cruces'!$E$295:$E$296</c:f>
              <c:numCache>
                <c:formatCode>General</c:formatCode>
                <c:ptCount val="2"/>
                <c:pt idx="0" formatCode="#,##0.0%">
                  <c:v>0.1</c:v>
                </c:pt>
              </c:numCache>
            </c:numRef>
          </c:val>
        </c:ser>
        <c:ser>
          <c:idx val="5"/>
          <c:order val="3"/>
          <c:tx>
            <c:strRef>
              <c:f>'otros cruces'!$F$294</c:f>
              <c:strCache>
                <c:ptCount val="1"/>
                <c:pt idx="0">
                  <c:v>Fístula Rectovaginal</c:v>
                </c:pt>
              </c:strCache>
            </c:strRef>
          </c:tx>
          <c:spPr>
            <a:solidFill>
              <a:srgbClr val="9900CC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cruces'!$B$295:$B$296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'otros cruces'!$F$295:$F$296</c:f>
              <c:numCache>
                <c:formatCode>#,##0.0%</c:formatCode>
                <c:ptCount val="2"/>
                <c:pt idx="1">
                  <c:v>0.1</c:v>
                </c:pt>
              </c:numCache>
            </c:numRef>
          </c:val>
        </c:ser>
        <c:shape val="box"/>
        <c:axId val="146444672"/>
        <c:axId val="146446592"/>
        <c:axId val="0"/>
      </c:bar3DChart>
      <c:catAx>
        <c:axId val="146444672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lang="es-BO" sz="1000" b="1" i="0" u="none" strike="noStrike" baseline="0">
                    <a:solidFill>
                      <a:srgbClr val="993300"/>
                    </a:solidFill>
                    <a:latin typeface="Arial Narrow"/>
                    <a:ea typeface="Arial Narrow"/>
                    <a:cs typeface="Arial Narrow"/>
                  </a:defRPr>
                </a:pPr>
                <a:r>
                  <a:rPr lang="es-BO"/>
                  <a:t>mastica coca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0" sourceLinked="1"/>
        <c:majorTickMark val="none"/>
        <c:tickLblPos val="nextTo"/>
        <c:txPr>
          <a:bodyPr/>
          <a:lstStyle/>
          <a:p>
            <a:pPr>
              <a:defRPr lang="es-BO" sz="700" b="1"/>
            </a:pPr>
            <a:endParaRPr lang="es-ES"/>
          </a:p>
        </c:txPr>
        <c:crossAx val="146446592"/>
        <c:crosses val="autoZero"/>
        <c:auto val="1"/>
        <c:lblAlgn val="ctr"/>
        <c:lblOffset val="100"/>
      </c:catAx>
      <c:valAx>
        <c:axId val="146446592"/>
        <c:scaling>
          <c:orientation val="minMax"/>
          <c:max val="0.70000000000000062"/>
          <c:min val="0"/>
        </c:scaling>
        <c:axPos val="l"/>
        <c:majorGridlines/>
        <c:title>
          <c:tx>
            <c:rich>
              <a:bodyPr/>
              <a:lstStyle/>
              <a:p>
                <a:pPr>
                  <a:defRPr lang="es-BO">
                    <a:solidFill>
                      <a:srgbClr val="006000"/>
                    </a:solidFill>
                  </a:defRPr>
                </a:pPr>
                <a:r>
                  <a:rPr lang="es-ES">
                    <a:solidFill>
                      <a:srgbClr val="006000"/>
                    </a:solidFill>
                  </a:rPr>
                  <a:t>Porcentaje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%" sourceLinked="1"/>
        <c:tickLblPos val="nextTo"/>
        <c:txPr>
          <a:bodyPr/>
          <a:lstStyle/>
          <a:p>
            <a:pPr>
              <a:defRPr lang="es-BO" sz="800" b="1">
                <a:solidFill>
                  <a:schemeClr val="accent3">
                    <a:lumMod val="50000"/>
                  </a:schemeClr>
                </a:solidFill>
              </a:defRPr>
            </a:pPr>
            <a:endParaRPr lang="es-ES"/>
          </a:p>
        </c:txPr>
        <c:crossAx val="146444672"/>
        <c:crosses val="autoZero"/>
        <c:crossBetween val="between"/>
        <c:majorUnit val="0.1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76278268897369461"/>
          <c:y val="0.23987604353194286"/>
          <c:w val="0.18821141222377891"/>
          <c:h val="0.39800034341501928"/>
        </c:manualLayout>
      </c:layout>
      <c:txPr>
        <a:bodyPr/>
        <a:lstStyle/>
        <a:p>
          <a:pPr>
            <a:defRPr lang="es-BO" sz="700" b="1" i="1"/>
          </a:pPr>
          <a:endParaRPr lang="es-ES"/>
        </a:p>
      </c:txPr>
    </c:legend>
    <c:plotVisOnly val="1"/>
    <c:dispBlanksAs val="gap"/>
  </c:chart>
  <c:spPr>
    <a:blipFill>
      <a:blip xmlns:r="http://schemas.openxmlformats.org/officeDocument/2006/relationships" r:embed="rId1"/>
      <a:stretch>
        <a:fillRect/>
      </a:stretch>
    </a:blipFill>
    <a:scene3d>
      <a:camera prst="orthographicFront"/>
      <a:lightRig rig="threePt" dir="t"/>
    </a:scene3d>
    <a:sp3d prstMaterial="matte">
      <a:bevelT w="127000" h="63500"/>
    </a:sp3d>
  </c:spPr>
  <c:txPr>
    <a:bodyPr/>
    <a:lstStyle/>
    <a:p>
      <a:pPr>
        <a:defRPr>
          <a:latin typeface="Arial Narrow" pitchFamily="34" charset="0"/>
        </a:defRPr>
      </a:pPr>
      <a:endParaRPr lang="es-ES"/>
    </a:p>
  </c:txPr>
  <c:externalData r:id="rId2"/>
  <c:userShapes r:id="rId3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ES"/>
  <c:style val="27"/>
  <c:chart>
    <c:autoTitleDeleted val="1"/>
    <c:view3D>
      <c:depthPercent val="100"/>
      <c:perspective val="30"/>
    </c:view3D>
    <c:side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</c:sideWall>
    <c:back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  <c:pictureOptions>
        <c:pictureFormat val="stretch"/>
      </c:pictureOptions>
    </c:backWall>
    <c:plotArea>
      <c:layout>
        <c:manualLayout>
          <c:layoutTarget val="inner"/>
          <c:xMode val="edge"/>
          <c:yMode val="edge"/>
          <c:x val="0.10838467452844319"/>
          <c:y val="9.8650706044922765E-2"/>
          <c:w val="0.65030804717065915"/>
          <c:h val="0.75493446496758065"/>
        </c:manualLayout>
      </c:layout>
      <c:bar3DChart>
        <c:barDir val="col"/>
        <c:grouping val="stacked"/>
        <c:ser>
          <c:idx val="0"/>
          <c:order val="0"/>
          <c:tx>
            <c:strRef>
              <c:f>'otros cruces'!$C$294</c:f>
              <c:strCache>
                <c:ptCount val="1"/>
                <c:pt idx="0">
                  <c:v>Ano imperforado</c:v>
                </c:pt>
              </c:strCache>
            </c:strRef>
          </c:tx>
          <c:spPr>
            <a:solidFill>
              <a:srgbClr val="0000FF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dLbl>
              <c:idx val="3"/>
              <c:layout>
                <c:manualLayout>
                  <c:x val="1.0236724248240583E-2"/>
                  <c:y val="6.5789473684210523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lang="es-BO" sz="800" b="1">
                      <a:solidFill>
                        <a:sysClr val="windowText" lastClr="000000"/>
                      </a:solidFill>
                    </a:defRPr>
                  </a:pPr>
                  <a:endParaRPr lang="es-ES"/>
                </a:p>
              </c:txPr>
              <c:showVal val="1"/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lang="es-BO" sz="800" b="1"/>
                </a:pPr>
                <a:endParaRPr lang="es-ES"/>
              </a:p>
            </c:txPr>
            <c:showVal val="1"/>
          </c:dLbls>
          <c:cat>
            <c:strRef>
              <c:f>'otros cruces'!$B$295:$B$296</c:f>
              <c:strCache>
                <c:ptCount val="2"/>
                <c:pt idx="0">
                  <c:v>vive </c:v>
                </c:pt>
                <c:pt idx="1">
                  <c:v>fallecio</c:v>
                </c:pt>
              </c:strCache>
            </c:strRef>
          </c:cat>
          <c:val>
            <c:numRef>
              <c:f>'otros cruces'!$C$295:$C$296</c:f>
              <c:numCache>
                <c:formatCode>#,##0.0%</c:formatCode>
                <c:ptCount val="2"/>
                <c:pt idx="0">
                  <c:v>0.60000000000000064</c:v>
                </c:pt>
                <c:pt idx="1">
                  <c:v>0.1</c:v>
                </c:pt>
              </c:numCache>
            </c:numRef>
          </c:val>
        </c:ser>
        <c:ser>
          <c:idx val="2"/>
          <c:order val="1"/>
          <c:tx>
            <c:strRef>
              <c:f>'otros cruces'!$D$294</c:f>
              <c:strCache>
                <c:ptCount val="1"/>
                <c:pt idx="0">
                  <c:v>Fístula Vestibular</c:v>
                </c:pt>
              </c:strCache>
            </c:strRef>
          </c:tx>
          <c:spPr>
            <a:solidFill>
              <a:srgbClr val="FF0066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lang="es-BO" sz="800" b="1"/>
                </a:pPr>
                <a:endParaRPr lang="es-ES"/>
              </a:p>
            </c:txPr>
            <c:showVal val="1"/>
          </c:dLbls>
          <c:cat>
            <c:strRef>
              <c:f>'otros cruces'!$B$295:$B$296</c:f>
              <c:strCache>
                <c:ptCount val="2"/>
                <c:pt idx="0">
                  <c:v>vive </c:v>
                </c:pt>
                <c:pt idx="1">
                  <c:v>fallecio</c:v>
                </c:pt>
              </c:strCache>
            </c:strRef>
          </c:cat>
          <c:val>
            <c:numRef>
              <c:f>'otros cruces'!$D$295:$D$296</c:f>
              <c:numCache>
                <c:formatCode>General</c:formatCode>
                <c:ptCount val="2"/>
                <c:pt idx="0" formatCode="#,##0.0%">
                  <c:v>0.1</c:v>
                </c:pt>
              </c:numCache>
            </c:numRef>
          </c:val>
        </c:ser>
        <c:ser>
          <c:idx val="3"/>
          <c:order val="2"/>
          <c:tx>
            <c:strRef>
              <c:f>'otros cruces'!$E$294</c:f>
              <c:strCache>
                <c:ptCount val="1"/>
                <c:pt idx="0">
                  <c:v>Fístula Escrotal</c:v>
                </c:pt>
              </c:strCache>
            </c:strRef>
          </c:tx>
          <c:spPr>
            <a:solidFill>
              <a:srgbClr val="FFFF0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cruces'!$B$295:$B$296</c:f>
              <c:strCache>
                <c:ptCount val="2"/>
                <c:pt idx="0">
                  <c:v>vive </c:v>
                </c:pt>
                <c:pt idx="1">
                  <c:v>fallecio</c:v>
                </c:pt>
              </c:strCache>
            </c:strRef>
          </c:cat>
          <c:val>
            <c:numRef>
              <c:f>'otros cruces'!$E$295:$E$296</c:f>
              <c:numCache>
                <c:formatCode>General</c:formatCode>
                <c:ptCount val="2"/>
                <c:pt idx="0" formatCode="#,##0.0%">
                  <c:v>0.1</c:v>
                </c:pt>
              </c:numCache>
            </c:numRef>
          </c:val>
        </c:ser>
        <c:ser>
          <c:idx val="5"/>
          <c:order val="3"/>
          <c:tx>
            <c:strRef>
              <c:f>'otros cruces'!$F$294</c:f>
              <c:strCache>
                <c:ptCount val="1"/>
                <c:pt idx="0">
                  <c:v>Fístula Rectovaginal</c:v>
                </c:pt>
              </c:strCache>
            </c:strRef>
          </c:tx>
          <c:spPr>
            <a:solidFill>
              <a:srgbClr val="9900CC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cruces'!$B$295:$B$296</c:f>
              <c:strCache>
                <c:ptCount val="2"/>
                <c:pt idx="0">
                  <c:v>vive </c:v>
                </c:pt>
                <c:pt idx="1">
                  <c:v>fallecio</c:v>
                </c:pt>
              </c:strCache>
            </c:strRef>
          </c:cat>
          <c:val>
            <c:numRef>
              <c:f>'otros cruces'!$F$295:$F$296</c:f>
              <c:numCache>
                <c:formatCode>General</c:formatCode>
                <c:ptCount val="2"/>
                <c:pt idx="0" formatCode="#,##0.0%">
                  <c:v>0.1</c:v>
                </c:pt>
              </c:numCache>
            </c:numRef>
          </c:val>
        </c:ser>
        <c:shape val="box"/>
        <c:axId val="142636160"/>
        <c:axId val="142644736"/>
        <c:axId val="0"/>
      </c:bar3DChart>
      <c:catAx>
        <c:axId val="142636160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lang="es-BO" sz="1000" b="1" i="0" u="none" strike="noStrike" baseline="0">
                    <a:solidFill>
                      <a:srgbClr val="993300"/>
                    </a:solidFill>
                    <a:latin typeface="Arial Narrow"/>
                    <a:ea typeface="Arial Narrow"/>
                    <a:cs typeface="Arial Narrow"/>
                  </a:defRPr>
                </a:pPr>
                <a:r>
                  <a:rPr lang="en-US"/>
                  <a:t>Estado actual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0" sourceLinked="1"/>
        <c:majorTickMark val="none"/>
        <c:tickLblPos val="nextTo"/>
        <c:txPr>
          <a:bodyPr/>
          <a:lstStyle/>
          <a:p>
            <a:pPr>
              <a:defRPr lang="es-BO" sz="700" b="1"/>
            </a:pPr>
            <a:endParaRPr lang="es-ES"/>
          </a:p>
        </c:txPr>
        <c:crossAx val="142644736"/>
        <c:crosses val="autoZero"/>
        <c:auto val="1"/>
        <c:lblAlgn val="ctr"/>
        <c:lblOffset val="100"/>
      </c:catAx>
      <c:valAx>
        <c:axId val="142644736"/>
        <c:scaling>
          <c:orientation val="minMax"/>
          <c:max val="0.9"/>
          <c:min val="0"/>
        </c:scaling>
        <c:axPos val="l"/>
        <c:majorGridlines/>
        <c:title>
          <c:tx>
            <c:rich>
              <a:bodyPr/>
              <a:lstStyle/>
              <a:p>
                <a:pPr>
                  <a:defRPr lang="es-BO">
                    <a:solidFill>
                      <a:srgbClr val="006000"/>
                    </a:solidFill>
                  </a:defRPr>
                </a:pPr>
                <a:r>
                  <a:rPr lang="es-ES">
                    <a:solidFill>
                      <a:srgbClr val="006000"/>
                    </a:solidFill>
                  </a:rPr>
                  <a:t>Porcentaje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%" sourceLinked="1"/>
        <c:tickLblPos val="nextTo"/>
        <c:txPr>
          <a:bodyPr/>
          <a:lstStyle/>
          <a:p>
            <a:pPr>
              <a:defRPr lang="es-BO" sz="800" b="1">
                <a:solidFill>
                  <a:schemeClr val="accent3">
                    <a:lumMod val="50000"/>
                  </a:schemeClr>
                </a:solidFill>
              </a:defRPr>
            </a:pPr>
            <a:endParaRPr lang="es-ES"/>
          </a:p>
        </c:txPr>
        <c:crossAx val="142636160"/>
        <c:crosses val="autoZero"/>
        <c:crossBetween val="between"/>
        <c:majorUnit val="0.1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76278268897369461"/>
          <c:y val="0.23987604353194286"/>
          <c:w val="0.18821141222377891"/>
          <c:h val="0.39800034341501928"/>
        </c:manualLayout>
      </c:layout>
      <c:txPr>
        <a:bodyPr/>
        <a:lstStyle/>
        <a:p>
          <a:pPr>
            <a:defRPr lang="es-BO" sz="700" b="1" i="1"/>
          </a:pPr>
          <a:endParaRPr lang="es-ES"/>
        </a:p>
      </c:txPr>
    </c:legend>
    <c:plotVisOnly val="1"/>
    <c:dispBlanksAs val="gap"/>
  </c:chart>
  <c:spPr>
    <a:blipFill>
      <a:blip xmlns:r="http://schemas.openxmlformats.org/officeDocument/2006/relationships" r:embed="rId1"/>
      <a:stretch>
        <a:fillRect/>
      </a:stretch>
    </a:blipFill>
    <a:scene3d>
      <a:camera prst="orthographicFront"/>
      <a:lightRig rig="threePt" dir="t"/>
    </a:scene3d>
    <a:sp3d prstMaterial="matte">
      <a:bevelT w="127000" h="63500"/>
    </a:sp3d>
  </c:spPr>
  <c:txPr>
    <a:bodyPr/>
    <a:lstStyle/>
    <a:p>
      <a:pPr>
        <a:defRPr>
          <a:latin typeface="Arial Narrow" pitchFamily="34" charset="0"/>
        </a:defRPr>
      </a:pPr>
      <a:endParaRPr lang="es-ES"/>
    </a:p>
  </c:txPr>
  <c:externalData r:id="rId2"/>
  <c:userShapes r:id="rId3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ES"/>
  <c:style val="27"/>
  <c:chart>
    <c:autoTitleDeleted val="1"/>
    <c:view3D>
      <c:depthPercent val="100"/>
      <c:perspective val="30"/>
    </c:view3D>
    <c:side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</c:sideWall>
    <c:back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  <c:pictureOptions>
        <c:pictureFormat val="stretch"/>
      </c:pictureOptions>
    </c:backWall>
    <c:plotArea>
      <c:layout>
        <c:manualLayout>
          <c:layoutTarget val="inner"/>
          <c:xMode val="edge"/>
          <c:yMode val="edge"/>
          <c:x val="0.10838467452844319"/>
          <c:y val="9.8650706044922765E-2"/>
          <c:w val="0.65030804717065915"/>
          <c:h val="0.75493446496758065"/>
        </c:manualLayout>
      </c:layout>
      <c:bar3DChart>
        <c:barDir val="col"/>
        <c:grouping val="stacked"/>
        <c:ser>
          <c:idx val="0"/>
          <c:order val="0"/>
          <c:tx>
            <c:strRef>
              <c:f>'otros cruces'!$C$294</c:f>
              <c:strCache>
                <c:ptCount val="1"/>
                <c:pt idx="0">
                  <c:v>Ano imperforado</c:v>
                </c:pt>
              </c:strCache>
            </c:strRef>
          </c:tx>
          <c:spPr>
            <a:solidFill>
              <a:srgbClr val="0000FF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dLbl>
              <c:idx val="3"/>
              <c:layout>
                <c:manualLayout>
                  <c:x val="1.0236724248240583E-2"/>
                  <c:y val="6.5789473684210523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lang="es-BO" sz="800" b="1">
                      <a:solidFill>
                        <a:sysClr val="windowText" lastClr="000000"/>
                      </a:solidFill>
                    </a:defRPr>
                  </a:pPr>
                  <a:endParaRPr lang="es-ES"/>
                </a:p>
              </c:txPr>
              <c:showVal val="1"/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lang="es-BO" sz="800" b="1"/>
                </a:pPr>
                <a:endParaRPr lang="es-ES"/>
              </a:p>
            </c:txPr>
            <c:showVal val="1"/>
          </c:dLbls>
          <c:cat>
            <c:strRef>
              <c:f>'otros cruces'!$B$295:$B$296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'otros cruces'!$C$295:$C$296</c:f>
              <c:numCache>
                <c:formatCode>#,##0.0%</c:formatCode>
                <c:ptCount val="2"/>
                <c:pt idx="0">
                  <c:v>0.5</c:v>
                </c:pt>
                <c:pt idx="1">
                  <c:v>0.1</c:v>
                </c:pt>
              </c:numCache>
            </c:numRef>
          </c:val>
        </c:ser>
        <c:ser>
          <c:idx val="2"/>
          <c:order val="1"/>
          <c:tx>
            <c:strRef>
              <c:f>'otros cruces'!$D$294</c:f>
              <c:strCache>
                <c:ptCount val="1"/>
                <c:pt idx="0">
                  <c:v>Fístula Vestibular</c:v>
                </c:pt>
              </c:strCache>
            </c:strRef>
          </c:tx>
          <c:spPr>
            <a:solidFill>
              <a:srgbClr val="FF0066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lang="es-BO" sz="800" b="1"/>
                </a:pPr>
                <a:endParaRPr lang="es-ES"/>
              </a:p>
            </c:txPr>
            <c:showVal val="1"/>
          </c:dLbls>
          <c:cat>
            <c:strRef>
              <c:f>'otros cruces'!$B$295:$B$296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'otros cruces'!$D$295:$D$296</c:f>
              <c:numCache>
                <c:formatCode>#,##0.0%</c:formatCode>
                <c:ptCount val="2"/>
                <c:pt idx="1">
                  <c:v>0.1</c:v>
                </c:pt>
              </c:numCache>
            </c:numRef>
          </c:val>
        </c:ser>
        <c:ser>
          <c:idx val="3"/>
          <c:order val="2"/>
          <c:tx>
            <c:strRef>
              <c:f>'otros cruces'!$E$294</c:f>
              <c:strCache>
                <c:ptCount val="1"/>
                <c:pt idx="0">
                  <c:v>Fístula Escrotal</c:v>
                </c:pt>
              </c:strCache>
            </c:strRef>
          </c:tx>
          <c:spPr>
            <a:solidFill>
              <a:srgbClr val="FFFF0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cruces'!$B$295:$B$296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'otros cruces'!$E$295:$E$296</c:f>
              <c:numCache>
                <c:formatCode>General</c:formatCode>
                <c:ptCount val="2"/>
                <c:pt idx="0" formatCode="#,##0.0%">
                  <c:v>0.1</c:v>
                </c:pt>
              </c:numCache>
            </c:numRef>
          </c:val>
        </c:ser>
        <c:ser>
          <c:idx val="5"/>
          <c:order val="3"/>
          <c:tx>
            <c:strRef>
              <c:f>'otros cruces'!$F$294</c:f>
              <c:strCache>
                <c:ptCount val="1"/>
                <c:pt idx="0">
                  <c:v>Fístula Rectovaginal</c:v>
                </c:pt>
              </c:strCache>
            </c:strRef>
          </c:tx>
          <c:spPr>
            <a:solidFill>
              <a:srgbClr val="9900CC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cruces'!$B$295:$B$296</c:f>
              <c:strCache>
                <c:ptCount val="2"/>
                <c:pt idx="0">
                  <c:v>si</c:v>
                </c:pt>
                <c:pt idx="1">
                  <c:v>no</c:v>
                </c:pt>
              </c:strCache>
            </c:strRef>
          </c:cat>
          <c:val>
            <c:numRef>
              <c:f>'otros cruces'!$F$295:$F$296</c:f>
              <c:numCache>
                <c:formatCode>#,##0.0%</c:formatCode>
                <c:ptCount val="2"/>
                <c:pt idx="1">
                  <c:v>0.1</c:v>
                </c:pt>
              </c:numCache>
            </c:numRef>
          </c:val>
        </c:ser>
        <c:shape val="box"/>
        <c:axId val="142610432"/>
        <c:axId val="142711808"/>
        <c:axId val="0"/>
      </c:bar3DChart>
      <c:catAx>
        <c:axId val="142610432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lang="es-BO" sz="1000" b="1" i="0" u="none" strike="noStrike" baseline="0">
                    <a:solidFill>
                      <a:srgbClr val="993300"/>
                    </a:solidFill>
                    <a:latin typeface="Arial Narrow"/>
                    <a:ea typeface="Arial Narrow"/>
                    <a:cs typeface="Arial Narrow"/>
                  </a:defRPr>
                </a:pPr>
                <a:r>
                  <a:rPr lang="en-US"/>
                  <a:t>cuidado de cultivos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0" sourceLinked="1"/>
        <c:majorTickMark val="none"/>
        <c:tickLblPos val="nextTo"/>
        <c:txPr>
          <a:bodyPr/>
          <a:lstStyle/>
          <a:p>
            <a:pPr>
              <a:defRPr lang="es-BO" sz="700" b="1"/>
            </a:pPr>
            <a:endParaRPr lang="es-ES"/>
          </a:p>
        </c:txPr>
        <c:crossAx val="142711808"/>
        <c:crosses val="autoZero"/>
        <c:auto val="1"/>
        <c:lblAlgn val="ctr"/>
        <c:lblOffset val="100"/>
      </c:catAx>
      <c:valAx>
        <c:axId val="142711808"/>
        <c:scaling>
          <c:orientation val="minMax"/>
          <c:max val="0.60000000000000064"/>
          <c:min val="0"/>
        </c:scaling>
        <c:axPos val="l"/>
        <c:majorGridlines/>
        <c:title>
          <c:tx>
            <c:rich>
              <a:bodyPr/>
              <a:lstStyle/>
              <a:p>
                <a:pPr>
                  <a:defRPr lang="es-BO">
                    <a:solidFill>
                      <a:srgbClr val="006000"/>
                    </a:solidFill>
                  </a:defRPr>
                </a:pPr>
                <a:r>
                  <a:rPr lang="es-ES">
                    <a:solidFill>
                      <a:srgbClr val="006000"/>
                    </a:solidFill>
                  </a:rPr>
                  <a:t>Porcentaje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%" sourceLinked="1"/>
        <c:tickLblPos val="nextTo"/>
        <c:txPr>
          <a:bodyPr/>
          <a:lstStyle/>
          <a:p>
            <a:pPr>
              <a:defRPr lang="es-BO" sz="800" b="1">
                <a:solidFill>
                  <a:schemeClr val="accent3">
                    <a:lumMod val="50000"/>
                  </a:schemeClr>
                </a:solidFill>
              </a:defRPr>
            </a:pPr>
            <a:endParaRPr lang="es-ES"/>
          </a:p>
        </c:txPr>
        <c:crossAx val="142610432"/>
        <c:crosses val="autoZero"/>
        <c:crossBetween val="between"/>
        <c:majorUnit val="0.1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76278268897369461"/>
          <c:y val="0.23987604353194286"/>
          <c:w val="0.18821141222377891"/>
          <c:h val="0.39800034341501928"/>
        </c:manualLayout>
      </c:layout>
      <c:txPr>
        <a:bodyPr/>
        <a:lstStyle/>
        <a:p>
          <a:pPr>
            <a:defRPr lang="es-BO" sz="700" b="1" i="1"/>
          </a:pPr>
          <a:endParaRPr lang="es-ES"/>
        </a:p>
      </c:txPr>
    </c:legend>
    <c:plotVisOnly val="1"/>
    <c:dispBlanksAs val="gap"/>
  </c:chart>
  <c:spPr>
    <a:blipFill>
      <a:blip xmlns:r="http://schemas.openxmlformats.org/officeDocument/2006/relationships" r:embed="rId1"/>
      <a:stretch>
        <a:fillRect/>
      </a:stretch>
    </a:blipFill>
    <a:scene3d>
      <a:camera prst="orthographicFront"/>
      <a:lightRig rig="threePt" dir="t"/>
    </a:scene3d>
    <a:sp3d prstMaterial="matte">
      <a:bevelT w="127000" h="63500"/>
    </a:sp3d>
  </c:spPr>
  <c:txPr>
    <a:bodyPr/>
    <a:lstStyle/>
    <a:p>
      <a:pPr>
        <a:defRPr>
          <a:latin typeface="Arial Narrow" pitchFamily="34" charset="0"/>
        </a:defRPr>
      </a:pPr>
      <a:endParaRPr lang="es-ES"/>
    </a:p>
  </c:txPr>
  <c:externalData r:id="rId2"/>
  <c:userShapes r:id="rId3"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ES"/>
  <c:style val="27"/>
  <c:chart>
    <c:autoTitleDeleted val="1"/>
    <c:view3D>
      <c:depthPercent val="100"/>
      <c:perspective val="30"/>
    </c:view3D>
    <c:side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</c:sideWall>
    <c:back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  <c:pictureOptions>
        <c:pictureFormat val="stretch"/>
      </c:pictureOptions>
    </c:backWall>
    <c:plotArea>
      <c:layout>
        <c:manualLayout>
          <c:layoutTarget val="inner"/>
          <c:xMode val="edge"/>
          <c:yMode val="edge"/>
          <c:x val="0.10838467452844319"/>
          <c:y val="9.8650706044922765E-2"/>
          <c:w val="0.65030804717065915"/>
          <c:h val="0.75493446496758065"/>
        </c:manualLayout>
      </c:layout>
      <c:bar3DChart>
        <c:barDir val="col"/>
        <c:grouping val="stacked"/>
        <c:ser>
          <c:idx val="0"/>
          <c:order val="0"/>
          <c:tx>
            <c:strRef>
              <c:f>'otros cruces'!$C$294</c:f>
              <c:strCache>
                <c:ptCount val="1"/>
                <c:pt idx="0">
                  <c:v>Ano imperforado</c:v>
                </c:pt>
              </c:strCache>
            </c:strRef>
          </c:tx>
          <c:spPr>
            <a:solidFill>
              <a:srgbClr val="0000FF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dLbl>
              <c:idx val="3"/>
              <c:layout>
                <c:manualLayout>
                  <c:x val="1.0236724248240583E-2"/>
                  <c:y val="6.5789473684210523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lang="es-BO" sz="800" b="1">
                      <a:solidFill>
                        <a:sysClr val="windowText" lastClr="000000"/>
                      </a:solidFill>
                    </a:defRPr>
                  </a:pPr>
                  <a:endParaRPr lang="es-ES"/>
                </a:p>
              </c:txPr>
              <c:showVal val="1"/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lang="es-BO" sz="800" b="1"/>
                </a:pPr>
                <a:endParaRPr lang="es-ES"/>
              </a:p>
            </c:txPr>
            <c:showVal val="1"/>
          </c:dLbls>
          <c:cat>
            <c:strRef>
              <c:f>'otros cruces'!$B$295:$B$296</c:f>
              <c:strCache>
                <c:ptCount val="2"/>
                <c:pt idx="0">
                  <c:v>fumiga </c:v>
                </c:pt>
                <c:pt idx="1">
                  <c:v>abona</c:v>
                </c:pt>
              </c:strCache>
            </c:strRef>
          </c:cat>
          <c:val>
            <c:numRef>
              <c:f>'otros cruces'!$C$295:$C$296</c:f>
              <c:numCache>
                <c:formatCode>General</c:formatCode>
                <c:ptCount val="2"/>
                <c:pt idx="0" formatCode="#,##0.0%">
                  <c:v>0.8333333333333337</c:v>
                </c:pt>
              </c:numCache>
            </c:numRef>
          </c:val>
        </c:ser>
        <c:ser>
          <c:idx val="3"/>
          <c:order val="1"/>
          <c:tx>
            <c:strRef>
              <c:f>'otros cruces'!$D$294</c:f>
              <c:strCache>
                <c:ptCount val="1"/>
                <c:pt idx="0">
                  <c:v>Fístula Escrotal</c:v>
                </c:pt>
              </c:strCache>
            </c:strRef>
          </c:tx>
          <c:spPr>
            <a:solidFill>
              <a:srgbClr val="FFFF0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dLbl>
              <c:idx val="0"/>
              <c:delete val="1"/>
            </c:dLbl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cruces'!$B$295:$B$296</c:f>
              <c:strCache>
                <c:ptCount val="2"/>
                <c:pt idx="0">
                  <c:v>fumiga </c:v>
                </c:pt>
                <c:pt idx="1">
                  <c:v>abona</c:v>
                </c:pt>
              </c:strCache>
            </c:strRef>
          </c:cat>
          <c:val>
            <c:numRef>
              <c:f>'otros cruces'!$D$295:$D$296</c:f>
              <c:numCache>
                <c:formatCode>#,##0.0%</c:formatCode>
                <c:ptCount val="2"/>
                <c:pt idx="1">
                  <c:v>0.16666666666666669</c:v>
                </c:pt>
              </c:numCache>
            </c:numRef>
          </c:val>
        </c:ser>
        <c:shape val="box"/>
        <c:axId val="143363456"/>
        <c:axId val="143373824"/>
        <c:axId val="0"/>
      </c:bar3DChart>
      <c:catAx>
        <c:axId val="143363456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lang="es-BO" sz="1000" b="1" i="0" u="none" strike="noStrike" baseline="0">
                    <a:solidFill>
                      <a:srgbClr val="993300"/>
                    </a:solidFill>
                    <a:latin typeface="Arial Narrow"/>
                    <a:ea typeface="Arial Narrow"/>
                    <a:cs typeface="Arial Narrow"/>
                  </a:defRPr>
                </a:pPr>
                <a:r>
                  <a:rPr lang="en-US"/>
                  <a:t>actividad que realiza con el cultivo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0" sourceLinked="1"/>
        <c:majorTickMark val="none"/>
        <c:tickLblPos val="nextTo"/>
        <c:txPr>
          <a:bodyPr/>
          <a:lstStyle/>
          <a:p>
            <a:pPr>
              <a:defRPr lang="es-BO" sz="700" b="1"/>
            </a:pPr>
            <a:endParaRPr lang="es-ES"/>
          </a:p>
        </c:txPr>
        <c:crossAx val="143373824"/>
        <c:crosses val="autoZero"/>
        <c:auto val="1"/>
        <c:lblAlgn val="ctr"/>
        <c:lblOffset val="100"/>
      </c:catAx>
      <c:valAx>
        <c:axId val="143373824"/>
        <c:scaling>
          <c:orientation val="minMax"/>
          <c:max val="0.60000000000000064"/>
          <c:min val="0"/>
        </c:scaling>
        <c:axPos val="l"/>
        <c:majorGridlines/>
        <c:title>
          <c:tx>
            <c:rich>
              <a:bodyPr/>
              <a:lstStyle/>
              <a:p>
                <a:pPr>
                  <a:defRPr lang="es-BO">
                    <a:solidFill>
                      <a:srgbClr val="006000"/>
                    </a:solidFill>
                  </a:defRPr>
                </a:pPr>
                <a:r>
                  <a:rPr lang="es-ES">
                    <a:solidFill>
                      <a:srgbClr val="006000"/>
                    </a:solidFill>
                  </a:rPr>
                  <a:t>Porcentaje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%" sourceLinked="1"/>
        <c:tickLblPos val="nextTo"/>
        <c:txPr>
          <a:bodyPr/>
          <a:lstStyle/>
          <a:p>
            <a:pPr>
              <a:defRPr lang="es-BO" sz="800" b="1">
                <a:solidFill>
                  <a:schemeClr val="accent3">
                    <a:lumMod val="50000"/>
                  </a:schemeClr>
                </a:solidFill>
              </a:defRPr>
            </a:pPr>
            <a:endParaRPr lang="es-ES"/>
          </a:p>
        </c:txPr>
        <c:crossAx val="143363456"/>
        <c:crosses val="autoZero"/>
        <c:crossBetween val="between"/>
        <c:majorUnit val="0.1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76278268897369461"/>
          <c:y val="0.23987604353194286"/>
          <c:w val="0.18821141222377891"/>
          <c:h val="0.39800034341501928"/>
        </c:manualLayout>
      </c:layout>
      <c:txPr>
        <a:bodyPr/>
        <a:lstStyle/>
        <a:p>
          <a:pPr>
            <a:defRPr lang="es-BO" sz="700" b="1" i="1"/>
          </a:pPr>
          <a:endParaRPr lang="es-ES"/>
        </a:p>
      </c:txPr>
    </c:legend>
    <c:plotVisOnly val="1"/>
    <c:dispBlanksAs val="gap"/>
  </c:chart>
  <c:spPr>
    <a:blipFill>
      <a:blip xmlns:r="http://schemas.openxmlformats.org/officeDocument/2006/relationships" r:embed="rId1"/>
      <a:stretch>
        <a:fillRect/>
      </a:stretch>
    </a:blipFill>
    <a:scene3d>
      <a:camera prst="orthographicFront"/>
      <a:lightRig rig="threePt" dir="t"/>
    </a:scene3d>
    <a:sp3d prstMaterial="matte">
      <a:bevelT w="127000" h="63500"/>
    </a:sp3d>
  </c:spPr>
  <c:txPr>
    <a:bodyPr/>
    <a:lstStyle/>
    <a:p>
      <a:pPr>
        <a:defRPr>
          <a:latin typeface="Arial Narrow" pitchFamily="34" charset="0"/>
        </a:defRPr>
      </a:pPr>
      <a:endParaRPr lang="es-ES"/>
    </a:p>
  </c:txPr>
  <c:externalData r:id="rId2"/>
  <c:userShapes r:id="rId3"/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ES"/>
  <c:style val="27"/>
  <c:chart>
    <c:autoTitleDeleted val="1"/>
    <c:view3D>
      <c:depthPercent val="100"/>
      <c:perspective val="30"/>
    </c:view3D>
    <c:side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</c:sideWall>
    <c:back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  <c:pictureOptions>
        <c:pictureFormat val="stretch"/>
      </c:pictureOptions>
    </c:backWall>
    <c:plotArea>
      <c:layout>
        <c:manualLayout>
          <c:layoutTarget val="inner"/>
          <c:xMode val="edge"/>
          <c:yMode val="edge"/>
          <c:x val="0.10838467452844319"/>
          <c:y val="9.8650706044922765E-2"/>
          <c:w val="0.65030804717065915"/>
          <c:h val="0.75493446496758065"/>
        </c:manualLayout>
      </c:layout>
      <c:bar3DChart>
        <c:barDir val="col"/>
        <c:grouping val="stacked"/>
        <c:ser>
          <c:idx val="0"/>
          <c:order val="0"/>
          <c:tx>
            <c:strRef>
              <c:f>'otros cruces'!$C$294</c:f>
              <c:strCache>
                <c:ptCount val="1"/>
                <c:pt idx="0">
                  <c:v>Ano imperforado</c:v>
                </c:pt>
              </c:strCache>
            </c:strRef>
          </c:tx>
          <c:spPr>
            <a:solidFill>
              <a:srgbClr val="0000FF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dLbl>
              <c:idx val="3"/>
              <c:layout>
                <c:manualLayout>
                  <c:x val="1.0236724248240583E-2"/>
                  <c:y val="6.5789473684210523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lang="es-BO" sz="800" b="1">
                      <a:solidFill>
                        <a:sysClr val="windowText" lastClr="000000"/>
                      </a:solidFill>
                    </a:defRPr>
                  </a:pPr>
                  <a:endParaRPr lang="es-ES"/>
                </a:p>
              </c:txPr>
              <c:showVal val="1"/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lang="es-BO" sz="800" b="1"/>
                </a:pPr>
                <a:endParaRPr lang="es-ES"/>
              </a:p>
            </c:txPr>
            <c:showVal val="1"/>
          </c:dLbls>
          <c:cat>
            <c:strRef>
              <c:f>'otros cruces'!$B$295:$B$296</c:f>
              <c:strCache>
                <c:ptCount val="2"/>
                <c:pt idx="0">
                  <c:v>guantes</c:v>
                </c:pt>
                <c:pt idx="1">
                  <c:v>nada</c:v>
                </c:pt>
              </c:strCache>
            </c:strRef>
          </c:cat>
          <c:val>
            <c:numRef>
              <c:f>'otros cruces'!$C$295:$C$296</c:f>
              <c:numCache>
                <c:formatCode>#,##0.0%</c:formatCode>
                <c:ptCount val="2"/>
                <c:pt idx="0">
                  <c:v>0.33333333333333337</c:v>
                </c:pt>
                <c:pt idx="1">
                  <c:v>0.5</c:v>
                </c:pt>
              </c:numCache>
            </c:numRef>
          </c:val>
        </c:ser>
        <c:ser>
          <c:idx val="3"/>
          <c:order val="1"/>
          <c:tx>
            <c:strRef>
              <c:f>'otros cruces'!$D$294</c:f>
              <c:strCache>
                <c:ptCount val="1"/>
                <c:pt idx="0">
                  <c:v>Fístula Escrotal</c:v>
                </c:pt>
              </c:strCache>
            </c:strRef>
          </c:tx>
          <c:spPr>
            <a:solidFill>
              <a:srgbClr val="FFFF0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dLbl>
              <c:idx val="0"/>
              <c:delete val="1"/>
            </c:dLbl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cruces'!$B$295:$B$296</c:f>
              <c:strCache>
                <c:ptCount val="2"/>
                <c:pt idx="0">
                  <c:v>guantes</c:v>
                </c:pt>
                <c:pt idx="1">
                  <c:v>nada</c:v>
                </c:pt>
              </c:strCache>
            </c:strRef>
          </c:cat>
          <c:val>
            <c:numRef>
              <c:f>'otros cruces'!$D$295:$D$296</c:f>
              <c:numCache>
                <c:formatCode>#,##0.0%</c:formatCode>
                <c:ptCount val="2"/>
                <c:pt idx="1">
                  <c:v>0.16666666666666669</c:v>
                </c:pt>
              </c:numCache>
            </c:numRef>
          </c:val>
        </c:ser>
        <c:shape val="box"/>
        <c:axId val="147028992"/>
        <c:axId val="147036800"/>
        <c:axId val="0"/>
      </c:bar3DChart>
      <c:catAx>
        <c:axId val="147028992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lang="es-BO" sz="1000" b="1" i="0" u="none" strike="noStrike" baseline="0">
                    <a:solidFill>
                      <a:srgbClr val="993300"/>
                    </a:solidFill>
                    <a:latin typeface="Arial Narrow"/>
                    <a:ea typeface="Arial Narrow"/>
                    <a:cs typeface="Arial Narrow"/>
                  </a:defRPr>
                </a:pPr>
                <a:r>
                  <a:rPr lang="en-US"/>
                  <a:t>protección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0" sourceLinked="1"/>
        <c:majorTickMark val="none"/>
        <c:tickLblPos val="nextTo"/>
        <c:txPr>
          <a:bodyPr/>
          <a:lstStyle/>
          <a:p>
            <a:pPr>
              <a:defRPr lang="es-BO" sz="700" b="1"/>
            </a:pPr>
            <a:endParaRPr lang="es-ES"/>
          </a:p>
        </c:txPr>
        <c:crossAx val="147036800"/>
        <c:crosses val="autoZero"/>
        <c:auto val="1"/>
        <c:lblAlgn val="ctr"/>
        <c:lblOffset val="100"/>
      </c:catAx>
      <c:valAx>
        <c:axId val="147036800"/>
        <c:scaling>
          <c:orientation val="minMax"/>
          <c:max val="0.60000000000000064"/>
          <c:min val="0"/>
        </c:scaling>
        <c:axPos val="l"/>
        <c:majorGridlines/>
        <c:title>
          <c:tx>
            <c:rich>
              <a:bodyPr/>
              <a:lstStyle/>
              <a:p>
                <a:pPr>
                  <a:defRPr lang="es-BO">
                    <a:solidFill>
                      <a:srgbClr val="006000"/>
                    </a:solidFill>
                  </a:defRPr>
                </a:pPr>
                <a:r>
                  <a:rPr lang="es-ES">
                    <a:solidFill>
                      <a:srgbClr val="006000"/>
                    </a:solidFill>
                  </a:rPr>
                  <a:t>Porcentaje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%" sourceLinked="1"/>
        <c:tickLblPos val="nextTo"/>
        <c:txPr>
          <a:bodyPr/>
          <a:lstStyle/>
          <a:p>
            <a:pPr>
              <a:defRPr lang="es-BO" sz="800" b="1">
                <a:solidFill>
                  <a:schemeClr val="accent3">
                    <a:lumMod val="50000"/>
                  </a:schemeClr>
                </a:solidFill>
              </a:defRPr>
            </a:pPr>
            <a:endParaRPr lang="es-ES"/>
          </a:p>
        </c:txPr>
        <c:crossAx val="147028992"/>
        <c:crosses val="autoZero"/>
        <c:crossBetween val="between"/>
        <c:majorUnit val="0.1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76278268897369461"/>
          <c:y val="0.23987604353194286"/>
          <c:w val="0.18821141222377891"/>
          <c:h val="0.39800034341501928"/>
        </c:manualLayout>
      </c:layout>
      <c:txPr>
        <a:bodyPr/>
        <a:lstStyle/>
        <a:p>
          <a:pPr>
            <a:defRPr lang="es-BO" sz="700" b="1" i="1"/>
          </a:pPr>
          <a:endParaRPr lang="es-ES"/>
        </a:p>
      </c:txPr>
    </c:legend>
    <c:plotVisOnly val="1"/>
    <c:dispBlanksAs val="gap"/>
  </c:chart>
  <c:spPr>
    <a:blipFill>
      <a:blip xmlns:r="http://schemas.openxmlformats.org/officeDocument/2006/relationships" r:embed="rId1"/>
      <a:stretch>
        <a:fillRect/>
      </a:stretch>
    </a:blipFill>
    <a:scene3d>
      <a:camera prst="orthographicFront"/>
      <a:lightRig rig="threePt" dir="t"/>
    </a:scene3d>
    <a:sp3d prstMaterial="matte">
      <a:bevelT w="127000" h="63500"/>
    </a:sp3d>
  </c:spPr>
  <c:txPr>
    <a:bodyPr/>
    <a:lstStyle/>
    <a:p>
      <a:pPr>
        <a:defRPr>
          <a:latin typeface="Arial Narrow" pitchFamily="34" charset="0"/>
        </a:defRPr>
      </a:pPr>
      <a:endParaRPr lang="es-ES"/>
    </a:p>
  </c:txPr>
  <c:externalData r:id="rId2"/>
  <c:userShapes r:id="rId3"/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ES"/>
  <c:style val="27"/>
  <c:chart>
    <c:autoTitleDeleted val="1"/>
    <c:view3D>
      <c:depthPercent val="100"/>
      <c:perspective val="30"/>
    </c:view3D>
    <c:side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</c:sideWall>
    <c:back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  <c:pictureOptions>
        <c:pictureFormat val="stretch"/>
      </c:pictureOptions>
    </c:backWall>
    <c:plotArea>
      <c:layout>
        <c:manualLayout>
          <c:layoutTarget val="inner"/>
          <c:xMode val="edge"/>
          <c:yMode val="edge"/>
          <c:x val="0.10838467452844319"/>
          <c:y val="9.8650706044922765E-2"/>
          <c:w val="0.65030804717065915"/>
          <c:h val="0.75493446496758065"/>
        </c:manualLayout>
      </c:layout>
      <c:bar3DChart>
        <c:barDir val="col"/>
        <c:grouping val="stacked"/>
        <c:ser>
          <c:idx val="0"/>
          <c:order val="0"/>
          <c:tx>
            <c:strRef>
              <c:f>'otros cruces'!$C$294</c:f>
              <c:strCache>
                <c:ptCount val="1"/>
                <c:pt idx="0">
                  <c:v>Ano imperforado</c:v>
                </c:pt>
              </c:strCache>
            </c:strRef>
          </c:tx>
          <c:spPr>
            <a:solidFill>
              <a:srgbClr val="0000FF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dLbl>
              <c:idx val="3"/>
              <c:layout>
                <c:manualLayout>
                  <c:x val="1.0236724248240583E-2"/>
                  <c:y val="6.5789473684210523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lang="es-BO" sz="800" b="1">
                      <a:solidFill>
                        <a:sysClr val="windowText" lastClr="000000"/>
                      </a:solidFill>
                    </a:defRPr>
                  </a:pPr>
                  <a:endParaRPr lang="es-ES"/>
                </a:p>
              </c:txPr>
              <c:showVal val="1"/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lang="es-BO" sz="800" b="1"/>
                </a:pPr>
                <a:endParaRPr lang="es-ES"/>
              </a:p>
            </c:txPr>
            <c:showVal val="1"/>
          </c:dLbls>
          <c:cat>
            <c:strRef>
              <c:f>'otros cruces'!$B$295:$B$297</c:f>
              <c:strCache>
                <c:ptCount val="3"/>
                <c:pt idx="0">
                  <c:v>lavado de manos</c:v>
                </c:pt>
                <c:pt idx="1">
                  <c:v>baño</c:v>
                </c:pt>
                <c:pt idx="2">
                  <c:v>nada</c:v>
                </c:pt>
              </c:strCache>
            </c:strRef>
          </c:cat>
          <c:val>
            <c:numRef>
              <c:f>'otros cruces'!$C$295:$C$297</c:f>
              <c:numCache>
                <c:formatCode>#,##0.0%</c:formatCode>
                <c:ptCount val="3"/>
                <c:pt idx="0">
                  <c:v>0.5</c:v>
                </c:pt>
                <c:pt idx="1">
                  <c:v>0.16666666666666669</c:v>
                </c:pt>
                <c:pt idx="2">
                  <c:v>0.16666666666666669</c:v>
                </c:pt>
              </c:numCache>
            </c:numRef>
          </c:val>
        </c:ser>
        <c:ser>
          <c:idx val="3"/>
          <c:order val="1"/>
          <c:tx>
            <c:strRef>
              <c:f>'otros cruces'!$D$294</c:f>
              <c:strCache>
                <c:ptCount val="1"/>
                <c:pt idx="0">
                  <c:v>Fístula Escrotal</c:v>
                </c:pt>
              </c:strCache>
            </c:strRef>
          </c:tx>
          <c:spPr>
            <a:solidFill>
              <a:srgbClr val="FFFF0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cruces'!$B$295:$B$297</c:f>
              <c:strCache>
                <c:ptCount val="3"/>
                <c:pt idx="0">
                  <c:v>lavado de manos</c:v>
                </c:pt>
                <c:pt idx="1">
                  <c:v>baño</c:v>
                </c:pt>
                <c:pt idx="2">
                  <c:v>nada</c:v>
                </c:pt>
              </c:strCache>
            </c:strRef>
          </c:cat>
          <c:val>
            <c:numRef>
              <c:f>'otros cruces'!$D$295:$D$297</c:f>
              <c:numCache>
                <c:formatCode>General</c:formatCode>
                <c:ptCount val="3"/>
                <c:pt idx="0" formatCode="#,##0.0%">
                  <c:v>0.16666666666666669</c:v>
                </c:pt>
              </c:numCache>
            </c:numRef>
          </c:val>
        </c:ser>
        <c:shape val="box"/>
        <c:axId val="146157952"/>
        <c:axId val="146161024"/>
        <c:axId val="0"/>
      </c:bar3DChart>
      <c:catAx>
        <c:axId val="146157952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lang="es-BO" sz="1000" b="1" i="0" u="none" strike="noStrike" baseline="0">
                    <a:solidFill>
                      <a:srgbClr val="993300"/>
                    </a:solidFill>
                    <a:latin typeface="Arial Narrow"/>
                    <a:ea typeface="Arial Narrow"/>
                    <a:cs typeface="Arial Narrow"/>
                  </a:defRPr>
                </a:pPr>
                <a:r>
                  <a:rPr lang="en-US"/>
                  <a:t>protección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0" sourceLinked="1"/>
        <c:majorTickMark val="none"/>
        <c:tickLblPos val="nextTo"/>
        <c:txPr>
          <a:bodyPr/>
          <a:lstStyle/>
          <a:p>
            <a:pPr>
              <a:defRPr lang="es-BO" sz="700" b="1"/>
            </a:pPr>
            <a:endParaRPr lang="es-ES"/>
          </a:p>
        </c:txPr>
        <c:crossAx val="146161024"/>
        <c:crosses val="autoZero"/>
        <c:auto val="1"/>
        <c:lblAlgn val="ctr"/>
        <c:lblOffset val="100"/>
      </c:catAx>
      <c:valAx>
        <c:axId val="146161024"/>
        <c:scaling>
          <c:orientation val="minMax"/>
          <c:max val="0.70000000000000062"/>
          <c:min val="0"/>
        </c:scaling>
        <c:axPos val="l"/>
        <c:majorGridlines/>
        <c:title>
          <c:tx>
            <c:rich>
              <a:bodyPr/>
              <a:lstStyle/>
              <a:p>
                <a:pPr>
                  <a:defRPr lang="es-BO">
                    <a:solidFill>
                      <a:srgbClr val="006000"/>
                    </a:solidFill>
                  </a:defRPr>
                </a:pPr>
                <a:r>
                  <a:rPr lang="es-ES">
                    <a:solidFill>
                      <a:srgbClr val="006000"/>
                    </a:solidFill>
                  </a:rPr>
                  <a:t>Porcentaje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%" sourceLinked="1"/>
        <c:tickLblPos val="nextTo"/>
        <c:txPr>
          <a:bodyPr/>
          <a:lstStyle/>
          <a:p>
            <a:pPr>
              <a:defRPr lang="es-BO" sz="800" b="1">
                <a:solidFill>
                  <a:schemeClr val="accent3">
                    <a:lumMod val="50000"/>
                  </a:schemeClr>
                </a:solidFill>
              </a:defRPr>
            </a:pPr>
            <a:endParaRPr lang="es-ES"/>
          </a:p>
        </c:txPr>
        <c:crossAx val="146157952"/>
        <c:crosses val="autoZero"/>
        <c:crossBetween val="between"/>
        <c:majorUnit val="0.1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76278268897369461"/>
          <c:y val="0.23987604353194286"/>
          <c:w val="0.18821141222377891"/>
          <c:h val="0.39800034341501928"/>
        </c:manualLayout>
      </c:layout>
      <c:txPr>
        <a:bodyPr/>
        <a:lstStyle/>
        <a:p>
          <a:pPr>
            <a:defRPr lang="es-BO" sz="700" b="1" i="1"/>
          </a:pPr>
          <a:endParaRPr lang="es-ES"/>
        </a:p>
      </c:txPr>
    </c:legend>
    <c:plotVisOnly val="1"/>
    <c:dispBlanksAs val="gap"/>
  </c:chart>
  <c:spPr>
    <a:blipFill>
      <a:blip xmlns:r="http://schemas.openxmlformats.org/officeDocument/2006/relationships" r:embed="rId1"/>
      <a:stretch>
        <a:fillRect/>
      </a:stretch>
    </a:blipFill>
    <a:scene3d>
      <a:camera prst="orthographicFront"/>
      <a:lightRig rig="threePt" dir="t"/>
    </a:scene3d>
    <a:sp3d prstMaterial="matte">
      <a:bevelT w="127000" h="63500"/>
    </a:sp3d>
  </c:spPr>
  <c:txPr>
    <a:bodyPr/>
    <a:lstStyle/>
    <a:p>
      <a:pPr>
        <a:defRPr>
          <a:latin typeface="Arial Narrow" pitchFamily="34" charset="0"/>
        </a:defRPr>
      </a:pPr>
      <a:endParaRPr lang="es-ES"/>
    </a:p>
  </c:txPr>
  <c:externalData r:id="rId2"/>
  <c:userShapes r:id="rId3"/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ES"/>
  <c:style val="27"/>
  <c:chart>
    <c:autoTitleDeleted val="1"/>
    <c:view3D>
      <c:depthPercent val="100"/>
      <c:perspective val="30"/>
    </c:view3D>
    <c:side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</c:sideWall>
    <c:back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  <c:pictureOptions>
        <c:pictureFormat val="stretch"/>
      </c:pictureOptions>
    </c:backWall>
    <c:plotArea>
      <c:layout>
        <c:manualLayout>
          <c:layoutTarget val="inner"/>
          <c:xMode val="edge"/>
          <c:yMode val="edge"/>
          <c:x val="0.10838467452844319"/>
          <c:y val="9.8650706044922765E-2"/>
          <c:w val="0.65030804717065915"/>
          <c:h val="0.75493446496758065"/>
        </c:manualLayout>
      </c:layout>
      <c:bar3DChart>
        <c:barDir val="col"/>
        <c:grouping val="stacked"/>
        <c:ser>
          <c:idx val="0"/>
          <c:order val="0"/>
          <c:tx>
            <c:strRef>
              <c:f>'otros cruces'!$C$294</c:f>
              <c:strCache>
                <c:ptCount val="1"/>
                <c:pt idx="0">
                  <c:v>Ano imperforado</c:v>
                </c:pt>
              </c:strCache>
            </c:strRef>
          </c:tx>
          <c:spPr>
            <a:solidFill>
              <a:srgbClr val="0000FF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dLbl>
              <c:idx val="3"/>
              <c:layout>
                <c:manualLayout>
                  <c:x val="1.0236724248240583E-2"/>
                  <c:y val="6.5789473684210523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lang="es-BO" sz="800" b="1">
                      <a:solidFill>
                        <a:sysClr val="windowText" lastClr="000000"/>
                      </a:solidFill>
                    </a:defRPr>
                  </a:pPr>
                  <a:endParaRPr lang="es-ES"/>
                </a:p>
              </c:txPr>
              <c:showVal val="1"/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lang="es-BO" sz="800" b="1"/>
                </a:pPr>
                <a:endParaRPr lang="es-ES"/>
              </a:p>
            </c:txPr>
            <c:showVal val="1"/>
          </c:dLbls>
          <c:cat>
            <c:strRef>
              <c:f>'otros cruces'!$B$295:$B$297</c:f>
              <c:strCache>
                <c:ptCount val="3"/>
                <c:pt idx="0">
                  <c:v>otro cuarto</c:v>
                </c:pt>
                <c:pt idx="1">
                  <c:v>patio</c:v>
                </c:pt>
                <c:pt idx="2">
                  <c:v>lejos de casa</c:v>
                </c:pt>
              </c:strCache>
            </c:strRef>
          </c:cat>
          <c:val>
            <c:numRef>
              <c:f>'otros cruces'!$C$295:$C$297</c:f>
              <c:numCache>
                <c:formatCode>#,##0.0%</c:formatCode>
                <c:ptCount val="3"/>
                <c:pt idx="0">
                  <c:v>0.33333333333333337</c:v>
                </c:pt>
                <c:pt idx="1">
                  <c:v>0.16666666666666669</c:v>
                </c:pt>
                <c:pt idx="2">
                  <c:v>0.33333333333333337</c:v>
                </c:pt>
              </c:numCache>
            </c:numRef>
          </c:val>
        </c:ser>
        <c:ser>
          <c:idx val="3"/>
          <c:order val="1"/>
          <c:tx>
            <c:strRef>
              <c:f>'otros cruces'!$D$294</c:f>
              <c:strCache>
                <c:ptCount val="1"/>
                <c:pt idx="0">
                  <c:v>Fístula Escrotal</c:v>
                </c:pt>
              </c:strCache>
            </c:strRef>
          </c:tx>
          <c:spPr>
            <a:solidFill>
              <a:srgbClr val="FFFF0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cruces'!$B$295:$B$297</c:f>
              <c:strCache>
                <c:ptCount val="3"/>
                <c:pt idx="0">
                  <c:v>otro cuarto</c:v>
                </c:pt>
                <c:pt idx="1">
                  <c:v>patio</c:v>
                </c:pt>
                <c:pt idx="2">
                  <c:v>lejos de casa</c:v>
                </c:pt>
              </c:strCache>
            </c:strRef>
          </c:cat>
          <c:val>
            <c:numRef>
              <c:f>'otros cruces'!$D$295:$D$297</c:f>
              <c:numCache>
                <c:formatCode>#,##0.0%</c:formatCode>
                <c:ptCount val="3"/>
                <c:pt idx="1">
                  <c:v>0.16666666666666669</c:v>
                </c:pt>
              </c:numCache>
            </c:numRef>
          </c:val>
        </c:ser>
        <c:shape val="box"/>
        <c:axId val="152951040"/>
        <c:axId val="152961408"/>
        <c:axId val="0"/>
      </c:bar3DChart>
      <c:catAx>
        <c:axId val="152951040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lang="es-BO" sz="1000" b="1" i="0" u="none" strike="noStrike" baseline="0">
                    <a:solidFill>
                      <a:srgbClr val="993300"/>
                    </a:solidFill>
                    <a:latin typeface="Arial Narrow"/>
                    <a:ea typeface="Arial Narrow"/>
                    <a:cs typeface="Arial Narrow"/>
                  </a:defRPr>
                </a:pPr>
                <a:r>
                  <a:rPr lang="en-US"/>
                  <a:t>almacenamiento del quimico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0" sourceLinked="1"/>
        <c:majorTickMark val="none"/>
        <c:tickLblPos val="nextTo"/>
        <c:txPr>
          <a:bodyPr/>
          <a:lstStyle/>
          <a:p>
            <a:pPr>
              <a:defRPr lang="es-BO" sz="700" b="1"/>
            </a:pPr>
            <a:endParaRPr lang="es-ES"/>
          </a:p>
        </c:txPr>
        <c:crossAx val="152961408"/>
        <c:crosses val="autoZero"/>
        <c:auto val="1"/>
        <c:lblAlgn val="ctr"/>
        <c:lblOffset val="100"/>
      </c:catAx>
      <c:valAx>
        <c:axId val="152961408"/>
        <c:scaling>
          <c:orientation val="minMax"/>
          <c:max val="0.4"/>
          <c:min val="0"/>
        </c:scaling>
        <c:axPos val="l"/>
        <c:majorGridlines/>
        <c:title>
          <c:tx>
            <c:rich>
              <a:bodyPr/>
              <a:lstStyle/>
              <a:p>
                <a:pPr>
                  <a:defRPr lang="es-BO">
                    <a:solidFill>
                      <a:srgbClr val="006000"/>
                    </a:solidFill>
                  </a:defRPr>
                </a:pPr>
                <a:r>
                  <a:rPr lang="es-ES">
                    <a:solidFill>
                      <a:srgbClr val="006000"/>
                    </a:solidFill>
                  </a:rPr>
                  <a:t>Porcentaje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%" sourceLinked="1"/>
        <c:tickLblPos val="nextTo"/>
        <c:txPr>
          <a:bodyPr/>
          <a:lstStyle/>
          <a:p>
            <a:pPr>
              <a:defRPr lang="es-BO" sz="800" b="1">
                <a:solidFill>
                  <a:schemeClr val="accent3">
                    <a:lumMod val="50000"/>
                  </a:schemeClr>
                </a:solidFill>
              </a:defRPr>
            </a:pPr>
            <a:endParaRPr lang="es-ES"/>
          </a:p>
        </c:txPr>
        <c:crossAx val="152951040"/>
        <c:crosses val="autoZero"/>
        <c:crossBetween val="between"/>
        <c:majorUnit val="0.1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76278268897369461"/>
          <c:y val="0.23987604353194286"/>
          <c:w val="0.18821141222377891"/>
          <c:h val="0.39800034341501928"/>
        </c:manualLayout>
      </c:layout>
      <c:txPr>
        <a:bodyPr/>
        <a:lstStyle/>
        <a:p>
          <a:pPr>
            <a:defRPr lang="es-BO" sz="700" b="1" i="1"/>
          </a:pPr>
          <a:endParaRPr lang="es-ES"/>
        </a:p>
      </c:txPr>
    </c:legend>
    <c:plotVisOnly val="1"/>
    <c:dispBlanksAs val="gap"/>
  </c:chart>
  <c:spPr>
    <a:blipFill>
      <a:blip xmlns:r="http://schemas.openxmlformats.org/officeDocument/2006/relationships" r:embed="rId1"/>
      <a:stretch>
        <a:fillRect/>
      </a:stretch>
    </a:blipFill>
    <a:scene3d>
      <a:camera prst="orthographicFront"/>
      <a:lightRig rig="threePt" dir="t"/>
    </a:scene3d>
    <a:sp3d prstMaterial="matte">
      <a:bevelT w="127000" h="63500"/>
    </a:sp3d>
  </c:spPr>
  <c:txPr>
    <a:bodyPr/>
    <a:lstStyle/>
    <a:p>
      <a:pPr>
        <a:defRPr>
          <a:latin typeface="Arial Narrow" pitchFamily="34" charset="0"/>
        </a:defRPr>
      </a:pPr>
      <a:endParaRPr lang="es-ES"/>
    </a:p>
  </c:txPr>
  <c:externalData r:id="rId2"/>
  <c:userShapes r:id="rId3"/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s-ES"/>
  <c:style val="27"/>
  <c:chart>
    <c:autoTitleDeleted val="1"/>
    <c:view3D>
      <c:depthPercent val="100"/>
      <c:perspective val="30"/>
    </c:view3D>
    <c:side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</c:sideWall>
    <c:backWall>
      <c:spPr>
        <a:blipFill>
          <a:blip xmlns:r="http://schemas.openxmlformats.org/officeDocument/2006/relationships" r:embed="rId1">
            <a:alphaModFix amt="86000"/>
          </a:blip>
          <a:stretch>
            <a:fillRect/>
          </a:stretch>
        </a:blipFill>
        <a:scene3d>
          <a:camera prst="orthographicFront"/>
          <a:lightRig rig="threePt" dir="t"/>
        </a:scene3d>
        <a:sp3d prstMaterial="softEdge">
          <a:bevelT/>
        </a:sp3d>
      </c:spPr>
      <c:pictureOptions>
        <c:pictureFormat val="stretch"/>
      </c:pictureOptions>
    </c:backWall>
    <c:plotArea>
      <c:layout>
        <c:manualLayout>
          <c:layoutTarget val="inner"/>
          <c:xMode val="edge"/>
          <c:yMode val="edge"/>
          <c:x val="0.10838467452844319"/>
          <c:y val="7.3728587664859652E-2"/>
          <c:w val="0.65030804717065915"/>
          <c:h val="0.77985658334764218"/>
        </c:manualLayout>
      </c:layout>
      <c:bar3DChart>
        <c:barDir val="col"/>
        <c:grouping val="stacked"/>
        <c:ser>
          <c:idx val="0"/>
          <c:order val="0"/>
          <c:tx>
            <c:strRef>
              <c:f>'otros cruces'!$C$294</c:f>
              <c:strCache>
                <c:ptCount val="1"/>
                <c:pt idx="0">
                  <c:v>Ano imperforado</c:v>
                </c:pt>
              </c:strCache>
            </c:strRef>
          </c:tx>
          <c:spPr>
            <a:solidFill>
              <a:srgbClr val="0000FF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dLbl>
              <c:idx val="3"/>
              <c:layout>
                <c:manualLayout>
                  <c:x val="1.0236724248240583E-2"/>
                  <c:y val="6.5789473684210523E-2"/>
                </c:manualLayout>
              </c:layout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lang="es-BO" sz="800" b="1">
                      <a:solidFill>
                        <a:sysClr val="windowText" lastClr="000000"/>
                      </a:solidFill>
                    </a:defRPr>
                  </a:pPr>
                  <a:endParaRPr lang="es-ES"/>
                </a:p>
              </c:txPr>
              <c:showVal val="1"/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lang="es-BO" sz="800" b="1"/>
                </a:pPr>
                <a:endParaRPr lang="es-ES"/>
              </a:p>
            </c:txPr>
            <c:showVal val="1"/>
          </c:dLbls>
          <c:cat>
            <c:strRef>
              <c:f>'otros cruces'!$B$295:$B$296</c:f>
              <c:strCache>
                <c:ptCount val="2"/>
                <c:pt idx="0">
                  <c:v>Tabletas</c:v>
                </c:pt>
                <c:pt idx="1">
                  <c:v>Inyectables</c:v>
                </c:pt>
              </c:strCache>
            </c:strRef>
          </c:cat>
          <c:val>
            <c:numRef>
              <c:f>'otros cruces'!$C$295:$C$296</c:f>
              <c:numCache>
                <c:formatCode>#,##0.0%</c:formatCode>
                <c:ptCount val="2"/>
                <c:pt idx="0">
                  <c:v>0.25</c:v>
                </c:pt>
                <c:pt idx="1">
                  <c:v>0.25</c:v>
                </c:pt>
              </c:numCache>
            </c:numRef>
          </c:val>
        </c:ser>
        <c:ser>
          <c:idx val="2"/>
          <c:order val="1"/>
          <c:tx>
            <c:strRef>
              <c:f>'otros cruces'!$D$294</c:f>
              <c:strCache>
                <c:ptCount val="1"/>
                <c:pt idx="0">
                  <c:v>Fístula Vestibular</c:v>
                </c:pt>
              </c:strCache>
            </c:strRef>
          </c:tx>
          <c:spPr>
            <a:solidFill>
              <a:srgbClr val="FF00FF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lang="es-BO" sz="800" b="1"/>
                </a:pPr>
                <a:endParaRPr lang="es-ES"/>
              </a:p>
            </c:txPr>
            <c:showVal val="1"/>
          </c:dLbls>
          <c:cat>
            <c:strRef>
              <c:f>'otros cruces'!$B$295:$B$296</c:f>
              <c:strCache>
                <c:ptCount val="2"/>
                <c:pt idx="0">
                  <c:v>Tabletas</c:v>
                </c:pt>
                <c:pt idx="1">
                  <c:v>Inyectables</c:v>
                </c:pt>
              </c:strCache>
            </c:strRef>
          </c:cat>
          <c:val>
            <c:numRef>
              <c:f>'otros cruces'!$D$295:$D$296</c:f>
              <c:numCache>
                <c:formatCode>General</c:formatCode>
                <c:ptCount val="2"/>
                <c:pt idx="0" formatCode="#,##0.0%">
                  <c:v>0.25</c:v>
                </c:pt>
              </c:numCache>
            </c:numRef>
          </c:val>
        </c:ser>
        <c:ser>
          <c:idx val="5"/>
          <c:order val="2"/>
          <c:tx>
            <c:strRef>
              <c:f>'otros cruces'!$E$294</c:f>
              <c:strCache>
                <c:ptCount val="1"/>
                <c:pt idx="0">
                  <c:v>Fístula Rectovaginal</c:v>
                </c:pt>
              </c:strCache>
            </c:strRef>
          </c:tx>
          <c:spPr>
            <a:solidFill>
              <a:srgbClr val="7030A0"/>
            </a:solidFill>
            <a:ln w="25400">
              <a:noFill/>
            </a:ln>
            <a:effectLst>
              <a:outerShdw dist="35921" dir="2700000" algn="br">
                <a:srgbClr val="000000"/>
              </a:outerShdw>
            </a:effectLst>
          </c:spPr>
          <c:dLbls>
            <c:txPr>
              <a:bodyPr/>
              <a:lstStyle/>
              <a:p>
                <a:pPr>
                  <a:defRPr lang="es-BO"/>
                </a:pPr>
                <a:endParaRPr lang="es-ES"/>
              </a:p>
            </c:txPr>
            <c:showVal val="1"/>
          </c:dLbls>
          <c:cat>
            <c:strRef>
              <c:f>'otros cruces'!$B$295:$B$296</c:f>
              <c:strCache>
                <c:ptCount val="2"/>
                <c:pt idx="0">
                  <c:v>Tabletas</c:v>
                </c:pt>
                <c:pt idx="1">
                  <c:v>Inyectables</c:v>
                </c:pt>
              </c:strCache>
            </c:strRef>
          </c:cat>
          <c:val>
            <c:numRef>
              <c:f>'otros cruces'!$E$295:$E$296</c:f>
              <c:numCache>
                <c:formatCode>General</c:formatCode>
                <c:ptCount val="2"/>
                <c:pt idx="0" formatCode="#,##0.0%">
                  <c:v>0.25</c:v>
                </c:pt>
              </c:numCache>
            </c:numRef>
          </c:val>
        </c:ser>
        <c:shape val="box"/>
        <c:axId val="147021184"/>
        <c:axId val="147056512"/>
        <c:axId val="0"/>
      </c:bar3DChart>
      <c:catAx>
        <c:axId val="147021184"/>
        <c:scaling>
          <c:orientation val="minMax"/>
        </c:scaling>
        <c:axPos val="b"/>
        <c:title>
          <c:tx>
            <c:rich>
              <a:bodyPr/>
              <a:lstStyle/>
              <a:p>
                <a:pPr>
                  <a:defRPr lang="es-BO" sz="1000" b="1" i="0" u="none" strike="noStrike" baseline="0">
                    <a:solidFill>
                      <a:srgbClr val="993300"/>
                    </a:solidFill>
                    <a:latin typeface="Arial Narrow"/>
                    <a:ea typeface="Arial Narrow"/>
                    <a:cs typeface="Arial Narrow"/>
                  </a:defRPr>
                </a:pPr>
                <a:r>
                  <a:rPr lang="en-US"/>
                  <a:t>Tratamiento 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0" sourceLinked="1"/>
        <c:majorTickMark val="none"/>
        <c:tickLblPos val="nextTo"/>
        <c:txPr>
          <a:bodyPr/>
          <a:lstStyle/>
          <a:p>
            <a:pPr>
              <a:defRPr lang="es-BO" sz="700" b="1"/>
            </a:pPr>
            <a:endParaRPr lang="es-ES"/>
          </a:p>
        </c:txPr>
        <c:crossAx val="147056512"/>
        <c:crosses val="autoZero"/>
        <c:auto val="1"/>
        <c:lblAlgn val="ctr"/>
        <c:lblOffset val="100"/>
      </c:catAx>
      <c:valAx>
        <c:axId val="147056512"/>
        <c:scaling>
          <c:orientation val="minMax"/>
          <c:max val="0.8"/>
          <c:min val="0"/>
        </c:scaling>
        <c:axPos val="l"/>
        <c:majorGridlines/>
        <c:title>
          <c:tx>
            <c:rich>
              <a:bodyPr/>
              <a:lstStyle/>
              <a:p>
                <a:pPr>
                  <a:defRPr lang="es-BO">
                    <a:solidFill>
                      <a:srgbClr val="006000"/>
                    </a:solidFill>
                  </a:defRPr>
                </a:pPr>
                <a:r>
                  <a:rPr lang="es-ES">
                    <a:solidFill>
                      <a:srgbClr val="006000"/>
                    </a:solidFill>
                  </a:rPr>
                  <a:t>Porcentaje</a:t>
                </a:r>
              </a:p>
            </c:rich>
          </c:tx>
          <c:layout/>
          <c:spPr>
            <a:noFill/>
            <a:ln w="25400">
              <a:noFill/>
            </a:ln>
          </c:spPr>
        </c:title>
        <c:numFmt formatCode="#,##0.0%" sourceLinked="1"/>
        <c:tickLblPos val="nextTo"/>
        <c:txPr>
          <a:bodyPr/>
          <a:lstStyle/>
          <a:p>
            <a:pPr>
              <a:defRPr lang="es-BO" sz="800" b="1">
                <a:solidFill>
                  <a:schemeClr val="accent3">
                    <a:lumMod val="50000"/>
                  </a:schemeClr>
                </a:solidFill>
              </a:defRPr>
            </a:pPr>
            <a:endParaRPr lang="es-ES"/>
          </a:p>
        </c:txPr>
        <c:crossAx val="147021184"/>
        <c:crosses val="autoZero"/>
        <c:crossBetween val="between"/>
        <c:majorUnit val="0.1"/>
      </c:valAx>
      <c:spPr>
        <a:noFill/>
        <a:ln w="25400">
          <a:noFill/>
        </a:ln>
      </c:spPr>
    </c:plotArea>
    <c:legend>
      <c:legendPos val="r"/>
      <c:layout>
        <c:manualLayout>
          <c:xMode val="edge"/>
          <c:yMode val="edge"/>
          <c:x val="0.76278268897369461"/>
          <c:y val="0.23987604353194286"/>
          <c:w val="0.18821141222377891"/>
          <c:h val="0.40630771620837131"/>
        </c:manualLayout>
      </c:layout>
      <c:txPr>
        <a:bodyPr/>
        <a:lstStyle/>
        <a:p>
          <a:pPr>
            <a:defRPr lang="es-BO" sz="700" b="1" i="1"/>
          </a:pPr>
          <a:endParaRPr lang="es-ES"/>
        </a:p>
      </c:txPr>
    </c:legend>
    <c:plotVisOnly val="1"/>
    <c:dispBlanksAs val="gap"/>
  </c:chart>
  <c:spPr>
    <a:blipFill>
      <a:blip xmlns:r="http://schemas.openxmlformats.org/officeDocument/2006/relationships" r:embed="rId1"/>
      <a:stretch>
        <a:fillRect/>
      </a:stretch>
    </a:blipFill>
    <a:scene3d>
      <a:camera prst="orthographicFront"/>
      <a:lightRig rig="threePt" dir="t"/>
    </a:scene3d>
    <a:sp3d prstMaterial="matte">
      <a:bevelT w="127000" h="63500"/>
    </a:sp3d>
  </c:spPr>
  <c:txPr>
    <a:bodyPr/>
    <a:lstStyle/>
    <a:p>
      <a:pPr>
        <a:defRPr>
          <a:latin typeface="Arial Narrow" pitchFamily="34" charset="0"/>
        </a:defRPr>
      </a:pPr>
      <a:endParaRPr lang="es-ES"/>
    </a:p>
  </c:txPr>
  <c:externalData r:id="rId2"/>
  <c:userShapes r:id="rId3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C7DA41-D8BE-4ED4-B33B-3146057F04BE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DC9F62A0-88DE-4D90-8F06-EB95D1D940D0}">
      <dgm:prSet phldrT="[Texto]"/>
      <dgm:spPr/>
      <dgm:t>
        <a:bodyPr/>
        <a:lstStyle/>
        <a:p>
          <a:r>
            <a:rPr lang="es-ES" dirty="0" smtClean="0"/>
            <a:t>Causas ambientales de desarrollo anormal.</a:t>
          </a:r>
          <a:endParaRPr lang="es-ES" dirty="0"/>
        </a:p>
      </dgm:t>
    </dgm:pt>
    <dgm:pt modelId="{5EE7017B-EEE3-4404-BAB6-7DD690139FB3}" type="parTrans" cxnId="{253AE74B-36C8-4818-B772-45CF7EAA0D63}">
      <dgm:prSet/>
      <dgm:spPr/>
      <dgm:t>
        <a:bodyPr/>
        <a:lstStyle/>
        <a:p>
          <a:endParaRPr lang="es-ES"/>
        </a:p>
      </dgm:t>
    </dgm:pt>
    <dgm:pt modelId="{A841E793-F9D3-4802-B9CA-470996DB2B99}" type="sibTrans" cxnId="{253AE74B-36C8-4818-B772-45CF7EAA0D63}">
      <dgm:prSet/>
      <dgm:spPr/>
      <dgm:t>
        <a:bodyPr/>
        <a:lstStyle/>
        <a:p>
          <a:endParaRPr lang="es-ES"/>
        </a:p>
      </dgm:t>
    </dgm:pt>
    <dgm:pt modelId="{27E7CED8-58E9-410A-A78F-C05F61972506}">
      <dgm:prSet phldrT="[Texto]"/>
      <dgm:spPr/>
      <dgm:t>
        <a:bodyPr/>
        <a:lstStyle/>
        <a:p>
          <a:r>
            <a:rPr lang="es-ES" dirty="0" smtClean="0"/>
            <a:t>Agresiones químicas </a:t>
          </a:r>
          <a:endParaRPr lang="es-ES" dirty="0"/>
        </a:p>
      </dgm:t>
    </dgm:pt>
    <dgm:pt modelId="{12F3D0FD-1291-4728-8A01-AE7E15CD43A5}" type="parTrans" cxnId="{E63D515E-48CC-4A08-ADC2-13696242BB58}">
      <dgm:prSet/>
      <dgm:spPr/>
      <dgm:t>
        <a:bodyPr/>
        <a:lstStyle/>
        <a:p>
          <a:endParaRPr lang="es-ES"/>
        </a:p>
      </dgm:t>
    </dgm:pt>
    <dgm:pt modelId="{2325FEA9-F2E6-4321-9DE0-BDC0F0D7B93E}" type="sibTrans" cxnId="{E63D515E-48CC-4A08-ADC2-13696242BB58}">
      <dgm:prSet/>
      <dgm:spPr/>
      <dgm:t>
        <a:bodyPr/>
        <a:lstStyle/>
        <a:p>
          <a:endParaRPr lang="es-ES"/>
        </a:p>
      </dgm:t>
    </dgm:pt>
    <dgm:pt modelId="{4D033C04-CE09-4FC8-9A5C-D07A53439C12}">
      <dgm:prSet phldrT="[Texto]"/>
      <dgm:spPr/>
      <dgm:t>
        <a:bodyPr/>
        <a:lstStyle/>
        <a:p>
          <a:r>
            <a:rPr lang="es-ES" dirty="0" smtClean="0"/>
            <a:t>Agresiones físicas</a:t>
          </a:r>
          <a:endParaRPr lang="es-ES" dirty="0"/>
        </a:p>
      </dgm:t>
    </dgm:pt>
    <dgm:pt modelId="{38C8A9FB-6078-406D-B57C-294A10475E6E}" type="parTrans" cxnId="{EECF64D4-305F-4111-BABD-DA4EEF62FA4D}">
      <dgm:prSet/>
      <dgm:spPr/>
      <dgm:t>
        <a:bodyPr/>
        <a:lstStyle/>
        <a:p>
          <a:endParaRPr lang="es-ES"/>
        </a:p>
      </dgm:t>
    </dgm:pt>
    <dgm:pt modelId="{6B46C195-0DF5-4E2C-A8DE-319E294A5880}" type="sibTrans" cxnId="{EECF64D4-305F-4111-BABD-DA4EEF62FA4D}">
      <dgm:prSet/>
      <dgm:spPr/>
      <dgm:t>
        <a:bodyPr/>
        <a:lstStyle/>
        <a:p>
          <a:endParaRPr lang="es-ES"/>
        </a:p>
      </dgm:t>
    </dgm:pt>
    <dgm:pt modelId="{B6820699-DFAE-4279-8B0C-9E67E7720310}">
      <dgm:prSet phldrT="[Texto]"/>
      <dgm:spPr/>
      <dgm:t>
        <a:bodyPr/>
        <a:lstStyle/>
        <a:p>
          <a:r>
            <a:rPr lang="es-ES" dirty="0" smtClean="0"/>
            <a:t>Agresiones por drogas sociales</a:t>
          </a:r>
          <a:endParaRPr lang="es-ES" dirty="0"/>
        </a:p>
      </dgm:t>
    </dgm:pt>
    <dgm:pt modelId="{B8921F51-61E0-47BE-9D5D-89186170C486}" type="parTrans" cxnId="{4B586577-A9A2-479A-8346-F90C7418316E}">
      <dgm:prSet/>
      <dgm:spPr/>
      <dgm:t>
        <a:bodyPr/>
        <a:lstStyle/>
        <a:p>
          <a:endParaRPr lang="es-ES"/>
        </a:p>
      </dgm:t>
    </dgm:pt>
    <dgm:pt modelId="{854A12E9-AA1B-429E-A76E-0DC0CC3CDB2D}" type="sibTrans" cxnId="{4B586577-A9A2-479A-8346-F90C7418316E}">
      <dgm:prSet/>
      <dgm:spPr/>
      <dgm:t>
        <a:bodyPr/>
        <a:lstStyle/>
        <a:p>
          <a:endParaRPr lang="es-ES"/>
        </a:p>
      </dgm:t>
    </dgm:pt>
    <dgm:pt modelId="{EF0254CD-FF9D-4041-9F5C-0885B3DD2CF8}" type="pres">
      <dgm:prSet presAssocID="{8BC7DA41-D8BE-4ED4-B33B-3146057F04B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1E51629-8FF0-4652-A45D-39D0B3376F92}" type="pres">
      <dgm:prSet presAssocID="{DC9F62A0-88DE-4D90-8F06-EB95D1D940D0}" presName="hierRoot1" presStyleCnt="0">
        <dgm:presLayoutVars>
          <dgm:hierBranch val="init"/>
        </dgm:presLayoutVars>
      </dgm:prSet>
      <dgm:spPr/>
    </dgm:pt>
    <dgm:pt modelId="{72936B33-4E4A-4CE1-B801-D1B9319E8A0D}" type="pres">
      <dgm:prSet presAssocID="{DC9F62A0-88DE-4D90-8F06-EB95D1D940D0}" presName="rootComposite1" presStyleCnt="0"/>
      <dgm:spPr/>
    </dgm:pt>
    <dgm:pt modelId="{779FCCEF-DA8C-4B34-B2D8-E42A720E31F3}" type="pres">
      <dgm:prSet presAssocID="{DC9F62A0-88DE-4D90-8F06-EB95D1D940D0}" presName="rootText1" presStyleLbl="node0" presStyleIdx="0" presStyleCnt="1" custScaleY="55106" custLinFactNeighborX="2241" custLinFactNeighborY="-13197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84F5DC9F-F62E-47E5-9F89-E89311E0CABD}" type="pres">
      <dgm:prSet presAssocID="{DC9F62A0-88DE-4D90-8F06-EB95D1D940D0}" presName="rootConnector1" presStyleLbl="node1" presStyleIdx="0" presStyleCnt="0"/>
      <dgm:spPr/>
    </dgm:pt>
    <dgm:pt modelId="{5BEDB9DF-7C5D-43D7-A091-9D0591AF200C}" type="pres">
      <dgm:prSet presAssocID="{DC9F62A0-88DE-4D90-8F06-EB95D1D940D0}" presName="hierChild2" presStyleCnt="0"/>
      <dgm:spPr/>
    </dgm:pt>
    <dgm:pt modelId="{40D873C3-BED7-4768-BD66-06233D095842}" type="pres">
      <dgm:prSet presAssocID="{12F3D0FD-1291-4728-8A01-AE7E15CD43A5}" presName="Name37" presStyleLbl="parChTrans1D2" presStyleIdx="0" presStyleCnt="3"/>
      <dgm:spPr/>
    </dgm:pt>
    <dgm:pt modelId="{D5278FFC-3D54-40A0-8516-409A61C2DA73}" type="pres">
      <dgm:prSet presAssocID="{27E7CED8-58E9-410A-A78F-C05F61972506}" presName="hierRoot2" presStyleCnt="0">
        <dgm:presLayoutVars>
          <dgm:hierBranch val="init"/>
        </dgm:presLayoutVars>
      </dgm:prSet>
      <dgm:spPr/>
    </dgm:pt>
    <dgm:pt modelId="{6FE27E7A-C46E-4822-B842-2AB2E13DAB4C}" type="pres">
      <dgm:prSet presAssocID="{27E7CED8-58E9-410A-A78F-C05F61972506}" presName="rootComposite" presStyleCnt="0"/>
      <dgm:spPr/>
    </dgm:pt>
    <dgm:pt modelId="{360080DE-A1D1-4602-A66D-3EE18A25E37B}" type="pres">
      <dgm:prSet presAssocID="{27E7CED8-58E9-410A-A78F-C05F61972506}" presName="rootText" presStyleLbl="node2" presStyleIdx="0" presStyleCnt="3" custScaleX="72166" custScaleY="45562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C89CDC4D-FE91-480B-AD33-6B973C320779}" type="pres">
      <dgm:prSet presAssocID="{27E7CED8-58E9-410A-A78F-C05F61972506}" presName="rootConnector" presStyleLbl="node2" presStyleIdx="0" presStyleCnt="3"/>
      <dgm:spPr/>
    </dgm:pt>
    <dgm:pt modelId="{46D56EE2-F517-4803-8638-6C4216F67309}" type="pres">
      <dgm:prSet presAssocID="{27E7CED8-58E9-410A-A78F-C05F61972506}" presName="hierChild4" presStyleCnt="0"/>
      <dgm:spPr/>
    </dgm:pt>
    <dgm:pt modelId="{EC73EC73-D6DF-4E85-A270-7051087DFA61}" type="pres">
      <dgm:prSet presAssocID="{27E7CED8-58E9-410A-A78F-C05F61972506}" presName="hierChild5" presStyleCnt="0"/>
      <dgm:spPr/>
    </dgm:pt>
    <dgm:pt modelId="{474D2E2A-7496-4452-8FCB-BED470EB1223}" type="pres">
      <dgm:prSet presAssocID="{38C8A9FB-6078-406D-B57C-294A10475E6E}" presName="Name37" presStyleLbl="parChTrans1D2" presStyleIdx="1" presStyleCnt="3"/>
      <dgm:spPr/>
    </dgm:pt>
    <dgm:pt modelId="{79227989-8E1E-4826-96A5-46C8176D9A1C}" type="pres">
      <dgm:prSet presAssocID="{4D033C04-CE09-4FC8-9A5C-D07A53439C12}" presName="hierRoot2" presStyleCnt="0">
        <dgm:presLayoutVars>
          <dgm:hierBranch val="init"/>
        </dgm:presLayoutVars>
      </dgm:prSet>
      <dgm:spPr/>
    </dgm:pt>
    <dgm:pt modelId="{35654614-3319-46F8-B944-53793DBB0A8C}" type="pres">
      <dgm:prSet presAssocID="{4D033C04-CE09-4FC8-9A5C-D07A53439C12}" presName="rootComposite" presStyleCnt="0"/>
      <dgm:spPr/>
    </dgm:pt>
    <dgm:pt modelId="{BDB34A66-CB5B-4078-8980-3EA3EA788E5A}" type="pres">
      <dgm:prSet presAssocID="{4D033C04-CE09-4FC8-9A5C-D07A53439C12}" presName="rootText" presStyleLbl="node2" presStyleIdx="1" presStyleCnt="3" custScaleX="70147" custScaleY="45562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D26566BC-BCFD-42AB-ACFF-D756F5F4746C}" type="pres">
      <dgm:prSet presAssocID="{4D033C04-CE09-4FC8-9A5C-D07A53439C12}" presName="rootConnector" presStyleLbl="node2" presStyleIdx="1" presStyleCnt="3"/>
      <dgm:spPr/>
    </dgm:pt>
    <dgm:pt modelId="{A7C5805D-A80B-4826-8917-F769E89F433F}" type="pres">
      <dgm:prSet presAssocID="{4D033C04-CE09-4FC8-9A5C-D07A53439C12}" presName="hierChild4" presStyleCnt="0"/>
      <dgm:spPr/>
    </dgm:pt>
    <dgm:pt modelId="{E6D087AA-027B-4DC8-9541-BE30EFEEC7C3}" type="pres">
      <dgm:prSet presAssocID="{4D033C04-CE09-4FC8-9A5C-D07A53439C12}" presName="hierChild5" presStyleCnt="0"/>
      <dgm:spPr/>
    </dgm:pt>
    <dgm:pt modelId="{2476853A-F4AF-4F8D-9D74-0A063498F76D}" type="pres">
      <dgm:prSet presAssocID="{B8921F51-61E0-47BE-9D5D-89186170C486}" presName="Name37" presStyleLbl="parChTrans1D2" presStyleIdx="2" presStyleCnt="3"/>
      <dgm:spPr/>
    </dgm:pt>
    <dgm:pt modelId="{074239DB-69F5-465C-99BA-1745B65442CA}" type="pres">
      <dgm:prSet presAssocID="{B6820699-DFAE-4279-8B0C-9E67E7720310}" presName="hierRoot2" presStyleCnt="0">
        <dgm:presLayoutVars>
          <dgm:hierBranch val="init"/>
        </dgm:presLayoutVars>
      </dgm:prSet>
      <dgm:spPr/>
    </dgm:pt>
    <dgm:pt modelId="{2C07DF65-824A-40E1-94F3-16E78C19559E}" type="pres">
      <dgm:prSet presAssocID="{B6820699-DFAE-4279-8B0C-9E67E7720310}" presName="rootComposite" presStyleCnt="0"/>
      <dgm:spPr/>
    </dgm:pt>
    <dgm:pt modelId="{7EAA58FF-081F-44C6-BE57-EE1B0DF5E29C}" type="pres">
      <dgm:prSet presAssocID="{B6820699-DFAE-4279-8B0C-9E67E7720310}" presName="rootText" presStyleLbl="node2" presStyleIdx="2" presStyleCnt="3" custScaleX="70322" custScaleY="35606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BF451B0F-B312-4D5E-8FD5-F0A4E432ABC2}" type="pres">
      <dgm:prSet presAssocID="{B6820699-DFAE-4279-8B0C-9E67E7720310}" presName="rootConnector" presStyleLbl="node2" presStyleIdx="2" presStyleCnt="3"/>
      <dgm:spPr/>
    </dgm:pt>
    <dgm:pt modelId="{5F586742-558A-489E-B95B-2F8A496BEE33}" type="pres">
      <dgm:prSet presAssocID="{B6820699-DFAE-4279-8B0C-9E67E7720310}" presName="hierChild4" presStyleCnt="0"/>
      <dgm:spPr/>
    </dgm:pt>
    <dgm:pt modelId="{AD1DF62B-1796-4B5B-AB48-BFC5373F063A}" type="pres">
      <dgm:prSet presAssocID="{B6820699-DFAE-4279-8B0C-9E67E7720310}" presName="hierChild5" presStyleCnt="0"/>
      <dgm:spPr/>
    </dgm:pt>
    <dgm:pt modelId="{62F78966-B302-4D9C-906C-87380D9CCB7A}" type="pres">
      <dgm:prSet presAssocID="{DC9F62A0-88DE-4D90-8F06-EB95D1D940D0}" presName="hierChild3" presStyleCnt="0"/>
      <dgm:spPr/>
    </dgm:pt>
  </dgm:ptLst>
  <dgm:cxnLst>
    <dgm:cxn modelId="{461D2429-491F-404B-AC10-1672F6B6F14F}" type="presOf" srcId="{DC9F62A0-88DE-4D90-8F06-EB95D1D940D0}" destId="{779FCCEF-DA8C-4B34-B2D8-E42A720E31F3}" srcOrd="0" destOrd="0" presId="urn:microsoft.com/office/officeart/2005/8/layout/orgChart1"/>
    <dgm:cxn modelId="{E63D515E-48CC-4A08-ADC2-13696242BB58}" srcId="{DC9F62A0-88DE-4D90-8F06-EB95D1D940D0}" destId="{27E7CED8-58E9-410A-A78F-C05F61972506}" srcOrd="0" destOrd="0" parTransId="{12F3D0FD-1291-4728-8A01-AE7E15CD43A5}" sibTransId="{2325FEA9-F2E6-4321-9DE0-BDC0F0D7B93E}"/>
    <dgm:cxn modelId="{EECF64D4-305F-4111-BABD-DA4EEF62FA4D}" srcId="{DC9F62A0-88DE-4D90-8F06-EB95D1D940D0}" destId="{4D033C04-CE09-4FC8-9A5C-D07A53439C12}" srcOrd="1" destOrd="0" parTransId="{38C8A9FB-6078-406D-B57C-294A10475E6E}" sibTransId="{6B46C195-0DF5-4E2C-A8DE-319E294A5880}"/>
    <dgm:cxn modelId="{467E342A-B7E7-4285-9AC3-0E62FE8BE7E6}" type="presOf" srcId="{B6820699-DFAE-4279-8B0C-9E67E7720310}" destId="{7EAA58FF-081F-44C6-BE57-EE1B0DF5E29C}" srcOrd="0" destOrd="0" presId="urn:microsoft.com/office/officeart/2005/8/layout/orgChart1"/>
    <dgm:cxn modelId="{E538A7B7-B364-443B-89B3-D3405AA5AAE4}" type="presOf" srcId="{27E7CED8-58E9-410A-A78F-C05F61972506}" destId="{360080DE-A1D1-4602-A66D-3EE18A25E37B}" srcOrd="0" destOrd="0" presId="urn:microsoft.com/office/officeart/2005/8/layout/orgChart1"/>
    <dgm:cxn modelId="{1B8F9DCF-F168-40EF-A5F3-18F122466547}" type="presOf" srcId="{27E7CED8-58E9-410A-A78F-C05F61972506}" destId="{C89CDC4D-FE91-480B-AD33-6B973C320779}" srcOrd="1" destOrd="0" presId="urn:microsoft.com/office/officeart/2005/8/layout/orgChart1"/>
    <dgm:cxn modelId="{D996C020-C843-42F5-8C65-DD5370CA338D}" type="presOf" srcId="{4D033C04-CE09-4FC8-9A5C-D07A53439C12}" destId="{BDB34A66-CB5B-4078-8980-3EA3EA788E5A}" srcOrd="0" destOrd="0" presId="urn:microsoft.com/office/officeart/2005/8/layout/orgChart1"/>
    <dgm:cxn modelId="{4B586577-A9A2-479A-8346-F90C7418316E}" srcId="{DC9F62A0-88DE-4D90-8F06-EB95D1D940D0}" destId="{B6820699-DFAE-4279-8B0C-9E67E7720310}" srcOrd="2" destOrd="0" parTransId="{B8921F51-61E0-47BE-9D5D-89186170C486}" sibTransId="{854A12E9-AA1B-429E-A76E-0DC0CC3CDB2D}"/>
    <dgm:cxn modelId="{D0F25B25-29F3-4AA7-920D-BA9E962C8127}" type="presOf" srcId="{8BC7DA41-D8BE-4ED4-B33B-3146057F04BE}" destId="{EF0254CD-FF9D-4041-9F5C-0885B3DD2CF8}" srcOrd="0" destOrd="0" presId="urn:microsoft.com/office/officeart/2005/8/layout/orgChart1"/>
    <dgm:cxn modelId="{136057B1-09E6-4E0F-8627-6565A6AC6CAA}" type="presOf" srcId="{B6820699-DFAE-4279-8B0C-9E67E7720310}" destId="{BF451B0F-B312-4D5E-8FD5-F0A4E432ABC2}" srcOrd="1" destOrd="0" presId="urn:microsoft.com/office/officeart/2005/8/layout/orgChart1"/>
    <dgm:cxn modelId="{AC319C5A-C096-4AC4-AD8F-2A26DAE9E61C}" type="presOf" srcId="{38C8A9FB-6078-406D-B57C-294A10475E6E}" destId="{474D2E2A-7496-4452-8FCB-BED470EB1223}" srcOrd="0" destOrd="0" presId="urn:microsoft.com/office/officeart/2005/8/layout/orgChart1"/>
    <dgm:cxn modelId="{253AE74B-36C8-4818-B772-45CF7EAA0D63}" srcId="{8BC7DA41-D8BE-4ED4-B33B-3146057F04BE}" destId="{DC9F62A0-88DE-4D90-8F06-EB95D1D940D0}" srcOrd="0" destOrd="0" parTransId="{5EE7017B-EEE3-4404-BAB6-7DD690139FB3}" sibTransId="{A841E793-F9D3-4802-B9CA-470996DB2B99}"/>
    <dgm:cxn modelId="{CBE37FC4-47B6-449F-940E-73D0089A9715}" type="presOf" srcId="{B8921F51-61E0-47BE-9D5D-89186170C486}" destId="{2476853A-F4AF-4F8D-9D74-0A063498F76D}" srcOrd="0" destOrd="0" presId="urn:microsoft.com/office/officeart/2005/8/layout/orgChart1"/>
    <dgm:cxn modelId="{64FAC392-E186-46B6-BC34-F51E28B6DA6D}" type="presOf" srcId="{12F3D0FD-1291-4728-8A01-AE7E15CD43A5}" destId="{40D873C3-BED7-4768-BD66-06233D095842}" srcOrd="0" destOrd="0" presId="urn:microsoft.com/office/officeart/2005/8/layout/orgChart1"/>
    <dgm:cxn modelId="{B2F78DA9-8A49-45C3-98E4-C30D426C0144}" type="presOf" srcId="{DC9F62A0-88DE-4D90-8F06-EB95D1D940D0}" destId="{84F5DC9F-F62E-47E5-9F89-E89311E0CABD}" srcOrd="1" destOrd="0" presId="urn:microsoft.com/office/officeart/2005/8/layout/orgChart1"/>
    <dgm:cxn modelId="{64C8D851-ABAB-4F06-97DD-0EBE4C2FE6C2}" type="presOf" srcId="{4D033C04-CE09-4FC8-9A5C-D07A53439C12}" destId="{D26566BC-BCFD-42AB-ACFF-D756F5F4746C}" srcOrd="1" destOrd="0" presId="urn:microsoft.com/office/officeart/2005/8/layout/orgChart1"/>
    <dgm:cxn modelId="{14E26F92-87D1-4B14-8A1B-6F42C1354A47}" type="presParOf" srcId="{EF0254CD-FF9D-4041-9F5C-0885B3DD2CF8}" destId="{91E51629-8FF0-4652-A45D-39D0B3376F92}" srcOrd="0" destOrd="0" presId="urn:microsoft.com/office/officeart/2005/8/layout/orgChart1"/>
    <dgm:cxn modelId="{4164516C-9B88-4CA6-9F49-AF5660730CDB}" type="presParOf" srcId="{91E51629-8FF0-4652-A45D-39D0B3376F92}" destId="{72936B33-4E4A-4CE1-B801-D1B9319E8A0D}" srcOrd="0" destOrd="0" presId="urn:microsoft.com/office/officeart/2005/8/layout/orgChart1"/>
    <dgm:cxn modelId="{86549185-ED05-4FF9-AFB0-E2A11ADABE59}" type="presParOf" srcId="{72936B33-4E4A-4CE1-B801-D1B9319E8A0D}" destId="{779FCCEF-DA8C-4B34-B2D8-E42A720E31F3}" srcOrd="0" destOrd="0" presId="urn:microsoft.com/office/officeart/2005/8/layout/orgChart1"/>
    <dgm:cxn modelId="{F8B89867-98FE-48A0-AF30-CFC1819579F2}" type="presParOf" srcId="{72936B33-4E4A-4CE1-B801-D1B9319E8A0D}" destId="{84F5DC9F-F62E-47E5-9F89-E89311E0CABD}" srcOrd="1" destOrd="0" presId="urn:microsoft.com/office/officeart/2005/8/layout/orgChart1"/>
    <dgm:cxn modelId="{62F20250-14A8-4AA9-A09F-ACD47AD3C27F}" type="presParOf" srcId="{91E51629-8FF0-4652-A45D-39D0B3376F92}" destId="{5BEDB9DF-7C5D-43D7-A091-9D0591AF200C}" srcOrd="1" destOrd="0" presId="urn:microsoft.com/office/officeart/2005/8/layout/orgChart1"/>
    <dgm:cxn modelId="{BA943F08-5570-4E03-8739-B6D6472F2A0A}" type="presParOf" srcId="{5BEDB9DF-7C5D-43D7-A091-9D0591AF200C}" destId="{40D873C3-BED7-4768-BD66-06233D095842}" srcOrd="0" destOrd="0" presId="urn:microsoft.com/office/officeart/2005/8/layout/orgChart1"/>
    <dgm:cxn modelId="{4F4120C1-CB88-47B7-BDD9-C22F4398B2FA}" type="presParOf" srcId="{5BEDB9DF-7C5D-43D7-A091-9D0591AF200C}" destId="{D5278FFC-3D54-40A0-8516-409A61C2DA73}" srcOrd="1" destOrd="0" presId="urn:microsoft.com/office/officeart/2005/8/layout/orgChart1"/>
    <dgm:cxn modelId="{C20A21F4-C062-4F1A-8245-FC0E0F0B277A}" type="presParOf" srcId="{D5278FFC-3D54-40A0-8516-409A61C2DA73}" destId="{6FE27E7A-C46E-4822-B842-2AB2E13DAB4C}" srcOrd="0" destOrd="0" presId="urn:microsoft.com/office/officeart/2005/8/layout/orgChart1"/>
    <dgm:cxn modelId="{36504A87-EC77-404B-979A-367E162B5B54}" type="presParOf" srcId="{6FE27E7A-C46E-4822-B842-2AB2E13DAB4C}" destId="{360080DE-A1D1-4602-A66D-3EE18A25E37B}" srcOrd="0" destOrd="0" presId="urn:microsoft.com/office/officeart/2005/8/layout/orgChart1"/>
    <dgm:cxn modelId="{1EED4A9F-1919-402E-9402-10C7DDF59611}" type="presParOf" srcId="{6FE27E7A-C46E-4822-B842-2AB2E13DAB4C}" destId="{C89CDC4D-FE91-480B-AD33-6B973C320779}" srcOrd="1" destOrd="0" presId="urn:microsoft.com/office/officeart/2005/8/layout/orgChart1"/>
    <dgm:cxn modelId="{4DC80059-7208-4F74-B9E4-172EA88BBE88}" type="presParOf" srcId="{D5278FFC-3D54-40A0-8516-409A61C2DA73}" destId="{46D56EE2-F517-4803-8638-6C4216F67309}" srcOrd="1" destOrd="0" presId="urn:microsoft.com/office/officeart/2005/8/layout/orgChart1"/>
    <dgm:cxn modelId="{F46CCBC4-4850-4B23-AF05-3A3346247BE6}" type="presParOf" srcId="{D5278FFC-3D54-40A0-8516-409A61C2DA73}" destId="{EC73EC73-D6DF-4E85-A270-7051087DFA61}" srcOrd="2" destOrd="0" presId="urn:microsoft.com/office/officeart/2005/8/layout/orgChart1"/>
    <dgm:cxn modelId="{8B1A1AD5-534B-4AE0-8FE8-DA15C1A1B1C3}" type="presParOf" srcId="{5BEDB9DF-7C5D-43D7-A091-9D0591AF200C}" destId="{474D2E2A-7496-4452-8FCB-BED470EB1223}" srcOrd="2" destOrd="0" presId="urn:microsoft.com/office/officeart/2005/8/layout/orgChart1"/>
    <dgm:cxn modelId="{D334BE66-CCB1-4F4F-AC8B-A1F2F2F6944A}" type="presParOf" srcId="{5BEDB9DF-7C5D-43D7-A091-9D0591AF200C}" destId="{79227989-8E1E-4826-96A5-46C8176D9A1C}" srcOrd="3" destOrd="0" presId="urn:microsoft.com/office/officeart/2005/8/layout/orgChart1"/>
    <dgm:cxn modelId="{B4087368-3BE7-42D8-AD0A-C1ADC1BF38D1}" type="presParOf" srcId="{79227989-8E1E-4826-96A5-46C8176D9A1C}" destId="{35654614-3319-46F8-B944-53793DBB0A8C}" srcOrd="0" destOrd="0" presId="urn:microsoft.com/office/officeart/2005/8/layout/orgChart1"/>
    <dgm:cxn modelId="{3DDA3980-B7D1-41F9-A323-A5BDEEA9F9AC}" type="presParOf" srcId="{35654614-3319-46F8-B944-53793DBB0A8C}" destId="{BDB34A66-CB5B-4078-8980-3EA3EA788E5A}" srcOrd="0" destOrd="0" presId="urn:microsoft.com/office/officeart/2005/8/layout/orgChart1"/>
    <dgm:cxn modelId="{1D44C7F1-C104-4A33-A52A-656D8600EF0D}" type="presParOf" srcId="{35654614-3319-46F8-B944-53793DBB0A8C}" destId="{D26566BC-BCFD-42AB-ACFF-D756F5F4746C}" srcOrd="1" destOrd="0" presId="urn:microsoft.com/office/officeart/2005/8/layout/orgChart1"/>
    <dgm:cxn modelId="{7412489A-9446-4954-891A-9170C7456A33}" type="presParOf" srcId="{79227989-8E1E-4826-96A5-46C8176D9A1C}" destId="{A7C5805D-A80B-4826-8917-F769E89F433F}" srcOrd="1" destOrd="0" presId="urn:microsoft.com/office/officeart/2005/8/layout/orgChart1"/>
    <dgm:cxn modelId="{91DA2DB8-979E-40F3-A7C1-B3C7CDFAB508}" type="presParOf" srcId="{79227989-8E1E-4826-96A5-46C8176D9A1C}" destId="{E6D087AA-027B-4DC8-9541-BE30EFEEC7C3}" srcOrd="2" destOrd="0" presId="urn:microsoft.com/office/officeart/2005/8/layout/orgChart1"/>
    <dgm:cxn modelId="{98D659D9-0576-4733-887D-564B5B2F5B55}" type="presParOf" srcId="{5BEDB9DF-7C5D-43D7-A091-9D0591AF200C}" destId="{2476853A-F4AF-4F8D-9D74-0A063498F76D}" srcOrd="4" destOrd="0" presId="urn:microsoft.com/office/officeart/2005/8/layout/orgChart1"/>
    <dgm:cxn modelId="{4CE77223-03DD-4E58-9B88-F4A4A46E53C7}" type="presParOf" srcId="{5BEDB9DF-7C5D-43D7-A091-9D0591AF200C}" destId="{074239DB-69F5-465C-99BA-1745B65442CA}" srcOrd="5" destOrd="0" presId="urn:microsoft.com/office/officeart/2005/8/layout/orgChart1"/>
    <dgm:cxn modelId="{FE5CBD66-EA9A-4F9F-90F3-0436B5BAEDB0}" type="presParOf" srcId="{074239DB-69F5-465C-99BA-1745B65442CA}" destId="{2C07DF65-824A-40E1-94F3-16E78C19559E}" srcOrd="0" destOrd="0" presId="urn:microsoft.com/office/officeart/2005/8/layout/orgChart1"/>
    <dgm:cxn modelId="{CFDDAB54-2634-4800-B01D-6321617B2B06}" type="presParOf" srcId="{2C07DF65-824A-40E1-94F3-16E78C19559E}" destId="{7EAA58FF-081F-44C6-BE57-EE1B0DF5E29C}" srcOrd="0" destOrd="0" presId="urn:microsoft.com/office/officeart/2005/8/layout/orgChart1"/>
    <dgm:cxn modelId="{56650D69-5E0A-4CCF-8480-2626EB855F76}" type="presParOf" srcId="{2C07DF65-824A-40E1-94F3-16E78C19559E}" destId="{BF451B0F-B312-4D5E-8FD5-F0A4E432ABC2}" srcOrd="1" destOrd="0" presId="urn:microsoft.com/office/officeart/2005/8/layout/orgChart1"/>
    <dgm:cxn modelId="{F4E458BC-09A1-44B8-A2A0-7136D02982DC}" type="presParOf" srcId="{074239DB-69F5-465C-99BA-1745B65442CA}" destId="{5F586742-558A-489E-B95B-2F8A496BEE33}" srcOrd="1" destOrd="0" presId="urn:microsoft.com/office/officeart/2005/8/layout/orgChart1"/>
    <dgm:cxn modelId="{32470655-AC98-45BA-8F42-53696E4CAC6E}" type="presParOf" srcId="{074239DB-69F5-465C-99BA-1745B65442CA}" destId="{AD1DF62B-1796-4B5B-AB48-BFC5373F063A}" srcOrd="2" destOrd="0" presId="urn:microsoft.com/office/officeart/2005/8/layout/orgChart1"/>
    <dgm:cxn modelId="{4CFCF376-350F-4682-841E-6E0529E3EFE9}" type="presParOf" srcId="{91E51629-8FF0-4652-A45D-39D0B3376F92}" destId="{62F78966-B302-4D9C-906C-87380D9CCB7A}" srcOrd="2" destOrd="0" presId="urn:microsoft.com/office/officeart/2005/8/layout/orgChart1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C7DA41-D8BE-4ED4-B33B-3146057F04BE}" type="doc">
      <dgm:prSet loTypeId="urn:microsoft.com/office/officeart/2005/8/layout/orgChart1" loCatId="hierarchy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DC9F62A0-88DE-4D90-8F06-EB95D1D940D0}">
      <dgm:prSet phldrT="[Texto]"/>
      <dgm:spPr/>
      <dgm:t>
        <a:bodyPr/>
        <a:lstStyle/>
        <a:p>
          <a:r>
            <a:rPr lang="es-ES" dirty="0" smtClean="0"/>
            <a:t>Fistulas </a:t>
          </a:r>
          <a:endParaRPr lang="es-ES" dirty="0"/>
        </a:p>
      </dgm:t>
    </dgm:pt>
    <dgm:pt modelId="{5EE7017B-EEE3-4404-BAB6-7DD690139FB3}" type="parTrans" cxnId="{253AE74B-36C8-4818-B772-45CF7EAA0D63}">
      <dgm:prSet/>
      <dgm:spPr/>
      <dgm:t>
        <a:bodyPr/>
        <a:lstStyle/>
        <a:p>
          <a:endParaRPr lang="es-ES"/>
        </a:p>
      </dgm:t>
    </dgm:pt>
    <dgm:pt modelId="{A841E793-F9D3-4802-B9CA-470996DB2B99}" type="sibTrans" cxnId="{253AE74B-36C8-4818-B772-45CF7EAA0D63}">
      <dgm:prSet/>
      <dgm:spPr/>
      <dgm:t>
        <a:bodyPr/>
        <a:lstStyle/>
        <a:p>
          <a:endParaRPr lang="es-ES"/>
        </a:p>
      </dgm:t>
    </dgm:pt>
    <dgm:pt modelId="{27E7CED8-58E9-410A-A78F-C05F61972506}">
      <dgm:prSet phldrT="[Texto]"/>
      <dgm:spPr/>
      <dgm:t>
        <a:bodyPr/>
        <a:lstStyle/>
        <a:p>
          <a:r>
            <a:rPr lang="es-ES" dirty="0" smtClean="0"/>
            <a:t>Rectovaginal </a:t>
          </a:r>
          <a:endParaRPr lang="es-ES" dirty="0"/>
        </a:p>
      </dgm:t>
    </dgm:pt>
    <dgm:pt modelId="{12F3D0FD-1291-4728-8A01-AE7E15CD43A5}" type="parTrans" cxnId="{E63D515E-48CC-4A08-ADC2-13696242BB58}">
      <dgm:prSet/>
      <dgm:spPr/>
      <dgm:t>
        <a:bodyPr/>
        <a:lstStyle/>
        <a:p>
          <a:endParaRPr lang="es-ES"/>
        </a:p>
      </dgm:t>
    </dgm:pt>
    <dgm:pt modelId="{2325FEA9-F2E6-4321-9DE0-BDC0F0D7B93E}" type="sibTrans" cxnId="{E63D515E-48CC-4A08-ADC2-13696242BB58}">
      <dgm:prSet/>
      <dgm:spPr/>
      <dgm:t>
        <a:bodyPr/>
        <a:lstStyle/>
        <a:p>
          <a:endParaRPr lang="es-ES"/>
        </a:p>
      </dgm:t>
    </dgm:pt>
    <dgm:pt modelId="{B6820699-DFAE-4279-8B0C-9E67E7720310}">
      <dgm:prSet phldrT="[Texto]"/>
      <dgm:spPr/>
      <dgm:t>
        <a:bodyPr/>
        <a:lstStyle/>
        <a:p>
          <a:r>
            <a:rPr lang="es-ES" dirty="0" err="1" smtClean="0"/>
            <a:t>Rectoperineal</a:t>
          </a:r>
          <a:endParaRPr lang="es-ES" dirty="0" smtClean="0"/>
        </a:p>
      </dgm:t>
    </dgm:pt>
    <dgm:pt modelId="{B8921F51-61E0-47BE-9D5D-89186170C486}" type="parTrans" cxnId="{4B586577-A9A2-479A-8346-F90C7418316E}">
      <dgm:prSet/>
      <dgm:spPr/>
      <dgm:t>
        <a:bodyPr/>
        <a:lstStyle/>
        <a:p>
          <a:endParaRPr lang="es-ES"/>
        </a:p>
      </dgm:t>
    </dgm:pt>
    <dgm:pt modelId="{854A12E9-AA1B-429E-A76E-0DC0CC3CDB2D}" type="sibTrans" cxnId="{4B586577-A9A2-479A-8346-F90C7418316E}">
      <dgm:prSet/>
      <dgm:spPr/>
      <dgm:t>
        <a:bodyPr/>
        <a:lstStyle/>
        <a:p>
          <a:endParaRPr lang="es-ES"/>
        </a:p>
      </dgm:t>
    </dgm:pt>
    <dgm:pt modelId="{4D033C04-CE09-4FC8-9A5C-D07A53439C12}">
      <dgm:prSet phldrT="[Texto]"/>
      <dgm:spPr/>
      <dgm:t>
        <a:bodyPr/>
        <a:lstStyle/>
        <a:p>
          <a:r>
            <a:rPr lang="es-ES" dirty="0" err="1" smtClean="0"/>
            <a:t>Rectovestibular</a:t>
          </a:r>
          <a:r>
            <a:rPr lang="es-ES" dirty="0" smtClean="0"/>
            <a:t> </a:t>
          </a:r>
          <a:endParaRPr lang="es-ES" dirty="0"/>
        </a:p>
      </dgm:t>
    </dgm:pt>
    <dgm:pt modelId="{6B46C195-0DF5-4E2C-A8DE-319E294A5880}" type="sibTrans" cxnId="{EECF64D4-305F-4111-BABD-DA4EEF62FA4D}">
      <dgm:prSet/>
      <dgm:spPr/>
      <dgm:t>
        <a:bodyPr/>
        <a:lstStyle/>
        <a:p>
          <a:endParaRPr lang="es-ES"/>
        </a:p>
      </dgm:t>
    </dgm:pt>
    <dgm:pt modelId="{38C8A9FB-6078-406D-B57C-294A10475E6E}" type="parTrans" cxnId="{EECF64D4-305F-4111-BABD-DA4EEF62FA4D}">
      <dgm:prSet/>
      <dgm:spPr/>
      <dgm:t>
        <a:bodyPr/>
        <a:lstStyle/>
        <a:p>
          <a:endParaRPr lang="es-ES"/>
        </a:p>
      </dgm:t>
    </dgm:pt>
    <dgm:pt modelId="{EF0254CD-FF9D-4041-9F5C-0885B3DD2CF8}" type="pres">
      <dgm:prSet presAssocID="{8BC7DA41-D8BE-4ED4-B33B-3146057F04B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1E51629-8FF0-4652-A45D-39D0B3376F92}" type="pres">
      <dgm:prSet presAssocID="{DC9F62A0-88DE-4D90-8F06-EB95D1D940D0}" presName="hierRoot1" presStyleCnt="0">
        <dgm:presLayoutVars>
          <dgm:hierBranch val="init"/>
        </dgm:presLayoutVars>
      </dgm:prSet>
      <dgm:spPr/>
    </dgm:pt>
    <dgm:pt modelId="{72936B33-4E4A-4CE1-B801-D1B9319E8A0D}" type="pres">
      <dgm:prSet presAssocID="{DC9F62A0-88DE-4D90-8F06-EB95D1D940D0}" presName="rootComposite1" presStyleCnt="0"/>
      <dgm:spPr/>
    </dgm:pt>
    <dgm:pt modelId="{779FCCEF-DA8C-4B34-B2D8-E42A720E31F3}" type="pres">
      <dgm:prSet presAssocID="{DC9F62A0-88DE-4D90-8F06-EB95D1D940D0}" presName="rootText1" presStyleLbl="node0" presStyleIdx="0" presStyleCnt="1" custScaleY="68759" custLinFactNeighborX="1718" custLinFactNeighborY="-129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84F5DC9F-F62E-47E5-9F89-E89311E0CABD}" type="pres">
      <dgm:prSet presAssocID="{DC9F62A0-88DE-4D90-8F06-EB95D1D940D0}" presName="rootConnector1" presStyleLbl="node1" presStyleIdx="0" presStyleCnt="0"/>
      <dgm:spPr/>
    </dgm:pt>
    <dgm:pt modelId="{5BEDB9DF-7C5D-43D7-A091-9D0591AF200C}" type="pres">
      <dgm:prSet presAssocID="{DC9F62A0-88DE-4D90-8F06-EB95D1D940D0}" presName="hierChild2" presStyleCnt="0"/>
      <dgm:spPr/>
    </dgm:pt>
    <dgm:pt modelId="{40D873C3-BED7-4768-BD66-06233D095842}" type="pres">
      <dgm:prSet presAssocID="{12F3D0FD-1291-4728-8A01-AE7E15CD43A5}" presName="Name37" presStyleLbl="parChTrans1D2" presStyleIdx="0" presStyleCnt="3"/>
      <dgm:spPr/>
    </dgm:pt>
    <dgm:pt modelId="{D5278FFC-3D54-40A0-8516-409A61C2DA73}" type="pres">
      <dgm:prSet presAssocID="{27E7CED8-58E9-410A-A78F-C05F61972506}" presName="hierRoot2" presStyleCnt="0">
        <dgm:presLayoutVars>
          <dgm:hierBranch val="init"/>
        </dgm:presLayoutVars>
      </dgm:prSet>
      <dgm:spPr/>
    </dgm:pt>
    <dgm:pt modelId="{6FE27E7A-C46E-4822-B842-2AB2E13DAB4C}" type="pres">
      <dgm:prSet presAssocID="{27E7CED8-58E9-410A-A78F-C05F61972506}" presName="rootComposite" presStyleCnt="0"/>
      <dgm:spPr/>
    </dgm:pt>
    <dgm:pt modelId="{360080DE-A1D1-4602-A66D-3EE18A25E37B}" type="pres">
      <dgm:prSet presAssocID="{27E7CED8-58E9-410A-A78F-C05F61972506}" presName="rootText" presStyleLbl="node2" presStyleIdx="0" presStyleCnt="3" custScaleX="72166" custScaleY="45562" custLinFactNeighborX="-971" custLinFactNeighborY="427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C89CDC4D-FE91-480B-AD33-6B973C320779}" type="pres">
      <dgm:prSet presAssocID="{27E7CED8-58E9-410A-A78F-C05F61972506}" presName="rootConnector" presStyleLbl="node2" presStyleIdx="0" presStyleCnt="3"/>
      <dgm:spPr/>
    </dgm:pt>
    <dgm:pt modelId="{46D56EE2-F517-4803-8638-6C4216F67309}" type="pres">
      <dgm:prSet presAssocID="{27E7CED8-58E9-410A-A78F-C05F61972506}" presName="hierChild4" presStyleCnt="0"/>
      <dgm:spPr/>
    </dgm:pt>
    <dgm:pt modelId="{EC73EC73-D6DF-4E85-A270-7051087DFA61}" type="pres">
      <dgm:prSet presAssocID="{27E7CED8-58E9-410A-A78F-C05F61972506}" presName="hierChild5" presStyleCnt="0"/>
      <dgm:spPr/>
    </dgm:pt>
    <dgm:pt modelId="{474D2E2A-7496-4452-8FCB-BED470EB1223}" type="pres">
      <dgm:prSet presAssocID="{38C8A9FB-6078-406D-B57C-294A10475E6E}" presName="Name37" presStyleLbl="parChTrans1D2" presStyleIdx="1" presStyleCnt="3"/>
      <dgm:spPr/>
    </dgm:pt>
    <dgm:pt modelId="{79227989-8E1E-4826-96A5-46C8176D9A1C}" type="pres">
      <dgm:prSet presAssocID="{4D033C04-CE09-4FC8-9A5C-D07A53439C12}" presName="hierRoot2" presStyleCnt="0">
        <dgm:presLayoutVars>
          <dgm:hierBranch val="init"/>
        </dgm:presLayoutVars>
      </dgm:prSet>
      <dgm:spPr/>
    </dgm:pt>
    <dgm:pt modelId="{35654614-3319-46F8-B944-53793DBB0A8C}" type="pres">
      <dgm:prSet presAssocID="{4D033C04-CE09-4FC8-9A5C-D07A53439C12}" presName="rootComposite" presStyleCnt="0"/>
      <dgm:spPr/>
    </dgm:pt>
    <dgm:pt modelId="{BDB34A66-CB5B-4078-8980-3EA3EA788E5A}" type="pres">
      <dgm:prSet presAssocID="{4D033C04-CE09-4FC8-9A5C-D07A53439C12}" presName="rootText" presStyleLbl="node2" presStyleIdx="1" presStyleCnt="3" custScaleX="70147" custScaleY="53836" custLinFactNeighborX="973" custLinFactNeighborY="427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D26566BC-BCFD-42AB-ACFF-D756F5F4746C}" type="pres">
      <dgm:prSet presAssocID="{4D033C04-CE09-4FC8-9A5C-D07A53439C12}" presName="rootConnector" presStyleLbl="node2" presStyleIdx="1" presStyleCnt="3"/>
      <dgm:spPr/>
    </dgm:pt>
    <dgm:pt modelId="{A7C5805D-A80B-4826-8917-F769E89F433F}" type="pres">
      <dgm:prSet presAssocID="{4D033C04-CE09-4FC8-9A5C-D07A53439C12}" presName="hierChild4" presStyleCnt="0"/>
      <dgm:spPr/>
    </dgm:pt>
    <dgm:pt modelId="{E6D087AA-027B-4DC8-9541-BE30EFEEC7C3}" type="pres">
      <dgm:prSet presAssocID="{4D033C04-CE09-4FC8-9A5C-D07A53439C12}" presName="hierChild5" presStyleCnt="0"/>
      <dgm:spPr/>
    </dgm:pt>
    <dgm:pt modelId="{2476853A-F4AF-4F8D-9D74-0A063498F76D}" type="pres">
      <dgm:prSet presAssocID="{B8921F51-61E0-47BE-9D5D-89186170C486}" presName="Name37" presStyleLbl="parChTrans1D2" presStyleIdx="2" presStyleCnt="3"/>
      <dgm:spPr/>
    </dgm:pt>
    <dgm:pt modelId="{074239DB-69F5-465C-99BA-1745B65442CA}" type="pres">
      <dgm:prSet presAssocID="{B6820699-DFAE-4279-8B0C-9E67E7720310}" presName="hierRoot2" presStyleCnt="0">
        <dgm:presLayoutVars>
          <dgm:hierBranch val="init"/>
        </dgm:presLayoutVars>
      </dgm:prSet>
      <dgm:spPr/>
    </dgm:pt>
    <dgm:pt modelId="{2C07DF65-824A-40E1-94F3-16E78C19559E}" type="pres">
      <dgm:prSet presAssocID="{B6820699-DFAE-4279-8B0C-9E67E7720310}" presName="rootComposite" presStyleCnt="0"/>
      <dgm:spPr/>
    </dgm:pt>
    <dgm:pt modelId="{7EAA58FF-081F-44C6-BE57-EE1B0DF5E29C}" type="pres">
      <dgm:prSet presAssocID="{B6820699-DFAE-4279-8B0C-9E67E7720310}" presName="rootText" presStyleLbl="node2" presStyleIdx="2" presStyleCnt="3" custScaleX="70322" custScaleY="62170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BF451B0F-B312-4D5E-8FD5-F0A4E432ABC2}" type="pres">
      <dgm:prSet presAssocID="{B6820699-DFAE-4279-8B0C-9E67E7720310}" presName="rootConnector" presStyleLbl="node2" presStyleIdx="2" presStyleCnt="3"/>
      <dgm:spPr/>
    </dgm:pt>
    <dgm:pt modelId="{5F586742-558A-489E-B95B-2F8A496BEE33}" type="pres">
      <dgm:prSet presAssocID="{B6820699-DFAE-4279-8B0C-9E67E7720310}" presName="hierChild4" presStyleCnt="0"/>
      <dgm:spPr/>
    </dgm:pt>
    <dgm:pt modelId="{AD1DF62B-1796-4B5B-AB48-BFC5373F063A}" type="pres">
      <dgm:prSet presAssocID="{B6820699-DFAE-4279-8B0C-9E67E7720310}" presName="hierChild5" presStyleCnt="0"/>
      <dgm:spPr/>
    </dgm:pt>
    <dgm:pt modelId="{62F78966-B302-4D9C-906C-87380D9CCB7A}" type="pres">
      <dgm:prSet presAssocID="{DC9F62A0-88DE-4D90-8F06-EB95D1D940D0}" presName="hierChild3" presStyleCnt="0"/>
      <dgm:spPr/>
    </dgm:pt>
  </dgm:ptLst>
  <dgm:cxnLst>
    <dgm:cxn modelId="{E63D515E-48CC-4A08-ADC2-13696242BB58}" srcId="{DC9F62A0-88DE-4D90-8F06-EB95D1D940D0}" destId="{27E7CED8-58E9-410A-A78F-C05F61972506}" srcOrd="0" destOrd="0" parTransId="{12F3D0FD-1291-4728-8A01-AE7E15CD43A5}" sibTransId="{2325FEA9-F2E6-4321-9DE0-BDC0F0D7B93E}"/>
    <dgm:cxn modelId="{EECF64D4-305F-4111-BABD-DA4EEF62FA4D}" srcId="{DC9F62A0-88DE-4D90-8F06-EB95D1D940D0}" destId="{4D033C04-CE09-4FC8-9A5C-D07A53439C12}" srcOrd="1" destOrd="0" parTransId="{38C8A9FB-6078-406D-B57C-294A10475E6E}" sibTransId="{6B46C195-0DF5-4E2C-A8DE-319E294A5880}"/>
    <dgm:cxn modelId="{D199822D-6BBC-470E-947A-B737CBFC3A2E}" type="presOf" srcId="{4D033C04-CE09-4FC8-9A5C-D07A53439C12}" destId="{BDB34A66-CB5B-4078-8980-3EA3EA788E5A}" srcOrd="0" destOrd="0" presId="urn:microsoft.com/office/officeart/2005/8/layout/orgChart1"/>
    <dgm:cxn modelId="{9FDC60A7-3DEF-48A6-9BBA-649BF5154BAD}" type="presOf" srcId="{DC9F62A0-88DE-4D90-8F06-EB95D1D940D0}" destId="{84F5DC9F-F62E-47E5-9F89-E89311E0CABD}" srcOrd="1" destOrd="0" presId="urn:microsoft.com/office/officeart/2005/8/layout/orgChart1"/>
    <dgm:cxn modelId="{590336E1-F6C8-4E98-8442-600354E9B726}" type="presOf" srcId="{27E7CED8-58E9-410A-A78F-C05F61972506}" destId="{C89CDC4D-FE91-480B-AD33-6B973C320779}" srcOrd="1" destOrd="0" presId="urn:microsoft.com/office/officeart/2005/8/layout/orgChart1"/>
    <dgm:cxn modelId="{1973D985-E3B7-44B9-B59A-992A507F097A}" type="presOf" srcId="{8BC7DA41-D8BE-4ED4-B33B-3146057F04BE}" destId="{EF0254CD-FF9D-4041-9F5C-0885B3DD2CF8}" srcOrd="0" destOrd="0" presId="urn:microsoft.com/office/officeart/2005/8/layout/orgChart1"/>
    <dgm:cxn modelId="{D93DB68A-F8BB-43A9-82FD-7ECB112299CB}" type="presOf" srcId="{DC9F62A0-88DE-4D90-8F06-EB95D1D940D0}" destId="{779FCCEF-DA8C-4B34-B2D8-E42A720E31F3}" srcOrd="0" destOrd="0" presId="urn:microsoft.com/office/officeart/2005/8/layout/orgChart1"/>
    <dgm:cxn modelId="{3598C386-BC13-4A5F-8D33-438DB593A910}" type="presOf" srcId="{12F3D0FD-1291-4728-8A01-AE7E15CD43A5}" destId="{40D873C3-BED7-4768-BD66-06233D095842}" srcOrd="0" destOrd="0" presId="urn:microsoft.com/office/officeart/2005/8/layout/orgChart1"/>
    <dgm:cxn modelId="{10E00AA6-CABD-4688-AB1A-4DBB776D6382}" type="presOf" srcId="{B8921F51-61E0-47BE-9D5D-89186170C486}" destId="{2476853A-F4AF-4F8D-9D74-0A063498F76D}" srcOrd="0" destOrd="0" presId="urn:microsoft.com/office/officeart/2005/8/layout/orgChart1"/>
    <dgm:cxn modelId="{4B586577-A9A2-479A-8346-F90C7418316E}" srcId="{DC9F62A0-88DE-4D90-8F06-EB95D1D940D0}" destId="{B6820699-DFAE-4279-8B0C-9E67E7720310}" srcOrd="2" destOrd="0" parTransId="{B8921F51-61E0-47BE-9D5D-89186170C486}" sibTransId="{854A12E9-AA1B-429E-A76E-0DC0CC3CDB2D}"/>
    <dgm:cxn modelId="{949A8341-9155-45C4-9B0D-9BD821778E55}" type="presOf" srcId="{4D033C04-CE09-4FC8-9A5C-D07A53439C12}" destId="{D26566BC-BCFD-42AB-ACFF-D756F5F4746C}" srcOrd="1" destOrd="0" presId="urn:microsoft.com/office/officeart/2005/8/layout/orgChart1"/>
    <dgm:cxn modelId="{578A80E6-DBF2-4862-9887-460774CA04CD}" type="presOf" srcId="{B6820699-DFAE-4279-8B0C-9E67E7720310}" destId="{7EAA58FF-081F-44C6-BE57-EE1B0DF5E29C}" srcOrd="0" destOrd="0" presId="urn:microsoft.com/office/officeart/2005/8/layout/orgChart1"/>
    <dgm:cxn modelId="{FDCBCD64-BE6C-4A91-8C76-185A29FA7024}" type="presOf" srcId="{27E7CED8-58E9-410A-A78F-C05F61972506}" destId="{360080DE-A1D1-4602-A66D-3EE18A25E37B}" srcOrd="0" destOrd="0" presId="urn:microsoft.com/office/officeart/2005/8/layout/orgChart1"/>
    <dgm:cxn modelId="{9F838BF4-950C-414E-A467-41C6EB89B01F}" type="presOf" srcId="{38C8A9FB-6078-406D-B57C-294A10475E6E}" destId="{474D2E2A-7496-4452-8FCB-BED470EB1223}" srcOrd="0" destOrd="0" presId="urn:microsoft.com/office/officeart/2005/8/layout/orgChart1"/>
    <dgm:cxn modelId="{253AE74B-36C8-4818-B772-45CF7EAA0D63}" srcId="{8BC7DA41-D8BE-4ED4-B33B-3146057F04BE}" destId="{DC9F62A0-88DE-4D90-8F06-EB95D1D940D0}" srcOrd="0" destOrd="0" parTransId="{5EE7017B-EEE3-4404-BAB6-7DD690139FB3}" sibTransId="{A841E793-F9D3-4802-B9CA-470996DB2B99}"/>
    <dgm:cxn modelId="{92D0C248-5839-4C1B-8659-C4C485F61324}" type="presOf" srcId="{B6820699-DFAE-4279-8B0C-9E67E7720310}" destId="{BF451B0F-B312-4D5E-8FD5-F0A4E432ABC2}" srcOrd="1" destOrd="0" presId="urn:microsoft.com/office/officeart/2005/8/layout/orgChart1"/>
    <dgm:cxn modelId="{30621589-A653-441D-BDAC-74A7C3635C53}" type="presParOf" srcId="{EF0254CD-FF9D-4041-9F5C-0885B3DD2CF8}" destId="{91E51629-8FF0-4652-A45D-39D0B3376F92}" srcOrd="0" destOrd="0" presId="urn:microsoft.com/office/officeart/2005/8/layout/orgChart1"/>
    <dgm:cxn modelId="{CFDBFFAB-22F6-48E3-976F-424B1BBA8814}" type="presParOf" srcId="{91E51629-8FF0-4652-A45D-39D0B3376F92}" destId="{72936B33-4E4A-4CE1-B801-D1B9319E8A0D}" srcOrd="0" destOrd="0" presId="urn:microsoft.com/office/officeart/2005/8/layout/orgChart1"/>
    <dgm:cxn modelId="{9316DB3A-FDAB-409A-82DB-CE82CB2218BF}" type="presParOf" srcId="{72936B33-4E4A-4CE1-B801-D1B9319E8A0D}" destId="{779FCCEF-DA8C-4B34-B2D8-E42A720E31F3}" srcOrd="0" destOrd="0" presId="urn:microsoft.com/office/officeart/2005/8/layout/orgChart1"/>
    <dgm:cxn modelId="{35880661-DBF4-40E0-BC5F-5CC7B1F0464E}" type="presParOf" srcId="{72936B33-4E4A-4CE1-B801-D1B9319E8A0D}" destId="{84F5DC9F-F62E-47E5-9F89-E89311E0CABD}" srcOrd="1" destOrd="0" presId="urn:microsoft.com/office/officeart/2005/8/layout/orgChart1"/>
    <dgm:cxn modelId="{4A8A285D-9656-4D7B-8B45-1F3E07C6C60D}" type="presParOf" srcId="{91E51629-8FF0-4652-A45D-39D0B3376F92}" destId="{5BEDB9DF-7C5D-43D7-A091-9D0591AF200C}" srcOrd="1" destOrd="0" presId="urn:microsoft.com/office/officeart/2005/8/layout/orgChart1"/>
    <dgm:cxn modelId="{4B894908-5CB1-4B75-89A2-4DB12F883B85}" type="presParOf" srcId="{5BEDB9DF-7C5D-43D7-A091-9D0591AF200C}" destId="{40D873C3-BED7-4768-BD66-06233D095842}" srcOrd="0" destOrd="0" presId="urn:microsoft.com/office/officeart/2005/8/layout/orgChart1"/>
    <dgm:cxn modelId="{72AFCB59-1898-4B84-AAC1-836626ECE8FD}" type="presParOf" srcId="{5BEDB9DF-7C5D-43D7-A091-9D0591AF200C}" destId="{D5278FFC-3D54-40A0-8516-409A61C2DA73}" srcOrd="1" destOrd="0" presId="urn:microsoft.com/office/officeart/2005/8/layout/orgChart1"/>
    <dgm:cxn modelId="{0687DB6F-65C6-44C4-BC2E-FE47F47595EB}" type="presParOf" srcId="{D5278FFC-3D54-40A0-8516-409A61C2DA73}" destId="{6FE27E7A-C46E-4822-B842-2AB2E13DAB4C}" srcOrd="0" destOrd="0" presId="urn:microsoft.com/office/officeart/2005/8/layout/orgChart1"/>
    <dgm:cxn modelId="{6C50AB6D-AAB1-498C-BF35-6FF4D04E29C5}" type="presParOf" srcId="{6FE27E7A-C46E-4822-B842-2AB2E13DAB4C}" destId="{360080DE-A1D1-4602-A66D-3EE18A25E37B}" srcOrd="0" destOrd="0" presId="urn:microsoft.com/office/officeart/2005/8/layout/orgChart1"/>
    <dgm:cxn modelId="{11E5BED4-D0FF-4395-84AB-390C90C4DE95}" type="presParOf" srcId="{6FE27E7A-C46E-4822-B842-2AB2E13DAB4C}" destId="{C89CDC4D-FE91-480B-AD33-6B973C320779}" srcOrd="1" destOrd="0" presId="urn:microsoft.com/office/officeart/2005/8/layout/orgChart1"/>
    <dgm:cxn modelId="{85A0F12B-7E14-4809-89A4-16427FD4B4F3}" type="presParOf" srcId="{D5278FFC-3D54-40A0-8516-409A61C2DA73}" destId="{46D56EE2-F517-4803-8638-6C4216F67309}" srcOrd="1" destOrd="0" presId="urn:microsoft.com/office/officeart/2005/8/layout/orgChart1"/>
    <dgm:cxn modelId="{EA8B2719-4BD3-4DC0-BEB1-8A284884E3DA}" type="presParOf" srcId="{D5278FFC-3D54-40A0-8516-409A61C2DA73}" destId="{EC73EC73-D6DF-4E85-A270-7051087DFA61}" srcOrd="2" destOrd="0" presId="urn:microsoft.com/office/officeart/2005/8/layout/orgChart1"/>
    <dgm:cxn modelId="{8B434CFD-E568-4459-9416-82A6B5C7B30E}" type="presParOf" srcId="{5BEDB9DF-7C5D-43D7-A091-9D0591AF200C}" destId="{474D2E2A-7496-4452-8FCB-BED470EB1223}" srcOrd="2" destOrd="0" presId="urn:microsoft.com/office/officeart/2005/8/layout/orgChart1"/>
    <dgm:cxn modelId="{1FEAF05B-F303-4766-AFF7-6D77A603C77E}" type="presParOf" srcId="{5BEDB9DF-7C5D-43D7-A091-9D0591AF200C}" destId="{79227989-8E1E-4826-96A5-46C8176D9A1C}" srcOrd="3" destOrd="0" presId="urn:microsoft.com/office/officeart/2005/8/layout/orgChart1"/>
    <dgm:cxn modelId="{583FC4C5-F07E-40E9-A90B-38F183F79FC3}" type="presParOf" srcId="{79227989-8E1E-4826-96A5-46C8176D9A1C}" destId="{35654614-3319-46F8-B944-53793DBB0A8C}" srcOrd="0" destOrd="0" presId="urn:microsoft.com/office/officeart/2005/8/layout/orgChart1"/>
    <dgm:cxn modelId="{2F020709-79D9-473F-BB6C-4AD317C72EF8}" type="presParOf" srcId="{35654614-3319-46F8-B944-53793DBB0A8C}" destId="{BDB34A66-CB5B-4078-8980-3EA3EA788E5A}" srcOrd="0" destOrd="0" presId="urn:microsoft.com/office/officeart/2005/8/layout/orgChart1"/>
    <dgm:cxn modelId="{B0AC6F7D-B1AC-404C-A7AC-FA5A7F64655D}" type="presParOf" srcId="{35654614-3319-46F8-B944-53793DBB0A8C}" destId="{D26566BC-BCFD-42AB-ACFF-D756F5F4746C}" srcOrd="1" destOrd="0" presId="urn:microsoft.com/office/officeart/2005/8/layout/orgChart1"/>
    <dgm:cxn modelId="{D9E7940B-5635-46EC-96B3-C214CDFEEECC}" type="presParOf" srcId="{79227989-8E1E-4826-96A5-46C8176D9A1C}" destId="{A7C5805D-A80B-4826-8917-F769E89F433F}" srcOrd="1" destOrd="0" presId="urn:microsoft.com/office/officeart/2005/8/layout/orgChart1"/>
    <dgm:cxn modelId="{BDAB3CB7-1C34-44BB-9B8C-B77F7171155B}" type="presParOf" srcId="{79227989-8E1E-4826-96A5-46C8176D9A1C}" destId="{E6D087AA-027B-4DC8-9541-BE30EFEEC7C3}" srcOrd="2" destOrd="0" presId="urn:microsoft.com/office/officeart/2005/8/layout/orgChart1"/>
    <dgm:cxn modelId="{1A4540A1-B21B-4187-BFAB-2713D2680028}" type="presParOf" srcId="{5BEDB9DF-7C5D-43D7-A091-9D0591AF200C}" destId="{2476853A-F4AF-4F8D-9D74-0A063498F76D}" srcOrd="4" destOrd="0" presId="urn:microsoft.com/office/officeart/2005/8/layout/orgChart1"/>
    <dgm:cxn modelId="{4DA8E25F-7CFF-46EE-B25D-6DED8DE4EBCC}" type="presParOf" srcId="{5BEDB9DF-7C5D-43D7-A091-9D0591AF200C}" destId="{074239DB-69F5-465C-99BA-1745B65442CA}" srcOrd="5" destOrd="0" presId="urn:microsoft.com/office/officeart/2005/8/layout/orgChart1"/>
    <dgm:cxn modelId="{87F0FD18-033D-4CF0-A4B7-B8D09F9A5F3C}" type="presParOf" srcId="{074239DB-69F5-465C-99BA-1745B65442CA}" destId="{2C07DF65-824A-40E1-94F3-16E78C19559E}" srcOrd="0" destOrd="0" presId="urn:microsoft.com/office/officeart/2005/8/layout/orgChart1"/>
    <dgm:cxn modelId="{81494876-FF83-40A4-B5A9-C215C7B3F5B1}" type="presParOf" srcId="{2C07DF65-824A-40E1-94F3-16E78C19559E}" destId="{7EAA58FF-081F-44C6-BE57-EE1B0DF5E29C}" srcOrd="0" destOrd="0" presId="urn:microsoft.com/office/officeart/2005/8/layout/orgChart1"/>
    <dgm:cxn modelId="{1DA41D66-C8A4-4579-B826-56BF1734E2EB}" type="presParOf" srcId="{2C07DF65-824A-40E1-94F3-16E78C19559E}" destId="{BF451B0F-B312-4D5E-8FD5-F0A4E432ABC2}" srcOrd="1" destOrd="0" presId="urn:microsoft.com/office/officeart/2005/8/layout/orgChart1"/>
    <dgm:cxn modelId="{F063C832-CB7B-4210-B1C8-C3718865BDAD}" type="presParOf" srcId="{074239DB-69F5-465C-99BA-1745B65442CA}" destId="{5F586742-558A-489E-B95B-2F8A496BEE33}" srcOrd="1" destOrd="0" presId="urn:microsoft.com/office/officeart/2005/8/layout/orgChart1"/>
    <dgm:cxn modelId="{15E0A12D-51E9-4CDB-8D46-17233BEFE1F5}" type="presParOf" srcId="{074239DB-69F5-465C-99BA-1745B65442CA}" destId="{AD1DF62B-1796-4B5B-AB48-BFC5373F063A}" srcOrd="2" destOrd="0" presId="urn:microsoft.com/office/officeart/2005/8/layout/orgChart1"/>
    <dgm:cxn modelId="{BD5C76DC-24D4-47D6-A6C1-0F033A2E60BD}" type="presParOf" srcId="{91E51629-8FF0-4652-A45D-39D0B3376F92}" destId="{62F78966-B302-4D9C-906C-87380D9CCB7A}" srcOrd="2" destOrd="0" presId="urn:microsoft.com/office/officeart/2005/8/layout/orgChart1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CC4751A-EEC5-4A09-9CC6-9B91E7B6A1EF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ES"/>
        </a:p>
      </dgm:t>
    </dgm:pt>
    <dgm:pt modelId="{9D841370-5F0B-41F6-95A4-19F6BCA6513C}">
      <dgm:prSet phldrT="[Texto]" custT="1"/>
      <dgm:spPr/>
      <dgm:t>
        <a:bodyPr/>
        <a:lstStyle/>
        <a:p>
          <a:r>
            <a:rPr lang="es-ES" sz="2000" dirty="0" smtClean="0">
              <a:solidFill>
                <a:schemeClr val="tx1"/>
              </a:solidFill>
            </a:rPr>
            <a:t>Tipo de investigación </a:t>
          </a:r>
          <a:endParaRPr lang="es-ES" sz="2000" dirty="0">
            <a:solidFill>
              <a:schemeClr val="tx1"/>
            </a:solidFill>
          </a:endParaRPr>
        </a:p>
      </dgm:t>
    </dgm:pt>
    <dgm:pt modelId="{8422CCF6-312E-4910-8F0C-DF8FAFCAFC9F}" type="parTrans" cxnId="{099E021C-FB4F-4166-9854-F4D01B05FFE3}">
      <dgm:prSet/>
      <dgm:spPr/>
      <dgm:t>
        <a:bodyPr/>
        <a:lstStyle/>
        <a:p>
          <a:endParaRPr lang="es-ES"/>
        </a:p>
      </dgm:t>
    </dgm:pt>
    <dgm:pt modelId="{FC1428B9-A321-4159-ADB0-4F5F38F0309B}" type="sibTrans" cxnId="{099E021C-FB4F-4166-9854-F4D01B05FFE3}">
      <dgm:prSet/>
      <dgm:spPr/>
      <dgm:t>
        <a:bodyPr/>
        <a:lstStyle/>
        <a:p>
          <a:endParaRPr lang="es-ES"/>
        </a:p>
      </dgm:t>
    </dgm:pt>
    <dgm:pt modelId="{DB084623-F9AB-4415-A3ED-5C337E7D2000}">
      <dgm:prSet phldrT="[Texto]" custT="1"/>
      <dgm:spPr/>
      <dgm:t>
        <a:bodyPr/>
        <a:lstStyle/>
        <a:p>
          <a:r>
            <a:rPr lang="es-ES" sz="2000" dirty="0" smtClean="0"/>
            <a:t>Según el alcance </a:t>
          </a:r>
          <a:endParaRPr lang="es-ES" sz="2000" dirty="0"/>
        </a:p>
      </dgm:t>
    </dgm:pt>
    <dgm:pt modelId="{37E7FAF9-8C79-4DDD-A96B-19806CFEBCE8}" type="parTrans" cxnId="{FD099C07-C2AA-4DC3-989F-9E22B8165AAF}">
      <dgm:prSet/>
      <dgm:spPr/>
      <dgm:t>
        <a:bodyPr/>
        <a:lstStyle/>
        <a:p>
          <a:endParaRPr lang="es-ES"/>
        </a:p>
      </dgm:t>
    </dgm:pt>
    <dgm:pt modelId="{15D47FAA-9A11-4EFD-9C05-2FB62DC852A4}" type="sibTrans" cxnId="{FD099C07-C2AA-4DC3-989F-9E22B8165AAF}">
      <dgm:prSet/>
      <dgm:spPr/>
      <dgm:t>
        <a:bodyPr/>
        <a:lstStyle/>
        <a:p>
          <a:endParaRPr lang="es-ES"/>
        </a:p>
      </dgm:t>
    </dgm:pt>
    <dgm:pt modelId="{2A442455-FABB-405B-B9EC-34EA9BC593C0}">
      <dgm:prSet phldrT="[Texto]" custT="1"/>
      <dgm:spPr/>
      <dgm:t>
        <a:bodyPr/>
        <a:lstStyle/>
        <a:p>
          <a:r>
            <a:rPr lang="es-ES" sz="2000" dirty="0" smtClean="0"/>
            <a:t>Según el tiempo </a:t>
          </a:r>
          <a:endParaRPr lang="es-ES" sz="2000" dirty="0"/>
        </a:p>
      </dgm:t>
    </dgm:pt>
    <dgm:pt modelId="{90CCDEE9-8EF5-402D-B45F-0ACCF987DB02}" type="parTrans" cxnId="{0E3EE5DD-FA56-4F22-BE39-1415FCA8203C}">
      <dgm:prSet/>
      <dgm:spPr/>
      <dgm:t>
        <a:bodyPr/>
        <a:lstStyle/>
        <a:p>
          <a:endParaRPr lang="es-ES"/>
        </a:p>
      </dgm:t>
    </dgm:pt>
    <dgm:pt modelId="{451BD54E-7811-4A56-8F2F-752A7C64C4E6}" type="sibTrans" cxnId="{0E3EE5DD-FA56-4F22-BE39-1415FCA8203C}">
      <dgm:prSet/>
      <dgm:spPr/>
      <dgm:t>
        <a:bodyPr/>
        <a:lstStyle/>
        <a:p>
          <a:endParaRPr lang="es-ES"/>
        </a:p>
      </dgm:t>
    </dgm:pt>
    <dgm:pt modelId="{3F4819F4-C208-4E1F-8251-3F81D77545D2}">
      <dgm:prSet phldrT="[Texto]" custT="1"/>
      <dgm:spPr/>
      <dgm:t>
        <a:bodyPr/>
        <a:lstStyle/>
        <a:p>
          <a:r>
            <a:rPr lang="es-ES" sz="2000" dirty="0" smtClean="0"/>
            <a:t>Según el análisis </a:t>
          </a:r>
          <a:endParaRPr lang="es-ES" sz="2000" dirty="0"/>
        </a:p>
      </dgm:t>
    </dgm:pt>
    <dgm:pt modelId="{B89A6D40-D3BB-4DC9-A28C-402FF996A4AD}" type="parTrans" cxnId="{D0D095AC-80DB-4448-9009-3ECA6E7F9920}">
      <dgm:prSet/>
      <dgm:spPr/>
      <dgm:t>
        <a:bodyPr/>
        <a:lstStyle/>
        <a:p>
          <a:endParaRPr lang="es-ES"/>
        </a:p>
      </dgm:t>
    </dgm:pt>
    <dgm:pt modelId="{E8636057-EE29-4E2D-BEA6-2F7111FED341}" type="sibTrans" cxnId="{D0D095AC-80DB-4448-9009-3ECA6E7F9920}">
      <dgm:prSet/>
      <dgm:spPr/>
      <dgm:t>
        <a:bodyPr/>
        <a:lstStyle/>
        <a:p>
          <a:endParaRPr lang="es-ES"/>
        </a:p>
      </dgm:t>
    </dgm:pt>
    <dgm:pt modelId="{7E3C6817-9151-4F1A-A827-C443FC3ABFA7}">
      <dgm:prSet custT="1"/>
      <dgm:spPr/>
      <dgm:t>
        <a:bodyPr/>
        <a:lstStyle/>
        <a:p>
          <a:r>
            <a:rPr lang="es-ES" sz="2000" dirty="0" smtClean="0"/>
            <a:t>Según el lugar </a:t>
          </a:r>
          <a:endParaRPr lang="es-ES" sz="2000" dirty="0"/>
        </a:p>
      </dgm:t>
    </dgm:pt>
    <dgm:pt modelId="{09F702CF-71D6-42EA-AC03-D8E5C0F53544}" type="parTrans" cxnId="{0AB6DD59-F66F-40B8-8C99-E0DBB0D83F44}">
      <dgm:prSet/>
      <dgm:spPr/>
      <dgm:t>
        <a:bodyPr/>
        <a:lstStyle/>
        <a:p>
          <a:endParaRPr lang="es-ES"/>
        </a:p>
      </dgm:t>
    </dgm:pt>
    <dgm:pt modelId="{32CBBDD2-D1C1-459A-B7DB-708B153C423C}" type="sibTrans" cxnId="{0AB6DD59-F66F-40B8-8C99-E0DBB0D83F44}">
      <dgm:prSet/>
      <dgm:spPr/>
      <dgm:t>
        <a:bodyPr/>
        <a:lstStyle/>
        <a:p>
          <a:endParaRPr lang="es-ES"/>
        </a:p>
      </dgm:t>
    </dgm:pt>
    <dgm:pt modelId="{26F8C117-B54A-4940-B48C-7ED172EA7A61}">
      <dgm:prSet custT="1"/>
      <dgm:spPr/>
      <dgm:t>
        <a:bodyPr/>
        <a:lstStyle/>
        <a:p>
          <a:r>
            <a:rPr lang="es-ES" sz="2000" dirty="0" smtClean="0"/>
            <a:t>Según la orientación que asume</a:t>
          </a:r>
          <a:endParaRPr lang="es-ES" sz="2000" dirty="0"/>
        </a:p>
      </dgm:t>
    </dgm:pt>
    <dgm:pt modelId="{57FF51BA-D1FB-48A3-A626-C4C63765C381}" type="parTrans" cxnId="{1270D8C5-4D6A-4FC6-B34E-E547372DF51C}">
      <dgm:prSet/>
      <dgm:spPr/>
      <dgm:t>
        <a:bodyPr/>
        <a:lstStyle/>
        <a:p>
          <a:endParaRPr lang="es-ES"/>
        </a:p>
      </dgm:t>
    </dgm:pt>
    <dgm:pt modelId="{57A2F734-A614-40E5-8E21-F6C372086632}" type="sibTrans" cxnId="{1270D8C5-4D6A-4FC6-B34E-E547372DF51C}">
      <dgm:prSet/>
      <dgm:spPr/>
      <dgm:t>
        <a:bodyPr/>
        <a:lstStyle/>
        <a:p>
          <a:endParaRPr lang="es-ES"/>
        </a:p>
      </dgm:t>
    </dgm:pt>
    <dgm:pt modelId="{FD20EFEC-447B-4423-BF0B-A4E18D017756}" type="pres">
      <dgm:prSet presAssocID="{9CC4751A-EEC5-4A09-9CC6-9B91E7B6A1EF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63494EDB-DDC0-47B9-9003-0874A216B5AE}" type="pres">
      <dgm:prSet presAssocID="{9D841370-5F0B-41F6-95A4-19F6BCA6513C}" presName="centerShape" presStyleLbl="node0" presStyleIdx="0" presStyleCnt="1" custAng="0" custScaleX="111980"/>
      <dgm:spPr/>
      <dgm:t>
        <a:bodyPr/>
        <a:lstStyle/>
        <a:p>
          <a:endParaRPr lang="es-ES"/>
        </a:p>
      </dgm:t>
    </dgm:pt>
    <dgm:pt modelId="{D1DF61AF-AF8F-432D-B35B-CF5646132CCB}" type="pres">
      <dgm:prSet presAssocID="{37E7FAF9-8C79-4DDD-A96B-19806CFEBCE8}" presName="parTrans" presStyleLbl="bgSibTrans2D1" presStyleIdx="0" presStyleCnt="5"/>
      <dgm:spPr/>
    </dgm:pt>
    <dgm:pt modelId="{085622B4-8401-4C88-A0A1-D8879FF607D2}" type="pres">
      <dgm:prSet presAssocID="{DB084623-F9AB-4415-A3ED-5C337E7D2000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4366356F-BE6F-4E97-B3C1-7FCF44FC7296}" type="pres">
      <dgm:prSet presAssocID="{90CCDEE9-8EF5-402D-B45F-0ACCF987DB02}" presName="parTrans" presStyleLbl="bgSibTrans2D1" presStyleIdx="1" presStyleCnt="5"/>
      <dgm:spPr/>
    </dgm:pt>
    <dgm:pt modelId="{E3A069B5-64EE-46F5-BD67-42D335692F37}" type="pres">
      <dgm:prSet presAssocID="{2A442455-FABB-405B-B9EC-34EA9BC593C0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C3E59147-F746-4E54-BC56-B6C4FC06C236}" type="pres">
      <dgm:prSet presAssocID="{B89A6D40-D3BB-4DC9-A28C-402FF996A4AD}" presName="parTrans" presStyleLbl="bgSibTrans2D1" presStyleIdx="2" presStyleCnt="5"/>
      <dgm:spPr/>
    </dgm:pt>
    <dgm:pt modelId="{F9F79C0C-2BD4-4C96-933D-BFA3DB56006B}" type="pres">
      <dgm:prSet presAssocID="{3F4819F4-C208-4E1F-8251-3F81D77545D2}" presName="node" presStyleLbl="node1" presStyleIdx="2" presStyleCnt="5">
        <dgm:presLayoutVars>
          <dgm:bulletEnabled val="1"/>
        </dgm:presLayoutVars>
      </dgm:prSet>
      <dgm:spPr/>
    </dgm:pt>
    <dgm:pt modelId="{12C2CF1D-80A4-4117-8051-941D0A11DDF3}" type="pres">
      <dgm:prSet presAssocID="{57FF51BA-D1FB-48A3-A626-C4C63765C381}" presName="parTrans" presStyleLbl="bgSibTrans2D1" presStyleIdx="3" presStyleCnt="5"/>
      <dgm:spPr/>
    </dgm:pt>
    <dgm:pt modelId="{BF2F5817-B43C-4454-A824-ECCF9921F1DC}" type="pres">
      <dgm:prSet presAssocID="{26F8C117-B54A-4940-B48C-7ED172EA7A61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E7D3DD80-D0F1-4F2A-8527-AFA1FBD455B5}" type="pres">
      <dgm:prSet presAssocID="{09F702CF-71D6-42EA-AC03-D8E5C0F53544}" presName="parTrans" presStyleLbl="bgSibTrans2D1" presStyleIdx="4" presStyleCnt="5"/>
      <dgm:spPr/>
    </dgm:pt>
    <dgm:pt modelId="{63BBC4EB-F418-4C9E-8F80-D729DB0FDF08}" type="pres">
      <dgm:prSet presAssocID="{7E3C6817-9151-4F1A-A827-C443FC3ABFA7}" presName="node" presStyleLbl="node1" presStyleIdx="4" presStyleCnt="5">
        <dgm:presLayoutVars>
          <dgm:bulletEnabled val="1"/>
        </dgm:presLayoutVars>
      </dgm:prSet>
      <dgm:spPr/>
    </dgm:pt>
  </dgm:ptLst>
  <dgm:cxnLst>
    <dgm:cxn modelId="{D0D095AC-80DB-4448-9009-3ECA6E7F9920}" srcId="{9D841370-5F0B-41F6-95A4-19F6BCA6513C}" destId="{3F4819F4-C208-4E1F-8251-3F81D77545D2}" srcOrd="2" destOrd="0" parTransId="{B89A6D40-D3BB-4DC9-A28C-402FF996A4AD}" sibTransId="{E8636057-EE29-4E2D-BEA6-2F7111FED341}"/>
    <dgm:cxn modelId="{099E021C-FB4F-4166-9854-F4D01B05FFE3}" srcId="{9CC4751A-EEC5-4A09-9CC6-9B91E7B6A1EF}" destId="{9D841370-5F0B-41F6-95A4-19F6BCA6513C}" srcOrd="0" destOrd="0" parTransId="{8422CCF6-312E-4910-8F0C-DF8FAFCAFC9F}" sibTransId="{FC1428B9-A321-4159-ADB0-4F5F38F0309B}"/>
    <dgm:cxn modelId="{2C5FC741-9AA7-4895-A6E0-F67D24F4DE22}" type="presOf" srcId="{9D841370-5F0B-41F6-95A4-19F6BCA6513C}" destId="{63494EDB-DDC0-47B9-9003-0874A216B5AE}" srcOrd="0" destOrd="0" presId="urn:microsoft.com/office/officeart/2005/8/layout/radial4"/>
    <dgm:cxn modelId="{0E3EE5DD-FA56-4F22-BE39-1415FCA8203C}" srcId="{9D841370-5F0B-41F6-95A4-19F6BCA6513C}" destId="{2A442455-FABB-405B-B9EC-34EA9BC593C0}" srcOrd="1" destOrd="0" parTransId="{90CCDEE9-8EF5-402D-B45F-0ACCF987DB02}" sibTransId="{451BD54E-7811-4A56-8F2F-752A7C64C4E6}"/>
    <dgm:cxn modelId="{4CDF2D0A-8734-463F-A76E-256144522FE0}" type="presOf" srcId="{7E3C6817-9151-4F1A-A827-C443FC3ABFA7}" destId="{63BBC4EB-F418-4C9E-8F80-D729DB0FDF08}" srcOrd="0" destOrd="0" presId="urn:microsoft.com/office/officeart/2005/8/layout/radial4"/>
    <dgm:cxn modelId="{3D9E62C8-15F7-4F90-B5AB-59F1B7EA48C7}" type="presOf" srcId="{37E7FAF9-8C79-4DDD-A96B-19806CFEBCE8}" destId="{D1DF61AF-AF8F-432D-B35B-CF5646132CCB}" srcOrd="0" destOrd="0" presId="urn:microsoft.com/office/officeart/2005/8/layout/radial4"/>
    <dgm:cxn modelId="{B1CC92C3-F665-465F-992C-05A83DC60857}" type="presOf" srcId="{90CCDEE9-8EF5-402D-B45F-0ACCF987DB02}" destId="{4366356F-BE6F-4E97-B3C1-7FCF44FC7296}" srcOrd="0" destOrd="0" presId="urn:microsoft.com/office/officeart/2005/8/layout/radial4"/>
    <dgm:cxn modelId="{1270D8C5-4D6A-4FC6-B34E-E547372DF51C}" srcId="{9D841370-5F0B-41F6-95A4-19F6BCA6513C}" destId="{26F8C117-B54A-4940-B48C-7ED172EA7A61}" srcOrd="3" destOrd="0" parTransId="{57FF51BA-D1FB-48A3-A626-C4C63765C381}" sibTransId="{57A2F734-A614-40E5-8E21-F6C372086632}"/>
    <dgm:cxn modelId="{FD099C07-C2AA-4DC3-989F-9E22B8165AAF}" srcId="{9D841370-5F0B-41F6-95A4-19F6BCA6513C}" destId="{DB084623-F9AB-4415-A3ED-5C337E7D2000}" srcOrd="0" destOrd="0" parTransId="{37E7FAF9-8C79-4DDD-A96B-19806CFEBCE8}" sibTransId="{15D47FAA-9A11-4EFD-9C05-2FB62DC852A4}"/>
    <dgm:cxn modelId="{BA83B776-B3AB-442E-990F-9B8D15F3DA6E}" type="presOf" srcId="{2A442455-FABB-405B-B9EC-34EA9BC593C0}" destId="{E3A069B5-64EE-46F5-BD67-42D335692F37}" srcOrd="0" destOrd="0" presId="urn:microsoft.com/office/officeart/2005/8/layout/radial4"/>
    <dgm:cxn modelId="{4648B089-27B0-4BD9-9B63-51A93FE4A1BD}" type="presOf" srcId="{26F8C117-B54A-4940-B48C-7ED172EA7A61}" destId="{BF2F5817-B43C-4454-A824-ECCF9921F1DC}" srcOrd="0" destOrd="0" presId="urn:microsoft.com/office/officeart/2005/8/layout/radial4"/>
    <dgm:cxn modelId="{0FB63C53-3005-4F7A-8EC6-F1DA115712C6}" type="presOf" srcId="{9CC4751A-EEC5-4A09-9CC6-9B91E7B6A1EF}" destId="{FD20EFEC-447B-4423-BF0B-A4E18D017756}" srcOrd="0" destOrd="0" presId="urn:microsoft.com/office/officeart/2005/8/layout/radial4"/>
    <dgm:cxn modelId="{0AB6DD59-F66F-40B8-8C99-E0DBB0D83F44}" srcId="{9D841370-5F0B-41F6-95A4-19F6BCA6513C}" destId="{7E3C6817-9151-4F1A-A827-C443FC3ABFA7}" srcOrd="4" destOrd="0" parTransId="{09F702CF-71D6-42EA-AC03-D8E5C0F53544}" sibTransId="{32CBBDD2-D1C1-459A-B7DB-708B153C423C}"/>
    <dgm:cxn modelId="{CE4DB2CC-B400-4FA3-BA7B-CFDC42CB9946}" type="presOf" srcId="{3F4819F4-C208-4E1F-8251-3F81D77545D2}" destId="{F9F79C0C-2BD4-4C96-933D-BFA3DB56006B}" srcOrd="0" destOrd="0" presId="urn:microsoft.com/office/officeart/2005/8/layout/radial4"/>
    <dgm:cxn modelId="{FA966CA5-88E7-48EF-9EB1-AED989FC08D5}" type="presOf" srcId="{09F702CF-71D6-42EA-AC03-D8E5C0F53544}" destId="{E7D3DD80-D0F1-4F2A-8527-AFA1FBD455B5}" srcOrd="0" destOrd="0" presId="urn:microsoft.com/office/officeart/2005/8/layout/radial4"/>
    <dgm:cxn modelId="{48420FAC-5DFF-4EE3-B5D9-341A435F0394}" type="presOf" srcId="{DB084623-F9AB-4415-A3ED-5C337E7D2000}" destId="{085622B4-8401-4C88-A0A1-D8879FF607D2}" srcOrd="0" destOrd="0" presId="urn:microsoft.com/office/officeart/2005/8/layout/radial4"/>
    <dgm:cxn modelId="{7C3CF17A-448A-42D2-8A83-F376CFB81E3D}" type="presOf" srcId="{B89A6D40-D3BB-4DC9-A28C-402FF996A4AD}" destId="{C3E59147-F746-4E54-BC56-B6C4FC06C236}" srcOrd="0" destOrd="0" presId="urn:microsoft.com/office/officeart/2005/8/layout/radial4"/>
    <dgm:cxn modelId="{F15DBCE7-46B0-49B3-8F02-3D802B6248E3}" type="presOf" srcId="{57FF51BA-D1FB-48A3-A626-C4C63765C381}" destId="{12C2CF1D-80A4-4117-8051-941D0A11DDF3}" srcOrd="0" destOrd="0" presId="urn:microsoft.com/office/officeart/2005/8/layout/radial4"/>
    <dgm:cxn modelId="{E36CE44E-7838-4054-977D-5154B536882B}" type="presParOf" srcId="{FD20EFEC-447B-4423-BF0B-A4E18D017756}" destId="{63494EDB-DDC0-47B9-9003-0874A216B5AE}" srcOrd="0" destOrd="0" presId="urn:microsoft.com/office/officeart/2005/8/layout/radial4"/>
    <dgm:cxn modelId="{89B20801-960E-44FC-BEBD-489EB7F9CB43}" type="presParOf" srcId="{FD20EFEC-447B-4423-BF0B-A4E18D017756}" destId="{D1DF61AF-AF8F-432D-B35B-CF5646132CCB}" srcOrd="1" destOrd="0" presId="urn:microsoft.com/office/officeart/2005/8/layout/radial4"/>
    <dgm:cxn modelId="{CEEA3611-5398-4194-9939-9B8C351EBE67}" type="presParOf" srcId="{FD20EFEC-447B-4423-BF0B-A4E18D017756}" destId="{085622B4-8401-4C88-A0A1-D8879FF607D2}" srcOrd="2" destOrd="0" presId="urn:microsoft.com/office/officeart/2005/8/layout/radial4"/>
    <dgm:cxn modelId="{01D88933-06A8-46E4-ACF7-76E4B775EFAF}" type="presParOf" srcId="{FD20EFEC-447B-4423-BF0B-A4E18D017756}" destId="{4366356F-BE6F-4E97-B3C1-7FCF44FC7296}" srcOrd="3" destOrd="0" presId="urn:microsoft.com/office/officeart/2005/8/layout/radial4"/>
    <dgm:cxn modelId="{F86C5720-9634-4D1C-BE64-61264761CB7F}" type="presParOf" srcId="{FD20EFEC-447B-4423-BF0B-A4E18D017756}" destId="{E3A069B5-64EE-46F5-BD67-42D335692F37}" srcOrd="4" destOrd="0" presId="urn:microsoft.com/office/officeart/2005/8/layout/radial4"/>
    <dgm:cxn modelId="{44975E28-BD70-4195-887B-3098C262A50F}" type="presParOf" srcId="{FD20EFEC-447B-4423-BF0B-A4E18D017756}" destId="{C3E59147-F746-4E54-BC56-B6C4FC06C236}" srcOrd="5" destOrd="0" presId="urn:microsoft.com/office/officeart/2005/8/layout/radial4"/>
    <dgm:cxn modelId="{4BBDEC03-D0C8-4867-869B-EAC878D3C820}" type="presParOf" srcId="{FD20EFEC-447B-4423-BF0B-A4E18D017756}" destId="{F9F79C0C-2BD4-4C96-933D-BFA3DB56006B}" srcOrd="6" destOrd="0" presId="urn:microsoft.com/office/officeart/2005/8/layout/radial4"/>
    <dgm:cxn modelId="{F1153014-71DC-4524-A312-61C2BE7E7CCA}" type="presParOf" srcId="{FD20EFEC-447B-4423-BF0B-A4E18D017756}" destId="{12C2CF1D-80A4-4117-8051-941D0A11DDF3}" srcOrd="7" destOrd="0" presId="urn:microsoft.com/office/officeart/2005/8/layout/radial4"/>
    <dgm:cxn modelId="{AD267D5A-9535-4C64-8462-6302B63DE94B}" type="presParOf" srcId="{FD20EFEC-447B-4423-BF0B-A4E18D017756}" destId="{BF2F5817-B43C-4454-A824-ECCF9921F1DC}" srcOrd="8" destOrd="0" presId="urn:microsoft.com/office/officeart/2005/8/layout/radial4"/>
    <dgm:cxn modelId="{9DD302BF-8C21-4BBA-A111-A401C28533D9}" type="presParOf" srcId="{FD20EFEC-447B-4423-BF0B-A4E18D017756}" destId="{E7D3DD80-D0F1-4F2A-8527-AFA1FBD455B5}" srcOrd="9" destOrd="0" presId="urn:microsoft.com/office/officeart/2005/8/layout/radial4"/>
    <dgm:cxn modelId="{8DED9171-90C0-4156-ADCF-08121A46A897}" type="presParOf" srcId="{FD20EFEC-447B-4423-BF0B-A4E18D017756}" destId="{63BBC4EB-F418-4C9E-8F80-D729DB0FDF08}" srcOrd="10" destOrd="0" presId="urn:microsoft.com/office/officeart/2005/8/layout/radial4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0.81647</cdr:x>
      <cdr:y>0.14197</cdr:y>
    </cdr:from>
    <cdr:to>
      <cdr:x>0.98551</cdr:x>
      <cdr:y>0.30684</cdr:y>
    </cdr:to>
    <cdr:sp macro="" textlink="">
      <cdr:nvSpPr>
        <cdr:cNvPr id="624641" name="1 CuadroTexto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4529303" y="412910"/>
          <a:ext cx="937107" cy="475835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vertOverflow="clip" wrap="square" lIns="91440" tIns="45720" rIns="91440" bIns="45720" anchor="t" upright="1"/>
        <a:lstStyle xmlns:a="http://schemas.openxmlformats.org/drawingml/2006/main"/>
        <a:p xmlns:a="http://schemas.openxmlformats.org/drawingml/2006/main">
          <a:pPr algn="ctr" rtl="1">
            <a:defRPr sz="1000"/>
          </a:pPr>
          <a:r>
            <a:rPr lang="es-ES" sz="900" b="1" i="0" strike="noStrike">
              <a:solidFill>
                <a:srgbClr val="993300"/>
              </a:solidFill>
              <a:latin typeface="Arial Narrow"/>
            </a:rPr>
            <a:t>Tipo de malformación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0.81647</cdr:x>
      <cdr:y>0.15502</cdr:y>
    </cdr:from>
    <cdr:to>
      <cdr:x>0.98551</cdr:x>
      <cdr:y>0.32352</cdr:y>
    </cdr:to>
    <cdr:sp macro="" textlink="">
      <cdr:nvSpPr>
        <cdr:cNvPr id="623617" name="1 CuadroTexto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4529303" y="450586"/>
          <a:ext cx="937107" cy="486301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vertOverflow="clip" wrap="square" lIns="91440" tIns="45720" rIns="91440" bIns="45720" anchor="t" upright="1"/>
        <a:lstStyle xmlns:a="http://schemas.openxmlformats.org/drawingml/2006/main"/>
        <a:p xmlns:a="http://schemas.openxmlformats.org/drawingml/2006/main">
          <a:pPr algn="ctr" rtl="1">
            <a:defRPr sz="1000"/>
          </a:pPr>
          <a:r>
            <a:rPr lang="es-ES" sz="900" b="1" i="0" strike="noStrike">
              <a:solidFill>
                <a:srgbClr val="993300"/>
              </a:solidFill>
              <a:latin typeface="Arial Narrow"/>
            </a:rPr>
            <a:t>Tipo de malformación</a:t>
          </a: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0.81647</cdr:x>
      <cdr:y>0.09927</cdr:y>
    </cdr:from>
    <cdr:to>
      <cdr:x>0.98551</cdr:x>
      <cdr:y>0.26576</cdr:y>
    </cdr:to>
    <cdr:sp macro="" textlink="">
      <cdr:nvSpPr>
        <cdr:cNvPr id="622593" name="1 CuadroTexto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4529303" y="298183"/>
          <a:ext cx="937107" cy="49476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vertOverflow="clip" wrap="square" lIns="91440" tIns="45720" rIns="91440" bIns="45720" anchor="t" upright="1"/>
        <a:lstStyle xmlns:a="http://schemas.openxmlformats.org/drawingml/2006/main"/>
        <a:p xmlns:a="http://schemas.openxmlformats.org/drawingml/2006/main">
          <a:pPr algn="ctr" rtl="1">
            <a:defRPr sz="1000"/>
          </a:pPr>
          <a:r>
            <a:rPr lang="es-ES" sz="900" b="1" i="0" strike="noStrike">
              <a:solidFill>
                <a:srgbClr val="993300"/>
              </a:solidFill>
              <a:latin typeface="Arial Narrow"/>
            </a:rPr>
            <a:t>Tipo de malformación</a:t>
          </a: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0.78583</cdr:x>
      <cdr:y>0.09927</cdr:y>
    </cdr:from>
    <cdr:to>
      <cdr:x>0.98551</cdr:x>
      <cdr:y>0.26576</cdr:y>
    </cdr:to>
    <cdr:sp macro="" textlink="">
      <cdr:nvSpPr>
        <cdr:cNvPr id="622593" name="1 CuadroTexto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4543426" y="314867"/>
          <a:ext cx="1154474" cy="52807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vertOverflow="clip" wrap="square" lIns="91440" tIns="45720" rIns="91440" bIns="45720" anchor="t" upright="1"/>
        <a:lstStyle xmlns:a="http://schemas.openxmlformats.org/drawingml/2006/main"/>
        <a:p xmlns:a="http://schemas.openxmlformats.org/drawingml/2006/main">
          <a:pPr algn="ctr" rtl="1">
            <a:defRPr sz="1000"/>
          </a:pPr>
          <a:r>
            <a:rPr lang="es-ES" sz="900" b="1" i="0" strike="noStrike">
              <a:solidFill>
                <a:srgbClr val="993300"/>
              </a:solidFill>
              <a:latin typeface="Arial Narrow"/>
            </a:rPr>
            <a:t>Tipo de malformación</a:t>
          </a:r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0.78583</cdr:x>
      <cdr:y>0.09927</cdr:y>
    </cdr:from>
    <cdr:to>
      <cdr:x>0.98551</cdr:x>
      <cdr:y>0.26576</cdr:y>
    </cdr:to>
    <cdr:sp macro="" textlink="">
      <cdr:nvSpPr>
        <cdr:cNvPr id="622593" name="1 CuadroTexto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4543426" y="314867"/>
          <a:ext cx="1154474" cy="52807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vertOverflow="clip" wrap="square" lIns="91440" tIns="45720" rIns="91440" bIns="45720" anchor="t" upright="1"/>
        <a:lstStyle xmlns:a="http://schemas.openxmlformats.org/drawingml/2006/main"/>
        <a:p xmlns:a="http://schemas.openxmlformats.org/drawingml/2006/main">
          <a:pPr algn="ctr" rtl="1">
            <a:defRPr sz="1000"/>
          </a:pPr>
          <a:r>
            <a:rPr lang="es-ES" sz="900" b="1" i="0" strike="noStrike">
              <a:solidFill>
                <a:srgbClr val="993300"/>
              </a:solidFill>
              <a:latin typeface="Arial Narrow"/>
            </a:rPr>
            <a:t>Tipo de malformación</a:t>
          </a:r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0.81647</cdr:x>
      <cdr:y>0.09927</cdr:y>
    </cdr:from>
    <cdr:to>
      <cdr:x>0.98551</cdr:x>
      <cdr:y>0.26576</cdr:y>
    </cdr:to>
    <cdr:sp macro="" textlink="">
      <cdr:nvSpPr>
        <cdr:cNvPr id="622593" name="1 CuadroTexto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4529303" y="298183"/>
          <a:ext cx="937107" cy="49476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vertOverflow="clip" wrap="square" lIns="91440" tIns="45720" rIns="91440" bIns="45720" anchor="t" upright="1"/>
        <a:lstStyle xmlns:a="http://schemas.openxmlformats.org/drawingml/2006/main"/>
        <a:p xmlns:a="http://schemas.openxmlformats.org/drawingml/2006/main">
          <a:pPr algn="ctr" rtl="1">
            <a:defRPr sz="1000"/>
          </a:pPr>
          <a:r>
            <a:rPr lang="es-ES" sz="900" b="1" i="0" strike="noStrike">
              <a:solidFill>
                <a:srgbClr val="993300"/>
              </a:solidFill>
              <a:latin typeface="Arial Narrow"/>
            </a:rPr>
            <a:t>Tipo de malformación</a:t>
          </a:r>
        </a:p>
      </cdr:txBody>
    </cdr:sp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0.78583</cdr:x>
      <cdr:y>0.09927</cdr:y>
    </cdr:from>
    <cdr:to>
      <cdr:x>0.98551</cdr:x>
      <cdr:y>0.26576</cdr:y>
    </cdr:to>
    <cdr:sp macro="" textlink="">
      <cdr:nvSpPr>
        <cdr:cNvPr id="622593" name="1 CuadroTexto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4543426" y="314867"/>
          <a:ext cx="1154474" cy="52807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vertOverflow="clip" wrap="square" lIns="91440" tIns="45720" rIns="91440" bIns="45720" anchor="t" upright="1"/>
        <a:lstStyle xmlns:a="http://schemas.openxmlformats.org/drawingml/2006/main"/>
        <a:p xmlns:a="http://schemas.openxmlformats.org/drawingml/2006/main">
          <a:pPr algn="ctr" rtl="1">
            <a:defRPr sz="1000"/>
          </a:pPr>
          <a:r>
            <a:rPr lang="es-ES" sz="900" b="1" i="0" strike="noStrike">
              <a:solidFill>
                <a:srgbClr val="993300"/>
              </a:solidFill>
              <a:latin typeface="Arial Narrow"/>
            </a:rPr>
            <a:t>Tipo de malformación</a:t>
          </a:r>
        </a:p>
      </cdr:txBody>
    </cdr:sp>
  </cdr:relSizeAnchor>
</c:userShapes>
</file>

<file path=ppt/drawings/drawing8.xml><?xml version="1.0" encoding="utf-8"?>
<c:userShapes xmlns:c="http://schemas.openxmlformats.org/drawingml/2006/chart">
  <cdr:relSizeAnchor xmlns:cdr="http://schemas.openxmlformats.org/drawingml/2006/chartDrawing">
    <cdr:from>
      <cdr:x>0.78583</cdr:x>
      <cdr:y>0.09927</cdr:y>
    </cdr:from>
    <cdr:to>
      <cdr:x>0.98551</cdr:x>
      <cdr:y>0.26576</cdr:y>
    </cdr:to>
    <cdr:sp macro="" textlink="">
      <cdr:nvSpPr>
        <cdr:cNvPr id="622593" name="1 CuadroTexto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4543426" y="314867"/>
          <a:ext cx="1154474" cy="52807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vertOverflow="clip" wrap="square" lIns="91440" tIns="45720" rIns="91440" bIns="45720" anchor="t" upright="1"/>
        <a:lstStyle xmlns:a="http://schemas.openxmlformats.org/drawingml/2006/main"/>
        <a:p xmlns:a="http://schemas.openxmlformats.org/drawingml/2006/main">
          <a:pPr algn="ctr" rtl="1">
            <a:defRPr sz="1000"/>
          </a:pPr>
          <a:r>
            <a:rPr lang="es-ES" sz="900" b="1" i="0" strike="noStrike">
              <a:solidFill>
                <a:srgbClr val="993300"/>
              </a:solidFill>
              <a:latin typeface="Arial Narrow"/>
            </a:rPr>
            <a:t>Tipo de malformación</a:t>
          </a:r>
        </a:p>
      </cdr:txBody>
    </cdr:sp>
  </cdr:relSizeAnchor>
</c:userShapes>
</file>

<file path=ppt/drawings/drawing9.xml><?xml version="1.0" encoding="utf-8"?>
<c:userShapes xmlns:c="http://schemas.openxmlformats.org/drawingml/2006/chart">
  <cdr:relSizeAnchor xmlns:cdr="http://schemas.openxmlformats.org/drawingml/2006/chartDrawing">
    <cdr:from>
      <cdr:x>0.78583</cdr:x>
      <cdr:y>0.09927</cdr:y>
    </cdr:from>
    <cdr:to>
      <cdr:x>0.98551</cdr:x>
      <cdr:y>0.26576</cdr:y>
    </cdr:to>
    <cdr:sp macro="" textlink="">
      <cdr:nvSpPr>
        <cdr:cNvPr id="622593" name="1 CuadroTexto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4543426" y="314867"/>
          <a:ext cx="1154474" cy="52807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vertOverflow="clip" wrap="square" lIns="91440" tIns="45720" rIns="91440" bIns="45720" anchor="t" upright="1"/>
        <a:lstStyle xmlns:a="http://schemas.openxmlformats.org/drawingml/2006/main"/>
        <a:p xmlns:a="http://schemas.openxmlformats.org/drawingml/2006/main">
          <a:pPr algn="ctr" rtl="1">
            <a:defRPr sz="1000"/>
          </a:pPr>
          <a:r>
            <a:rPr lang="es-ES" sz="900" b="1" i="0" strike="noStrike">
              <a:solidFill>
                <a:srgbClr val="993300"/>
              </a:solidFill>
              <a:latin typeface="Arial Narrow"/>
            </a:rPr>
            <a:t>Tipo de malformación</a:t>
          </a:r>
        </a:p>
      </cdr:txBody>
    </cdr:sp>
  </cdr:relSizeAnchor>
</c:userShapes>
</file>

<file path=ppt/drawings/drawing10.xml><?xml version="1.0" encoding="utf-8"?>
<c:userShapes xmlns:c="http://schemas.openxmlformats.org/drawingml/2006/chart">
  <cdr:relSizeAnchor xmlns:cdr="http://schemas.openxmlformats.org/drawingml/2006/chartDrawing">
    <cdr:from>
      <cdr:x>0.74233</cdr:x>
      <cdr:y>0.11824</cdr:y>
    </cdr:from>
    <cdr:to>
      <cdr:x>0.98294</cdr:x>
      <cdr:y>0.27327</cdr:y>
    </cdr:to>
    <cdr:sp macro="" textlink="">
      <cdr:nvSpPr>
        <cdr:cNvPr id="622593" name="1 CuadroTexto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3457575" y="326608"/>
          <a:ext cx="1120689" cy="42823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vertOverflow="clip" wrap="square" lIns="91440" tIns="45720" rIns="91440" bIns="45720" anchor="t" upright="1"/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es-BO" sz="900" b="1" i="0" u="none" strike="noStrike" baseline="0">
              <a:solidFill>
                <a:srgbClr val="993300"/>
              </a:solidFill>
              <a:latin typeface="Arial Narrow"/>
            </a:rPr>
            <a:t>Tipo de malformación</a:t>
          </a:r>
        </a:p>
      </cdr:txBody>
    </cdr:sp>
  </cdr:relSizeAnchor>
</c:userShapes>
</file>

<file path=ppt/drawings/drawing11.xml><?xml version="1.0" encoding="utf-8"?>
<c:userShapes xmlns:c="http://schemas.openxmlformats.org/drawingml/2006/chart">
  <cdr:relSizeAnchor xmlns:cdr="http://schemas.openxmlformats.org/drawingml/2006/chartDrawing">
    <cdr:from>
      <cdr:x>0.74233</cdr:x>
      <cdr:y>0.11824</cdr:y>
    </cdr:from>
    <cdr:to>
      <cdr:x>0.98294</cdr:x>
      <cdr:y>0.27327</cdr:y>
    </cdr:to>
    <cdr:sp macro="" textlink="">
      <cdr:nvSpPr>
        <cdr:cNvPr id="622593" name="1 CuadroTexto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3457575" y="326608"/>
          <a:ext cx="1120689" cy="42823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vertOverflow="clip" wrap="square" lIns="91440" tIns="45720" rIns="91440" bIns="45720" anchor="t" upright="1"/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es-BO" sz="900" b="1" i="0" u="none" strike="noStrike" baseline="0">
              <a:solidFill>
                <a:srgbClr val="993300"/>
              </a:solidFill>
              <a:latin typeface="Arial Narrow"/>
            </a:rPr>
            <a:t>Tipo de malformación</a:t>
          </a:r>
        </a:p>
      </cdr:txBody>
    </cdr:sp>
  </cdr:relSizeAnchor>
</c:userShapes>
</file>

<file path=ppt/drawings/drawing12.xml><?xml version="1.0" encoding="utf-8"?>
<c:userShapes xmlns:c="http://schemas.openxmlformats.org/drawingml/2006/chart">
  <cdr:relSizeAnchor xmlns:cdr="http://schemas.openxmlformats.org/drawingml/2006/chartDrawing">
    <cdr:from>
      <cdr:x>0.74233</cdr:x>
      <cdr:y>0.11824</cdr:y>
    </cdr:from>
    <cdr:to>
      <cdr:x>0.98294</cdr:x>
      <cdr:y>0.27327</cdr:y>
    </cdr:to>
    <cdr:sp macro="" textlink="">
      <cdr:nvSpPr>
        <cdr:cNvPr id="622593" name="1 CuadroTexto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3457575" y="326608"/>
          <a:ext cx="1120689" cy="42823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vertOverflow="clip" wrap="square" lIns="91440" tIns="45720" rIns="91440" bIns="45720" anchor="t" upright="1"/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es-BO" sz="900" b="1" i="0" u="none" strike="noStrike" baseline="0">
              <a:solidFill>
                <a:srgbClr val="993300"/>
              </a:solidFill>
              <a:latin typeface="Arial Narrow"/>
            </a:rPr>
            <a:t>Tipo de malformación</a:t>
          </a:r>
        </a:p>
      </cdr:txBody>
    </cdr:sp>
  </cdr:relSizeAnchor>
</c:userShapes>
</file>

<file path=ppt/drawings/drawing13.xml><?xml version="1.0" encoding="utf-8"?>
<c:userShapes xmlns:c="http://schemas.openxmlformats.org/drawingml/2006/chart">
  <cdr:relSizeAnchor xmlns:cdr="http://schemas.openxmlformats.org/drawingml/2006/chartDrawing">
    <cdr:from>
      <cdr:x>0.74233</cdr:x>
      <cdr:y>0.11824</cdr:y>
    </cdr:from>
    <cdr:to>
      <cdr:x>0.98294</cdr:x>
      <cdr:y>0.27327</cdr:y>
    </cdr:to>
    <cdr:sp macro="" textlink="">
      <cdr:nvSpPr>
        <cdr:cNvPr id="622593" name="1 CuadroTexto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3457575" y="326608"/>
          <a:ext cx="1120689" cy="42823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vertOverflow="clip" wrap="square" lIns="91440" tIns="45720" rIns="91440" bIns="45720" anchor="t" upright="1"/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es-BO" sz="900" b="1" i="0" u="none" strike="noStrike" baseline="0">
              <a:solidFill>
                <a:srgbClr val="993300"/>
              </a:solidFill>
              <a:latin typeface="Arial Narrow"/>
            </a:rPr>
            <a:t>Tipo de malformación</a:t>
          </a:r>
        </a:p>
      </cdr:txBody>
    </cdr:sp>
  </cdr:relSizeAnchor>
</c:userShapes>
</file>

<file path=ppt/drawings/drawing14.xml><?xml version="1.0" encoding="utf-8"?>
<c:userShapes xmlns:c="http://schemas.openxmlformats.org/drawingml/2006/chart">
  <cdr:relSizeAnchor xmlns:cdr="http://schemas.openxmlformats.org/drawingml/2006/chartDrawing">
    <cdr:from>
      <cdr:x>0.74233</cdr:x>
      <cdr:y>0.11824</cdr:y>
    </cdr:from>
    <cdr:to>
      <cdr:x>0.98294</cdr:x>
      <cdr:y>0.27327</cdr:y>
    </cdr:to>
    <cdr:sp macro="" textlink="">
      <cdr:nvSpPr>
        <cdr:cNvPr id="622593" name="1 CuadroTexto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3457575" y="326608"/>
          <a:ext cx="1120689" cy="42823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vertOverflow="clip" wrap="square" lIns="91440" tIns="45720" rIns="91440" bIns="45720" anchor="t" upright="1"/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es-BO" sz="900" b="1" i="0" u="none" strike="noStrike" baseline="0">
              <a:solidFill>
                <a:srgbClr val="993300"/>
              </a:solidFill>
              <a:latin typeface="Arial Narrow"/>
            </a:rPr>
            <a:t>Tipo de malformación</a:t>
          </a:r>
        </a:p>
      </cdr:txBody>
    </cdr:sp>
  </cdr:relSizeAnchor>
</c:userShapes>
</file>

<file path=ppt/drawings/drawing15.xml><?xml version="1.0" encoding="utf-8"?>
<c:userShapes xmlns:c="http://schemas.openxmlformats.org/drawingml/2006/chart">
  <cdr:relSizeAnchor xmlns:cdr="http://schemas.openxmlformats.org/drawingml/2006/chartDrawing">
    <cdr:from>
      <cdr:x>0.74233</cdr:x>
      <cdr:y>0.11824</cdr:y>
    </cdr:from>
    <cdr:to>
      <cdr:x>0.98294</cdr:x>
      <cdr:y>0.27327</cdr:y>
    </cdr:to>
    <cdr:sp macro="" textlink="">
      <cdr:nvSpPr>
        <cdr:cNvPr id="622593" name="1 CuadroTexto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3457575" y="326608"/>
          <a:ext cx="1120689" cy="42823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vertOverflow="clip" wrap="square" lIns="91440" tIns="45720" rIns="91440" bIns="45720" anchor="t" upright="1"/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es-BO" sz="900" b="1" i="0" u="none" strike="noStrike" baseline="0">
              <a:solidFill>
                <a:srgbClr val="993300"/>
              </a:solidFill>
              <a:latin typeface="Arial Narrow"/>
            </a:rPr>
            <a:t>Tipo de malformación</a:t>
          </a:r>
        </a:p>
      </cdr:txBody>
    </cdr:sp>
  </cdr:relSizeAnchor>
</c:userShapes>
</file>

<file path=ppt/drawings/drawing16.xml><?xml version="1.0" encoding="utf-8"?>
<c:userShapes xmlns:c="http://schemas.openxmlformats.org/drawingml/2006/chart">
  <cdr:relSizeAnchor xmlns:cdr="http://schemas.openxmlformats.org/drawingml/2006/chartDrawing">
    <cdr:from>
      <cdr:x>0.74233</cdr:x>
      <cdr:y>0.11824</cdr:y>
    </cdr:from>
    <cdr:to>
      <cdr:x>0.98294</cdr:x>
      <cdr:y>0.27327</cdr:y>
    </cdr:to>
    <cdr:sp macro="" textlink="">
      <cdr:nvSpPr>
        <cdr:cNvPr id="622593" name="1 CuadroTexto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3457575" y="326608"/>
          <a:ext cx="1120689" cy="42823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vertOverflow="clip" wrap="square" lIns="91440" tIns="45720" rIns="91440" bIns="45720" anchor="t" upright="1"/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es-BO" sz="900" b="1" i="0" u="none" strike="noStrike" baseline="0">
              <a:solidFill>
                <a:srgbClr val="993300"/>
              </a:solidFill>
              <a:latin typeface="Arial Narrow"/>
            </a:rPr>
            <a:t>Tipo de malformación</a:t>
          </a:r>
        </a:p>
      </cdr:txBody>
    </cdr:sp>
  </cdr:relSizeAnchor>
</c:userShapes>
</file>

<file path=ppt/drawings/drawing17.xml><?xml version="1.0" encoding="utf-8"?>
<c:userShapes xmlns:c="http://schemas.openxmlformats.org/drawingml/2006/chart">
  <cdr:relSizeAnchor xmlns:cdr="http://schemas.openxmlformats.org/drawingml/2006/chartDrawing">
    <cdr:from>
      <cdr:x>0.74233</cdr:x>
      <cdr:y>0.11824</cdr:y>
    </cdr:from>
    <cdr:to>
      <cdr:x>0.98294</cdr:x>
      <cdr:y>0.27327</cdr:y>
    </cdr:to>
    <cdr:sp macro="" textlink="">
      <cdr:nvSpPr>
        <cdr:cNvPr id="622593" name="1 CuadroTexto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3457575" y="326608"/>
          <a:ext cx="1120689" cy="42823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vertOverflow="clip" wrap="square" lIns="91440" tIns="45720" rIns="91440" bIns="45720" anchor="t" upright="1"/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es-BO" sz="900" b="1" i="0" u="none" strike="noStrike" baseline="0">
              <a:solidFill>
                <a:srgbClr val="993300"/>
              </a:solidFill>
              <a:latin typeface="Arial Narrow"/>
            </a:rPr>
            <a:t>Tipo de malformación</a:t>
          </a:r>
        </a:p>
      </cdr:txBody>
    </cdr:sp>
  </cdr:relSizeAnchor>
</c:userShapes>
</file>

<file path=ppt/drawings/drawing18.xml><?xml version="1.0" encoding="utf-8"?>
<c:userShapes xmlns:c="http://schemas.openxmlformats.org/drawingml/2006/chart">
  <cdr:relSizeAnchor xmlns:cdr="http://schemas.openxmlformats.org/drawingml/2006/chartDrawing">
    <cdr:from>
      <cdr:x>0.74233</cdr:x>
      <cdr:y>0.11824</cdr:y>
    </cdr:from>
    <cdr:to>
      <cdr:x>0.98294</cdr:x>
      <cdr:y>0.27327</cdr:y>
    </cdr:to>
    <cdr:sp macro="" textlink="">
      <cdr:nvSpPr>
        <cdr:cNvPr id="622593" name="1 CuadroTexto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3457575" y="326608"/>
          <a:ext cx="1120689" cy="42823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vertOverflow="clip" wrap="square" lIns="91440" tIns="45720" rIns="91440" bIns="45720" anchor="t" upright="1"/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es-BO" sz="900" b="1" i="0" u="none" strike="noStrike" baseline="0">
              <a:solidFill>
                <a:srgbClr val="993300"/>
              </a:solidFill>
              <a:latin typeface="Arial Narrow"/>
            </a:rPr>
            <a:t>Tipo de malformación</a:t>
          </a:r>
        </a:p>
      </cdr:txBody>
    </cdr:sp>
  </cdr:relSizeAnchor>
</c:userShapes>
</file>

<file path=ppt/drawings/drawing19.xml><?xml version="1.0" encoding="utf-8"?>
<c:userShapes xmlns:c="http://schemas.openxmlformats.org/drawingml/2006/chart">
  <cdr:relSizeAnchor xmlns:cdr="http://schemas.openxmlformats.org/drawingml/2006/chartDrawing">
    <cdr:from>
      <cdr:x>0.78212</cdr:x>
      <cdr:y>0.11824</cdr:y>
    </cdr:from>
    <cdr:to>
      <cdr:x>0.98294</cdr:x>
      <cdr:y>0.27327</cdr:y>
    </cdr:to>
    <cdr:sp macro="" textlink="">
      <cdr:nvSpPr>
        <cdr:cNvPr id="622593" name="1 CuadroTexto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3653536" y="365811"/>
          <a:ext cx="937260" cy="47548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vertOverflow="clip" wrap="square" lIns="91440" tIns="45720" rIns="91440" bIns="45720" anchor="t" upright="1"/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es-BO" sz="900" b="1" i="0" u="none" strike="noStrike" baseline="0">
              <a:solidFill>
                <a:srgbClr val="993300"/>
              </a:solidFill>
              <a:latin typeface="Arial Narrow"/>
            </a:rPr>
            <a:t>Tipo de malformación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B928D-3AD6-42CA-A4B3-7E0C6FD00A74}" type="datetimeFigureOut">
              <a:rPr lang="es-ES" smtClean="0"/>
              <a:t>08/12/2009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D919D1-B069-47C9-8E5B-EF8B46A40CDA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D919D1-B069-47C9-8E5B-EF8B46A40CDA}" type="slidenum">
              <a:rPr lang="es-ES" smtClean="0"/>
              <a:t>14</a:t>
            </a:fld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28 Título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16" name="15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E0237-D0C1-4072-914D-1B33906A7FBD}" type="datetimeFigureOut">
              <a:rPr lang="en-US" smtClean="0"/>
              <a:pPr/>
              <a:t>12/8/2009</a:t>
            </a:fld>
            <a:endParaRPr lang="es-BO"/>
          </a:p>
        </p:txBody>
      </p:sp>
      <p:sp>
        <p:nvSpPr>
          <p:cNvPr id="2" name="1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15" name="1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6AEB584A-4990-4C7D-8310-60AB85282CAE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7" name="26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5" name="2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E0237-D0C1-4072-914D-1B33906A7FBD}" type="datetimeFigureOut">
              <a:rPr lang="en-US" smtClean="0"/>
              <a:pPr/>
              <a:t>12/8/2009</a:t>
            </a:fld>
            <a:endParaRPr lang="es-BO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es-BO"/>
          </a:p>
        </p:txBody>
      </p:sp>
      <p:sp>
        <p:nvSpPr>
          <p:cNvPr id="16" name="1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6AEB584A-4990-4C7D-8310-60AB85282CAE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Marcador de texto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9" name="18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E0237-D0C1-4072-914D-1B33906A7FBD}" type="datetimeFigureOut">
              <a:rPr lang="en-US" smtClean="0"/>
              <a:pPr/>
              <a:t>12/8/2009</a:t>
            </a:fld>
            <a:endParaRPr lang="es-BO"/>
          </a:p>
        </p:txBody>
      </p:sp>
      <p:sp>
        <p:nvSpPr>
          <p:cNvPr id="11" name="10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16" name="1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584A-4990-4C7D-8310-60AB85282CAE}" type="slidenum">
              <a:rPr lang="es-BO" smtClean="0"/>
              <a:pPr/>
              <a:t>‹Nº›</a:t>
            </a:fld>
            <a:endParaRPr lang="es-BO"/>
          </a:p>
        </p:txBody>
      </p:sp>
      <p:sp>
        <p:nvSpPr>
          <p:cNvPr id="8" name="7 Título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19 Título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4" name="13 Marcador de contenido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1" name="20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E0237-D0C1-4072-914D-1B33906A7FBD}" type="datetimeFigureOut">
              <a:rPr lang="en-US" smtClean="0"/>
              <a:pPr/>
              <a:t>12/8/2009</a:t>
            </a:fld>
            <a:endParaRPr lang="es-BO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1" name="30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584A-4990-4C7D-8310-60AB85282CAE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28 Título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25" name="24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8" name="27 Marcador de contenido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E0237-D0C1-4072-914D-1B33906A7FBD}" type="datetimeFigureOut">
              <a:rPr lang="en-US" smtClean="0"/>
              <a:pPr/>
              <a:t>12/8/2009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6AEB584A-4990-4C7D-8310-60AB85282CAE}" type="slidenum">
              <a:rPr lang="es-BO" smtClean="0"/>
              <a:pPr/>
              <a:t>‹Nº›</a:t>
            </a:fld>
            <a:endParaRPr lang="es-BO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29 Título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2" name="1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E0237-D0C1-4072-914D-1B33906A7FBD}" type="datetimeFigureOut">
              <a:rPr lang="en-US" smtClean="0"/>
              <a:pPr/>
              <a:t>12/8/2009</a:t>
            </a:fld>
            <a:endParaRPr lang="es-BO"/>
          </a:p>
        </p:txBody>
      </p:sp>
      <p:sp>
        <p:nvSpPr>
          <p:cNvPr id="21" name="20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584A-4990-4C7D-8310-60AB85282CAE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E0237-D0C1-4072-914D-1B33906A7FBD}" type="datetimeFigureOut">
              <a:rPr lang="en-US" smtClean="0"/>
              <a:pPr/>
              <a:t>12/8/2009</a:t>
            </a:fld>
            <a:endParaRPr lang="es-BO"/>
          </a:p>
        </p:txBody>
      </p:sp>
      <p:sp>
        <p:nvSpPr>
          <p:cNvPr id="24" name="2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584A-4990-4C7D-8310-60AB85282CAE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Título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6" name="25 Marcador de texto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4" name="13 Marcador de contenido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5" name="2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E0237-D0C1-4072-914D-1B33906A7FBD}" type="datetimeFigureOut">
              <a:rPr lang="en-US" smtClean="0"/>
              <a:pPr/>
              <a:t>12/8/2009</a:t>
            </a:fld>
            <a:endParaRPr lang="es-BO"/>
          </a:p>
        </p:txBody>
      </p:sp>
      <p:sp>
        <p:nvSpPr>
          <p:cNvPr id="29" name="2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584A-4990-4C7D-8310-60AB85282CAE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Marcador de posición de imagen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E0237-D0C1-4072-914D-1B33906A7FBD}" type="datetimeFigureOut">
              <a:rPr lang="en-US" smtClean="0"/>
              <a:pPr/>
              <a:t>12/8/2009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31" name="30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584A-4990-4C7D-8310-60AB85282CAE}" type="slidenum">
              <a:rPr lang="es-BO" smtClean="0"/>
              <a:pPr/>
              <a:t>‹Nº›</a:t>
            </a:fld>
            <a:endParaRPr lang="es-BO"/>
          </a:p>
        </p:txBody>
      </p:sp>
      <p:sp>
        <p:nvSpPr>
          <p:cNvPr id="17" name="16 Título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6" name="25 Marcador de texto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E0237-D0C1-4072-914D-1B33906A7FBD}" type="datetimeFigureOut">
              <a:rPr lang="en-US" smtClean="0"/>
              <a:pPr/>
              <a:t>12/8/2009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584A-4990-4C7D-8310-60AB85282CAE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E0237-D0C1-4072-914D-1B33906A7FBD}" type="datetimeFigureOut">
              <a:rPr lang="en-US" smtClean="0"/>
              <a:pPr/>
              <a:t>12/8/2009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B584A-4990-4C7D-8310-60AB85282CAE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7 Marcador de texto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1" name="10 Marcador de fecha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786E0237-D0C1-4072-914D-1B33906A7FBD}" type="datetimeFigureOut">
              <a:rPr lang="en-US" smtClean="0"/>
              <a:pPr/>
              <a:t>12/8/2009</a:t>
            </a:fld>
            <a:endParaRPr lang="es-BO"/>
          </a:p>
        </p:txBody>
      </p:sp>
      <p:sp>
        <p:nvSpPr>
          <p:cNvPr id="28" name="27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6AEB584A-4990-4C7D-8310-60AB85282CAE}" type="slidenum">
              <a:rPr lang="es-BO" smtClean="0"/>
              <a:pPr/>
              <a:t>‹Nº›</a:t>
            </a:fld>
            <a:endParaRPr lang="es-BO"/>
          </a:p>
        </p:txBody>
      </p:sp>
      <p:sp>
        <p:nvSpPr>
          <p:cNvPr id="10" name="9 Marcador de título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Conector recto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81000" y="2143117"/>
            <a:ext cx="8458200" cy="2928957"/>
          </a:xfrm>
        </p:spPr>
        <p:txBody>
          <a:bodyPr>
            <a:normAutofit/>
          </a:bodyPr>
          <a:lstStyle/>
          <a:p>
            <a:pPr algn="ctr"/>
            <a:r>
              <a:rPr lang="es-BO" dirty="0" smtClean="0"/>
              <a:t>Prevalencia de malformaciones </a:t>
            </a:r>
            <a:r>
              <a:rPr lang="es-BO" dirty="0" err="1" smtClean="0"/>
              <a:t>anorectales</a:t>
            </a:r>
            <a:r>
              <a:rPr lang="es-BO" dirty="0" smtClean="0"/>
              <a:t> en relación a factores de riesgo</a:t>
            </a: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BO" dirty="0" smtClean="0"/>
          </a:p>
          <a:p>
            <a:pPr algn="r"/>
            <a:r>
              <a:rPr lang="es-BO" dirty="0" smtClean="0"/>
              <a:t> </a:t>
            </a:r>
            <a:r>
              <a:rPr lang="es-BO" dirty="0" smtClean="0"/>
              <a:t>        </a:t>
            </a:r>
            <a:r>
              <a:rPr lang="es-BO" dirty="0" smtClean="0"/>
              <a:t>Lilian </a:t>
            </a:r>
            <a:r>
              <a:rPr lang="es-BO" dirty="0" smtClean="0"/>
              <a:t>Zapata Claros</a:t>
            </a:r>
            <a:endParaRPr lang="es-BO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81000" y="2214555"/>
            <a:ext cx="8458200" cy="1785949"/>
          </a:xfrm>
        </p:spPr>
        <p:txBody>
          <a:bodyPr/>
          <a:lstStyle/>
          <a:p>
            <a:r>
              <a:rPr lang="es-BO" dirty="0" smtClean="0"/>
              <a:t>Perfil de la investigación</a:t>
            </a: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BO" dirty="0" smtClean="0"/>
              <a:t>Capitulo I</a:t>
            </a:r>
            <a:endParaRPr lang="es-BO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Planteamiento del problema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Las condiciones de vida, las exposiciones a los peligros ambientales desempeñan un papel significativo en lo que concierne a la salud de la madre y del recién </a:t>
            </a:r>
            <a:r>
              <a:rPr lang="es-ES" dirty="0" smtClean="0"/>
              <a:t>nacido.</a:t>
            </a:r>
          </a:p>
          <a:p>
            <a:r>
              <a:rPr lang="es-ES" dirty="0"/>
              <a:t>Los niños que nacen con malformaciones son hijos de madres que trabajan en el área de la </a:t>
            </a:r>
            <a:r>
              <a:rPr lang="es-ES" dirty="0" smtClean="0"/>
              <a:t>agricultura y no </a:t>
            </a:r>
            <a:r>
              <a:rPr lang="es-ES" dirty="0"/>
              <a:t>tienen los cuidados debidos durante el </a:t>
            </a:r>
            <a:r>
              <a:rPr lang="es-ES" dirty="0" smtClean="0"/>
              <a:t>embarazo.</a:t>
            </a:r>
            <a:endParaRPr lang="es-BO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Justificación 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 desarrollo de este tema tiene el propósito de lograr establecer la relación que existe entre la malformación anorectal con referencia a </a:t>
            </a:r>
            <a:r>
              <a:rPr lang="es-ES" dirty="0" smtClean="0"/>
              <a:t>la exposición  a </a:t>
            </a:r>
            <a:r>
              <a:rPr lang="es-ES" dirty="0"/>
              <a:t>factores ambientales a los que puede llegar a estar </a:t>
            </a:r>
            <a:r>
              <a:rPr lang="es-ES" dirty="0" smtClean="0"/>
              <a:t>expuesta la madre durante su embarazo. </a:t>
            </a:r>
            <a:endParaRPr lang="es-BO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Objetivos 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BO" dirty="0" smtClean="0"/>
              <a:t>General:</a:t>
            </a:r>
          </a:p>
          <a:p>
            <a:pPr lvl="0" algn="just">
              <a:buNone/>
            </a:pPr>
            <a:r>
              <a:rPr lang="es-BO" dirty="0" smtClean="0"/>
              <a:t>   </a:t>
            </a:r>
            <a:r>
              <a:rPr lang="es-ES" dirty="0" smtClean="0"/>
              <a:t>E</a:t>
            </a:r>
            <a:r>
              <a:rPr lang="es-ES" dirty="0" smtClean="0"/>
              <a:t>stablecer</a:t>
            </a:r>
            <a:r>
              <a:rPr lang="es-ES" dirty="0" smtClean="0"/>
              <a:t> </a:t>
            </a:r>
            <a:r>
              <a:rPr lang="es-ES" dirty="0"/>
              <a:t>la prevalencia de las malformaciones anorectales con relación a factores de riesgo durante el embarazo en la gestión del 2008 en el  Hospital Materno Infantil Germán </a:t>
            </a:r>
            <a:r>
              <a:rPr lang="es-ES" dirty="0" err="1"/>
              <a:t>Urquidi</a:t>
            </a:r>
            <a:r>
              <a:rPr lang="es-ES" dirty="0"/>
              <a:t> de Cochabamba.</a:t>
            </a:r>
            <a:endParaRPr lang="en-US" dirty="0"/>
          </a:p>
          <a:p>
            <a:pPr>
              <a:buNone/>
            </a:pPr>
            <a:endParaRPr lang="es-BO" dirty="0" smtClean="0"/>
          </a:p>
          <a:p>
            <a:endParaRPr lang="es-BO" dirty="0" smtClean="0"/>
          </a:p>
          <a:p>
            <a:endParaRPr lang="es-BO" dirty="0" smtClean="0"/>
          </a:p>
          <a:p>
            <a:pPr>
              <a:buNone/>
            </a:pPr>
            <a:endParaRPr lang="es-BO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Objetivos 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s-BO" dirty="0" smtClean="0"/>
              <a:t>Específicos:</a:t>
            </a:r>
            <a:r>
              <a:rPr lang="es-ES" b="1" dirty="0"/>
              <a:t> </a:t>
            </a:r>
            <a:endParaRPr lang="en-US" dirty="0"/>
          </a:p>
          <a:p>
            <a:pPr lvl="0"/>
            <a:r>
              <a:rPr lang="es-ES" dirty="0"/>
              <a:t>Identificar la prevalencia de presentación de malformaciones </a:t>
            </a:r>
            <a:r>
              <a:rPr lang="es-ES" dirty="0" err="1"/>
              <a:t>anorectales</a:t>
            </a:r>
            <a:r>
              <a:rPr lang="es-ES" dirty="0"/>
              <a:t>.  </a:t>
            </a:r>
            <a:endParaRPr lang="en-US" dirty="0"/>
          </a:p>
          <a:p>
            <a:pPr lvl="0"/>
            <a:r>
              <a:rPr lang="es-ES" dirty="0" smtClean="0"/>
              <a:t>Determinar </a:t>
            </a:r>
            <a:r>
              <a:rPr lang="es-ES" dirty="0" smtClean="0"/>
              <a:t>  </a:t>
            </a:r>
            <a:r>
              <a:rPr lang="es-ES" dirty="0"/>
              <a:t>los riesgos ambientales a los que la madre llega a estar expuesta para que exista el desarrollo de la malformación anorectal. </a:t>
            </a:r>
            <a:endParaRPr lang="en-US" dirty="0"/>
          </a:p>
          <a:p>
            <a:pPr lvl="0"/>
            <a:r>
              <a:rPr lang="es-ES" dirty="0" smtClean="0"/>
              <a:t>Determinar</a:t>
            </a:r>
            <a:r>
              <a:rPr lang="es-ES" dirty="0" smtClean="0"/>
              <a:t> </a:t>
            </a:r>
            <a:r>
              <a:rPr lang="es-ES" dirty="0"/>
              <a:t>la relación entre malformaciones anorectales y exposición a los factores ambientales. </a:t>
            </a:r>
            <a:endParaRPr lang="en-US" dirty="0"/>
          </a:p>
          <a:p>
            <a:pPr>
              <a:buNone/>
            </a:pPr>
            <a:endParaRPr lang="es-BO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81000" y="2714621"/>
            <a:ext cx="8458200" cy="1857387"/>
          </a:xfrm>
        </p:spPr>
        <p:txBody>
          <a:bodyPr/>
          <a:lstStyle/>
          <a:p>
            <a:r>
              <a:rPr lang="es-BO" dirty="0" smtClean="0"/>
              <a:t>Marco teórico </a:t>
            </a: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BO" dirty="0" smtClean="0"/>
              <a:t>Capitulo  II </a:t>
            </a:r>
            <a:endParaRPr lang="es-BO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Breve reseña histórica 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Los antiguos griegos atribuían los nacimientos anormales a causas naturales o accidentes de la naturaleza, se consideraban augurios de acontecimientos futuros. Otra explicación, era la creencia de que los defectos congénitos eran resultado del apareamiento de seres humanos con demonios, brujas, y otros elementos malignos. </a:t>
            </a:r>
            <a:endParaRPr lang="es-BO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Introducción 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 smtClean="0"/>
              <a:t>Las malformaciones congénitas son defectos estructurales al nacer ocasionados por un trastorno del desarrollo prenatal durante la morfogénesis. </a:t>
            </a:r>
            <a:endParaRPr lang="es-ES_tradnl" dirty="0" smtClean="0"/>
          </a:p>
          <a:p>
            <a:r>
              <a:rPr lang="es-ES_tradnl" dirty="0" smtClean="0"/>
              <a:t>Conceptos:</a:t>
            </a:r>
          </a:p>
          <a:p>
            <a:pPr algn="just">
              <a:buNone/>
            </a:pPr>
            <a:r>
              <a:rPr lang="es-ES_tradnl" dirty="0" smtClean="0"/>
              <a:t>             * Malformación congénita</a:t>
            </a:r>
          </a:p>
          <a:p>
            <a:pPr algn="just">
              <a:buNone/>
            </a:pPr>
            <a:r>
              <a:rPr lang="es-ES_tradnl" dirty="0" smtClean="0"/>
              <a:t>             * Defecto congénito</a:t>
            </a:r>
          </a:p>
          <a:p>
            <a:pPr algn="just">
              <a:buNone/>
            </a:pPr>
            <a:r>
              <a:rPr lang="es-ES_tradnl" dirty="0" smtClean="0"/>
              <a:t>             * Discapacidad.</a:t>
            </a:r>
            <a:endParaRPr lang="es-BO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Causas ambientales de desarrollo anormal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Clasificación:</a:t>
            </a:r>
          </a:p>
          <a:p>
            <a:pPr marL="514350" indent="-514350">
              <a:buFont typeface="Courier New" pitchFamily="49" charset="0"/>
              <a:buChar char="o"/>
            </a:pPr>
            <a:r>
              <a:rPr lang="es-ES" dirty="0" smtClean="0"/>
              <a:t>Agresiones químicas</a:t>
            </a:r>
          </a:p>
          <a:p>
            <a:pPr marL="514350" indent="-514350">
              <a:buFont typeface="Courier New" pitchFamily="49" charset="0"/>
              <a:buChar char="o"/>
            </a:pPr>
            <a:r>
              <a:rPr lang="es-ES" dirty="0" smtClean="0"/>
              <a:t>Agresiones físicas </a:t>
            </a:r>
          </a:p>
          <a:p>
            <a:pPr marL="514350" indent="-514350">
              <a:buFont typeface="Courier New" pitchFamily="49" charset="0"/>
              <a:buChar char="o"/>
            </a:pPr>
            <a:r>
              <a:rPr lang="es-ES" dirty="0" smtClean="0"/>
              <a:t>Agresiones por drogas sociales</a:t>
            </a:r>
          </a:p>
          <a:p>
            <a:pPr>
              <a:buNone/>
            </a:pPr>
            <a:r>
              <a:rPr lang="es-ES" dirty="0" smtClean="0"/>
              <a:t> </a:t>
            </a:r>
            <a:endParaRPr lang="es-E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4 Marcador de contenido"/>
          <p:cNvGraphicFramePr>
            <a:graphicFrameLocks noGrp="1"/>
          </p:cNvGraphicFramePr>
          <p:nvPr>
            <p:ph idx="1"/>
          </p:nvPr>
        </p:nvGraphicFramePr>
        <p:xfrm>
          <a:off x="428596" y="428605"/>
          <a:ext cx="8229600" cy="3714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10 Rectángulo"/>
          <p:cNvSpPr/>
          <p:nvPr/>
        </p:nvSpPr>
        <p:spPr>
          <a:xfrm>
            <a:off x="642910" y="3929066"/>
            <a:ext cx="2000264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Medicamentos </a:t>
            </a:r>
            <a:endParaRPr lang="es-ES" dirty="0"/>
          </a:p>
        </p:txBody>
      </p:sp>
      <p:sp>
        <p:nvSpPr>
          <p:cNvPr id="12" name="11 Rectángulo"/>
          <p:cNvSpPr/>
          <p:nvPr/>
        </p:nvSpPr>
        <p:spPr>
          <a:xfrm>
            <a:off x="3786182" y="3929066"/>
            <a:ext cx="1857388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Radiaciones </a:t>
            </a:r>
            <a:endParaRPr lang="es-ES" dirty="0"/>
          </a:p>
        </p:txBody>
      </p:sp>
      <p:sp>
        <p:nvSpPr>
          <p:cNvPr id="13" name="12 Rectángulo"/>
          <p:cNvSpPr/>
          <p:nvPr/>
        </p:nvSpPr>
        <p:spPr>
          <a:xfrm>
            <a:off x="6715140" y="3857628"/>
            <a:ext cx="1785950" cy="8572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Tabaco</a:t>
            </a:r>
          </a:p>
          <a:p>
            <a:pPr algn="ctr"/>
            <a:r>
              <a:rPr lang="es-ES" dirty="0" smtClean="0"/>
              <a:t>Alcohol</a:t>
            </a:r>
          </a:p>
          <a:p>
            <a:pPr algn="ctr"/>
            <a:r>
              <a:rPr lang="es-ES" dirty="0" smtClean="0"/>
              <a:t>Drogas </a:t>
            </a:r>
            <a:endParaRPr lang="es-ES" dirty="0"/>
          </a:p>
        </p:txBody>
      </p:sp>
      <p:sp>
        <p:nvSpPr>
          <p:cNvPr id="15" name="14 Rectángulo"/>
          <p:cNvSpPr/>
          <p:nvPr/>
        </p:nvSpPr>
        <p:spPr>
          <a:xfrm>
            <a:off x="714348" y="5214950"/>
            <a:ext cx="1857388" cy="642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Uso de plaguicidas</a:t>
            </a:r>
            <a:endParaRPr lang="es-ES" dirty="0"/>
          </a:p>
        </p:txBody>
      </p:sp>
      <p:cxnSp>
        <p:nvCxnSpPr>
          <p:cNvPr id="17" name="16 Conector recto"/>
          <p:cNvCxnSpPr>
            <a:endCxn id="11" idx="0"/>
          </p:cNvCxnSpPr>
          <p:nvPr/>
        </p:nvCxnSpPr>
        <p:spPr>
          <a:xfrm rot="5400000">
            <a:off x="1393009" y="3679033"/>
            <a:ext cx="50006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 rot="5400000">
            <a:off x="4429124" y="3643314"/>
            <a:ext cx="42862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 rot="5400000">
            <a:off x="7250925" y="3536157"/>
            <a:ext cx="50006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>
            <a:stCxn id="11" idx="2"/>
          </p:cNvCxnSpPr>
          <p:nvPr/>
        </p:nvCxnSpPr>
        <p:spPr>
          <a:xfrm rot="5400000">
            <a:off x="1428728" y="4929198"/>
            <a:ext cx="42862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Etapa de desarrollo de la malformación 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itchFamily="2" charset="2"/>
              <a:buChar char="ü"/>
            </a:pPr>
            <a:r>
              <a:rPr lang="es-ES" dirty="0" smtClean="0"/>
              <a:t>Periodo de baja diferenciación (0-2 semanas</a:t>
            </a:r>
            <a:r>
              <a:rPr lang="es-ES" dirty="0" smtClean="0"/>
              <a:t>)</a:t>
            </a:r>
            <a:endParaRPr lang="es-ES" dirty="0" smtClean="0"/>
          </a:p>
          <a:p>
            <a:pPr lvl="0">
              <a:buFont typeface="Wingdings" pitchFamily="2" charset="2"/>
              <a:buChar char="ü"/>
            </a:pPr>
            <a:r>
              <a:rPr lang="es-ES" dirty="0" smtClean="0"/>
              <a:t>Periodo de organogénesis (3-8 </a:t>
            </a:r>
            <a:r>
              <a:rPr lang="es-ES" dirty="0" smtClean="0"/>
              <a:t>semanas)</a:t>
            </a:r>
            <a:endParaRPr lang="es-ES" dirty="0" smtClean="0"/>
          </a:p>
          <a:p>
            <a:pPr lvl="0">
              <a:buFont typeface="Wingdings" pitchFamily="2" charset="2"/>
              <a:buChar char="ü"/>
            </a:pPr>
            <a:r>
              <a:rPr lang="es-ES" dirty="0" smtClean="0"/>
              <a:t>Periodo de histogénesis (8-32 </a:t>
            </a:r>
            <a:r>
              <a:rPr lang="es-ES" dirty="0" smtClean="0"/>
              <a:t>semanas)</a:t>
            </a:r>
            <a:endParaRPr lang="es-ES" dirty="0" smtClean="0"/>
          </a:p>
          <a:p>
            <a:pPr lvl="0">
              <a:buFont typeface="Wingdings" pitchFamily="2" charset="2"/>
              <a:buChar char="ü"/>
            </a:pPr>
            <a:r>
              <a:rPr lang="es-ES" dirty="0" smtClean="0"/>
              <a:t>Periodo de maduración funcional (hasta la semana 38</a:t>
            </a:r>
            <a:r>
              <a:rPr lang="es-ES" dirty="0" smtClean="0"/>
              <a:t>)</a:t>
            </a:r>
            <a:endParaRPr lang="es-E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Malformación anorectal (MAR)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Embriología del aparato digestivo:</a:t>
            </a:r>
          </a:p>
          <a:p>
            <a:pPr>
              <a:buNone/>
            </a:pPr>
            <a:r>
              <a:rPr lang="es-ES" dirty="0" smtClean="0"/>
              <a:t>Entre la 5ta y 8va semanas de la vida embrionaria se diferencia el ano y la parte baja del recto del sistema urogenital. Las anomalías del desarrollo durante la séptima y octava semana de la vida embrionaria, conducen a malformaciones de la región rectal y anal.</a:t>
            </a:r>
            <a:endParaRPr lang="es-E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Concepto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El término de ano </a:t>
            </a:r>
            <a:r>
              <a:rPr lang="es-ES" dirty="0" err="1" smtClean="0"/>
              <a:t>imperforado</a:t>
            </a:r>
            <a:r>
              <a:rPr lang="es-ES" dirty="0" smtClean="0"/>
              <a:t> describe más la falta de comunicación del intestino con el exterior que se manifiesta como un ano obstruido. </a:t>
            </a:r>
            <a:endParaRPr lang="es-ES" dirty="0" smtClean="0"/>
          </a:p>
          <a:p>
            <a:r>
              <a:rPr lang="es-ES" dirty="0" smtClean="0"/>
              <a:t>Fístula</a:t>
            </a:r>
            <a:r>
              <a:rPr lang="es-ES" dirty="0" smtClean="0"/>
              <a:t>.-</a:t>
            </a:r>
            <a:r>
              <a:rPr lang="es-ES" dirty="0" smtClean="0"/>
              <a:t>trayecto </a:t>
            </a:r>
            <a:r>
              <a:rPr lang="es-ES" dirty="0" smtClean="0"/>
              <a:t>que comunica un órgano interno, canal, o </a:t>
            </a:r>
            <a:r>
              <a:rPr lang="es-ES" dirty="0" smtClean="0"/>
              <a:t>cavidad </a:t>
            </a:r>
            <a:r>
              <a:rPr lang="es-ES" dirty="0" smtClean="0"/>
              <a:t>con </a:t>
            </a:r>
            <a:r>
              <a:rPr lang="es-ES" dirty="0" smtClean="0"/>
              <a:t>el exterior. Pueden </a:t>
            </a:r>
            <a:r>
              <a:rPr lang="es-ES" dirty="0" smtClean="0"/>
              <a:t>encontrarse entre el recto y la vagina, la vejiga y la </a:t>
            </a:r>
            <a:r>
              <a:rPr lang="es-ES" dirty="0" smtClean="0"/>
              <a:t>uretra.</a:t>
            </a:r>
            <a:endParaRPr lang="es-ES" dirty="0" smtClean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Frecuencia e incidencia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Incidencia </a:t>
            </a:r>
            <a:r>
              <a:rPr lang="es-ES" dirty="0" smtClean="0"/>
              <a:t>estimada entre 1 por 4000 a 1 por 5000 recién nacidos (RN) vivos. </a:t>
            </a:r>
            <a:endParaRPr lang="es-ES" dirty="0" smtClean="0"/>
          </a:p>
          <a:p>
            <a:pPr>
              <a:buNone/>
            </a:pPr>
            <a:r>
              <a:rPr lang="es-ES" dirty="0" smtClean="0"/>
              <a:t>Existe </a:t>
            </a:r>
            <a:r>
              <a:rPr lang="es-ES" dirty="0" smtClean="0"/>
              <a:t>un ligero predominio de hombres respecto de las mujeres, con una relación de 1,4 – 1,6: 1 según de </a:t>
            </a:r>
            <a:r>
              <a:rPr lang="es-ES" dirty="0" err="1" smtClean="0"/>
              <a:t>Vries</a:t>
            </a:r>
            <a:r>
              <a:rPr lang="es-ES" dirty="0" smtClean="0"/>
              <a:t> y Cox, (1985)</a:t>
            </a:r>
            <a:endParaRPr lang="es-E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Clasificación 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 smtClean="0"/>
              <a:t>Según el tipo de malformación:</a:t>
            </a:r>
          </a:p>
          <a:p>
            <a:pPr algn="ctr">
              <a:buFont typeface="Wingdings" pitchFamily="2" charset="2"/>
              <a:buChar char="ü"/>
            </a:pPr>
            <a:r>
              <a:rPr lang="es-ES" dirty="0" smtClean="0"/>
              <a:t>Alto</a:t>
            </a:r>
          </a:p>
          <a:p>
            <a:pPr algn="ctr">
              <a:buFont typeface="Wingdings" pitchFamily="2" charset="2"/>
              <a:buChar char="ü"/>
            </a:pPr>
            <a:r>
              <a:rPr lang="es-ES" dirty="0" smtClean="0"/>
              <a:t>Bajo</a:t>
            </a:r>
          </a:p>
          <a:p>
            <a:r>
              <a:rPr lang="es-ES" dirty="0" smtClean="0"/>
              <a:t>Según el sexo:</a:t>
            </a:r>
          </a:p>
          <a:p>
            <a:pPr algn="ctr">
              <a:buFont typeface="Wingdings" pitchFamily="2" charset="2"/>
              <a:buChar char="ü"/>
            </a:pPr>
            <a:r>
              <a:rPr lang="es-ES" dirty="0" smtClean="0"/>
              <a:t>Masculino </a:t>
            </a:r>
            <a:r>
              <a:rPr lang="es-ES" dirty="0" smtClean="0"/>
              <a:t>(26</a:t>
            </a:r>
            <a:r>
              <a:rPr lang="es-ES" dirty="0" smtClean="0"/>
              <a:t>%)</a:t>
            </a:r>
          </a:p>
          <a:p>
            <a:pPr algn="ctr">
              <a:buFont typeface="Wingdings" pitchFamily="2" charset="2"/>
              <a:buChar char="ü"/>
            </a:pPr>
            <a:r>
              <a:rPr lang="es-ES" dirty="0" smtClean="0"/>
              <a:t>Femenino </a:t>
            </a:r>
            <a:r>
              <a:rPr lang="es-ES" dirty="0" smtClean="0"/>
              <a:t>(32</a:t>
            </a:r>
            <a:r>
              <a:rPr lang="es-ES" dirty="0" smtClean="0"/>
              <a:t>%)</a:t>
            </a:r>
          </a:p>
          <a:p>
            <a:pPr algn="ctr">
              <a:buFont typeface="Wingdings" pitchFamily="2" charset="2"/>
              <a:buChar char="ü"/>
            </a:pPr>
            <a:r>
              <a:rPr lang="es-ES" dirty="0" smtClean="0"/>
              <a:t>Ambos </a:t>
            </a:r>
            <a:r>
              <a:rPr lang="es-ES" dirty="0" smtClean="0"/>
              <a:t>sexos y se comunican con el exterior, corresponden al </a:t>
            </a:r>
            <a:r>
              <a:rPr lang="es-ES" dirty="0" smtClean="0"/>
              <a:t>(32,1%)</a:t>
            </a:r>
            <a:endParaRPr lang="es-E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Tipos más frecuentes</a:t>
            </a:r>
            <a:endParaRPr lang="es-ES" dirty="0"/>
          </a:p>
        </p:txBody>
      </p:sp>
      <p:graphicFrame>
        <p:nvGraphicFramePr>
          <p:cNvPr id="5" name="4 Marcador de contenido"/>
          <p:cNvGraphicFramePr>
            <a:graphicFrameLocks noGrp="1"/>
          </p:cNvGraphicFramePr>
          <p:nvPr>
            <p:ph idx="1"/>
          </p:nvPr>
        </p:nvGraphicFramePr>
        <p:xfrm>
          <a:off x="914400" y="1571612"/>
          <a:ext cx="8229600" cy="2357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5 Rectángulo"/>
          <p:cNvSpPr/>
          <p:nvPr/>
        </p:nvSpPr>
        <p:spPr>
          <a:xfrm>
            <a:off x="2428860" y="4357694"/>
            <a:ext cx="1928826" cy="571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 smtClean="0"/>
              <a:t>Rectouretral</a:t>
            </a:r>
            <a:endParaRPr lang="es-ES" dirty="0"/>
          </a:p>
        </p:txBody>
      </p:sp>
      <p:sp>
        <p:nvSpPr>
          <p:cNvPr id="9" name="8 Rectángulo"/>
          <p:cNvSpPr/>
          <p:nvPr/>
        </p:nvSpPr>
        <p:spPr>
          <a:xfrm>
            <a:off x="5643570" y="4429132"/>
            <a:ext cx="2000264" cy="571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 smtClean="0"/>
              <a:t>Rectovesical</a:t>
            </a:r>
            <a:r>
              <a:rPr lang="es-ES" dirty="0" smtClean="0"/>
              <a:t> </a:t>
            </a:r>
            <a:endParaRPr lang="es-ES" dirty="0"/>
          </a:p>
        </p:txBody>
      </p:sp>
      <p:cxnSp>
        <p:nvCxnSpPr>
          <p:cNvPr id="15" name="14 Conector recto"/>
          <p:cNvCxnSpPr/>
          <p:nvPr/>
        </p:nvCxnSpPr>
        <p:spPr>
          <a:xfrm rot="5400000">
            <a:off x="2786050" y="3643314"/>
            <a:ext cx="1714512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18 Conector recto"/>
          <p:cNvCxnSpPr/>
          <p:nvPr/>
        </p:nvCxnSpPr>
        <p:spPr>
          <a:xfrm rot="5400000">
            <a:off x="5465769" y="3607595"/>
            <a:ext cx="1642280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"/>
          <p:cNvCxnSpPr/>
          <p:nvPr/>
        </p:nvCxnSpPr>
        <p:spPr>
          <a:xfrm rot="10800000">
            <a:off x="928662" y="2786058"/>
            <a:ext cx="157163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24 Conector recto"/>
          <p:cNvCxnSpPr/>
          <p:nvPr/>
        </p:nvCxnSpPr>
        <p:spPr>
          <a:xfrm rot="5400000">
            <a:off x="250795" y="3464719"/>
            <a:ext cx="1356528" cy="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25 Rectángulo"/>
          <p:cNvSpPr/>
          <p:nvPr/>
        </p:nvSpPr>
        <p:spPr>
          <a:xfrm>
            <a:off x="571472" y="4071942"/>
            <a:ext cx="1571636" cy="9286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Membrana anal imperforada</a:t>
            </a:r>
            <a:endParaRPr lang="es-E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smtClean="0"/>
              <a:t>Asociación con otras malformaciones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Las  malformaciones urológicas son las más frecuentes. La muestra investigada fue del 52%; las vertebrales representaron el 30%, las cardiacas el 17%, las digestivas el 15%, la parietales el 13</a:t>
            </a:r>
            <a:r>
              <a:rPr lang="es-ES" dirty="0" smtClean="0"/>
              <a:t>% </a:t>
            </a:r>
            <a:r>
              <a:rPr lang="es-ES" dirty="0" smtClean="0"/>
              <a:t>y las genitales el 10</a:t>
            </a:r>
            <a:r>
              <a:rPr lang="es-ES" dirty="0" smtClean="0"/>
              <a:t>%.</a:t>
            </a:r>
            <a:endParaRPr lang="es-E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Diagnóstico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es-ES" dirty="0" smtClean="0"/>
              <a:t>Diagnóstico:</a:t>
            </a:r>
          </a:p>
          <a:p>
            <a:pPr algn="ctr"/>
            <a:r>
              <a:rPr lang="es-ES" dirty="0" smtClean="0"/>
              <a:t>Invertograma </a:t>
            </a:r>
          </a:p>
          <a:p>
            <a:pPr algn="ctr"/>
            <a:r>
              <a:rPr lang="es-ES" dirty="0" smtClean="0"/>
              <a:t>  Radiografía </a:t>
            </a:r>
            <a:r>
              <a:rPr lang="es-ES" dirty="0" smtClean="0"/>
              <a:t>simple </a:t>
            </a:r>
            <a:endParaRPr lang="es-ES" dirty="0" smtClean="0"/>
          </a:p>
          <a:p>
            <a:pPr algn="ctr"/>
            <a:r>
              <a:rPr lang="es-ES" dirty="0" smtClean="0"/>
              <a:t>Colografía</a:t>
            </a:r>
          </a:p>
          <a:p>
            <a:pPr algn="ctr"/>
            <a:r>
              <a:rPr lang="es-ES" dirty="0" smtClean="0"/>
              <a:t>Ecografía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Tratamiento 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 smtClean="0"/>
          </a:p>
          <a:p>
            <a:r>
              <a:rPr lang="es-ES" dirty="0" smtClean="0"/>
              <a:t>Quirúrgico:</a:t>
            </a:r>
          </a:p>
          <a:p>
            <a:pPr algn="ctr">
              <a:buFont typeface="Wingdings" pitchFamily="2" charset="2"/>
              <a:buChar char="ü"/>
            </a:pPr>
            <a:r>
              <a:rPr lang="es-ES" dirty="0" smtClean="0"/>
              <a:t>Anoplastía</a:t>
            </a:r>
          </a:p>
          <a:p>
            <a:pPr algn="ctr">
              <a:buFont typeface="Wingdings" pitchFamily="2" charset="2"/>
              <a:buChar char="ü"/>
            </a:pPr>
            <a:r>
              <a:rPr lang="es-ES" dirty="0" smtClean="0"/>
              <a:t>Dilataciones anales</a:t>
            </a:r>
          </a:p>
          <a:p>
            <a:pPr algn="ctr">
              <a:buFont typeface="Wingdings" pitchFamily="2" charset="2"/>
              <a:buChar char="ü"/>
            </a:pPr>
            <a:r>
              <a:rPr lang="es-ES" dirty="0" smtClean="0"/>
              <a:t>Colostomía</a:t>
            </a:r>
          </a:p>
          <a:p>
            <a:pPr>
              <a:buNone/>
            </a:pPr>
            <a:endParaRPr lang="es-E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Cuidados de enfermería 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 smtClean="0"/>
          </a:p>
          <a:p>
            <a:pPr algn="ctr"/>
            <a:r>
              <a:rPr lang="es-ES" dirty="0" smtClean="0"/>
              <a:t>En el pre - operatorio</a:t>
            </a:r>
          </a:p>
          <a:p>
            <a:pPr algn="ctr"/>
            <a:r>
              <a:rPr lang="es-ES" dirty="0" smtClean="0"/>
              <a:t>En el pos – operatorio</a:t>
            </a:r>
          </a:p>
          <a:p>
            <a:pPr algn="ctr"/>
            <a:r>
              <a:rPr lang="es-ES" dirty="0" smtClean="0"/>
              <a:t>Con el manejo de la colostomía</a:t>
            </a:r>
            <a:endParaRPr lang="es-ES" dirty="0" smtClean="0"/>
          </a:p>
          <a:p>
            <a:pPr>
              <a:buNone/>
            </a:pPr>
            <a:endParaRPr lang="es-E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81000" y="3000373"/>
            <a:ext cx="8458200" cy="3075414"/>
          </a:xfrm>
        </p:spPr>
        <p:txBody>
          <a:bodyPr/>
          <a:lstStyle/>
          <a:p>
            <a:r>
              <a:rPr lang="es-ES" dirty="0" smtClean="0"/>
              <a:t>Diseño metodológico 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smtClean="0"/>
              <a:t>Capitulo III</a:t>
            </a:r>
            <a:endParaRPr lang="es-E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 dirty="0" smtClean="0"/>
              <a:t> </a:t>
            </a:r>
            <a:r>
              <a:rPr lang="es-ES" b="1" dirty="0" smtClean="0"/>
              <a:t>Enfoque 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00034" y="1571612"/>
            <a:ext cx="8229600" cy="4525963"/>
          </a:xfrm>
        </p:spPr>
        <p:txBody>
          <a:bodyPr>
            <a:normAutofit/>
          </a:bodyPr>
          <a:lstStyle/>
          <a:p>
            <a:r>
              <a:rPr lang="es-ES" dirty="0" smtClean="0"/>
              <a:t>El </a:t>
            </a:r>
            <a:r>
              <a:rPr lang="es-ES" dirty="0" smtClean="0"/>
              <a:t>tipo de enfoque que se aplicó en este estudio fue de tipo cuantitativo ya que el objetivo fue determinar la prevalencia de malformaciones anorectales, buscando describir y explicar las características externas generales, centrándose en los aspectos susceptibles a cuantificar. </a:t>
            </a:r>
          </a:p>
          <a:p>
            <a:pPr>
              <a:buNone/>
            </a:pPr>
            <a:endParaRPr lang="es-E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4 Marcador de contenido"/>
          <p:cNvGraphicFramePr>
            <a:graphicFrameLocks noGrp="1"/>
          </p:cNvGraphicFramePr>
          <p:nvPr>
            <p:ph idx="1"/>
          </p:nvPr>
        </p:nvGraphicFramePr>
        <p:xfrm>
          <a:off x="457200" y="1071546"/>
          <a:ext cx="8229600" cy="45005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 dirty="0" smtClean="0"/>
              <a:t>Universo de </a:t>
            </a:r>
            <a:r>
              <a:rPr lang="es-ES" b="1" dirty="0" smtClean="0"/>
              <a:t>estudio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s-ES" dirty="0" smtClean="0"/>
              <a:t>Total </a:t>
            </a:r>
            <a:r>
              <a:rPr lang="es-ES" dirty="0" smtClean="0"/>
              <a:t>de pacientes internados en el área de Terapia Intensiva Neonatología y Recién Nacidos Terapia Intermedia, desde el primer día de enero hasta el último día del mes de diciembre del 2008, que tengan como diagnóstico malformación anorectal</a:t>
            </a:r>
            <a:r>
              <a:rPr lang="es-ES" dirty="0" smtClean="0"/>
              <a:t>.</a:t>
            </a:r>
          </a:p>
          <a:p>
            <a:pPr>
              <a:buNone/>
            </a:pPr>
            <a:r>
              <a:rPr lang="es-ES" dirty="0" smtClean="0"/>
              <a:t> </a:t>
            </a:r>
            <a:endParaRPr lang="es-ES" dirty="0" smtClean="0"/>
          </a:p>
          <a:p>
            <a:pPr>
              <a:buNone/>
            </a:pPr>
            <a:endParaRPr lang="es-ES" dirty="0" smtClean="0"/>
          </a:p>
          <a:p>
            <a:endParaRPr lang="es-E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b="1" dirty="0" smtClean="0"/>
              <a:t>Identificación de </a:t>
            </a:r>
            <a:r>
              <a:rPr lang="es-ES" b="1" dirty="0" smtClean="0"/>
              <a:t>variables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b="1" dirty="0" smtClean="0"/>
              <a:t> </a:t>
            </a:r>
            <a:r>
              <a:rPr lang="es-ES" dirty="0" smtClean="0"/>
              <a:t>Recién </a:t>
            </a:r>
            <a:r>
              <a:rPr lang="es-ES" dirty="0" smtClean="0"/>
              <a:t>nacidos con malformación </a:t>
            </a:r>
            <a:r>
              <a:rPr lang="es-ES" dirty="0" smtClean="0"/>
              <a:t>anorectal</a:t>
            </a:r>
            <a:endParaRPr lang="es-ES" dirty="0" smtClean="0"/>
          </a:p>
          <a:p>
            <a:pPr lvl="0"/>
            <a:r>
              <a:rPr lang="es-ES" dirty="0" smtClean="0"/>
              <a:t>Sexo</a:t>
            </a:r>
          </a:p>
          <a:p>
            <a:pPr lvl="0"/>
            <a:r>
              <a:rPr lang="es-ES" dirty="0" smtClean="0"/>
              <a:t>Tipo de malformación</a:t>
            </a:r>
          </a:p>
          <a:p>
            <a:pPr lvl="0"/>
            <a:r>
              <a:rPr lang="es-ES" dirty="0" smtClean="0"/>
              <a:t>Edad de la madre</a:t>
            </a:r>
          </a:p>
          <a:p>
            <a:pPr lvl="0"/>
            <a:r>
              <a:rPr lang="es-ES" dirty="0" smtClean="0"/>
              <a:t>Ocupación de la madre y/o padre</a:t>
            </a:r>
          </a:p>
          <a:p>
            <a:pPr lvl="0"/>
            <a:r>
              <a:rPr lang="es-ES" dirty="0" smtClean="0"/>
              <a:t>Exposición a factores ambientales de </a:t>
            </a:r>
            <a:r>
              <a:rPr lang="es-ES" dirty="0" smtClean="0"/>
              <a:t>riesgo</a:t>
            </a:r>
            <a:endParaRPr lang="es-ES" dirty="0" smtClean="0"/>
          </a:p>
          <a:p>
            <a:endParaRPr lang="es-E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 smtClean="0"/>
              <a:t>Métodos e instrumentos de recolección de </a:t>
            </a:r>
            <a:r>
              <a:rPr lang="es-ES" b="1" dirty="0" smtClean="0"/>
              <a:t>datos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Este </a:t>
            </a:r>
            <a:r>
              <a:rPr lang="es-ES" dirty="0" smtClean="0"/>
              <a:t>tipo de estudio se realizó en base al análisis documental de la </a:t>
            </a:r>
            <a:r>
              <a:rPr lang="es-ES" dirty="0" smtClean="0"/>
              <a:t>bibliografía</a:t>
            </a:r>
          </a:p>
          <a:p>
            <a:r>
              <a:rPr lang="es-ES" dirty="0" smtClean="0"/>
              <a:t>elaboración </a:t>
            </a:r>
            <a:r>
              <a:rPr lang="es-ES" dirty="0" smtClean="0"/>
              <a:t>de los instrumentos </a:t>
            </a:r>
          </a:p>
          <a:p>
            <a:r>
              <a:rPr lang="es-ES" dirty="0" smtClean="0"/>
              <a:t>Una </a:t>
            </a:r>
            <a:r>
              <a:rPr lang="es-ES" dirty="0" smtClean="0"/>
              <a:t>guía de registro en la que se fue registrando los datos necesarios para medir las variables a partir de las historias clínicas; otro tipo de instrumento fue la entrevista a la madre con preguntas abiertas y </a:t>
            </a:r>
            <a:r>
              <a:rPr lang="es-ES" dirty="0" smtClean="0"/>
              <a:t>cerradas</a:t>
            </a:r>
            <a:endParaRPr lang="es-ES" dirty="0" smtClean="0"/>
          </a:p>
          <a:p>
            <a:endParaRPr lang="es-E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Alcances y limitaciones</a:t>
            </a:r>
            <a:endParaRPr lang="es-ES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357299"/>
            <a:ext cx="4040188" cy="571504"/>
          </a:xfrm>
        </p:spPr>
        <p:txBody>
          <a:bodyPr/>
          <a:lstStyle/>
          <a:p>
            <a:r>
              <a:rPr lang="es-ES" dirty="0" smtClean="0"/>
              <a:t>Alcances </a:t>
            </a:r>
            <a:endParaRPr lang="es-ES" dirty="0"/>
          </a:p>
        </p:txBody>
      </p:sp>
      <p:sp>
        <p:nvSpPr>
          <p:cNvPr id="5" name="4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357299"/>
            <a:ext cx="4041775" cy="571504"/>
          </a:xfrm>
        </p:spPr>
        <p:txBody>
          <a:bodyPr/>
          <a:lstStyle/>
          <a:p>
            <a:r>
              <a:rPr lang="es-ES" dirty="0" smtClean="0"/>
              <a:t>Limitaciones </a:t>
            </a:r>
            <a:endParaRPr lang="es-ES" dirty="0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457200" y="2000240"/>
            <a:ext cx="4040188" cy="4125923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s-ES" dirty="0" smtClean="0"/>
              <a:t>Se pudo obtener </a:t>
            </a:r>
            <a:r>
              <a:rPr lang="es-ES" dirty="0" smtClean="0"/>
              <a:t>toda la información de las historias clínicas  y vaciar en la hoja de registro.</a:t>
            </a:r>
          </a:p>
          <a:p>
            <a:pPr lvl="0"/>
            <a:r>
              <a:rPr lang="es-ES" dirty="0" smtClean="0"/>
              <a:t>Al conseguir datos de los recién nacidos también se obtuvo datos de la madre, estos fueron por teléfono o entrevista directa con la madre.</a:t>
            </a:r>
          </a:p>
          <a:p>
            <a:pPr lvl="0"/>
            <a:r>
              <a:rPr lang="es-ES" dirty="0" smtClean="0"/>
              <a:t>Se logró entrevistar  a más  de la mitad de las madres teniendo acceso a conversar con ellas abiertamente como también con algunos de los padres.</a:t>
            </a:r>
          </a:p>
          <a:p>
            <a:pPr lvl="0"/>
            <a:r>
              <a:rPr lang="es-ES" dirty="0" smtClean="0"/>
              <a:t>Al ser la mayoría de las madres de zonas de agricultura, el idioma no fue problema ya que algunas hablaban quechua y la investigadora también  habla ese idioma.</a:t>
            </a:r>
          </a:p>
          <a:p>
            <a:endParaRPr lang="es-ES" dirty="0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3438" y="2000240"/>
            <a:ext cx="4041775" cy="4165602"/>
          </a:xfrm>
        </p:spPr>
        <p:txBody>
          <a:bodyPr>
            <a:noAutofit/>
          </a:bodyPr>
          <a:lstStyle/>
          <a:p>
            <a:pPr lvl="0"/>
            <a:r>
              <a:rPr lang="es-ES" sz="1700" dirty="0" smtClean="0"/>
              <a:t>El </a:t>
            </a:r>
            <a:r>
              <a:rPr lang="es-ES" sz="1700" dirty="0" smtClean="0"/>
              <a:t>tiempo para recolectar datos.</a:t>
            </a:r>
            <a:endParaRPr lang="es-ES" sz="1700" dirty="0" smtClean="0"/>
          </a:p>
          <a:p>
            <a:pPr lvl="0"/>
            <a:r>
              <a:rPr lang="es-ES" sz="1700" dirty="0" smtClean="0"/>
              <a:t>Al momento de revisar las historias clínicas éstas no estaban correctamente llenadas con los antecedentes de las </a:t>
            </a:r>
            <a:r>
              <a:rPr lang="es-ES" sz="1700" dirty="0" smtClean="0"/>
              <a:t>madres.</a:t>
            </a:r>
            <a:endParaRPr lang="es-ES" sz="1700" dirty="0" smtClean="0"/>
          </a:p>
          <a:p>
            <a:pPr lvl="0"/>
            <a:r>
              <a:rPr lang="es-ES" sz="1700" dirty="0" smtClean="0"/>
              <a:t>La letra de los médicos e internos en el llenado de la historias fue un problema, ya que se debía deducir algunas palabras.</a:t>
            </a:r>
          </a:p>
          <a:p>
            <a:pPr lvl="0"/>
            <a:r>
              <a:rPr lang="es-ES" sz="1700" dirty="0" smtClean="0"/>
              <a:t>No se logró realizar las 19 entrevistas sólo se lograron 10, ya que en las 9 historias clínicas restantes, no había datos de las </a:t>
            </a:r>
            <a:r>
              <a:rPr lang="es-ES" sz="1700" dirty="0" smtClean="0"/>
              <a:t>madres.</a:t>
            </a:r>
            <a:endParaRPr lang="es-ES" sz="1700" dirty="0" smtClean="0"/>
          </a:p>
          <a:p>
            <a:pPr lvl="0"/>
            <a:r>
              <a:rPr lang="es-ES" sz="1700" dirty="0" smtClean="0"/>
              <a:t>Algunas de las madres vivían en lugares muy alejados, por ejemplo las de </a:t>
            </a:r>
            <a:r>
              <a:rPr lang="es-ES" sz="1700" dirty="0" smtClean="0"/>
              <a:t>Chapare</a:t>
            </a:r>
            <a:endParaRPr lang="es-E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381000" y="2571745"/>
            <a:ext cx="8458200" cy="3571900"/>
          </a:xfrm>
        </p:spPr>
        <p:txBody>
          <a:bodyPr/>
          <a:lstStyle/>
          <a:p>
            <a:r>
              <a:rPr lang="es-ES" dirty="0" smtClean="0"/>
              <a:t>Presentación y análisis de resultados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smtClean="0"/>
              <a:t>Capitulo IV</a:t>
            </a:r>
            <a:endParaRPr lang="es-E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500042"/>
            <a:ext cx="8229600" cy="5626121"/>
          </a:xfrm>
        </p:spPr>
        <p:txBody>
          <a:bodyPr>
            <a:normAutofit fontScale="92500" lnSpcReduction="10000"/>
          </a:bodyPr>
          <a:lstStyle/>
          <a:p>
            <a:r>
              <a:rPr lang="es-ES" dirty="0" smtClean="0"/>
              <a:t>En las siguientes gráficas se muestra los datos obtenidos a partir de los libros de registro de ingreso y egreso de los pacientes a las unidades de Terapia intensiva e Intermedia de Recién Nacidos de la Maternidad Germán </a:t>
            </a:r>
            <a:r>
              <a:rPr lang="es-ES" dirty="0" err="1" smtClean="0"/>
              <a:t>Urquidi</a:t>
            </a:r>
            <a:r>
              <a:rPr lang="es-ES" dirty="0" smtClean="0"/>
              <a:t> durante toda la gestión del 2008.</a:t>
            </a:r>
          </a:p>
          <a:p>
            <a:r>
              <a:rPr lang="es-ES" dirty="0" smtClean="0"/>
              <a:t>Los resultados de los 19 recién nacidos se encuentran plasmados desde la gráfica uno  hasta la gráfica diez</a:t>
            </a:r>
          </a:p>
          <a:p>
            <a:r>
              <a:rPr lang="es-ES" dirty="0" smtClean="0"/>
              <a:t>En el trabajo los resultados obtenidos sobre las entrevistas con 10 madres se encuentran a partir de la gráfica once para adelante. </a:t>
            </a:r>
          </a:p>
          <a:p>
            <a:endParaRPr lang="es-ES" dirty="0" smtClean="0"/>
          </a:p>
          <a:p>
            <a:endParaRPr lang="es-ES" dirty="0" smtClean="0"/>
          </a:p>
          <a:p>
            <a:endParaRPr lang="es-E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 smtClean="0"/>
              <a:t>Distribución de recién nacidos según sexo y tipo de malformación. </a:t>
            </a:r>
            <a:endParaRPr lang="es-ES" dirty="0"/>
          </a:p>
        </p:txBody>
      </p:sp>
      <p:pic>
        <p:nvPicPr>
          <p:cNvPr id="5" name="4 Marcador de contenido"/>
          <p:cNvPicPr>
            <a:picLocks noGrp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2000240"/>
            <a:ext cx="3614734" cy="364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5 Marcador de contenido"/>
          <p:cNvPicPr>
            <a:picLocks noGrp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648200" y="2071678"/>
            <a:ext cx="3710014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28572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ES" sz="2800" b="1" dirty="0" smtClean="0"/>
              <a:t>Distribución de recién nacidos por tipo de malformación anorectal con relación al </a:t>
            </a:r>
            <a:r>
              <a:rPr lang="es-ES" sz="2800" b="1" dirty="0" smtClean="0"/>
              <a:t>sexo</a:t>
            </a:r>
            <a:endParaRPr lang="es-ES" sz="2800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500034" y="1357298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 smtClean="0"/>
              <a:t> </a:t>
            </a:r>
            <a:r>
              <a:rPr lang="es-ES" dirty="0" smtClean="0"/>
              <a:t/>
            </a:r>
            <a:br>
              <a:rPr lang="es-ES" dirty="0" smtClean="0"/>
            </a:br>
            <a:r>
              <a:rPr lang="es-ES" sz="3100" b="1" dirty="0" smtClean="0"/>
              <a:t>Distribución de recién nacidos por tipo de malformación anorectal según el mes de ingreso del al servicio.</a:t>
            </a:r>
            <a:r>
              <a:rPr lang="es-ES" dirty="0" smtClean="0"/>
              <a:t/>
            </a:r>
            <a:br>
              <a:rPr lang="es-ES" dirty="0" smtClean="0"/>
            </a:br>
            <a:endParaRPr lang="es-ES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914400" y="1500175"/>
          <a:ext cx="7372376" cy="42148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sz="3100" b="1" dirty="0" smtClean="0"/>
              <a:t>Distribución de recién nacidos según el tipo de malformación anorectal y el lugar de </a:t>
            </a:r>
            <a:r>
              <a:rPr lang="es-ES" sz="3100" b="1" dirty="0" smtClean="0"/>
              <a:t>referencia</a:t>
            </a:r>
            <a:endParaRPr lang="es-ES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642910" y="1500174"/>
          <a:ext cx="7829576" cy="43830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sz="3100" b="1" dirty="0" smtClean="0"/>
              <a:t>Distribución de recién por tipo malformación anorectal y otras </a:t>
            </a:r>
            <a:r>
              <a:rPr lang="es-ES" sz="3100" b="1" dirty="0" smtClean="0"/>
              <a:t>malformaciones</a:t>
            </a:r>
            <a:endParaRPr lang="es-ES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571472" y="1600201"/>
          <a:ext cx="8115328" cy="41862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s-ES" sz="2700" b="1" dirty="0" smtClean="0"/>
              <a:t>Distribución de recién nacidos según tipo de malformación anorectal y otra enfermedad durante su </a:t>
            </a:r>
            <a:r>
              <a:rPr lang="es-ES" sz="2700" b="1" dirty="0" smtClean="0"/>
              <a:t>internación</a:t>
            </a:r>
            <a:endParaRPr lang="es-ES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304800" y="1554163"/>
          <a:ext cx="8686800" cy="4525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b="1" dirty="0" smtClean="0"/>
              <a:t> </a:t>
            </a:r>
            <a:r>
              <a:rPr lang="es-ES" dirty="0" smtClean="0"/>
              <a:t/>
            </a:r>
            <a:br>
              <a:rPr lang="es-ES" dirty="0" smtClean="0"/>
            </a:br>
            <a:r>
              <a:rPr lang="es-ES" sz="3100" b="1" dirty="0" smtClean="0"/>
              <a:t>Distribución de recién nacidos según el tipo malformación anorectal y el tratamiento recibido</a:t>
            </a:r>
            <a:r>
              <a:rPr lang="es-ES" dirty="0" smtClean="0"/>
              <a:t/>
            </a:r>
            <a:br>
              <a:rPr lang="es-ES" dirty="0" smtClean="0"/>
            </a:br>
            <a:endParaRPr lang="es-ES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304800" y="1554163"/>
          <a:ext cx="8686800" cy="4525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ES" sz="2400" b="1" dirty="0" smtClean="0"/>
              <a:t>Distribución de recién nacidos por tipo de malformación anorectal según el tipo de egreso del </a:t>
            </a:r>
            <a:r>
              <a:rPr lang="es-ES" sz="2400" b="1" dirty="0" smtClean="0"/>
              <a:t>servicio</a:t>
            </a:r>
            <a:endParaRPr lang="es-ES" sz="2400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304800" y="1554163"/>
          <a:ext cx="8686800" cy="4525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sz="3100" b="1" dirty="0" smtClean="0"/>
              <a:t>Distribución de recién nacidos por tipo de malformación anorectal según la edad </a:t>
            </a:r>
            <a:r>
              <a:rPr lang="es-ES" sz="3100" b="1" dirty="0" smtClean="0"/>
              <a:t>materna</a:t>
            </a:r>
            <a:endParaRPr lang="es-ES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304800" y="1554163"/>
          <a:ext cx="8686800" cy="4525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sz="2400" b="1" dirty="0" smtClean="0"/>
              <a:t>Distribución de recién nacidos por tipo de malformación anorectal según la ocupación de la </a:t>
            </a:r>
            <a:r>
              <a:rPr lang="es-ES" sz="2400" b="1" dirty="0" smtClean="0"/>
              <a:t>madre</a:t>
            </a:r>
            <a:endParaRPr lang="es-ES" sz="2400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304800" y="1554163"/>
          <a:ext cx="8686800" cy="4525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sz="2700" b="1" dirty="0" smtClean="0"/>
              <a:t>Distribución de recién nacidos con malformación anorectal según la semana de gestación en la que la madre se dio cuenta de su embarazo</a:t>
            </a:r>
            <a:r>
              <a:rPr lang="es-ES" sz="2700" b="1" dirty="0" smtClean="0"/>
              <a:t>.</a:t>
            </a:r>
            <a:endParaRPr lang="es-ES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304800" y="1554163"/>
          <a:ext cx="8686800" cy="4525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sz="2700" b="1" dirty="0" smtClean="0"/>
              <a:t>Distribución de recién nacidos con malformación anorectal según consumo de bebidas alcohólicas. </a:t>
            </a:r>
            <a:endParaRPr lang="es-ES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304800" y="1554163"/>
          <a:ext cx="8686800" cy="4525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sz="3100" b="1" dirty="0" smtClean="0"/>
              <a:t>Distribución de recién nacidos con malformación anorectal según habito de masticar coca</a:t>
            </a:r>
            <a:r>
              <a:rPr lang="es-ES" sz="3100" b="1" dirty="0" smtClean="0"/>
              <a:t>.</a:t>
            </a:r>
            <a:endParaRPr lang="es-ES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304800" y="1554163"/>
          <a:ext cx="8686800" cy="4525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sz="2700" b="1" dirty="0" smtClean="0"/>
              <a:t>Distribución de recién nacidos con malformación anorectal según su estado de salud actualmente</a:t>
            </a:r>
            <a:r>
              <a:rPr lang="es-ES" sz="2700" b="1" dirty="0" smtClean="0"/>
              <a:t>.</a:t>
            </a:r>
            <a:endParaRPr lang="es-ES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304800" y="1554163"/>
          <a:ext cx="8686800" cy="4525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sz="3100" b="1" dirty="0" smtClean="0"/>
              <a:t>Distribución de recién nacidos con malformación anorectal según la actividad que realiza la madre</a:t>
            </a:r>
            <a:r>
              <a:rPr lang="es-ES" sz="3100" b="1" dirty="0" smtClean="0"/>
              <a:t>.</a:t>
            </a:r>
            <a:endParaRPr lang="es-ES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304800" y="1554163"/>
          <a:ext cx="8686800" cy="4525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200" b="1" dirty="0" smtClean="0"/>
              <a:t>Distribución de 6 recién nacidos por tipo de malformación  según la exposición a factores de riesgo de las madres</a:t>
            </a:r>
            <a:r>
              <a:rPr lang="es-ES" sz="2200" b="1" dirty="0" smtClean="0"/>
              <a:t>.</a:t>
            </a:r>
            <a:endParaRPr lang="es-ES" dirty="0"/>
          </a:p>
        </p:txBody>
      </p:sp>
      <p:graphicFrame>
        <p:nvGraphicFramePr>
          <p:cNvPr id="5" name="4 Marcador de contenido"/>
          <p:cNvGraphicFramePr>
            <a:graphicFrameLocks noGrp="1"/>
          </p:cNvGraphicFramePr>
          <p:nvPr>
            <p:ph sz="half" idx="1"/>
          </p:nvPr>
        </p:nvGraphicFramePr>
        <p:xfrm>
          <a:off x="457200" y="1600201"/>
          <a:ext cx="4038600" cy="37576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5 Marcador de contenido"/>
          <p:cNvGraphicFramePr>
            <a:graphicFrameLocks noGrp="1"/>
          </p:cNvGraphicFramePr>
          <p:nvPr>
            <p:ph sz="half" idx="2"/>
          </p:nvPr>
        </p:nvGraphicFramePr>
        <p:xfrm>
          <a:off x="4648200" y="1600200"/>
          <a:ext cx="4038600" cy="3686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2200" b="1" dirty="0" smtClean="0"/>
              <a:t>Distribución de 6 recién nacidos por tipo de malformación  según la exposición a factores de riesgo de las madres</a:t>
            </a:r>
            <a:r>
              <a:rPr lang="es-ES" sz="2200" b="1" dirty="0" smtClean="0"/>
              <a:t>.</a:t>
            </a:r>
            <a:endParaRPr lang="es-ES" dirty="0"/>
          </a:p>
        </p:txBody>
      </p:sp>
      <p:graphicFrame>
        <p:nvGraphicFramePr>
          <p:cNvPr id="5" name="4 Marcador de contenido"/>
          <p:cNvGraphicFramePr>
            <a:graphicFrameLocks noGrp="1"/>
          </p:cNvGraphicFramePr>
          <p:nvPr>
            <p:ph sz="half" idx="1"/>
          </p:nvPr>
        </p:nvGraphicFramePr>
        <p:xfrm>
          <a:off x="457200" y="1600201"/>
          <a:ext cx="4038600" cy="40433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5 Marcador de contenido"/>
          <p:cNvGraphicFramePr>
            <a:graphicFrameLocks noGrp="1"/>
          </p:cNvGraphicFramePr>
          <p:nvPr>
            <p:ph sz="half" idx="2"/>
          </p:nvPr>
        </p:nvGraphicFramePr>
        <p:xfrm>
          <a:off x="4648200" y="1600201"/>
          <a:ext cx="4038600" cy="41148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sz="2700" b="1" dirty="0" smtClean="0"/>
              <a:t>Distribución de 4 recién nacidos con malformación anorectal según el tratamiento que recibió la madre durante el </a:t>
            </a:r>
            <a:r>
              <a:rPr lang="es-ES" sz="2700" b="1" dirty="0" smtClean="0"/>
              <a:t>embarazo</a:t>
            </a:r>
            <a:endParaRPr lang="es-ES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</p:nvPr>
        </p:nvGraphicFramePr>
        <p:xfrm>
          <a:off x="785787" y="1428736"/>
          <a:ext cx="7429552" cy="43116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Conclusiones y recomendaciones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smtClean="0"/>
              <a:t>Capitulo V</a:t>
            </a:r>
            <a:endParaRPr lang="es-E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Conclusiones 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dirty="0" smtClean="0"/>
              <a:t>En el Hospital Materno Infantil Germán </a:t>
            </a:r>
            <a:r>
              <a:rPr lang="es-ES" dirty="0" err="1" smtClean="0"/>
              <a:t>Urquidi</a:t>
            </a:r>
            <a:r>
              <a:rPr lang="es-ES" dirty="0" smtClean="0"/>
              <a:t> en toda la gestión del 2008 se internaron un total de 899 pacientes en las áreas de Terapia Intensiva Neonatal y Terapia Intermedia Recién Nacidos, 19 de ellos presentaron malformación anorectal esto quiere decir que esta malformación tiene una prevalencia del 2,1%.  </a:t>
            </a:r>
          </a:p>
          <a:p>
            <a:endParaRPr lang="es-E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Conclusiones 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28596" y="1500174"/>
            <a:ext cx="8229600" cy="4525963"/>
          </a:xfrm>
        </p:spPr>
        <p:txBody>
          <a:bodyPr>
            <a:normAutofit lnSpcReduction="10000"/>
          </a:bodyPr>
          <a:lstStyle/>
          <a:p>
            <a:pPr lvl="0"/>
            <a:r>
              <a:rPr lang="es-ES" dirty="0" smtClean="0"/>
              <a:t>En cuanto al sexo, se llegó a la conclusión que un 63,2% corresponde al género masculino y el 36,8% son del sexo femenino, también se encuentra relación con una frecuencia de 1,7:1  entre el sexo masculino </a:t>
            </a:r>
            <a:r>
              <a:rPr lang="es-ES" dirty="0" smtClean="0"/>
              <a:t>y femenino.</a:t>
            </a:r>
            <a:endParaRPr lang="es-ES" dirty="0" smtClean="0"/>
          </a:p>
          <a:p>
            <a:pPr lvl="0"/>
            <a:r>
              <a:rPr lang="es-ES" dirty="0" smtClean="0"/>
              <a:t>El tipo de malformación predominante es el ano </a:t>
            </a:r>
            <a:r>
              <a:rPr lang="es-ES" dirty="0" err="1" smtClean="0"/>
              <a:t>imperforado</a:t>
            </a:r>
            <a:r>
              <a:rPr lang="es-ES" dirty="0" smtClean="0"/>
              <a:t> con un 68,4 % y el 31,6% pertenece a las </a:t>
            </a:r>
            <a:r>
              <a:rPr lang="es-ES" dirty="0" smtClean="0"/>
              <a:t>fístulas. </a:t>
            </a:r>
            <a:endParaRPr lang="es-ES" dirty="0" smtClean="0"/>
          </a:p>
          <a:p>
            <a:endParaRPr lang="es-E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Conclusiones 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s-ES" dirty="0" smtClean="0"/>
              <a:t>Los meses con mayor frecuencia de malformación anorectal son: marzo con un 26,4%; enero y junio con un 15,8%; febrero, abril, agosto, octubre y diciembre los porcentajes están por debajo del 10,5%. </a:t>
            </a:r>
          </a:p>
          <a:p>
            <a:pPr lvl="0"/>
            <a:r>
              <a:rPr lang="es-ES" dirty="0" smtClean="0"/>
              <a:t>Un 36,9% de niños con malformación anorectal pertenece a la localidad de Chapare, donde lo característico es la producción agrícola y el cultivo de frutas; las demás localidades también son zonas agrícolas.</a:t>
            </a:r>
          </a:p>
          <a:p>
            <a:endParaRPr lang="es-E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Conclusiones 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 smtClean="0"/>
              <a:t>Hay </a:t>
            </a:r>
            <a:r>
              <a:rPr lang="es-ES" dirty="0" smtClean="0"/>
              <a:t>más predominio de nacer con otra malformación en los niños con ano </a:t>
            </a:r>
            <a:r>
              <a:rPr lang="es-ES" dirty="0" err="1" smtClean="0"/>
              <a:t>imperforado</a:t>
            </a:r>
            <a:r>
              <a:rPr lang="es-ES" dirty="0" smtClean="0"/>
              <a:t> con un 58 % y éstas malformaciones pueden ser síndrome de Down, Hidronefrosis, Polidactilia, Atresia Esofágica y múltiples. Un 42% de los recién nacidos no presentaron ninguna otra malformación </a:t>
            </a:r>
            <a:endParaRPr lang="es-ES" dirty="0" smtClean="0"/>
          </a:p>
          <a:p>
            <a:pPr lvl="0"/>
            <a:r>
              <a:rPr lang="es-ES" dirty="0" smtClean="0"/>
              <a:t>U</a:t>
            </a:r>
            <a:r>
              <a:rPr lang="es-ES" dirty="0" smtClean="0"/>
              <a:t>n </a:t>
            </a:r>
            <a:r>
              <a:rPr lang="es-ES" dirty="0" smtClean="0"/>
              <a:t>36,9% eran del tipo bajo y le realizaron la </a:t>
            </a:r>
            <a:r>
              <a:rPr lang="es-ES" dirty="0" err="1" smtClean="0"/>
              <a:t>anoplastía</a:t>
            </a:r>
            <a:r>
              <a:rPr lang="es-ES" dirty="0" smtClean="0"/>
              <a:t> al primer o segundo día de internación, un 15,8% eran del tipo alto y les realizaron colostomía para un posterior </a:t>
            </a:r>
            <a:r>
              <a:rPr lang="es-ES" dirty="0" err="1" smtClean="0"/>
              <a:t>anoplastía</a:t>
            </a:r>
            <a:r>
              <a:rPr lang="es-ES" dirty="0" smtClean="0"/>
              <a:t>, a los 12 meses de edad;  por último, un 36,9% no recibió ningún tipo de tratamiento porque se fueron con Alta medica solicitada o fallecieron por otras complicaciones.</a:t>
            </a:r>
          </a:p>
          <a:p>
            <a:endParaRPr lang="es-E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s-ES" dirty="0" smtClean="0"/>
              <a:t>A </a:t>
            </a:r>
            <a:r>
              <a:rPr lang="es-ES" dirty="0" smtClean="0"/>
              <a:t>mayor edad mayor el porcentaje de que nazcan con esta malformación, ya que entre las edades de 26 a 30 es un 36,9% y partir de los 31 años adelante es un 42,2% y si disminuye la edad disminuye también la frecuencia de la malformación</a:t>
            </a:r>
            <a:r>
              <a:rPr lang="es-ES" dirty="0" smtClean="0"/>
              <a:t>.</a:t>
            </a:r>
            <a:endParaRPr lang="es-ES" dirty="0" smtClean="0"/>
          </a:p>
          <a:p>
            <a:pPr lvl="0"/>
            <a:r>
              <a:rPr lang="es-ES" dirty="0" smtClean="0"/>
              <a:t>En cuanto a la ocupación de la madre, un 36,9% se dedica a la agricultura y 31,6% a las labores de casa.</a:t>
            </a:r>
          </a:p>
          <a:p>
            <a:pPr>
              <a:buNone/>
            </a:pPr>
            <a:endParaRPr lang="es-E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Conclusiones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es-ES" dirty="0" smtClean="0"/>
              <a:t>En lo que se refiere a el tiempo en que se dio cuenta de su embarazo, un 60% fue  a los dos meses, 20% a los tres meses y 20% más de tres </a:t>
            </a:r>
            <a:r>
              <a:rPr lang="es-ES" dirty="0" smtClean="0"/>
              <a:t>meses.</a:t>
            </a:r>
            <a:endParaRPr lang="es-ES" dirty="0" smtClean="0"/>
          </a:p>
          <a:p>
            <a:pPr lvl="0"/>
            <a:r>
              <a:rPr lang="es-ES" dirty="0" smtClean="0"/>
              <a:t>Las actividades que realizó la madre durante su embarazo fueron: 60 % se dedicó a los cultivos y 40%  estuvo expuesta a fármacos</a:t>
            </a:r>
            <a:r>
              <a:rPr lang="es-ES" dirty="0" smtClean="0"/>
              <a:t>.</a:t>
            </a:r>
            <a:endParaRPr lang="es-ES" dirty="0" smtClean="0"/>
          </a:p>
          <a:p>
            <a:pPr lvl="0"/>
            <a:r>
              <a:rPr lang="es-ES" dirty="0" smtClean="0"/>
              <a:t>En lo que respecta al estado actual de salud del nacido se llegó a la conclusión de que un 90% de ellos se encuentran bien y un 10% falleció pero por otras complicaciones que presentó en su internación. </a:t>
            </a:r>
          </a:p>
          <a:p>
            <a:endParaRPr lang="es-E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Conclusiones 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s-ES" dirty="0" smtClean="0"/>
              <a:t>De las 10 madres entrevistadas 6 se dedicaron a los cultivos, de estas 6 el 83,3% fumigaron durante su embarazo, así como también no se protegieron al manipular los tóxicos y sólo se lavaban las manos luego de usar los tóxicos, entonces se llega a la conclusión de que no tomaron las precauciones necesarias en el manejo de los químicos poniendo en riesgo su descendencia</a:t>
            </a:r>
            <a:r>
              <a:rPr lang="es-ES" dirty="0" smtClean="0"/>
              <a:t>.</a:t>
            </a:r>
            <a:endParaRPr lang="es-ES" dirty="0" smtClean="0"/>
          </a:p>
          <a:p>
            <a:pPr lvl="0"/>
            <a:r>
              <a:rPr lang="es-ES" dirty="0" smtClean="0"/>
              <a:t>De las 10 madres con niños con malformación anorectal, 4 de ellas consumieron algún medicamento (tabletas) para el tratamiento de la infección urinaria lo que equivale al 75% y un 25 % los inyectables que puede ser el causante de la malformación. </a:t>
            </a:r>
          </a:p>
          <a:p>
            <a:endParaRPr lang="es-ES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</a:t>
            </a:r>
            <a:r>
              <a:rPr lang="es-ES" dirty="0" smtClean="0"/>
              <a:t>ecomendaciones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ES" b="1" dirty="0" smtClean="0"/>
              <a:t>Para el personal de </a:t>
            </a:r>
            <a:r>
              <a:rPr lang="es-ES" b="1" dirty="0" smtClean="0"/>
              <a:t>salud</a:t>
            </a:r>
            <a:endParaRPr lang="es-ES" dirty="0" smtClean="0"/>
          </a:p>
          <a:p>
            <a:pPr lvl="0"/>
            <a:r>
              <a:rPr lang="es-ES" dirty="0" smtClean="0"/>
              <a:t>La mujer en edad de tener hijos debe de ser motivada por el personal de salud a planear su embarazo y a realizar consultas antes de la concepción. </a:t>
            </a:r>
          </a:p>
          <a:p>
            <a:pPr lvl="0"/>
            <a:r>
              <a:rPr lang="es-ES" dirty="0" smtClean="0"/>
              <a:t>El personal de salud debe de promover la consulta ya que esta tendrá un gran valor porque es el espacio adecuado para informase, conocer la importancia de comportamientos saludables y preventivos previos a la concepción </a:t>
            </a:r>
            <a:endParaRPr lang="es-ES" dirty="0" smtClean="0"/>
          </a:p>
          <a:p>
            <a:pPr lvl="0"/>
            <a:r>
              <a:rPr lang="es-ES" dirty="0" smtClean="0"/>
              <a:t>Las </a:t>
            </a:r>
            <a:r>
              <a:rPr lang="es-ES" dirty="0" smtClean="0"/>
              <a:t>mujeres embarazadas deben de conocer la susceptibilidad del bebé en formación a todas las drogas, principalmente en el desarrollo del Sistema Nervioso Central. </a:t>
            </a:r>
          </a:p>
          <a:p>
            <a:pPr lvl="0"/>
            <a:r>
              <a:rPr lang="es-ES" dirty="0" smtClean="0"/>
              <a:t>El embarazo es una responsabilidad de todos, esto quiere decir una responsabilidad compartida en la prevención de las discapacidades. </a:t>
            </a:r>
          </a:p>
          <a:p>
            <a:endParaRPr lang="es-E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Recomendaciones 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s-ES" b="1" dirty="0" smtClean="0"/>
              <a:t>Para los </a:t>
            </a:r>
            <a:r>
              <a:rPr lang="es-ES" b="1" dirty="0" smtClean="0"/>
              <a:t>familiares</a:t>
            </a:r>
            <a:r>
              <a:rPr lang="es-ES" dirty="0" smtClean="0"/>
              <a:t> </a:t>
            </a:r>
          </a:p>
          <a:p>
            <a:pPr lvl="0"/>
            <a:r>
              <a:rPr lang="es-ES" dirty="0" smtClean="0"/>
              <a:t>La mujer embarazada debe de prevenir todo uso de plaguicidas y todo contacto con ellos.</a:t>
            </a:r>
          </a:p>
          <a:p>
            <a:pPr lvl="0"/>
            <a:r>
              <a:rPr lang="es-ES" dirty="0" smtClean="0"/>
              <a:t>Las personas que fumigan y usan plaguicidas deben usa trajes protectores: pañuelo para la boca y la nariz, gafas, gorro, guantes, botas, pantalón, camisa larga.</a:t>
            </a:r>
          </a:p>
          <a:p>
            <a:pPr lvl="0"/>
            <a:r>
              <a:rPr lang="es-ES" dirty="0" smtClean="0"/>
              <a:t>Aumentar la ventilación, al utilizar plaguicidas en los lugares cerrados.</a:t>
            </a:r>
          </a:p>
          <a:p>
            <a:pPr lvl="0"/>
            <a:r>
              <a:rPr lang="es-ES" dirty="0" smtClean="0"/>
              <a:t>No comer durante la fumigación.</a:t>
            </a:r>
          </a:p>
          <a:p>
            <a:pPr lvl="0"/>
            <a:r>
              <a:rPr lang="es-ES" dirty="0" smtClean="0"/>
              <a:t>Tomar un baño después de fumigar.</a:t>
            </a:r>
          </a:p>
          <a:p>
            <a:pPr lvl="0"/>
            <a:r>
              <a:rPr lang="es-ES" dirty="0" smtClean="0"/>
              <a:t>Lavarse las manos inmediatamente después de usar plaguicidas o plantas tratadas con plaguicidas.</a:t>
            </a:r>
          </a:p>
          <a:p>
            <a:pPr lvl="0"/>
            <a:r>
              <a:rPr lang="es-ES" dirty="0" smtClean="0"/>
              <a:t>Guardar los plaguicidas lejos, no en el interior de la vivienda, y menos en envases o productos alimenticios.</a:t>
            </a:r>
          </a:p>
          <a:p>
            <a:pPr lvl="0"/>
            <a:r>
              <a:rPr lang="es-ES" dirty="0" smtClean="0"/>
              <a:t>Evitar agresiones que puedan causar discapacidad al bebé.</a:t>
            </a:r>
          </a:p>
          <a:p>
            <a:pPr lvl="0"/>
            <a:r>
              <a:rPr lang="es-ES" dirty="0" smtClean="0"/>
              <a:t>Evitar espacios cerrados con humo, tabaco. La fumadora pasiva es también contaminada por el humo.</a:t>
            </a:r>
          </a:p>
          <a:p>
            <a:endParaRPr lang="es-E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Recomendaciones 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S" b="1" dirty="0" smtClean="0"/>
              <a:t>Para futuras investigaciones</a:t>
            </a:r>
            <a:r>
              <a:rPr lang="es-ES" b="1" dirty="0" smtClean="0"/>
              <a:t>:</a:t>
            </a:r>
            <a:endParaRPr lang="es-ES" dirty="0" smtClean="0"/>
          </a:p>
          <a:p>
            <a:pPr lvl="0"/>
            <a:r>
              <a:rPr lang="es-ES" dirty="0" smtClean="0"/>
              <a:t>Realizar una investigación longitudinal de mujeres expuestas a factores de riesgo  y de forma comparativa con un grupo de control para ver si existen o no malformaciones. Estudio analítico cuasi-experimental.</a:t>
            </a:r>
          </a:p>
          <a:p>
            <a:pPr lvl="0"/>
            <a:r>
              <a:rPr lang="es-ES" dirty="0" smtClean="0"/>
              <a:t>Que una siguiente tesis no sea con un diseño metodológico retrospectivo sino prospectivo en la cual se puedan llega a implementar medidas y cuidados de enfermería para la prevención de dichas malformaciones.</a:t>
            </a:r>
          </a:p>
          <a:p>
            <a:pPr lvl="0"/>
            <a:r>
              <a:rPr lang="es-ES" dirty="0" smtClean="0"/>
              <a:t>Que se realice la investigación en el terreno o en la misma localidad de Chapare si es que fuera posible para poder esclarecer la causa principal que ocasiona que los recién nacidos nazcan con esta malformación.</a:t>
            </a:r>
          </a:p>
          <a:p>
            <a:endParaRPr lang="es-E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Rectángulo"/>
          <p:cNvSpPr/>
          <p:nvPr/>
        </p:nvSpPr>
        <p:spPr>
          <a:xfrm>
            <a:off x="2285984" y="2967334"/>
            <a:ext cx="4357717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8000" b="1" cap="none" spc="0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GRACIAS</a:t>
            </a:r>
            <a:endParaRPr lang="es-ES" sz="8000" b="1" cap="none" spc="0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63000"/>
                      <a:sat val="105000"/>
                    </a:schemeClr>
                  </a:gs>
                  <a:gs pos="90000">
                    <a:schemeClr val="accent1">
                      <a:shade val="50000"/>
                      <a:satMod val="100000"/>
                    </a:schemeClr>
                  </a:gs>
                </a:gsLst>
                <a:lin ang="5400000"/>
              </a:gra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iajes">
  <a:themeElements>
    <a:clrScheme name="Viajes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Viaje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Viajes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147</TotalTime>
  <Words>2317</Words>
  <Application>Microsoft Office PowerPoint</Application>
  <PresentationFormat>Presentación en pantalla (4:3)</PresentationFormat>
  <Paragraphs>263</Paragraphs>
  <Slides>60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60</vt:i4>
      </vt:variant>
    </vt:vector>
  </HeadingPairs>
  <TitlesOfParts>
    <vt:vector size="61" baseType="lpstr">
      <vt:lpstr>Viajes</vt:lpstr>
      <vt:lpstr>Prevalencia de malformaciones anorectales en relación a factores de riesgo</vt:lpstr>
      <vt:lpstr>Perfil de la investigación</vt:lpstr>
      <vt:lpstr>Planteamiento del problema</vt:lpstr>
      <vt:lpstr>Justificación </vt:lpstr>
      <vt:lpstr>Objetivos </vt:lpstr>
      <vt:lpstr>Objetivos </vt:lpstr>
      <vt:lpstr>Marco teórico </vt:lpstr>
      <vt:lpstr>Breve reseña histórica </vt:lpstr>
      <vt:lpstr>Introducción </vt:lpstr>
      <vt:lpstr>Causas ambientales de desarrollo anormal</vt:lpstr>
      <vt:lpstr>Diapositiva 11</vt:lpstr>
      <vt:lpstr>Etapa de desarrollo de la malformación </vt:lpstr>
      <vt:lpstr>Malformación anorectal (MAR)</vt:lpstr>
      <vt:lpstr>Concepto</vt:lpstr>
      <vt:lpstr>Frecuencia e incidencia</vt:lpstr>
      <vt:lpstr>Clasificación </vt:lpstr>
      <vt:lpstr>Tipos más frecuentes</vt:lpstr>
      <vt:lpstr>Asociación con otras malformaciones</vt:lpstr>
      <vt:lpstr>Diagnóstico</vt:lpstr>
      <vt:lpstr>Tratamiento </vt:lpstr>
      <vt:lpstr>Cuidados de enfermería </vt:lpstr>
      <vt:lpstr>Diseño metodológico </vt:lpstr>
      <vt:lpstr> Enfoque </vt:lpstr>
      <vt:lpstr>Diapositiva 24</vt:lpstr>
      <vt:lpstr>Universo de estudio</vt:lpstr>
      <vt:lpstr>Identificación de variables</vt:lpstr>
      <vt:lpstr>Métodos e instrumentos de recolección de datos</vt:lpstr>
      <vt:lpstr>Alcances y limitaciones</vt:lpstr>
      <vt:lpstr>Presentación y análisis de resultados</vt:lpstr>
      <vt:lpstr>Diapositiva 30</vt:lpstr>
      <vt:lpstr>Distribución de recién nacidos según sexo y tipo de malformación. </vt:lpstr>
      <vt:lpstr>Distribución de recién nacidos por tipo de malformación anorectal con relación al sexo</vt:lpstr>
      <vt:lpstr>  Distribución de recién nacidos por tipo de malformación anorectal según el mes de ingreso del al servicio. </vt:lpstr>
      <vt:lpstr>Distribución de recién nacidos según el tipo de malformación anorectal y el lugar de referencia</vt:lpstr>
      <vt:lpstr>Distribución de recién por tipo malformación anorectal y otras malformaciones</vt:lpstr>
      <vt:lpstr>Distribución de recién nacidos según tipo de malformación anorectal y otra enfermedad durante su internación</vt:lpstr>
      <vt:lpstr>  Distribución de recién nacidos según el tipo malformación anorectal y el tratamiento recibido </vt:lpstr>
      <vt:lpstr>Distribución de recién nacidos por tipo de malformación anorectal según el tipo de egreso del servicio</vt:lpstr>
      <vt:lpstr>Distribución de recién nacidos por tipo de malformación anorectal según la edad materna</vt:lpstr>
      <vt:lpstr>Distribución de recién nacidos por tipo de malformación anorectal según la ocupación de la madre</vt:lpstr>
      <vt:lpstr>Distribución de recién nacidos con malformación anorectal según la semana de gestación en la que la madre se dio cuenta de su embarazo.</vt:lpstr>
      <vt:lpstr>Distribución de recién nacidos con malformación anorectal según consumo de bebidas alcohólicas. </vt:lpstr>
      <vt:lpstr>Distribución de recién nacidos con malformación anorectal según habito de masticar coca.</vt:lpstr>
      <vt:lpstr>Distribución de recién nacidos con malformación anorectal según su estado de salud actualmente.</vt:lpstr>
      <vt:lpstr>Distribución de recién nacidos con malformación anorectal según la actividad que realiza la madre.</vt:lpstr>
      <vt:lpstr>Distribución de 6 recién nacidos por tipo de malformación  según la exposición a factores de riesgo de las madres.</vt:lpstr>
      <vt:lpstr>Distribución de 6 recién nacidos por tipo de malformación  según la exposición a factores de riesgo de las madres.</vt:lpstr>
      <vt:lpstr>Distribución de 4 recién nacidos con malformación anorectal según el tratamiento que recibió la madre durante el embarazo</vt:lpstr>
      <vt:lpstr>Conclusiones y recomendaciones</vt:lpstr>
      <vt:lpstr>Conclusiones </vt:lpstr>
      <vt:lpstr>Conclusiones </vt:lpstr>
      <vt:lpstr>Conclusiones </vt:lpstr>
      <vt:lpstr>Conclusiones </vt:lpstr>
      <vt:lpstr>Diapositiva 54</vt:lpstr>
      <vt:lpstr>Conclusiones</vt:lpstr>
      <vt:lpstr>Conclusiones </vt:lpstr>
      <vt:lpstr>Recomendaciones</vt:lpstr>
      <vt:lpstr>Recomendaciones </vt:lpstr>
      <vt:lpstr>Recomendaciones </vt:lpstr>
      <vt:lpstr>Diapositiva 60</vt:lpstr>
    </vt:vector>
  </TitlesOfParts>
  <Company>ARMADA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Prevalencia de malformaciones anorectales en relación a factores de riesgo</dc:title>
  <dc:creator>David</dc:creator>
  <cp:lastModifiedBy>est</cp:lastModifiedBy>
  <cp:revision>16</cp:revision>
  <dcterms:created xsi:type="dcterms:W3CDTF">2009-12-08T15:53:03Z</dcterms:created>
  <dcterms:modified xsi:type="dcterms:W3CDTF">2009-12-08T15:38:35Z</dcterms:modified>
</cp:coreProperties>
</file>