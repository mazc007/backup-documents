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4" r:id="rId8"/>
    <p:sldId id="266" r:id="rId9"/>
    <p:sldId id="265" r:id="rId10"/>
    <p:sldId id="271" r:id="rId11"/>
    <p:sldId id="261" r:id="rId12"/>
    <p:sldId id="267" r:id="rId13"/>
    <p:sldId id="269" r:id="rId14"/>
    <p:sldId id="262" r:id="rId15"/>
    <p:sldId id="263" r:id="rId16"/>
    <p:sldId id="268" r:id="rId17"/>
    <p:sldId id="270" r:id="rId18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Triángulo rectángulo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grpSp>
        <p:nvGrpSpPr>
          <p:cNvPr id="2" name="1 Grupo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6 Forma libre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7 Forma libre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10 Forma libre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11 Conector recto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7" name="6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7" name="6 Cheurón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7 Cheurón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6" name="5 Título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9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10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11 Cheurón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12 Cheurón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Forma libre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Forma libre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13 Triángulo rectángulo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14 Conector recto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B3631EF-1516-4414-84DD-921A8978F6B4}" type="datetimeFigureOut">
              <a:rPr lang="es-BO" smtClean="0"/>
              <a:pPr/>
              <a:t>18/09/2010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5DC79F4-C82F-4C82-9BB4-FDF7688FA194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ografias.com/trabajos15/tanatologia/tanatologia.s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ografias.com/trabajos15/fundamento-ontologico/fundamento-ontologico.s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ografias.com/trabajos15/mitos-cosmogonicos/mitos-cosmogonicos.shtml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lm.nih.gov/medlineplus/spanish/ency/article/003642.htm" TargetMode="External"/><Relationship Id="rId2" Type="http://schemas.openxmlformats.org/officeDocument/2006/relationships/hyperlink" Target="http://www.nlm.nih.gov/medlineplus/spanish/ency/article/003333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nlm.nih.gov/medlineplus/spanish/ency/article/002223.htm" TargetMode="External"/><Relationship Id="rId4" Type="http://schemas.openxmlformats.org/officeDocument/2006/relationships/hyperlink" Target="http://www.nlm.nih.gov/medlineplus/spanish/ency/article/003511.htm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onografias.com/trabajos11/norma/norma.shtml" TargetMode="External"/><Relationship Id="rId2" Type="http://schemas.openxmlformats.org/officeDocument/2006/relationships/hyperlink" Target="http://www.monografias.com/trabajos2/rhempresa/rhempresa.s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642918"/>
            <a:ext cx="4774682" cy="35719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s-BO" dirty="0" smtClean="0"/>
              <a:t>       DENGUE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Historia natural de la enfermedad</a:t>
            </a:r>
          </a:p>
          <a:p>
            <a:r>
              <a:rPr lang="es-BO" dirty="0" err="1" smtClean="0"/>
              <a:t>Lilian</a:t>
            </a:r>
            <a:r>
              <a:rPr lang="es-BO" dirty="0" smtClean="0"/>
              <a:t> Zapata Claros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dengue es producido por un </a:t>
            </a:r>
            <a:r>
              <a:rPr lang="es-ES" dirty="0" err="1" smtClean="0"/>
              <a:t>arbovirus</a:t>
            </a:r>
            <a:r>
              <a:rPr lang="es-ES" dirty="0" smtClean="0"/>
              <a:t> de la familia </a:t>
            </a:r>
            <a:r>
              <a:rPr lang="es-ES" i="1" dirty="0" err="1" smtClean="0"/>
              <a:t>Flaviviridae</a:t>
            </a:r>
            <a:r>
              <a:rPr lang="es-ES" i="1" dirty="0" smtClean="0"/>
              <a:t>. </a:t>
            </a:r>
            <a:r>
              <a:rPr lang="es-ES" dirty="0" smtClean="0"/>
              <a:t>Los cuatro serotipos del </a:t>
            </a:r>
            <a:r>
              <a:rPr lang="es-ES" dirty="0" err="1" smtClean="0"/>
              <a:t>denguevirus</a:t>
            </a:r>
            <a:r>
              <a:rPr lang="es-ES" dirty="0" smtClean="0"/>
              <a:t> se transmiten principalmente por el mosquito </a:t>
            </a:r>
            <a:r>
              <a:rPr lang="es-ES" i="1" dirty="0" err="1" smtClean="0"/>
              <a:t>Aedes</a:t>
            </a:r>
            <a:r>
              <a:rPr lang="es-ES" i="1" dirty="0" smtClean="0"/>
              <a:t> </a:t>
            </a:r>
            <a:r>
              <a:rPr lang="es-ES" i="1" dirty="0" err="1" smtClean="0"/>
              <a:t>aegypti</a:t>
            </a:r>
            <a:endParaRPr lang="es-ES" i="1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Aspectos generales</a:t>
            </a:r>
            <a:endParaRPr lang="es-BO" dirty="0"/>
          </a:p>
        </p:txBody>
      </p:sp>
      <p:pic>
        <p:nvPicPr>
          <p:cNvPr id="4" name="3 Imagen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8" y="3802321"/>
            <a:ext cx="2928958" cy="1984133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Estrechamente relacionados </a:t>
            </a:r>
          </a:p>
          <a:p>
            <a:pPr algn="ctr"/>
            <a:r>
              <a:rPr lang="es-ES" dirty="0" smtClean="0"/>
              <a:t>(DENV-1, </a:t>
            </a:r>
          </a:p>
          <a:p>
            <a:pPr algn="ctr"/>
            <a:r>
              <a:rPr lang="es-ES" dirty="0" smtClean="0"/>
              <a:t>DENV-2, </a:t>
            </a:r>
          </a:p>
          <a:p>
            <a:pPr algn="ctr"/>
            <a:r>
              <a:rPr lang="es-ES" dirty="0" smtClean="0"/>
              <a:t>DENV-3 ó </a:t>
            </a:r>
          </a:p>
          <a:p>
            <a:pPr algn="ctr"/>
            <a:r>
              <a:rPr lang="es-ES" dirty="0" smtClean="0"/>
              <a:t>DENV-4).</a:t>
            </a:r>
          </a:p>
          <a:p>
            <a:r>
              <a:rPr lang="es-ES" dirty="0" smtClean="0"/>
              <a:t> Los cuatro serotipos son capaces de producir infección asintomática, enfermedad febril y cuadros severos que pueden conducir a </a:t>
            </a:r>
            <a:r>
              <a:rPr lang="es-ES" u="sng" dirty="0" smtClean="0">
                <a:hlinkClick r:id="rId2"/>
              </a:rPr>
              <a:t>la muerte</a:t>
            </a:r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TIPOS DE VIRUS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Dos etapas</a:t>
            </a:r>
          </a:p>
          <a:p>
            <a:r>
              <a:rPr lang="es-ES" b="1" dirty="0" smtClean="0"/>
              <a:t>fase acuática</a:t>
            </a:r>
            <a:r>
              <a:rPr lang="es-ES" dirty="0" smtClean="0"/>
              <a:t> con tres formas evolutivas diferentes (huevo, larva y pupa) y</a:t>
            </a:r>
          </a:p>
          <a:p>
            <a:r>
              <a:rPr lang="es-ES" dirty="0" smtClean="0"/>
              <a:t> </a:t>
            </a:r>
            <a:r>
              <a:rPr lang="es-ES" b="1" dirty="0" smtClean="0"/>
              <a:t>fase aérea</a:t>
            </a:r>
            <a:r>
              <a:rPr lang="es-ES" dirty="0" smtClean="0"/>
              <a:t> o adulto o Imago.</a:t>
            </a:r>
            <a:endParaRPr lang="es-BO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CICLO DE VIDA DEL DENGUE</a:t>
            </a:r>
            <a:endParaRPr lang="es-BO" dirty="0"/>
          </a:p>
        </p:txBody>
      </p:sp>
      <p:pic>
        <p:nvPicPr>
          <p:cNvPr id="4" name="3 Imagen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38" y="3286124"/>
            <a:ext cx="3357586" cy="3119647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ciclo comienza cuando un mosquito hembra ingiere sangre que contiene el virus del dengue</a:t>
            </a:r>
            <a:r>
              <a:rPr lang="es-ES" dirty="0" smtClean="0"/>
              <a:t>.</a:t>
            </a:r>
          </a:p>
          <a:p>
            <a:r>
              <a:rPr lang="es-ES" dirty="0" smtClean="0"/>
              <a:t>Se produce por la picadura de la hembra a la persona </a:t>
            </a:r>
            <a:endParaRPr lang="es-BO" dirty="0" smtClean="0"/>
          </a:p>
          <a:p>
            <a:r>
              <a:rPr lang="es-ES" dirty="0" smtClean="0"/>
              <a:t>Se trata de una cadena sin fin, ya que el mosquito queda infectado por el resto de su vida.</a:t>
            </a:r>
            <a:endParaRPr lang="es-BO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Transmisión 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7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232" y="1428736"/>
            <a:ext cx="5321804" cy="4143404"/>
          </a:xfrm>
        </p:spPr>
      </p:pic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Situación en Bolivia 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El tiempo intrínseco de transmisibilidad corresponde al de la </a:t>
            </a:r>
            <a:r>
              <a:rPr lang="es-ES" dirty="0" err="1" smtClean="0"/>
              <a:t>viremia</a:t>
            </a:r>
            <a:r>
              <a:rPr lang="es-ES" dirty="0" smtClean="0"/>
              <a:t> de la persona infectada.</a:t>
            </a:r>
            <a:endParaRPr lang="es-BO" dirty="0" smtClean="0"/>
          </a:p>
          <a:p>
            <a:r>
              <a:rPr lang="es-ES" dirty="0" smtClean="0"/>
              <a:t>El virus se multiplica en el epitelio intestinal del mosquito hembra infectado, ganglios nerviosos, cuerpo graso y glándulas salivales, el que permanece infectado y asintomático.</a:t>
            </a:r>
            <a:endParaRPr lang="es-BO" dirty="0" smtClean="0"/>
          </a:p>
          <a:p>
            <a:r>
              <a:rPr lang="es-ES" dirty="0" smtClean="0"/>
              <a:t>Luego de 7 a 14 días ("tiempo de incubación extrínseco") puede infectar al </a:t>
            </a:r>
            <a:r>
              <a:rPr lang="es-ES" u="sng" dirty="0" smtClean="0">
                <a:hlinkClick r:id="rId2"/>
              </a:rPr>
              <a:t>hombre</a:t>
            </a:r>
            <a:r>
              <a:rPr lang="es-ES" dirty="0" smtClean="0"/>
              <a:t> por nueva picadura.</a:t>
            </a:r>
            <a:endParaRPr lang="es-BO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Periodo de </a:t>
            </a:r>
            <a:r>
              <a:rPr lang="es-BO" dirty="0" err="1" smtClean="0"/>
              <a:t>incubacion</a:t>
            </a:r>
            <a:r>
              <a:rPr lang="es-BO" dirty="0" smtClean="0"/>
              <a:t> 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928934"/>
            <a:ext cx="7772400" cy="3071834"/>
          </a:xfrm>
        </p:spPr>
        <p:txBody>
          <a:bodyPr>
            <a:normAutofit fontScale="90000"/>
          </a:bodyPr>
          <a:lstStyle/>
          <a:p>
            <a:pPr algn="ctr"/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/>
            </a:r>
            <a:br>
              <a:rPr lang="es-BO" dirty="0" smtClean="0"/>
            </a:br>
            <a:r>
              <a:rPr lang="es-BO" dirty="0" smtClean="0"/>
              <a:t>Tipos:</a:t>
            </a:r>
            <a:br>
              <a:rPr lang="es-BO" dirty="0" smtClean="0"/>
            </a:br>
            <a:r>
              <a:rPr lang="es-BO" dirty="0" smtClean="0"/>
              <a:t>dengue clásico</a:t>
            </a:r>
            <a:br>
              <a:rPr lang="es-BO" dirty="0" smtClean="0"/>
            </a:br>
            <a:r>
              <a:rPr lang="es-BO" dirty="0" smtClean="0"/>
              <a:t>dengue hemorrágico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3 Imagen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41" y="1071546"/>
            <a:ext cx="4500595" cy="285752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s-ES" dirty="0" smtClean="0"/>
              <a:t>Fiebre alta</a:t>
            </a:r>
            <a:endParaRPr lang="es-BO" dirty="0" smtClean="0"/>
          </a:p>
          <a:p>
            <a:pPr lvl="0"/>
            <a:r>
              <a:rPr lang="es-ES" dirty="0" smtClean="0"/>
              <a:t>Dolor de cabeza frontal</a:t>
            </a:r>
            <a:endParaRPr lang="es-BO" dirty="0" smtClean="0"/>
          </a:p>
          <a:p>
            <a:pPr lvl="0"/>
            <a:r>
              <a:rPr lang="es-ES" dirty="0" smtClean="0"/>
              <a:t>Dolor detrás de las órbitas de los ojos, al moverlos</a:t>
            </a:r>
            <a:endParaRPr lang="es-BO" dirty="0" smtClean="0"/>
          </a:p>
          <a:p>
            <a:pPr lvl="0"/>
            <a:r>
              <a:rPr lang="es-ES" dirty="0" smtClean="0"/>
              <a:t>Dolor muscular</a:t>
            </a:r>
            <a:endParaRPr lang="es-BO" dirty="0" smtClean="0"/>
          </a:p>
          <a:p>
            <a:pPr lvl="0"/>
            <a:r>
              <a:rPr lang="es-ES" dirty="0" smtClean="0"/>
              <a:t>Dolor articular</a:t>
            </a:r>
            <a:endParaRPr lang="es-BO" dirty="0" smtClean="0"/>
          </a:p>
          <a:p>
            <a:pPr lvl="0"/>
            <a:r>
              <a:rPr lang="es-ES" dirty="0" smtClean="0"/>
              <a:t>Molestia al mirar la luz</a:t>
            </a:r>
            <a:endParaRPr lang="es-BO" dirty="0" smtClean="0"/>
          </a:p>
          <a:p>
            <a:r>
              <a:rPr lang="es-ES" dirty="0" smtClean="0"/>
              <a:t>Conjuntivitis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s-ES" dirty="0" smtClean="0"/>
              <a:t>Fiebre súbitamente alta que dura de 2 a 7 días.</a:t>
            </a:r>
            <a:endParaRPr lang="es-BO" dirty="0" smtClean="0"/>
          </a:p>
          <a:p>
            <a:pPr lvl="0"/>
            <a:r>
              <a:rPr lang="es-ES" dirty="0" smtClean="0"/>
              <a:t>Hemorragias en la piel (petequias o cardenales)</a:t>
            </a:r>
            <a:endParaRPr lang="es-BO" dirty="0" smtClean="0"/>
          </a:p>
          <a:p>
            <a:pPr lvl="0"/>
            <a:r>
              <a:rPr lang="es-ES" dirty="0" smtClean="0"/>
              <a:t>Dificultad para respirar</a:t>
            </a:r>
            <a:endParaRPr lang="es-BO" dirty="0" smtClean="0"/>
          </a:p>
          <a:p>
            <a:pPr lvl="0"/>
            <a:r>
              <a:rPr lang="es-ES" dirty="0" smtClean="0"/>
              <a:t>Vó</a:t>
            </a:r>
            <a:r>
              <a:rPr lang="es-ES" u="sng" dirty="0" smtClean="0">
                <a:hlinkClick r:id="rId2"/>
              </a:rPr>
              <a:t>mito</a:t>
            </a:r>
            <a:r>
              <a:rPr lang="es-ES" dirty="0" smtClean="0"/>
              <a:t> o diarrea</a:t>
            </a:r>
            <a:endParaRPr lang="es-BO" dirty="0" smtClean="0"/>
          </a:p>
          <a:p>
            <a:pPr lvl="0"/>
            <a:r>
              <a:rPr lang="es-ES" dirty="0" smtClean="0"/>
              <a:t>Alteraciones en la presión</a:t>
            </a:r>
            <a:endParaRPr lang="es-BO" dirty="0" smtClean="0"/>
          </a:p>
          <a:p>
            <a:pPr lvl="0"/>
            <a:r>
              <a:rPr lang="es-ES" dirty="0" smtClean="0"/>
              <a:t>Sangrado de encías</a:t>
            </a:r>
            <a:endParaRPr lang="es-BO" dirty="0" smtClean="0"/>
          </a:p>
          <a:p>
            <a:pPr>
              <a:buNone/>
            </a:pPr>
            <a:endParaRPr lang="es-BO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Sintomatología: </a:t>
            </a:r>
            <a:r>
              <a:rPr lang="es-BO" dirty="0" err="1" smtClean="0"/>
              <a:t>clasico</a:t>
            </a:r>
            <a:r>
              <a:rPr lang="es-BO" dirty="0" smtClean="0"/>
              <a:t> y </a:t>
            </a:r>
            <a:r>
              <a:rPr lang="es-BO" dirty="0" err="1" smtClean="0"/>
              <a:t>hemorragico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4480" y="1500174"/>
            <a:ext cx="5429288" cy="4786346"/>
          </a:xfrm>
        </p:spPr>
      </p:pic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Imágenes </a:t>
            </a:r>
            <a:endParaRPr lang="es-BO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3 Marcador de contenido" descr="Monografias.com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571480"/>
            <a:ext cx="7072361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u="sng" dirty="0" smtClean="0">
                <a:hlinkClick r:id="rId2"/>
              </a:rPr>
              <a:t>Título de </a:t>
            </a:r>
            <a:r>
              <a:rPr lang="es-ES" u="sng" dirty="0" err="1" smtClean="0">
                <a:hlinkClick r:id="rId2"/>
              </a:rPr>
              <a:t>anticuerpos</a:t>
            </a:r>
            <a:r>
              <a:rPr lang="es-ES" dirty="0" err="1" smtClean="0"/>
              <a:t>Título</a:t>
            </a:r>
            <a:r>
              <a:rPr lang="es-ES" dirty="0" smtClean="0"/>
              <a:t> de anticuerpos para los tipos del virus del dengue </a:t>
            </a:r>
            <a:endParaRPr lang="es-BO" dirty="0" smtClean="0"/>
          </a:p>
          <a:p>
            <a:pPr lvl="0"/>
            <a:r>
              <a:rPr lang="es-ES" dirty="0" smtClean="0"/>
              <a:t>Conteo sanguíneo completo ( </a:t>
            </a:r>
            <a:r>
              <a:rPr lang="es-ES" u="sng" dirty="0" smtClean="0">
                <a:hlinkClick r:id="rId3"/>
              </a:rPr>
              <a:t>CSC</a:t>
            </a:r>
            <a:r>
              <a:rPr lang="es-ES" dirty="0" smtClean="0"/>
              <a:t>CSC) </a:t>
            </a:r>
            <a:endParaRPr lang="es-BO" dirty="0" smtClean="0"/>
          </a:p>
          <a:p>
            <a:pPr lvl="0"/>
            <a:r>
              <a:rPr lang="es-ES" u="sng" dirty="0" smtClean="0">
                <a:hlinkClick r:id="rId4"/>
              </a:rPr>
              <a:t>Estudios </a:t>
            </a:r>
            <a:r>
              <a:rPr lang="es-ES" u="sng" dirty="0" err="1" smtClean="0">
                <a:hlinkClick r:id="rId4"/>
              </a:rPr>
              <a:t>serológicos</a:t>
            </a:r>
            <a:r>
              <a:rPr lang="es-ES" dirty="0" err="1" smtClean="0"/>
              <a:t>Estudios</a:t>
            </a:r>
            <a:r>
              <a:rPr lang="es-ES" dirty="0" smtClean="0"/>
              <a:t> serológicos para buscar </a:t>
            </a:r>
            <a:r>
              <a:rPr lang="es-ES" u="sng" dirty="0" err="1" smtClean="0">
                <a:hlinkClick r:id="rId5"/>
              </a:rPr>
              <a:t>anticuerpos</a:t>
            </a:r>
            <a:r>
              <a:rPr lang="es-ES" dirty="0" err="1" smtClean="0"/>
              <a:t>anticuerpos</a:t>
            </a:r>
            <a:r>
              <a:rPr lang="es-ES" dirty="0" smtClean="0"/>
              <a:t> contra los virus del dengue </a:t>
            </a:r>
          </a:p>
          <a:p>
            <a:pPr lvl="0"/>
            <a:r>
              <a:rPr lang="es-ES" dirty="0" smtClean="0"/>
              <a:t>Elisa </a:t>
            </a:r>
            <a:endParaRPr lang="es-BO" dirty="0" smtClean="0"/>
          </a:p>
          <a:p>
            <a:endParaRPr lang="es-BO" dirty="0" smtClean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Diagnostico 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BO" b="1" dirty="0" smtClean="0"/>
          </a:p>
          <a:p>
            <a:r>
              <a:rPr lang="es-ES" dirty="0" smtClean="0"/>
              <a:t>No hay tratamiento específico para el dengue.</a:t>
            </a:r>
            <a:endParaRPr lang="es-BO" dirty="0" smtClean="0"/>
          </a:p>
          <a:p>
            <a:r>
              <a:rPr lang="es-ES" dirty="0" smtClean="0"/>
              <a:t>En el Dengue Hemorrágico, la atención médica prestada por médicos y enfermeros con experiencia sobre los efectos y la evolución de la fiebre hemorrágica puede salvar la vida del paciente, reduciendo la tasa de mortalidad de más del 20% a menos del 1%. El mantenimiento de la volemia es fundamental en el tratamiento del DH.</a:t>
            </a:r>
            <a:endParaRPr lang="es-BO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TRATAMIENTO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Prevención primaria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Actúa sobre el periodo de inducción. Aquí entran medidas desde la colaboración internacional para ayudar a mejorar la situación socioeconómica, pasando por proyectos concretos de mejora de las instalaciones de abastecimiento y saneamiento de aguas, hasta actividades de formación de la población expuesta en la adopción de medidas como mosquiteros, repelentes, insecticidas y manejo del agua del hogar.</a:t>
            </a:r>
            <a:br>
              <a:rPr lang="es-ES" dirty="0" smtClean="0"/>
            </a:br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Tipos de </a:t>
            </a:r>
            <a:r>
              <a:rPr lang="es-BO" dirty="0" err="1" smtClean="0"/>
              <a:t>prevencion</a:t>
            </a:r>
            <a:r>
              <a:rPr lang="es-BO" dirty="0" smtClean="0"/>
              <a:t> 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rgbClr val="FF0000"/>
                </a:solidFill>
              </a:rPr>
              <a:t>Prevención secundaria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Va encaminada, en periodo de latencia, al diagnóstico precoz y tratamiento. En nuestro caso se puede llevar a cabo sobre las personas cercanas a casos reportados</a:t>
            </a:r>
            <a:r>
              <a:rPr lang="es-ES" dirty="0" smtClean="0"/>
              <a:t>.</a:t>
            </a:r>
          </a:p>
          <a:p>
            <a:r>
              <a:rPr lang="es-ES" dirty="0" smtClean="0">
                <a:solidFill>
                  <a:srgbClr val="FF0000"/>
                </a:solidFill>
              </a:rPr>
              <a:t>Prevención </a:t>
            </a:r>
            <a:r>
              <a:rPr lang="es-ES" dirty="0" smtClean="0">
                <a:solidFill>
                  <a:srgbClr val="FF0000"/>
                </a:solidFill>
              </a:rPr>
              <a:t>terciaria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Es el tratamiento de la enfermedad, sintomático, intentando evitar el peor desenlace. </a:t>
            </a:r>
            <a:endParaRPr lang="es-BO" dirty="0" smtClean="0"/>
          </a:p>
          <a:p>
            <a:endParaRPr lang="es-BO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Tipos de </a:t>
            </a:r>
            <a:r>
              <a:rPr lang="es-BO" dirty="0" smtClean="0"/>
              <a:t>prevención 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ES" dirty="0" smtClean="0"/>
              <a:t>Notificación a la </a:t>
            </a:r>
            <a:r>
              <a:rPr lang="es-ES" u="sng" dirty="0" smtClean="0">
                <a:hlinkClick r:id="rId2"/>
              </a:rPr>
              <a:t>autoridad</a:t>
            </a:r>
            <a:r>
              <a:rPr lang="es-ES" dirty="0" smtClean="0"/>
              <a:t> local de salud, si es que hay peligro de un brote de dengue.</a:t>
            </a:r>
            <a:endParaRPr lang="es-BO" dirty="0" smtClean="0"/>
          </a:p>
          <a:p>
            <a:pPr lvl="0"/>
            <a:r>
              <a:rPr lang="es-ES" dirty="0" smtClean="0"/>
              <a:t>2. Aislamiento de los pacientes afectados, evitando el acceso de los mosquitos al mismo: precauciones pertinentes para la sangre.</a:t>
            </a:r>
            <a:endParaRPr lang="es-BO" dirty="0" smtClean="0"/>
          </a:p>
          <a:p>
            <a:pPr lvl="0"/>
            <a:r>
              <a:rPr lang="es-ES" dirty="0" smtClean="0"/>
              <a:t>3. Desinfección concurrente.</a:t>
            </a:r>
            <a:endParaRPr lang="es-BO" dirty="0" smtClean="0"/>
          </a:p>
          <a:p>
            <a:pPr lvl="0"/>
            <a:r>
              <a:rPr lang="es-ES" dirty="0" smtClean="0"/>
              <a:t>4. Cuarentena.</a:t>
            </a:r>
            <a:endParaRPr lang="es-BO" dirty="0" smtClean="0"/>
          </a:p>
          <a:p>
            <a:pPr lvl="0"/>
            <a:r>
              <a:rPr lang="es-ES" dirty="0" smtClean="0"/>
              <a:t>5. Inmunización de contactos.</a:t>
            </a:r>
            <a:endParaRPr lang="es-BO" dirty="0" smtClean="0"/>
          </a:p>
          <a:p>
            <a:pPr lvl="0"/>
            <a:r>
              <a:rPr lang="es-ES" dirty="0" smtClean="0"/>
              <a:t>6. </a:t>
            </a:r>
            <a:r>
              <a:rPr lang="es-ES" u="sng" dirty="0" smtClean="0">
                <a:hlinkClick r:id="rId3"/>
              </a:rPr>
              <a:t>Investigación</a:t>
            </a:r>
            <a:r>
              <a:rPr lang="es-ES" dirty="0" smtClean="0"/>
              <a:t> de los contactos y de la fuente de infección.</a:t>
            </a:r>
            <a:endParaRPr lang="es-BO" dirty="0" smtClean="0"/>
          </a:p>
          <a:p>
            <a:endParaRPr lang="es-BO" dirty="0"/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Medidas de control</a:t>
            </a:r>
            <a:endParaRPr lang="es-BO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350" y="1214422"/>
            <a:ext cx="4262687" cy="3010709"/>
          </a:xfrm>
        </p:spPr>
      </p:pic>
      <p:sp>
        <p:nvSpPr>
          <p:cNvPr id="3" name="2 Título"/>
          <p:cNvSpPr>
            <a:spLocks noGrp="1"/>
          </p:cNvSpPr>
          <p:nvPr>
            <p:ph type="title"/>
          </p:nvPr>
        </p:nvSpPr>
        <p:spPr>
          <a:xfrm>
            <a:off x="457200" y="4429132"/>
            <a:ext cx="8229600" cy="2143140"/>
          </a:xfrm>
        </p:spPr>
        <p:txBody>
          <a:bodyPr/>
          <a:lstStyle/>
          <a:p>
            <a:pPr algn="r"/>
            <a:r>
              <a:rPr lang="es-BO" dirty="0" smtClean="0"/>
              <a:t>Gracias </a:t>
            </a:r>
            <a:endParaRPr lang="es-BO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rencia">
  <a:themeElements>
    <a:clrScheme name="Concurrencia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rencia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renc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875</TotalTime>
  <Words>423</Words>
  <Application>Microsoft Office PowerPoint</Application>
  <PresentationFormat>Presentación en pantalla (4:3)</PresentationFormat>
  <Paragraphs>63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18" baseType="lpstr">
      <vt:lpstr>Concurrencia</vt:lpstr>
      <vt:lpstr>       DENGUE</vt:lpstr>
      <vt:lpstr>Aspectos generales</vt:lpstr>
      <vt:lpstr>TIPOS DE VIRUS</vt:lpstr>
      <vt:lpstr>CICLO DE VIDA DEL DENGUE</vt:lpstr>
      <vt:lpstr>Transmisión </vt:lpstr>
      <vt:lpstr>Situación en Bolivia </vt:lpstr>
      <vt:lpstr>Periodo de incubacion </vt:lpstr>
      <vt:lpstr>  Tipos: dengue clásico dengue hemorrágico</vt:lpstr>
      <vt:lpstr>Sintomatología: clasico y hemorragico</vt:lpstr>
      <vt:lpstr>Imágenes </vt:lpstr>
      <vt:lpstr>Diapositiva 11</vt:lpstr>
      <vt:lpstr>Diagnostico </vt:lpstr>
      <vt:lpstr>TRATAMIENTO</vt:lpstr>
      <vt:lpstr>Tipos de prevencion </vt:lpstr>
      <vt:lpstr>Tipos de prevención </vt:lpstr>
      <vt:lpstr>Medidas de control</vt:lpstr>
      <vt:lpstr>Gracias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DENGUE</dc:title>
  <dc:creator>Lilian</dc:creator>
  <cp:lastModifiedBy>Lilian</cp:lastModifiedBy>
  <cp:revision>16</cp:revision>
  <dcterms:created xsi:type="dcterms:W3CDTF">2010-09-17T23:23:27Z</dcterms:created>
  <dcterms:modified xsi:type="dcterms:W3CDTF">2010-09-18T17:44:13Z</dcterms:modified>
</cp:coreProperties>
</file>