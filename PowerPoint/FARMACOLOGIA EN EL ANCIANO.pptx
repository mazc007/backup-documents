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9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58" r:id="rId20"/>
    <p:sldId id="279" r:id="rId21"/>
    <p:sldId id="280" r:id="rId22"/>
    <p:sldId id="281" r:id="rId23"/>
    <p:sldId id="26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3" r:id="rId44"/>
    <p:sldId id="301" r:id="rId45"/>
    <p:sldId id="304" r:id="rId46"/>
    <p:sldId id="302" r:id="rId47"/>
    <p:sldId id="305" r:id="rId48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BDA7F-5688-4844-B8C2-B7138CA321FA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98E18-3D2D-4A20-82A2-A6D65B6FCEE5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00089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F98E18-3D2D-4A20-82A2-A6D65B6FCEE5}" type="slidenum">
              <a:rPr lang="es-BO" smtClean="0"/>
              <a:t>14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78676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69732CF2-946B-4FE3-89C0-C6484EE4CF70}" type="datetimeFigureOut">
              <a:rPr lang="es-BO" smtClean="0"/>
              <a:t>28/11/2014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A0BF5B-6BC9-4949-B7C3-EC8B5693C84C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FARMACOLOGIA EN EL ANCIANO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LIC. CARMEN R. TERAN A.</a:t>
            </a:r>
          </a:p>
          <a:p>
            <a:r>
              <a:rPr lang="es-BO" dirty="0" smtClean="0"/>
              <a:t>29 DE NOVIEMBRE 2014</a:t>
            </a:r>
            <a:endParaRPr lang="es-BO" dirty="0"/>
          </a:p>
        </p:txBody>
      </p:sp>
      <p:pic>
        <p:nvPicPr>
          <p:cNvPr id="4" name="3 Marcador de contenido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97150"/>
            <a:ext cx="2736304" cy="172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4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699254"/>
            <a:ext cx="2711450" cy="1923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0619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00808"/>
            <a:ext cx="5760640" cy="35283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3200" dirty="0" smtClean="0"/>
              <a:t>FARMACO-EPEDEMIOLOGIA</a:t>
            </a:r>
            <a:endParaRPr lang="es-BO" sz="3200" dirty="0"/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463040" y="1844824"/>
            <a:ext cx="6196405" cy="3878245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s-BO" b="1" dirty="0"/>
              <a:t>I</a:t>
            </a:r>
            <a:r>
              <a:rPr lang="es-BO" b="1" dirty="0" smtClean="0"/>
              <a:t>ncremento </a:t>
            </a:r>
            <a:r>
              <a:rPr lang="es-BO" b="1" dirty="0"/>
              <a:t>de la población anciana y</a:t>
            </a:r>
          </a:p>
          <a:p>
            <a:pPr>
              <a:buFont typeface="Arial" pitchFamily="34" charset="0"/>
              <a:buChar char="•"/>
            </a:pPr>
            <a:r>
              <a:rPr lang="es-BO" b="1" dirty="0"/>
              <a:t>A</a:t>
            </a:r>
            <a:r>
              <a:rPr lang="es-BO" b="1" dirty="0" smtClean="0"/>
              <a:t>umento </a:t>
            </a:r>
            <a:r>
              <a:rPr lang="es-BO" b="1" dirty="0"/>
              <a:t>de la longevidad</a:t>
            </a:r>
          </a:p>
          <a:p>
            <a:pPr>
              <a:buFont typeface="Arial" pitchFamily="34" charset="0"/>
              <a:buChar char="•"/>
            </a:pPr>
            <a:r>
              <a:rPr lang="es-BO" b="1" dirty="0"/>
              <a:t>M</a:t>
            </a:r>
            <a:r>
              <a:rPr lang="es-BO" b="1" dirty="0" smtClean="0"/>
              <a:t>ayor </a:t>
            </a:r>
            <a:r>
              <a:rPr lang="es-BO" b="1" dirty="0"/>
              <a:t>frecuentación sanitaria</a:t>
            </a:r>
          </a:p>
          <a:p>
            <a:pPr>
              <a:buFont typeface="Arial" pitchFamily="34" charset="0"/>
              <a:buChar char="•"/>
            </a:pPr>
            <a:r>
              <a:rPr lang="es-BO" b="1" dirty="0"/>
              <a:t>M</a:t>
            </a:r>
            <a:r>
              <a:rPr lang="es-BO" b="1" dirty="0" smtClean="0"/>
              <a:t>ayor </a:t>
            </a:r>
            <a:r>
              <a:rPr lang="es-BO" b="1" dirty="0"/>
              <a:t>demanda sanitaria</a:t>
            </a:r>
          </a:p>
          <a:p>
            <a:pPr>
              <a:buFont typeface="Arial" pitchFamily="34" charset="0"/>
              <a:buChar char="•"/>
            </a:pPr>
            <a:r>
              <a:rPr lang="es-BO" b="1" dirty="0" smtClean="0"/>
              <a:t> </a:t>
            </a:r>
            <a:r>
              <a:rPr lang="es-BO" b="1" dirty="0"/>
              <a:t>G</a:t>
            </a:r>
            <a:r>
              <a:rPr lang="es-BO" b="1" dirty="0" smtClean="0"/>
              <a:t>rupo </a:t>
            </a:r>
            <a:r>
              <a:rPr lang="es-BO" b="1" dirty="0"/>
              <a:t>de edad cada vez más exigente</a:t>
            </a:r>
          </a:p>
          <a:p>
            <a:pPr>
              <a:buFont typeface="Arial" pitchFamily="34" charset="0"/>
              <a:buChar char="•"/>
            </a:pPr>
            <a:r>
              <a:rPr lang="es-BO" b="1" dirty="0"/>
              <a:t>M</a:t>
            </a:r>
            <a:r>
              <a:rPr lang="es-BO" b="1" dirty="0" smtClean="0"/>
              <a:t>ayor </a:t>
            </a:r>
            <a:r>
              <a:rPr lang="es-BO" b="1" dirty="0"/>
              <a:t>frecuencia de enfermedades</a:t>
            </a:r>
          </a:p>
          <a:p>
            <a:pPr>
              <a:buFont typeface="Arial" pitchFamily="34" charset="0"/>
              <a:buChar char="•"/>
            </a:pPr>
            <a:r>
              <a:rPr lang="es-BO" b="1" dirty="0" smtClean="0"/>
              <a:t> </a:t>
            </a:r>
            <a:r>
              <a:rPr lang="es-BO" b="1" dirty="0"/>
              <a:t>E</a:t>
            </a:r>
            <a:r>
              <a:rPr lang="es-BO" b="1" dirty="0" smtClean="0"/>
              <a:t>xistencia </a:t>
            </a:r>
            <a:r>
              <a:rPr lang="es-BO" b="1" dirty="0"/>
              <a:t>de </a:t>
            </a:r>
            <a:r>
              <a:rPr lang="es-BO" b="1" dirty="0" err="1"/>
              <a:t>pluripatología</a:t>
            </a:r>
            <a:endParaRPr lang="es-BO" b="1" dirty="0"/>
          </a:p>
          <a:p>
            <a:pPr>
              <a:buFont typeface="Arial" pitchFamily="34" charset="0"/>
              <a:buChar char="•"/>
            </a:pPr>
            <a:r>
              <a:rPr lang="es-BO" b="1" dirty="0"/>
              <a:t>A</a:t>
            </a:r>
            <a:r>
              <a:rPr lang="es-BO" b="1" dirty="0" smtClean="0"/>
              <a:t>cceso </a:t>
            </a:r>
            <a:r>
              <a:rPr lang="es-BO" b="1" dirty="0"/>
              <a:t>sencillo y rápido a </a:t>
            </a:r>
            <a:r>
              <a:rPr lang="es-BO" b="1" dirty="0" smtClean="0"/>
              <a:t>la atención Primaria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268417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412776"/>
            <a:ext cx="6196405" cy="4310293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Las </a:t>
            </a:r>
            <a:r>
              <a:rPr lang="es-BO" b="1" dirty="0"/>
              <a:t>enfermedades presentan mayor tendencia a </a:t>
            </a:r>
            <a:r>
              <a:rPr lang="es-BO" b="1" dirty="0" smtClean="0"/>
              <a:t>la cronicidad</a:t>
            </a:r>
            <a:r>
              <a:rPr lang="es-BO" b="1" dirty="0"/>
              <a:t>, por lo que se prescribe medicación </a:t>
            </a:r>
            <a:r>
              <a:rPr lang="es-BO" b="1" dirty="0" smtClean="0"/>
              <a:t>de forma </a:t>
            </a:r>
            <a:r>
              <a:rPr lang="es-BO" b="1" dirty="0"/>
              <a:t>continuada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A</a:t>
            </a:r>
            <a:r>
              <a:rPr lang="es-BO" b="1" dirty="0" smtClean="0"/>
              <a:t>dministración </a:t>
            </a:r>
            <a:r>
              <a:rPr lang="es-BO" b="1" dirty="0"/>
              <a:t>concomitante de varios </a:t>
            </a:r>
            <a:r>
              <a:rPr lang="es-BO" b="1" dirty="0" smtClean="0"/>
              <a:t>medicamentos para </a:t>
            </a:r>
            <a:r>
              <a:rPr lang="es-BO" b="1" dirty="0"/>
              <a:t>el tratamiento de distintas patologías </a:t>
            </a:r>
            <a:r>
              <a:rPr lang="es-BO" b="1" dirty="0" smtClean="0"/>
              <a:t>crónicas durante </a:t>
            </a:r>
            <a:r>
              <a:rPr lang="es-BO" b="1" dirty="0"/>
              <a:t>un largo periodo de tiempo (polifarmacia)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Escasa </a:t>
            </a:r>
            <a:r>
              <a:rPr lang="es-BO" b="1" dirty="0"/>
              <a:t>coordinación entre </a:t>
            </a:r>
            <a:r>
              <a:rPr lang="es-BO" b="1" dirty="0" smtClean="0"/>
              <a:t>Atención Primaria  y Especializada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336257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412776"/>
            <a:ext cx="6196405" cy="4310293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P</a:t>
            </a:r>
            <a:r>
              <a:rPr lang="es-BO" b="1" dirty="0" smtClean="0"/>
              <a:t>rescripciones </a:t>
            </a:r>
            <a:r>
              <a:rPr lang="es-BO" b="1" dirty="0"/>
              <a:t>realizadas por </a:t>
            </a:r>
            <a:r>
              <a:rPr lang="es-BO" b="1" dirty="0" smtClean="0"/>
              <a:t>distintos especialistas </a:t>
            </a:r>
            <a:r>
              <a:rPr lang="es-BO" b="1" dirty="0"/>
              <a:t>que, por lo general, no tienen </a:t>
            </a:r>
            <a:r>
              <a:rPr lang="es-BO" b="1" dirty="0" smtClean="0"/>
              <a:t>en cuenta </a:t>
            </a:r>
            <a:r>
              <a:rPr lang="es-BO" b="1" dirty="0"/>
              <a:t>el resto de los fármacos que toma </a:t>
            </a:r>
            <a:r>
              <a:rPr lang="es-BO" b="1" dirty="0" smtClean="0"/>
              <a:t>el paciente</a:t>
            </a:r>
            <a:endParaRPr lang="es-BO" b="1" dirty="0"/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A</a:t>
            </a:r>
            <a:r>
              <a:rPr lang="es-BO" b="1" dirty="0" smtClean="0"/>
              <a:t>ncianos </a:t>
            </a:r>
            <a:r>
              <a:rPr lang="es-BO" b="1" dirty="0"/>
              <a:t>que suelen visitar a varios médicos de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familia (“ancianos maleta”) y otros que acuden </a:t>
            </a:r>
            <a:r>
              <a:rPr lang="es-BO" b="1" dirty="0" smtClean="0"/>
              <a:t>a varios </a:t>
            </a:r>
            <a:r>
              <a:rPr lang="es-BO" b="1" dirty="0"/>
              <a:t>a lo largo del tiempo (vacaciones, </a:t>
            </a:r>
            <a:r>
              <a:rPr lang="es-BO" b="1" dirty="0" smtClean="0"/>
              <a:t>residencia temporal</a:t>
            </a:r>
            <a:r>
              <a:rPr lang="es-BO" b="1" dirty="0"/>
              <a:t>..). La consecuencia es una </a:t>
            </a:r>
            <a:r>
              <a:rPr lang="es-BO" b="1" dirty="0" smtClean="0"/>
              <a:t>acumulación de </a:t>
            </a:r>
            <a:r>
              <a:rPr lang="es-BO" b="1" dirty="0"/>
              <a:t>recetas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3589658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340768"/>
            <a:ext cx="6196405" cy="43823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S</a:t>
            </a:r>
            <a:r>
              <a:rPr lang="es-BO" b="1" dirty="0" smtClean="0"/>
              <a:t>on </a:t>
            </a:r>
            <a:r>
              <a:rPr lang="es-BO" b="1" dirty="0"/>
              <a:t>pocos los fármacos que el </a:t>
            </a:r>
            <a:r>
              <a:rPr lang="es-BO" b="1" dirty="0" smtClean="0"/>
              <a:t>anciano abandona </a:t>
            </a:r>
            <a:r>
              <a:rPr lang="es-BO" b="1" dirty="0"/>
              <a:t>definitivamente: los conserva, </a:t>
            </a:r>
            <a:r>
              <a:rPr lang="es-BO" b="1" dirty="0" smtClean="0"/>
              <a:t>los alterna</a:t>
            </a:r>
            <a:r>
              <a:rPr lang="es-BO" b="1" dirty="0"/>
              <a:t>, los combina, añade las novedades </a:t>
            </a:r>
            <a:r>
              <a:rPr lang="es-BO" b="1" dirty="0" smtClean="0"/>
              <a:t>que otros </a:t>
            </a:r>
            <a:r>
              <a:rPr lang="es-BO" b="1" dirty="0"/>
              <a:t>compañeros de sufrimiento, vecinos, amigos </a:t>
            </a:r>
            <a:r>
              <a:rPr lang="es-BO" b="1" dirty="0" smtClean="0"/>
              <a:t>y familiares </a:t>
            </a:r>
            <a:r>
              <a:rPr lang="es-BO" b="1" dirty="0"/>
              <a:t>le recomiendan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S</a:t>
            </a:r>
            <a:r>
              <a:rPr lang="es-BO" b="1" dirty="0" smtClean="0"/>
              <a:t>e </a:t>
            </a:r>
            <a:r>
              <a:rPr lang="es-BO" b="1" dirty="0"/>
              <a:t>busca efecto placebo como solución rápida </a:t>
            </a:r>
            <a:r>
              <a:rPr lang="es-BO" b="1" dirty="0" smtClean="0"/>
              <a:t>a ciertos </a:t>
            </a:r>
            <a:r>
              <a:rPr lang="es-BO" b="1" dirty="0"/>
              <a:t>problemas difíciles, con el resultado </a:t>
            </a:r>
            <a:r>
              <a:rPr lang="es-BO" b="1" dirty="0" smtClean="0"/>
              <a:t>final de </a:t>
            </a:r>
            <a:r>
              <a:rPr lang="es-BO" b="1" dirty="0"/>
              <a:t>embrollo terapéutico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E</a:t>
            </a:r>
            <a:r>
              <a:rPr lang="es-BO" b="1" dirty="0" smtClean="0"/>
              <a:t>l </a:t>
            </a:r>
            <a:r>
              <a:rPr lang="es-BO" b="1" dirty="0"/>
              <a:t>anciano suele tener un objetivo mínimo </a:t>
            </a:r>
            <a:r>
              <a:rPr lang="es-BO" b="1" dirty="0" smtClean="0"/>
              <a:t>en cada </a:t>
            </a:r>
            <a:r>
              <a:rPr lang="es-BO" b="1" dirty="0"/>
              <a:t>una de sus visitas médicas: “ volver a </a:t>
            </a:r>
            <a:r>
              <a:rPr lang="es-BO" b="1" dirty="0" smtClean="0"/>
              <a:t>casa con </a:t>
            </a:r>
            <a:r>
              <a:rPr lang="es-BO" b="1" dirty="0"/>
              <a:t>una receta ”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1774769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1463040" y="1556792"/>
            <a:ext cx="6196405" cy="4166277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A</a:t>
            </a:r>
            <a:r>
              <a:rPr lang="es-BO" b="1" dirty="0" smtClean="0"/>
              <a:t>umentan </a:t>
            </a:r>
            <a:r>
              <a:rPr lang="es-BO" b="1" dirty="0"/>
              <a:t>los fenómenos de sobredosis,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efectos secundarios y </a:t>
            </a:r>
            <a:r>
              <a:rPr lang="es-BO" b="1" dirty="0" smtClean="0"/>
              <a:t>reacciones adversas </a:t>
            </a:r>
            <a:r>
              <a:rPr lang="es-BO" b="1" dirty="0"/>
              <a:t>(RAM</a:t>
            </a:r>
            <a:r>
              <a:rPr lang="es-BO" b="1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S</a:t>
            </a:r>
            <a:r>
              <a:rPr lang="es-BO" b="1" dirty="0" smtClean="0"/>
              <a:t>e </a:t>
            </a:r>
            <a:r>
              <a:rPr lang="es-BO" b="1" dirty="0"/>
              <a:t>da una mayor frecuencia </a:t>
            </a:r>
            <a:r>
              <a:rPr lang="es-BO" b="1" dirty="0" smtClean="0"/>
              <a:t>de interacciones </a:t>
            </a:r>
            <a:r>
              <a:rPr lang="es-BO" b="1" dirty="0"/>
              <a:t>medicamentosas (</a:t>
            </a:r>
            <a:r>
              <a:rPr lang="es-BO" b="1" dirty="0" smtClean="0"/>
              <a:t>IM) el </a:t>
            </a:r>
            <a:r>
              <a:rPr lang="es-BO" b="1" dirty="0"/>
              <a:t>paciente anciano “incumple” </a:t>
            </a:r>
            <a:r>
              <a:rPr lang="es-BO" b="1" dirty="0" smtClean="0"/>
              <a:t>o “</a:t>
            </a:r>
            <a:r>
              <a:rPr lang="es-BO" b="1" dirty="0" err="1" smtClean="0"/>
              <a:t>malcumple</a:t>
            </a:r>
            <a:r>
              <a:rPr lang="es-BO" b="1" dirty="0"/>
              <a:t>” los tratamientos que se </a:t>
            </a:r>
            <a:r>
              <a:rPr lang="es-BO" b="1" dirty="0" smtClean="0"/>
              <a:t>le prescriben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Mayores que viven solos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Capacidad mental disminuida</a:t>
            </a:r>
          </a:p>
          <a:p>
            <a:pPr algn="just">
              <a:buFont typeface="Wingdings" pitchFamily="2" charset="2"/>
              <a:buChar char="§"/>
            </a:pP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196185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340768"/>
            <a:ext cx="6196405" cy="438230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Frecuentes </a:t>
            </a:r>
            <a:r>
              <a:rPr lang="es-BO" b="1" dirty="0"/>
              <a:t>trastornos de hidratación y </a:t>
            </a:r>
            <a:r>
              <a:rPr lang="es-BO" b="1" dirty="0" smtClean="0"/>
              <a:t>nutrición </a:t>
            </a:r>
            <a:r>
              <a:rPr lang="es-BO" b="1" dirty="0"/>
              <a:t>fenómeno del “envejecimiento de la vejez”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E</a:t>
            </a:r>
            <a:r>
              <a:rPr lang="es-BO" b="1" dirty="0" smtClean="0"/>
              <a:t>n </a:t>
            </a:r>
            <a:r>
              <a:rPr lang="es-BO" b="1" dirty="0"/>
              <a:t>ocasiones, las relaciones del paciente </a:t>
            </a:r>
            <a:r>
              <a:rPr lang="es-BO" b="1" dirty="0" smtClean="0"/>
              <a:t>anciano con </a:t>
            </a:r>
            <a:r>
              <a:rPr lang="es-BO" b="1" dirty="0"/>
              <a:t>sus “queridos fármacos” son mucho </a:t>
            </a:r>
            <a:r>
              <a:rPr lang="es-BO" b="1" dirty="0" smtClean="0"/>
              <a:t>más fuertes </a:t>
            </a:r>
            <a:r>
              <a:rPr lang="es-BO" b="1" dirty="0"/>
              <a:t>que las que pueda tener con </a:t>
            </a:r>
            <a:r>
              <a:rPr lang="es-BO" b="1" dirty="0" smtClean="0"/>
              <a:t>cualquier persona</a:t>
            </a:r>
            <a:r>
              <a:rPr lang="es-BO" b="1" dirty="0"/>
              <a:t>, médico y farmacéutico </a:t>
            </a:r>
            <a:r>
              <a:rPr lang="es-BO" b="1" dirty="0" smtClean="0"/>
              <a:t>incluido.</a:t>
            </a:r>
          </a:p>
          <a:p>
            <a:pPr algn="just">
              <a:buFont typeface="Wingdings" pitchFamily="2" charset="2"/>
              <a:buChar char="§"/>
            </a:pPr>
            <a:r>
              <a:rPr lang="es-BO" dirty="0"/>
              <a:t>Ciertos tipos de personalidad </a:t>
            </a:r>
            <a:r>
              <a:rPr lang="es-BO" b="1" dirty="0"/>
              <a:t>deciden “por su cuenta” la suspensión de todo tratamiento.</a:t>
            </a:r>
          </a:p>
          <a:p>
            <a:pPr algn="just">
              <a:buFont typeface="Wingdings" pitchFamily="2" charset="2"/>
              <a:buChar char="§"/>
            </a:pP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45057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556792"/>
            <a:ext cx="6196405" cy="4166277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s-BO" dirty="0"/>
              <a:t>C</a:t>
            </a:r>
            <a:r>
              <a:rPr lang="es-BO" dirty="0" smtClean="0"/>
              <a:t>iertos </a:t>
            </a:r>
            <a:r>
              <a:rPr lang="es-BO" dirty="0"/>
              <a:t>tipos de personalidad </a:t>
            </a:r>
            <a:r>
              <a:rPr lang="es-BO" b="1" dirty="0"/>
              <a:t>deciden “</a:t>
            </a:r>
            <a:r>
              <a:rPr lang="es-BO" b="1" dirty="0" smtClean="0"/>
              <a:t>por su </a:t>
            </a:r>
            <a:r>
              <a:rPr lang="es-BO" b="1" dirty="0"/>
              <a:t>cuenta” la suspensión de </a:t>
            </a:r>
            <a:r>
              <a:rPr lang="es-BO" b="1" dirty="0" smtClean="0"/>
              <a:t>todo tratamiento.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O</a:t>
            </a:r>
            <a:r>
              <a:rPr lang="es-BO" b="1" dirty="0" smtClean="0"/>
              <a:t>tros </a:t>
            </a:r>
            <a:r>
              <a:rPr lang="es-BO" b="1" dirty="0"/>
              <a:t>tipos son “coleccionistas natos</a:t>
            </a:r>
            <a:r>
              <a:rPr lang="es-BO" b="1" dirty="0" smtClean="0"/>
              <a:t>”</a:t>
            </a:r>
            <a:r>
              <a:rPr lang="es-BO" dirty="0" smtClean="0"/>
              <a:t>: jamás </a:t>
            </a:r>
            <a:r>
              <a:rPr lang="es-BO" dirty="0"/>
              <a:t>tiran nada y son candidatos a </a:t>
            </a:r>
            <a:r>
              <a:rPr lang="es-BO" dirty="0" smtClean="0"/>
              <a:t>tomar fármacos </a:t>
            </a:r>
            <a:r>
              <a:rPr lang="es-BO" dirty="0"/>
              <a:t>por duplicado o a </a:t>
            </a:r>
            <a:r>
              <a:rPr lang="es-BO" dirty="0" smtClean="0"/>
              <a:t>combinarlos peligrosamente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23186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484784"/>
            <a:ext cx="6196405" cy="423828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dirty="0"/>
              <a:t>E</a:t>
            </a:r>
            <a:r>
              <a:rPr lang="es-BO" dirty="0" smtClean="0"/>
              <a:t>n </a:t>
            </a:r>
            <a:r>
              <a:rPr lang="es-BO" dirty="0"/>
              <a:t>los hospitales cerca de un </a:t>
            </a:r>
            <a:r>
              <a:rPr lang="es-BO" b="1" dirty="0"/>
              <a:t>50% de las </a:t>
            </a:r>
            <a:r>
              <a:rPr lang="es-BO" b="1" dirty="0" smtClean="0"/>
              <a:t>camas están </a:t>
            </a:r>
            <a:r>
              <a:rPr lang="es-BO" b="1" dirty="0"/>
              <a:t>ocupadas por personas mayores de </a:t>
            </a:r>
            <a:r>
              <a:rPr lang="es-BO" b="1" dirty="0" smtClean="0"/>
              <a:t>65 años</a:t>
            </a:r>
            <a:r>
              <a:rPr lang="es-BO" dirty="0"/>
              <a:t>, </a:t>
            </a:r>
            <a:endParaRPr lang="es-BO" dirty="0" smtClean="0"/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C</a:t>
            </a:r>
            <a:r>
              <a:rPr lang="es-BO" b="1" dirty="0" smtClean="0"/>
              <a:t>onsumen </a:t>
            </a:r>
            <a:r>
              <a:rPr lang="es-BO" b="1" dirty="0"/>
              <a:t>cerca del 70% de los fármacos </a:t>
            </a:r>
            <a:r>
              <a:rPr lang="es-BO" b="1" dirty="0" smtClean="0"/>
              <a:t>en Atención </a:t>
            </a:r>
            <a:r>
              <a:rPr lang="es-BO" b="1" dirty="0"/>
              <a:t>Primaria</a:t>
            </a:r>
          </a:p>
          <a:p>
            <a:pPr algn="just">
              <a:buFont typeface="Wingdings" pitchFamily="2" charset="2"/>
              <a:buChar char="§"/>
            </a:pPr>
            <a:r>
              <a:rPr lang="es-BO" dirty="0"/>
              <a:t>E</a:t>
            </a:r>
            <a:r>
              <a:rPr lang="es-BO" dirty="0" smtClean="0"/>
              <a:t>l </a:t>
            </a:r>
            <a:r>
              <a:rPr lang="es-BO" dirty="0"/>
              <a:t>promedio de fármacos consumidos al día </a:t>
            </a:r>
            <a:r>
              <a:rPr lang="es-BO" b="1" dirty="0"/>
              <a:t>a </a:t>
            </a:r>
            <a:r>
              <a:rPr lang="es-BO" b="1" dirty="0" smtClean="0"/>
              <a:t>nivel ambulatorio </a:t>
            </a:r>
            <a:r>
              <a:rPr lang="es-BO" b="1" dirty="0"/>
              <a:t>es de 2- 4</a:t>
            </a:r>
            <a:r>
              <a:rPr lang="es-BO" dirty="0"/>
              <a:t>, </a:t>
            </a:r>
            <a:r>
              <a:rPr lang="es-BO" b="1" dirty="0"/>
              <a:t>en las residencias </a:t>
            </a:r>
            <a:r>
              <a:rPr lang="es-BO" b="1" dirty="0" smtClean="0"/>
              <a:t>puede aumentar </a:t>
            </a:r>
            <a:r>
              <a:rPr lang="es-BO" b="1" dirty="0"/>
              <a:t>hasta 6-8</a:t>
            </a:r>
            <a:r>
              <a:rPr lang="es-BO" dirty="0"/>
              <a:t>, y es aún mayor en el </a:t>
            </a:r>
            <a:r>
              <a:rPr lang="es-BO" dirty="0" smtClean="0"/>
              <a:t>medio hospitalario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576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POR LO TANTO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Es preciso conocer </a:t>
            </a:r>
            <a:r>
              <a:rPr lang="es-BO" b="1" dirty="0" smtClean="0"/>
              <a:t>aspectos fundamentales </a:t>
            </a:r>
            <a:r>
              <a:rPr lang="es-BO" b="1" dirty="0"/>
              <a:t>sobre los fármacos que </a:t>
            </a:r>
            <a:r>
              <a:rPr lang="es-BO" b="1" dirty="0" smtClean="0"/>
              <a:t>se utilizan </a:t>
            </a:r>
            <a:r>
              <a:rPr lang="es-BO" b="1" dirty="0"/>
              <a:t>habitualmente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Es </a:t>
            </a:r>
            <a:r>
              <a:rPr lang="es-BO" b="1" dirty="0"/>
              <a:t>imprescindible conocer </a:t>
            </a:r>
            <a:r>
              <a:rPr lang="es-BO" b="1" dirty="0" smtClean="0"/>
              <a:t>la farmacodinamia </a:t>
            </a:r>
            <a:r>
              <a:rPr lang="es-BO" dirty="0"/>
              <a:t>y su </a:t>
            </a:r>
            <a:r>
              <a:rPr lang="es-BO" b="1" dirty="0"/>
              <a:t>farmacocinética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2924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2800" b="1" dirty="0">
                <a:latin typeface="+mn-lt"/>
              </a:rPr>
              <a:t>FACTORES QUE INFLUYEN EN LA MEDICACION DEL ADULTO MAYOR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s-BO" b="1" dirty="0"/>
              <a:t>1.- MODIFICACIONES BIOLÓGICAS.-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s-BO" b="1" dirty="0"/>
              <a:t>2.- PLURIPATOLOGIA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s-BO" b="1" dirty="0"/>
              <a:t>3.- FACTORES SOCIOCULTURALES.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77655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59632" y="692696"/>
            <a:ext cx="6965245" cy="1202485"/>
          </a:xfrm>
        </p:spPr>
        <p:txBody>
          <a:bodyPr>
            <a:normAutofit/>
          </a:bodyPr>
          <a:lstStyle/>
          <a:p>
            <a:pPr algn="l"/>
            <a:r>
              <a:rPr lang="es-BO" sz="2800" b="1" dirty="0"/>
              <a:t>1.- MODIFICACIONES BIOLÓGICAS</a:t>
            </a:r>
            <a:r>
              <a:rPr lang="es-BO" sz="2800" b="1" dirty="0" smtClean="0"/>
              <a:t>. </a:t>
            </a:r>
            <a:r>
              <a:rPr lang="es-BO" sz="2800" b="1" dirty="0"/>
              <a:t/>
            </a:r>
            <a:br>
              <a:rPr lang="es-BO" sz="2800" b="1" dirty="0"/>
            </a:br>
            <a:endParaRPr lang="es-BO" sz="28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556792"/>
            <a:ext cx="6196405" cy="4166277"/>
          </a:xfrm>
        </p:spPr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El curso temporal de las </a:t>
            </a:r>
            <a:r>
              <a:rPr lang="es-BO" b="1" dirty="0" smtClean="0"/>
              <a:t>concentraciones plasmáticas </a:t>
            </a:r>
            <a:r>
              <a:rPr lang="es-BO" b="1" dirty="0"/>
              <a:t>de un fármaco dependerá </a:t>
            </a:r>
            <a:r>
              <a:rPr lang="es-BO" b="1" dirty="0" smtClean="0"/>
              <a:t>de los </a:t>
            </a:r>
            <a:r>
              <a:rPr lang="es-BO" b="1" dirty="0"/>
              <a:t>procesos de absorción, </a:t>
            </a:r>
            <a:r>
              <a:rPr lang="es-BO" b="1" dirty="0" smtClean="0"/>
              <a:t>distribución, metabolización </a:t>
            </a:r>
            <a:r>
              <a:rPr lang="es-BO" b="1" dirty="0"/>
              <a:t>y </a:t>
            </a:r>
            <a:r>
              <a:rPr lang="es-BO" b="1" dirty="0" smtClean="0"/>
              <a:t>eliminación.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Los </a:t>
            </a:r>
            <a:r>
              <a:rPr lang="es-BO" b="1" dirty="0"/>
              <a:t>cambios fisiológicos del envejecimiento </a:t>
            </a:r>
            <a:r>
              <a:rPr lang="es-BO" b="1" dirty="0" smtClean="0"/>
              <a:t>afectan a </a:t>
            </a:r>
            <a:r>
              <a:rPr lang="es-BO" b="1" dirty="0"/>
              <a:t>la absorción, distribución, metabolismo </a:t>
            </a:r>
            <a:r>
              <a:rPr lang="es-BO" b="1" dirty="0" smtClean="0"/>
              <a:t>y excreción </a:t>
            </a:r>
            <a:r>
              <a:rPr lang="es-BO" b="1" dirty="0"/>
              <a:t>del </a:t>
            </a:r>
            <a:r>
              <a:rPr lang="es-BO" b="1" dirty="0" smtClean="0"/>
              <a:t>fármaco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Estos </a:t>
            </a:r>
            <a:r>
              <a:rPr lang="es-BO" b="1" dirty="0"/>
              <a:t>cambios influyen en la concentración que </a:t>
            </a:r>
            <a:r>
              <a:rPr lang="es-BO" b="1" dirty="0" smtClean="0"/>
              <a:t>el fármaco </a:t>
            </a:r>
            <a:r>
              <a:rPr lang="es-BO" b="1" dirty="0"/>
              <a:t>alcanza en el lugar de acción, en </a:t>
            </a:r>
            <a:r>
              <a:rPr lang="es-BO" b="1" dirty="0" smtClean="0"/>
              <a:t>la amplitud </a:t>
            </a:r>
            <a:r>
              <a:rPr lang="es-BO" b="1" dirty="0"/>
              <a:t>y frecuencia de su </a:t>
            </a:r>
            <a:r>
              <a:rPr lang="es-BO" b="1" dirty="0" smtClean="0"/>
              <a:t>respuesta </a:t>
            </a:r>
            <a:r>
              <a:rPr lang="es-BO" b="1" dirty="0" err="1" smtClean="0"/>
              <a:t>farmacodinámica</a:t>
            </a:r>
            <a:r>
              <a:rPr lang="es-BO" b="1" dirty="0" smtClean="0"/>
              <a:t> </a:t>
            </a:r>
            <a:r>
              <a:rPr lang="es-BO" b="1" dirty="0"/>
              <a:t>y en sus efectos adversos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307671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2800" b="1" dirty="0" smtClean="0">
                <a:latin typeface="+mn-lt"/>
              </a:rPr>
              <a:t>CAMBIOS FISIOLÓGICOS DE LA VEJEZ CON</a:t>
            </a:r>
            <a:br>
              <a:rPr lang="es-BO" sz="2800" b="1" dirty="0" smtClean="0">
                <a:latin typeface="+mn-lt"/>
              </a:rPr>
            </a:br>
            <a:r>
              <a:rPr lang="es-BO" sz="2800" b="1" dirty="0" smtClean="0">
                <a:latin typeface="+mn-lt"/>
              </a:rPr>
              <a:t>REPERCUSIÓN EN LA FARMACOCINÉTICA</a:t>
            </a:r>
            <a:endParaRPr lang="es-BO" sz="2800" dirty="0">
              <a:latin typeface="+mn-lt"/>
            </a:endParaRPr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s-BO" b="1" dirty="0"/>
              <a:t>R</a:t>
            </a:r>
            <a:r>
              <a:rPr lang="es-BO" b="1" dirty="0" smtClean="0"/>
              <a:t>educción </a:t>
            </a:r>
            <a:r>
              <a:rPr lang="es-BO" b="1" dirty="0"/>
              <a:t>de la </a:t>
            </a:r>
            <a:r>
              <a:rPr lang="es-BO" b="1" dirty="0" smtClean="0"/>
              <a:t>producción de </a:t>
            </a:r>
            <a:r>
              <a:rPr lang="es-BO" b="1" dirty="0"/>
              <a:t>ácido </a:t>
            </a:r>
            <a:r>
              <a:rPr lang="es-BO" b="1" dirty="0" smtClean="0"/>
              <a:t>gástrico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R</a:t>
            </a:r>
            <a:r>
              <a:rPr lang="es-BO" b="1" dirty="0" smtClean="0"/>
              <a:t>educción </a:t>
            </a:r>
            <a:r>
              <a:rPr lang="es-BO" b="1" dirty="0"/>
              <a:t>de la tasa </a:t>
            </a:r>
            <a:r>
              <a:rPr lang="es-BO" b="1" dirty="0" smtClean="0"/>
              <a:t>de vaciado </a:t>
            </a:r>
            <a:r>
              <a:rPr lang="es-BO" b="1" dirty="0"/>
              <a:t>gástrico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R</a:t>
            </a:r>
            <a:r>
              <a:rPr lang="es-BO" b="1" dirty="0" smtClean="0"/>
              <a:t>educción </a:t>
            </a:r>
            <a:r>
              <a:rPr lang="es-BO" b="1" dirty="0"/>
              <a:t>de la </a:t>
            </a:r>
            <a:r>
              <a:rPr lang="es-BO" b="1" dirty="0" smtClean="0"/>
              <a:t>movilidad gastrointestinal</a:t>
            </a:r>
            <a:endParaRPr lang="es-BO" b="1" dirty="0"/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R</a:t>
            </a:r>
            <a:r>
              <a:rPr lang="es-BO" b="1" dirty="0" smtClean="0"/>
              <a:t>educción </a:t>
            </a:r>
            <a:r>
              <a:rPr lang="es-BO" b="1" dirty="0"/>
              <a:t>de </a:t>
            </a:r>
            <a:r>
              <a:rPr lang="es-BO" b="1" dirty="0" smtClean="0"/>
              <a:t>flujo sanguíneo </a:t>
            </a:r>
            <a:r>
              <a:rPr lang="es-BO" b="1" dirty="0"/>
              <a:t>gastrointestinal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R</a:t>
            </a:r>
            <a:r>
              <a:rPr lang="es-BO" b="1" dirty="0" smtClean="0"/>
              <a:t>educción </a:t>
            </a:r>
            <a:r>
              <a:rPr lang="es-BO" b="1" dirty="0"/>
              <a:t>de la </a:t>
            </a:r>
            <a:r>
              <a:rPr lang="es-BO" b="1" dirty="0" smtClean="0"/>
              <a:t>absorción superficial</a:t>
            </a:r>
            <a:endParaRPr lang="es-BO" b="1" dirty="0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s-BO" b="1" dirty="0"/>
              <a:t>Proceso afectado:</a:t>
            </a:r>
          </a:p>
          <a:p>
            <a:pPr marL="0" indent="0">
              <a:buNone/>
            </a:pPr>
            <a:endParaRPr lang="es-BO" b="1" dirty="0" smtClean="0"/>
          </a:p>
          <a:p>
            <a:pPr marL="0" indent="0">
              <a:buNone/>
            </a:pPr>
            <a:endParaRPr lang="es-BO" b="1" dirty="0"/>
          </a:p>
          <a:p>
            <a:pPr marL="0" indent="0">
              <a:buNone/>
            </a:pPr>
            <a:r>
              <a:rPr lang="es-BO" b="1" dirty="0" smtClean="0"/>
              <a:t>ABSORCION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69936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BO" sz="2000" b="1" dirty="0"/>
              <a:t>CAMBIOS FISIOLÓGICOS DE LA </a:t>
            </a:r>
            <a:r>
              <a:rPr lang="es-BO" sz="2000" b="1" dirty="0" smtClean="0"/>
              <a:t>VEJEZ CON</a:t>
            </a:r>
            <a:r>
              <a:rPr lang="es-BO" sz="2000" b="1" dirty="0"/>
              <a:t/>
            </a:r>
            <a:br>
              <a:rPr lang="es-BO" sz="2000" b="1" dirty="0"/>
            </a:br>
            <a:r>
              <a:rPr lang="es-BO" sz="2000" b="1" dirty="0"/>
              <a:t>REPERCUSIÓN EN LA FARMACOCINÉTICA</a:t>
            </a:r>
            <a:endParaRPr lang="es-BO" sz="2000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D</a:t>
            </a:r>
            <a:r>
              <a:rPr lang="es-BO" b="1" dirty="0" smtClean="0"/>
              <a:t>isminución </a:t>
            </a:r>
            <a:r>
              <a:rPr lang="es-BO" b="1" dirty="0"/>
              <a:t>de la </a:t>
            </a:r>
            <a:r>
              <a:rPr lang="es-BO" b="1" dirty="0" smtClean="0"/>
              <a:t>masa total </a:t>
            </a:r>
            <a:r>
              <a:rPr lang="es-BO" b="1" dirty="0"/>
              <a:t>del </a:t>
            </a:r>
            <a:r>
              <a:rPr lang="es-BO" b="1" dirty="0" smtClean="0"/>
              <a:t>organismo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I</a:t>
            </a:r>
            <a:r>
              <a:rPr lang="es-BO" b="1" dirty="0" smtClean="0"/>
              <a:t>ncremento </a:t>
            </a:r>
            <a:r>
              <a:rPr lang="es-BO" b="1" dirty="0"/>
              <a:t>del </a:t>
            </a:r>
            <a:r>
              <a:rPr lang="es-BO" b="1" dirty="0" smtClean="0"/>
              <a:t>porcentaje de grasa corporal.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D</a:t>
            </a:r>
            <a:r>
              <a:rPr lang="es-BO" b="1" dirty="0" smtClean="0"/>
              <a:t>isminución </a:t>
            </a:r>
            <a:r>
              <a:rPr lang="es-BO" b="1" dirty="0"/>
              <a:t>del </a:t>
            </a:r>
            <a:r>
              <a:rPr lang="es-BO" b="1" dirty="0" smtClean="0"/>
              <a:t>porcentaje de </a:t>
            </a:r>
            <a:r>
              <a:rPr lang="es-BO" b="1" dirty="0"/>
              <a:t>agua </a:t>
            </a:r>
            <a:r>
              <a:rPr lang="es-BO" b="1" dirty="0" smtClean="0"/>
              <a:t>corporal.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D</a:t>
            </a:r>
            <a:r>
              <a:rPr lang="es-BO" b="1" dirty="0" smtClean="0"/>
              <a:t>isminución </a:t>
            </a:r>
            <a:r>
              <a:rPr lang="es-BO" b="1" dirty="0"/>
              <a:t>de </a:t>
            </a:r>
            <a:r>
              <a:rPr lang="es-BO" b="1" dirty="0" smtClean="0"/>
              <a:t>albúmina plasmática</a:t>
            </a:r>
            <a:endParaRPr lang="es-BO" b="1" dirty="0"/>
          </a:p>
        </p:txBody>
      </p:sp>
      <p:sp>
        <p:nvSpPr>
          <p:cNvPr id="7" name="6 Marcador de contenido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s-BO" b="1" dirty="0"/>
              <a:t>Proceso afectado</a:t>
            </a:r>
            <a:r>
              <a:rPr lang="es-BO" b="1" dirty="0" smtClean="0"/>
              <a:t>:</a:t>
            </a:r>
          </a:p>
          <a:p>
            <a:pPr marL="0" indent="0">
              <a:buNone/>
            </a:pPr>
            <a:endParaRPr lang="es-BO" b="1" dirty="0"/>
          </a:p>
          <a:p>
            <a:pPr marL="0" indent="0">
              <a:buNone/>
            </a:pPr>
            <a:endParaRPr lang="es-BO" b="1" dirty="0"/>
          </a:p>
          <a:p>
            <a:pPr>
              <a:buFont typeface="Wingdings" pitchFamily="2" charset="2"/>
              <a:buChar char="§"/>
            </a:pPr>
            <a:r>
              <a:rPr lang="es-BO" b="1" dirty="0"/>
              <a:t>DISTRIBUCION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66613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/>
              <a:t>Distribución</a:t>
            </a:r>
            <a:r>
              <a:rPr lang="es-BO" dirty="0"/>
              <a:t>:</a:t>
            </a:r>
            <a:endParaRPr lang="es-BO" dirty="0"/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s-BO" b="1" dirty="0"/>
              <a:t>Es el paso del fármaco a </a:t>
            </a:r>
            <a:r>
              <a:rPr lang="es-BO" b="1" dirty="0" smtClean="0"/>
              <a:t>los diferentes </a:t>
            </a:r>
            <a:r>
              <a:rPr lang="es-BO" b="1" dirty="0"/>
              <a:t>compartimentos </a:t>
            </a:r>
            <a:r>
              <a:rPr lang="es-BO" b="1" dirty="0" smtClean="0"/>
              <a:t>celulares (intracelular </a:t>
            </a:r>
            <a:r>
              <a:rPr lang="es-BO" b="1" dirty="0"/>
              <a:t>y </a:t>
            </a:r>
            <a:r>
              <a:rPr lang="es-BO" b="1" dirty="0" smtClean="0"/>
              <a:t>extracelular.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s-BO" b="1" dirty="0"/>
              <a:t>La vejez altera la distribución</a:t>
            </a:r>
          </a:p>
        </p:txBody>
      </p:sp>
    </p:spTree>
    <p:extLst>
      <p:ext uri="{BB962C8B-B14F-4D97-AF65-F5344CB8AC3E}">
        <p14:creationId xmlns:p14="http://schemas.microsoft.com/office/powerpoint/2010/main" val="276069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1463040" y="1484784"/>
            <a:ext cx="6196405" cy="4238285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s-BO" b="1" dirty="0"/>
              <a:t>La cantidad total de agua corporal disminuye </a:t>
            </a:r>
            <a:r>
              <a:rPr lang="es-BO" b="1" dirty="0" smtClean="0"/>
              <a:t>en los </a:t>
            </a:r>
            <a:r>
              <a:rPr lang="es-BO" b="1" dirty="0"/>
              <a:t>ancianos: 61% del peso corporal en </a:t>
            </a:r>
            <a:r>
              <a:rPr lang="es-BO" b="1" dirty="0" smtClean="0"/>
              <a:t>jóvenes, 53</a:t>
            </a:r>
            <a:r>
              <a:rPr lang="es-BO" b="1" dirty="0"/>
              <a:t>% en ancianos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La </a:t>
            </a:r>
            <a:r>
              <a:rPr lang="es-BO" b="1" dirty="0"/>
              <a:t>masa corporal magra también disminuye </a:t>
            </a:r>
            <a:r>
              <a:rPr lang="es-BO" b="1" dirty="0" smtClean="0"/>
              <a:t>19% del </a:t>
            </a:r>
            <a:r>
              <a:rPr lang="es-BO" b="1" dirty="0"/>
              <a:t>peso corporal en jóvenes y 12% en ancianos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La grasa o lípidos corporales se incrementa: </a:t>
            </a:r>
            <a:r>
              <a:rPr lang="es-BO" b="1" dirty="0" smtClean="0"/>
              <a:t>26- 33</a:t>
            </a:r>
            <a:r>
              <a:rPr lang="es-BO" b="1" dirty="0"/>
              <a:t>% en mujeres, 18-20% en hombres del </a:t>
            </a:r>
            <a:r>
              <a:rPr lang="es-BO" b="1" dirty="0" smtClean="0"/>
              <a:t>peso corporal </a:t>
            </a:r>
            <a:r>
              <a:rPr lang="es-BO" b="1" dirty="0"/>
              <a:t>en jóvenes; 38-45% mujeres, 36-38% </a:t>
            </a:r>
            <a:r>
              <a:rPr lang="es-BO" b="1" dirty="0" smtClean="0"/>
              <a:t>en hombres </a:t>
            </a:r>
            <a:r>
              <a:rPr lang="es-BO" b="1" dirty="0"/>
              <a:t>ancianos.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130168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628800"/>
            <a:ext cx="6196405" cy="4094269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sz="2800" b="1" dirty="0"/>
              <a:t>El fármaco en el torrente sanguíneo </a:t>
            </a:r>
            <a:r>
              <a:rPr lang="es-BO" sz="2800" b="1" dirty="0" smtClean="0"/>
              <a:t>busca proteínas </a:t>
            </a:r>
            <a:r>
              <a:rPr lang="es-BO" sz="2800" b="1" dirty="0"/>
              <a:t>y se une a ellas para </a:t>
            </a:r>
            <a:r>
              <a:rPr lang="es-BO" sz="2800" b="1" dirty="0" smtClean="0"/>
              <a:t>distribuirse y </a:t>
            </a:r>
            <a:r>
              <a:rPr lang="es-BO" sz="2800" b="1" dirty="0"/>
              <a:t>así pasar de un compartimento a otro.</a:t>
            </a:r>
          </a:p>
          <a:p>
            <a:pPr algn="just">
              <a:buFont typeface="Wingdings" pitchFamily="2" charset="2"/>
              <a:buChar char="§"/>
            </a:pPr>
            <a:r>
              <a:rPr lang="es-BO" sz="2800" b="1" dirty="0" smtClean="0"/>
              <a:t> </a:t>
            </a:r>
            <a:r>
              <a:rPr lang="es-BO" sz="2800" b="1" dirty="0"/>
              <a:t>La </a:t>
            </a:r>
            <a:r>
              <a:rPr lang="es-BO" sz="2800" b="1" dirty="0" smtClean="0"/>
              <a:t>proteína </a:t>
            </a:r>
            <a:r>
              <a:rPr lang="es-BO" sz="2800" b="1" dirty="0"/>
              <a:t>más utilizada es la </a:t>
            </a:r>
            <a:r>
              <a:rPr lang="es-BO" sz="2800" b="1" dirty="0" smtClean="0"/>
              <a:t>albúmina. </a:t>
            </a:r>
          </a:p>
          <a:p>
            <a:pPr algn="just">
              <a:buFont typeface="Wingdings" pitchFamily="2" charset="2"/>
              <a:buChar char="§"/>
            </a:pPr>
            <a:r>
              <a:rPr lang="es-BO" sz="2800" b="1" dirty="0" smtClean="0"/>
              <a:t>Hay </a:t>
            </a:r>
            <a:r>
              <a:rPr lang="es-BO" sz="2800" b="1" dirty="0"/>
              <a:t>un equilibrio estable entre el </a:t>
            </a:r>
            <a:r>
              <a:rPr lang="es-BO" sz="2800" b="1" dirty="0" smtClean="0"/>
              <a:t>fármaco en </a:t>
            </a:r>
            <a:r>
              <a:rPr lang="es-BO" sz="2800" b="1" dirty="0"/>
              <a:t>estado libre y el unido a una proteína</a:t>
            </a:r>
            <a:endParaRPr lang="es-BO" sz="2800" b="1" dirty="0"/>
          </a:p>
        </p:txBody>
      </p:sp>
    </p:spTree>
    <p:extLst>
      <p:ext uri="{BB962C8B-B14F-4D97-AF65-F5344CB8AC3E}">
        <p14:creationId xmlns:p14="http://schemas.microsoft.com/office/powerpoint/2010/main" val="923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124744"/>
            <a:ext cx="6196405" cy="4598325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B</a:t>
            </a:r>
            <a:r>
              <a:rPr lang="es-BO" b="1" dirty="0" smtClean="0"/>
              <a:t>iodisponibilidad </a:t>
            </a:r>
            <a:r>
              <a:rPr lang="es-BO" b="1" dirty="0"/>
              <a:t>es la cantidad </a:t>
            </a:r>
            <a:r>
              <a:rPr lang="es-BO" b="1" dirty="0" smtClean="0"/>
              <a:t>de fármaco </a:t>
            </a:r>
            <a:r>
              <a:rPr lang="es-BO" b="1" dirty="0"/>
              <a:t>libre en un momento dado.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El </a:t>
            </a:r>
            <a:r>
              <a:rPr lang="es-BO" b="1" dirty="0"/>
              <a:t>fármaco libre es el único capaz </a:t>
            </a:r>
            <a:r>
              <a:rPr lang="es-BO" b="1" dirty="0" smtClean="0"/>
              <a:t>de ejercer </a:t>
            </a:r>
            <a:r>
              <a:rPr lang="es-BO" b="1" dirty="0"/>
              <a:t>su acción, porque es el único </a:t>
            </a:r>
            <a:r>
              <a:rPr lang="es-BO" b="1" dirty="0" smtClean="0"/>
              <a:t>que puede </a:t>
            </a:r>
            <a:r>
              <a:rPr lang="es-BO" b="1" dirty="0"/>
              <a:t>llegar al órgano </a:t>
            </a:r>
            <a:r>
              <a:rPr lang="es-BO" b="1" dirty="0" smtClean="0"/>
              <a:t>diana.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El </a:t>
            </a:r>
            <a:r>
              <a:rPr lang="es-BO" b="1" dirty="0"/>
              <a:t>fármaco unido a proteínas sirve </a:t>
            </a:r>
            <a:r>
              <a:rPr lang="es-BO" b="1" dirty="0" smtClean="0"/>
              <a:t>de almacén.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La albúmina actúa como transportador de fármacos ácidos débiles, y disminuye su concentración con la edad (desde 4,7 g/100 ml en jóvenes a 3,8 g/100ml en ancianos</a:t>
            </a:r>
          </a:p>
          <a:p>
            <a:pPr algn="just">
              <a:buFont typeface="Wingdings" pitchFamily="2" charset="2"/>
              <a:buChar char="§"/>
            </a:pP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409078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3 Marcador de contenido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9330" y="2119313"/>
            <a:ext cx="4804703" cy="3603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459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sz="2800" b="1" dirty="0" smtClean="0"/>
              <a:t>CAMBIOS FISIOLÓGICOS EN LA VEJEZ CON</a:t>
            </a:r>
            <a:br>
              <a:rPr lang="es-BO" sz="2800" b="1" dirty="0" smtClean="0"/>
            </a:br>
            <a:r>
              <a:rPr lang="es-BO" sz="2800" b="1" dirty="0" smtClean="0"/>
              <a:t>REPERCUSIÓN EN LA FARMACOCINÉTICA</a:t>
            </a:r>
            <a:endParaRPr lang="es-BO" sz="2800" dirty="0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s-BO" dirty="0"/>
              <a:t>R</a:t>
            </a:r>
            <a:r>
              <a:rPr lang="es-BO" dirty="0" smtClean="0"/>
              <a:t>educción </a:t>
            </a:r>
            <a:r>
              <a:rPr lang="es-BO" dirty="0"/>
              <a:t>de la </a:t>
            </a:r>
            <a:r>
              <a:rPr lang="es-BO" dirty="0" smtClean="0"/>
              <a:t>masa hepática</a:t>
            </a:r>
            <a:endParaRPr lang="es-BO" dirty="0"/>
          </a:p>
          <a:p>
            <a:pPr>
              <a:buFont typeface="Wingdings" pitchFamily="2" charset="2"/>
              <a:buChar char="§"/>
            </a:pPr>
            <a:r>
              <a:rPr lang="es-BO" dirty="0"/>
              <a:t>R</a:t>
            </a:r>
            <a:r>
              <a:rPr lang="es-BO" dirty="0" smtClean="0"/>
              <a:t>educción </a:t>
            </a:r>
            <a:r>
              <a:rPr lang="es-BO" dirty="0"/>
              <a:t>del </a:t>
            </a:r>
            <a:r>
              <a:rPr lang="es-BO" dirty="0" smtClean="0"/>
              <a:t>flujo sanguíneo hepático</a:t>
            </a:r>
          </a:p>
          <a:p>
            <a:pPr>
              <a:buFont typeface="Wingdings" pitchFamily="2" charset="2"/>
              <a:buChar char="§"/>
            </a:pPr>
            <a:r>
              <a:rPr lang="es-BO" dirty="0"/>
              <a:t>R</a:t>
            </a:r>
            <a:r>
              <a:rPr lang="es-BO" dirty="0" smtClean="0"/>
              <a:t>educción </a:t>
            </a:r>
            <a:r>
              <a:rPr lang="es-BO" dirty="0"/>
              <a:t>de </a:t>
            </a:r>
            <a:r>
              <a:rPr lang="es-BO" dirty="0" smtClean="0"/>
              <a:t>la capacidad metabólica hepática</a:t>
            </a:r>
            <a:endParaRPr lang="es-BO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s-BO" b="1" dirty="0"/>
              <a:t>Proceso afectado</a:t>
            </a:r>
            <a:r>
              <a:rPr lang="es-BO" b="1" dirty="0" smtClean="0"/>
              <a:t>:</a:t>
            </a:r>
          </a:p>
          <a:p>
            <a:pPr marL="0" indent="0">
              <a:buNone/>
            </a:pPr>
            <a:endParaRPr lang="es-BO" b="1" dirty="0"/>
          </a:p>
          <a:p>
            <a:pPr>
              <a:buFont typeface="Wingdings" pitchFamily="2" charset="2"/>
              <a:buChar char="§"/>
            </a:pPr>
            <a:r>
              <a:rPr lang="es-BO" b="1" dirty="0"/>
              <a:t>METABOLISMO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17649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3200" b="1" dirty="0" smtClean="0"/>
              <a:t>METABOLISMO DEL FÁRMACO</a:t>
            </a:r>
            <a:endParaRPr lang="es-BO" sz="3200" dirty="0"/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>
          <a:xfrm>
            <a:off x="1463040" y="1988840"/>
            <a:ext cx="6196405" cy="3734229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C</a:t>
            </a:r>
            <a:r>
              <a:rPr lang="es-BO" b="1" dirty="0" smtClean="0"/>
              <a:t>onsiste </a:t>
            </a:r>
            <a:r>
              <a:rPr lang="es-BO" b="1" dirty="0"/>
              <a:t>en disminuir la </a:t>
            </a:r>
            <a:r>
              <a:rPr lang="es-BO" b="1" dirty="0" err="1"/>
              <a:t>liposolubilidad</a:t>
            </a:r>
            <a:r>
              <a:rPr lang="es-BO" b="1" dirty="0"/>
              <a:t> del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fármaco para facilitar su eliminación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L</a:t>
            </a:r>
            <a:r>
              <a:rPr lang="es-BO" b="1" dirty="0" smtClean="0"/>
              <a:t>os </a:t>
            </a:r>
            <a:r>
              <a:rPr lang="es-BO" b="1" dirty="0"/>
              <a:t>órganos encargados de metabolizar </a:t>
            </a:r>
            <a:r>
              <a:rPr lang="es-BO" b="1" dirty="0" smtClean="0"/>
              <a:t>son fundamentalmente </a:t>
            </a:r>
            <a:r>
              <a:rPr lang="es-BO" b="1" dirty="0"/>
              <a:t>el hígado (laboratorio del </a:t>
            </a:r>
            <a:r>
              <a:rPr lang="es-BO" b="1" dirty="0" smtClean="0"/>
              <a:t>cuerpo por </a:t>
            </a:r>
            <a:r>
              <a:rPr lang="es-BO" b="1" dirty="0"/>
              <a:t>excelencia), riñón, pulmones, plasma, </a:t>
            </a:r>
            <a:r>
              <a:rPr lang="es-BO" b="1" dirty="0" smtClean="0"/>
              <a:t>intestino.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L</a:t>
            </a:r>
            <a:r>
              <a:rPr lang="es-BO" b="1" dirty="0" smtClean="0"/>
              <a:t>os </a:t>
            </a:r>
            <a:r>
              <a:rPr lang="es-BO" b="1" dirty="0"/>
              <a:t>procesos metabólicos se </a:t>
            </a:r>
            <a:r>
              <a:rPr lang="es-BO" b="1" dirty="0" smtClean="0"/>
              <a:t>realizan mediante reacciones químicas.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259850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2800" b="1" dirty="0" smtClean="0">
                <a:latin typeface="+mn-lt"/>
              </a:rPr>
              <a:t>REACCIONES QUÍMICAS IMPLICADAS</a:t>
            </a:r>
            <a:endParaRPr lang="es-BO" sz="2800" b="1" dirty="0">
              <a:latin typeface="+mn-lt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R</a:t>
            </a:r>
            <a:r>
              <a:rPr lang="es-BO" b="1" dirty="0" smtClean="0"/>
              <a:t>eacciones </a:t>
            </a:r>
            <a:r>
              <a:rPr lang="es-BO" b="1" dirty="0"/>
              <a:t>de fase I (oxidación, reducción </a:t>
            </a:r>
            <a:r>
              <a:rPr lang="es-BO" b="1" dirty="0" smtClean="0"/>
              <a:t>e hidrólisis</a:t>
            </a:r>
            <a:r>
              <a:rPr lang="es-BO" b="1" dirty="0"/>
              <a:t>) --- citocromo P 450 ----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R</a:t>
            </a:r>
            <a:r>
              <a:rPr lang="es-BO" b="1" dirty="0" smtClean="0"/>
              <a:t>eacciones </a:t>
            </a:r>
            <a:r>
              <a:rPr lang="es-BO" b="1" dirty="0"/>
              <a:t>de fase II (conjugación</a:t>
            </a:r>
            <a:r>
              <a:rPr lang="es-BO" b="1" dirty="0" smtClean="0"/>
              <a:t>), convierten </a:t>
            </a:r>
            <a:r>
              <a:rPr lang="es-BO" b="1" dirty="0"/>
              <a:t>los metabolitos </a:t>
            </a:r>
            <a:r>
              <a:rPr lang="es-BO" b="1" dirty="0" smtClean="0"/>
              <a:t>intermedios procedentes </a:t>
            </a:r>
            <a:r>
              <a:rPr lang="es-BO" b="1" dirty="0"/>
              <a:t>de la fase I en </a:t>
            </a:r>
            <a:r>
              <a:rPr lang="es-BO" b="1" dirty="0" smtClean="0"/>
              <a:t>productos polares</a:t>
            </a:r>
            <a:r>
              <a:rPr lang="es-BO" b="1" dirty="0"/>
              <a:t>, fácilmente eliminables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46150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2800" b="1" dirty="0" smtClean="0"/>
              <a:t>VEJEZ Y ALTERACIÓN DEL METABOLISMO</a:t>
            </a:r>
            <a:endParaRPr lang="es-BO" sz="2800" dirty="0"/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L</a:t>
            </a:r>
            <a:r>
              <a:rPr lang="es-BO" b="1" dirty="0" smtClean="0"/>
              <a:t>os </a:t>
            </a:r>
            <a:r>
              <a:rPr lang="es-BO" b="1" dirty="0"/>
              <a:t>cambios hepáticos de la vejez ocurren, sobre todo, </a:t>
            </a:r>
            <a:r>
              <a:rPr lang="es-BO" b="1" dirty="0" smtClean="0"/>
              <a:t>en la </a:t>
            </a:r>
            <a:r>
              <a:rPr lang="es-BO" b="1" dirty="0"/>
              <a:t>fase I del metabolismo hepático (oxidación), por </a:t>
            </a:r>
            <a:r>
              <a:rPr lang="es-BO" b="1" dirty="0" smtClean="0"/>
              <a:t>lo que </a:t>
            </a:r>
            <a:r>
              <a:rPr lang="es-BO" b="1" dirty="0"/>
              <a:t>pueden acumularse fármacos activos y metabolitos </a:t>
            </a:r>
            <a:r>
              <a:rPr lang="es-BO" b="1" dirty="0" smtClean="0"/>
              <a:t>activos, produciendo </a:t>
            </a:r>
            <a:r>
              <a:rPr lang="es-BO" b="1" dirty="0"/>
              <a:t>sobredosis y posible incremento de los </a:t>
            </a:r>
            <a:r>
              <a:rPr lang="es-BO" b="1" dirty="0" smtClean="0"/>
              <a:t>efectos adversos</a:t>
            </a:r>
            <a:endParaRPr lang="es-BO" b="1" dirty="0"/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Las </a:t>
            </a:r>
            <a:r>
              <a:rPr lang="es-BO" b="1" dirty="0"/>
              <a:t>reacciones de la fase II no están tan afectadas en la vejez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390137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EJEMPLOS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Las BZ de acción intermedia y prolongada son las </a:t>
            </a:r>
            <a:r>
              <a:rPr lang="es-BO" b="1" dirty="0" smtClean="0"/>
              <a:t>más susceptibles </a:t>
            </a:r>
            <a:r>
              <a:rPr lang="es-BO" b="1" dirty="0"/>
              <a:t>de acumulación al requerir la fase I en </a:t>
            </a:r>
            <a:r>
              <a:rPr lang="es-BO" b="1" dirty="0" smtClean="0"/>
              <a:t>su </a:t>
            </a:r>
            <a:r>
              <a:rPr lang="es-BO" b="1" dirty="0" err="1" smtClean="0"/>
              <a:t>biotransformación</a:t>
            </a:r>
            <a:r>
              <a:rPr lang="es-BO" b="1" dirty="0"/>
              <a:t>, por lo que necesitan mayores ajustes de </a:t>
            </a:r>
            <a:r>
              <a:rPr lang="es-BO" b="1" dirty="0" smtClean="0"/>
              <a:t>las dosis y/o intervalos </a:t>
            </a:r>
            <a:r>
              <a:rPr lang="es-BO" b="1" dirty="0"/>
              <a:t>entre las mismas</a:t>
            </a:r>
          </a:p>
          <a:p>
            <a:pPr algn="just">
              <a:buFont typeface="Wingdings" pitchFamily="2" charset="2"/>
              <a:buChar char="§"/>
            </a:pPr>
            <a:r>
              <a:rPr lang="pt-BR" b="1" dirty="0" smtClean="0"/>
              <a:t> </a:t>
            </a:r>
            <a:r>
              <a:rPr lang="pt-BR" b="1" dirty="0"/>
              <a:t>BZ como </a:t>
            </a:r>
            <a:r>
              <a:rPr lang="pt-BR" b="1" dirty="0" err="1"/>
              <a:t>oxazepam</a:t>
            </a:r>
            <a:r>
              <a:rPr lang="pt-BR" b="1" dirty="0"/>
              <a:t>, </a:t>
            </a:r>
            <a:r>
              <a:rPr lang="pt-BR" b="1" dirty="0" err="1"/>
              <a:t>temazepam</a:t>
            </a:r>
            <a:r>
              <a:rPr lang="pt-BR" b="1" dirty="0"/>
              <a:t> o </a:t>
            </a:r>
            <a:r>
              <a:rPr lang="pt-BR" b="1" dirty="0" err="1"/>
              <a:t>lorazepam</a:t>
            </a:r>
            <a:r>
              <a:rPr lang="pt-BR" b="1" dirty="0"/>
              <a:t>, </a:t>
            </a:r>
            <a:r>
              <a:rPr lang="pt-BR" b="1" dirty="0" err="1" smtClean="0"/>
              <a:t>son</a:t>
            </a:r>
            <a:r>
              <a:rPr lang="pt-BR" b="1" dirty="0"/>
              <a:t> </a:t>
            </a:r>
            <a:r>
              <a:rPr lang="es-BO" b="1" dirty="0" smtClean="0"/>
              <a:t>metabolizadas </a:t>
            </a:r>
            <a:r>
              <a:rPr lang="es-BO" b="1" dirty="0"/>
              <a:t>exclusivamente por conjugación (fase II) y </a:t>
            </a:r>
            <a:r>
              <a:rPr lang="es-BO" b="1" dirty="0" smtClean="0"/>
              <a:t>son más </a:t>
            </a:r>
            <a:r>
              <a:rPr lang="es-BO" b="1" dirty="0"/>
              <a:t>seguras en </a:t>
            </a:r>
            <a:r>
              <a:rPr lang="es-BO" b="1" dirty="0" smtClean="0"/>
              <a:t>los ancianos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427734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sz="2800" b="1" dirty="0" smtClean="0"/>
              <a:t>CAMBIOS FISIOLÓGICOS DE LA VEJEZ CON</a:t>
            </a:r>
            <a:br>
              <a:rPr lang="es-BO" sz="2800" b="1" dirty="0" smtClean="0"/>
            </a:br>
            <a:r>
              <a:rPr lang="es-BO" sz="2800" b="1" dirty="0" smtClean="0"/>
              <a:t>REPERCUSIÓN EN LA FARMACOCINÉTICA</a:t>
            </a:r>
            <a:endParaRPr lang="es-BO" sz="2800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s-BO" b="1" dirty="0"/>
              <a:t>D</a:t>
            </a:r>
            <a:r>
              <a:rPr lang="es-BO" b="1" dirty="0" smtClean="0"/>
              <a:t>isminución </a:t>
            </a:r>
            <a:r>
              <a:rPr lang="es-BO" b="1" dirty="0"/>
              <a:t>de </a:t>
            </a:r>
            <a:r>
              <a:rPr lang="es-BO" b="1" dirty="0" smtClean="0"/>
              <a:t>la filtración </a:t>
            </a:r>
            <a:r>
              <a:rPr lang="es-BO" b="1" dirty="0"/>
              <a:t>glomerular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D</a:t>
            </a:r>
            <a:r>
              <a:rPr lang="es-BO" b="1" dirty="0" smtClean="0"/>
              <a:t>isminución </a:t>
            </a:r>
            <a:r>
              <a:rPr lang="es-BO" b="1" dirty="0"/>
              <a:t>de </a:t>
            </a:r>
            <a:r>
              <a:rPr lang="es-BO" b="1" dirty="0" smtClean="0"/>
              <a:t>la función </a:t>
            </a:r>
            <a:r>
              <a:rPr lang="es-BO" b="1" dirty="0"/>
              <a:t>tubular</a:t>
            </a:r>
            <a:endParaRPr lang="es-BO" b="1" dirty="0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s-BO" b="1" dirty="0"/>
              <a:t>Proceso afectado</a:t>
            </a:r>
            <a:r>
              <a:rPr lang="es-BO" b="1" dirty="0" smtClean="0"/>
              <a:t>:</a:t>
            </a:r>
          </a:p>
          <a:p>
            <a:pPr marL="0" indent="0">
              <a:buNone/>
            </a:pPr>
            <a:endParaRPr lang="es-BO" b="1" dirty="0"/>
          </a:p>
          <a:p>
            <a:pPr marL="0" indent="0">
              <a:buNone/>
            </a:pPr>
            <a:endParaRPr lang="es-BO" b="1" dirty="0"/>
          </a:p>
          <a:p>
            <a:pPr>
              <a:buFont typeface="Wingdings" pitchFamily="2" charset="2"/>
              <a:buChar char="§"/>
            </a:pPr>
            <a:r>
              <a:rPr lang="es-BO" b="1" dirty="0"/>
              <a:t>EXCRECION</a:t>
            </a:r>
            <a:endParaRPr lang="es-B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221088"/>
            <a:ext cx="11906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221088"/>
            <a:ext cx="85725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678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EXCRECIÓN DEL FÁRMACO</a:t>
            </a:r>
            <a:endParaRPr lang="es-BO" dirty="0"/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s-BO" b="1" dirty="0"/>
              <a:t>El fármaco se elimina fundamentalmente por </a:t>
            </a:r>
            <a:r>
              <a:rPr lang="es-BO" b="1" dirty="0" smtClean="0"/>
              <a:t>el riñón</a:t>
            </a:r>
            <a:r>
              <a:rPr lang="es-BO" b="1" dirty="0"/>
              <a:t>. También por el hígado, sudor, saliva, </a:t>
            </a:r>
            <a:r>
              <a:rPr lang="es-BO" b="1" dirty="0" smtClean="0"/>
              <a:t>bilis, leche </a:t>
            </a:r>
            <a:r>
              <a:rPr lang="es-BO" b="1" dirty="0"/>
              <a:t>materna, intestino (por ejemplo el Fe</a:t>
            </a:r>
            <a:r>
              <a:rPr lang="es-BO" b="1" dirty="0" smtClean="0"/>
              <a:t>).</a:t>
            </a:r>
            <a:endParaRPr lang="es-BO" b="1" dirty="0"/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El riñón elimina fundamentalmente de dos formas:</a:t>
            </a:r>
          </a:p>
          <a:p>
            <a:pPr>
              <a:buFont typeface="Wingdings" pitchFamily="2" charset="2"/>
              <a:buChar char="ü"/>
            </a:pPr>
            <a:r>
              <a:rPr lang="es-BO" b="1" i="1" dirty="0" smtClean="0"/>
              <a:t>Filtración</a:t>
            </a:r>
            <a:r>
              <a:rPr lang="es-BO" b="1" dirty="0"/>
              <a:t>: en los glomérulos</a:t>
            </a:r>
          </a:p>
          <a:p>
            <a:pPr>
              <a:buFont typeface="Wingdings" pitchFamily="2" charset="2"/>
              <a:buChar char="ü"/>
            </a:pPr>
            <a:r>
              <a:rPr lang="es-BO" b="1" i="1" dirty="0" smtClean="0"/>
              <a:t>Secreción </a:t>
            </a:r>
            <a:r>
              <a:rPr lang="es-BO" b="1" i="1" dirty="0"/>
              <a:t>tubular: </a:t>
            </a:r>
            <a:r>
              <a:rPr lang="es-BO" b="1" dirty="0"/>
              <a:t>por transporte activo forzado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231085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628800"/>
            <a:ext cx="6196405" cy="4094269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El aclaramiento de creatinina se reduce hasta </a:t>
            </a:r>
            <a:r>
              <a:rPr lang="es-BO" b="1" dirty="0" smtClean="0"/>
              <a:t>en un </a:t>
            </a:r>
            <a:r>
              <a:rPr lang="es-BO" b="1" dirty="0"/>
              <a:t>50% a los 80 años </a:t>
            </a:r>
            <a:r>
              <a:rPr lang="es-BO" b="1" dirty="0" smtClean="0"/>
              <a:t> </a:t>
            </a:r>
            <a:r>
              <a:rPr lang="es-BO" b="1" dirty="0"/>
              <a:t>Aquí existe una gran variación interindividual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Esto </a:t>
            </a:r>
            <a:r>
              <a:rPr lang="es-BO" b="1" dirty="0"/>
              <a:t>puede resultar en un claro incremento de </a:t>
            </a:r>
            <a:r>
              <a:rPr lang="es-BO" b="1" dirty="0" smtClean="0"/>
              <a:t>la vida </a:t>
            </a:r>
            <a:r>
              <a:rPr lang="es-BO" b="1" dirty="0"/>
              <a:t>media del fármaco, tendencia a </a:t>
            </a:r>
            <a:r>
              <a:rPr lang="es-BO" b="1" dirty="0" smtClean="0"/>
              <a:t>su acumulación </a:t>
            </a:r>
            <a:r>
              <a:rPr lang="es-BO" b="1" dirty="0"/>
              <a:t>y producción de efectos tóxicos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42102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EXCRECIÓN DEL FÁRMACO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F</a:t>
            </a:r>
            <a:r>
              <a:rPr lang="es-BO" b="1" dirty="0" smtClean="0"/>
              <a:t>ármacos </a:t>
            </a:r>
            <a:r>
              <a:rPr lang="es-BO" b="1" dirty="0"/>
              <a:t>que disminuyen su </a:t>
            </a:r>
            <a:r>
              <a:rPr lang="es-BO" b="1" dirty="0" smtClean="0"/>
              <a:t>eliminación renal </a:t>
            </a:r>
            <a:r>
              <a:rPr lang="es-BO" b="1" dirty="0"/>
              <a:t>en ancianos: </a:t>
            </a:r>
            <a:r>
              <a:rPr lang="es-BO" b="1" dirty="0" err="1" smtClean="0"/>
              <a:t>aminoglucósidos</a:t>
            </a:r>
            <a:r>
              <a:rPr lang="es-BO" b="1" dirty="0" smtClean="0"/>
              <a:t>, ampicilina</a:t>
            </a:r>
            <a:r>
              <a:rPr lang="es-BO" b="1" dirty="0"/>
              <a:t>, cefalosporinas, </a:t>
            </a:r>
            <a:r>
              <a:rPr lang="es-BO" b="1" dirty="0" err="1" smtClean="0"/>
              <a:t>doxiciclina</a:t>
            </a:r>
            <a:r>
              <a:rPr lang="es-BO" b="1" dirty="0" smtClean="0"/>
              <a:t>, sulfamidas</a:t>
            </a:r>
            <a:r>
              <a:rPr lang="es-BO" b="1" dirty="0"/>
              <a:t>, tetraciclinas, </a:t>
            </a:r>
            <a:r>
              <a:rPr lang="es-BO" b="1" dirty="0" err="1" smtClean="0"/>
              <a:t>tiazidas</a:t>
            </a:r>
            <a:r>
              <a:rPr lang="es-BO" b="1" dirty="0" smtClean="0"/>
              <a:t>, furosemida y </a:t>
            </a:r>
            <a:r>
              <a:rPr lang="es-BO" b="1" dirty="0" err="1" smtClean="0"/>
              <a:t>triamtirene</a:t>
            </a:r>
            <a:r>
              <a:rPr lang="es-BO" b="1" dirty="0"/>
              <a:t>, </a:t>
            </a:r>
            <a:r>
              <a:rPr lang="es-BO" b="1" dirty="0" err="1" smtClean="0"/>
              <a:t>atenolol,digoxina</a:t>
            </a:r>
            <a:r>
              <a:rPr lang="es-BO" b="1" dirty="0" smtClean="0"/>
              <a:t>, fenobarbital</a:t>
            </a:r>
            <a:r>
              <a:rPr lang="es-BO" b="1" dirty="0"/>
              <a:t>, </a:t>
            </a:r>
            <a:r>
              <a:rPr lang="es-BO" b="1" dirty="0" err="1"/>
              <a:t>amantadina</a:t>
            </a:r>
            <a:r>
              <a:rPr lang="es-BO" b="1" dirty="0"/>
              <a:t>, </a:t>
            </a:r>
            <a:r>
              <a:rPr lang="es-BO" b="1" dirty="0" err="1"/>
              <a:t>clorpropamida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69287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3200" b="1" dirty="0" smtClean="0">
                <a:latin typeface="+mn-lt"/>
              </a:rPr>
              <a:t>2.- PLURIPATOLOGIA</a:t>
            </a:r>
            <a:endParaRPr lang="es-BO" sz="3200" b="1" dirty="0">
              <a:latin typeface="+mn-lt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dirty="0" smtClean="0"/>
              <a:t> </a:t>
            </a:r>
            <a:r>
              <a:rPr lang="es-BO" b="1" dirty="0"/>
              <a:t>E</a:t>
            </a:r>
            <a:r>
              <a:rPr lang="es-BO" b="1" dirty="0" smtClean="0"/>
              <a:t>l </a:t>
            </a:r>
            <a:r>
              <a:rPr lang="es-BO" b="1" dirty="0"/>
              <a:t>36% de los ancianos tiene más de tres enfermedades crónicas que se acompañan </a:t>
            </a:r>
            <a:r>
              <a:rPr lang="es-BO" b="1" dirty="0" smtClean="0"/>
              <a:t> </a:t>
            </a:r>
            <a:r>
              <a:rPr lang="es-BO" b="1" dirty="0"/>
              <a:t>de secuelas (insuficiencia renal, hepática, hipertiroidismo e </a:t>
            </a:r>
            <a:r>
              <a:rPr lang="es-BO" b="1" dirty="0" smtClean="0"/>
              <a:t>hipotiroidismo).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M</a:t>
            </a:r>
            <a:r>
              <a:rPr lang="es-BO" b="1" dirty="0" smtClean="0"/>
              <a:t>uchas </a:t>
            </a:r>
            <a:r>
              <a:rPr lang="es-BO" b="1" dirty="0"/>
              <a:t>veces limitan el funcionamiento de órganos y sistemas, pudiendo modificar </a:t>
            </a:r>
            <a:r>
              <a:rPr lang="es-BO" b="1" dirty="0" smtClean="0"/>
              <a:t> la respuesta </a:t>
            </a:r>
            <a:r>
              <a:rPr lang="es-BO" b="1" dirty="0"/>
              <a:t>frente a </a:t>
            </a:r>
            <a:r>
              <a:rPr lang="es-BO" b="1" dirty="0" smtClean="0"/>
              <a:t>los medicamentos.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A</a:t>
            </a:r>
            <a:r>
              <a:rPr lang="es-BO" b="1" dirty="0" smtClean="0"/>
              <a:t>lgunos </a:t>
            </a:r>
            <a:r>
              <a:rPr lang="es-BO" b="1" dirty="0"/>
              <a:t>fármacos </a:t>
            </a:r>
            <a:r>
              <a:rPr lang="es-BO" b="1" dirty="0" smtClean="0"/>
              <a:t> </a:t>
            </a:r>
            <a:r>
              <a:rPr lang="es-BO" b="1" dirty="0"/>
              <a:t>pueden ocasionar interacciones que disminuyen la respuesta terapéutica o potenciar la toxicidad..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24079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71600" y="764704"/>
            <a:ext cx="6965245" cy="1202485"/>
          </a:xfrm>
        </p:spPr>
        <p:txBody>
          <a:bodyPr>
            <a:normAutofit/>
          </a:bodyPr>
          <a:lstStyle/>
          <a:p>
            <a:r>
              <a:rPr lang="es-BO" sz="2800" b="1" dirty="0">
                <a:latin typeface="+mn-lt"/>
              </a:rPr>
              <a:t>3.- FACTORES SOCIOCULTURALES</a:t>
            </a:r>
            <a:r>
              <a:rPr lang="es-BO" sz="3200" dirty="0"/>
              <a:t>.</a:t>
            </a:r>
            <a:br>
              <a:rPr lang="es-BO" sz="3200" dirty="0"/>
            </a:br>
            <a:endParaRPr lang="es-BO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s-BO" b="1" dirty="0"/>
              <a:t>Automedicación.- </a:t>
            </a:r>
            <a:endParaRPr lang="es-BO" b="1" dirty="0" smtClean="0"/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s-BO" b="1" dirty="0"/>
              <a:t>Incumplimiento terapéutico.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s-BO" b="1" dirty="0"/>
              <a:t>Hábitos dietéticos</a:t>
            </a:r>
            <a:r>
              <a:rPr lang="es-BO" b="1" dirty="0" smtClean="0"/>
              <a:t>. La malnutrición altera en la metabolización del fármaco</a:t>
            </a:r>
            <a:endParaRPr lang="es-BO" b="1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37963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sz="3600" b="1" dirty="0" smtClean="0">
                <a:latin typeface="+mn-lt"/>
              </a:rPr>
              <a:t>INCUMPLIMIENTO TERAPÉUTICO</a:t>
            </a:r>
            <a:r>
              <a:rPr lang="es-BO" dirty="0" smtClean="0"/>
              <a:t>.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844824"/>
            <a:ext cx="6196405" cy="387824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E</a:t>
            </a:r>
            <a:r>
              <a:rPr lang="es-BO" b="1" dirty="0" smtClean="0"/>
              <a:t>s </a:t>
            </a:r>
            <a:r>
              <a:rPr lang="es-BO" b="1" dirty="0"/>
              <a:t>la causa más frecuente del fracaso </a:t>
            </a:r>
            <a:r>
              <a:rPr lang="es-BO" b="1" dirty="0" smtClean="0"/>
              <a:t>terapéutico en </a:t>
            </a:r>
            <a:r>
              <a:rPr lang="es-BO" b="1" dirty="0"/>
              <a:t>los tratamientos farmacológicos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A</a:t>
            </a:r>
            <a:r>
              <a:rPr lang="es-BO" b="1" dirty="0" smtClean="0"/>
              <a:t>demás </a:t>
            </a:r>
            <a:r>
              <a:rPr lang="es-BO" b="1" dirty="0"/>
              <a:t>deteriora la relación </a:t>
            </a:r>
            <a:r>
              <a:rPr lang="es-BO" b="1" dirty="0" smtClean="0"/>
              <a:t>médico-paciente </a:t>
            </a:r>
            <a:r>
              <a:rPr lang="es-BO" b="1" dirty="0"/>
              <a:t>O</a:t>
            </a:r>
            <a:r>
              <a:rPr lang="es-BO" b="1" dirty="0" smtClean="0"/>
              <a:t>casiona </a:t>
            </a:r>
            <a:r>
              <a:rPr lang="es-BO" b="1" dirty="0"/>
              <a:t>el almacenamiento de los </a:t>
            </a:r>
            <a:r>
              <a:rPr lang="es-BO" b="1" dirty="0" smtClean="0"/>
              <a:t>medicamentos no utilizados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R</a:t>
            </a:r>
            <a:r>
              <a:rPr lang="es-BO" b="1" dirty="0" smtClean="0"/>
              <a:t>epresenta </a:t>
            </a:r>
            <a:r>
              <a:rPr lang="es-BO" b="1" dirty="0"/>
              <a:t>un coste sanitario que no </a:t>
            </a:r>
            <a:r>
              <a:rPr lang="es-BO" b="1" dirty="0" smtClean="0"/>
              <a:t>tiene justificación </a:t>
            </a:r>
            <a:r>
              <a:rPr lang="es-BO" b="1" dirty="0"/>
              <a:t>porque no va acompañado de </a:t>
            </a:r>
            <a:r>
              <a:rPr lang="es-BO" b="1" dirty="0" smtClean="0"/>
              <a:t>ningún beneficio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9492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836712"/>
            <a:ext cx="6965245" cy="1202485"/>
          </a:xfrm>
        </p:spPr>
        <p:txBody>
          <a:bodyPr>
            <a:normAutofit/>
          </a:bodyPr>
          <a:lstStyle/>
          <a:p>
            <a:r>
              <a:rPr lang="es-BO" sz="3200" b="1" dirty="0">
                <a:latin typeface="+mn-lt"/>
              </a:rPr>
              <a:t>INCUMPLIMIENTO TERAPÉUTICO.</a:t>
            </a:r>
            <a:br>
              <a:rPr lang="es-BO" sz="3200" b="1" dirty="0">
                <a:latin typeface="+mn-lt"/>
              </a:rPr>
            </a:br>
            <a:endParaRPr lang="es-BO" sz="3200" b="1" dirty="0">
              <a:latin typeface="+mn-lt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844824"/>
            <a:ext cx="6196405" cy="3878245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s-BO" b="1" dirty="0"/>
              <a:t>E</a:t>
            </a:r>
            <a:r>
              <a:rPr lang="es-BO" b="1" dirty="0" smtClean="0"/>
              <a:t>ntre </a:t>
            </a:r>
            <a:r>
              <a:rPr lang="es-BO" b="1" dirty="0"/>
              <a:t>el 25 y el 50% de todos los </a:t>
            </a:r>
            <a:r>
              <a:rPr lang="es-BO" b="1" dirty="0" smtClean="0"/>
              <a:t>pacientes ambulatorios </a:t>
            </a:r>
            <a:r>
              <a:rPr lang="es-BO" b="1" dirty="0"/>
              <a:t>no toman la pauta </a:t>
            </a:r>
            <a:r>
              <a:rPr lang="es-BO" b="1" dirty="0" smtClean="0"/>
              <a:t>de tratamiento indicado 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Del </a:t>
            </a:r>
            <a:r>
              <a:rPr lang="es-BO" b="1" dirty="0"/>
              <a:t>32% al 69% siguen mal el </a:t>
            </a:r>
            <a:r>
              <a:rPr lang="es-BO" b="1" dirty="0" smtClean="0"/>
              <a:t>tratamiento cuando </a:t>
            </a:r>
            <a:r>
              <a:rPr lang="es-BO" b="1" dirty="0"/>
              <a:t>se prescriben más de </a:t>
            </a:r>
            <a:r>
              <a:rPr lang="es-BO" b="1" dirty="0" smtClean="0"/>
              <a:t>tres fármacos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7242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2800" b="1" dirty="0" smtClean="0">
                <a:latin typeface="+mn-lt"/>
              </a:rPr>
              <a:t>INCUMPLIMIENTO</a:t>
            </a:r>
            <a:endParaRPr lang="es-BO" sz="2800" b="1" dirty="0">
              <a:latin typeface="+mn-lt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916832"/>
            <a:ext cx="6196405" cy="3806237"/>
          </a:xfrm>
        </p:spPr>
        <p:txBody>
          <a:bodyPr/>
          <a:lstStyle/>
          <a:p>
            <a:pPr marL="0" indent="0">
              <a:buNone/>
            </a:pPr>
            <a:r>
              <a:rPr lang="es-BO" b="1" dirty="0"/>
              <a:t>T</a:t>
            </a:r>
            <a:r>
              <a:rPr lang="es-BO" b="1" dirty="0" smtClean="0"/>
              <a:t>ipos </a:t>
            </a:r>
            <a:r>
              <a:rPr lang="es-BO" b="1" dirty="0"/>
              <a:t>de </a:t>
            </a:r>
            <a:r>
              <a:rPr lang="es-BO" b="1" dirty="0" smtClean="0"/>
              <a:t>comportamiento.</a:t>
            </a:r>
          </a:p>
          <a:p>
            <a:pPr>
              <a:buFont typeface="Wingdings" pitchFamily="2" charset="2"/>
              <a:buChar char="§"/>
            </a:pPr>
            <a:r>
              <a:rPr lang="es-BO" b="1" dirty="0"/>
              <a:t>P</a:t>
            </a:r>
            <a:r>
              <a:rPr lang="es-BO" b="1" dirty="0" smtClean="0"/>
              <a:t>or </a:t>
            </a:r>
            <a:r>
              <a:rPr lang="es-BO" b="1" dirty="0"/>
              <a:t>decisión propia</a:t>
            </a:r>
          </a:p>
          <a:p>
            <a:pPr>
              <a:buFont typeface="Wingdings" pitchFamily="2" charset="2"/>
              <a:buChar char="§"/>
            </a:pPr>
            <a:r>
              <a:rPr lang="es-BO" b="1" dirty="0"/>
              <a:t>S</a:t>
            </a:r>
            <a:r>
              <a:rPr lang="es-BO" b="1" dirty="0" smtClean="0"/>
              <a:t>upresión </a:t>
            </a:r>
            <a:r>
              <a:rPr lang="es-BO" b="1" dirty="0"/>
              <a:t>prematura</a:t>
            </a:r>
          </a:p>
          <a:p>
            <a:pPr>
              <a:buFont typeface="Wingdings" pitchFamily="2" charset="2"/>
              <a:buChar char="§"/>
            </a:pPr>
            <a:r>
              <a:rPr lang="es-BO" b="1" dirty="0"/>
              <a:t>T</a:t>
            </a:r>
            <a:r>
              <a:rPr lang="es-BO" b="1" dirty="0" smtClean="0"/>
              <a:t>omar </a:t>
            </a:r>
            <a:r>
              <a:rPr lang="es-BO" b="1" dirty="0"/>
              <a:t>el medicamento a la hora equivocada</a:t>
            </a:r>
          </a:p>
          <a:p>
            <a:pPr>
              <a:buFont typeface="Wingdings" pitchFamily="2" charset="2"/>
              <a:buChar char="§"/>
            </a:pPr>
            <a:r>
              <a:rPr lang="es-BO" b="1" dirty="0"/>
              <a:t>C</a:t>
            </a:r>
            <a:r>
              <a:rPr lang="es-BO" b="1" dirty="0" smtClean="0"/>
              <a:t>onsumir </a:t>
            </a:r>
            <a:r>
              <a:rPr lang="es-BO" b="1" dirty="0"/>
              <a:t>dosis excesivas</a:t>
            </a:r>
          </a:p>
          <a:p>
            <a:pPr>
              <a:buFont typeface="Wingdings" pitchFamily="2" charset="2"/>
              <a:buChar char="§"/>
            </a:pPr>
            <a:r>
              <a:rPr lang="es-BO" dirty="0" smtClean="0"/>
              <a:t> </a:t>
            </a:r>
            <a:r>
              <a:rPr lang="es-BO" b="1" dirty="0"/>
              <a:t>T</a:t>
            </a:r>
            <a:r>
              <a:rPr lang="es-BO" b="1" dirty="0" smtClean="0"/>
              <a:t>omar </a:t>
            </a:r>
            <a:r>
              <a:rPr lang="es-BO" b="1" dirty="0"/>
              <a:t>medicamentos que no se le </a:t>
            </a:r>
            <a:r>
              <a:rPr lang="es-BO" b="1" dirty="0" smtClean="0"/>
              <a:t>han indicado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07230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124744"/>
            <a:ext cx="6196405" cy="459832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BO" sz="2900" b="1" dirty="0" smtClean="0"/>
              <a:t>FACTORES DEPENDIENTES DE LA TERAPIA</a:t>
            </a:r>
            <a:r>
              <a:rPr lang="es-BO" b="1" dirty="0" smtClean="0"/>
              <a:t>:</a:t>
            </a:r>
          </a:p>
          <a:p>
            <a:pPr marL="0" indent="0">
              <a:buNone/>
            </a:pPr>
            <a:endParaRPr lang="es-BO" b="1" dirty="0" smtClean="0"/>
          </a:p>
          <a:p>
            <a:pPr>
              <a:buFont typeface="Wingdings" pitchFamily="2" charset="2"/>
              <a:buChar char="§"/>
            </a:pPr>
            <a:r>
              <a:rPr lang="es-BO" sz="3400" b="1" dirty="0" smtClean="0"/>
              <a:t>Polifarmacia </a:t>
            </a:r>
            <a:r>
              <a:rPr lang="es-BO" sz="3400" b="1" dirty="0"/>
              <a:t>(más de cuatro </a:t>
            </a:r>
            <a:r>
              <a:rPr lang="es-BO" sz="3400" b="1" dirty="0" smtClean="0"/>
              <a:t>fármacos)</a:t>
            </a:r>
          </a:p>
          <a:p>
            <a:pPr>
              <a:buFont typeface="Wingdings" pitchFamily="2" charset="2"/>
              <a:buChar char="§"/>
            </a:pPr>
            <a:r>
              <a:rPr lang="es-BO" sz="3400" b="1" dirty="0" smtClean="0"/>
              <a:t>Dosificación </a:t>
            </a:r>
            <a:r>
              <a:rPr lang="es-BO" sz="3400" b="1" dirty="0"/>
              <a:t>diaria múltiple (3, 4 o más </a:t>
            </a:r>
            <a:r>
              <a:rPr lang="es-BO" sz="3400" b="1" dirty="0" smtClean="0"/>
              <a:t>tomas/día</a:t>
            </a:r>
          </a:p>
          <a:p>
            <a:pPr>
              <a:buFont typeface="Wingdings" pitchFamily="2" charset="2"/>
              <a:buChar char="§"/>
            </a:pPr>
            <a:r>
              <a:rPr lang="es-BO" sz="3400" b="1" dirty="0" smtClean="0"/>
              <a:t>Regímenes </a:t>
            </a:r>
            <a:r>
              <a:rPr lang="es-BO" sz="3400" b="1" dirty="0"/>
              <a:t>de larga duración</a:t>
            </a:r>
          </a:p>
          <a:p>
            <a:pPr>
              <a:buFont typeface="Wingdings" pitchFamily="2" charset="2"/>
              <a:buChar char="§"/>
            </a:pPr>
            <a:r>
              <a:rPr lang="es-BO" sz="3400" b="1" dirty="0" smtClean="0"/>
              <a:t>Tratamiento incómodo</a:t>
            </a:r>
          </a:p>
          <a:p>
            <a:pPr>
              <a:buFont typeface="Wingdings" pitchFamily="2" charset="2"/>
              <a:buChar char="§"/>
            </a:pPr>
            <a:r>
              <a:rPr lang="es-BO" sz="3400" b="1" dirty="0" smtClean="0"/>
              <a:t>Prescripción </a:t>
            </a:r>
            <a:r>
              <a:rPr lang="es-BO" sz="3400" b="1" dirty="0"/>
              <a:t>de medicamentos profilácticos </a:t>
            </a:r>
            <a:r>
              <a:rPr lang="es-BO" sz="3400" b="1" dirty="0" smtClean="0"/>
              <a:t>y/ sintomáticos.</a:t>
            </a:r>
          </a:p>
          <a:p>
            <a:pPr>
              <a:buFont typeface="Wingdings" pitchFamily="2" charset="2"/>
              <a:buChar char="§"/>
            </a:pPr>
            <a:r>
              <a:rPr lang="es-BO" sz="3400" b="1" dirty="0" smtClean="0"/>
              <a:t>Indicaciones </a:t>
            </a:r>
            <a:r>
              <a:rPr lang="es-BO" sz="3400" b="1" dirty="0"/>
              <a:t>médicas que obligan a cambiar el estilo de vida</a:t>
            </a:r>
          </a:p>
          <a:p>
            <a:pPr>
              <a:buFont typeface="Wingdings" pitchFamily="2" charset="2"/>
              <a:buChar char="§"/>
            </a:pPr>
            <a:r>
              <a:rPr lang="es-BO" sz="3400" b="1" dirty="0" smtClean="0"/>
              <a:t>Dificultad </a:t>
            </a:r>
            <a:r>
              <a:rPr lang="es-BO" sz="3400" b="1" dirty="0"/>
              <a:t>para abrir el frasco del medicamento (envases </a:t>
            </a:r>
            <a:r>
              <a:rPr lang="es-BO" sz="3400" b="1" dirty="0" smtClean="0"/>
              <a:t>de seguridad </a:t>
            </a:r>
            <a:r>
              <a:rPr lang="es-BO" sz="3400" b="1" dirty="0"/>
              <a:t>infantil)</a:t>
            </a:r>
          </a:p>
          <a:p>
            <a:pPr>
              <a:buFont typeface="Wingdings" pitchFamily="2" charset="2"/>
              <a:buChar char="§"/>
            </a:pPr>
            <a:r>
              <a:rPr lang="es-BO" sz="3400" b="1" dirty="0"/>
              <a:t>D</a:t>
            </a:r>
            <a:r>
              <a:rPr lang="es-BO" sz="3400" b="1" dirty="0" smtClean="0"/>
              <a:t>esinformación sobre </a:t>
            </a:r>
            <a:r>
              <a:rPr lang="es-BO" sz="3400" b="1" dirty="0"/>
              <a:t>los efectos adversos</a:t>
            </a:r>
          </a:p>
          <a:p>
            <a:pPr>
              <a:buFont typeface="Wingdings" pitchFamily="2" charset="2"/>
              <a:buChar char="§"/>
            </a:pPr>
            <a:r>
              <a:rPr lang="es-BO" sz="3400" b="1" dirty="0"/>
              <a:t>E</a:t>
            </a:r>
            <a:r>
              <a:rPr lang="es-BO" sz="3400" b="1" dirty="0" smtClean="0"/>
              <a:t>mpleo </a:t>
            </a:r>
            <a:r>
              <a:rPr lang="es-BO" sz="3400" b="1" dirty="0"/>
              <a:t>de medicamentos sin prescripción médica</a:t>
            </a:r>
            <a:endParaRPr lang="es-BO" sz="3400" dirty="0"/>
          </a:p>
        </p:txBody>
      </p:sp>
    </p:spTree>
    <p:extLst>
      <p:ext uri="{BB962C8B-B14F-4D97-AF65-F5344CB8AC3E}">
        <p14:creationId xmlns:p14="http://schemas.microsoft.com/office/powerpoint/2010/main" val="292009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3200" b="1" dirty="0" smtClean="0">
                <a:latin typeface="+mn-lt"/>
              </a:rPr>
              <a:t>INCUMPLIMIENTO</a:t>
            </a:r>
            <a:endParaRPr lang="es-BO" sz="3200" b="1" dirty="0">
              <a:latin typeface="+mn-lt"/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1463040" y="1700808"/>
            <a:ext cx="6196405" cy="40222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BO" b="1" dirty="0" smtClean="0"/>
              <a:t>FACTORES DEPENDIENTES DEL PACIENTE</a:t>
            </a:r>
          </a:p>
          <a:p>
            <a:pPr marL="0" indent="0">
              <a:buNone/>
            </a:pPr>
            <a:endParaRPr lang="es-BO" b="1" dirty="0" smtClean="0"/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Enfermedad </a:t>
            </a:r>
            <a:r>
              <a:rPr lang="es-BO" b="1" dirty="0"/>
              <a:t>psiquiátrica </a:t>
            </a:r>
            <a:r>
              <a:rPr lang="es-BO" b="1" dirty="0" smtClean="0"/>
              <a:t>presente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Presencia </a:t>
            </a:r>
            <a:r>
              <a:rPr lang="es-BO" b="1" dirty="0"/>
              <a:t>de dificultades </a:t>
            </a:r>
            <a:r>
              <a:rPr lang="es-BO" b="1" dirty="0" smtClean="0"/>
              <a:t>físicas</a:t>
            </a:r>
          </a:p>
          <a:p>
            <a:pPr>
              <a:buFont typeface="Wingdings" pitchFamily="2" charset="2"/>
              <a:buChar char="§"/>
            </a:pPr>
            <a:r>
              <a:rPr lang="es-BO" dirty="0" smtClean="0"/>
              <a:t> </a:t>
            </a:r>
            <a:r>
              <a:rPr lang="es-BO" b="1" dirty="0"/>
              <a:t>A</a:t>
            </a:r>
            <a:r>
              <a:rPr lang="es-BO" b="1" dirty="0" smtClean="0"/>
              <a:t>lteraciones </a:t>
            </a:r>
            <a:r>
              <a:rPr lang="es-BO" b="1" dirty="0"/>
              <a:t>de los órganos de los sentidos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Existencia </a:t>
            </a:r>
            <a:r>
              <a:rPr lang="es-BO" b="1" dirty="0"/>
              <a:t>de deterioro cognitivo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Dificultad </a:t>
            </a:r>
            <a:r>
              <a:rPr lang="es-BO" b="1" dirty="0"/>
              <a:t>para entender las </a:t>
            </a:r>
            <a:r>
              <a:rPr lang="es-BO" b="1" dirty="0" smtClean="0"/>
              <a:t>instrucciones</a:t>
            </a:r>
          </a:p>
          <a:p>
            <a:pPr>
              <a:buFont typeface="Wingdings" pitchFamily="2" charset="2"/>
              <a:buChar char="§"/>
            </a:pPr>
            <a:r>
              <a:rPr lang="es-BO" dirty="0" smtClean="0"/>
              <a:t> </a:t>
            </a:r>
            <a:r>
              <a:rPr lang="es-BO" b="1" dirty="0"/>
              <a:t>B</a:t>
            </a:r>
            <a:r>
              <a:rPr lang="es-BO" b="1" dirty="0" smtClean="0"/>
              <a:t>ajo </a:t>
            </a:r>
            <a:r>
              <a:rPr lang="es-BO" b="1" dirty="0"/>
              <a:t>nivel socioeducativo y económico</a:t>
            </a:r>
          </a:p>
          <a:p>
            <a:pPr>
              <a:buFont typeface="Wingdings" pitchFamily="2" charset="2"/>
              <a:buChar char="§"/>
            </a:pPr>
            <a:r>
              <a:rPr lang="es-BO" dirty="0" smtClean="0"/>
              <a:t> </a:t>
            </a:r>
            <a:r>
              <a:rPr lang="es-BO" b="1" dirty="0"/>
              <a:t>A</a:t>
            </a:r>
            <a:r>
              <a:rPr lang="es-BO" b="1" dirty="0" smtClean="0"/>
              <a:t>islamiento </a:t>
            </a:r>
            <a:r>
              <a:rPr lang="es-BO" b="1" dirty="0"/>
              <a:t>social</a:t>
            </a:r>
          </a:p>
          <a:p>
            <a:pPr>
              <a:buFont typeface="Wingdings" pitchFamily="2" charset="2"/>
              <a:buChar char="§"/>
            </a:pPr>
            <a:r>
              <a:rPr lang="es-BO" b="1" dirty="0"/>
              <a:t>A</a:t>
            </a:r>
            <a:r>
              <a:rPr lang="es-BO" b="1" dirty="0" smtClean="0"/>
              <a:t>ctitud </a:t>
            </a:r>
            <a:r>
              <a:rPr lang="es-BO" b="1" dirty="0"/>
              <a:t>negativa propia o familiar, contra el médico </a:t>
            </a:r>
            <a:r>
              <a:rPr lang="es-BO" b="1" dirty="0" smtClean="0"/>
              <a:t>o los </a:t>
            </a:r>
            <a:r>
              <a:rPr lang="es-BO" b="1" dirty="0"/>
              <a:t>medicamentos</a:t>
            </a:r>
          </a:p>
          <a:p>
            <a:pPr>
              <a:buFont typeface="Wingdings" pitchFamily="2" charset="2"/>
              <a:buChar char="§"/>
            </a:pPr>
            <a:r>
              <a:rPr lang="es-BO" b="1" dirty="0"/>
              <a:t>R</a:t>
            </a:r>
            <a:r>
              <a:rPr lang="es-BO" b="1" dirty="0" smtClean="0"/>
              <a:t>otación </a:t>
            </a:r>
            <a:r>
              <a:rPr lang="es-BO" b="1" dirty="0"/>
              <a:t>médica en el control y tratamiento </a:t>
            </a:r>
            <a:r>
              <a:rPr lang="es-BO" b="1" dirty="0" smtClean="0"/>
              <a:t>de enfermedades </a:t>
            </a:r>
            <a:r>
              <a:rPr lang="es-BO" b="1" dirty="0"/>
              <a:t>crónicas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50365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/>
              <a:t>Polifarmacia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73797" y="2060848"/>
            <a:ext cx="6196405" cy="3603812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s-BO" b="1" dirty="0"/>
              <a:t>Uso de muchos medicamentos al </a:t>
            </a:r>
            <a:r>
              <a:rPr lang="es-BO" b="1" dirty="0" smtClean="0"/>
              <a:t>mismo tiempo</a:t>
            </a:r>
            <a:endParaRPr lang="es-BO" dirty="0"/>
          </a:p>
        </p:txBody>
      </p:sp>
      <p:pic>
        <p:nvPicPr>
          <p:cNvPr id="4" name="3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108324"/>
            <a:ext cx="902335" cy="1040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4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240" y="3182735"/>
            <a:ext cx="985520" cy="96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5 Imagen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182735"/>
            <a:ext cx="1056640" cy="966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6 Imagen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809" y="4725144"/>
            <a:ext cx="1440160" cy="756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725144"/>
            <a:ext cx="9810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639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3200" b="1" dirty="0" smtClean="0">
                <a:latin typeface="+mn-lt"/>
              </a:rPr>
              <a:t>INTERACCIONES MEDICAMENTOSAS</a:t>
            </a:r>
            <a:endParaRPr lang="es-BO" sz="3200" dirty="0">
              <a:latin typeface="+mn-lt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s-BO" b="1" dirty="0"/>
              <a:t>C</a:t>
            </a:r>
            <a:r>
              <a:rPr lang="es-BO" b="1" dirty="0" smtClean="0"/>
              <a:t>onsecuencia de </a:t>
            </a:r>
            <a:r>
              <a:rPr lang="es-BO" b="1" dirty="0"/>
              <a:t>la </a:t>
            </a:r>
            <a:r>
              <a:rPr lang="es-BO" b="1" dirty="0" err="1"/>
              <a:t>polimedicación</a:t>
            </a:r>
            <a:r>
              <a:rPr lang="es-BO" b="1" dirty="0"/>
              <a:t> a </a:t>
            </a:r>
            <a:r>
              <a:rPr lang="es-BO" b="1" dirty="0" smtClean="0"/>
              <a:t>la que </a:t>
            </a:r>
            <a:r>
              <a:rPr lang="es-BO" b="1" dirty="0"/>
              <a:t>habitualmente está sometido el </a:t>
            </a:r>
            <a:r>
              <a:rPr lang="es-BO" b="1" dirty="0" smtClean="0"/>
              <a:t>anciano.</a:t>
            </a:r>
            <a:endParaRPr lang="es-BO" b="1" dirty="0"/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Respuestas </a:t>
            </a:r>
            <a:r>
              <a:rPr lang="es-BO" b="1" dirty="0"/>
              <a:t>farmacológicas resultantes de </a:t>
            </a:r>
            <a:r>
              <a:rPr lang="es-BO" b="1" dirty="0" smtClean="0"/>
              <a:t>la interacción </a:t>
            </a:r>
            <a:r>
              <a:rPr lang="es-BO" b="1" dirty="0"/>
              <a:t>de dos o más fármacos actuando </a:t>
            </a:r>
            <a:r>
              <a:rPr lang="es-BO" b="1" dirty="0" smtClean="0"/>
              <a:t>de forma </a:t>
            </a:r>
            <a:r>
              <a:rPr lang="es-BO" b="1" dirty="0"/>
              <a:t>simultánea en el </a:t>
            </a:r>
            <a:r>
              <a:rPr lang="es-BO" b="1" dirty="0" smtClean="0"/>
              <a:t>organismo.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28267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BO" sz="2800" b="1" dirty="0" smtClean="0">
                <a:latin typeface="+mn-lt"/>
              </a:rPr>
              <a:t>REACCIÓN ADVERSA A MEDICAMENTOS</a:t>
            </a:r>
            <a:br>
              <a:rPr lang="es-BO" sz="2800" b="1" dirty="0" smtClean="0">
                <a:latin typeface="+mn-lt"/>
              </a:rPr>
            </a:br>
            <a:r>
              <a:rPr lang="es-BO" sz="2800" b="1" dirty="0" smtClean="0">
                <a:latin typeface="+mn-lt"/>
              </a:rPr>
              <a:t>(RAM)</a:t>
            </a:r>
            <a:endParaRPr lang="es-BO" sz="2800" dirty="0">
              <a:latin typeface="+mn-lt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s-BO" b="1" dirty="0"/>
              <a:t>Es cualquier respuesta nociva, y </a:t>
            </a:r>
            <a:r>
              <a:rPr lang="es-BO" b="1" dirty="0" smtClean="0"/>
              <a:t>no intencionada</a:t>
            </a:r>
            <a:r>
              <a:rPr lang="es-BO" b="1" dirty="0"/>
              <a:t>, a un fármaco a las </a:t>
            </a:r>
            <a:r>
              <a:rPr lang="es-BO" b="1" dirty="0" smtClean="0"/>
              <a:t>dosis utilizadas </a:t>
            </a:r>
            <a:r>
              <a:rPr lang="es-BO" b="1" dirty="0"/>
              <a:t>en el ser humano, para </a:t>
            </a:r>
            <a:r>
              <a:rPr lang="es-BO" b="1" dirty="0" smtClean="0"/>
              <a:t>la profilaxis</a:t>
            </a:r>
            <a:r>
              <a:rPr lang="es-BO" b="1" dirty="0"/>
              <a:t>, diagnóstico, tratamiento </a:t>
            </a:r>
            <a:r>
              <a:rPr lang="es-BO" b="1" dirty="0" smtClean="0"/>
              <a:t>o modificación </a:t>
            </a:r>
            <a:r>
              <a:rPr lang="es-BO" b="1" dirty="0"/>
              <a:t>de una función </a:t>
            </a:r>
            <a:r>
              <a:rPr lang="es-BO" b="1" dirty="0" smtClean="0"/>
              <a:t>fisiológica </a:t>
            </a:r>
            <a:r>
              <a:rPr lang="es-BO" dirty="0" smtClean="0"/>
              <a:t>(</a:t>
            </a:r>
            <a:r>
              <a:rPr lang="es-BO" b="1" dirty="0" smtClean="0"/>
              <a:t>OMS.1972</a:t>
            </a:r>
            <a:r>
              <a:rPr lang="es-BO" b="1" dirty="0"/>
              <a:t>)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83090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BO" sz="3200" b="1" dirty="0">
                <a:latin typeface="+mn-lt"/>
              </a:rPr>
              <a:t>REACCIÓN ADVERSA A MEDICAMENTOS</a:t>
            </a:r>
            <a:br>
              <a:rPr lang="es-BO" sz="3200" b="1" dirty="0">
                <a:latin typeface="+mn-lt"/>
              </a:rPr>
            </a:br>
            <a:r>
              <a:rPr lang="es-BO" sz="3200" b="1" dirty="0">
                <a:latin typeface="+mn-lt"/>
              </a:rPr>
              <a:t>(RAM)</a:t>
            </a:r>
            <a:endParaRPr lang="es-BO" sz="3200" dirty="0">
              <a:latin typeface="+mn-lt"/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1463040" y="1988840"/>
            <a:ext cx="6196405" cy="3734229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s-BO" b="1" dirty="0"/>
              <a:t>L</a:t>
            </a:r>
            <a:r>
              <a:rPr lang="es-BO" b="1" dirty="0" smtClean="0"/>
              <a:t>a </a:t>
            </a:r>
            <a:r>
              <a:rPr lang="es-BO" b="1" dirty="0"/>
              <a:t>incidencia se duplica entre los 60 y los 70 </a:t>
            </a:r>
            <a:r>
              <a:rPr lang="es-BO" b="1" dirty="0" smtClean="0"/>
              <a:t>años, independientemente </a:t>
            </a:r>
            <a:r>
              <a:rPr lang="es-BO" b="1" dirty="0"/>
              <a:t>del tipo </a:t>
            </a:r>
            <a:r>
              <a:rPr lang="es-BO" b="1" dirty="0" smtClean="0"/>
              <a:t>de medicación </a:t>
            </a:r>
            <a:r>
              <a:rPr lang="es-BO" b="1" dirty="0"/>
              <a:t>que </a:t>
            </a:r>
            <a:r>
              <a:rPr lang="es-BO" b="1" dirty="0" smtClean="0"/>
              <a:t>se maneje</a:t>
            </a:r>
            <a:endParaRPr lang="es-BO" b="1" dirty="0"/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O</a:t>
            </a:r>
            <a:r>
              <a:rPr lang="es-BO" b="1" dirty="0" smtClean="0"/>
              <a:t>curren </a:t>
            </a:r>
            <a:r>
              <a:rPr lang="es-BO" b="1" dirty="0"/>
              <a:t>en el 25% de las personas mayores de </a:t>
            </a:r>
            <a:r>
              <a:rPr lang="es-BO" b="1" dirty="0" smtClean="0"/>
              <a:t>65.</a:t>
            </a:r>
          </a:p>
          <a:p>
            <a:pPr>
              <a:buFont typeface="Wingdings" pitchFamily="2" charset="2"/>
              <a:buChar char="§"/>
            </a:pPr>
            <a:r>
              <a:rPr lang="es-BO" b="1" dirty="0"/>
              <a:t>Hasta un 3-10% de los ingresos son debidos a </a:t>
            </a:r>
            <a:r>
              <a:rPr lang="es-BO" b="1" dirty="0" smtClean="0"/>
              <a:t>RAM (30</a:t>
            </a:r>
            <a:r>
              <a:rPr lang="es-BO" b="1" dirty="0"/>
              <a:t>% son ancianos)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375716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608" y="692696"/>
            <a:ext cx="6965245" cy="1202485"/>
          </a:xfrm>
        </p:spPr>
        <p:txBody>
          <a:bodyPr>
            <a:normAutofit/>
          </a:bodyPr>
          <a:lstStyle/>
          <a:p>
            <a:r>
              <a:rPr lang="es-BO" sz="3200" b="1" dirty="0">
                <a:latin typeface="+mn-lt"/>
              </a:rPr>
              <a:t>REACCIÓN ADVERSA A MEDICAMENTOS</a:t>
            </a:r>
            <a:br>
              <a:rPr lang="es-BO" sz="3200" b="1" dirty="0">
                <a:latin typeface="+mn-lt"/>
              </a:rPr>
            </a:br>
            <a:r>
              <a:rPr lang="es-BO" sz="3200" b="1" dirty="0">
                <a:latin typeface="+mn-lt"/>
              </a:rPr>
              <a:t>(RAM)</a:t>
            </a:r>
            <a:endParaRPr lang="es-BO" sz="3200" dirty="0">
              <a:latin typeface="+mn-lt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/>
              <a:t>S</a:t>
            </a:r>
            <a:r>
              <a:rPr lang="es-BO" b="1" dirty="0" smtClean="0"/>
              <a:t>on </a:t>
            </a:r>
            <a:r>
              <a:rPr lang="es-BO" b="1" dirty="0"/>
              <a:t>responsables del 5-10% del gasto por </a:t>
            </a:r>
            <a:r>
              <a:rPr lang="es-BO" b="1" dirty="0" smtClean="0"/>
              <a:t>estancias hospitalarias</a:t>
            </a:r>
            <a:endParaRPr lang="es-BO" b="1" dirty="0"/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L</a:t>
            </a:r>
            <a:r>
              <a:rPr lang="es-BO" b="1" dirty="0" smtClean="0"/>
              <a:t>os </a:t>
            </a:r>
            <a:r>
              <a:rPr lang="es-BO" b="1" dirty="0"/>
              <a:t>fármacos son responsables del 50% de </a:t>
            </a:r>
            <a:r>
              <a:rPr lang="es-BO" b="1" dirty="0" smtClean="0"/>
              <a:t>las complicaciones </a:t>
            </a:r>
            <a:r>
              <a:rPr lang="es-BO" b="1" dirty="0"/>
              <a:t>de la hospitalización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/>
              <a:t>L</a:t>
            </a:r>
            <a:r>
              <a:rPr lang="es-BO" b="1" dirty="0" smtClean="0"/>
              <a:t>os </a:t>
            </a:r>
            <a:r>
              <a:rPr lang="es-BO" b="1" dirty="0"/>
              <a:t>fármacos responsables del 60% de RAM </a:t>
            </a:r>
            <a:r>
              <a:rPr lang="es-BO" b="1" dirty="0" smtClean="0"/>
              <a:t>suelen ser</a:t>
            </a:r>
            <a:r>
              <a:rPr lang="es-BO" b="1" dirty="0"/>
              <a:t>: antibióticos, anticoagulantes, </a:t>
            </a:r>
            <a:r>
              <a:rPr lang="es-BO" b="1" dirty="0" err="1" smtClean="0"/>
              <a:t>digoxina</a:t>
            </a:r>
            <a:r>
              <a:rPr lang="es-BO" b="1" dirty="0" smtClean="0"/>
              <a:t>, diuréticos, </a:t>
            </a:r>
            <a:r>
              <a:rPr lang="es-BO" b="1" dirty="0" err="1"/>
              <a:t>hipoglicemiantes</a:t>
            </a:r>
            <a:r>
              <a:rPr lang="es-BO" b="1" dirty="0"/>
              <a:t>, antineoplásicos </a:t>
            </a:r>
            <a:r>
              <a:rPr lang="es-BO" b="1" dirty="0" smtClean="0"/>
              <a:t>y antiinflamatorios </a:t>
            </a:r>
            <a:r>
              <a:rPr lang="es-BO" b="1" dirty="0"/>
              <a:t>no esteroideos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141801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556792"/>
            <a:ext cx="6196405" cy="416627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s-BO" dirty="0" smtClean="0"/>
              <a:t> </a:t>
            </a:r>
            <a:r>
              <a:rPr lang="es-BO" b="1" dirty="0"/>
              <a:t>A</a:t>
            </a:r>
            <a:r>
              <a:rPr lang="es-BO" b="1" dirty="0" smtClean="0"/>
              <a:t>umentan </a:t>
            </a:r>
            <a:r>
              <a:rPr lang="es-BO" b="1" dirty="0"/>
              <a:t>exponencialmente con el </a:t>
            </a:r>
            <a:r>
              <a:rPr lang="es-BO" b="1" dirty="0" smtClean="0"/>
              <a:t>número de </a:t>
            </a:r>
            <a:r>
              <a:rPr lang="es-BO" b="1" dirty="0"/>
              <a:t>fármacos: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s-BO" b="1" dirty="0"/>
              <a:t>4% de RAM con 5 fármacos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b="1" dirty="0"/>
              <a:t>10% de RAM </a:t>
            </a:r>
            <a:r>
              <a:rPr lang="pt-BR" b="1" dirty="0" err="1"/>
              <a:t>con</a:t>
            </a:r>
            <a:r>
              <a:rPr lang="pt-BR" b="1" dirty="0"/>
              <a:t> 6 a 10 fármacos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pt-BR" b="1" dirty="0"/>
              <a:t>28% de RAM </a:t>
            </a:r>
            <a:r>
              <a:rPr lang="pt-BR" b="1" dirty="0" err="1"/>
              <a:t>con</a:t>
            </a:r>
            <a:r>
              <a:rPr lang="pt-BR" b="1" dirty="0"/>
              <a:t> 11 a 15 fármacos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29254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/>
              <a:t>Principales RAM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988840"/>
            <a:ext cx="6196405" cy="37342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s-BO" b="1" dirty="0"/>
              <a:t>A</a:t>
            </a:r>
            <a:r>
              <a:rPr lang="es-BO" b="1" dirty="0" smtClean="0"/>
              <a:t>ntiinflamatorios</a:t>
            </a:r>
            <a:r>
              <a:rPr lang="es-BO" b="1" dirty="0"/>
              <a:t>: irritación gástrica, </a:t>
            </a:r>
            <a:r>
              <a:rPr lang="es-BO" b="1" dirty="0" smtClean="0"/>
              <a:t>úlceras, hemorragia digestiva.</a:t>
            </a:r>
          </a:p>
          <a:p>
            <a:pPr>
              <a:buFont typeface="Wingdings" pitchFamily="2" charset="2"/>
              <a:buChar char="§"/>
            </a:pPr>
            <a:r>
              <a:rPr lang="es-BO" b="1" dirty="0"/>
              <a:t>O</a:t>
            </a:r>
            <a:r>
              <a:rPr lang="es-BO" b="1" dirty="0" smtClean="0"/>
              <a:t>piáceos</a:t>
            </a:r>
            <a:r>
              <a:rPr lang="es-BO" b="1" dirty="0"/>
              <a:t>: </a:t>
            </a:r>
            <a:r>
              <a:rPr lang="es-BO" b="1" dirty="0" smtClean="0"/>
              <a:t>estreñimiento. </a:t>
            </a:r>
          </a:p>
          <a:p>
            <a:pPr>
              <a:buFont typeface="Wingdings" pitchFamily="2" charset="2"/>
              <a:buChar char="§"/>
            </a:pPr>
            <a:r>
              <a:rPr lang="es-BO" b="1" dirty="0" err="1"/>
              <a:t>A</a:t>
            </a:r>
            <a:r>
              <a:rPr lang="es-BO" b="1" dirty="0" err="1" smtClean="0"/>
              <a:t>minoglucósidos</a:t>
            </a:r>
            <a:r>
              <a:rPr lang="es-BO" b="1" dirty="0"/>
              <a:t>: sordera, insuficiencia renal</a:t>
            </a:r>
            <a:r>
              <a:rPr lang="es-BO" b="1" dirty="0" smtClean="0"/>
              <a:t>. </a:t>
            </a:r>
            <a:r>
              <a:rPr lang="es-BO" b="1" dirty="0" err="1"/>
              <a:t>A</a:t>
            </a:r>
            <a:r>
              <a:rPr lang="es-BO" b="1" dirty="0" err="1" smtClean="0"/>
              <a:t>ntiparkinsonianos</a:t>
            </a:r>
            <a:r>
              <a:rPr lang="es-BO" b="1" dirty="0"/>
              <a:t>: náuseas, </a:t>
            </a:r>
            <a:r>
              <a:rPr lang="es-BO" b="1" dirty="0" smtClean="0"/>
              <a:t>delirios, Alucinaciones</a:t>
            </a:r>
            <a:r>
              <a:rPr lang="es-BO" b="1" dirty="0"/>
              <a:t>, hipotensión postural</a:t>
            </a:r>
            <a:r>
              <a:rPr lang="es-BO" b="1" dirty="0" smtClean="0"/>
              <a:t>. </a:t>
            </a:r>
            <a:r>
              <a:rPr lang="es-BO" b="1" dirty="0" err="1"/>
              <a:t>A</a:t>
            </a:r>
            <a:r>
              <a:rPr lang="es-BO" b="1" dirty="0" err="1" smtClean="0"/>
              <a:t>ntiarrítmicos</a:t>
            </a:r>
            <a:r>
              <a:rPr lang="es-BO" b="1" dirty="0"/>
              <a:t>: diarrea, retención urinaria</a:t>
            </a:r>
            <a:r>
              <a:rPr lang="es-BO" b="1" dirty="0" smtClean="0"/>
              <a:t>. Anticoagulantes: hemorragias, Antihipertensivos</a:t>
            </a:r>
            <a:r>
              <a:rPr lang="es-BO" b="1" dirty="0"/>
              <a:t>: hipotensión, sedación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381171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196752"/>
            <a:ext cx="6196405" cy="4526317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Antipsicóticos</a:t>
            </a:r>
            <a:r>
              <a:rPr lang="es-BO" b="1" dirty="0"/>
              <a:t>: sedación, </a:t>
            </a:r>
            <a:r>
              <a:rPr lang="es-BO" b="1" dirty="0" smtClean="0"/>
              <a:t>hipotensión, trastornos </a:t>
            </a:r>
            <a:r>
              <a:rPr lang="es-BO" b="1" dirty="0" err="1"/>
              <a:t>extrapiramidales</a:t>
            </a:r>
            <a:r>
              <a:rPr lang="es-BO" b="1" dirty="0"/>
              <a:t> del movimiento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Sedantes </a:t>
            </a:r>
            <a:r>
              <a:rPr lang="es-BO" b="1" dirty="0"/>
              <a:t>e hipnóticos: sedación </a:t>
            </a:r>
            <a:r>
              <a:rPr lang="es-BO" b="1" dirty="0" smtClean="0"/>
              <a:t>excesiva, delirio</a:t>
            </a:r>
            <a:r>
              <a:rPr lang="es-BO" b="1" dirty="0"/>
              <a:t>, trastornos de la marcha</a:t>
            </a:r>
            <a:r>
              <a:rPr lang="es-BO" b="1" dirty="0" smtClean="0"/>
              <a:t>.  </a:t>
            </a:r>
            <a:r>
              <a:rPr lang="es-BO" b="1" dirty="0" err="1"/>
              <a:t>Carbamacepina</a:t>
            </a:r>
            <a:r>
              <a:rPr lang="es-BO" b="1" dirty="0"/>
              <a:t>: anemia, </a:t>
            </a:r>
            <a:r>
              <a:rPr lang="es-BO" b="1" dirty="0" smtClean="0"/>
              <a:t>hiponatremia, neutropenia</a:t>
            </a:r>
          </a:p>
          <a:p>
            <a:pPr>
              <a:buFont typeface="Wingdings" pitchFamily="2" charset="2"/>
              <a:buChar char="§"/>
            </a:pPr>
            <a:r>
              <a:rPr lang="es-BO" b="1" dirty="0"/>
              <a:t>D</a:t>
            </a:r>
            <a:r>
              <a:rPr lang="es-BO" b="1" dirty="0" smtClean="0"/>
              <a:t>iuréticos</a:t>
            </a:r>
            <a:r>
              <a:rPr lang="es-BO" b="1" dirty="0"/>
              <a:t>: deshidratación, </a:t>
            </a:r>
            <a:r>
              <a:rPr lang="es-BO" b="1" dirty="0" smtClean="0"/>
              <a:t>hiponatremia, </a:t>
            </a:r>
            <a:r>
              <a:rPr lang="es-BO" b="1" dirty="0" err="1" smtClean="0"/>
              <a:t>hipopotasemia</a:t>
            </a:r>
            <a:r>
              <a:rPr lang="es-BO" b="1" dirty="0"/>
              <a:t>, incontinencia urinaria</a:t>
            </a:r>
            <a:r>
              <a:rPr lang="es-BO" b="1" dirty="0" smtClean="0"/>
              <a:t>. 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 err="1"/>
              <a:t>D</a:t>
            </a:r>
            <a:r>
              <a:rPr lang="es-BO" b="1" dirty="0" err="1" smtClean="0"/>
              <a:t>igoxina</a:t>
            </a:r>
            <a:r>
              <a:rPr lang="es-BO" b="1" dirty="0"/>
              <a:t>: nauseas, anorexia, arritmias.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N</a:t>
            </a:r>
            <a:r>
              <a:rPr lang="es-BO" b="1" dirty="0" smtClean="0"/>
              <a:t>itratos</a:t>
            </a:r>
            <a:r>
              <a:rPr lang="es-BO" b="1" dirty="0"/>
              <a:t>: hipotensión</a:t>
            </a:r>
          </a:p>
          <a:p>
            <a:pPr>
              <a:buFont typeface="Wingdings" pitchFamily="2" charset="2"/>
              <a:buChar char="§"/>
            </a:pPr>
            <a:r>
              <a:rPr lang="es-BO" b="1" dirty="0"/>
              <a:t>I</a:t>
            </a:r>
            <a:r>
              <a:rPr lang="es-BO" b="1" dirty="0" smtClean="0"/>
              <a:t>nsulina</a:t>
            </a:r>
            <a:r>
              <a:rPr lang="es-BO" b="1" dirty="0"/>
              <a:t>: hipoglucemia.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 </a:t>
            </a:r>
            <a:r>
              <a:rPr lang="es-BO" b="1" dirty="0"/>
              <a:t>A</a:t>
            </a:r>
            <a:r>
              <a:rPr lang="es-BO" b="1" dirty="0" smtClean="0"/>
              <a:t>ntidepresivos</a:t>
            </a:r>
            <a:r>
              <a:rPr lang="es-BO" b="1" dirty="0"/>
              <a:t>: </a:t>
            </a:r>
            <a:r>
              <a:rPr lang="es-BO" b="1" dirty="0" err="1"/>
              <a:t>hiper</a:t>
            </a:r>
            <a:r>
              <a:rPr lang="es-BO" b="1" dirty="0"/>
              <a:t> e hipotensión </a:t>
            </a:r>
            <a:r>
              <a:rPr lang="es-BO" b="1" dirty="0" smtClean="0"/>
              <a:t>arterial,</a:t>
            </a:r>
          </a:p>
          <a:p>
            <a:pPr>
              <a:buFont typeface="Wingdings" pitchFamily="2" charset="2"/>
              <a:buChar char="§"/>
            </a:pPr>
            <a:r>
              <a:rPr lang="es-BO" b="1" dirty="0" smtClean="0"/>
              <a:t>episodios </a:t>
            </a:r>
            <a:r>
              <a:rPr lang="es-BO" b="1" dirty="0"/>
              <a:t>cardiacos adversos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250188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75656" y="2119257"/>
            <a:ext cx="6183789" cy="36038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BO" b="1" dirty="0" smtClean="0"/>
          </a:p>
          <a:p>
            <a:pPr marL="0" indent="0" algn="just">
              <a:buNone/>
            </a:pPr>
            <a:r>
              <a:rPr lang="es-BO" b="1" dirty="0" smtClean="0"/>
              <a:t>«Las </a:t>
            </a:r>
            <a:r>
              <a:rPr lang="es-BO" b="1" dirty="0"/>
              <a:t>reacciones adversas en el anciano</a:t>
            </a:r>
          </a:p>
          <a:p>
            <a:pPr marL="0" indent="0" algn="just">
              <a:buNone/>
            </a:pPr>
            <a:r>
              <a:rPr lang="es-BO" b="1" dirty="0"/>
              <a:t>O</a:t>
            </a:r>
            <a:r>
              <a:rPr lang="es-BO" b="1" dirty="0" smtClean="0"/>
              <a:t>frecen </a:t>
            </a:r>
            <a:r>
              <a:rPr lang="es-BO" b="1" dirty="0"/>
              <a:t>la mayor parte de las veces </a:t>
            </a:r>
            <a:r>
              <a:rPr lang="es-BO" b="1" dirty="0" smtClean="0"/>
              <a:t>una sintomatología </a:t>
            </a:r>
            <a:r>
              <a:rPr lang="es-BO" b="1" dirty="0"/>
              <a:t>insidiosa, poco clara, </a:t>
            </a:r>
            <a:r>
              <a:rPr lang="es-BO" b="1" dirty="0" smtClean="0"/>
              <a:t>por lo que </a:t>
            </a:r>
            <a:r>
              <a:rPr lang="es-BO" b="1" dirty="0"/>
              <a:t>puede resultar muy </a:t>
            </a:r>
            <a:r>
              <a:rPr lang="es-BO" b="1" dirty="0" smtClean="0"/>
              <a:t>difícil diagnosticarlas»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954" y="4667321"/>
            <a:ext cx="1356870" cy="1359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980728"/>
            <a:ext cx="1199503" cy="148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183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1027242"/>
          </a:xfrm>
        </p:spPr>
        <p:txBody>
          <a:bodyPr>
            <a:normAutofit/>
          </a:bodyPr>
          <a:lstStyle/>
          <a:p>
            <a:r>
              <a:rPr lang="es-BO" sz="3200" b="1" dirty="0" smtClean="0">
                <a:latin typeface="+mn-lt"/>
              </a:rPr>
              <a:t>CUIDADOS DE ENFERMERIA</a:t>
            </a:r>
            <a:endParaRPr lang="es-BO" sz="3200" b="1" dirty="0">
              <a:latin typeface="+mn-lt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772816"/>
            <a:ext cx="6196405" cy="3950253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s-BO" b="1" dirty="0" smtClean="0"/>
              <a:t>Elaborar un perfil farmacológico.</a:t>
            </a:r>
          </a:p>
          <a:p>
            <a:pPr>
              <a:buFont typeface="Wingdings" pitchFamily="2" charset="2"/>
              <a:buChar char="v"/>
            </a:pPr>
            <a:r>
              <a:rPr lang="es-BO" b="1" dirty="0" smtClean="0"/>
              <a:t>Preguntar al paciente consumo de fármacos recetados y de venta libre</a:t>
            </a:r>
          </a:p>
          <a:p>
            <a:pPr>
              <a:buFont typeface="Wingdings" pitchFamily="2" charset="2"/>
              <a:buChar char="v"/>
            </a:pPr>
            <a:r>
              <a:rPr lang="es-BO" b="1" dirty="0" smtClean="0"/>
              <a:t>Comprobar si conoce su indicación y dosificación.</a:t>
            </a:r>
          </a:p>
          <a:p>
            <a:pPr>
              <a:buFont typeface="Wingdings" pitchFamily="2" charset="2"/>
              <a:buChar char="v"/>
            </a:pPr>
            <a:r>
              <a:rPr lang="es-BO" b="1" dirty="0" smtClean="0"/>
              <a:t>Consumo de alcohol, tabaco y cafeína </a:t>
            </a:r>
          </a:p>
          <a:p>
            <a:pPr>
              <a:buFont typeface="Wingdings" pitchFamily="2" charset="2"/>
              <a:buChar char="v"/>
            </a:pPr>
            <a:r>
              <a:rPr lang="es-BO" b="1" dirty="0" smtClean="0"/>
              <a:t>Averiguar si el paciente es capaza de tomar por si solo los medicamentos</a:t>
            </a:r>
          </a:p>
          <a:p>
            <a:pPr>
              <a:buFont typeface="Wingdings" pitchFamily="2" charset="2"/>
              <a:buChar char="v"/>
            </a:pPr>
            <a:r>
              <a:rPr lang="es-BO" b="1" dirty="0" smtClean="0"/>
              <a:t>Averiguar como a respondido a los medicamentos prescritos en el pasado</a:t>
            </a:r>
          </a:p>
          <a:p>
            <a:pPr marL="0" indent="0">
              <a:buNone/>
            </a:pPr>
            <a:endParaRPr lang="es-BO" dirty="0"/>
          </a:p>
          <a:p>
            <a:pPr marL="0" indent="0">
              <a:buNone/>
            </a:pP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37628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INTERVENCIONES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1988840"/>
            <a:ext cx="6196405" cy="3734229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En el momento del ingreso pida al paciente o familiares que traigan todo los medicamentos que este tomando (recetados y de consumo libre.</a:t>
            </a:r>
          </a:p>
          <a:p>
            <a:pPr algn="just">
              <a:buFont typeface="Wingdings" pitchFamily="2" charset="2"/>
              <a:buChar char="§"/>
            </a:pPr>
            <a:r>
              <a:rPr lang="es-BO" b="1" dirty="0" smtClean="0"/>
              <a:t>Explicar claramente la información sobre los nuevos fármacos, nombre del producto, motivo de su administración, dosis, horario y vía, comente las posibles reacciones adversas y que hacer cuando aparecen.</a:t>
            </a:r>
          </a:p>
          <a:p>
            <a:pPr>
              <a:buFont typeface="Wingdings" pitchFamily="2" charset="2"/>
              <a:buChar char="§"/>
            </a:pP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322827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052736"/>
            <a:ext cx="633670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s-BO" sz="6000" dirty="0" smtClean="0"/>
          </a:p>
          <a:p>
            <a:pPr marL="0" indent="0" algn="ctr">
              <a:buNone/>
            </a:pPr>
            <a:r>
              <a:rPr lang="es-BO" sz="6000" dirty="0" smtClean="0"/>
              <a:t>GRACIAS </a:t>
            </a:r>
          </a:p>
          <a:p>
            <a:pPr marL="0" indent="0" algn="ctr">
              <a:buNone/>
            </a:pPr>
            <a:endParaRPr lang="es-BO" sz="6000" dirty="0"/>
          </a:p>
        </p:txBody>
      </p:sp>
    </p:spTree>
    <p:extLst>
      <p:ext uri="{BB962C8B-B14F-4D97-AF65-F5344CB8AC3E}">
        <p14:creationId xmlns:p14="http://schemas.microsoft.com/office/powerpoint/2010/main" val="191502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incheta">
  <a:themeElements>
    <a:clrScheme name="Chincheta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Chincheta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inchet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615</TotalTime>
  <Words>2095</Words>
  <Application>Microsoft Office PowerPoint</Application>
  <PresentationFormat>Presentación en pantalla (4:3)</PresentationFormat>
  <Paragraphs>206</Paragraphs>
  <Slides>47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48" baseType="lpstr">
      <vt:lpstr>Chincheta</vt:lpstr>
      <vt:lpstr>FARMACOLOGIA EN EL ANCIANO</vt:lpstr>
      <vt:lpstr>FARMACO-EPEDEMIOLOGIA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POR LO TANTO</vt:lpstr>
      <vt:lpstr>FACTORES QUE INFLUYEN EN LA MEDICACION DEL ADULTO MAYOR</vt:lpstr>
      <vt:lpstr>1.- MODIFICACIONES BIOLÓGICAS.  </vt:lpstr>
      <vt:lpstr>CAMBIOS FISIOLÓGICOS DE LA VEJEZ CON REPERCUSIÓN EN LA FARMACOCINÉTICA</vt:lpstr>
      <vt:lpstr>CAMBIOS FISIOLÓGICOS DE LA VEJEZ CON REPERCUSIÓN EN LA FARMACOCINÉTICA</vt:lpstr>
      <vt:lpstr>Distribución:</vt:lpstr>
      <vt:lpstr>Presentación de PowerPoint</vt:lpstr>
      <vt:lpstr>Presentación de PowerPoint</vt:lpstr>
      <vt:lpstr>Presentación de PowerPoint</vt:lpstr>
      <vt:lpstr>Presentación de PowerPoint</vt:lpstr>
      <vt:lpstr>CAMBIOS FISIOLÓGICOS EN LA VEJEZ CON REPERCUSIÓN EN LA FARMACOCINÉTICA</vt:lpstr>
      <vt:lpstr>METABOLISMO DEL FÁRMACO</vt:lpstr>
      <vt:lpstr>REACCIONES QUÍMICAS IMPLICADAS</vt:lpstr>
      <vt:lpstr>VEJEZ Y ALTERACIÓN DEL METABOLISMO</vt:lpstr>
      <vt:lpstr>EJEMPLOS</vt:lpstr>
      <vt:lpstr>CAMBIOS FISIOLÓGICOS DE LA VEJEZ CON REPERCUSIÓN EN LA FARMACOCINÉTICA</vt:lpstr>
      <vt:lpstr>EXCRECIÓN DEL FÁRMACO</vt:lpstr>
      <vt:lpstr>Presentación de PowerPoint</vt:lpstr>
      <vt:lpstr>EXCRECIÓN DEL FÁRMACO</vt:lpstr>
      <vt:lpstr>2.- PLURIPATOLOGIA</vt:lpstr>
      <vt:lpstr>3.- FACTORES SOCIOCULTURALES. </vt:lpstr>
      <vt:lpstr>INCUMPLIMIENTO TERAPÉUTICO. </vt:lpstr>
      <vt:lpstr>INCUMPLIMIENTO TERAPÉUTICO. </vt:lpstr>
      <vt:lpstr>INCUMPLIMIENTO</vt:lpstr>
      <vt:lpstr>Presentación de PowerPoint</vt:lpstr>
      <vt:lpstr>INCUMPLIMIENTO</vt:lpstr>
      <vt:lpstr>Polifarmacia</vt:lpstr>
      <vt:lpstr>INTERACCIONES MEDICAMENTOSAS</vt:lpstr>
      <vt:lpstr>REACCIÓN ADVERSA A MEDICAMENTOS (RAM)</vt:lpstr>
      <vt:lpstr>REACCIÓN ADVERSA A MEDICAMENTOS (RAM)</vt:lpstr>
      <vt:lpstr>REACCIÓN ADVERSA A MEDICAMENTOS (RAM)</vt:lpstr>
      <vt:lpstr>Presentación de PowerPoint</vt:lpstr>
      <vt:lpstr>Principales RAM</vt:lpstr>
      <vt:lpstr>Presentación de PowerPoint</vt:lpstr>
      <vt:lpstr>Presentación de PowerPoint</vt:lpstr>
      <vt:lpstr>CUIDADOS DE ENFERMERIA</vt:lpstr>
      <vt:lpstr>INTERVENCIONES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Carmen Teran</dc:creator>
  <cp:lastModifiedBy>Carmen Teran</cp:lastModifiedBy>
  <cp:revision>32</cp:revision>
  <dcterms:created xsi:type="dcterms:W3CDTF">2014-11-25T23:37:15Z</dcterms:created>
  <dcterms:modified xsi:type="dcterms:W3CDTF">2014-11-29T04:10:12Z</dcterms:modified>
</cp:coreProperties>
</file>