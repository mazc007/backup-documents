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7" r:id="rId12"/>
    <p:sldId id="288" r:id="rId13"/>
    <p:sldId id="289" r:id="rId14"/>
    <p:sldId id="290" r:id="rId15"/>
    <p:sldId id="291" r:id="rId16"/>
    <p:sldId id="292" r:id="rId17"/>
    <p:sldId id="268" r:id="rId18"/>
    <p:sldId id="269" r:id="rId19"/>
    <p:sldId id="270" r:id="rId20"/>
    <p:sldId id="294" r:id="rId21"/>
    <p:sldId id="271" r:id="rId22"/>
    <p:sldId id="295" r:id="rId23"/>
    <p:sldId id="272" r:id="rId24"/>
    <p:sldId id="273" r:id="rId25"/>
    <p:sldId id="274" r:id="rId26"/>
    <p:sldId id="275" r:id="rId27"/>
    <p:sldId id="278" r:id="rId28"/>
    <p:sldId id="276" r:id="rId29"/>
    <p:sldId id="279" r:id="rId30"/>
    <p:sldId id="280" r:id="rId31"/>
    <p:sldId id="283" r:id="rId32"/>
    <p:sldId id="284" r:id="rId33"/>
    <p:sldId id="282" r:id="rId34"/>
    <p:sldId id="296" r:id="rId35"/>
    <p:sldId id="285" r:id="rId36"/>
    <p:sldId id="308" r:id="rId37"/>
    <p:sldId id="286" r:id="rId38"/>
    <p:sldId id="298" r:id="rId39"/>
    <p:sldId id="309" r:id="rId40"/>
    <p:sldId id="297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10" r:id="rId51"/>
  </p:sldIdLst>
  <p:sldSz cx="9144000" cy="6858000" type="screen4x3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55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28800" y="3159760"/>
            <a:ext cx="4572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1219200"/>
            <a:ext cx="7543800" cy="21526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375491"/>
            <a:ext cx="6172200" cy="6858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19CA-8ACF-4EB1-885A-1684E9F9B4A9}" type="datetimeFigureOut">
              <a:rPr lang="es-PE" smtClean="0"/>
              <a:t>15/03/2014</a:t>
            </a:fld>
            <a:endParaRPr lang="es-PE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6AE530-588E-4F10-A2A4-D89824D84202}" type="slidenum">
              <a:rPr lang="es-PE" smtClean="0"/>
              <a:t>‹Nº›</a:t>
            </a:fld>
            <a:endParaRPr lang="es-PE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P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19CA-8ACF-4EB1-885A-1684E9F9B4A9}" type="datetimeFigureOut">
              <a:rPr lang="es-PE" smtClean="0"/>
              <a:t>15/03/2014</a:t>
            </a:fld>
            <a:endParaRPr lang="es-PE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6AE530-588E-4F10-A2A4-D89824D84202}" type="slidenum">
              <a:rPr lang="es-PE" smtClean="0"/>
              <a:t>‹Nº›</a:t>
            </a:fld>
            <a:endParaRPr lang="es-PE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P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67200" y="4074497"/>
            <a:ext cx="4572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4267368"/>
            <a:ext cx="3733800" cy="73152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19CA-8ACF-4EB1-885A-1684E9F9B4A9}" type="datetimeFigureOut">
              <a:rPr lang="es-PE" smtClean="0"/>
              <a:t>15/03/2014</a:t>
            </a:fld>
            <a:endParaRPr lang="es-PE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6AE530-588E-4F10-A2A4-D89824D84202}" type="slidenum">
              <a:rPr lang="es-PE" smtClean="0"/>
              <a:t>‹Nº›</a:t>
            </a:fld>
            <a:endParaRPr lang="es-PE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0" y="1905000"/>
            <a:ext cx="6035040" cy="2350008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19CA-8ACF-4EB1-885A-1684E9F9B4A9}" type="datetimeFigureOut">
              <a:rPr lang="es-PE" smtClean="0"/>
              <a:t>15/03/2014</a:t>
            </a:fld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6AE530-588E-4F10-A2A4-D89824D84202}" type="slidenum">
              <a:rPr lang="es-PE" smtClean="0"/>
              <a:t>‹Nº›</a:t>
            </a:fld>
            <a:endParaRPr lang="es-PE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344168" y="658368"/>
            <a:ext cx="3273552" cy="34290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5029200" y="658368"/>
            <a:ext cx="3273552" cy="3432175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4168" y="1371600"/>
            <a:ext cx="3276600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2920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200" y="1371600"/>
            <a:ext cx="3273552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5664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8028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19CA-8ACF-4EB1-885A-1684E9F9B4A9}" type="datetimeFigureOut">
              <a:rPr lang="es-PE" smtClean="0"/>
              <a:t>15/03/2014</a:t>
            </a:fld>
            <a:endParaRPr lang="es-PE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6AE530-588E-4F10-A2A4-D89824D84202}" type="slidenum">
              <a:rPr lang="es-PE" smtClean="0"/>
              <a:t>‹Nº›</a:t>
            </a:fld>
            <a:endParaRPr lang="es-PE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P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19CA-8ACF-4EB1-885A-1684E9F9B4A9}" type="datetimeFigureOut">
              <a:rPr lang="es-PE" smtClean="0"/>
              <a:t>15/03/2014</a:t>
            </a:fld>
            <a:endParaRPr lang="es-PE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6AE530-588E-4F10-A2A4-D89824D84202}" type="slidenum">
              <a:rPr lang="es-PE" smtClean="0"/>
              <a:t>‹Nº›</a:t>
            </a:fld>
            <a:endParaRPr lang="es-P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P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19CA-8ACF-4EB1-885A-1684E9F9B4A9}" type="datetimeFigureOut">
              <a:rPr lang="es-PE" smtClean="0"/>
              <a:t>15/03/2014</a:t>
            </a:fld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6AE530-588E-4F10-A2A4-D89824D84202}" type="slidenum">
              <a:rPr lang="es-PE" smtClean="0"/>
              <a:t>‹Nº›</a:t>
            </a:fld>
            <a:endParaRPr lang="es-PE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P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328920" y="1774588"/>
            <a:ext cx="4572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1"/>
            <a:ext cx="4343400" cy="342900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0" y="685801"/>
            <a:ext cx="2590800" cy="3429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19CA-8ACF-4EB1-885A-1684E9F9B4A9}" type="datetimeFigureOut">
              <a:rPr lang="es-PE" smtClean="0"/>
              <a:t>15/03/2014</a:t>
            </a:fld>
            <a:endParaRPr lang="es-PE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6AE530-588E-4F10-A2A4-D89824D84202}" type="slidenum">
              <a:rPr lang="es-PE" smtClean="0"/>
              <a:t>‹Nº›</a:t>
            </a:fld>
            <a:endParaRPr lang="es-PE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19200" y="612775"/>
            <a:ext cx="6705600" cy="2546985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43200" y="3453047"/>
            <a:ext cx="5029200" cy="72080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5352" y="3331464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19CA-8ACF-4EB1-885A-1684E9F9B4A9}" type="datetimeFigureOut">
              <a:rPr lang="es-PE" smtClean="0"/>
              <a:t>15/03/2014</a:t>
            </a:fld>
            <a:endParaRPr lang="es-PE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6AE530-588E-4F10-A2A4-D89824D84202}" type="slidenum">
              <a:rPr lang="es-PE" smtClean="0"/>
              <a:t>‹Nº›</a:t>
            </a:fld>
            <a:endParaRPr lang="es-PE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P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3600" y="685801"/>
            <a:ext cx="5791200" cy="3505199"/>
          </a:xfrm>
        </p:spPr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19CA-8ACF-4EB1-885A-1684E9F9B4A9}" type="datetimeFigureOut">
              <a:rPr lang="es-PE" smtClean="0"/>
              <a:t>15/03/2014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E530-588E-4F10-A2A4-D89824D84202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9600" y="609601"/>
            <a:ext cx="2133600" cy="51816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95600" y="685801"/>
            <a:ext cx="5029200" cy="4572000"/>
          </a:xfrm>
        </p:spPr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19CA-8ACF-4EB1-885A-1684E9F9B4A9}" type="datetimeFigureOut">
              <a:rPr lang="es-PE" smtClean="0"/>
              <a:t>15/03/2014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E530-588E-4F10-A2A4-D89824D84202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  <a:alpha val="36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9724275">
            <a:off x="1373221" y="1038440"/>
            <a:ext cx="7240620" cy="570698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17656910">
            <a:off x="-274211" y="1165875"/>
            <a:ext cx="5538472" cy="4480459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3277955" y="116854"/>
            <a:ext cx="6479362" cy="475475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403A19CA-8ACF-4EB1-885A-1684E9F9B4A9}" type="datetimeFigureOut">
              <a:rPr lang="es-PE" smtClean="0"/>
              <a:t>15/03/2014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196AE530-588E-4F10-A2A4-D89824D84202}" type="slidenum">
              <a:rPr lang="es-PE" smtClean="0"/>
              <a:t>‹Nº›</a:t>
            </a:fld>
            <a:endParaRPr lang="es-PE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56032" algn="l" defTabSz="914400" rtl="0" eaLnBrk="1" latinLnBrk="0" hangingPunct="1">
        <a:spcBef>
          <a:spcPct val="20000"/>
        </a:spcBef>
        <a:spcAft>
          <a:spcPts val="0"/>
        </a:spcAft>
        <a:buSzPct val="60000"/>
        <a:buFont typeface="Wingdings" pitchFamily="2" charset="2"/>
        <a:buChar char=""/>
        <a:defRPr sz="21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400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7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371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64592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5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96596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1124744"/>
            <a:ext cx="7772400" cy="1780108"/>
          </a:xfrm>
        </p:spPr>
        <p:txBody>
          <a:bodyPr/>
          <a:lstStyle/>
          <a:p>
            <a:r>
              <a:rPr lang="es-PE" b="1" dirty="0" smtClean="0"/>
              <a:t>CASO CLINICO N° 3</a:t>
            </a:r>
            <a:endParaRPr lang="es-PE" b="1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923928" y="3429000"/>
            <a:ext cx="4896544" cy="1728192"/>
          </a:xfrm>
        </p:spPr>
        <p:txBody>
          <a:bodyPr/>
          <a:lstStyle/>
          <a:p>
            <a:r>
              <a:rPr lang="es-PE" b="1" dirty="0" smtClean="0"/>
              <a:t>LIC VERONICA ROCHA ORTEGA</a:t>
            </a:r>
          </a:p>
          <a:p>
            <a:r>
              <a:rPr lang="es-PE" b="1" dirty="0" smtClean="0"/>
              <a:t>LIC CELIA MENDOZA VILLCA</a:t>
            </a:r>
            <a:endParaRPr lang="es-PE" b="1" dirty="0"/>
          </a:p>
        </p:txBody>
      </p:sp>
      <p:pic>
        <p:nvPicPr>
          <p:cNvPr id="1026" name="Picture 2" descr="D:\Documentos\Escritorio\CELIA NUEVO\MAESTRIA MQ TRABAJOS\CARDIO\fistula\4-Sala-de-nefrologia-WE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356992"/>
            <a:ext cx="2773348" cy="2044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714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1493551" y="620688"/>
            <a:ext cx="6048672" cy="574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PE" sz="2400" b="1" dirty="0" smtClean="0">
                <a:solidFill>
                  <a:schemeClr val="tx1"/>
                </a:solidFill>
                <a:effectLst/>
                <a:latin typeface="Tempus Sans ITC"/>
                <a:ea typeface="Calibri"/>
                <a:cs typeface="Times New Roman"/>
              </a:rPr>
              <a:t>S.G.D. paciente de sexo femenino de 55 años de edad. Cuyo motivo de consulta fue de debilidad hace 3 días, presenta astenia, adinamia, mareos, cefalea. Evaluada previamente  en otro Centro donde le diagnosticaron Enfermedad Renal Crónica con necesidad de apoyo dialítico. </a:t>
            </a:r>
            <a:endParaRPr lang="es-PE" sz="1600" dirty="0" smtClean="0">
              <a:solidFill>
                <a:schemeClr val="tx1"/>
              </a:solidFill>
              <a:effectLst/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PE" sz="2400" b="1" dirty="0" smtClean="0">
                <a:solidFill>
                  <a:schemeClr val="tx1"/>
                </a:solidFill>
                <a:effectLst/>
                <a:latin typeface="Tempus Sans ITC"/>
                <a:ea typeface="Calibri"/>
                <a:cs typeface="Times New Roman"/>
              </a:rPr>
              <a:t>Tiene antecedentes de  HTA mal manejada en cuanto a medicación por la paciente, se le realizo una FAV  en el brazo izquierdo pobre en el desarrollo en el posoperatorio, posterior a esta se le vuelve a realizar una FAV en brazo derecho en proceso de maduración.</a:t>
            </a:r>
            <a:endParaRPr lang="es-PE" sz="2400" dirty="0"/>
          </a:p>
        </p:txBody>
      </p:sp>
      <p:pic>
        <p:nvPicPr>
          <p:cNvPr id="6" name="5 Imagen" descr="D:\Documentos\Escritorio\CELIA NUEVO\MAESTRIA MQ TRABAJOS\PAE PREORETATORIO LIC LUPE\celia renal\dia_mundial_cancer_renal.jpg"/>
          <p:cNvPicPr/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223" y="5373216"/>
            <a:ext cx="1422266" cy="11339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922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31640" y="1268760"/>
            <a:ext cx="6035040" cy="2350008"/>
          </a:xfrm>
        </p:spPr>
        <p:txBody>
          <a:bodyPr>
            <a:normAutofit/>
          </a:bodyPr>
          <a:lstStyle/>
          <a:p>
            <a:pPr algn="ctr"/>
            <a:r>
              <a:rPr lang="es-ES_tradnl" b="1" dirty="0"/>
              <a:t>MINI PROCESO DE </a:t>
            </a:r>
            <a:r>
              <a:rPr lang="es-ES_tradnl" b="1" dirty="0" smtClean="0"/>
              <a:t>ENFERMERIA</a:t>
            </a:r>
            <a:endParaRPr lang="es-PE" b="1" dirty="0"/>
          </a:p>
        </p:txBody>
      </p:sp>
      <p:pic>
        <p:nvPicPr>
          <p:cNvPr id="3074" name="Picture 2" descr="D:\Documentos\Escritorio\CELIA NUEVO\MAESTRIA MQ TRABAJOS\CARDIO\fistula\imagesaa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4077072"/>
            <a:ext cx="2664296" cy="2229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4516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Título"/>
          <p:cNvSpPr>
            <a:spLocks noGrp="1"/>
          </p:cNvSpPr>
          <p:nvPr>
            <p:ph type="title" idx="4294967295"/>
          </p:nvPr>
        </p:nvSpPr>
        <p:spPr>
          <a:xfrm>
            <a:off x="827584" y="476672"/>
            <a:ext cx="7543800" cy="914400"/>
          </a:xfrm>
        </p:spPr>
        <p:txBody>
          <a:bodyPr/>
          <a:lstStyle/>
          <a:p>
            <a:pPr algn="ctr"/>
            <a:r>
              <a:rPr lang="es-PE" b="1" dirty="0" smtClean="0"/>
              <a:t>DATOS GENERALES</a:t>
            </a:r>
            <a:endParaRPr lang="es-PE" b="1" dirty="0"/>
          </a:p>
        </p:txBody>
      </p:sp>
      <p:graphicFrame>
        <p:nvGraphicFramePr>
          <p:cNvPr id="8" name="7 Marcador de contenido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741282658"/>
              </p:ext>
            </p:extLst>
          </p:nvPr>
        </p:nvGraphicFramePr>
        <p:xfrm>
          <a:off x="1115616" y="1556792"/>
          <a:ext cx="7200800" cy="4320481"/>
        </p:xfrm>
        <a:graphic>
          <a:graphicData uri="http://schemas.openxmlformats.org/drawingml/2006/table">
            <a:tbl>
              <a:tblPr firstRow="1" firstCol="1" bandRow="1">
                <a:tableStyleId>{08FB837D-C827-4EFA-A057-4D05807E0F7C}</a:tableStyleId>
              </a:tblPr>
              <a:tblGrid>
                <a:gridCol w="3511377"/>
                <a:gridCol w="3689423"/>
              </a:tblGrid>
              <a:tr h="1026197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50000"/>
                        </a:lnSpc>
                        <a:buFont typeface="Symbol"/>
                        <a:buChar char=""/>
                        <a:tabLst>
                          <a:tab pos="198120" algn="l"/>
                        </a:tabLst>
                      </a:pPr>
                      <a:r>
                        <a:rPr lang="es-ES_tradnl" sz="2000" dirty="0">
                          <a:solidFill>
                            <a:schemeClr val="bg1"/>
                          </a:solidFill>
                          <a:effectLst/>
                        </a:rPr>
                        <a:t>Edad: </a:t>
                      </a:r>
                      <a:r>
                        <a:rPr lang="es-ES_tradnl" sz="2000" b="0" dirty="0">
                          <a:solidFill>
                            <a:schemeClr val="bg1"/>
                          </a:solidFill>
                          <a:effectLst/>
                        </a:rPr>
                        <a:t>55 años </a:t>
                      </a:r>
                      <a:r>
                        <a:rPr lang="es-ES_tradnl" sz="2000" dirty="0">
                          <a:solidFill>
                            <a:schemeClr val="bg1"/>
                          </a:solidFill>
                          <a:effectLst/>
                        </a:rPr>
                        <a:t>                                       </a:t>
                      </a:r>
                      <a:endParaRPr lang="es-PE" sz="1800" dirty="0">
                        <a:solidFill>
                          <a:schemeClr val="bg1"/>
                        </a:solidFill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55641" marR="55641" marT="0" marB="0"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50000"/>
                        </a:lnSpc>
                        <a:buFont typeface="Symbol"/>
                        <a:buChar char=""/>
                      </a:pPr>
                      <a:r>
                        <a:rPr lang="es-ES_tradnl" sz="2000" dirty="0">
                          <a:solidFill>
                            <a:schemeClr val="bg1"/>
                          </a:solidFill>
                          <a:effectLst/>
                        </a:rPr>
                        <a:t>Servicio: </a:t>
                      </a:r>
                      <a:r>
                        <a:rPr lang="es-ES_tradnl" sz="2000" b="0" dirty="0">
                          <a:solidFill>
                            <a:schemeClr val="bg1"/>
                          </a:solidFill>
                          <a:effectLst/>
                        </a:rPr>
                        <a:t>Neurocirugía</a:t>
                      </a:r>
                      <a:endParaRPr lang="es-PE" sz="1800" b="0" dirty="0">
                        <a:solidFill>
                          <a:schemeClr val="bg1"/>
                        </a:solidFill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55641" marR="55641" marT="0" marB="0" anchor="ctr"/>
                </a:tc>
              </a:tr>
              <a:tr h="1170244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50000"/>
                        </a:lnSpc>
                        <a:buFont typeface="Symbol"/>
                        <a:buChar char=""/>
                        <a:tabLst>
                          <a:tab pos="198120" algn="l"/>
                        </a:tabLst>
                      </a:pPr>
                      <a:r>
                        <a:rPr lang="es-ES_tradnl" sz="2000" dirty="0">
                          <a:effectLst/>
                        </a:rPr>
                        <a:t>Procedencia: </a:t>
                      </a:r>
                      <a:r>
                        <a:rPr lang="es-ES_tradnl" sz="2000" b="0" dirty="0">
                          <a:effectLst/>
                        </a:rPr>
                        <a:t>Ladislao Cabrera - Oruro  </a:t>
                      </a:r>
                      <a:r>
                        <a:rPr lang="es-ES_tradnl" sz="2000" dirty="0">
                          <a:effectLst/>
                        </a:rPr>
                        <a:t>                             </a:t>
                      </a:r>
                      <a:endParaRPr lang="es-PE" sz="1800" dirty="0"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55641" marR="55641" marT="0" marB="0"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50000"/>
                        </a:lnSpc>
                        <a:buFont typeface="Symbol"/>
                        <a:buChar char=""/>
                      </a:pPr>
                      <a:r>
                        <a:rPr lang="es-ES_tradnl" sz="2000" b="1" dirty="0">
                          <a:effectLst/>
                        </a:rPr>
                        <a:t>N° de Cama: </a:t>
                      </a:r>
                      <a:r>
                        <a:rPr lang="es-ES_tradnl" sz="2000" dirty="0">
                          <a:effectLst/>
                        </a:rPr>
                        <a:t>3</a:t>
                      </a:r>
                      <a:endParaRPr lang="es-PE" sz="1800" dirty="0"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55641" marR="55641" marT="0" marB="0" anchor="ctr"/>
                </a:tc>
              </a:tr>
              <a:tr h="1100156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buFont typeface="Symbol"/>
                        <a:buChar char=""/>
                        <a:tabLst>
                          <a:tab pos="198120" algn="l"/>
                        </a:tabLst>
                      </a:pPr>
                      <a:r>
                        <a:rPr lang="es-ES_tradnl" sz="2000" dirty="0">
                          <a:effectLst/>
                        </a:rPr>
                        <a:t>Sexo: </a:t>
                      </a:r>
                      <a:r>
                        <a:rPr lang="es-ES_tradnl" sz="2000" b="0" dirty="0">
                          <a:effectLst/>
                        </a:rPr>
                        <a:t>Femenino    </a:t>
                      </a:r>
                      <a:r>
                        <a:rPr lang="es-ES_tradnl" sz="2000" dirty="0">
                          <a:effectLst/>
                        </a:rPr>
                        <a:t>                      </a:t>
                      </a:r>
                      <a:endParaRPr lang="es-PE" sz="1800" dirty="0"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55641" marR="55641" marT="0" marB="0"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Symbol"/>
                        <a:buChar char=""/>
                        <a:tabLst>
                          <a:tab pos="260985" algn="l"/>
                        </a:tabLst>
                      </a:pPr>
                      <a:r>
                        <a:rPr lang="es-ES_tradnl" sz="2000" b="1" dirty="0">
                          <a:effectLst/>
                        </a:rPr>
                        <a:t>Estado Civil: </a:t>
                      </a:r>
                      <a:r>
                        <a:rPr lang="es-ES_tradnl" sz="2000" dirty="0">
                          <a:effectLst/>
                        </a:rPr>
                        <a:t>Casada                         </a:t>
                      </a:r>
                      <a:endParaRPr lang="es-P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5641" marR="55641" marT="0" marB="0" anchor="ctr"/>
                </a:tc>
              </a:tr>
              <a:tr h="1023884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s-ES_tradnl" sz="2000" dirty="0">
                          <a:effectLst/>
                        </a:rPr>
                        <a:t>Religión: </a:t>
                      </a:r>
                      <a:r>
                        <a:rPr lang="es-ES_tradnl" sz="2000" b="0" dirty="0">
                          <a:effectLst/>
                        </a:rPr>
                        <a:t>Católica</a:t>
                      </a:r>
                      <a:endParaRPr lang="es-PE" sz="1800" b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5641" marR="55641" marT="0" marB="0"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Symbol"/>
                        <a:buChar char=""/>
                      </a:pPr>
                      <a:r>
                        <a:rPr lang="es-ES_tradnl" sz="2000" b="1" dirty="0">
                          <a:effectLst/>
                        </a:rPr>
                        <a:t>Ocupación: </a:t>
                      </a:r>
                      <a:r>
                        <a:rPr lang="es-ES_tradnl" sz="2000" dirty="0">
                          <a:effectLst/>
                        </a:rPr>
                        <a:t>Ama de Casa</a:t>
                      </a:r>
                      <a:endParaRPr lang="es-P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5641" marR="55641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134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Título"/>
          <p:cNvSpPr>
            <a:spLocks noGrp="1"/>
          </p:cNvSpPr>
          <p:nvPr>
            <p:ph type="title"/>
          </p:nvPr>
        </p:nvSpPr>
        <p:spPr>
          <a:xfrm>
            <a:off x="1116566" y="692696"/>
            <a:ext cx="69108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3200" b="1" dirty="0"/>
              <a:t>ENFERMEDAD RENAL CRONICA</a:t>
            </a:r>
            <a:endParaRPr lang="es-PE" sz="3200" dirty="0"/>
          </a:p>
        </p:txBody>
      </p:sp>
      <p:sp>
        <p:nvSpPr>
          <p:cNvPr id="12" name="11 Rectángulo"/>
          <p:cNvSpPr/>
          <p:nvPr/>
        </p:nvSpPr>
        <p:spPr>
          <a:xfrm>
            <a:off x="899592" y="1628800"/>
            <a:ext cx="6120680" cy="44012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ES" sz="2800" b="1" dirty="0">
                <a:solidFill>
                  <a:schemeClr val="bg1"/>
                </a:solidFill>
                <a:latin typeface="Bodoni MT" pitchFamily="18" charset="0"/>
              </a:rPr>
              <a:t>Definición:</a:t>
            </a:r>
            <a:endParaRPr lang="es-PE" sz="2800" dirty="0">
              <a:solidFill>
                <a:schemeClr val="bg1"/>
              </a:solidFill>
              <a:latin typeface="Bodoni MT" pitchFamily="18" charset="0"/>
            </a:endParaRPr>
          </a:p>
          <a:p>
            <a:pPr algn="just"/>
            <a:r>
              <a:rPr lang="es-PE" sz="2800" dirty="0" smtClean="0">
                <a:solidFill>
                  <a:schemeClr val="bg1"/>
                </a:solidFill>
                <a:latin typeface="Bodoni MT" pitchFamily="18" charset="0"/>
              </a:rPr>
              <a:t>Situación en </a:t>
            </a:r>
            <a:r>
              <a:rPr lang="es-PE" sz="2800" dirty="0">
                <a:solidFill>
                  <a:schemeClr val="bg1"/>
                </a:solidFill>
                <a:latin typeface="Bodoni MT" pitchFamily="18" charset="0"/>
              </a:rPr>
              <a:t>la cual los riñones son insuficientes para mantener de manera adecuada la homeostasis del medio interno a causa de una lesión estructural irreversible presente en un largo periodo de tiempo. Se define como la presencia de un </a:t>
            </a:r>
            <a:r>
              <a:rPr lang="es-PE" sz="2800" b="1" dirty="0">
                <a:solidFill>
                  <a:schemeClr val="bg1"/>
                </a:solidFill>
                <a:latin typeface="Bodoni MT" pitchFamily="18" charset="0"/>
              </a:rPr>
              <a:t> </a:t>
            </a:r>
            <a:r>
              <a:rPr lang="es-PE" sz="2800" b="1" i="1" dirty="0">
                <a:solidFill>
                  <a:schemeClr val="bg1"/>
                </a:solidFill>
                <a:latin typeface="Bodoni MT" pitchFamily="18" charset="0"/>
              </a:rPr>
              <a:t>filtrado glomerular de &lt; 60 ml / min durante 3 o más meses.</a:t>
            </a:r>
            <a:endParaRPr lang="es-PE" sz="2800" dirty="0">
              <a:solidFill>
                <a:schemeClr val="bg1"/>
              </a:solidFill>
              <a:latin typeface="Bodoni MT" pitchFamily="18" charset="0"/>
            </a:endParaRPr>
          </a:p>
        </p:txBody>
      </p:sp>
      <p:pic>
        <p:nvPicPr>
          <p:cNvPr id="5122" name="Picture 2" descr="D:\Documentos\Escritorio\CELIA NUEVO\MAESTRIA MQ TRABAJOS\CARDIO\fistula\índice  d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784" y="2329175"/>
            <a:ext cx="1258481" cy="138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952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1043608" y="764704"/>
            <a:ext cx="5904656" cy="440120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ES" sz="2800" b="1" dirty="0">
                <a:solidFill>
                  <a:schemeClr val="bg1"/>
                </a:solidFill>
              </a:rPr>
              <a:t>Etiología:</a:t>
            </a:r>
            <a:endParaRPr lang="es-PE" sz="2800" dirty="0">
              <a:solidFill>
                <a:schemeClr val="bg1"/>
              </a:solidFill>
            </a:endParaRPr>
          </a:p>
          <a:p>
            <a:pPr algn="just"/>
            <a:endParaRPr lang="es-PE" sz="2800" dirty="0" smtClean="0">
              <a:solidFill>
                <a:schemeClr val="bg1"/>
              </a:solidFill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s-PE" sz="2800" b="1" i="1" dirty="0" smtClean="0">
                <a:solidFill>
                  <a:schemeClr val="bg1"/>
                </a:solidFill>
              </a:rPr>
              <a:t>Diabetes </a:t>
            </a:r>
            <a:r>
              <a:rPr lang="es-PE" sz="2800" dirty="0" smtClean="0">
                <a:solidFill>
                  <a:schemeClr val="bg1"/>
                </a:solidFill>
              </a:rPr>
              <a:t>(nefropatía </a:t>
            </a:r>
            <a:r>
              <a:rPr lang="es-PE" sz="2800" dirty="0">
                <a:solidFill>
                  <a:schemeClr val="bg1"/>
                </a:solidFill>
              </a:rPr>
              <a:t>diabética</a:t>
            </a:r>
            <a:r>
              <a:rPr lang="es-PE" sz="2800" dirty="0" smtClean="0">
                <a:solidFill>
                  <a:schemeClr val="bg1"/>
                </a:solidFill>
              </a:rPr>
              <a:t>)</a:t>
            </a:r>
          </a:p>
          <a:p>
            <a:pPr algn="just"/>
            <a:endParaRPr lang="es-PE" sz="2800" dirty="0" smtClean="0">
              <a:solidFill>
                <a:schemeClr val="bg1"/>
              </a:solidFill>
            </a:endParaRPr>
          </a:p>
          <a:p>
            <a:pPr algn="just"/>
            <a:endParaRPr lang="es-PE" sz="2800" dirty="0">
              <a:solidFill>
                <a:schemeClr val="bg1"/>
              </a:solidFill>
            </a:endParaRPr>
          </a:p>
          <a:p>
            <a:pPr algn="just"/>
            <a:endParaRPr lang="es-PE" sz="2800" dirty="0" smtClean="0">
              <a:solidFill>
                <a:schemeClr val="bg1"/>
              </a:solidFill>
            </a:endParaRPr>
          </a:p>
          <a:p>
            <a:pPr algn="just"/>
            <a:endParaRPr lang="es-PE" sz="2800" dirty="0" smtClean="0">
              <a:solidFill>
                <a:schemeClr val="bg1"/>
              </a:solidFill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s-PE" sz="2800" b="1" i="1" dirty="0" smtClean="0">
                <a:solidFill>
                  <a:schemeClr val="bg1"/>
                </a:solidFill>
              </a:rPr>
              <a:t>Hipertensión arterial	</a:t>
            </a:r>
            <a:r>
              <a:rPr lang="es-PE" sz="2800" dirty="0" smtClean="0">
                <a:solidFill>
                  <a:schemeClr val="bg1"/>
                </a:solidFill>
              </a:rPr>
              <a:t> (</a:t>
            </a:r>
            <a:r>
              <a:rPr lang="es-PE" sz="2800" dirty="0">
                <a:solidFill>
                  <a:schemeClr val="bg1"/>
                </a:solidFill>
              </a:rPr>
              <a:t>nefroangioesclerosis).</a:t>
            </a:r>
          </a:p>
          <a:p>
            <a:pPr algn="just"/>
            <a:r>
              <a:rPr lang="es-PE" sz="2800" dirty="0" smtClean="0"/>
              <a:t> </a:t>
            </a:r>
            <a:endParaRPr lang="es-PE" sz="2800" dirty="0"/>
          </a:p>
        </p:txBody>
      </p:sp>
      <p:pic>
        <p:nvPicPr>
          <p:cNvPr id="4099" name="Picture 3" descr="D:\Documentos\Escritorio\CELIA NUEVO\MAESTRIA MQ TRABAJOS\CARDIO\fistula\image00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796234"/>
            <a:ext cx="2133600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ocumentos\Escritorio\CELIA NUEVO\MAESTRIA MQ TRABAJOS\CARDIO\fistula\imagesew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264" y="3861048"/>
            <a:ext cx="1986136" cy="198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2140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332656"/>
            <a:ext cx="7543800" cy="914400"/>
          </a:xfrm>
        </p:spPr>
        <p:txBody>
          <a:bodyPr/>
          <a:lstStyle/>
          <a:p>
            <a:r>
              <a:rPr lang="es-PE" dirty="0">
                <a:effectLst/>
              </a:rPr>
              <a:t/>
            </a:r>
            <a:br>
              <a:rPr lang="es-PE" dirty="0">
                <a:effectLst/>
              </a:rPr>
            </a:br>
            <a:r>
              <a:rPr lang="es-ES" b="1" dirty="0">
                <a:effectLst/>
              </a:rPr>
              <a:t>Manifestaciones Clínicas:</a:t>
            </a:r>
            <a:endParaRPr lang="es-PE" dirty="0"/>
          </a:p>
        </p:txBody>
      </p:sp>
      <p:sp>
        <p:nvSpPr>
          <p:cNvPr id="4" name="3 Rectángulo"/>
          <p:cNvSpPr/>
          <p:nvPr/>
        </p:nvSpPr>
        <p:spPr>
          <a:xfrm>
            <a:off x="899592" y="1700809"/>
            <a:ext cx="5976664" cy="34163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lvl="0" indent="-457200">
              <a:buFont typeface="Wingdings" pitchFamily="2" charset="2"/>
              <a:buChar char="q"/>
            </a:pPr>
            <a:r>
              <a:rPr lang="es-PE" sz="2400" dirty="0">
                <a:solidFill>
                  <a:schemeClr val="bg1"/>
                </a:solidFill>
              </a:rPr>
              <a:t>Alteraciones hidroelectrolíticas y del equilibrio ácido base:</a:t>
            </a:r>
          </a:p>
          <a:p>
            <a:pPr marL="457200" lvl="0" indent="-457200">
              <a:buFont typeface="Wingdings" pitchFamily="2" charset="2"/>
              <a:buChar char="q"/>
            </a:pPr>
            <a:r>
              <a:rPr lang="es-PE" sz="2400" dirty="0">
                <a:solidFill>
                  <a:schemeClr val="bg1"/>
                </a:solidFill>
              </a:rPr>
              <a:t>Alteraciones endocrino – metabólicas </a:t>
            </a:r>
          </a:p>
          <a:p>
            <a:pPr marL="457200" lvl="0" indent="-457200">
              <a:buFont typeface="Wingdings" pitchFamily="2" charset="2"/>
              <a:buChar char="q"/>
            </a:pPr>
            <a:r>
              <a:rPr lang="es-PE" sz="2400" dirty="0">
                <a:solidFill>
                  <a:schemeClr val="bg1"/>
                </a:solidFill>
              </a:rPr>
              <a:t>Alteraciones hematológicas </a:t>
            </a:r>
          </a:p>
          <a:p>
            <a:pPr marL="457200" lvl="0" indent="-457200">
              <a:buFont typeface="Wingdings" pitchFamily="2" charset="2"/>
              <a:buChar char="q"/>
            </a:pPr>
            <a:r>
              <a:rPr lang="es-PE" sz="2400" dirty="0">
                <a:solidFill>
                  <a:schemeClr val="bg1"/>
                </a:solidFill>
              </a:rPr>
              <a:t>Osteodistrofia renal</a:t>
            </a:r>
          </a:p>
          <a:p>
            <a:pPr marL="457200" lvl="0" indent="-457200">
              <a:buFont typeface="Wingdings" pitchFamily="2" charset="2"/>
              <a:buChar char="q"/>
            </a:pPr>
            <a:r>
              <a:rPr lang="es-PE" sz="2400" dirty="0">
                <a:solidFill>
                  <a:schemeClr val="bg1"/>
                </a:solidFill>
              </a:rPr>
              <a:t>Complicaciones digestivas</a:t>
            </a:r>
          </a:p>
          <a:p>
            <a:pPr marL="457200" lvl="0" indent="-457200">
              <a:buFont typeface="Wingdings" pitchFamily="2" charset="2"/>
              <a:buChar char="q"/>
            </a:pPr>
            <a:r>
              <a:rPr lang="es-PE" sz="2400" dirty="0">
                <a:solidFill>
                  <a:schemeClr val="bg1"/>
                </a:solidFill>
              </a:rPr>
              <a:t>Complicaciones cardiovasculares </a:t>
            </a:r>
          </a:p>
          <a:p>
            <a:pPr marL="457200" lvl="0" indent="-457200">
              <a:buFont typeface="Wingdings" pitchFamily="2" charset="2"/>
              <a:buChar char="q"/>
            </a:pPr>
            <a:r>
              <a:rPr lang="es-PE" sz="2400" dirty="0">
                <a:solidFill>
                  <a:schemeClr val="bg1"/>
                </a:solidFill>
              </a:rPr>
              <a:t>Complicaciones neurológicas </a:t>
            </a:r>
          </a:p>
          <a:p>
            <a:pPr marL="457200" lvl="0" indent="-457200">
              <a:buFont typeface="Wingdings" pitchFamily="2" charset="2"/>
              <a:buChar char="q"/>
            </a:pPr>
            <a:r>
              <a:rPr lang="es-PE" sz="2400" dirty="0">
                <a:solidFill>
                  <a:schemeClr val="bg1"/>
                </a:solidFill>
              </a:rPr>
              <a:t>Complicaciones cutáneas </a:t>
            </a:r>
          </a:p>
        </p:txBody>
      </p:sp>
      <p:pic>
        <p:nvPicPr>
          <p:cNvPr id="6146" name="Picture 2" descr="D:\Documentos\Escritorio\CELIA NUEVO\MAESTRIA MQ TRABAJOS\CARDIO\fistula\imageszzzz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205" y="4869160"/>
            <a:ext cx="2527206" cy="177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3057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620688"/>
            <a:ext cx="7543800" cy="914400"/>
          </a:xfrm>
        </p:spPr>
        <p:txBody>
          <a:bodyPr/>
          <a:lstStyle/>
          <a:p>
            <a:pPr algn="ctr"/>
            <a:r>
              <a:rPr lang="es-PE" dirty="0">
                <a:effectLst/>
              </a:rPr>
              <a:t/>
            </a:r>
            <a:br>
              <a:rPr lang="es-PE" dirty="0">
                <a:effectLst/>
              </a:rPr>
            </a:br>
            <a:r>
              <a:rPr lang="es-ES" b="1" dirty="0">
                <a:effectLst/>
              </a:rPr>
              <a:t>Tratamiento:</a:t>
            </a:r>
            <a:endParaRPr lang="es-PE" dirty="0"/>
          </a:p>
        </p:txBody>
      </p:sp>
      <p:sp>
        <p:nvSpPr>
          <p:cNvPr id="3" name="2 Rectángulo"/>
          <p:cNvSpPr/>
          <p:nvPr/>
        </p:nvSpPr>
        <p:spPr>
          <a:xfrm>
            <a:off x="1202836" y="1772816"/>
            <a:ext cx="5817435" cy="35394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lvl="0" indent="-457200" algn="just">
              <a:buFont typeface="Wingdings" pitchFamily="2" charset="2"/>
              <a:buChar char="q"/>
            </a:pPr>
            <a:r>
              <a:rPr lang="es-PE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Dieta de la insuficiencia renal </a:t>
            </a:r>
            <a:r>
              <a:rPr lang="es-PE" sz="28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crónica</a:t>
            </a:r>
            <a:endParaRPr lang="es-PE" sz="28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 algn="just">
              <a:buFont typeface="Wingdings" pitchFamily="2" charset="2"/>
              <a:buChar char="q"/>
            </a:pPr>
            <a:r>
              <a:rPr lang="es-PE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Suplemento de calcio </a:t>
            </a:r>
          </a:p>
          <a:p>
            <a:pPr marL="457200" indent="-457200" algn="just">
              <a:buFont typeface="Wingdings" pitchFamily="2" charset="2"/>
              <a:buChar char="q"/>
            </a:pPr>
            <a:r>
              <a:rPr lang="es-PE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Quelantes de fósforo como el carbonato de calcio</a:t>
            </a:r>
          </a:p>
          <a:p>
            <a:pPr marL="457200" indent="-457200" algn="just">
              <a:buFont typeface="Wingdings" pitchFamily="2" charset="2"/>
              <a:buChar char="q"/>
            </a:pPr>
            <a:r>
              <a:rPr lang="es-PE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Tratamiento de la anemia</a:t>
            </a:r>
          </a:p>
          <a:p>
            <a:pPr marL="457200" indent="-457200" algn="just">
              <a:buFont typeface="Wingdings" pitchFamily="2" charset="2"/>
              <a:buChar char="q"/>
            </a:pPr>
            <a:r>
              <a:rPr lang="es-PE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Tratamiento </a:t>
            </a:r>
            <a:r>
              <a:rPr lang="es-PE" sz="28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 </a:t>
            </a:r>
            <a:r>
              <a:rPr lang="es-PE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 HTA</a:t>
            </a:r>
          </a:p>
          <a:p>
            <a:pPr marL="457200" indent="-457200" algn="just">
              <a:buFont typeface="Wingdings" pitchFamily="2" charset="2"/>
              <a:buChar char="q"/>
            </a:pPr>
            <a:r>
              <a:rPr lang="es-PE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Tratamiento de la dislipemia</a:t>
            </a:r>
          </a:p>
        </p:txBody>
      </p:sp>
      <p:pic>
        <p:nvPicPr>
          <p:cNvPr id="7170" name="Picture 2" descr="D:\Documentos\Escritorio\CELIA NUEVO\MAESTRIA MQ TRABAJOS\CARDIO\fistula\HA en ancianos..!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612" y="2636912"/>
            <a:ext cx="1866729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395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27584" y="548680"/>
            <a:ext cx="7543800" cy="778024"/>
          </a:xfrm>
        </p:spPr>
        <p:txBody>
          <a:bodyPr/>
          <a:lstStyle/>
          <a:p>
            <a:pPr lvl="0"/>
            <a:r>
              <a:rPr lang="es-PE" dirty="0">
                <a:effectLst/>
              </a:rPr>
              <a:t/>
            </a:r>
            <a:br>
              <a:rPr lang="es-PE" dirty="0">
                <a:effectLst/>
              </a:rPr>
            </a:br>
            <a:r>
              <a:rPr lang="es-PE" sz="4000" b="1" dirty="0">
                <a:effectLst/>
              </a:rPr>
              <a:t>Tratamientos de </a:t>
            </a:r>
            <a:r>
              <a:rPr lang="es-PE" sz="4000" b="1" dirty="0" smtClean="0">
                <a:effectLst/>
              </a:rPr>
              <a:t>remplazo renal</a:t>
            </a:r>
            <a:endParaRPr lang="es-PE" sz="4000" dirty="0"/>
          </a:p>
        </p:txBody>
      </p:sp>
      <p:sp>
        <p:nvSpPr>
          <p:cNvPr id="3" name="2 Rectángulo"/>
          <p:cNvSpPr/>
          <p:nvPr/>
        </p:nvSpPr>
        <p:spPr>
          <a:xfrm>
            <a:off x="1187624" y="1844824"/>
            <a:ext cx="23580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sz="2800" b="1" i="1" dirty="0" smtClean="0"/>
              <a:t>Hemodiálisis </a:t>
            </a:r>
            <a:endParaRPr lang="es-PE" sz="2800" b="1" i="1" dirty="0"/>
          </a:p>
        </p:txBody>
      </p:sp>
      <p:pic>
        <p:nvPicPr>
          <p:cNvPr id="4" name="3 Imagen" descr="D:\Documentos\Escritorio\CELIA NUEVO\MAESTRIA MQ TRABAJOS\CARDIO\fistula\imagesd.jpe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413" y="2448377"/>
            <a:ext cx="2866515" cy="2204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6" descr="cccccbb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3392416"/>
            <a:ext cx="2171640" cy="2484855"/>
          </a:xfrm>
          <a:prstGeom prst="rect">
            <a:avLst/>
          </a:prstGeom>
          <a:noFill/>
          <a:extLst/>
        </p:spPr>
      </p:pic>
      <p:sp>
        <p:nvSpPr>
          <p:cNvPr id="6" name="5 Rectángulo"/>
          <p:cNvSpPr/>
          <p:nvPr/>
        </p:nvSpPr>
        <p:spPr>
          <a:xfrm>
            <a:off x="5004048" y="2841992"/>
            <a:ext cx="32287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2800" b="1" i="1" dirty="0" smtClean="0"/>
              <a:t>Diálisis Peritoneal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2385220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187624" y="1720840"/>
            <a:ext cx="6768752" cy="26776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s-ES" sz="2800" dirty="0" smtClean="0"/>
              <a:t>Son </a:t>
            </a:r>
            <a:r>
              <a:rPr lang="es-ES" sz="2800" dirty="0"/>
              <a:t>generalmente utilizadas para el tratamiento de pacientes crónicos. </a:t>
            </a:r>
            <a:endParaRPr lang="es-ES" sz="2800" dirty="0" smtClean="0"/>
          </a:p>
          <a:p>
            <a:pPr algn="just"/>
            <a:r>
              <a:rPr lang="es-ES" sz="2800" dirty="0" smtClean="0"/>
              <a:t>Su </a:t>
            </a:r>
            <a:r>
              <a:rPr lang="es-ES" sz="2800" dirty="0"/>
              <a:t>duración es de varios años si no se presentan complicaciones que las inutilicen como </a:t>
            </a:r>
            <a:r>
              <a:rPr lang="es-ES" sz="2800" i="1" dirty="0"/>
              <a:t>infecciones, taponamientos, trombosis, </a:t>
            </a:r>
            <a:r>
              <a:rPr lang="es-ES" sz="2800" i="1" dirty="0" smtClean="0"/>
              <a:t>etc.</a:t>
            </a:r>
            <a:endParaRPr lang="es-PE" sz="2800" dirty="0"/>
          </a:p>
        </p:txBody>
      </p:sp>
      <p:sp>
        <p:nvSpPr>
          <p:cNvPr id="6" name="5 Rectángulo"/>
          <p:cNvSpPr/>
          <p:nvPr/>
        </p:nvSpPr>
        <p:spPr>
          <a:xfrm>
            <a:off x="1187624" y="296942"/>
            <a:ext cx="71287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S" sz="2800" b="1" dirty="0">
                <a:solidFill>
                  <a:prstClr val="white"/>
                </a:solidFill>
              </a:rPr>
              <a:t>Vías de acceso vascular permanente o de larga duración</a:t>
            </a:r>
            <a:r>
              <a:rPr lang="es-ES" b="1" dirty="0">
                <a:solidFill>
                  <a:prstClr val="white"/>
                </a:solidFill>
              </a:rPr>
              <a:t>.</a:t>
            </a:r>
            <a:endParaRPr lang="es-PE" dirty="0">
              <a:solidFill>
                <a:prstClr val="white"/>
              </a:solidFill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1547664" y="4653136"/>
            <a:ext cx="5976664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Char char="q"/>
            </a:pPr>
            <a:r>
              <a:rPr lang="es-ES" sz="2400" b="1" i="1" dirty="0"/>
              <a:t>Fistula </a:t>
            </a:r>
            <a:r>
              <a:rPr lang="es-ES" sz="2400" b="1" i="1" dirty="0" smtClean="0"/>
              <a:t>arteriovenosa</a:t>
            </a:r>
          </a:p>
          <a:p>
            <a:pPr marL="342900" indent="-342900" algn="just">
              <a:buFont typeface="Wingdings" pitchFamily="2" charset="2"/>
              <a:buChar char="q"/>
            </a:pPr>
            <a:r>
              <a:rPr lang="es-ES" sz="2400" b="1" i="1" dirty="0" smtClean="0"/>
              <a:t>Catéter de </a:t>
            </a:r>
            <a:r>
              <a:rPr lang="es-ES" sz="2400" b="1" i="1" dirty="0"/>
              <a:t>implantación </a:t>
            </a:r>
            <a:r>
              <a:rPr lang="es-ES" sz="2400" b="1" i="1" dirty="0" smtClean="0"/>
              <a:t>central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58131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/>
        </p:nvSpPr>
        <p:spPr>
          <a:xfrm>
            <a:off x="1115616" y="404664"/>
            <a:ext cx="669674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sz="2800" b="1" dirty="0"/>
              <a:t>Fistula arteriovenosa (FAV)</a:t>
            </a:r>
            <a:endParaRPr lang="es-PE" sz="2800" dirty="0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PE"/>
          </a:p>
        </p:txBody>
      </p:sp>
      <p:pic>
        <p:nvPicPr>
          <p:cNvPr id="2055" name="Imagen 8" descr="Descripción: Picture of a surgically created arteriovenous fistul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11" y="2420888"/>
            <a:ext cx="2628900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3347864" y="1487686"/>
            <a:ext cx="5148064" cy="3970318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_tradnl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La FAV se obtiene mediante la anastomosis subcut</a:t>
            </a:r>
            <a:r>
              <a:rPr kumimoji="0" lang="es-ES_tradnl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Times New Roman" pitchFamily="18" charset="0"/>
                <a:cs typeface="Arial" pitchFamily="34" charset="0"/>
              </a:rPr>
              <a:t>á</a:t>
            </a:r>
            <a:r>
              <a:rPr kumimoji="0" lang="es-ES_tradnl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nea de una </a:t>
            </a:r>
            <a:r>
              <a:rPr kumimoji="0" lang="es-ES_tradnl" sz="28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arteria </a:t>
            </a:r>
            <a:r>
              <a:rPr kumimoji="0" lang="es-ES_tradnl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y una </a:t>
            </a:r>
            <a:r>
              <a:rPr kumimoji="0" lang="es-ES_tradnl" sz="28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vena</a:t>
            </a:r>
            <a:r>
              <a:rPr kumimoji="0" lang="es-ES_tradnl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perif</a:t>
            </a:r>
            <a:r>
              <a:rPr kumimoji="0" lang="es-ES_tradnl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Times New Roman" pitchFamily="18" charset="0"/>
                <a:cs typeface="Arial" pitchFamily="34" charset="0"/>
              </a:rPr>
              <a:t>é</a:t>
            </a:r>
            <a:r>
              <a:rPr kumimoji="0" lang="es-ES_tradnl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rica. Este cortocircuito permite la dilataci</a:t>
            </a:r>
            <a:r>
              <a:rPr kumimoji="0" lang="es-ES_tradnl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Times New Roman" pitchFamily="18" charset="0"/>
                <a:cs typeface="Arial" pitchFamily="34" charset="0"/>
              </a:rPr>
              <a:t>ó</a:t>
            </a:r>
            <a:r>
              <a:rPr kumimoji="0" lang="es-ES_tradnl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n del sistema venoso superficial, la resistencia al flujo se reduce y el flujo de sangre aumenta de 100 mL/min a 1000 mL/min.</a:t>
            </a:r>
            <a:endParaRPr kumimoji="0" lang="es-ES_tradnl" sz="4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2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1043608" y="1412776"/>
            <a:ext cx="705678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ES_tradnl" sz="3600" i="1" u="sng" dirty="0" smtClean="0"/>
              <a:t>Miembros superiores:</a:t>
            </a:r>
            <a:endParaRPr lang="es-PE" sz="3600" dirty="0" smtClean="0"/>
          </a:p>
          <a:p>
            <a:pPr lvl="0" algn="just"/>
            <a:r>
              <a:rPr lang="es-ES_tradnl" sz="3600" b="1" i="1" dirty="0" smtClean="0"/>
              <a:t>Antebrazo</a:t>
            </a:r>
            <a:r>
              <a:rPr lang="es-ES_tradnl" sz="3600" b="1" i="1" dirty="0"/>
              <a:t>:</a:t>
            </a:r>
            <a:r>
              <a:rPr lang="es-ES_tradnl" sz="3600" dirty="0"/>
              <a:t> arteria radial con la vena cefálica o vena basílica.</a:t>
            </a:r>
            <a:endParaRPr lang="es-PE" sz="3600" dirty="0"/>
          </a:p>
          <a:p>
            <a:pPr lvl="0" algn="just"/>
            <a:r>
              <a:rPr lang="es-ES_tradnl" sz="3600" b="1" i="1" dirty="0"/>
              <a:t>Brazo: </a:t>
            </a:r>
            <a:r>
              <a:rPr lang="es-ES_tradnl" sz="3600" dirty="0"/>
              <a:t>arteria braquial con la vena cefálica o vena basílica. </a:t>
            </a:r>
            <a:endParaRPr lang="es-PE" sz="3600" dirty="0"/>
          </a:p>
          <a:p>
            <a:pPr lvl="0" algn="just"/>
            <a:r>
              <a:rPr lang="es-ES_tradnl" sz="3600" i="1" u="sng" dirty="0"/>
              <a:t>Miembros inferiores:</a:t>
            </a:r>
            <a:endParaRPr lang="es-PE" sz="3600" dirty="0"/>
          </a:p>
          <a:p>
            <a:pPr lvl="0" algn="just"/>
            <a:r>
              <a:rPr lang="es-ES_tradnl" sz="3600" dirty="0"/>
              <a:t>Arteria femoral con la vena safena</a:t>
            </a:r>
            <a:endParaRPr lang="es-PE" sz="3600" dirty="0"/>
          </a:p>
        </p:txBody>
      </p:sp>
      <p:sp>
        <p:nvSpPr>
          <p:cNvPr id="5" name="4 Rectángulo"/>
          <p:cNvSpPr/>
          <p:nvPr/>
        </p:nvSpPr>
        <p:spPr>
          <a:xfrm>
            <a:off x="1964903" y="476672"/>
            <a:ext cx="52141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S_tradnl" sz="2800" b="1" dirty="0">
                <a:solidFill>
                  <a:prstClr val="white"/>
                </a:solidFill>
              </a:rPr>
              <a:t>Región de Anastomosis</a:t>
            </a:r>
            <a:endParaRPr lang="es-PE" sz="2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612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2918342" y="260648"/>
            <a:ext cx="33073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S_tradnl" sz="2800" b="1" dirty="0"/>
              <a:t>Técnica Operatoria</a:t>
            </a:r>
            <a:endParaRPr lang="es-PE" sz="2800" dirty="0"/>
          </a:p>
        </p:txBody>
      </p:sp>
      <p:sp>
        <p:nvSpPr>
          <p:cNvPr id="4" name="3 Rectángulo"/>
          <p:cNvSpPr/>
          <p:nvPr/>
        </p:nvSpPr>
        <p:spPr>
          <a:xfrm>
            <a:off x="755576" y="1196752"/>
            <a:ext cx="756084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ES_tradnl" sz="2000" dirty="0"/>
              <a:t>Latero – lateral: descrita originalmente por </a:t>
            </a:r>
            <a:r>
              <a:rPr lang="es-ES_tradnl" sz="2000" dirty="0" err="1"/>
              <a:t>Cimio</a:t>
            </a:r>
            <a:r>
              <a:rPr lang="es-ES_tradnl" sz="2000" dirty="0"/>
              <a:t> y Brescia, tiene como complicación la hipertensión venosa y edema de la parte distal del miembro afectado. </a:t>
            </a:r>
            <a:endParaRPr lang="es-PE" sz="2000" dirty="0"/>
          </a:p>
          <a:p>
            <a:pPr lvl="0" algn="just"/>
            <a:r>
              <a:rPr lang="es-ES_tradnl" sz="2000" dirty="0"/>
              <a:t>Termino – terminal: técnica operatoria surgida posteriormente. </a:t>
            </a:r>
            <a:endParaRPr lang="es-PE" sz="2000" dirty="0"/>
          </a:p>
        </p:txBody>
      </p:sp>
      <p:sp>
        <p:nvSpPr>
          <p:cNvPr id="5" name="4 Rectángulo"/>
          <p:cNvSpPr/>
          <p:nvPr/>
        </p:nvSpPr>
        <p:spPr>
          <a:xfrm>
            <a:off x="899592" y="2708920"/>
            <a:ext cx="7128792" cy="310854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just"/>
            <a:r>
              <a:rPr lang="es-ES_tradnl" sz="2800" b="1" i="1" dirty="0"/>
              <a:t>Termino – lateral:</a:t>
            </a:r>
            <a:r>
              <a:rPr lang="es-ES_tradnl" sz="2800" dirty="0"/>
              <a:t> es la de mayor utilización debido a que la arteria periférica que irriga la parte distal continua permeable. En caso de producirse trombosis en el área de anastomosis una nueva fistula próxima a la antigua vena puede ser inmediatamente conectada. 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2223691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 Imagen"/>
          <p:cNvPicPr/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75"/>
          <a:stretch/>
        </p:blipFill>
        <p:spPr bwMode="auto">
          <a:xfrm>
            <a:off x="2442344" y="476672"/>
            <a:ext cx="4577928" cy="24482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3 Imagen"/>
          <p:cNvPicPr/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63"/>
          <a:stretch/>
        </p:blipFill>
        <p:spPr bwMode="auto">
          <a:xfrm>
            <a:off x="539552" y="3376128"/>
            <a:ext cx="3744416" cy="22720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4 Imagen"/>
          <p:cNvPicPr/>
          <p:nvPr/>
        </p:nvPicPr>
        <p:blipFill rotWithShape="1"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31"/>
          <a:stretch/>
        </p:blipFill>
        <p:spPr bwMode="auto">
          <a:xfrm>
            <a:off x="4932040" y="3356992"/>
            <a:ext cx="3672408" cy="22732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3629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755576" y="1124744"/>
            <a:ext cx="756084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itchFamily="2" charset="2"/>
              <a:buChar char="q"/>
            </a:pPr>
            <a:r>
              <a:rPr lang="es-ES_tradnl" sz="3200" dirty="0"/>
              <a:t>La presión d la sangre ensancha la luz del vaso fortaleciendo sus paredes. </a:t>
            </a:r>
            <a:endParaRPr lang="es-ES_tradnl" sz="3200" dirty="0" smtClean="0"/>
          </a:p>
          <a:p>
            <a:pPr algn="just"/>
            <a:endParaRPr lang="es-ES_tradnl" sz="3200" dirty="0" smtClean="0"/>
          </a:p>
          <a:p>
            <a:pPr marL="457200" indent="-457200" algn="just">
              <a:buFont typeface="Wingdings" pitchFamily="2" charset="2"/>
              <a:buChar char="q"/>
            </a:pPr>
            <a:r>
              <a:rPr lang="es-ES_tradnl" sz="3200" dirty="0" smtClean="0"/>
              <a:t>Su </a:t>
            </a:r>
            <a:r>
              <a:rPr lang="es-ES_tradnl" sz="3200" dirty="0"/>
              <a:t>funcionamiento se manifiesta mediante una frénito o vibración palpable (</a:t>
            </a:r>
            <a:r>
              <a:rPr lang="es-ES_tradnl" sz="3200" i="1" dirty="0"/>
              <a:t>thrill</a:t>
            </a:r>
            <a:r>
              <a:rPr lang="es-ES_tradnl" sz="3200" dirty="0"/>
              <a:t>) y un soplo característico, fácilmente detectable con la ayuda del estetoscopio.</a:t>
            </a:r>
            <a:endParaRPr lang="es-PE" sz="3200" dirty="0"/>
          </a:p>
        </p:txBody>
      </p:sp>
    </p:spTree>
    <p:extLst>
      <p:ext uri="{BB962C8B-B14F-4D97-AF65-F5344CB8AC3E}">
        <p14:creationId xmlns:p14="http://schemas.microsoft.com/office/powerpoint/2010/main" val="1333507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971600" y="548680"/>
            <a:ext cx="741682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itchFamily="2" charset="2"/>
              <a:buChar char="q"/>
            </a:pPr>
            <a:r>
              <a:rPr lang="es-ES_tradnl" sz="2800" dirty="0"/>
              <a:t>La punción no debe realizarse antes de haber cumplido las dos semanas de evolución post operatoria. Se recomienda esperar un tiempo prudencial de </a:t>
            </a:r>
            <a:r>
              <a:rPr lang="es-ES_tradnl" sz="2800" b="1" i="1" dirty="0"/>
              <a:t>un mes</a:t>
            </a:r>
            <a:r>
              <a:rPr lang="es-ES_tradnl" sz="2800" dirty="0"/>
              <a:t>, pero lo ideal es de </a:t>
            </a:r>
            <a:r>
              <a:rPr lang="es-ES_tradnl" sz="2800" b="1" i="1" dirty="0">
                <a:solidFill>
                  <a:srgbClr val="00B0F0"/>
                </a:solidFill>
              </a:rPr>
              <a:t>tres </a:t>
            </a:r>
            <a:r>
              <a:rPr lang="es-ES_tradnl" sz="2800" dirty="0">
                <a:solidFill>
                  <a:srgbClr val="00B0F0"/>
                </a:solidFill>
              </a:rPr>
              <a:t>a</a:t>
            </a:r>
            <a:r>
              <a:rPr lang="es-ES_tradnl" sz="2800" b="1" i="1" dirty="0">
                <a:solidFill>
                  <a:srgbClr val="00B0F0"/>
                </a:solidFill>
              </a:rPr>
              <a:t> seis meses </a:t>
            </a:r>
            <a:r>
              <a:rPr lang="es-ES_tradnl" sz="2800" dirty="0">
                <a:solidFill>
                  <a:srgbClr val="00B0F0"/>
                </a:solidFill>
              </a:rPr>
              <a:t>para que la fistula pueda ser utilizada</a:t>
            </a:r>
            <a:r>
              <a:rPr lang="es-ES_tradnl" sz="2800" dirty="0"/>
              <a:t>. </a:t>
            </a:r>
            <a:endParaRPr lang="es-PE" sz="2800" dirty="0"/>
          </a:p>
        </p:txBody>
      </p:sp>
      <p:pic>
        <p:nvPicPr>
          <p:cNvPr id="3074" name="Picture 2" descr="D:\Documentos\Escritorio\CELIA NUEVO\MAESTRIA MQ TRABAJOS\CARDIO\fistula\imagesxx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212" y="3573016"/>
            <a:ext cx="2758988" cy="2758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4296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71600" y="476672"/>
            <a:ext cx="7543800" cy="706016"/>
          </a:xfrm>
        </p:spPr>
        <p:txBody>
          <a:bodyPr/>
          <a:lstStyle/>
          <a:p>
            <a:pPr algn="ctr"/>
            <a:r>
              <a:rPr lang="es-PE" dirty="0">
                <a:effectLst/>
              </a:rPr>
              <a:t/>
            </a:r>
            <a:br>
              <a:rPr lang="es-PE" dirty="0">
                <a:effectLst/>
              </a:rPr>
            </a:br>
            <a:r>
              <a:rPr lang="es-ES_tradnl" sz="3600" b="1" dirty="0">
                <a:effectLst/>
              </a:rPr>
              <a:t>Complicaciones de las fistulas AV</a:t>
            </a:r>
            <a:endParaRPr lang="es-PE" sz="3600" dirty="0"/>
          </a:p>
        </p:txBody>
      </p:sp>
      <p:sp>
        <p:nvSpPr>
          <p:cNvPr id="3" name="2 Rectángulo"/>
          <p:cNvSpPr/>
          <p:nvPr/>
        </p:nvSpPr>
        <p:spPr>
          <a:xfrm>
            <a:off x="1115616" y="1484784"/>
            <a:ext cx="18722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_tradnl" sz="2800" b="1" dirty="0"/>
              <a:t>Estenosis</a:t>
            </a:r>
            <a:r>
              <a:rPr lang="es-ES_tradnl" dirty="0"/>
              <a:t> </a:t>
            </a:r>
            <a:endParaRPr lang="es-PE" dirty="0"/>
          </a:p>
        </p:txBody>
      </p:sp>
      <p:sp>
        <p:nvSpPr>
          <p:cNvPr id="5" name="4 Rectángulo"/>
          <p:cNvSpPr/>
          <p:nvPr/>
        </p:nvSpPr>
        <p:spPr>
          <a:xfrm>
            <a:off x="971600" y="2008004"/>
            <a:ext cx="712879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_tradnl" sz="2800" dirty="0"/>
              <a:t>Son la causa fundamental de disfunción de las fístulas arteriovenosas y pueden aparecer en cualquier tramo de ellas y en venas centrales de drenaje, aunque las más frecuentes son perianastomóticas. Deben tratarse las estenosis superiores al 50%, con lo que mejora la calidad de la diálisis y evita la trombosis de la fístula arteriovenosa. 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383568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78093" y="1052736"/>
            <a:ext cx="7543800" cy="914400"/>
          </a:xfrm>
        </p:spPr>
        <p:txBody>
          <a:bodyPr/>
          <a:lstStyle/>
          <a:p>
            <a:r>
              <a:rPr lang="es-PE" sz="2800" b="1" dirty="0" smtClean="0"/>
              <a:t>Trombosis:</a:t>
            </a:r>
            <a:endParaRPr lang="es-PE" sz="2800" b="1" dirty="0"/>
          </a:p>
        </p:txBody>
      </p:sp>
      <p:sp>
        <p:nvSpPr>
          <p:cNvPr id="3" name="2 Rectángulo"/>
          <p:cNvSpPr/>
          <p:nvPr/>
        </p:nvSpPr>
        <p:spPr>
          <a:xfrm>
            <a:off x="1763688" y="2204864"/>
            <a:ext cx="604867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_tradnl" sz="2800" dirty="0"/>
              <a:t>Es urgente tratar las trombosis en las primeras 24 horas para evitar la colocación de un catéter venoso central. El diagnóstico es clínico (ausencia de </a:t>
            </a:r>
            <a:r>
              <a:rPr lang="es-ES_tradnl" sz="2800" i="1" dirty="0" err="1"/>
              <a:t>thrill</a:t>
            </a:r>
            <a:r>
              <a:rPr lang="es-ES_tradnl" sz="2800" i="1" dirty="0"/>
              <a:t> </a:t>
            </a:r>
            <a:r>
              <a:rPr lang="es-ES_tradnl" sz="2800" dirty="0"/>
              <a:t>y soplo).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153841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404664"/>
            <a:ext cx="7543800" cy="1155318"/>
          </a:xfrm>
        </p:spPr>
        <p:txBody>
          <a:bodyPr/>
          <a:lstStyle/>
          <a:p>
            <a:pPr algn="ctr"/>
            <a:r>
              <a:rPr lang="es-PE" sz="2800" b="1" dirty="0"/>
              <a:t>Cuidados previos a la realización de la fístula </a:t>
            </a:r>
            <a:endParaRPr lang="es-PE" dirty="0"/>
          </a:p>
        </p:txBody>
      </p:sp>
      <p:sp>
        <p:nvSpPr>
          <p:cNvPr id="4" name="3 Rectángulo"/>
          <p:cNvSpPr/>
          <p:nvPr/>
        </p:nvSpPr>
        <p:spPr>
          <a:xfrm>
            <a:off x="827584" y="1916832"/>
            <a:ext cx="7488832" cy="35394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lvl="0" indent="-457200" algn="just">
              <a:buFont typeface="Wingdings" pitchFamily="2" charset="2"/>
              <a:buChar char="q"/>
            </a:pPr>
            <a:r>
              <a:rPr lang="es-PE" sz="2800" dirty="0"/>
              <a:t>Proporcionar información al paciente relativo a la FAV, descripción, utilidad y cuidados a aplicar. </a:t>
            </a:r>
          </a:p>
          <a:p>
            <a:pPr marL="457200" lvl="0" indent="-457200" algn="just">
              <a:buFont typeface="Wingdings" pitchFamily="2" charset="2"/>
              <a:buChar char="q"/>
            </a:pPr>
            <a:r>
              <a:rPr lang="es-PE" sz="2800" dirty="0"/>
              <a:t>No utilizar para punciones o canalizaciones, las venas y arterias del brazo o  antebrazo donde se vaya a realizar la fístula arteriovenosa (generalmente la extremidad no dominante) </a:t>
            </a:r>
          </a:p>
        </p:txBody>
      </p:sp>
    </p:spTree>
    <p:extLst>
      <p:ext uri="{BB962C8B-B14F-4D97-AF65-F5344CB8AC3E}">
        <p14:creationId xmlns:p14="http://schemas.microsoft.com/office/powerpoint/2010/main" val="3051961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404664"/>
            <a:ext cx="7543800" cy="1155318"/>
          </a:xfrm>
        </p:spPr>
        <p:txBody>
          <a:bodyPr/>
          <a:lstStyle/>
          <a:p>
            <a:pPr algn="ctr"/>
            <a:r>
              <a:rPr lang="es-PE" sz="2800" b="1" dirty="0"/>
              <a:t>Cuidados previos a la realización de la fístula </a:t>
            </a:r>
            <a:endParaRPr lang="es-PE" dirty="0"/>
          </a:p>
        </p:txBody>
      </p:sp>
      <p:sp>
        <p:nvSpPr>
          <p:cNvPr id="4" name="3 Rectángulo"/>
          <p:cNvSpPr/>
          <p:nvPr/>
        </p:nvSpPr>
        <p:spPr>
          <a:xfrm>
            <a:off x="815887" y="1700808"/>
            <a:ext cx="7632848" cy="440120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lvl="0" indent="-457200" algn="just">
              <a:buFont typeface="Wingdings" pitchFamily="2" charset="2"/>
              <a:buChar char="q"/>
            </a:pPr>
            <a:r>
              <a:rPr lang="es-PE" sz="2800" dirty="0" smtClean="0"/>
              <a:t>En </a:t>
            </a:r>
            <a:r>
              <a:rPr lang="es-PE" sz="2800" dirty="0"/>
              <a:t>el caso de tener que emplear esta extremidad, pinchar sólo las venas del dorso de la mano y la arteria humeral. Realizar en este caso una punción y una hemostasia cuidadosa</a:t>
            </a:r>
            <a:r>
              <a:rPr lang="es-PE" sz="2800" dirty="0" smtClean="0"/>
              <a:t>.</a:t>
            </a:r>
          </a:p>
          <a:p>
            <a:pPr lvl="0" algn="just"/>
            <a:endParaRPr lang="es-PE" sz="2800" dirty="0"/>
          </a:p>
          <a:p>
            <a:pPr marL="457200" lvl="0" indent="-457200" algn="just">
              <a:buFont typeface="Wingdings" pitchFamily="2" charset="2"/>
              <a:buChar char="q"/>
            </a:pPr>
            <a:r>
              <a:rPr lang="es-PE" sz="2800" dirty="0"/>
              <a:t>Anotar en el apartado de precauciones del plan de cuidados, la próxima realización de  FAV y la extremidad elegida, señalizándolo de forma visible para evitar su punción.</a:t>
            </a:r>
          </a:p>
        </p:txBody>
      </p:sp>
    </p:spTree>
    <p:extLst>
      <p:ext uri="{BB962C8B-B14F-4D97-AF65-F5344CB8AC3E}">
        <p14:creationId xmlns:p14="http://schemas.microsoft.com/office/powerpoint/2010/main" val="3137889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44624" y="332656"/>
            <a:ext cx="7543800" cy="720080"/>
          </a:xfrm>
        </p:spPr>
        <p:txBody>
          <a:bodyPr/>
          <a:lstStyle/>
          <a:p>
            <a:pPr algn="ctr"/>
            <a:r>
              <a:rPr lang="es-PE" sz="2800" b="1" dirty="0">
                <a:effectLst/>
              </a:rPr>
              <a:t>Cuidados en el periodo postquirúrgico </a:t>
            </a:r>
            <a:endParaRPr lang="es-PE" dirty="0"/>
          </a:p>
        </p:txBody>
      </p:sp>
      <p:sp>
        <p:nvSpPr>
          <p:cNvPr id="3" name="2 Rectángulo"/>
          <p:cNvSpPr/>
          <p:nvPr/>
        </p:nvSpPr>
        <p:spPr>
          <a:xfrm>
            <a:off x="971600" y="1340768"/>
            <a:ext cx="7416824" cy="48320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lvl="0" indent="-457200" algn="just">
              <a:buFont typeface="Wingdings" pitchFamily="2" charset="2"/>
              <a:buChar char="q"/>
            </a:pPr>
            <a:r>
              <a:rPr lang="es-PE" sz="2800" dirty="0"/>
              <a:t>Medir los signos vitales y valorar el estado de hidratación del paciente, especialmente en pacientes mayores, ateroescleróticos, diabéticos o con tratamiento hipotensor, con el fin de evitar hipotensiones que puedan provocar una trombosis precoz de la </a:t>
            </a:r>
            <a:r>
              <a:rPr lang="es-PE" sz="2800" dirty="0" smtClean="0"/>
              <a:t>FAV</a:t>
            </a:r>
          </a:p>
          <a:p>
            <a:pPr marL="457200" lvl="0" indent="-457200" algn="just">
              <a:buFont typeface="Wingdings" pitchFamily="2" charset="2"/>
              <a:buChar char="q"/>
            </a:pPr>
            <a:r>
              <a:rPr lang="es-PE" sz="2800" dirty="0" smtClean="0"/>
              <a:t>Verificar el buen funcionamiento de la FAV una vez por turno, comprobando mediante la palpación y/o auscultación la vibración y el soplo.</a:t>
            </a:r>
          </a:p>
        </p:txBody>
      </p:sp>
    </p:spTree>
    <p:extLst>
      <p:ext uri="{BB962C8B-B14F-4D97-AF65-F5344CB8AC3E}">
        <p14:creationId xmlns:p14="http://schemas.microsoft.com/office/powerpoint/2010/main" val="93317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44624" y="404664"/>
            <a:ext cx="7543800" cy="720080"/>
          </a:xfrm>
        </p:spPr>
        <p:txBody>
          <a:bodyPr/>
          <a:lstStyle/>
          <a:p>
            <a:pPr algn="ctr"/>
            <a:r>
              <a:rPr lang="es-PE" sz="2800" b="1" dirty="0">
                <a:effectLst/>
              </a:rPr>
              <a:t>Cuidados en el periodo postquirúrgico </a:t>
            </a:r>
            <a:endParaRPr lang="es-PE" dirty="0"/>
          </a:p>
        </p:txBody>
      </p:sp>
      <p:sp>
        <p:nvSpPr>
          <p:cNvPr id="3" name="2 Rectángulo"/>
          <p:cNvSpPr/>
          <p:nvPr/>
        </p:nvSpPr>
        <p:spPr>
          <a:xfrm>
            <a:off x="971600" y="1412776"/>
            <a:ext cx="7416824" cy="473975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lvl="0" indent="-457200" algn="just">
              <a:buFont typeface="Wingdings" pitchFamily="2" charset="2"/>
              <a:buChar char="q"/>
            </a:pPr>
            <a:r>
              <a:rPr lang="es-PE" sz="2800" dirty="0" smtClean="0"/>
              <a:t>Vigilar el apósito para detectar posibles pérdidas hemáticas.</a:t>
            </a:r>
          </a:p>
          <a:p>
            <a:pPr marL="457200" indent="-457200" algn="just">
              <a:buFont typeface="Wingdings" pitchFamily="2" charset="2"/>
              <a:buChar char="q"/>
            </a:pPr>
            <a:r>
              <a:rPr lang="es-PE" sz="2800" dirty="0" smtClean="0"/>
              <a:t>Mantener la extremidad elevada para favorecer la circulación de retorno y evitar  </a:t>
            </a:r>
            <a:r>
              <a:rPr lang="es-PE" sz="2800" dirty="0"/>
              <a:t>edemas</a:t>
            </a:r>
            <a:r>
              <a:rPr lang="es-PE" sz="2800" dirty="0" smtClean="0"/>
              <a:t>.</a:t>
            </a:r>
          </a:p>
          <a:p>
            <a:pPr marL="457200" indent="-457200" algn="just">
              <a:buFont typeface="Wingdings" pitchFamily="2" charset="2"/>
              <a:buChar char="q"/>
            </a:pPr>
            <a:r>
              <a:rPr lang="es-PE" sz="2800" dirty="0" smtClean="0"/>
              <a:t>Explicar </a:t>
            </a:r>
            <a:r>
              <a:rPr lang="es-PE" sz="2800" dirty="0"/>
              <a:t>al paciente que debe movilizar el brazo suavemente durante las  primeras 24-48 horas para favorecer la circulación  evitando ejercicios bruscos que puedan ocasionar sangrado. </a:t>
            </a:r>
          </a:p>
          <a:p>
            <a:pPr marL="342900" lvl="0" indent="-342900" algn="just">
              <a:buFont typeface="Arial" pitchFamily="34" charset="0"/>
              <a:buChar char="•"/>
            </a:pPr>
            <a:endParaRPr lang="es-PE" sz="2200" dirty="0"/>
          </a:p>
        </p:txBody>
      </p:sp>
    </p:spTree>
    <p:extLst>
      <p:ext uri="{BB962C8B-B14F-4D97-AF65-F5344CB8AC3E}">
        <p14:creationId xmlns:p14="http://schemas.microsoft.com/office/powerpoint/2010/main" val="3667381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1403648" y="774665"/>
            <a:ext cx="66239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PE" sz="2800" b="1" dirty="0" smtClean="0">
                <a:effectLst/>
              </a:rPr>
              <a:t>Cuidados en el periodo postquirúrgico </a:t>
            </a:r>
            <a:endParaRPr lang="es-PE" sz="2800" dirty="0"/>
          </a:p>
        </p:txBody>
      </p:sp>
      <p:sp>
        <p:nvSpPr>
          <p:cNvPr id="4" name="3 Rectángulo"/>
          <p:cNvSpPr/>
          <p:nvPr/>
        </p:nvSpPr>
        <p:spPr>
          <a:xfrm>
            <a:off x="899592" y="1582341"/>
            <a:ext cx="7344816" cy="35394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lvl="0" indent="-457200" algn="just">
              <a:buFont typeface="Wingdings" pitchFamily="2" charset="2"/>
              <a:buChar char="q"/>
            </a:pPr>
            <a:r>
              <a:rPr lang="es-PE" sz="2800" dirty="0" smtClean="0"/>
              <a:t>Tomar </a:t>
            </a:r>
            <a:r>
              <a:rPr lang="es-PE" sz="2800" dirty="0"/>
              <a:t>el pulso periférico para detectar isquemias.</a:t>
            </a:r>
          </a:p>
          <a:p>
            <a:pPr marL="457200" lvl="0" indent="-457200" algn="just">
              <a:buFont typeface="Wingdings" pitchFamily="2" charset="2"/>
              <a:buChar char="q"/>
            </a:pPr>
            <a:r>
              <a:rPr lang="es-PE" sz="2800" dirty="0"/>
              <a:t>Evitar la aplicación de vendajes compresivos en la extremidad afectada</a:t>
            </a:r>
          </a:p>
          <a:p>
            <a:pPr marL="457200" lvl="0" indent="-457200" algn="just">
              <a:buFont typeface="Wingdings" pitchFamily="2" charset="2"/>
              <a:buChar char="q"/>
            </a:pPr>
            <a:r>
              <a:rPr lang="es-PE" sz="2800" dirty="0"/>
              <a:t>No realizar tomas de presión arterial ni punciones en el brazo de la FAV.</a:t>
            </a:r>
          </a:p>
          <a:p>
            <a:pPr marL="457200" lvl="0" indent="-457200" algn="just">
              <a:buFont typeface="Wingdings" pitchFamily="2" charset="2"/>
              <a:buChar char="q"/>
            </a:pPr>
            <a:r>
              <a:rPr lang="es-PE" sz="2800" dirty="0"/>
              <a:t>Anotar en el plan de cuidados la fecha de realización de la FAV y su localización.</a:t>
            </a:r>
          </a:p>
        </p:txBody>
      </p:sp>
    </p:spTree>
    <p:extLst>
      <p:ext uri="{BB962C8B-B14F-4D97-AF65-F5344CB8AC3E}">
        <p14:creationId xmlns:p14="http://schemas.microsoft.com/office/powerpoint/2010/main" val="192027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27584" y="404664"/>
            <a:ext cx="7543800" cy="864096"/>
          </a:xfrm>
        </p:spPr>
        <p:txBody>
          <a:bodyPr/>
          <a:lstStyle/>
          <a:p>
            <a:pPr algn="ctr"/>
            <a:r>
              <a:rPr lang="es-PE" dirty="0">
                <a:effectLst/>
              </a:rPr>
              <a:t/>
            </a:r>
            <a:br>
              <a:rPr lang="es-PE" dirty="0">
                <a:effectLst/>
              </a:rPr>
            </a:br>
            <a:r>
              <a:rPr lang="es-PE" sz="3600" b="1" dirty="0">
                <a:effectLst/>
              </a:rPr>
              <a:t>HIPERTENSION ARTERIAL</a:t>
            </a:r>
            <a:endParaRPr lang="es-PE" sz="3600" dirty="0"/>
          </a:p>
        </p:txBody>
      </p:sp>
      <p:sp>
        <p:nvSpPr>
          <p:cNvPr id="3" name="2 Rectángulo"/>
          <p:cNvSpPr/>
          <p:nvPr/>
        </p:nvSpPr>
        <p:spPr>
          <a:xfrm>
            <a:off x="1043608" y="1844824"/>
            <a:ext cx="756084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sz="2800" dirty="0"/>
              <a:t>La </a:t>
            </a:r>
            <a:r>
              <a:rPr lang="es-PE" sz="2800" i="1" dirty="0"/>
              <a:t>hipertensión arterial</a:t>
            </a:r>
            <a:r>
              <a:rPr lang="es-PE" sz="2800" dirty="0"/>
              <a:t> (HTA) es una enfermedad crónica de etiología variada, que se caracteriza por el aumento sostenido de la presión arterial (PA), ya sea sistólica, diastólica o de ambas. </a:t>
            </a:r>
          </a:p>
          <a:p>
            <a:pPr algn="just"/>
            <a:r>
              <a:rPr lang="es-PE" sz="2800" dirty="0"/>
              <a:t>Supone un importante factor de riesgo cardiovascular y además su presencia aumenta la morbimortalidad global.</a:t>
            </a:r>
          </a:p>
        </p:txBody>
      </p:sp>
      <p:pic>
        <p:nvPicPr>
          <p:cNvPr id="10242" name="Picture 2" descr="D:\Documentos\Escritorio\CELIA NUEVO\MAESTRIA MQ TRABAJOS\CARDIO\fistula\hta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5013176"/>
            <a:ext cx="1665287" cy="156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749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560091"/>
              </p:ext>
            </p:extLst>
          </p:nvPr>
        </p:nvGraphicFramePr>
        <p:xfrm>
          <a:off x="1475656" y="1124744"/>
          <a:ext cx="6459170" cy="4625582"/>
        </p:xfrm>
        <a:graphic>
          <a:graphicData uri="http://schemas.openxmlformats.org/drawingml/2006/table">
            <a:tbl>
              <a:tblPr firstRow="1" firstCol="1" bandRow="1">
                <a:tableStyleId>{912C8C85-51F0-491E-9774-3900AFEF0FD7}</a:tableStyleId>
              </a:tblPr>
              <a:tblGrid>
                <a:gridCol w="6459170"/>
              </a:tblGrid>
              <a:tr h="8640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PE" sz="2400" dirty="0">
                          <a:effectLst/>
                        </a:rPr>
                        <a:t>FACTORES DE RIESGO DE HTA</a:t>
                      </a:r>
                      <a:endParaRPr lang="es-PE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502285"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Clr>
                          <a:srgbClr val="0070C0"/>
                        </a:buClr>
                        <a:buFont typeface="Wingdings" pitchFamily="2" charset="2"/>
                        <a:buChar char="q"/>
                      </a:pPr>
                      <a:r>
                        <a:rPr lang="es-PE" sz="2400" dirty="0">
                          <a:effectLst/>
                        </a:rPr>
                        <a:t>Antecedentes familiares de HTA (factores genéticos)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Clr>
                          <a:srgbClr val="0070C0"/>
                        </a:buClr>
                        <a:buFont typeface="Wingdings" pitchFamily="2" charset="2"/>
                        <a:buChar char="q"/>
                      </a:pPr>
                      <a:r>
                        <a:rPr lang="es-PE" sz="2400" dirty="0">
                          <a:effectLst/>
                        </a:rPr>
                        <a:t>Obesidad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Clr>
                          <a:srgbClr val="0070C0"/>
                        </a:buClr>
                        <a:buFont typeface="Wingdings" pitchFamily="2" charset="2"/>
                        <a:buChar char="q"/>
                      </a:pPr>
                      <a:r>
                        <a:rPr lang="es-PE" sz="2400" dirty="0">
                          <a:effectLst/>
                        </a:rPr>
                        <a:t>Sedentarismo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Clr>
                          <a:srgbClr val="0070C0"/>
                        </a:buClr>
                        <a:buFont typeface="Wingdings" pitchFamily="2" charset="2"/>
                        <a:buChar char="q"/>
                      </a:pPr>
                      <a:r>
                        <a:rPr lang="es-PE" sz="2400" dirty="0">
                          <a:effectLst/>
                        </a:rPr>
                        <a:t>Alimentación con exceso o con déficit de calorías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Clr>
                          <a:srgbClr val="0070C0"/>
                        </a:buClr>
                        <a:buFont typeface="Wingdings" pitchFamily="2" charset="2"/>
                        <a:buChar char="q"/>
                      </a:pPr>
                      <a:r>
                        <a:rPr lang="es-PE" sz="2400" dirty="0">
                          <a:effectLst/>
                        </a:rPr>
                        <a:t>Consumo excesivo de sal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Clr>
                          <a:srgbClr val="0070C0"/>
                        </a:buClr>
                        <a:buFont typeface="Wingdings" pitchFamily="2" charset="2"/>
                        <a:buChar char="q"/>
                      </a:pPr>
                      <a:r>
                        <a:rPr lang="es-PE" sz="2400" dirty="0">
                          <a:effectLst/>
                        </a:rPr>
                        <a:t>Consumo excesivo de alcohol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Clr>
                          <a:srgbClr val="0070C0"/>
                        </a:buClr>
                        <a:buFont typeface="Wingdings" pitchFamily="2" charset="2"/>
                        <a:buChar char="q"/>
                      </a:pPr>
                      <a:r>
                        <a:rPr lang="es-PE" sz="2400" dirty="0">
                          <a:effectLst/>
                        </a:rPr>
                        <a:t>Bajo nivel socioeconómico</a:t>
                      </a:r>
                      <a:endParaRPr lang="es-PE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9983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27584" y="764704"/>
            <a:ext cx="7543800" cy="864096"/>
          </a:xfrm>
        </p:spPr>
        <p:txBody>
          <a:bodyPr/>
          <a:lstStyle/>
          <a:p>
            <a:pPr algn="ctr"/>
            <a:r>
              <a:rPr lang="es-PE" dirty="0">
                <a:effectLst/>
              </a:rPr>
              <a:t/>
            </a:r>
            <a:br>
              <a:rPr lang="es-PE" dirty="0">
                <a:effectLst/>
              </a:rPr>
            </a:br>
            <a:r>
              <a:rPr lang="es-ES" sz="3600" b="1" dirty="0">
                <a:effectLst/>
              </a:rPr>
              <a:t>Lesión de órganos </a:t>
            </a:r>
            <a:r>
              <a:rPr lang="es-ES" sz="3600" b="1" dirty="0" smtClean="0">
                <a:effectLst/>
              </a:rPr>
              <a:t>diana</a:t>
            </a:r>
            <a:endParaRPr lang="es-PE" sz="3600" dirty="0"/>
          </a:p>
        </p:txBody>
      </p:sp>
      <p:sp>
        <p:nvSpPr>
          <p:cNvPr id="4" name="3 Rectángulo"/>
          <p:cNvSpPr/>
          <p:nvPr/>
        </p:nvSpPr>
        <p:spPr>
          <a:xfrm>
            <a:off x="1547664" y="2132856"/>
            <a:ext cx="610242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buFont typeface="Wingdings" pitchFamily="2" charset="2"/>
              <a:buChar char="q"/>
            </a:pPr>
            <a:r>
              <a:rPr lang="es-PE" sz="2800" dirty="0"/>
              <a:t>Retinopatía hipertensiva</a:t>
            </a:r>
          </a:p>
          <a:p>
            <a:pPr marL="457200" indent="-457200" algn="just">
              <a:buFont typeface="Wingdings" pitchFamily="2" charset="2"/>
              <a:buChar char="q"/>
            </a:pPr>
            <a:r>
              <a:rPr lang="es-PE" sz="2800" dirty="0"/>
              <a:t>Miocardiopatía hipertensiva, </a:t>
            </a:r>
          </a:p>
          <a:p>
            <a:pPr marL="457200" indent="-457200" algn="just">
              <a:buFont typeface="Wingdings" pitchFamily="2" charset="2"/>
              <a:buChar char="q"/>
            </a:pPr>
            <a:r>
              <a:rPr lang="es-PE" sz="2800" dirty="0"/>
              <a:t>Repercusión vascular, </a:t>
            </a:r>
          </a:p>
          <a:p>
            <a:pPr marL="457200" indent="-457200" algn="just">
              <a:buFont typeface="Wingdings" pitchFamily="2" charset="2"/>
              <a:buChar char="q"/>
            </a:pPr>
            <a:r>
              <a:rPr lang="es-PE" sz="2800" dirty="0"/>
              <a:t>Repercusiones neurológicas</a:t>
            </a:r>
          </a:p>
          <a:p>
            <a:pPr marL="457200" indent="-457200" algn="just">
              <a:buFont typeface="Wingdings" pitchFamily="2" charset="2"/>
              <a:buChar char="q"/>
            </a:pPr>
            <a:r>
              <a:rPr lang="es-PE" sz="2800" dirty="0"/>
              <a:t>Nefropatía hipertensiva, </a:t>
            </a:r>
          </a:p>
        </p:txBody>
      </p:sp>
    </p:spTree>
    <p:extLst>
      <p:ext uri="{BB962C8B-B14F-4D97-AF65-F5344CB8AC3E}">
        <p14:creationId xmlns:p14="http://schemas.microsoft.com/office/powerpoint/2010/main" val="2766436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31640" y="1268760"/>
            <a:ext cx="6035040" cy="2350008"/>
          </a:xfrm>
        </p:spPr>
        <p:txBody>
          <a:bodyPr>
            <a:normAutofit fontScale="90000"/>
          </a:bodyPr>
          <a:lstStyle/>
          <a:p>
            <a:pPr algn="ctr"/>
            <a:r>
              <a:rPr lang="es-ES_tradnl" b="1" dirty="0" smtClean="0"/>
              <a:t>VALORACION DE LOS PATRONES DE GORDON</a:t>
            </a:r>
            <a:endParaRPr lang="es-PE" b="1" dirty="0"/>
          </a:p>
        </p:txBody>
      </p:sp>
      <p:pic>
        <p:nvPicPr>
          <p:cNvPr id="12290" name="Picture 2" descr="D:\Documentos\Escritorio\CELIA NUEVO\MAESTRIA MQ TRABAJOS\CARDIO\fistula\índicewww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933056"/>
            <a:ext cx="3312368" cy="2204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8915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971600" y="2060848"/>
            <a:ext cx="7560840" cy="35394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 algn="just">
              <a:buFont typeface="Arial" pitchFamily="34" charset="0"/>
              <a:buChar char="•"/>
            </a:pPr>
            <a:r>
              <a:rPr lang="es-ES_tradnl" sz="2800" dirty="0" smtClean="0"/>
              <a:t>Estado </a:t>
            </a:r>
            <a:r>
              <a:rPr lang="es-ES_tradnl" sz="2800" dirty="0"/>
              <a:t>General de Salud; paciente en regular estado de salud  adinámica, con debilidad muscular, refiere tener mareos.</a:t>
            </a:r>
            <a:endParaRPr lang="es-PE" sz="2800" dirty="0"/>
          </a:p>
          <a:p>
            <a:pPr marL="457200" indent="-457200" algn="just">
              <a:buFont typeface="Arial" pitchFamily="34" charset="0"/>
              <a:buChar char="•"/>
            </a:pPr>
            <a:r>
              <a:rPr lang="es-ES_tradnl" sz="2800" dirty="0"/>
              <a:t>Paciente expresa preocupación  sobre su estado de salud y sobre su internación. </a:t>
            </a:r>
            <a:endParaRPr lang="es-PE" sz="2800" dirty="0"/>
          </a:p>
          <a:p>
            <a:pPr marL="914400" lvl="1" indent="-457200" algn="just">
              <a:buFont typeface="Wingdings" pitchFamily="2" charset="2"/>
              <a:buChar char="ü"/>
            </a:pPr>
            <a:r>
              <a:rPr lang="es-ES_tradnl" sz="2800" dirty="0"/>
              <a:t>Debilidad e Inestabilidad al caminar, relacionado a los signos y síntomas de su patología actual.</a:t>
            </a:r>
            <a:endParaRPr lang="es-PE" sz="2800" dirty="0"/>
          </a:p>
        </p:txBody>
      </p:sp>
      <p:sp>
        <p:nvSpPr>
          <p:cNvPr id="4" name="3 Rectángulo"/>
          <p:cNvSpPr/>
          <p:nvPr/>
        </p:nvSpPr>
        <p:spPr>
          <a:xfrm>
            <a:off x="1115616" y="692696"/>
            <a:ext cx="712879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S_tradnl" sz="3200" b="1" dirty="0" smtClean="0"/>
              <a:t>Percepción de Salud – Manejo de situación de Salud</a:t>
            </a:r>
          </a:p>
        </p:txBody>
      </p:sp>
    </p:spTree>
    <p:extLst>
      <p:ext uri="{BB962C8B-B14F-4D97-AF65-F5344CB8AC3E}">
        <p14:creationId xmlns:p14="http://schemas.microsoft.com/office/powerpoint/2010/main" val="3626195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115616" y="2708920"/>
            <a:ext cx="72008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buFont typeface="Arial" pitchFamily="34" charset="0"/>
              <a:buChar char="•"/>
            </a:pPr>
            <a:r>
              <a:rPr lang="es-ES_tradnl" sz="2800" dirty="0" smtClean="0"/>
              <a:t>Mantenimiento </a:t>
            </a:r>
            <a:r>
              <a:rPr lang="es-ES_tradnl" sz="2800" dirty="0"/>
              <a:t>ineficaz de la salud relacionado con discapacidad funcional secundario a enfermedad debilitante crónica.</a:t>
            </a:r>
            <a:endParaRPr lang="es-PE" sz="2800" dirty="0"/>
          </a:p>
        </p:txBody>
      </p:sp>
      <p:sp>
        <p:nvSpPr>
          <p:cNvPr id="5" name="4 Rectángulo"/>
          <p:cNvSpPr/>
          <p:nvPr/>
        </p:nvSpPr>
        <p:spPr>
          <a:xfrm>
            <a:off x="1649827" y="1052736"/>
            <a:ext cx="53285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S_tradnl" sz="2800" dirty="0">
                <a:solidFill>
                  <a:prstClr val="white"/>
                </a:solidFill>
              </a:rPr>
              <a:t>DIAGNÓSTICO </a:t>
            </a:r>
            <a:r>
              <a:rPr lang="es-ES_tradnl" sz="2800" dirty="0" smtClean="0">
                <a:solidFill>
                  <a:prstClr val="white"/>
                </a:solidFill>
              </a:rPr>
              <a:t> DE </a:t>
            </a:r>
            <a:r>
              <a:rPr lang="es-ES_tradnl" sz="2800" dirty="0">
                <a:solidFill>
                  <a:prstClr val="white"/>
                </a:solidFill>
              </a:rPr>
              <a:t>ENFERMERÍA</a:t>
            </a:r>
            <a:endParaRPr lang="es-PE" sz="2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60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403648" y="620688"/>
            <a:ext cx="65726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s-ES_tradnl" sz="3200" b="1" dirty="0"/>
              <a:t>Patrón Nutricional – Metabolismo</a:t>
            </a:r>
            <a:endParaRPr lang="es-PE" sz="3200" dirty="0"/>
          </a:p>
        </p:txBody>
      </p:sp>
      <p:sp>
        <p:nvSpPr>
          <p:cNvPr id="5" name="4 Rectángulo"/>
          <p:cNvSpPr/>
          <p:nvPr/>
        </p:nvSpPr>
        <p:spPr>
          <a:xfrm>
            <a:off x="755576" y="1484784"/>
            <a:ext cx="7560840" cy="44012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 algn="just"/>
            <a:r>
              <a:rPr lang="es-ES_tradnl" sz="2800" dirty="0"/>
              <a:t>Higiene e Integridad </a:t>
            </a:r>
            <a:r>
              <a:rPr lang="es-ES_tradnl" sz="2800" dirty="0" smtClean="0"/>
              <a:t>Cutánea</a:t>
            </a:r>
            <a:endParaRPr lang="es-PE" sz="2800" dirty="0" smtClean="0"/>
          </a:p>
          <a:p>
            <a:pPr marL="457200" indent="-457200" algn="just">
              <a:buFont typeface="Arial" pitchFamily="34" charset="0"/>
              <a:buChar char="•"/>
            </a:pPr>
            <a:r>
              <a:rPr lang="es-ES_tradnl" sz="2800" u="sng" dirty="0" smtClean="0"/>
              <a:t>Apariencia </a:t>
            </a:r>
            <a:r>
              <a:rPr lang="es-ES_tradnl" sz="2800" u="sng" dirty="0"/>
              <a:t>de la piel</a:t>
            </a:r>
            <a:r>
              <a:rPr lang="es-ES_tradnl" sz="2800" dirty="0"/>
              <a:t>: Solución de continuidad en brazo derecho con presencia de herida cerrada suturada en proceso de cicatrización  y maduración de FAV,  el izquierdo con presencia de herida en proceso de cicatrización, piel de color de gris – bronce , seca y escamosa, </a:t>
            </a:r>
            <a:endParaRPr lang="es-PE" sz="2800" dirty="0" smtClean="0"/>
          </a:p>
          <a:p>
            <a:pPr marL="457200" indent="-457200" algn="just">
              <a:buFont typeface="Arial" pitchFamily="34" charset="0"/>
              <a:buChar char="•"/>
            </a:pPr>
            <a:r>
              <a:rPr lang="es-ES_tradnl" sz="2800" u="sng" dirty="0" smtClean="0"/>
              <a:t>Pelo</a:t>
            </a:r>
            <a:r>
              <a:rPr lang="es-ES_tradnl" sz="2800" dirty="0"/>
              <a:t>: color negro y </a:t>
            </a:r>
            <a:r>
              <a:rPr lang="es-ES_tradnl" sz="2800" dirty="0" smtClean="0"/>
              <a:t>adelgazado</a:t>
            </a:r>
            <a:endParaRPr lang="es-PE" sz="2800" dirty="0" smtClean="0"/>
          </a:p>
          <a:p>
            <a:pPr marL="457200" indent="-457200" algn="just">
              <a:buFont typeface="Arial" pitchFamily="34" charset="0"/>
              <a:buChar char="•"/>
            </a:pPr>
            <a:r>
              <a:rPr lang="es-ES_tradnl" sz="2800" u="sng" dirty="0" smtClean="0"/>
              <a:t>Uñas</a:t>
            </a:r>
            <a:r>
              <a:rPr lang="es-ES_tradnl" sz="2800" dirty="0"/>
              <a:t>: Delgadas y frágiles.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35506555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403648" y="620688"/>
            <a:ext cx="65726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s-ES_tradnl" sz="3200" b="1" dirty="0"/>
              <a:t>Patrón Nutricional – Metabolismo</a:t>
            </a:r>
            <a:endParaRPr lang="es-PE" sz="3200" dirty="0"/>
          </a:p>
        </p:txBody>
      </p:sp>
      <p:sp>
        <p:nvSpPr>
          <p:cNvPr id="5" name="4 Rectángulo"/>
          <p:cNvSpPr/>
          <p:nvPr/>
        </p:nvSpPr>
        <p:spPr>
          <a:xfrm>
            <a:off x="755575" y="1484784"/>
            <a:ext cx="7220706" cy="44012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 algn="just"/>
            <a:r>
              <a:rPr lang="es-ES_tradnl" sz="2800" dirty="0"/>
              <a:t>Estado Nutricional</a:t>
            </a:r>
            <a:endParaRPr lang="es-PE" sz="2800" dirty="0"/>
          </a:p>
          <a:p>
            <a:pPr marL="457200" lvl="0" indent="-457200" algn="just">
              <a:buFont typeface="Arial" pitchFamily="34" charset="0"/>
              <a:buChar char="•"/>
            </a:pPr>
            <a:r>
              <a:rPr lang="es-ES_tradnl" sz="2800" dirty="0"/>
              <a:t>Paciente, refiere tener cambios en el apetito, nauseas, debido a la dieta restringida que debe recibir el paciente renal.</a:t>
            </a:r>
            <a:endParaRPr lang="es-PE" sz="2800" dirty="0"/>
          </a:p>
          <a:p>
            <a:pPr marL="457200" lvl="0" indent="-457200" algn="just">
              <a:buFont typeface="Arial" pitchFamily="34" charset="0"/>
              <a:buChar char="•"/>
            </a:pPr>
            <a:r>
              <a:rPr lang="es-ES_tradnl" sz="2800" u="sng" dirty="0"/>
              <a:t>Dieta hiposódica, hipoprotéica, hipograsa</a:t>
            </a:r>
            <a:endParaRPr lang="es-PE" sz="2800" dirty="0"/>
          </a:p>
          <a:p>
            <a:pPr marL="457200" lvl="0" indent="-457200" algn="just">
              <a:buFont typeface="Arial" pitchFamily="34" charset="0"/>
              <a:buChar char="•"/>
            </a:pPr>
            <a:r>
              <a:rPr lang="es-ES_tradnl" sz="2800" u="sng" dirty="0"/>
              <a:t>Condición de la cavidad oral</a:t>
            </a:r>
            <a:r>
              <a:rPr lang="es-ES_tradnl" sz="2800" dirty="0"/>
              <a:t>: Dentadura en proceso de descalcificación, membranas y mucosas ligeramente pálidas.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16147283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403648" y="620688"/>
            <a:ext cx="65726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s-ES_tradnl" sz="3200" b="1" dirty="0"/>
              <a:t>Patrón Nutricional – Metabolismo</a:t>
            </a:r>
            <a:endParaRPr lang="es-PE" sz="3200" dirty="0"/>
          </a:p>
        </p:txBody>
      </p:sp>
      <p:sp>
        <p:nvSpPr>
          <p:cNvPr id="5" name="4 Rectángulo"/>
          <p:cNvSpPr/>
          <p:nvPr/>
        </p:nvSpPr>
        <p:spPr>
          <a:xfrm>
            <a:off x="971600" y="1503625"/>
            <a:ext cx="7220705" cy="310854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s-ES_tradnl" sz="2800" dirty="0"/>
              <a:t>Líquidos y electrolitos</a:t>
            </a:r>
            <a:endParaRPr lang="es-PE" sz="2800" dirty="0"/>
          </a:p>
          <a:p>
            <a:pPr marL="457200" lvl="0" indent="-457200" algn="just">
              <a:buFont typeface="Arial" pitchFamily="34" charset="0"/>
              <a:buChar char="•"/>
            </a:pPr>
            <a:r>
              <a:rPr lang="es-ES_tradnl" sz="2800" dirty="0"/>
              <a:t>Paciente requiere de control de líquidos que Ingresan y se eliminan, debido a falla renal.</a:t>
            </a:r>
            <a:endParaRPr lang="es-PE" sz="2800" dirty="0"/>
          </a:p>
          <a:p>
            <a:pPr marL="457200" lvl="0" indent="-457200" algn="just">
              <a:buFont typeface="Arial" pitchFamily="34" charset="0"/>
              <a:buChar char="•"/>
            </a:pPr>
            <a:r>
              <a:rPr lang="es-ES_tradnl" sz="2800" dirty="0"/>
              <a:t>Paciente presenta edema a nivel generalizado, recibe diurético, tiene restricción de líquidos. 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36223129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467544" y="1124744"/>
            <a:ext cx="806545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buFont typeface="Wingdings" pitchFamily="2" charset="2"/>
              <a:buChar char="q"/>
            </a:pPr>
            <a:r>
              <a:rPr lang="es-ES_tradnl" sz="2400" dirty="0"/>
              <a:t>Nutrición desequilibrada menos de los requerimientos corporales en relación con anorexia, nauseas, vómitos restricciones alimentarias y alteración de las membranas mucosas orales</a:t>
            </a:r>
            <a:r>
              <a:rPr lang="es-ES_tradnl" sz="2400" dirty="0" smtClean="0"/>
              <a:t>.</a:t>
            </a:r>
          </a:p>
          <a:p>
            <a:pPr lvl="0" algn="just"/>
            <a:endParaRPr lang="es-PE" sz="2400" dirty="0"/>
          </a:p>
          <a:p>
            <a:pPr marL="457200" indent="-457200" algn="just">
              <a:buFont typeface="Wingdings" pitchFamily="2" charset="2"/>
              <a:buChar char="q"/>
            </a:pPr>
            <a:r>
              <a:rPr lang="es-ES_tradnl" sz="2400" dirty="0" smtClean="0"/>
              <a:t>Exceso </a:t>
            </a:r>
            <a:r>
              <a:rPr lang="es-ES_tradnl" sz="2400" dirty="0"/>
              <a:t>de volumen de líquido  en relación con un menor  volumen urinario, excesos alimentarios y retención de sodio y agua</a:t>
            </a:r>
            <a:r>
              <a:rPr lang="es-ES_tradnl" sz="2400" dirty="0" smtClean="0"/>
              <a:t>.</a:t>
            </a:r>
          </a:p>
          <a:p>
            <a:pPr algn="just"/>
            <a:endParaRPr lang="es-PE" sz="2400" dirty="0"/>
          </a:p>
          <a:p>
            <a:pPr marL="457200" indent="-457200" algn="just">
              <a:buFont typeface="Wingdings" pitchFamily="2" charset="2"/>
              <a:buChar char="q"/>
            </a:pPr>
            <a:r>
              <a:rPr lang="es-ES_tradnl" sz="2400" dirty="0" smtClean="0"/>
              <a:t>Potencial </a:t>
            </a:r>
            <a:r>
              <a:rPr lang="es-ES_tradnl" sz="2400" dirty="0"/>
              <a:t>de alteración en la membrana mucosa oral y sabor de boca desagradable, relacionada con los efectos de la urea y el amoniaco.</a:t>
            </a:r>
            <a:endParaRPr lang="es-PE" sz="2400" dirty="0"/>
          </a:p>
        </p:txBody>
      </p:sp>
      <p:sp>
        <p:nvSpPr>
          <p:cNvPr id="5" name="4 Rectángulo"/>
          <p:cNvSpPr/>
          <p:nvPr/>
        </p:nvSpPr>
        <p:spPr>
          <a:xfrm>
            <a:off x="1653770" y="404664"/>
            <a:ext cx="63746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S_tradnl" sz="2800" dirty="0">
                <a:solidFill>
                  <a:prstClr val="white"/>
                </a:solidFill>
              </a:rPr>
              <a:t>DIAGNÓSTICO DE ENFERMERÍA</a:t>
            </a:r>
            <a:endParaRPr lang="es-PE" sz="2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21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755576" y="1484784"/>
            <a:ext cx="7560840" cy="22467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914400" lvl="1" indent="-457200" algn="just">
              <a:buFont typeface="Arial" pitchFamily="34" charset="0"/>
              <a:buChar char="•"/>
            </a:pPr>
            <a:r>
              <a:rPr lang="es-ES_tradnl" sz="2800" dirty="0" smtClean="0"/>
              <a:t>Intestinal</a:t>
            </a:r>
            <a:r>
              <a:rPr lang="es-ES_tradnl" sz="2800" dirty="0"/>
              <a:t>:</a:t>
            </a:r>
            <a:endParaRPr lang="es-PE" sz="2800" dirty="0"/>
          </a:p>
          <a:p>
            <a:pPr marL="914400" lvl="1" indent="-457200" algn="just">
              <a:buFont typeface="Wingdings" pitchFamily="2" charset="2"/>
              <a:buChar char="ü"/>
            </a:pPr>
            <a:r>
              <a:rPr lang="es-ES_tradnl" sz="2800" dirty="0"/>
              <a:t>Paciente relata tener diarrea alterada con constipación                                                                             </a:t>
            </a:r>
            <a:endParaRPr lang="es-PE" sz="2800" dirty="0"/>
          </a:p>
          <a:p>
            <a:pPr marL="914400" lvl="1" indent="-457200" algn="just">
              <a:buFont typeface="Arial" pitchFamily="34" charset="0"/>
              <a:buChar char="•"/>
            </a:pPr>
            <a:r>
              <a:rPr lang="es-ES_tradnl" sz="2800" dirty="0"/>
              <a:t>Urinario:</a:t>
            </a:r>
            <a:endParaRPr lang="es-PE" sz="2800" dirty="0"/>
          </a:p>
          <a:p>
            <a:pPr marL="914400" lvl="1" indent="-457200" algn="just">
              <a:buFont typeface="Wingdings" pitchFamily="2" charset="2"/>
              <a:buChar char="ü"/>
            </a:pPr>
            <a:r>
              <a:rPr lang="es-ES_tradnl" sz="2800" dirty="0"/>
              <a:t>Patrón urinario: presenta oliguria</a:t>
            </a:r>
            <a:endParaRPr lang="es-PE" sz="2800" dirty="0"/>
          </a:p>
        </p:txBody>
      </p:sp>
      <p:sp>
        <p:nvSpPr>
          <p:cNvPr id="2" name="1 Rectángulo"/>
          <p:cNvSpPr/>
          <p:nvPr/>
        </p:nvSpPr>
        <p:spPr>
          <a:xfrm>
            <a:off x="2578100" y="726269"/>
            <a:ext cx="46581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S_tradnl" sz="2800" b="1" dirty="0"/>
              <a:t>Patrón de eliminación</a:t>
            </a:r>
            <a:endParaRPr lang="es-PE" sz="2400" dirty="0"/>
          </a:p>
        </p:txBody>
      </p:sp>
      <p:sp>
        <p:nvSpPr>
          <p:cNvPr id="3" name="2 Rectángulo"/>
          <p:cNvSpPr/>
          <p:nvPr/>
        </p:nvSpPr>
        <p:spPr>
          <a:xfrm>
            <a:off x="755576" y="4085772"/>
            <a:ext cx="770485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_tradnl" sz="2800" dirty="0"/>
              <a:t>DIAGNÓSTICO DE ENFERMERÍA</a:t>
            </a:r>
            <a:endParaRPr lang="es-PE" sz="2800" dirty="0"/>
          </a:p>
          <a:p>
            <a:pPr marL="457200" lvl="0" indent="-457200" algn="just">
              <a:buFont typeface="Wingdings" pitchFamily="2" charset="2"/>
              <a:buChar char="q"/>
            </a:pPr>
            <a:r>
              <a:rPr lang="es-ES_tradnl" sz="2800" dirty="0"/>
              <a:t>Deterioro de la eliminación urinaria relacionado con deterioro de la capacidad para reconocerlos.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840467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552647" y="476672"/>
            <a:ext cx="59666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s-ES_tradnl" sz="3200" b="1" dirty="0"/>
              <a:t>Patrón de Actividad y Ejercicio</a:t>
            </a:r>
            <a:endParaRPr lang="es-PE" sz="3200" dirty="0"/>
          </a:p>
        </p:txBody>
      </p:sp>
      <p:sp>
        <p:nvSpPr>
          <p:cNvPr id="5" name="4 Rectángulo"/>
          <p:cNvSpPr/>
          <p:nvPr/>
        </p:nvSpPr>
        <p:spPr>
          <a:xfrm>
            <a:off x="768400" y="1318022"/>
            <a:ext cx="7331992" cy="43088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 algn="just"/>
            <a:r>
              <a:rPr lang="es-ES_tradnl" sz="3200" dirty="0"/>
              <a:t>Valoración Cardiopulmonar</a:t>
            </a:r>
            <a:r>
              <a:rPr lang="es-ES_tradnl" sz="3200" dirty="0" smtClean="0"/>
              <a:t>:</a:t>
            </a:r>
          </a:p>
          <a:p>
            <a:pPr lvl="1" algn="just"/>
            <a:endParaRPr lang="es-PE" sz="3200" dirty="0"/>
          </a:p>
          <a:p>
            <a:pPr lvl="0" algn="just"/>
            <a:r>
              <a:rPr lang="es-ES_tradnl" sz="3200" dirty="0"/>
              <a:t>Presión Arterial: hipertensa mal controlada</a:t>
            </a:r>
            <a:endParaRPr lang="es-PE" sz="3200" dirty="0"/>
          </a:p>
          <a:p>
            <a:pPr lvl="0" algn="just"/>
            <a:r>
              <a:rPr lang="es-ES_tradnl" sz="3200" dirty="0"/>
              <a:t>Respiración: acelerada, arrítmica, superficial, respira por la boca, requiere  de oxígeno PRN. Presenta disnea, taquipnea.</a:t>
            </a:r>
            <a:endParaRPr lang="es-PE" sz="3200" dirty="0"/>
          </a:p>
          <a:p>
            <a:r>
              <a:rPr lang="es-ES_tradnl" b="1" dirty="0"/>
              <a:t> </a:t>
            </a:r>
            <a:endParaRPr lang="es-PE" sz="1600" dirty="0"/>
          </a:p>
        </p:txBody>
      </p:sp>
    </p:spTree>
    <p:extLst>
      <p:ext uri="{BB962C8B-B14F-4D97-AF65-F5344CB8AC3E}">
        <p14:creationId xmlns:p14="http://schemas.microsoft.com/office/powerpoint/2010/main" val="301818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552647" y="476672"/>
            <a:ext cx="59666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s-ES_tradnl" sz="3200" b="1" dirty="0"/>
              <a:t>Patrón de Actividad y Ejercicio</a:t>
            </a:r>
            <a:endParaRPr lang="es-PE" sz="3200" dirty="0"/>
          </a:p>
        </p:txBody>
      </p:sp>
      <p:sp>
        <p:nvSpPr>
          <p:cNvPr id="5" name="4 Rectángulo"/>
          <p:cNvSpPr/>
          <p:nvPr/>
        </p:nvSpPr>
        <p:spPr>
          <a:xfrm>
            <a:off x="768400" y="1318022"/>
            <a:ext cx="7331992" cy="40318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 algn="just"/>
            <a:r>
              <a:rPr lang="es-ES_tradnl" sz="3200" dirty="0" smtClean="0"/>
              <a:t>Capacidad </a:t>
            </a:r>
            <a:r>
              <a:rPr lang="es-ES_tradnl" sz="3200" dirty="0"/>
              <a:t>motora</a:t>
            </a:r>
            <a:r>
              <a:rPr lang="es-ES_tradnl" sz="3200" dirty="0" smtClean="0"/>
              <a:t>:</a:t>
            </a:r>
          </a:p>
          <a:p>
            <a:pPr lvl="1" algn="just"/>
            <a:endParaRPr lang="es-PE" sz="3200" dirty="0"/>
          </a:p>
          <a:p>
            <a:pPr lvl="0" algn="just"/>
            <a:r>
              <a:rPr lang="es-ES_tradnl" sz="3200" dirty="0"/>
              <a:t>Grado de movilidad: reposo relativo y/o ambulación débil</a:t>
            </a:r>
            <a:endParaRPr lang="es-PE" sz="3200" dirty="0"/>
          </a:p>
          <a:p>
            <a:pPr lvl="0" algn="just"/>
            <a:r>
              <a:rPr lang="es-ES_tradnl" sz="3200" dirty="0"/>
              <a:t>Requiere  ayuda de otra persona  para deambular</a:t>
            </a:r>
            <a:endParaRPr lang="es-PE" sz="3200" dirty="0"/>
          </a:p>
          <a:p>
            <a:pPr lvl="0" algn="just"/>
            <a:r>
              <a:rPr lang="es-ES_tradnl" sz="3200" dirty="0"/>
              <a:t>Tiene alteración  en el equilibrio, como ser debilidad </a:t>
            </a:r>
            <a:r>
              <a:rPr lang="es-ES_tradnl" sz="3200" dirty="0" smtClean="0"/>
              <a:t>muscular</a:t>
            </a:r>
            <a:endParaRPr lang="es-PE" sz="3200" dirty="0"/>
          </a:p>
        </p:txBody>
      </p:sp>
    </p:spTree>
    <p:extLst>
      <p:ext uri="{BB962C8B-B14F-4D97-AF65-F5344CB8AC3E}">
        <p14:creationId xmlns:p14="http://schemas.microsoft.com/office/powerpoint/2010/main" val="153592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812641" y="1844824"/>
            <a:ext cx="756084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buFont typeface="Wingdings" pitchFamily="2" charset="2"/>
              <a:buChar char="q"/>
            </a:pPr>
            <a:r>
              <a:rPr lang="es-ES_tradnl" sz="2800" dirty="0" smtClean="0"/>
              <a:t>Intolerancia </a:t>
            </a:r>
            <a:r>
              <a:rPr lang="es-ES_tradnl" sz="2800" dirty="0"/>
              <a:t>a la actividad en relación con fatiga, retención de productos de desecho y el procedimiento de </a:t>
            </a:r>
            <a:r>
              <a:rPr lang="es-ES_tradnl" sz="2800" dirty="0" smtClean="0"/>
              <a:t>diálisis.</a:t>
            </a:r>
          </a:p>
          <a:p>
            <a:pPr lvl="0" algn="just"/>
            <a:endParaRPr lang="es-PE" sz="2800" dirty="0"/>
          </a:p>
          <a:p>
            <a:pPr marL="457200" lvl="0" indent="-457200" algn="just">
              <a:buFont typeface="Wingdings" pitchFamily="2" charset="2"/>
              <a:buChar char="q"/>
            </a:pPr>
            <a:r>
              <a:rPr lang="es-ES_tradnl" sz="2800" dirty="0" smtClean="0"/>
              <a:t>Alteración </a:t>
            </a:r>
            <a:r>
              <a:rPr lang="es-ES_tradnl" sz="2800" dirty="0"/>
              <a:t>de la presión arterial (hipertensión) relacionada con la retención sódica e hídrica y mal funcionamiento del sistema renina-angiotensina-aldosterona.</a:t>
            </a:r>
            <a:endParaRPr lang="es-PE" sz="2800" dirty="0"/>
          </a:p>
        </p:txBody>
      </p:sp>
      <p:sp>
        <p:nvSpPr>
          <p:cNvPr id="4" name="3 Rectángulo"/>
          <p:cNvSpPr/>
          <p:nvPr/>
        </p:nvSpPr>
        <p:spPr>
          <a:xfrm>
            <a:off x="2051720" y="605879"/>
            <a:ext cx="54166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2400" b="1" dirty="0"/>
              <a:t>DIAGNÓSTICO DE ENFERMERÍA</a:t>
            </a:r>
            <a:endParaRPr lang="es-PE" sz="2400" b="1" dirty="0"/>
          </a:p>
        </p:txBody>
      </p:sp>
    </p:spTree>
    <p:extLst>
      <p:ext uri="{BB962C8B-B14F-4D97-AF65-F5344CB8AC3E}">
        <p14:creationId xmlns:p14="http://schemas.microsoft.com/office/powerpoint/2010/main" val="301818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755576" y="1700808"/>
            <a:ext cx="7560840" cy="35394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just"/>
            <a:endParaRPr lang="es-ES_tradnl" sz="2800" dirty="0" smtClean="0"/>
          </a:p>
          <a:p>
            <a:pPr lvl="0" algn="just"/>
            <a:r>
              <a:rPr lang="es-ES_tradnl" sz="2800" dirty="0" smtClean="0"/>
              <a:t>Existen </a:t>
            </a:r>
            <a:r>
              <a:rPr lang="es-ES_tradnl" sz="2800" dirty="0"/>
              <a:t>factores ambientales que alteran o influyen en el descanso, como ser luz excesiva y actividades rutinarias del hospital </a:t>
            </a:r>
            <a:endParaRPr lang="es-ES_tradnl" sz="2800" dirty="0" smtClean="0"/>
          </a:p>
          <a:p>
            <a:pPr lvl="0" algn="just"/>
            <a:endParaRPr lang="es-PE" sz="2800" dirty="0"/>
          </a:p>
          <a:p>
            <a:pPr lvl="0" algn="just"/>
            <a:r>
              <a:rPr lang="es-ES_tradnl" sz="2800" dirty="0"/>
              <a:t>Paciente fatigada por sobrecarga de volumen, el cual le conlleva a tener sueños intermitentes</a:t>
            </a:r>
            <a:r>
              <a:rPr lang="es-ES_tradnl" sz="2800" dirty="0" smtClean="0"/>
              <a:t>.</a:t>
            </a:r>
          </a:p>
          <a:p>
            <a:pPr lvl="0" algn="just"/>
            <a:endParaRPr lang="es-PE" sz="2800" dirty="0"/>
          </a:p>
        </p:txBody>
      </p:sp>
      <p:sp>
        <p:nvSpPr>
          <p:cNvPr id="2" name="1 Rectángulo"/>
          <p:cNvSpPr/>
          <p:nvPr/>
        </p:nvSpPr>
        <p:spPr>
          <a:xfrm>
            <a:off x="2267744" y="464659"/>
            <a:ext cx="49462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_tradnl" sz="2800" b="1" dirty="0"/>
              <a:t>Patrón de Sueño y Descanso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323247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827584" y="1397675"/>
            <a:ext cx="756084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_tradnl" sz="2800" dirty="0"/>
              <a:t>DIAGNÓSTICO DE </a:t>
            </a:r>
            <a:r>
              <a:rPr lang="es-ES_tradnl" sz="2800" dirty="0" smtClean="0"/>
              <a:t>ENFERMERÍA</a:t>
            </a:r>
          </a:p>
          <a:p>
            <a:pPr algn="just"/>
            <a:endParaRPr lang="es-PE" sz="2800" dirty="0"/>
          </a:p>
          <a:p>
            <a:pPr marL="457200" lvl="0" indent="-457200" algn="just">
              <a:buFont typeface="Wingdings" pitchFamily="2" charset="2"/>
              <a:buChar char="q"/>
            </a:pPr>
            <a:r>
              <a:rPr lang="es-ES_tradnl" sz="2800" dirty="0"/>
              <a:t>Alteración del patrón del sueño relacionado con la reducción del ejercicio, el estrés secundario a la preocupación por la enfermedad, el desconocimiento del entorno y/o el malestar asociado a la enfermedad. 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34013555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665312" y="3723264"/>
            <a:ext cx="7579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dirty="0"/>
              <a:t> </a:t>
            </a:r>
            <a:endParaRPr lang="es-PE" sz="1600" dirty="0"/>
          </a:p>
        </p:txBody>
      </p:sp>
      <p:sp>
        <p:nvSpPr>
          <p:cNvPr id="4" name="3 Rectángulo"/>
          <p:cNvSpPr/>
          <p:nvPr/>
        </p:nvSpPr>
        <p:spPr>
          <a:xfrm>
            <a:off x="1748879" y="486860"/>
            <a:ext cx="56462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S_tradnl" sz="2400" b="1" dirty="0">
                <a:solidFill>
                  <a:prstClr val="white"/>
                </a:solidFill>
              </a:rPr>
              <a:t>Patrón Cognoscitivo – Perceptual</a:t>
            </a:r>
            <a:endParaRPr lang="es-PE" sz="2400" dirty="0">
              <a:solidFill>
                <a:prstClr val="white"/>
              </a:solidFill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684334" y="1700808"/>
            <a:ext cx="7579096" cy="39703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914400" lvl="1" indent="-457200" algn="just">
              <a:buFont typeface="Wingdings" pitchFamily="2" charset="2"/>
              <a:buChar char="q"/>
            </a:pPr>
            <a:endParaRPr lang="es-ES_tradnl" sz="2800" dirty="0" smtClean="0"/>
          </a:p>
          <a:p>
            <a:pPr marL="914400" lvl="1" indent="-457200" algn="just">
              <a:buFont typeface="Wingdings" pitchFamily="2" charset="2"/>
              <a:buChar char="q"/>
            </a:pPr>
            <a:r>
              <a:rPr lang="es-ES_tradnl" sz="2800" dirty="0" smtClean="0"/>
              <a:t>La </a:t>
            </a:r>
            <a:r>
              <a:rPr lang="es-ES_tradnl" sz="2800" dirty="0"/>
              <a:t>alteración en procesos mentales es debido a la patología renal </a:t>
            </a:r>
            <a:r>
              <a:rPr lang="es-ES_tradnl" sz="2800" dirty="0" smtClean="0"/>
              <a:t>crónica</a:t>
            </a:r>
          </a:p>
          <a:p>
            <a:pPr lvl="1" algn="just"/>
            <a:endParaRPr lang="es-PE" sz="2800" dirty="0"/>
          </a:p>
          <a:p>
            <a:pPr marL="914400" lvl="1" indent="-457200" algn="just">
              <a:buFont typeface="Wingdings" pitchFamily="2" charset="2"/>
              <a:buChar char="q"/>
            </a:pPr>
            <a:r>
              <a:rPr lang="es-ES_tradnl" sz="2800" dirty="0"/>
              <a:t>Desconoce del Proceso de su enfermedad, Diagnóstico médico, plan de cuidados,  medicamentos, dieta, ejercicio y plan de rehabilitación</a:t>
            </a:r>
            <a:r>
              <a:rPr lang="es-ES_tradnl" sz="2800" dirty="0" smtClean="0"/>
              <a:t>.</a:t>
            </a:r>
          </a:p>
          <a:p>
            <a:pPr lvl="1" algn="just"/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12495467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1259632" y="1412776"/>
            <a:ext cx="662473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_tradnl" sz="2800" dirty="0"/>
              <a:t>DIAGNÓSTICO DE </a:t>
            </a:r>
            <a:r>
              <a:rPr lang="es-ES_tradnl" sz="2800" dirty="0" smtClean="0"/>
              <a:t>ENFERMERÍA</a:t>
            </a:r>
          </a:p>
          <a:p>
            <a:pPr algn="just"/>
            <a:endParaRPr lang="es-PE" sz="2800" dirty="0"/>
          </a:p>
          <a:p>
            <a:pPr marL="457200" lvl="0" indent="-457200" algn="just">
              <a:buFont typeface="Wingdings" pitchFamily="2" charset="2"/>
              <a:buChar char="q"/>
            </a:pPr>
            <a:r>
              <a:rPr lang="es-ES_tradnl" sz="2800" dirty="0"/>
              <a:t>Potencial alteración en el proceso de pensamiento relacionado con los efectos de las toxinas urémicas, acidosis, desequilibrio de líquidos y electrolitos, hipoxia en el sistema nervioso central.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20922200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827584" y="1772816"/>
            <a:ext cx="7272808" cy="40318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ES_tradnl" sz="3200" dirty="0" smtClean="0"/>
              <a:t>Necesidades Psicosociales</a:t>
            </a:r>
          </a:p>
          <a:p>
            <a:pPr algn="just"/>
            <a:endParaRPr lang="es-PE" sz="3200" dirty="0"/>
          </a:p>
          <a:p>
            <a:pPr marL="457200" lvl="0" indent="-457200" algn="just">
              <a:buFont typeface="Wingdings" pitchFamily="2" charset="2"/>
              <a:buChar char="q"/>
            </a:pPr>
            <a:r>
              <a:rPr lang="es-ES_tradnl" sz="3200" dirty="0"/>
              <a:t>Estado emocional: paciente </a:t>
            </a:r>
            <a:r>
              <a:rPr lang="es-ES_tradnl" sz="3200" dirty="0" smtClean="0"/>
              <a:t>ansiosa</a:t>
            </a:r>
          </a:p>
          <a:p>
            <a:pPr lvl="0" algn="just"/>
            <a:endParaRPr lang="es-PE" sz="3200" dirty="0"/>
          </a:p>
          <a:p>
            <a:pPr marL="457200" lvl="0" indent="-457200" algn="just">
              <a:buFont typeface="Wingdings" pitchFamily="2" charset="2"/>
              <a:buChar char="q"/>
            </a:pPr>
            <a:r>
              <a:rPr lang="es-ES_tradnl" sz="3200" dirty="0"/>
              <a:t>La enfermedad que cursa la paciente altera el auto-concepto, imagen corporal, identidad personal, de la paciente.</a:t>
            </a:r>
            <a:endParaRPr lang="es-PE" sz="3200" dirty="0"/>
          </a:p>
        </p:txBody>
      </p:sp>
      <p:sp>
        <p:nvSpPr>
          <p:cNvPr id="4" name="3 Rectángulo"/>
          <p:cNvSpPr/>
          <p:nvPr/>
        </p:nvSpPr>
        <p:spPr>
          <a:xfrm>
            <a:off x="827584" y="510699"/>
            <a:ext cx="74888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S_tradnl" sz="2800" b="1" dirty="0">
                <a:solidFill>
                  <a:prstClr val="white"/>
                </a:solidFill>
              </a:rPr>
              <a:t>Patrón de auto- percepción y auto-concepción </a:t>
            </a:r>
            <a:endParaRPr lang="es-PE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94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1187624" y="1844824"/>
            <a:ext cx="65527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_tradnl" sz="2800" dirty="0"/>
              <a:t>DIGNÓSTICO DE </a:t>
            </a:r>
            <a:r>
              <a:rPr lang="es-ES_tradnl" sz="2800" dirty="0" smtClean="0"/>
              <a:t>ENFERMERÍA</a:t>
            </a:r>
          </a:p>
          <a:p>
            <a:pPr algn="just"/>
            <a:endParaRPr lang="es-PE" sz="2800" dirty="0"/>
          </a:p>
          <a:p>
            <a:pPr marL="457200" lvl="0" indent="-457200" algn="just">
              <a:buFont typeface="Wingdings" pitchFamily="2" charset="2"/>
              <a:buChar char="q"/>
            </a:pPr>
            <a:r>
              <a:rPr lang="es-ES_tradnl" sz="2800" dirty="0"/>
              <a:t>Riesgo de bajo autoestima situacional en relación  con la dependencia los cambios de participación  e imagen corporal  y la función sexual 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360282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1043608" y="2132856"/>
            <a:ext cx="7344816" cy="310854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s-ES_tradnl" sz="2800" dirty="0" smtClean="0"/>
              <a:t> Falta de conocimiento sobre el trastorno renal, tratamiento a seguir (hemodiálisis)</a:t>
            </a:r>
          </a:p>
          <a:p>
            <a:pPr algn="just"/>
            <a:endParaRPr lang="es-PE" sz="2800" dirty="0" smtClean="0"/>
          </a:p>
          <a:p>
            <a:pPr marL="457200" indent="-457200" algn="just">
              <a:buFont typeface="Wingdings" pitchFamily="2" charset="2"/>
              <a:buChar char="q"/>
            </a:pPr>
            <a:r>
              <a:rPr lang="es-ES_tradnl" sz="2800" dirty="0" smtClean="0"/>
              <a:t>Relaciones </a:t>
            </a:r>
            <a:r>
              <a:rPr lang="es-ES_tradnl" sz="2800" dirty="0"/>
              <a:t>interpersonales </a:t>
            </a:r>
            <a:r>
              <a:rPr lang="es-ES_tradnl" sz="2800" dirty="0" smtClean="0"/>
              <a:t>deficientes</a:t>
            </a:r>
          </a:p>
          <a:p>
            <a:pPr algn="just"/>
            <a:endParaRPr lang="es-PE" sz="2800" dirty="0"/>
          </a:p>
          <a:p>
            <a:pPr marL="457200" indent="-457200" algn="just">
              <a:buFont typeface="Wingdings" pitchFamily="2" charset="2"/>
              <a:buChar char="q"/>
            </a:pPr>
            <a:r>
              <a:rPr lang="es-ES_tradnl" sz="2800" dirty="0" smtClean="0"/>
              <a:t> Cambio del rol como madre,  en relación con los hijos</a:t>
            </a:r>
            <a:endParaRPr lang="es-PE" sz="2800" dirty="0"/>
          </a:p>
        </p:txBody>
      </p:sp>
      <p:sp>
        <p:nvSpPr>
          <p:cNvPr id="4" name="3 Rectángulo"/>
          <p:cNvSpPr/>
          <p:nvPr/>
        </p:nvSpPr>
        <p:spPr>
          <a:xfrm>
            <a:off x="1710702" y="573524"/>
            <a:ext cx="60486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S_tradnl" sz="2800" b="1" dirty="0">
                <a:solidFill>
                  <a:prstClr val="white"/>
                </a:solidFill>
              </a:rPr>
              <a:t>Patrón de Relación con el Rol</a:t>
            </a:r>
            <a:endParaRPr lang="es-PE" sz="2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94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971600" y="1340768"/>
            <a:ext cx="727280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800" dirty="0"/>
              <a:t>DIAGNÓSTICO DE </a:t>
            </a:r>
            <a:r>
              <a:rPr lang="es-ES_tradnl" sz="2800" dirty="0" smtClean="0"/>
              <a:t>ENFERMERÍA</a:t>
            </a:r>
          </a:p>
          <a:p>
            <a:endParaRPr lang="es-PE" sz="2800" dirty="0"/>
          </a:p>
          <a:p>
            <a:pPr marL="457200" lvl="0" indent="-457200" algn="just">
              <a:buFont typeface="Wingdings" pitchFamily="2" charset="2"/>
              <a:buChar char="q"/>
            </a:pPr>
            <a:r>
              <a:rPr lang="es-ES_tradnl" sz="2800" dirty="0"/>
              <a:t>Potencial de no adaptación relacionado al conocimiento deficiente  acerca del trastorno  tratamiento y efectos colaterales de la dieta y diálisis</a:t>
            </a:r>
            <a:r>
              <a:rPr lang="es-ES_tradnl" sz="2800" dirty="0" smtClean="0"/>
              <a:t>.</a:t>
            </a:r>
          </a:p>
          <a:p>
            <a:pPr marL="457200" lvl="0" indent="-457200" algn="just">
              <a:buFont typeface="Wingdings" pitchFamily="2" charset="2"/>
              <a:buChar char="q"/>
            </a:pPr>
            <a:endParaRPr lang="es-PE" sz="2800" dirty="0"/>
          </a:p>
          <a:p>
            <a:pPr marL="457200" lvl="0" indent="-457200" algn="just">
              <a:buFont typeface="Wingdings" pitchFamily="2" charset="2"/>
              <a:buChar char="q"/>
            </a:pPr>
            <a:r>
              <a:rPr lang="es-ES_tradnl" sz="2800" dirty="0"/>
              <a:t>Déficit de conocimiento relacionado con los cuidados del acceso vascular.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11565505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827584" y="1340768"/>
            <a:ext cx="756084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/>
            <a:r>
              <a:rPr lang="es-ES_tradnl" sz="2800" dirty="0" smtClean="0">
                <a:solidFill>
                  <a:srgbClr val="00B0F0"/>
                </a:solidFill>
              </a:rPr>
              <a:t>Disminución de la libido  sexual hacia su propia pareja</a:t>
            </a:r>
            <a:endParaRPr lang="es-PE" sz="2800" dirty="0" smtClean="0">
              <a:solidFill>
                <a:srgbClr val="00B0F0"/>
              </a:solidFill>
            </a:endParaRPr>
          </a:p>
          <a:p>
            <a:pPr algn="just"/>
            <a:r>
              <a:rPr lang="es-ES_tradnl" sz="2800" dirty="0" smtClean="0"/>
              <a:t> </a:t>
            </a:r>
          </a:p>
          <a:p>
            <a:pPr algn="just"/>
            <a:endParaRPr lang="es-PE" sz="2800" dirty="0" smtClean="0"/>
          </a:p>
          <a:p>
            <a:pPr algn="just"/>
            <a:r>
              <a:rPr lang="es-ES_tradnl" sz="2800" dirty="0" smtClean="0"/>
              <a:t> </a:t>
            </a:r>
            <a:r>
              <a:rPr lang="es-ES_tradnl" sz="2800" dirty="0"/>
              <a:t>DIAGNÓSTICO DE </a:t>
            </a:r>
            <a:r>
              <a:rPr lang="es-ES_tradnl" sz="2800" dirty="0" smtClean="0"/>
              <a:t>ENFERMERÍA</a:t>
            </a:r>
          </a:p>
          <a:p>
            <a:pPr algn="just"/>
            <a:endParaRPr lang="es-PE" sz="2800" dirty="0"/>
          </a:p>
          <a:p>
            <a:pPr marL="457200" lvl="0" indent="-457200" algn="just">
              <a:buFont typeface="Wingdings" pitchFamily="2" charset="2"/>
              <a:buChar char="q"/>
            </a:pPr>
            <a:r>
              <a:rPr lang="es-ES_tradnl" sz="2800" dirty="0"/>
              <a:t>Potencial de alteración sexual relacionada con los efectos de la uremia en los sistemas endocrinos, nerviosos y el impacto psicosocial de la IRC y su tratamiento.</a:t>
            </a:r>
            <a:endParaRPr lang="es-PE" sz="2800" dirty="0"/>
          </a:p>
        </p:txBody>
      </p:sp>
      <p:sp>
        <p:nvSpPr>
          <p:cNvPr id="4" name="3 Rectángulo"/>
          <p:cNvSpPr/>
          <p:nvPr/>
        </p:nvSpPr>
        <p:spPr>
          <a:xfrm>
            <a:off x="2483768" y="561029"/>
            <a:ext cx="47821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ES_tradnl" sz="2800" b="1" dirty="0">
                <a:solidFill>
                  <a:prstClr val="white"/>
                </a:solidFill>
              </a:rPr>
              <a:t>Patrón Reproductivo Sexual</a:t>
            </a:r>
            <a:endParaRPr lang="es-PE" sz="2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3688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1115616" y="1916832"/>
            <a:ext cx="6840760" cy="23698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914400" lvl="1" indent="-457200" algn="just">
              <a:buFont typeface="Wingdings" pitchFamily="2" charset="2"/>
              <a:buChar char="q"/>
            </a:pPr>
            <a:r>
              <a:rPr lang="es-ES_tradnl" sz="2800" dirty="0" smtClean="0"/>
              <a:t>Adaptación </a:t>
            </a:r>
            <a:r>
              <a:rPr lang="es-ES_tradnl" sz="2800" dirty="0"/>
              <a:t>individual y familiar ineficaz, en respuesta a los cambios provocados por la enfermedad crónica y su tratamiento.</a:t>
            </a:r>
            <a:endParaRPr lang="es-PE" sz="2800" dirty="0"/>
          </a:p>
          <a:p>
            <a:r>
              <a:rPr lang="es-ES_tradnl" dirty="0"/>
              <a:t> </a:t>
            </a:r>
            <a:endParaRPr lang="es-PE" sz="1600" dirty="0"/>
          </a:p>
          <a:p>
            <a:r>
              <a:rPr lang="es-ES_tradnl" dirty="0"/>
              <a:t> </a:t>
            </a:r>
            <a:endParaRPr lang="es-PE" sz="1600" dirty="0"/>
          </a:p>
        </p:txBody>
      </p:sp>
      <p:sp>
        <p:nvSpPr>
          <p:cNvPr id="4" name="3 Rectángulo"/>
          <p:cNvSpPr/>
          <p:nvPr/>
        </p:nvSpPr>
        <p:spPr>
          <a:xfrm>
            <a:off x="1547664" y="332656"/>
            <a:ext cx="640871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S_tradnl" sz="2800" b="1" dirty="0">
                <a:solidFill>
                  <a:prstClr val="white"/>
                </a:solidFill>
              </a:rPr>
              <a:t>Patrón de Capacidad de Afrontar las Situaciones de Stress</a:t>
            </a:r>
            <a:endParaRPr lang="es-PE" sz="2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28812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1403648" y="692696"/>
            <a:ext cx="676875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_tradnl" sz="2800" dirty="0"/>
              <a:t>DIAGNÓSTICO DE </a:t>
            </a:r>
            <a:r>
              <a:rPr lang="es-ES_tradnl" sz="2800" dirty="0" smtClean="0"/>
              <a:t>ENFERMERÍA</a:t>
            </a:r>
          </a:p>
          <a:p>
            <a:pPr algn="just"/>
            <a:endParaRPr lang="es-ES_tradnl" sz="2800" dirty="0"/>
          </a:p>
          <a:p>
            <a:pPr algn="just"/>
            <a:endParaRPr lang="es-PE" sz="2800" dirty="0"/>
          </a:p>
          <a:p>
            <a:pPr marL="457200" lvl="0" indent="-457200" algn="just">
              <a:buFont typeface="Wingdings" pitchFamily="2" charset="2"/>
              <a:buChar char="q"/>
            </a:pPr>
            <a:r>
              <a:rPr lang="es-ES_tradnl" sz="2800" dirty="0"/>
              <a:t>Afrontamiento familiar incapacitante relacionado con el deterioro de la capacidad para desempeñar las responsabilidades del rol, secundario a la enfermedad crónica.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359734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1092222" y="1340768"/>
            <a:ext cx="691276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/>
            <a:r>
              <a:rPr lang="es-ES_tradnl" sz="2800" dirty="0" smtClean="0">
                <a:solidFill>
                  <a:srgbClr val="00B0F0"/>
                </a:solidFill>
              </a:rPr>
              <a:t>Paciente </a:t>
            </a:r>
            <a:r>
              <a:rPr lang="es-ES_tradnl" sz="2800" dirty="0">
                <a:solidFill>
                  <a:srgbClr val="00B0F0"/>
                </a:solidFill>
              </a:rPr>
              <a:t>manifiesta poco sus valores religiosos</a:t>
            </a:r>
            <a:endParaRPr lang="es-PE" sz="2800" dirty="0">
              <a:solidFill>
                <a:srgbClr val="00B0F0"/>
              </a:solidFill>
            </a:endParaRPr>
          </a:p>
          <a:p>
            <a:pPr algn="just"/>
            <a:r>
              <a:rPr lang="es-ES_tradnl" sz="2800" dirty="0"/>
              <a:t> </a:t>
            </a:r>
            <a:endParaRPr lang="es-PE" sz="2800" dirty="0"/>
          </a:p>
          <a:p>
            <a:pPr algn="just"/>
            <a:r>
              <a:rPr lang="es-ES_tradnl" sz="2800" dirty="0"/>
              <a:t> DIAGNÓSTICO DE </a:t>
            </a:r>
            <a:r>
              <a:rPr lang="es-ES_tradnl" sz="2800" dirty="0" smtClean="0"/>
              <a:t>ENFERMERÍA</a:t>
            </a:r>
          </a:p>
          <a:p>
            <a:pPr algn="just"/>
            <a:endParaRPr lang="es-ES_tradnl" sz="2800" dirty="0" smtClean="0"/>
          </a:p>
          <a:p>
            <a:pPr marL="457200" indent="-457200" algn="just">
              <a:buFont typeface="Wingdings" pitchFamily="2" charset="2"/>
              <a:buChar char="q"/>
            </a:pPr>
            <a:r>
              <a:rPr lang="es-PE" sz="2800" dirty="0" smtClean="0"/>
              <a:t>Riesgo </a:t>
            </a:r>
            <a:r>
              <a:rPr lang="es-PE" sz="2800" dirty="0"/>
              <a:t>de sufrimiento espiritual relacionado con la separación de los vínculos espirituales, secundario a enfermedad debilitante y hospitalización.</a:t>
            </a:r>
          </a:p>
        </p:txBody>
      </p:sp>
      <p:sp>
        <p:nvSpPr>
          <p:cNvPr id="4" name="3 Rectángulo"/>
          <p:cNvSpPr/>
          <p:nvPr/>
        </p:nvSpPr>
        <p:spPr>
          <a:xfrm>
            <a:off x="1295636" y="367625"/>
            <a:ext cx="65527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S_tradnl" sz="2800" b="1" dirty="0">
                <a:solidFill>
                  <a:prstClr val="white"/>
                </a:solidFill>
              </a:rPr>
              <a:t>Patrón de Creencias y Valores</a:t>
            </a:r>
            <a:endParaRPr lang="es-PE" sz="2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446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C:\Documents and Settings\F&amp;M&amp;V\Escritorio\MJUB\CYCAS4QUW3CAHNX6MNCAGY5IZ8CANJ2AGECA0VR8Z1CAMKQ4D4CAOUUJ5XCA2FC7U4CATVJNGCCAT0UQ0ZCAYHHVNQCAEQUUOMCA0Z80SJCARXEQ8HCA6YDMAOCAQNL671CA5B0GF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737" y="399571"/>
            <a:ext cx="8337239" cy="5359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2483768" y="5759565"/>
            <a:ext cx="3897313" cy="719138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 sz="4400" b="1" dirty="0" smtClean="0"/>
              <a:t>GRACIAS</a:t>
            </a:r>
            <a:endParaRPr lang="es-ES" sz="4400" b="1" dirty="0" smtClean="0"/>
          </a:p>
        </p:txBody>
      </p:sp>
    </p:spTree>
    <p:extLst>
      <p:ext uri="{BB962C8B-B14F-4D97-AF65-F5344CB8AC3E}">
        <p14:creationId xmlns:p14="http://schemas.microsoft.com/office/powerpoint/2010/main" val="2859091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lemental">
  <a:themeElements>
    <a:clrScheme name="Elemental">
      <a:dk1>
        <a:sysClr val="windowText" lastClr="000000"/>
      </a:dk1>
      <a:lt1>
        <a:sysClr val="window" lastClr="F0F0F0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</TotalTime>
  <Words>1911</Words>
  <Application>Microsoft Office PowerPoint</Application>
  <PresentationFormat>Presentación en pantalla (4:3)</PresentationFormat>
  <Paragraphs>217</Paragraphs>
  <Slides>50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50</vt:i4>
      </vt:variant>
    </vt:vector>
  </HeadingPairs>
  <TitlesOfParts>
    <vt:vector size="51" baseType="lpstr">
      <vt:lpstr>Elemental</vt:lpstr>
      <vt:lpstr>CASO CLINICO N° 3</vt:lpstr>
      <vt:lpstr>Presentación de PowerPoint</vt:lpstr>
      <vt:lpstr>MINI PROCESO DE ENFERMERIA</vt:lpstr>
      <vt:lpstr>DATOS GENERALES</vt:lpstr>
      <vt:lpstr>ENFERMEDAD RENAL CRONICA</vt:lpstr>
      <vt:lpstr>Presentación de PowerPoint</vt:lpstr>
      <vt:lpstr> Manifestaciones Clínicas:</vt:lpstr>
      <vt:lpstr> Tratamiento:</vt:lpstr>
      <vt:lpstr> Tratamientos de remplazo renal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Complicaciones de las fistulas AV</vt:lpstr>
      <vt:lpstr>Trombosis:</vt:lpstr>
      <vt:lpstr>Cuidados previos a la realización de la fístula </vt:lpstr>
      <vt:lpstr>Cuidados previos a la realización de la fístula </vt:lpstr>
      <vt:lpstr>Cuidados en el periodo postquirúrgico </vt:lpstr>
      <vt:lpstr>Cuidados en el periodo postquirúrgico </vt:lpstr>
      <vt:lpstr>Presentación de PowerPoint</vt:lpstr>
      <vt:lpstr> HIPERTENSION ARTERIAL</vt:lpstr>
      <vt:lpstr>Presentación de PowerPoint</vt:lpstr>
      <vt:lpstr> Lesión de órganos diana</vt:lpstr>
      <vt:lpstr>VALORACION DE LOS PATRONES DE GORDON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M&amp;V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CASO CLINICO N° 3</dc:title>
  <dc:creator>Mendoza</dc:creator>
  <cp:lastModifiedBy>Mendoza</cp:lastModifiedBy>
  <cp:revision>18</cp:revision>
  <dcterms:created xsi:type="dcterms:W3CDTF">2014-03-13T15:23:44Z</dcterms:created>
  <dcterms:modified xsi:type="dcterms:W3CDTF">2014-03-15T11:31:54Z</dcterms:modified>
</cp:coreProperties>
</file>