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56" r:id="rId4"/>
    <p:sldId id="257" r:id="rId5"/>
    <p:sldId id="258" r:id="rId6"/>
    <p:sldId id="259" r:id="rId7"/>
    <p:sldId id="260" r:id="rId8"/>
    <p:sldId id="261" r:id="rId9"/>
    <p:sldId id="265" r:id="rId10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B7EEE7C1-6849-4E40-8CFA-11D3A20C097B}" type="datetimeFigureOut">
              <a:rPr lang="es-BO" smtClean="0"/>
              <a:t>04/04/2014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2665F627-90D3-41BE-8279-DDFB232A7E95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google.com.bo/url?sa=i&amp;source=images&amp;cd=&amp;cad=rja&amp;uact=8&amp;docid=S-L-UO1L_UOkuM&amp;tbnid=eHFi2f2D-BQePM&amp;ved=0CAgQjRw&amp;url=http%3A%2F%2Fen.wikipedia.org%2Fwiki%2FNeurogenic_shock&amp;ei=s8k-U4vjHMTMsQTcnoDICw&amp;psig=AFQjCNHyHZSleuF66gLdiPPInN7Jqq3NOg&amp;ust=139671019552568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hyperlink" Target="https://www.google.com.bo/imgres?imgurl&amp;imgrefurl=http%3A%2F%2Fes.wikipedia.org%2Fwiki%2FChoque_cardiog%25C3%25A9nico&amp;h=0&amp;w=0&amp;tbnid=hL0PCxgJY4DxPM&amp;zoom=1&amp;tbnh=245&amp;tbnw=205&amp;docid=oslfB9c-i1SgpM&amp;tbm=isch&amp;ei=D8o-U570HMPfsAS-3IKQBA&amp;ved=0CAsQsCUoAw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536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16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26638"/>
            <a:ext cx="8616957" cy="6462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205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SHOCK NEUROGENICO </a:t>
            </a:r>
            <a:endParaRPr lang="es-BO" b="1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sz="2400" dirty="0" smtClean="0"/>
              <a:t>Resulta de la perdida o </a:t>
            </a:r>
            <a:r>
              <a:rPr lang="es-BO" sz="2400" dirty="0" err="1" smtClean="0"/>
              <a:t>supresion</a:t>
            </a:r>
            <a:r>
              <a:rPr lang="es-BO" sz="2400" dirty="0" smtClean="0"/>
              <a:t> del tono </a:t>
            </a:r>
            <a:r>
              <a:rPr lang="es-BO" sz="2400" dirty="0" err="1" smtClean="0"/>
              <a:t>simpatico</a:t>
            </a:r>
            <a:r>
              <a:rPr lang="es-BO" sz="2400" dirty="0" smtClean="0"/>
              <a:t> Causa </a:t>
            </a:r>
            <a:r>
              <a:rPr lang="es-BO" sz="2400" dirty="0" err="1" smtClean="0"/>
              <a:t>vasodilatacion</a:t>
            </a:r>
            <a:r>
              <a:rPr lang="es-BO" sz="2400" dirty="0" smtClean="0"/>
              <a:t> masiva en los vasos </a:t>
            </a:r>
            <a:r>
              <a:rPr lang="es-BO" sz="2400" dirty="0" err="1" smtClean="0"/>
              <a:t>arteriolares</a:t>
            </a:r>
            <a:r>
              <a:rPr lang="es-BO" sz="2400" dirty="0" smtClean="0"/>
              <a:t> y venosos, bajo  retorno venoso al </a:t>
            </a:r>
            <a:r>
              <a:rPr lang="es-BO" sz="2400" dirty="0" err="1" smtClean="0"/>
              <a:t>corazon</a:t>
            </a:r>
            <a:r>
              <a:rPr lang="es-BO" sz="2400" dirty="0" smtClean="0"/>
              <a:t>, salida cardiaca</a:t>
            </a:r>
            <a:r>
              <a:rPr lang="es-BO" dirty="0" smtClean="0"/>
              <a:t>.</a:t>
            </a:r>
          </a:p>
          <a:p>
            <a:pPr marL="0" indent="0">
              <a:buNone/>
            </a:pPr>
            <a:r>
              <a:rPr lang="es-BO" dirty="0" smtClean="0"/>
              <a:t> </a:t>
            </a:r>
            <a:endParaRPr lang="es-BO" dirty="0"/>
          </a:p>
        </p:txBody>
      </p:sp>
      <p:pic>
        <p:nvPicPr>
          <p:cNvPr id="1026" name="Picture 2" descr="http://t2.gstatic.com/images?q=tbn:ANd9GcRVMPvQCGa8KqnjdutqL1HIKAUCvAtCFOBtmVNSuNfCW4MX1MMz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645024"/>
            <a:ext cx="2333625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encrypted-tbn0.gstatic.com/images?q=tbn:ANd9GcS9CMjStGGGV4bjlf5e8l2s1E5Wbsj6xQfKd4lNOib9Q_q-XALXsWCwnIDO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854573"/>
            <a:ext cx="1952625" cy="233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62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sz="4000" b="1" dirty="0" smtClean="0"/>
              <a:t>PATOFISIOLOGIA DEL SHOCK NEUROGENICO</a:t>
            </a:r>
            <a:endParaRPr lang="es-BO" sz="4000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1412776"/>
            <a:ext cx="7520940" cy="3267701"/>
          </a:xfrm>
        </p:spPr>
        <p:txBody>
          <a:bodyPr>
            <a:noAutofit/>
          </a:bodyPr>
          <a:lstStyle/>
          <a:p>
            <a:r>
              <a:rPr lang="es-BO" sz="2400" dirty="0" smtClean="0"/>
              <a:t>Ruptura del sistema Nervioso </a:t>
            </a:r>
            <a:r>
              <a:rPr lang="es-BO" sz="2400" dirty="0" err="1" smtClean="0"/>
              <a:t>Simpatico</a:t>
            </a:r>
            <a:r>
              <a:rPr lang="es-BO" sz="2400" dirty="0" smtClean="0"/>
              <a:t> Perdida del tono </a:t>
            </a:r>
            <a:r>
              <a:rPr lang="es-BO" sz="2400" dirty="0" err="1" smtClean="0"/>
              <a:t>Simpatico</a:t>
            </a:r>
            <a:r>
              <a:rPr lang="es-BO" sz="2400" dirty="0" smtClean="0"/>
              <a:t> </a:t>
            </a:r>
            <a:r>
              <a:rPr lang="es-BO" sz="2400" dirty="0" err="1" smtClean="0"/>
              <a:t>Vasodilatacion</a:t>
            </a:r>
            <a:r>
              <a:rPr lang="es-BO" sz="2400" dirty="0" smtClean="0"/>
              <a:t> venosa y arterial </a:t>
            </a:r>
          </a:p>
          <a:p>
            <a:r>
              <a:rPr lang="es-BO" sz="2400" dirty="0" err="1" smtClean="0"/>
              <a:t>Disminucion</a:t>
            </a:r>
            <a:r>
              <a:rPr lang="es-BO" sz="2400" dirty="0" smtClean="0"/>
              <a:t> del retorno venoso </a:t>
            </a:r>
          </a:p>
          <a:p>
            <a:r>
              <a:rPr lang="es-BO" sz="2400" dirty="0" err="1" smtClean="0"/>
              <a:t>Disminucion</a:t>
            </a:r>
            <a:r>
              <a:rPr lang="es-BO" sz="2400" dirty="0" smtClean="0"/>
              <a:t> del volumen circulante </a:t>
            </a:r>
          </a:p>
          <a:p>
            <a:r>
              <a:rPr lang="es-BO" sz="2400" dirty="0" err="1" smtClean="0"/>
              <a:t>Disminucion</a:t>
            </a:r>
            <a:r>
              <a:rPr lang="es-BO" sz="2400" dirty="0" smtClean="0"/>
              <a:t> de gasto cardiaco </a:t>
            </a:r>
          </a:p>
          <a:p>
            <a:r>
              <a:rPr lang="es-BO" sz="2400" dirty="0" err="1" smtClean="0"/>
              <a:t>Disminucion</a:t>
            </a:r>
            <a:r>
              <a:rPr lang="es-BO" sz="2400" dirty="0" smtClean="0"/>
              <a:t> del suplemento de oxigeno celular </a:t>
            </a:r>
          </a:p>
          <a:p>
            <a:r>
              <a:rPr lang="es-BO" sz="2400" dirty="0" smtClean="0"/>
              <a:t>Deterioro en la </a:t>
            </a:r>
            <a:r>
              <a:rPr lang="es-BO" sz="2400" dirty="0" err="1" smtClean="0"/>
              <a:t>perfusion</a:t>
            </a:r>
            <a:r>
              <a:rPr lang="es-BO" sz="2400" dirty="0" smtClean="0"/>
              <a:t> tisular </a:t>
            </a:r>
          </a:p>
          <a:p>
            <a:r>
              <a:rPr lang="es-BO" sz="2400" dirty="0" smtClean="0"/>
              <a:t>Deterioro en el metabolismo celular </a:t>
            </a:r>
            <a:endParaRPr lang="es-BO" sz="2400" dirty="0"/>
          </a:p>
        </p:txBody>
      </p:sp>
    </p:spTree>
    <p:extLst>
      <p:ext uri="{BB962C8B-B14F-4D97-AF65-F5344CB8AC3E}">
        <p14:creationId xmlns:p14="http://schemas.microsoft.com/office/powerpoint/2010/main" val="156599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>VALORACION, DIAGNOSTICO Y MANEJO DEL SHOCK NEUROGENICO</a:t>
            </a:r>
            <a:endParaRPr lang="es-B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BO" sz="2400" dirty="0" err="1" smtClean="0">
                <a:solidFill>
                  <a:srgbClr val="00B050"/>
                </a:solidFill>
              </a:rPr>
              <a:t>Valoracion</a:t>
            </a:r>
            <a:r>
              <a:rPr lang="es-BO" sz="2400" dirty="0" smtClean="0">
                <a:solidFill>
                  <a:srgbClr val="00B050"/>
                </a:solidFill>
              </a:rPr>
              <a:t> del Paciente</a:t>
            </a:r>
          </a:p>
          <a:p>
            <a:r>
              <a:rPr lang="es-BO" sz="2400" dirty="0" smtClean="0"/>
              <a:t> </a:t>
            </a:r>
            <a:r>
              <a:rPr lang="es-BO" sz="2400" dirty="0" err="1" smtClean="0"/>
              <a:t>Hipotension</a:t>
            </a:r>
            <a:endParaRPr lang="es-BO" sz="2400" dirty="0" smtClean="0"/>
          </a:p>
          <a:p>
            <a:r>
              <a:rPr lang="es-BO" sz="2400" dirty="0" smtClean="0"/>
              <a:t> Bradicardia </a:t>
            </a:r>
          </a:p>
          <a:p>
            <a:r>
              <a:rPr lang="es-BO" sz="2400" dirty="0" smtClean="0"/>
              <a:t>Hipotermia Calor, piel seca </a:t>
            </a:r>
          </a:p>
          <a:p>
            <a:r>
              <a:rPr lang="es-BO" sz="2400" dirty="0" smtClean="0"/>
              <a:t>RAP PAWP GC bajo </a:t>
            </a:r>
          </a:p>
          <a:p>
            <a:r>
              <a:rPr lang="es-BO" sz="2400" dirty="0" err="1" smtClean="0"/>
              <a:t>Paralisis</a:t>
            </a:r>
            <a:r>
              <a:rPr lang="es-BO" sz="2400" dirty="0" smtClean="0"/>
              <a:t> </a:t>
            </a:r>
            <a:r>
              <a:rPr lang="es-BO" sz="2400" dirty="0" err="1" smtClean="0"/>
              <a:t>flacida</a:t>
            </a:r>
            <a:r>
              <a:rPr lang="es-BO" sz="2400" dirty="0" smtClean="0"/>
              <a:t> por debajo del nivel de </a:t>
            </a:r>
            <a:r>
              <a:rPr lang="es-BO" sz="2400" dirty="0" err="1" smtClean="0"/>
              <a:t>lesion</a:t>
            </a:r>
            <a:r>
              <a:rPr lang="es-BO" sz="2400" dirty="0" smtClean="0"/>
              <a:t> espinal</a:t>
            </a:r>
          </a:p>
          <a:p>
            <a:pPr marL="0" indent="0">
              <a:buNone/>
            </a:pPr>
            <a:r>
              <a:rPr lang="es-BO" sz="2400" dirty="0" smtClean="0">
                <a:solidFill>
                  <a:schemeClr val="accent2">
                    <a:lumMod val="50000"/>
                  </a:schemeClr>
                </a:solidFill>
              </a:rPr>
              <a:t> MANEJO MEDICO </a:t>
            </a:r>
          </a:p>
          <a:p>
            <a:pPr marL="0" indent="0">
              <a:buNone/>
            </a:pPr>
            <a:r>
              <a:rPr lang="es-BO" sz="2400" dirty="0" smtClean="0"/>
              <a:t>El objetivo de la terapia es tratar o remover la causa y prevenir la inestabilidad cardiovascular, promoviendo una </a:t>
            </a:r>
            <a:r>
              <a:rPr lang="es-BO" sz="2400" dirty="0" err="1" smtClean="0"/>
              <a:t>perfusion</a:t>
            </a:r>
            <a:r>
              <a:rPr lang="es-BO" sz="2400" dirty="0" smtClean="0"/>
              <a:t> tisular optima</a:t>
            </a:r>
            <a:endParaRPr lang="es-BO" sz="2400" dirty="0"/>
          </a:p>
        </p:txBody>
      </p:sp>
    </p:spTree>
    <p:extLst>
      <p:ext uri="{BB962C8B-B14F-4D97-AF65-F5344CB8AC3E}">
        <p14:creationId xmlns:p14="http://schemas.microsoft.com/office/powerpoint/2010/main" val="176546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1512168"/>
          </a:xfrm>
        </p:spPr>
        <p:txBody>
          <a:bodyPr>
            <a:normAutofit/>
          </a:bodyPr>
          <a:lstStyle/>
          <a:p>
            <a:r>
              <a:rPr lang="es-BO" sz="3200" b="1" dirty="0" smtClean="0">
                <a:solidFill>
                  <a:srgbClr val="FF0000"/>
                </a:solidFill>
              </a:rPr>
              <a:t>OBJETIVO: MANTENER LA PRESION ARTERIAL MEDIA Y ASEGURAR LA PERFUSION TISULAR</a:t>
            </a:r>
            <a:endParaRPr lang="es-BO" sz="3200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>
            <a:normAutofit/>
          </a:bodyPr>
          <a:lstStyle/>
          <a:p>
            <a:r>
              <a:rPr lang="es-BO" sz="2800" dirty="0" smtClean="0"/>
              <a:t>UCI Monitoreo ECG </a:t>
            </a:r>
          </a:p>
          <a:p>
            <a:r>
              <a:rPr lang="es-BO" sz="2800" dirty="0" err="1" smtClean="0"/>
              <a:t>Via</a:t>
            </a:r>
            <a:r>
              <a:rPr lang="es-BO" sz="2800" dirty="0" smtClean="0"/>
              <a:t> Arterial (</a:t>
            </a:r>
            <a:r>
              <a:rPr lang="es-BO" sz="2800" dirty="0" err="1" smtClean="0"/>
              <a:t>medicion</a:t>
            </a:r>
            <a:r>
              <a:rPr lang="es-BO" sz="2800" dirty="0" smtClean="0"/>
              <a:t> </a:t>
            </a:r>
            <a:r>
              <a:rPr lang="es-BO" sz="2800" dirty="0" err="1" smtClean="0"/>
              <a:t>presion</a:t>
            </a:r>
            <a:r>
              <a:rPr lang="es-BO" sz="2800" dirty="0" smtClean="0"/>
              <a:t> arterial) </a:t>
            </a:r>
            <a:r>
              <a:rPr lang="es-BO" sz="2800" dirty="0" err="1" smtClean="0"/>
              <a:t>Oximetria</a:t>
            </a:r>
            <a:r>
              <a:rPr lang="es-BO" sz="2800" dirty="0" smtClean="0"/>
              <a:t> pulso </a:t>
            </a:r>
          </a:p>
          <a:p>
            <a:r>
              <a:rPr lang="es-BO" sz="2800" dirty="0" smtClean="0"/>
              <a:t>Presiones de llenado Ventricular y GC </a:t>
            </a:r>
          </a:p>
          <a:p>
            <a:r>
              <a:rPr lang="es-BO" sz="2800" dirty="0" err="1" smtClean="0"/>
              <a:t>Gasometrias</a:t>
            </a:r>
            <a:r>
              <a:rPr lang="es-BO" sz="2800" dirty="0" smtClean="0"/>
              <a:t>, Electrolitos, Hemograma, </a:t>
            </a:r>
            <a:r>
              <a:rPr lang="es-BO" sz="2800" dirty="0" err="1" smtClean="0"/>
              <a:t>Parametros</a:t>
            </a:r>
            <a:r>
              <a:rPr lang="es-BO" sz="2800" dirty="0" smtClean="0"/>
              <a:t> de </a:t>
            </a:r>
            <a:r>
              <a:rPr lang="es-BO" sz="2800" dirty="0" err="1" smtClean="0"/>
              <a:t>Coagulacion</a:t>
            </a:r>
            <a:endParaRPr lang="es-BO" sz="2800" dirty="0"/>
          </a:p>
        </p:txBody>
      </p:sp>
    </p:spTree>
    <p:extLst>
      <p:ext uri="{BB962C8B-B14F-4D97-AF65-F5344CB8AC3E}">
        <p14:creationId xmlns:p14="http://schemas.microsoft.com/office/powerpoint/2010/main" val="48053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dirty="0" smtClean="0"/>
              <a:t>MANEJO DEL SHOCK NEUROGENICO</a:t>
            </a:r>
            <a:endParaRPr lang="es-B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BO" sz="2400" dirty="0" smtClean="0"/>
              <a:t>Hipovolemia- </a:t>
            </a:r>
            <a:r>
              <a:rPr lang="es-BO" sz="2400" dirty="0" err="1" smtClean="0"/>
              <a:t>tx</a:t>
            </a:r>
            <a:r>
              <a:rPr lang="es-BO" sz="2400" dirty="0" smtClean="0"/>
              <a:t> con cuidado </a:t>
            </a:r>
            <a:r>
              <a:rPr lang="es-BO" sz="2400" dirty="0" err="1" smtClean="0"/>
              <a:t>restitucion</a:t>
            </a:r>
            <a:r>
              <a:rPr lang="es-BO" sz="2400" dirty="0" smtClean="0"/>
              <a:t> de </a:t>
            </a:r>
            <a:r>
              <a:rPr lang="es-BO" sz="2400" dirty="0" err="1" smtClean="0"/>
              <a:t>liquidos</a:t>
            </a:r>
            <a:r>
              <a:rPr lang="es-BO" sz="2400" dirty="0" smtClean="0"/>
              <a:t> en BP&lt;90mmHg, GU&lt;30cc/</a:t>
            </a:r>
            <a:r>
              <a:rPr lang="es-BO" sz="2400" dirty="0" err="1" smtClean="0"/>
              <a:t>hr</a:t>
            </a:r>
            <a:r>
              <a:rPr lang="es-BO" sz="2400" dirty="0" smtClean="0"/>
              <a:t> </a:t>
            </a:r>
          </a:p>
          <a:p>
            <a:r>
              <a:rPr lang="es-BO" sz="2400" dirty="0" smtClean="0"/>
              <a:t>Cambios en la esfera mental </a:t>
            </a:r>
            <a:r>
              <a:rPr lang="es-BO" sz="2400" dirty="0" err="1" smtClean="0"/>
              <a:t>Observacion</a:t>
            </a:r>
            <a:r>
              <a:rPr lang="es-BO" sz="2400" dirty="0" smtClean="0"/>
              <a:t> estrecha de sobrecarga de </a:t>
            </a:r>
            <a:r>
              <a:rPr lang="es-BO" sz="2400" dirty="0" err="1" smtClean="0"/>
              <a:t>liquidos</a:t>
            </a:r>
            <a:r>
              <a:rPr lang="es-BO" sz="2400" dirty="0" smtClean="0"/>
              <a:t> </a:t>
            </a:r>
            <a:r>
              <a:rPr lang="es-BO" sz="2400" dirty="0" err="1" smtClean="0"/>
              <a:t>Vasopresores</a:t>
            </a:r>
            <a:r>
              <a:rPr lang="es-BO" sz="2400" dirty="0" smtClean="0"/>
              <a:t> </a:t>
            </a:r>
          </a:p>
          <a:p>
            <a:r>
              <a:rPr lang="es-BO" sz="2400" dirty="0" smtClean="0"/>
              <a:t>Hipotermia- tratar la hipertermia </a:t>
            </a:r>
          </a:p>
          <a:p>
            <a:r>
              <a:rPr lang="es-BO" sz="2400" dirty="0" smtClean="0"/>
              <a:t>Tratar Hipoxia</a:t>
            </a:r>
          </a:p>
          <a:p>
            <a:r>
              <a:rPr lang="es-BO" sz="2400" dirty="0" smtClean="0"/>
              <a:t> Mantenimiento de soporte ventilatorio</a:t>
            </a:r>
            <a:endParaRPr lang="es-BO" sz="2400" dirty="0"/>
          </a:p>
        </p:txBody>
      </p:sp>
    </p:spTree>
    <p:extLst>
      <p:ext uri="{BB962C8B-B14F-4D97-AF65-F5344CB8AC3E}">
        <p14:creationId xmlns:p14="http://schemas.microsoft.com/office/powerpoint/2010/main" val="175214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s-BO" sz="2400" dirty="0" err="1" smtClean="0"/>
              <a:t>Continuacion</a:t>
            </a:r>
            <a:r>
              <a:rPr lang="es-BO" dirty="0" smtClean="0"/>
              <a:t>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BO" sz="2400" dirty="0" smtClean="0"/>
              <a:t>Vigilar Bradicardia-principal </a:t>
            </a:r>
            <a:r>
              <a:rPr lang="es-BO" sz="2400" dirty="0" err="1" smtClean="0"/>
              <a:t>disritmia</a:t>
            </a:r>
            <a:endParaRPr lang="es-BO" sz="2400" dirty="0" smtClean="0"/>
          </a:p>
          <a:p>
            <a:r>
              <a:rPr lang="es-BO" sz="2400" dirty="0" smtClean="0"/>
              <a:t> Vigilar TVP- pacientes de alto riesgo&gt;&gt;T.E.P. Uso de modalidades </a:t>
            </a:r>
            <a:r>
              <a:rPr lang="es-BO" sz="2400" dirty="0" err="1" smtClean="0"/>
              <a:t>prevetivas</a:t>
            </a:r>
            <a:r>
              <a:rPr lang="es-BO" sz="2400" dirty="0" smtClean="0"/>
              <a:t> [</a:t>
            </a:r>
            <a:r>
              <a:rPr lang="es-BO" sz="2400" dirty="0" err="1" smtClean="0"/>
              <a:t>Compresion</a:t>
            </a:r>
            <a:r>
              <a:rPr lang="es-BO" sz="2400" dirty="0" smtClean="0"/>
              <a:t> secuencial, </a:t>
            </a:r>
            <a:r>
              <a:rPr lang="es-BO" sz="2400" dirty="0" err="1" smtClean="0"/>
              <a:t>anticoagulacion</a:t>
            </a:r>
            <a:r>
              <a:rPr lang="es-BO" sz="2400" dirty="0" smtClean="0"/>
              <a:t>]</a:t>
            </a:r>
          </a:p>
          <a:p>
            <a:r>
              <a:rPr lang="es-BO" sz="2400" dirty="0"/>
              <a:t>Agonistas Alfa aumento del tono si la </a:t>
            </a:r>
            <a:r>
              <a:rPr lang="es-BO" sz="2400" dirty="0" err="1"/>
              <a:t>perfusion</a:t>
            </a:r>
            <a:r>
              <a:rPr lang="es-BO" sz="2400" dirty="0"/>
              <a:t> persiste inadecuada dopamina a Dosis alfa (&gt; 10 </a:t>
            </a:r>
            <a:r>
              <a:rPr lang="es-BO" sz="2400" dirty="0" err="1"/>
              <a:t>mcg</a:t>
            </a:r>
            <a:r>
              <a:rPr lang="es-BO" sz="2400" dirty="0"/>
              <a:t>/kg por min) efedrina (12.5-25 mg IV cada 3-4 </a:t>
            </a:r>
            <a:r>
              <a:rPr lang="es-BO" sz="2400" dirty="0" err="1"/>
              <a:t>hr</a:t>
            </a:r>
            <a:r>
              <a:rPr lang="es-BO" sz="2400" dirty="0"/>
              <a:t>)</a:t>
            </a:r>
          </a:p>
          <a:p>
            <a:r>
              <a:rPr lang="es-BO" sz="2400" dirty="0"/>
              <a:t> Tratar bradicardia con Atropina 0.5-1 mg a dosis </a:t>
            </a:r>
            <a:r>
              <a:rPr lang="es-BO" sz="2400" dirty="0" err="1"/>
              <a:t>maxima</a:t>
            </a:r>
            <a:r>
              <a:rPr lang="es-BO" sz="2400" dirty="0"/>
              <a:t> de 3 mg </a:t>
            </a:r>
            <a:r>
              <a:rPr lang="es-BO" sz="2400" dirty="0" err="1"/>
              <a:t>subcutanea</a:t>
            </a:r>
            <a:r>
              <a:rPr lang="es-BO" sz="2400" dirty="0"/>
              <a:t> o intravenosa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8492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err="1" smtClean="0"/>
              <a:t>Cntinuacion</a:t>
            </a:r>
            <a:r>
              <a:rPr lang="es-BO" dirty="0" smtClean="0"/>
              <a:t>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BO" sz="2400" dirty="0"/>
              <a:t>Soluciones cristaloides: Se emplean habitualmente las soluciones salina fisiológica (</a:t>
            </a:r>
            <a:r>
              <a:rPr lang="es-BO" sz="2400" dirty="0" err="1"/>
              <a:t>ClNa</a:t>
            </a:r>
            <a:r>
              <a:rPr lang="es-BO" sz="2400" dirty="0"/>
              <a:t> 0,9%) y el </a:t>
            </a:r>
            <a:r>
              <a:rPr lang="es-BO" sz="2400" dirty="0" err="1"/>
              <a:t>Ringer</a:t>
            </a:r>
            <a:r>
              <a:rPr lang="es-BO" sz="2400" dirty="0"/>
              <a:t> Lactato</a:t>
            </a:r>
            <a:r>
              <a:rPr lang="es-BO" sz="2400" dirty="0" smtClean="0"/>
              <a:t>., difunden </a:t>
            </a:r>
            <a:r>
              <a:rPr lang="es-BO" sz="2400" dirty="0"/>
              <a:t>al espacio extravascular, por ello se requieren grandes volúmenes para conseguir una volemia </a:t>
            </a:r>
            <a:r>
              <a:rPr lang="es-BO" sz="2400" dirty="0" smtClean="0"/>
              <a:t>adecuada</a:t>
            </a:r>
          </a:p>
          <a:p>
            <a:r>
              <a:rPr lang="es-BO" sz="2400" dirty="0"/>
              <a:t>Soluciones coloides: Su ventaja es que expanden la volemia con un menor aporte. El coloide natural por excelencia es la albúmina</a:t>
            </a:r>
            <a:endParaRPr lang="es-BO" sz="2400" dirty="0"/>
          </a:p>
        </p:txBody>
      </p:sp>
    </p:spTree>
    <p:extLst>
      <p:ext uri="{BB962C8B-B14F-4D97-AF65-F5344CB8AC3E}">
        <p14:creationId xmlns:p14="http://schemas.microsoft.com/office/powerpoint/2010/main" val="7094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ngulos">
  <a:themeElements>
    <a:clrScheme name="Á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ngulo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47</TotalTime>
  <Words>339</Words>
  <Application>Microsoft Office PowerPoint</Application>
  <PresentationFormat>Presentación en pantalla (4:3)</PresentationFormat>
  <Paragraphs>39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Ángulos</vt:lpstr>
      <vt:lpstr>Presentación de PowerPoint</vt:lpstr>
      <vt:lpstr>Presentación de PowerPoint</vt:lpstr>
      <vt:lpstr>SHOCK NEUROGENICO </vt:lpstr>
      <vt:lpstr>PATOFISIOLOGIA DEL SHOCK NEUROGENICO</vt:lpstr>
      <vt:lpstr>VALORACION, DIAGNOSTICO Y MANEJO DEL SHOCK NEUROGENICO</vt:lpstr>
      <vt:lpstr>OBJETIVO: MANTENER LA PRESION ARTERIAL MEDIA Y ASEGURAR LA PERFUSION TISULAR</vt:lpstr>
      <vt:lpstr>MANEJO DEL SHOCK NEUROGENICO</vt:lpstr>
      <vt:lpstr>Continuacion </vt:lpstr>
      <vt:lpstr>Cntinuacion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SHOCK NEUROGENICO </dc:title>
  <dc:creator>xp</dc:creator>
  <cp:lastModifiedBy>xp</cp:lastModifiedBy>
  <cp:revision>9</cp:revision>
  <dcterms:created xsi:type="dcterms:W3CDTF">2014-04-04T14:34:15Z</dcterms:created>
  <dcterms:modified xsi:type="dcterms:W3CDTF">2014-04-04T15:21:30Z</dcterms:modified>
</cp:coreProperties>
</file>