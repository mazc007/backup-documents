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672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ADCA73-F707-4BA5-96B7-A5FB0F57499A}" type="datetimeFigureOut">
              <a:rPr lang="es-BO" smtClean="0"/>
              <a:pPr/>
              <a:t>31/05/2014</a:t>
            </a:fld>
            <a:endParaRPr lang="es-B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B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6E79F-3C6E-422D-8C66-A088EF436200}" type="slidenum">
              <a:rPr lang="es-BO" smtClean="0"/>
              <a:pPr/>
              <a:t>‹Nº›</a:t>
            </a:fld>
            <a:endParaRPr lang="es-B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B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6E79F-3C6E-422D-8C66-A088EF436200}" type="slidenum">
              <a:rPr lang="es-BO" smtClean="0"/>
              <a:pPr/>
              <a:t>1</a:t>
            </a:fld>
            <a:endParaRPr lang="es-BO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0" scaled="1"/>
        </a:gradFill>
        <a:effectLst>
          <a:outerShdw dist="107763" dir="2700000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0" y="0"/>
            <a:ext cx="9144000" cy="6918325"/>
            <a:chOff x="0" y="0"/>
            <a:chExt cx="5760" cy="4358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invGray">
            <a:xfrm>
              <a:off x="5533" y="280"/>
              <a:ext cx="227" cy="198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hlink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s-NI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invGray">
            <a:xfrm>
              <a:off x="0" y="0"/>
              <a:ext cx="5760" cy="134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720"/>
                </a:cxn>
                <a:cxn ang="0">
                  <a:pos x="3600" y="624"/>
                </a:cxn>
                <a:cxn ang="0">
                  <a:pos x="0" y="1000"/>
                </a:cxn>
                <a:cxn ang="0">
                  <a:pos x="0" y="0"/>
                </a:cxn>
              </a:cxnLst>
              <a:rect l="0" t="0" r="r" b="b"/>
              <a:pathLst>
                <a:path w="5760" h="1104">
                  <a:moveTo>
                    <a:pt x="0" y="0"/>
                  </a:moveTo>
                  <a:lnTo>
                    <a:pt x="5760" y="0"/>
                  </a:lnTo>
                  <a:lnTo>
                    <a:pt x="5760" y="720"/>
                  </a:lnTo>
                  <a:cubicBezTo>
                    <a:pt x="5400" y="824"/>
                    <a:pt x="4560" y="577"/>
                    <a:pt x="3600" y="624"/>
                  </a:cubicBezTo>
                  <a:cubicBezTo>
                    <a:pt x="2640" y="671"/>
                    <a:pt x="600" y="1104"/>
                    <a:pt x="0" y="1000"/>
                  </a:cubicBez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s-NI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invGray">
            <a:xfrm>
              <a:off x="0" y="733"/>
              <a:ext cx="5760" cy="3587"/>
            </a:xfrm>
            <a:custGeom>
              <a:avLst/>
              <a:gdLst/>
              <a:ahLst/>
              <a:cxnLst>
                <a:cxn ang="0">
                  <a:pos x="0" y="582"/>
                </a:cxn>
                <a:cxn ang="0">
                  <a:pos x="2640" y="267"/>
                </a:cxn>
                <a:cxn ang="0">
                  <a:pos x="3373" y="160"/>
                </a:cxn>
                <a:cxn ang="0">
                  <a:pos x="5760" y="358"/>
                </a:cxn>
                <a:cxn ang="0">
                  <a:pos x="5760" y="3587"/>
                </a:cxn>
                <a:cxn ang="0">
                  <a:pos x="0" y="3587"/>
                </a:cxn>
                <a:cxn ang="0">
                  <a:pos x="0" y="582"/>
                </a:cxn>
              </a:cxnLst>
              <a:rect l="0" t="0" r="r" b="b"/>
              <a:pathLst>
                <a:path w="5760" h="3587">
                  <a:moveTo>
                    <a:pt x="0" y="582"/>
                  </a:moveTo>
                  <a:cubicBezTo>
                    <a:pt x="1027" y="680"/>
                    <a:pt x="1960" y="387"/>
                    <a:pt x="2640" y="267"/>
                  </a:cubicBezTo>
                  <a:cubicBezTo>
                    <a:pt x="2640" y="267"/>
                    <a:pt x="3268" y="180"/>
                    <a:pt x="3373" y="160"/>
                  </a:cubicBezTo>
                  <a:cubicBezTo>
                    <a:pt x="4120" y="0"/>
                    <a:pt x="5280" y="358"/>
                    <a:pt x="5760" y="358"/>
                  </a:cubicBezTo>
                  <a:lnTo>
                    <a:pt x="5760" y="3587"/>
                  </a:lnTo>
                  <a:lnTo>
                    <a:pt x="0" y="3587"/>
                  </a:lnTo>
                  <a:cubicBezTo>
                    <a:pt x="0" y="3587"/>
                    <a:pt x="0" y="582"/>
                    <a:pt x="0" y="582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 w="9525" cap="flat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NI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invGray">
            <a:xfrm>
              <a:off x="0" y="184"/>
              <a:ext cx="5760" cy="538"/>
            </a:xfrm>
            <a:custGeom>
              <a:avLst/>
              <a:gdLst/>
              <a:ahLst/>
              <a:cxnLst>
                <a:cxn ang="0">
                  <a:pos x="0" y="163"/>
                </a:cxn>
                <a:cxn ang="0">
                  <a:pos x="0" y="403"/>
                </a:cxn>
                <a:cxn ang="0">
                  <a:pos x="1773" y="443"/>
                </a:cxn>
                <a:cxn ang="0">
                  <a:pos x="4573" y="176"/>
                </a:cxn>
                <a:cxn ang="0">
                  <a:pos x="5760" y="536"/>
                </a:cxn>
                <a:cxn ang="0">
                  <a:pos x="5760" y="163"/>
                </a:cxn>
                <a:cxn ang="0">
                  <a:pos x="4560" y="29"/>
                </a:cxn>
                <a:cxn ang="0">
                  <a:pos x="1987" y="336"/>
                </a:cxn>
                <a:cxn ang="0">
                  <a:pos x="0" y="163"/>
                </a:cxn>
              </a:cxnLst>
              <a:rect l="0" t="0" r="r" b="b"/>
              <a:pathLst>
                <a:path w="5760" h="538">
                  <a:moveTo>
                    <a:pt x="0" y="163"/>
                  </a:moveTo>
                  <a:lnTo>
                    <a:pt x="0" y="403"/>
                  </a:lnTo>
                  <a:cubicBezTo>
                    <a:pt x="295" y="450"/>
                    <a:pt x="1011" y="481"/>
                    <a:pt x="1773" y="443"/>
                  </a:cubicBezTo>
                  <a:cubicBezTo>
                    <a:pt x="2535" y="405"/>
                    <a:pt x="3909" y="161"/>
                    <a:pt x="4573" y="176"/>
                  </a:cubicBezTo>
                  <a:cubicBezTo>
                    <a:pt x="5237" y="191"/>
                    <a:pt x="5562" y="538"/>
                    <a:pt x="5760" y="536"/>
                  </a:cubicBezTo>
                  <a:lnTo>
                    <a:pt x="5760" y="163"/>
                  </a:lnTo>
                  <a:cubicBezTo>
                    <a:pt x="5560" y="79"/>
                    <a:pt x="5189" y="0"/>
                    <a:pt x="4560" y="29"/>
                  </a:cubicBezTo>
                  <a:cubicBezTo>
                    <a:pt x="3931" y="58"/>
                    <a:pt x="2747" y="314"/>
                    <a:pt x="1987" y="336"/>
                  </a:cubicBezTo>
                  <a:cubicBezTo>
                    <a:pt x="1227" y="358"/>
                    <a:pt x="414" y="199"/>
                    <a:pt x="0" y="163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s-NI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hidden">
            <a:xfrm>
              <a:off x="0" y="1515"/>
              <a:ext cx="5760" cy="674"/>
            </a:xfrm>
            <a:custGeom>
              <a:avLst/>
              <a:gdLst/>
              <a:ahLst/>
              <a:cxnLst>
                <a:cxn ang="0">
                  <a:pos x="0" y="246"/>
                </a:cxn>
                <a:cxn ang="0">
                  <a:pos x="0" y="406"/>
                </a:cxn>
                <a:cxn ang="0">
                  <a:pos x="1280" y="645"/>
                </a:cxn>
                <a:cxn ang="0">
                  <a:pos x="1627" y="580"/>
                </a:cxn>
                <a:cxn ang="0">
                  <a:pos x="4493" y="113"/>
                </a:cxn>
                <a:cxn ang="0">
                  <a:pos x="5760" y="606"/>
                </a:cxn>
                <a:cxn ang="0">
                  <a:pos x="5760" y="233"/>
                </a:cxn>
                <a:cxn ang="0">
                  <a:pos x="4040" y="33"/>
                </a:cxn>
                <a:cxn ang="0">
                  <a:pos x="1093" y="433"/>
                </a:cxn>
                <a:cxn ang="0">
                  <a:pos x="0" y="246"/>
                </a:cxn>
              </a:cxnLst>
              <a:rect l="0" t="0" r="r" b="b"/>
              <a:pathLst>
                <a:path w="5760" h="674">
                  <a:moveTo>
                    <a:pt x="0" y="246"/>
                  </a:moveTo>
                  <a:lnTo>
                    <a:pt x="0" y="406"/>
                  </a:lnTo>
                  <a:cubicBezTo>
                    <a:pt x="213" y="463"/>
                    <a:pt x="1009" y="616"/>
                    <a:pt x="1280" y="645"/>
                  </a:cubicBezTo>
                  <a:cubicBezTo>
                    <a:pt x="1551" y="674"/>
                    <a:pt x="1092" y="669"/>
                    <a:pt x="1627" y="580"/>
                  </a:cubicBezTo>
                  <a:cubicBezTo>
                    <a:pt x="2162" y="491"/>
                    <a:pt x="3804" y="109"/>
                    <a:pt x="4493" y="113"/>
                  </a:cubicBezTo>
                  <a:cubicBezTo>
                    <a:pt x="5182" y="117"/>
                    <a:pt x="5549" y="586"/>
                    <a:pt x="5760" y="606"/>
                  </a:cubicBezTo>
                  <a:lnTo>
                    <a:pt x="5760" y="233"/>
                  </a:lnTo>
                  <a:cubicBezTo>
                    <a:pt x="5471" y="158"/>
                    <a:pt x="4818" y="0"/>
                    <a:pt x="4040" y="33"/>
                  </a:cubicBezTo>
                  <a:cubicBezTo>
                    <a:pt x="3262" y="66"/>
                    <a:pt x="1766" y="398"/>
                    <a:pt x="1093" y="433"/>
                  </a:cubicBezTo>
                  <a:cubicBezTo>
                    <a:pt x="420" y="468"/>
                    <a:pt x="228" y="285"/>
                    <a:pt x="0" y="24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 cap="flat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NI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white">
            <a:xfrm>
              <a:off x="1560" y="959"/>
              <a:ext cx="4200" cy="3361"/>
            </a:xfrm>
            <a:custGeom>
              <a:avLst/>
              <a:gdLst/>
              <a:ahLst/>
              <a:cxnLst>
                <a:cxn ang="0">
                  <a:pos x="0" y="3361"/>
                </a:cxn>
                <a:cxn ang="0">
                  <a:pos x="1054" y="295"/>
                </a:cxn>
                <a:cxn ang="0">
                  <a:pos x="4200" y="1588"/>
                </a:cxn>
                <a:cxn ang="0">
                  <a:pos x="4200" y="2028"/>
                </a:cxn>
                <a:cxn ang="0">
                  <a:pos x="1200" y="442"/>
                </a:cxn>
                <a:cxn ang="0">
                  <a:pos x="347" y="3361"/>
                </a:cxn>
                <a:cxn ang="0">
                  <a:pos x="0" y="3361"/>
                </a:cxn>
              </a:cxnLst>
              <a:rect l="0" t="0" r="r" b="b"/>
              <a:pathLst>
                <a:path w="4200" h="3361">
                  <a:moveTo>
                    <a:pt x="0" y="3361"/>
                  </a:moveTo>
                  <a:cubicBezTo>
                    <a:pt x="118" y="2850"/>
                    <a:pt x="354" y="590"/>
                    <a:pt x="1054" y="295"/>
                  </a:cubicBezTo>
                  <a:cubicBezTo>
                    <a:pt x="1754" y="0"/>
                    <a:pt x="3676" y="1299"/>
                    <a:pt x="4200" y="1588"/>
                  </a:cubicBezTo>
                  <a:lnTo>
                    <a:pt x="4200" y="2028"/>
                  </a:lnTo>
                  <a:cubicBezTo>
                    <a:pt x="3700" y="1837"/>
                    <a:pt x="1842" y="220"/>
                    <a:pt x="1200" y="442"/>
                  </a:cubicBezTo>
                  <a:cubicBezTo>
                    <a:pt x="558" y="664"/>
                    <a:pt x="547" y="2875"/>
                    <a:pt x="347" y="3361"/>
                  </a:cubicBezTo>
                  <a:lnTo>
                    <a:pt x="0" y="3361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50000">
                  <a:schemeClr val="bg1"/>
                </a:gs>
                <a:gs pos="100000">
                  <a:schemeClr val="accent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s-NI"/>
            </a:p>
          </p:txBody>
        </p:sp>
        <p:sp>
          <p:nvSpPr>
            <p:cNvPr id="11" name="Freeform 9"/>
            <p:cNvSpPr>
              <a:spLocks/>
            </p:cNvSpPr>
            <p:nvPr/>
          </p:nvSpPr>
          <p:spPr bwMode="invGray">
            <a:xfrm>
              <a:off x="0" y="2169"/>
              <a:ext cx="5760" cy="1925"/>
            </a:xfrm>
            <a:custGeom>
              <a:avLst/>
              <a:gdLst/>
              <a:ahLst/>
              <a:cxnLst>
                <a:cxn ang="0">
                  <a:pos x="0" y="804"/>
                </a:cxn>
                <a:cxn ang="0">
                  <a:pos x="0" y="991"/>
                </a:cxn>
                <a:cxn ang="0">
                  <a:pos x="1547" y="1818"/>
                </a:cxn>
                <a:cxn ang="0">
                  <a:pos x="3253" y="351"/>
                </a:cxn>
                <a:cxn ang="0">
                  <a:pos x="5760" y="1537"/>
                </a:cxn>
                <a:cxn ang="0">
                  <a:pos x="5760" y="1151"/>
                </a:cxn>
                <a:cxn ang="0">
                  <a:pos x="3240" y="84"/>
                </a:cxn>
                <a:cxn ang="0">
                  <a:pos x="1573" y="1671"/>
                </a:cxn>
                <a:cxn ang="0">
                  <a:pos x="0" y="804"/>
                </a:cxn>
              </a:cxnLst>
              <a:rect l="0" t="0" r="r" b="b"/>
              <a:pathLst>
                <a:path w="5760" h="1925">
                  <a:moveTo>
                    <a:pt x="0" y="804"/>
                  </a:moveTo>
                  <a:lnTo>
                    <a:pt x="0" y="991"/>
                  </a:lnTo>
                  <a:cubicBezTo>
                    <a:pt x="258" y="1160"/>
                    <a:pt x="1005" y="1925"/>
                    <a:pt x="1547" y="1818"/>
                  </a:cubicBezTo>
                  <a:cubicBezTo>
                    <a:pt x="2089" y="1711"/>
                    <a:pt x="2551" y="398"/>
                    <a:pt x="3253" y="351"/>
                  </a:cubicBezTo>
                  <a:cubicBezTo>
                    <a:pt x="3955" y="304"/>
                    <a:pt x="5342" y="1404"/>
                    <a:pt x="5760" y="1537"/>
                  </a:cubicBezTo>
                  <a:lnTo>
                    <a:pt x="5760" y="1151"/>
                  </a:lnTo>
                  <a:cubicBezTo>
                    <a:pt x="5405" y="1124"/>
                    <a:pt x="3982" y="0"/>
                    <a:pt x="3240" y="84"/>
                  </a:cubicBezTo>
                  <a:cubicBezTo>
                    <a:pt x="2542" y="171"/>
                    <a:pt x="2113" y="1551"/>
                    <a:pt x="1573" y="1671"/>
                  </a:cubicBezTo>
                  <a:cubicBezTo>
                    <a:pt x="1033" y="1791"/>
                    <a:pt x="262" y="826"/>
                    <a:pt x="0" y="80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 cap="flat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NI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white">
            <a:xfrm>
              <a:off x="0" y="2238"/>
              <a:ext cx="3929" cy="2120"/>
            </a:xfrm>
            <a:custGeom>
              <a:avLst/>
              <a:gdLst/>
              <a:ahLst/>
              <a:cxnLst>
                <a:cxn ang="0">
                  <a:pos x="0" y="415"/>
                </a:cxn>
                <a:cxn ang="0">
                  <a:pos x="0" y="508"/>
                </a:cxn>
                <a:cxn ang="0">
                  <a:pos x="1933" y="229"/>
                </a:cxn>
                <a:cxn ang="0">
                  <a:pos x="3920" y="1055"/>
                </a:cxn>
                <a:cxn ang="0">
                  <a:pos x="3587" y="2082"/>
                </a:cxn>
                <a:cxn ang="0">
                  <a:pos x="3947" y="829"/>
                </a:cxn>
                <a:cxn ang="0">
                  <a:pos x="2253" y="69"/>
                </a:cxn>
                <a:cxn ang="0">
                  <a:pos x="0" y="415"/>
                </a:cxn>
              </a:cxnLst>
              <a:rect l="0" t="0" r="r" b="b"/>
              <a:pathLst>
                <a:path w="4196" h="2120">
                  <a:moveTo>
                    <a:pt x="0" y="415"/>
                  </a:moveTo>
                  <a:lnTo>
                    <a:pt x="0" y="508"/>
                  </a:lnTo>
                  <a:cubicBezTo>
                    <a:pt x="160" y="577"/>
                    <a:pt x="1280" y="138"/>
                    <a:pt x="1933" y="229"/>
                  </a:cubicBezTo>
                  <a:cubicBezTo>
                    <a:pt x="2586" y="320"/>
                    <a:pt x="3644" y="746"/>
                    <a:pt x="3920" y="1055"/>
                  </a:cubicBezTo>
                  <a:cubicBezTo>
                    <a:pt x="4196" y="1364"/>
                    <a:pt x="3583" y="2120"/>
                    <a:pt x="3587" y="2082"/>
                  </a:cubicBezTo>
                  <a:lnTo>
                    <a:pt x="3947" y="829"/>
                  </a:lnTo>
                  <a:cubicBezTo>
                    <a:pt x="3725" y="494"/>
                    <a:pt x="2911" y="138"/>
                    <a:pt x="2253" y="69"/>
                  </a:cubicBezTo>
                  <a:cubicBezTo>
                    <a:pt x="1595" y="0"/>
                    <a:pt x="469" y="343"/>
                    <a:pt x="0" y="415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50000">
                  <a:schemeClr val="bg1"/>
                </a:gs>
                <a:gs pos="100000">
                  <a:schemeClr val="accent2"/>
                </a:gs>
              </a:gsLst>
              <a:lin ang="5400000" scaled="1"/>
            </a:gradFill>
            <a:ln w="9525" cap="flat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NI"/>
            </a:p>
          </p:txBody>
        </p:sp>
      </p:grpSp>
      <p:sp>
        <p:nvSpPr>
          <p:cNvPr id="244747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244748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13" name="Rectangle 13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spcBef>
                <a:spcPct val="0"/>
              </a:spcBef>
              <a:defRPr/>
            </a:lvl1pPr>
          </a:lstStyle>
          <a:p>
            <a:fld id="{544FF2B4-6A15-4BF9-ABD1-C7D09F92A260}" type="datetimeFigureOut">
              <a:rPr lang="es-BO" smtClean="0"/>
              <a:pPr/>
              <a:t>31/05/2014</a:t>
            </a:fld>
            <a:endParaRPr lang="es-BO"/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spcBef>
                <a:spcPct val="0"/>
              </a:spcBef>
              <a:defRPr/>
            </a:lvl1pPr>
          </a:lstStyle>
          <a:p>
            <a:endParaRPr lang="es-BO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0"/>
              </a:spcBef>
              <a:defRPr/>
            </a:lvl1pPr>
          </a:lstStyle>
          <a:p>
            <a:fld id="{A784B584-A21B-45A1-A7A4-D71E0DE648AF}" type="slidenum">
              <a:rPr lang="es-BO" smtClean="0"/>
              <a:pPr/>
              <a:t>‹Nº›</a:t>
            </a:fld>
            <a:endParaRPr lang="es-BO"/>
          </a:p>
        </p:txBody>
      </p:sp>
    </p:spTree>
    <p:extLst>
      <p:ext uri="{BB962C8B-B14F-4D97-AF65-F5344CB8AC3E}">
        <p14:creationId xmlns="" xmlns:p14="http://schemas.microsoft.com/office/powerpoint/2010/main" val="3301178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NI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NI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4FF2B4-6A15-4BF9-ABD1-C7D09F92A260}" type="datetimeFigureOut">
              <a:rPr lang="es-BO" smtClean="0"/>
              <a:pPr/>
              <a:t>31/05/2014</a:t>
            </a:fld>
            <a:endParaRPr lang="es-BO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s-BO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84B584-A21B-45A1-A7A4-D71E0DE648AF}" type="slidenum">
              <a:rPr lang="es-BO" smtClean="0"/>
              <a:pPr/>
              <a:t>‹Nº›</a:t>
            </a:fld>
            <a:endParaRPr lang="es-BO"/>
          </a:p>
        </p:txBody>
      </p:sp>
    </p:spTree>
    <p:extLst>
      <p:ext uri="{BB962C8B-B14F-4D97-AF65-F5344CB8AC3E}">
        <p14:creationId xmlns="" xmlns:p14="http://schemas.microsoft.com/office/powerpoint/2010/main" val="2900488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NI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4FF2B4-6A15-4BF9-ABD1-C7D09F92A260}" type="datetimeFigureOut">
              <a:rPr lang="es-BO" smtClean="0"/>
              <a:pPr/>
              <a:t>31/05/2014</a:t>
            </a:fld>
            <a:endParaRPr lang="es-BO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s-BO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84B584-A21B-45A1-A7A4-D71E0DE648AF}" type="slidenum">
              <a:rPr lang="es-BO" smtClean="0"/>
              <a:pPr/>
              <a:t>‹Nº›</a:t>
            </a:fld>
            <a:endParaRPr lang="es-BO"/>
          </a:p>
        </p:txBody>
      </p:sp>
    </p:spTree>
    <p:extLst>
      <p:ext uri="{BB962C8B-B14F-4D97-AF65-F5344CB8AC3E}">
        <p14:creationId xmlns="" xmlns:p14="http://schemas.microsoft.com/office/powerpoint/2010/main" val="2552347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NI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NI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NI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4FF2B4-6A15-4BF9-ABD1-C7D09F92A260}" type="datetimeFigureOut">
              <a:rPr lang="es-BO" smtClean="0"/>
              <a:pPr/>
              <a:t>31/05/2014</a:t>
            </a:fld>
            <a:endParaRPr lang="es-BO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s-BO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84B584-A21B-45A1-A7A4-D71E0DE648AF}" type="slidenum">
              <a:rPr lang="es-BO" smtClean="0"/>
              <a:pPr/>
              <a:t>‹Nº›</a:t>
            </a:fld>
            <a:endParaRPr lang="es-BO"/>
          </a:p>
        </p:txBody>
      </p:sp>
    </p:spTree>
    <p:extLst>
      <p:ext uri="{BB962C8B-B14F-4D97-AF65-F5344CB8AC3E}">
        <p14:creationId xmlns="" xmlns:p14="http://schemas.microsoft.com/office/powerpoint/2010/main" val="2255283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NI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NI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NI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4FF2B4-6A15-4BF9-ABD1-C7D09F92A260}" type="datetimeFigureOut">
              <a:rPr lang="es-BO" smtClean="0"/>
              <a:pPr/>
              <a:t>31/05/2014</a:t>
            </a:fld>
            <a:endParaRPr lang="es-BO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s-BO"/>
          </a:p>
        </p:txBody>
      </p:sp>
      <p:sp>
        <p:nvSpPr>
          <p:cNvPr id="9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84B584-A21B-45A1-A7A4-D71E0DE648AF}" type="slidenum">
              <a:rPr lang="es-BO" smtClean="0"/>
              <a:pPr/>
              <a:t>‹Nº›</a:t>
            </a:fld>
            <a:endParaRPr lang="es-BO"/>
          </a:p>
        </p:txBody>
      </p:sp>
    </p:spTree>
    <p:extLst>
      <p:ext uri="{BB962C8B-B14F-4D97-AF65-F5344CB8AC3E}">
        <p14:creationId xmlns="" xmlns:p14="http://schemas.microsoft.com/office/powerpoint/2010/main" val="902730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NI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4FF2B4-6A15-4BF9-ABD1-C7D09F92A260}" type="datetimeFigureOut">
              <a:rPr lang="es-BO" smtClean="0"/>
              <a:pPr/>
              <a:t>31/05/2014</a:t>
            </a:fld>
            <a:endParaRPr lang="es-BO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s-BO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84B584-A21B-45A1-A7A4-D71E0DE648AF}" type="slidenum">
              <a:rPr lang="es-BO" smtClean="0"/>
              <a:pPr/>
              <a:t>‹Nº›</a:t>
            </a:fld>
            <a:endParaRPr lang="es-BO"/>
          </a:p>
        </p:txBody>
      </p:sp>
    </p:spTree>
    <p:extLst>
      <p:ext uri="{BB962C8B-B14F-4D97-AF65-F5344CB8AC3E}">
        <p14:creationId xmlns="" xmlns:p14="http://schemas.microsoft.com/office/powerpoint/2010/main" val="3259650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4FF2B4-6A15-4BF9-ABD1-C7D09F92A260}" type="datetimeFigureOut">
              <a:rPr lang="es-BO" smtClean="0"/>
              <a:pPr/>
              <a:t>31/05/2014</a:t>
            </a:fld>
            <a:endParaRPr lang="es-BO"/>
          </a:p>
        </p:txBody>
      </p:sp>
      <p:sp>
        <p:nvSpPr>
          <p:cNvPr id="3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s-BO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84B584-A21B-45A1-A7A4-D71E0DE648AF}" type="slidenum">
              <a:rPr lang="es-BO" smtClean="0"/>
              <a:pPr/>
              <a:t>‹Nº›</a:t>
            </a:fld>
            <a:endParaRPr lang="es-BO"/>
          </a:p>
        </p:txBody>
      </p:sp>
    </p:spTree>
    <p:extLst>
      <p:ext uri="{BB962C8B-B14F-4D97-AF65-F5344CB8AC3E}">
        <p14:creationId xmlns="" xmlns:p14="http://schemas.microsoft.com/office/powerpoint/2010/main" val="4200066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NI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NI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4FF2B4-6A15-4BF9-ABD1-C7D09F92A260}" type="datetimeFigureOut">
              <a:rPr lang="es-BO" smtClean="0"/>
              <a:pPr/>
              <a:t>31/05/2014</a:t>
            </a:fld>
            <a:endParaRPr lang="es-BO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s-BO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84B584-A21B-45A1-A7A4-D71E0DE648AF}" type="slidenum">
              <a:rPr lang="es-BO" smtClean="0"/>
              <a:pPr/>
              <a:t>‹Nº›</a:t>
            </a:fld>
            <a:endParaRPr lang="es-BO"/>
          </a:p>
        </p:txBody>
      </p:sp>
    </p:spTree>
    <p:extLst>
      <p:ext uri="{BB962C8B-B14F-4D97-AF65-F5344CB8AC3E}">
        <p14:creationId xmlns="" xmlns:p14="http://schemas.microsoft.com/office/powerpoint/2010/main" val="3034620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NI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 smtClean="0"/>
              <a:t>Haga clic en el icono para agregar una imagen</a:t>
            </a:r>
            <a:endParaRPr lang="es-NI" noProof="0" smtClean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4FF2B4-6A15-4BF9-ABD1-C7D09F92A260}" type="datetimeFigureOut">
              <a:rPr lang="es-BO" smtClean="0"/>
              <a:pPr/>
              <a:t>31/05/2014</a:t>
            </a:fld>
            <a:endParaRPr lang="es-BO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s-BO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84B584-A21B-45A1-A7A4-D71E0DE648AF}" type="slidenum">
              <a:rPr lang="es-BO" smtClean="0"/>
              <a:pPr/>
              <a:t>‹Nº›</a:t>
            </a:fld>
            <a:endParaRPr lang="es-BO"/>
          </a:p>
        </p:txBody>
      </p:sp>
    </p:spTree>
    <p:extLst>
      <p:ext uri="{BB962C8B-B14F-4D97-AF65-F5344CB8AC3E}">
        <p14:creationId xmlns="" xmlns:p14="http://schemas.microsoft.com/office/powerpoint/2010/main" val="19914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NI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NI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4FF2B4-6A15-4BF9-ABD1-C7D09F92A260}" type="datetimeFigureOut">
              <a:rPr lang="es-BO" smtClean="0"/>
              <a:pPr/>
              <a:t>31/05/2014</a:t>
            </a:fld>
            <a:endParaRPr lang="es-BO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s-BO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84B584-A21B-45A1-A7A4-D71E0DE648AF}" type="slidenum">
              <a:rPr lang="es-BO" smtClean="0"/>
              <a:pPr/>
              <a:t>‹Nº›</a:t>
            </a:fld>
            <a:endParaRPr lang="es-BO"/>
          </a:p>
        </p:txBody>
      </p:sp>
    </p:spTree>
    <p:extLst>
      <p:ext uri="{BB962C8B-B14F-4D97-AF65-F5344CB8AC3E}">
        <p14:creationId xmlns="" xmlns:p14="http://schemas.microsoft.com/office/powerpoint/2010/main" val="346458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NI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NI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4FF2B4-6A15-4BF9-ABD1-C7D09F92A260}" type="datetimeFigureOut">
              <a:rPr lang="es-BO" smtClean="0"/>
              <a:pPr/>
              <a:t>31/05/2014</a:t>
            </a:fld>
            <a:endParaRPr lang="es-BO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s-BO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84B584-A21B-45A1-A7A4-D71E0DE648AF}" type="slidenum">
              <a:rPr lang="es-BO" smtClean="0"/>
              <a:pPr/>
              <a:t>‹Nº›</a:t>
            </a:fld>
            <a:endParaRPr lang="es-BO"/>
          </a:p>
        </p:txBody>
      </p:sp>
    </p:spTree>
    <p:extLst>
      <p:ext uri="{BB962C8B-B14F-4D97-AF65-F5344CB8AC3E}">
        <p14:creationId xmlns="" xmlns:p14="http://schemas.microsoft.com/office/powerpoint/2010/main" val="3258058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NI"/>
          </a:p>
        </p:txBody>
      </p:sp>
      <p:sp>
        <p:nvSpPr>
          <p:cNvPr id="3" name="2 Marcador de texto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NI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NI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4FF2B4-6A15-4BF9-ABD1-C7D09F92A260}" type="datetimeFigureOut">
              <a:rPr lang="es-BO" smtClean="0"/>
              <a:pPr/>
              <a:t>31/05/2014</a:t>
            </a:fld>
            <a:endParaRPr lang="es-BO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s-BO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84B584-A21B-45A1-A7A4-D71E0DE648AF}" type="slidenum">
              <a:rPr lang="es-BO" smtClean="0"/>
              <a:pPr/>
              <a:t>‹Nº›</a:t>
            </a:fld>
            <a:endParaRPr lang="es-BO"/>
          </a:p>
        </p:txBody>
      </p:sp>
    </p:spTree>
    <p:extLst>
      <p:ext uri="{BB962C8B-B14F-4D97-AF65-F5344CB8AC3E}">
        <p14:creationId xmlns="" xmlns:p14="http://schemas.microsoft.com/office/powerpoint/2010/main" val="36793707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NI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4FF2B4-6A15-4BF9-ABD1-C7D09F92A260}" type="datetimeFigureOut">
              <a:rPr lang="es-BO" smtClean="0"/>
              <a:pPr/>
              <a:t>31/05/2014</a:t>
            </a:fld>
            <a:endParaRPr lang="es-BO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s-BO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84B584-A21B-45A1-A7A4-D71E0DE648AF}" type="slidenum">
              <a:rPr lang="es-BO" smtClean="0"/>
              <a:pPr/>
              <a:t>‹Nº›</a:t>
            </a:fld>
            <a:endParaRPr lang="es-BO"/>
          </a:p>
        </p:txBody>
      </p:sp>
    </p:spTree>
    <p:extLst>
      <p:ext uri="{BB962C8B-B14F-4D97-AF65-F5344CB8AC3E}">
        <p14:creationId xmlns="" xmlns:p14="http://schemas.microsoft.com/office/powerpoint/2010/main" val="15549291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ítulo, imágenes prediseñadas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66800" y="304800"/>
            <a:ext cx="7543800" cy="14319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NI"/>
          </a:p>
        </p:txBody>
      </p:sp>
      <p:sp>
        <p:nvSpPr>
          <p:cNvPr id="3" name="2 Marcador de imágenes prediseñadas"/>
          <p:cNvSpPr>
            <a:spLocks noGrp="1"/>
          </p:cNvSpPr>
          <p:nvPr>
            <p:ph type="clipArt" sz="half" idx="1"/>
          </p:nvPr>
        </p:nvSpPr>
        <p:spPr>
          <a:xfrm>
            <a:off x="1066800" y="1981200"/>
            <a:ext cx="3695700" cy="4114800"/>
          </a:xfrm>
        </p:spPr>
        <p:txBody>
          <a:bodyPr/>
          <a:lstStyle/>
          <a:p>
            <a:pPr lvl="0"/>
            <a:r>
              <a:rPr lang="es-ES" noProof="0" smtClean="0"/>
              <a:t>Haga clic en el icono para agregar una imagen prediseñada</a:t>
            </a:r>
            <a:endParaRPr lang="es-NI" noProof="0" smtClean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914900" y="1981200"/>
            <a:ext cx="3695700" cy="41148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NI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1066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544FF2B4-6A15-4BF9-ABD1-C7D09F92A260}" type="datetimeFigureOut">
              <a:rPr lang="es-BO" smtClean="0"/>
              <a:pPr/>
              <a:t>31/05/2014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705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A784B584-A21B-45A1-A7A4-D71E0DE648AF}" type="slidenum">
              <a:rPr lang="es-BO" smtClean="0"/>
              <a:pPr/>
              <a:t>‹Nº›</a:t>
            </a:fld>
            <a:endParaRPr lang="es-BO"/>
          </a:p>
        </p:txBody>
      </p:sp>
    </p:spTree>
    <p:extLst>
      <p:ext uri="{BB962C8B-B14F-4D97-AF65-F5344CB8AC3E}">
        <p14:creationId xmlns="" xmlns:p14="http://schemas.microsoft.com/office/powerpoint/2010/main" val="5552610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ítulo y texto e imágenes prediseñad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66800" y="304800"/>
            <a:ext cx="7543800" cy="14319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NI"/>
          </a:p>
        </p:txBody>
      </p:sp>
      <p:sp>
        <p:nvSpPr>
          <p:cNvPr id="3" name="2 Marcador de texto"/>
          <p:cNvSpPr>
            <a:spLocks noGrp="1"/>
          </p:cNvSpPr>
          <p:nvPr>
            <p:ph type="body" sz="half" idx="1"/>
          </p:nvPr>
        </p:nvSpPr>
        <p:spPr>
          <a:xfrm>
            <a:off x="1066800" y="1981200"/>
            <a:ext cx="3695700" cy="41148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NI"/>
          </a:p>
        </p:txBody>
      </p:sp>
      <p:sp>
        <p:nvSpPr>
          <p:cNvPr id="4" name="3 Marcador de imágenes prediseñadas"/>
          <p:cNvSpPr>
            <a:spLocks noGrp="1"/>
          </p:cNvSpPr>
          <p:nvPr>
            <p:ph type="clipArt" sz="half" idx="2"/>
          </p:nvPr>
        </p:nvSpPr>
        <p:spPr>
          <a:xfrm>
            <a:off x="4914900" y="1981200"/>
            <a:ext cx="3695700" cy="4114800"/>
          </a:xfrm>
        </p:spPr>
        <p:txBody>
          <a:bodyPr/>
          <a:lstStyle/>
          <a:p>
            <a:pPr lvl="0"/>
            <a:r>
              <a:rPr lang="es-ES" noProof="0" smtClean="0"/>
              <a:t>Haga clic en el icono para agregar una imagen prediseñada</a:t>
            </a:r>
            <a:endParaRPr lang="es-NI" noProof="0" smtClean="0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1066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544FF2B4-6A15-4BF9-ABD1-C7D09F92A260}" type="datetimeFigureOut">
              <a:rPr lang="es-BO" smtClean="0"/>
              <a:pPr/>
              <a:t>31/05/2014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705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A784B584-A21B-45A1-A7A4-D71E0DE648AF}" type="slidenum">
              <a:rPr lang="es-BO" smtClean="0"/>
              <a:pPr/>
              <a:t>‹Nº›</a:t>
            </a:fld>
            <a:endParaRPr lang="es-BO"/>
          </a:p>
        </p:txBody>
      </p:sp>
    </p:spTree>
    <p:extLst>
      <p:ext uri="{BB962C8B-B14F-4D97-AF65-F5344CB8AC3E}">
        <p14:creationId xmlns="" xmlns:p14="http://schemas.microsoft.com/office/powerpoint/2010/main" val="3670051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invGray"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0" scaled="1"/>
        </a:gradFill>
        <a:effectLst>
          <a:outerShdw dist="107763" dir="2700000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0" y="0"/>
            <a:ext cx="9144000" cy="6918325"/>
            <a:chOff x="0" y="0"/>
            <a:chExt cx="5760" cy="4358"/>
          </a:xfrm>
        </p:grpSpPr>
        <p:sp>
          <p:nvSpPr>
            <p:cNvPr id="243715" name="Rectangle 3"/>
            <p:cNvSpPr>
              <a:spLocks noChangeArrowheads="1"/>
            </p:cNvSpPr>
            <p:nvPr/>
          </p:nvSpPr>
          <p:spPr bwMode="invGray">
            <a:xfrm>
              <a:off x="5533" y="280"/>
              <a:ext cx="227" cy="198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hlink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s-NI"/>
            </a:p>
          </p:txBody>
        </p:sp>
        <p:sp>
          <p:nvSpPr>
            <p:cNvPr id="243716" name="Freeform 4"/>
            <p:cNvSpPr>
              <a:spLocks/>
            </p:cNvSpPr>
            <p:nvPr/>
          </p:nvSpPr>
          <p:spPr bwMode="invGray">
            <a:xfrm>
              <a:off x="0" y="0"/>
              <a:ext cx="5760" cy="134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720"/>
                </a:cxn>
                <a:cxn ang="0">
                  <a:pos x="3600" y="624"/>
                </a:cxn>
                <a:cxn ang="0">
                  <a:pos x="0" y="1000"/>
                </a:cxn>
                <a:cxn ang="0">
                  <a:pos x="0" y="0"/>
                </a:cxn>
              </a:cxnLst>
              <a:rect l="0" t="0" r="r" b="b"/>
              <a:pathLst>
                <a:path w="5760" h="1104">
                  <a:moveTo>
                    <a:pt x="0" y="0"/>
                  </a:moveTo>
                  <a:lnTo>
                    <a:pt x="5760" y="0"/>
                  </a:lnTo>
                  <a:lnTo>
                    <a:pt x="5760" y="720"/>
                  </a:lnTo>
                  <a:cubicBezTo>
                    <a:pt x="5400" y="824"/>
                    <a:pt x="4560" y="577"/>
                    <a:pt x="3600" y="624"/>
                  </a:cubicBezTo>
                  <a:cubicBezTo>
                    <a:pt x="2640" y="671"/>
                    <a:pt x="600" y="1104"/>
                    <a:pt x="0" y="1000"/>
                  </a:cubicBez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s-NI"/>
            </a:p>
          </p:txBody>
        </p:sp>
        <p:sp>
          <p:nvSpPr>
            <p:cNvPr id="243717" name="Freeform 5"/>
            <p:cNvSpPr>
              <a:spLocks/>
            </p:cNvSpPr>
            <p:nvPr/>
          </p:nvSpPr>
          <p:spPr bwMode="invGray">
            <a:xfrm>
              <a:off x="0" y="733"/>
              <a:ext cx="5760" cy="3587"/>
            </a:xfrm>
            <a:custGeom>
              <a:avLst/>
              <a:gdLst/>
              <a:ahLst/>
              <a:cxnLst>
                <a:cxn ang="0">
                  <a:pos x="0" y="582"/>
                </a:cxn>
                <a:cxn ang="0">
                  <a:pos x="2640" y="267"/>
                </a:cxn>
                <a:cxn ang="0">
                  <a:pos x="3373" y="160"/>
                </a:cxn>
                <a:cxn ang="0">
                  <a:pos x="5760" y="358"/>
                </a:cxn>
                <a:cxn ang="0">
                  <a:pos x="5760" y="3587"/>
                </a:cxn>
                <a:cxn ang="0">
                  <a:pos x="0" y="3587"/>
                </a:cxn>
                <a:cxn ang="0">
                  <a:pos x="0" y="582"/>
                </a:cxn>
              </a:cxnLst>
              <a:rect l="0" t="0" r="r" b="b"/>
              <a:pathLst>
                <a:path w="5760" h="3587">
                  <a:moveTo>
                    <a:pt x="0" y="582"/>
                  </a:moveTo>
                  <a:cubicBezTo>
                    <a:pt x="1027" y="680"/>
                    <a:pt x="1960" y="387"/>
                    <a:pt x="2640" y="267"/>
                  </a:cubicBezTo>
                  <a:cubicBezTo>
                    <a:pt x="2640" y="267"/>
                    <a:pt x="3268" y="180"/>
                    <a:pt x="3373" y="160"/>
                  </a:cubicBezTo>
                  <a:cubicBezTo>
                    <a:pt x="4120" y="0"/>
                    <a:pt x="5280" y="358"/>
                    <a:pt x="5760" y="358"/>
                  </a:cubicBezTo>
                  <a:lnTo>
                    <a:pt x="5760" y="3587"/>
                  </a:lnTo>
                  <a:lnTo>
                    <a:pt x="0" y="3587"/>
                  </a:lnTo>
                  <a:cubicBezTo>
                    <a:pt x="0" y="3587"/>
                    <a:pt x="0" y="582"/>
                    <a:pt x="0" y="582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 w="9525" cap="flat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NI"/>
            </a:p>
          </p:txBody>
        </p:sp>
        <p:sp>
          <p:nvSpPr>
            <p:cNvPr id="243718" name="Freeform 6"/>
            <p:cNvSpPr>
              <a:spLocks/>
            </p:cNvSpPr>
            <p:nvPr/>
          </p:nvSpPr>
          <p:spPr bwMode="invGray">
            <a:xfrm>
              <a:off x="0" y="184"/>
              <a:ext cx="5760" cy="538"/>
            </a:xfrm>
            <a:custGeom>
              <a:avLst/>
              <a:gdLst/>
              <a:ahLst/>
              <a:cxnLst>
                <a:cxn ang="0">
                  <a:pos x="0" y="163"/>
                </a:cxn>
                <a:cxn ang="0">
                  <a:pos x="0" y="403"/>
                </a:cxn>
                <a:cxn ang="0">
                  <a:pos x="1773" y="443"/>
                </a:cxn>
                <a:cxn ang="0">
                  <a:pos x="4573" y="176"/>
                </a:cxn>
                <a:cxn ang="0">
                  <a:pos x="5760" y="536"/>
                </a:cxn>
                <a:cxn ang="0">
                  <a:pos x="5760" y="163"/>
                </a:cxn>
                <a:cxn ang="0">
                  <a:pos x="4560" y="29"/>
                </a:cxn>
                <a:cxn ang="0">
                  <a:pos x="1987" y="336"/>
                </a:cxn>
                <a:cxn ang="0">
                  <a:pos x="0" y="163"/>
                </a:cxn>
              </a:cxnLst>
              <a:rect l="0" t="0" r="r" b="b"/>
              <a:pathLst>
                <a:path w="5760" h="538">
                  <a:moveTo>
                    <a:pt x="0" y="163"/>
                  </a:moveTo>
                  <a:lnTo>
                    <a:pt x="0" y="403"/>
                  </a:lnTo>
                  <a:cubicBezTo>
                    <a:pt x="295" y="450"/>
                    <a:pt x="1011" y="481"/>
                    <a:pt x="1773" y="443"/>
                  </a:cubicBezTo>
                  <a:cubicBezTo>
                    <a:pt x="2535" y="405"/>
                    <a:pt x="3909" y="161"/>
                    <a:pt x="4573" y="176"/>
                  </a:cubicBezTo>
                  <a:cubicBezTo>
                    <a:pt x="5237" y="191"/>
                    <a:pt x="5562" y="538"/>
                    <a:pt x="5760" y="536"/>
                  </a:cubicBezTo>
                  <a:lnTo>
                    <a:pt x="5760" y="163"/>
                  </a:lnTo>
                  <a:cubicBezTo>
                    <a:pt x="5560" y="79"/>
                    <a:pt x="5189" y="0"/>
                    <a:pt x="4560" y="29"/>
                  </a:cubicBezTo>
                  <a:cubicBezTo>
                    <a:pt x="3931" y="58"/>
                    <a:pt x="2747" y="314"/>
                    <a:pt x="1987" y="336"/>
                  </a:cubicBezTo>
                  <a:cubicBezTo>
                    <a:pt x="1227" y="358"/>
                    <a:pt x="414" y="199"/>
                    <a:pt x="0" y="163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s-NI"/>
            </a:p>
          </p:txBody>
        </p:sp>
        <p:sp>
          <p:nvSpPr>
            <p:cNvPr id="243719" name="Freeform 7"/>
            <p:cNvSpPr>
              <a:spLocks/>
            </p:cNvSpPr>
            <p:nvPr/>
          </p:nvSpPr>
          <p:spPr bwMode="invGray">
            <a:xfrm>
              <a:off x="0" y="1515"/>
              <a:ext cx="5760" cy="674"/>
            </a:xfrm>
            <a:custGeom>
              <a:avLst/>
              <a:gdLst/>
              <a:ahLst/>
              <a:cxnLst>
                <a:cxn ang="0">
                  <a:pos x="0" y="246"/>
                </a:cxn>
                <a:cxn ang="0">
                  <a:pos x="0" y="406"/>
                </a:cxn>
                <a:cxn ang="0">
                  <a:pos x="1280" y="645"/>
                </a:cxn>
                <a:cxn ang="0">
                  <a:pos x="1627" y="580"/>
                </a:cxn>
                <a:cxn ang="0">
                  <a:pos x="4493" y="113"/>
                </a:cxn>
                <a:cxn ang="0">
                  <a:pos x="5760" y="606"/>
                </a:cxn>
                <a:cxn ang="0">
                  <a:pos x="5760" y="233"/>
                </a:cxn>
                <a:cxn ang="0">
                  <a:pos x="4040" y="33"/>
                </a:cxn>
                <a:cxn ang="0">
                  <a:pos x="1093" y="433"/>
                </a:cxn>
                <a:cxn ang="0">
                  <a:pos x="0" y="246"/>
                </a:cxn>
              </a:cxnLst>
              <a:rect l="0" t="0" r="r" b="b"/>
              <a:pathLst>
                <a:path w="5760" h="674">
                  <a:moveTo>
                    <a:pt x="0" y="246"/>
                  </a:moveTo>
                  <a:lnTo>
                    <a:pt x="0" y="406"/>
                  </a:lnTo>
                  <a:cubicBezTo>
                    <a:pt x="213" y="463"/>
                    <a:pt x="1009" y="616"/>
                    <a:pt x="1280" y="645"/>
                  </a:cubicBezTo>
                  <a:cubicBezTo>
                    <a:pt x="1551" y="674"/>
                    <a:pt x="1092" y="669"/>
                    <a:pt x="1627" y="580"/>
                  </a:cubicBezTo>
                  <a:cubicBezTo>
                    <a:pt x="2162" y="491"/>
                    <a:pt x="3804" y="109"/>
                    <a:pt x="4493" y="113"/>
                  </a:cubicBezTo>
                  <a:cubicBezTo>
                    <a:pt x="5182" y="117"/>
                    <a:pt x="5549" y="586"/>
                    <a:pt x="5760" y="606"/>
                  </a:cubicBezTo>
                  <a:lnTo>
                    <a:pt x="5760" y="233"/>
                  </a:lnTo>
                  <a:cubicBezTo>
                    <a:pt x="5471" y="158"/>
                    <a:pt x="4818" y="0"/>
                    <a:pt x="4040" y="33"/>
                  </a:cubicBezTo>
                  <a:cubicBezTo>
                    <a:pt x="3262" y="66"/>
                    <a:pt x="1766" y="398"/>
                    <a:pt x="1093" y="433"/>
                  </a:cubicBezTo>
                  <a:cubicBezTo>
                    <a:pt x="420" y="468"/>
                    <a:pt x="228" y="285"/>
                    <a:pt x="0" y="24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 cap="flat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NI"/>
            </a:p>
          </p:txBody>
        </p:sp>
        <p:sp>
          <p:nvSpPr>
            <p:cNvPr id="243720" name="Freeform 8"/>
            <p:cNvSpPr>
              <a:spLocks/>
            </p:cNvSpPr>
            <p:nvPr/>
          </p:nvSpPr>
          <p:spPr bwMode="invGray">
            <a:xfrm>
              <a:off x="1560" y="959"/>
              <a:ext cx="4200" cy="3361"/>
            </a:xfrm>
            <a:custGeom>
              <a:avLst/>
              <a:gdLst/>
              <a:ahLst/>
              <a:cxnLst>
                <a:cxn ang="0">
                  <a:pos x="0" y="3361"/>
                </a:cxn>
                <a:cxn ang="0">
                  <a:pos x="1054" y="295"/>
                </a:cxn>
                <a:cxn ang="0">
                  <a:pos x="4200" y="1588"/>
                </a:cxn>
                <a:cxn ang="0">
                  <a:pos x="4200" y="2028"/>
                </a:cxn>
                <a:cxn ang="0">
                  <a:pos x="1200" y="442"/>
                </a:cxn>
                <a:cxn ang="0">
                  <a:pos x="347" y="3361"/>
                </a:cxn>
                <a:cxn ang="0">
                  <a:pos x="0" y="3361"/>
                </a:cxn>
              </a:cxnLst>
              <a:rect l="0" t="0" r="r" b="b"/>
              <a:pathLst>
                <a:path w="4200" h="3361">
                  <a:moveTo>
                    <a:pt x="0" y="3361"/>
                  </a:moveTo>
                  <a:cubicBezTo>
                    <a:pt x="118" y="2850"/>
                    <a:pt x="354" y="590"/>
                    <a:pt x="1054" y="295"/>
                  </a:cubicBezTo>
                  <a:cubicBezTo>
                    <a:pt x="1754" y="0"/>
                    <a:pt x="3676" y="1299"/>
                    <a:pt x="4200" y="1588"/>
                  </a:cubicBezTo>
                  <a:lnTo>
                    <a:pt x="4200" y="2028"/>
                  </a:lnTo>
                  <a:cubicBezTo>
                    <a:pt x="3700" y="1837"/>
                    <a:pt x="1842" y="220"/>
                    <a:pt x="1200" y="442"/>
                  </a:cubicBezTo>
                  <a:cubicBezTo>
                    <a:pt x="558" y="664"/>
                    <a:pt x="547" y="2875"/>
                    <a:pt x="347" y="3361"/>
                  </a:cubicBezTo>
                  <a:lnTo>
                    <a:pt x="0" y="3361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50000">
                  <a:schemeClr val="bg1"/>
                </a:gs>
                <a:gs pos="100000">
                  <a:schemeClr val="accent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s-NI"/>
            </a:p>
          </p:txBody>
        </p:sp>
        <p:sp>
          <p:nvSpPr>
            <p:cNvPr id="243721" name="Freeform 9"/>
            <p:cNvSpPr>
              <a:spLocks/>
            </p:cNvSpPr>
            <p:nvPr/>
          </p:nvSpPr>
          <p:spPr bwMode="invGray">
            <a:xfrm>
              <a:off x="0" y="2169"/>
              <a:ext cx="5760" cy="1925"/>
            </a:xfrm>
            <a:custGeom>
              <a:avLst/>
              <a:gdLst/>
              <a:ahLst/>
              <a:cxnLst>
                <a:cxn ang="0">
                  <a:pos x="0" y="804"/>
                </a:cxn>
                <a:cxn ang="0">
                  <a:pos x="0" y="991"/>
                </a:cxn>
                <a:cxn ang="0">
                  <a:pos x="1547" y="1818"/>
                </a:cxn>
                <a:cxn ang="0">
                  <a:pos x="3253" y="351"/>
                </a:cxn>
                <a:cxn ang="0">
                  <a:pos x="5760" y="1537"/>
                </a:cxn>
                <a:cxn ang="0">
                  <a:pos x="5760" y="1151"/>
                </a:cxn>
                <a:cxn ang="0">
                  <a:pos x="3240" y="84"/>
                </a:cxn>
                <a:cxn ang="0">
                  <a:pos x="1573" y="1671"/>
                </a:cxn>
                <a:cxn ang="0">
                  <a:pos x="0" y="804"/>
                </a:cxn>
              </a:cxnLst>
              <a:rect l="0" t="0" r="r" b="b"/>
              <a:pathLst>
                <a:path w="5760" h="1925">
                  <a:moveTo>
                    <a:pt x="0" y="804"/>
                  </a:moveTo>
                  <a:lnTo>
                    <a:pt x="0" y="991"/>
                  </a:lnTo>
                  <a:cubicBezTo>
                    <a:pt x="258" y="1160"/>
                    <a:pt x="1005" y="1925"/>
                    <a:pt x="1547" y="1818"/>
                  </a:cubicBezTo>
                  <a:cubicBezTo>
                    <a:pt x="2089" y="1711"/>
                    <a:pt x="2551" y="398"/>
                    <a:pt x="3253" y="351"/>
                  </a:cubicBezTo>
                  <a:cubicBezTo>
                    <a:pt x="3955" y="304"/>
                    <a:pt x="5342" y="1404"/>
                    <a:pt x="5760" y="1537"/>
                  </a:cubicBezTo>
                  <a:lnTo>
                    <a:pt x="5760" y="1151"/>
                  </a:lnTo>
                  <a:cubicBezTo>
                    <a:pt x="5405" y="1124"/>
                    <a:pt x="3982" y="0"/>
                    <a:pt x="3240" y="84"/>
                  </a:cubicBezTo>
                  <a:cubicBezTo>
                    <a:pt x="2542" y="171"/>
                    <a:pt x="2113" y="1551"/>
                    <a:pt x="1573" y="1671"/>
                  </a:cubicBezTo>
                  <a:cubicBezTo>
                    <a:pt x="1033" y="1791"/>
                    <a:pt x="262" y="826"/>
                    <a:pt x="0" y="80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 cap="flat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NI"/>
            </a:p>
          </p:txBody>
        </p:sp>
        <p:sp>
          <p:nvSpPr>
            <p:cNvPr id="243722" name="Freeform 10"/>
            <p:cNvSpPr>
              <a:spLocks/>
            </p:cNvSpPr>
            <p:nvPr/>
          </p:nvSpPr>
          <p:spPr bwMode="invGray">
            <a:xfrm>
              <a:off x="0" y="2238"/>
              <a:ext cx="3929" cy="2120"/>
            </a:xfrm>
            <a:custGeom>
              <a:avLst/>
              <a:gdLst/>
              <a:ahLst/>
              <a:cxnLst>
                <a:cxn ang="0">
                  <a:pos x="0" y="415"/>
                </a:cxn>
                <a:cxn ang="0">
                  <a:pos x="0" y="508"/>
                </a:cxn>
                <a:cxn ang="0">
                  <a:pos x="1933" y="229"/>
                </a:cxn>
                <a:cxn ang="0">
                  <a:pos x="3920" y="1055"/>
                </a:cxn>
                <a:cxn ang="0">
                  <a:pos x="3587" y="2082"/>
                </a:cxn>
                <a:cxn ang="0">
                  <a:pos x="3947" y="829"/>
                </a:cxn>
                <a:cxn ang="0">
                  <a:pos x="2253" y="69"/>
                </a:cxn>
                <a:cxn ang="0">
                  <a:pos x="0" y="415"/>
                </a:cxn>
              </a:cxnLst>
              <a:rect l="0" t="0" r="r" b="b"/>
              <a:pathLst>
                <a:path w="4196" h="2120">
                  <a:moveTo>
                    <a:pt x="0" y="415"/>
                  </a:moveTo>
                  <a:lnTo>
                    <a:pt x="0" y="508"/>
                  </a:lnTo>
                  <a:cubicBezTo>
                    <a:pt x="160" y="577"/>
                    <a:pt x="1280" y="138"/>
                    <a:pt x="1933" y="229"/>
                  </a:cubicBezTo>
                  <a:cubicBezTo>
                    <a:pt x="2586" y="320"/>
                    <a:pt x="3644" y="746"/>
                    <a:pt x="3920" y="1055"/>
                  </a:cubicBezTo>
                  <a:cubicBezTo>
                    <a:pt x="4196" y="1364"/>
                    <a:pt x="3583" y="2120"/>
                    <a:pt x="3587" y="2082"/>
                  </a:cubicBezTo>
                  <a:lnTo>
                    <a:pt x="3947" y="829"/>
                  </a:lnTo>
                  <a:cubicBezTo>
                    <a:pt x="3725" y="494"/>
                    <a:pt x="2911" y="138"/>
                    <a:pt x="2253" y="69"/>
                  </a:cubicBezTo>
                  <a:cubicBezTo>
                    <a:pt x="1595" y="0"/>
                    <a:pt x="469" y="343"/>
                    <a:pt x="0" y="415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50000">
                  <a:schemeClr val="bg1"/>
                </a:gs>
                <a:gs pos="100000">
                  <a:schemeClr val="accent2"/>
                </a:gs>
              </a:gsLst>
              <a:lin ang="5400000" scaled="1"/>
            </a:gradFill>
            <a:ln w="9525" cap="flat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NI"/>
            </a:p>
          </p:txBody>
        </p:sp>
      </p:grpSp>
      <p:sp>
        <p:nvSpPr>
          <p:cNvPr id="1027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título del patrón</a:t>
            </a:r>
          </a:p>
        </p:txBody>
      </p:sp>
      <p:sp>
        <p:nvSpPr>
          <p:cNvPr id="243724" name="Rectangle 1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/>
            </a:lvl1pPr>
          </a:lstStyle>
          <a:p>
            <a:fld id="{544FF2B4-6A15-4BF9-ABD1-C7D09F92A260}" type="datetimeFigureOut">
              <a:rPr lang="es-BO" smtClean="0"/>
              <a:pPr/>
              <a:t>31/05/2014</a:t>
            </a:fld>
            <a:endParaRPr lang="es-BO"/>
          </a:p>
        </p:txBody>
      </p:sp>
      <p:sp>
        <p:nvSpPr>
          <p:cNvPr id="243725" name="Rectangle 1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/>
            </a:lvl1pPr>
          </a:lstStyle>
          <a:p>
            <a:endParaRPr lang="es-BO"/>
          </a:p>
        </p:txBody>
      </p:sp>
      <p:sp>
        <p:nvSpPr>
          <p:cNvPr id="243726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/>
            </a:lvl1pPr>
          </a:lstStyle>
          <a:p>
            <a:fld id="{A784B584-A21B-45A1-A7A4-D71E0DE648AF}" type="slidenum">
              <a:rPr lang="es-BO" smtClean="0"/>
              <a:pPr/>
              <a:t>‹Nº›</a:t>
            </a:fld>
            <a:endParaRPr lang="es-BO"/>
          </a:p>
        </p:txBody>
      </p:sp>
      <p:sp>
        <p:nvSpPr>
          <p:cNvPr id="1031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323528" y="260648"/>
            <a:ext cx="8640960" cy="6408712"/>
          </a:xfrm>
        </p:spPr>
        <p:txBody>
          <a:bodyPr/>
          <a:lstStyle/>
          <a:p>
            <a:pPr algn="l">
              <a:spcBef>
                <a:spcPts val="0"/>
              </a:spcBef>
            </a:pPr>
            <a:r>
              <a:rPr lang="es-BO" sz="2000" dirty="0" smtClean="0">
                <a:latin typeface="Arial" pitchFamily="34" charset="0"/>
                <a:cs typeface="Arial" pitchFamily="34" charset="0"/>
              </a:rPr>
              <a:t>UNIVERSIDAD SIGLO XX</a:t>
            </a:r>
            <a:br>
              <a:rPr lang="es-BO" sz="2000" dirty="0" smtClean="0">
                <a:latin typeface="Arial" pitchFamily="34" charset="0"/>
                <a:cs typeface="Arial" pitchFamily="34" charset="0"/>
              </a:rPr>
            </a:br>
            <a:r>
              <a:rPr lang="es-BO" sz="2000" dirty="0" smtClean="0">
                <a:latin typeface="Arial" pitchFamily="34" charset="0"/>
                <a:cs typeface="Arial" pitchFamily="34" charset="0"/>
              </a:rPr>
              <a:t>DEPARTAMENTO DE POST GRADO</a:t>
            </a:r>
            <a:br>
              <a:rPr lang="es-BO" sz="2000" dirty="0" smtClean="0">
                <a:latin typeface="Arial" pitchFamily="34" charset="0"/>
                <a:cs typeface="Arial" pitchFamily="34" charset="0"/>
              </a:rPr>
            </a:br>
            <a:r>
              <a:rPr lang="es-BO" sz="2000" dirty="0" smtClean="0">
                <a:latin typeface="Arial" pitchFamily="34" charset="0"/>
                <a:cs typeface="Arial" pitchFamily="34" charset="0"/>
              </a:rPr>
              <a:t>MAESTRIA EN ENFERMERI MEDICO QUIRUGICO</a:t>
            </a:r>
          </a:p>
          <a:p>
            <a:pPr algn="l">
              <a:spcBef>
                <a:spcPts val="0"/>
              </a:spcBef>
            </a:pPr>
            <a:endParaRPr lang="es-BO" sz="2000" dirty="0" smtClean="0">
              <a:latin typeface="Arial" pitchFamily="34" charset="0"/>
              <a:cs typeface="Arial" pitchFamily="34" charset="0"/>
            </a:endParaRPr>
          </a:p>
          <a:p>
            <a:pPr algn="l">
              <a:spcBef>
                <a:spcPts val="0"/>
              </a:spcBef>
            </a:pPr>
            <a:endParaRPr lang="es-BO" sz="2000" dirty="0" smtClean="0">
              <a:latin typeface="Arial" pitchFamily="34" charset="0"/>
              <a:cs typeface="Arial" pitchFamily="34" charset="0"/>
            </a:endParaRPr>
          </a:p>
          <a:p>
            <a:pPr>
              <a:spcBef>
                <a:spcPts val="0"/>
              </a:spcBef>
            </a:pPr>
            <a:r>
              <a:rPr lang="es-BO" sz="4000" dirty="0" smtClean="0">
                <a:latin typeface="Arial" pitchFamily="34" charset="0"/>
                <a:cs typeface="Arial" pitchFamily="34" charset="0"/>
              </a:rPr>
              <a:t>ABSCESO </a:t>
            </a:r>
            <a:r>
              <a:rPr lang="es-BO" sz="4000" dirty="0" smtClean="0">
                <a:latin typeface="Arial" pitchFamily="34" charset="0"/>
                <a:cs typeface="Arial" pitchFamily="34" charset="0"/>
              </a:rPr>
              <a:t>PERIANAL</a:t>
            </a:r>
            <a:endParaRPr lang="es-BO" sz="4000" dirty="0" smtClean="0">
              <a:latin typeface="Arial" pitchFamily="34" charset="0"/>
              <a:cs typeface="Arial" pitchFamily="34" charset="0"/>
            </a:endParaRPr>
          </a:p>
          <a:p>
            <a:pPr>
              <a:spcBef>
                <a:spcPts val="0"/>
              </a:spcBef>
            </a:pPr>
            <a:r>
              <a:rPr lang="es-BO" sz="4000" dirty="0" smtClean="0">
                <a:latin typeface="Arial" pitchFamily="34" charset="0"/>
                <a:cs typeface="Arial" pitchFamily="34" charset="0"/>
              </a:rPr>
              <a:t> PROTOCOLO DE ENFERMERIA</a:t>
            </a:r>
          </a:p>
          <a:p>
            <a:pPr algn="l">
              <a:spcBef>
                <a:spcPts val="0"/>
              </a:spcBef>
            </a:pPr>
            <a:endParaRPr lang="es-BO" sz="2000" b="1" dirty="0" smtClean="0">
              <a:latin typeface="Arial" pitchFamily="34" charset="0"/>
              <a:cs typeface="Arial" pitchFamily="34" charset="0"/>
            </a:endParaRPr>
          </a:p>
          <a:p>
            <a:pPr algn="l">
              <a:spcBef>
                <a:spcPts val="0"/>
              </a:spcBef>
            </a:pPr>
            <a:endParaRPr lang="es-BO" sz="2000" b="1" dirty="0" smtClean="0">
              <a:latin typeface="Arial" pitchFamily="34" charset="0"/>
              <a:cs typeface="Arial" pitchFamily="34" charset="0"/>
            </a:endParaRPr>
          </a:p>
          <a:p>
            <a:pPr algn="l">
              <a:spcBef>
                <a:spcPts val="0"/>
              </a:spcBef>
            </a:pPr>
            <a:endParaRPr lang="es-BO" sz="2000" b="1" dirty="0" smtClean="0">
              <a:latin typeface="Arial" pitchFamily="34" charset="0"/>
              <a:cs typeface="Arial" pitchFamily="34" charset="0"/>
            </a:endParaRPr>
          </a:p>
          <a:p>
            <a:pPr algn="l">
              <a:spcBef>
                <a:spcPts val="0"/>
              </a:spcBef>
            </a:pPr>
            <a:endParaRPr lang="es-BO" sz="2000" b="1" dirty="0" smtClean="0">
              <a:latin typeface="Arial" pitchFamily="34" charset="0"/>
              <a:cs typeface="Arial" pitchFamily="34" charset="0"/>
            </a:endParaRPr>
          </a:p>
          <a:p>
            <a:pPr algn="l">
              <a:spcBef>
                <a:spcPts val="0"/>
              </a:spcBef>
            </a:pPr>
            <a:r>
              <a:rPr lang="es-BO" sz="2400" b="1" dirty="0" smtClean="0">
                <a:latin typeface="Arial" pitchFamily="34" charset="0"/>
                <a:cs typeface="Arial" pitchFamily="34" charset="0"/>
              </a:rPr>
              <a:t>PRESENTADO:</a:t>
            </a:r>
            <a:endParaRPr lang="es-ES" sz="2400" dirty="0" smtClean="0"/>
          </a:p>
          <a:p>
            <a:pPr algn="l">
              <a:spcBef>
                <a:spcPts val="0"/>
              </a:spcBef>
            </a:pPr>
            <a:r>
              <a:rPr lang="es-ES" sz="2400" dirty="0" smtClean="0"/>
              <a:t>Mirian Villarroel</a:t>
            </a:r>
          </a:p>
          <a:p>
            <a:pPr algn="l">
              <a:spcBef>
                <a:spcPts val="0"/>
              </a:spcBef>
            </a:pPr>
            <a:r>
              <a:rPr lang="es-ES" sz="2400" dirty="0" smtClean="0"/>
              <a:t> Pamela Carrión </a:t>
            </a:r>
            <a:r>
              <a:rPr lang="es-BO" sz="2400" b="1" dirty="0" smtClean="0">
                <a:latin typeface="Arial" pitchFamily="34" charset="0"/>
                <a:cs typeface="Arial" pitchFamily="34" charset="0"/>
              </a:rPr>
              <a:t>    </a:t>
            </a:r>
          </a:p>
          <a:p>
            <a:pPr>
              <a:spcBef>
                <a:spcPts val="0"/>
              </a:spcBef>
            </a:pPr>
            <a:r>
              <a:rPr lang="es-BO" sz="2000" b="1" dirty="0" smtClean="0">
                <a:latin typeface="Arial" pitchFamily="34" charset="0"/>
                <a:cs typeface="Arial" pitchFamily="34" charset="0"/>
              </a:rPr>
              <a:t>CBBA- BOLIVIA</a:t>
            </a:r>
          </a:p>
          <a:p>
            <a:pPr algn="l"/>
            <a:endParaRPr lang="es-BO" sz="2000" dirty="0" smtClean="0">
              <a:latin typeface="Arial" pitchFamily="34" charset="0"/>
              <a:cs typeface="Arial" pitchFamily="34" charset="0"/>
            </a:endParaRPr>
          </a:p>
          <a:p>
            <a:pPr algn="l"/>
            <a:endParaRPr lang="es-BO" sz="2000" dirty="0" smtClean="0">
              <a:latin typeface="Arial" pitchFamily="34" charset="0"/>
              <a:cs typeface="Arial" pitchFamily="34" charset="0"/>
            </a:endParaRPr>
          </a:p>
          <a:p>
            <a:pPr algn="l"/>
            <a:endParaRPr lang="es-BO" sz="2000" dirty="0" smtClean="0">
              <a:latin typeface="Arial" pitchFamily="34" charset="0"/>
              <a:cs typeface="Arial" pitchFamily="34" charset="0"/>
            </a:endParaRPr>
          </a:p>
          <a:p>
            <a:pPr algn="l"/>
            <a:endParaRPr lang="es-BO" sz="2000" dirty="0" smtClean="0">
              <a:latin typeface="Arial" pitchFamily="34" charset="0"/>
              <a:cs typeface="Arial" pitchFamily="34" charset="0"/>
            </a:endParaRPr>
          </a:p>
          <a:p>
            <a:pPr algn="l"/>
            <a:r>
              <a:rPr lang="es-BO" sz="2000" dirty="0" smtClean="0">
                <a:latin typeface="Arial" pitchFamily="34" charset="0"/>
                <a:cs typeface="Arial" pitchFamily="34" charset="0"/>
              </a:rPr>
              <a:t> </a:t>
            </a:r>
            <a:endParaRPr lang="es-BO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685800" y="476672"/>
            <a:ext cx="7772400" cy="5619328"/>
          </a:xfrm>
        </p:spPr>
        <p:txBody>
          <a:bodyPr/>
          <a:lstStyle/>
          <a:p>
            <a:pPr>
              <a:buNone/>
            </a:pPr>
            <a:r>
              <a:rPr lang="es-BO" dirty="0" smtClean="0"/>
              <a:t>DEFINICION: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s-BO" sz="4000" dirty="0" smtClean="0"/>
              <a:t>Es una infección del tejido blando alrededor del canal anal ,con formación de una cavidad discreta de absceso , por acumulación de pus. </a:t>
            </a:r>
            <a:r>
              <a:rPr lang="es-BO" dirty="0" smtClean="0"/>
              <a:t/>
            </a:r>
            <a:br>
              <a:rPr lang="es-BO" dirty="0" smtClean="0"/>
            </a:br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404664"/>
            <a:ext cx="8352928" cy="5691336"/>
          </a:xfrm>
        </p:spPr>
        <p:txBody>
          <a:bodyPr/>
          <a:lstStyle/>
          <a:p>
            <a:pPr algn="ctr">
              <a:buNone/>
            </a:pPr>
            <a:r>
              <a:rPr lang="es-BO" sz="5400" b="1" dirty="0" smtClean="0">
                <a:solidFill>
                  <a:schemeClr val="tx1">
                    <a:lumMod val="50000"/>
                  </a:schemeClr>
                </a:solidFill>
              </a:rPr>
              <a:t>CAUSAS</a:t>
            </a:r>
            <a:endParaRPr lang="es-BO" sz="5400" dirty="0" smtClean="0">
              <a:solidFill>
                <a:schemeClr val="tx1">
                  <a:lumMod val="50000"/>
                </a:schemeClr>
              </a:solidFill>
            </a:endParaRPr>
          </a:p>
          <a:p>
            <a:pPr>
              <a:buNone/>
            </a:pPr>
            <a:r>
              <a:rPr lang="es-BO" sz="4000" dirty="0" smtClean="0"/>
              <a:t>Las causas comunes del absceso perianal abarcan:</a:t>
            </a:r>
          </a:p>
          <a:p>
            <a:pPr lvl="0"/>
            <a:r>
              <a:rPr lang="es-BO" sz="4000" dirty="0" smtClean="0"/>
              <a:t>Glándulas obstruidas en el área anal</a:t>
            </a:r>
          </a:p>
          <a:p>
            <a:pPr lvl="0"/>
            <a:r>
              <a:rPr lang="es-BO" sz="4000" dirty="0" smtClean="0"/>
              <a:t>Infección </a:t>
            </a:r>
          </a:p>
          <a:p>
            <a:pPr lvl="0"/>
            <a:r>
              <a:rPr lang="es-BO" sz="4000" dirty="0" smtClean="0"/>
              <a:t>Infección transmitida sexualmente</a:t>
            </a:r>
          </a:p>
          <a:p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23528" y="836712"/>
            <a:ext cx="8352928" cy="5259288"/>
          </a:xfrm>
        </p:spPr>
        <p:txBody>
          <a:bodyPr/>
          <a:lstStyle/>
          <a:p>
            <a:pPr>
              <a:buNone/>
            </a:pPr>
            <a:r>
              <a:rPr lang="es-BO" sz="2800" dirty="0" smtClean="0"/>
              <a:t> </a:t>
            </a:r>
            <a:r>
              <a:rPr lang="es-BO" sz="2800" i="1" dirty="0" smtClean="0">
                <a:solidFill>
                  <a:schemeClr val="tx1">
                    <a:lumMod val="50000"/>
                  </a:schemeClr>
                </a:solidFill>
              </a:rPr>
              <a:t>factores aumentan el riesgo de un absceso anorrectal</a:t>
            </a:r>
            <a:r>
              <a:rPr lang="es-BO" sz="2800" dirty="0" smtClean="0"/>
              <a:t>:</a:t>
            </a:r>
          </a:p>
          <a:p>
            <a:pPr>
              <a:buNone/>
            </a:pPr>
            <a:endParaRPr lang="es-BO" sz="2800" dirty="0" smtClean="0"/>
          </a:p>
          <a:p>
            <a:pPr lvl="0"/>
            <a:r>
              <a:rPr lang="es-BO" sz="2800" dirty="0" smtClean="0"/>
              <a:t>Sexo anal</a:t>
            </a:r>
          </a:p>
          <a:p>
            <a:pPr lvl="0"/>
            <a:r>
              <a:rPr lang="es-BO" sz="2800" dirty="0" smtClean="0"/>
              <a:t>Fármacos quimioterapéuticos del cáncer</a:t>
            </a:r>
          </a:p>
          <a:p>
            <a:pPr lvl="0"/>
            <a:r>
              <a:rPr lang="es-BO" sz="2800" dirty="0" smtClean="0"/>
              <a:t>Diabetes</a:t>
            </a:r>
          </a:p>
          <a:p>
            <a:pPr lvl="0"/>
            <a:r>
              <a:rPr lang="es-BO" sz="2800" dirty="0" smtClean="0"/>
              <a:t>Enfermedad intestinal inflamatoria (enfermedad de colitis ulcerativa</a:t>
            </a:r>
          </a:p>
          <a:p>
            <a:pPr lvl="0"/>
            <a:r>
              <a:rPr lang="es-BO" sz="2800" dirty="0" smtClean="0"/>
              <a:t>Sistema inmunitario debilitado (por ejemplo VIH/SIDA</a:t>
            </a:r>
          </a:p>
          <a:p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85800" y="908720"/>
            <a:ext cx="7772400" cy="5187280"/>
          </a:xfrm>
        </p:spPr>
        <p:txBody>
          <a:bodyPr/>
          <a:lstStyle/>
          <a:p>
            <a:pPr algn="ctr">
              <a:buNone/>
            </a:pPr>
            <a:r>
              <a:rPr lang="es-BO" sz="4400" b="1" dirty="0" smtClean="0">
                <a:solidFill>
                  <a:schemeClr val="tx1">
                    <a:lumMod val="75000"/>
                  </a:schemeClr>
                </a:solidFill>
              </a:rPr>
              <a:t>SÍNTOMAS</a:t>
            </a:r>
            <a:endParaRPr lang="es-BO" sz="4400" dirty="0" smtClean="0"/>
          </a:p>
          <a:p>
            <a:pPr>
              <a:buFont typeface="Wingdings" pitchFamily="2" charset="2"/>
              <a:buChar char="v"/>
            </a:pPr>
            <a:r>
              <a:rPr lang="es-BO" sz="3600" dirty="0" smtClean="0"/>
              <a:t>La hinchazón alrededor del ano </a:t>
            </a:r>
          </a:p>
          <a:p>
            <a:pPr>
              <a:buFont typeface="Wingdings" pitchFamily="2" charset="2"/>
              <a:buChar char="v"/>
            </a:pPr>
            <a:r>
              <a:rPr lang="es-BO" sz="3600" dirty="0" smtClean="0"/>
              <a:t>dolor pulsátil y constante son los síntomas</a:t>
            </a:r>
          </a:p>
          <a:p>
            <a:pPr>
              <a:buFont typeface="Wingdings" pitchFamily="2" charset="2"/>
              <a:buChar char="v"/>
            </a:pPr>
            <a:r>
              <a:rPr lang="es-BO" sz="3600" dirty="0" smtClean="0"/>
              <a:t>Prurito ,fiebre, rubor y calor local</a:t>
            </a:r>
          </a:p>
          <a:p>
            <a:pPr>
              <a:buFont typeface="Wingdings" pitchFamily="2" charset="2"/>
              <a:buChar char="v"/>
            </a:pPr>
            <a:r>
              <a:rPr lang="es-BO" sz="3600" dirty="0" smtClean="0"/>
              <a:t>Escalosfríos </a:t>
            </a:r>
          </a:p>
          <a:p>
            <a:pPr>
              <a:buFont typeface="Wingdings" pitchFamily="2" charset="2"/>
              <a:buChar char="v"/>
            </a:pPr>
            <a:r>
              <a:rPr lang="es-BO" sz="3600" dirty="0" smtClean="0"/>
              <a:t>dolor durante las deposiciones puede ser intenso.</a:t>
            </a:r>
          </a:p>
          <a:p>
            <a:endParaRPr lang="es-BO" dirty="0" smtClean="0"/>
          </a:p>
          <a:p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95536" y="188640"/>
            <a:ext cx="8352928" cy="6336704"/>
          </a:xfrm>
        </p:spPr>
        <p:txBody>
          <a:bodyPr/>
          <a:lstStyle/>
          <a:p>
            <a:pPr algn="ctr">
              <a:buNone/>
            </a:pPr>
            <a:r>
              <a:rPr lang="es-BO" sz="3600" b="1" dirty="0" smtClean="0">
                <a:solidFill>
                  <a:schemeClr val="tx1">
                    <a:lumMod val="75000"/>
                  </a:schemeClr>
                </a:solidFill>
              </a:rPr>
              <a:t>OTROS SÍNTOMAS :</a:t>
            </a:r>
          </a:p>
          <a:p>
            <a:pPr lvl="0">
              <a:buBlip>
                <a:blip r:embed="rId2"/>
              </a:buBlip>
            </a:pPr>
            <a:r>
              <a:rPr lang="es-BO" dirty="0" smtClean="0"/>
              <a:t>Estreñimiento</a:t>
            </a:r>
          </a:p>
          <a:p>
            <a:pPr lvl="0">
              <a:buBlip>
                <a:blip r:embed="rId2"/>
              </a:buBlip>
            </a:pPr>
            <a:r>
              <a:rPr lang="es-BO" dirty="0" smtClean="0"/>
              <a:t>Secreción de pus por el recto</a:t>
            </a:r>
          </a:p>
          <a:p>
            <a:pPr lvl="0">
              <a:buBlip>
                <a:blip r:embed="rId2"/>
              </a:buBlip>
            </a:pPr>
            <a:r>
              <a:rPr lang="es-BO" dirty="0" smtClean="0"/>
              <a:t>Fatiga y malestar general</a:t>
            </a:r>
          </a:p>
          <a:p>
            <a:pPr lvl="0">
              <a:buBlip>
                <a:blip r:embed="rId2"/>
              </a:buBlip>
            </a:pPr>
            <a:r>
              <a:rPr lang="es-BO" dirty="0" smtClean="0"/>
              <a:t>Fiebre , sudores fríos y escalofríos</a:t>
            </a:r>
          </a:p>
          <a:p>
            <a:pPr lvl="0">
              <a:buBlip>
                <a:blip r:embed="rId2"/>
              </a:buBlip>
            </a:pPr>
            <a:r>
              <a:rPr lang="es-BO" dirty="0" smtClean="0"/>
              <a:t>Protuberancia o nódulo, hinchazón, </a:t>
            </a:r>
            <a:r>
              <a:rPr lang="es-BO" sz="3000" dirty="0" smtClean="0"/>
              <a:t>enrojecimiento y sensibilidad en el borde del ano</a:t>
            </a:r>
          </a:p>
          <a:p>
            <a:pPr lvl="0">
              <a:buBlip>
                <a:blip r:embed="rId2"/>
              </a:buBlip>
            </a:pPr>
            <a:r>
              <a:rPr lang="es-BO" dirty="0" smtClean="0"/>
              <a:t>Dolor asociado con las deposiciones</a:t>
            </a:r>
          </a:p>
          <a:p>
            <a:pPr lvl="0">
              <a:buBlip>
                <a:blip r:embed="rId2"/>
              </a:buBlip>
            </a:pPr>
            <a:r>
              <a:rPr lang="es-BO" dirty="0" smtClean="0"/>
              <a:t>Tejido endurecido y doloroso</a:t>
            </a:r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Marcador de contenido" descr="http://3.bp.blogspot.com/-c9598HlmTxs/T4ORvg7dqgI/AAAAAAAAAJk/FHn5NuECqyg/s320/Absceso+Perianal+01.jpg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404664"/>
            <a:ext cx="3883496" cy="288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4 Imagen" descr="http://www.monografias.com/trabajos75/patologia-anal-benigna/image010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4008" y="476672"/>
            <a:ext cx="4016112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5 Imagen" descr="DSC01759.JPG (74795 bytes)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528" y="3717032"/>
            <a:ext cx="3456384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6 Imagen" descr="DSC01761.JPG (101057 bytes)"/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499992" y="3717032"/>
            <a:ext cx="3960440" cy="2376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548680"/>
            <a:ext cx="7990656" cy="6048672"/>
          </a:xfrm>
        </p:spPr>
        <p:txBody>
          <a:bodyPr/>
          <a:lstStyle/>
          <a:p>
            <a:r>
              <a:rPr lang="es-BO" b="1" dirty="0" smtClean="0">
                <a:solidFill>
                  <a:srgbClr val="00B0F0"/>
                </a:solidFill>
              </a:rPr>
              <a:t>PRUEBAS Y EXÁMENES</a:t>
            </a:r>
          </a:p>
          <a:p>
            <a:r>
              <a:rPr lang="es-BO" sz="3000" dirty="0" smtClean="0"/>
              <a:t>Un tacto rectal puede confirmar la presencia de un absceso anorrectal y se puede practicar una</a:t>
            </a:r>
          </a:p>
          <a:p>
            <a:r>
              <a:rPr lang="es-BO" sz="3000" dirty="0" smtClean="0"/>
              <a:t>Proctosigmoidoscopia para descartar otras enfermedades. </a:t>
            </a:r>
          </a:p>
          <a:p>
            <a:pPr>
              <a:buNone/>
            </a:pPr>
            <a:r>
              <a:rPr lang="es-BO" sz="3000" i="1" dirty="0" smtClean="0">
                <a:solidFill>
                  <a:schemeClr val="tx1">
                    <a:lumMod val="50000"/>
                  </a:schemeClr>
                </a:solidFill>
              </a:rPr>
              <a:t>En  ocasiones, se puede necesitar </a:t>
            </a:r>
          </a:p>
          <a:p>
            <a:pPr>
              <a:buBlip>
                <a:blip r:embed="rId2"/>
              </a:buBlip>
            </a:pPr>
            <a:r>
              <a:rPr lang="es-BO" sz="3000" dirty="0" smtClean="0"/>
              <a:t>tomografía computarizada</a:t>
            </a:r>
          </a:p>
          <a:p>
            <a:pPr>
              <a:buBlip>
                <a:blip r:embed="rId2"/>
              </a:buBlip>
            </a:pPr>
            <a:r>
              <a:rPr lang="es-BO" sz="3000" dirty="0" smtClean="0"/>
              <a:t>resonancia magnética </a:t>
            </a:r>
          </a:p>
          <a:p>
            <a:pPr>
              <a:buBlip>
                <a:blip r:embed="rId2"/>
              </a:buBlip>
            </a:pPr>
            <a:r>
              <a:rPr lang="es-BO" sz="3000" dirty="0" smtClean="0"/>
              <a:t>Ecografía para determinar dónde está localizada la acumulación de pus.</a:t>
            </a:r>
          </a:p>
          <a:p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85800" y="548680"/>
            <a:ext cx="7772400" cy="6048672"/>
          </a:xfrm>
        </p:spPr>
        <p:txBody>
          <a:bodyPr/>
          <a:lstStyle/>
          <a:p>
            <a:pPr algn="ctr">
              <a:buNone/>
            </a:pPr>
            <a:r>
              <a:rPr lang="es-BO" b="1" dirty="0" smtClean="0">
                <a:solidFill>
                  <a:schemeClr val="tx1">
                    <a:lumMod val="75000"/>
                  </a:schemeClr>
                </a:solidFill>
              </a:rPr>
              <a:t>TRATAMIENTO</a:t>
            </a:r>
          </a:p>
          <a:p>
            <a:pPr>
              <a:buBlip>
                <a:blip r:embed="rId2"/>
              </a:buBlip>
            </a:pPr>
            <a:r>
              <a:rPr lang="es-BO" dirty="0" smtClean="0"/>
              <a:t> El problema rara vez desaparece espontáneamente. Los antibióticos solos generalmente no pueden tratar el problema.</a:t>
            </a:r>
          </a:p>
          <a:p>
            <a:pPr>
              <a:buBlip>
                <a:blip r:embed="rId2"/>
              </a:buBlip>
            </a:pPr>
            <a:endParaRPr lang="es-BO" dirty="0" smtClean="0"/>
          </a:p>
          <a:p>
            <a:pPr>
              <a:buBlip>
                <a:blip r:embed="rId2"/>
              </a:buBlip>
            </a:pPr>
            <a:r>
              <a:rPr lang="es-BO" dirty="0" smtClean="0"/>
              <a:t>El tratamiento implica cirugía para abrir y drenar el absceso.</a:t>
            </a:r>
          </a:p>
          <a:p>
            <a:pPr>
              <a:buBlip>
                <a:blip r:embed="rId2"/>
              </a:buBlip>
            </a:pPr>
            <a:endParaRPr lang="es-BO" dirty="0" smtClean="0"/>
          </a:p>
          <a:p>
            <a:pPr>
              <a:buBlip>
                <a:blip r:embed="rId2"/>
              </a:buBlip>
            </a:pPr>
            <a:r>
              <a:rPr lang="es-BO" dirty="0" smtClean="0"/>
              <a:t>La cirugía se hace utilizando anestesia local, junto con sedación consciente o anestesia raquídea.</a:t>
            </a:r>
          </a:p>
          <a:p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95536" y="620688"/>
            <a:ext cx="8424936" cy="5904656"/>
          </a:xfrm>
        </p:spPr>
        <p:txBody>
          <a:bodyPr/>
          <a:lstStyle/>
          <a:p>
            <a:pPr lvl="0">
              <a:buFont typeface="Wingdings" pitchFamily="2" charset="2"/>
              <a:buChar char="Ø"/>
            </a:pPr>
            <a:r>
              <a:rPr lang="es-BO" sz="2800" dirty="0" smtClean="0"/>
              <a:t>La cirugía casi siempre es un procedimiento ambulatorio y el </a:t>
            </a:r>
            <a:r>
              <a:rPr lang="es-BO" sz="2800" dirty="0" err="1" smtClean="0"/>
              <a:t>pcte</a:t>
            </a:r>
            <a:r>
              <a:rPr lang="es-BO" sz="2800" dirty="0" smtClean="0"/>
              <a:t>. regresará a su casa el mismo día. El cirujano abrirá el absceso y drenará el pus.</a:t>
            </a:r>
          </a:p>
          <a:p>
            <a:pPr lvl="0">
              <a:buNone/>
            </a:pPr>
            <a:endParaRPr lang="es-BO" sz="2800" dirty="0" smtClean="0"/>
          </a:p>
          <a:p>
            <a:pPr lvl="0">
              <a:buFont typeface="Wingdings" pitchFamily="2" charset="2"/>
              <a:buChar char="Ø"/>
            </a:pPr>
            <a:r>
              <a:rPr lang="es-BO" sz="2800" dirty="0" smtClean="0"/>
              <a:t>Si la acumulación de pus es profunda, es posible que necesite permanecer en el hospital hasta que el absceso haya drenado por completo.</a:t>
            </a:r>
          </a:p>
          <a:p>
            <a:pPr lvl="0">
              <a:buFont typeface="Wingdings" pitchFamily="2" charset="2"/>
              <a:buChar char="Ø"/>
            </a:pPr>
            <a:endParaRPr lang="es-BO" sz="2800" dirty="0" smtClean="0"/>
          </a:p>
          <a:p>
            <a:pPr lvl="0">
              <a:buFont typeface="Wingdings" pitchFamily="2" charset="2"/>
              <a:buChar char="Ø"/>
            </a:pPr>
            <a:r>
              <a:rPr lang="es-BO" sz="2800" dirty="0" smtClean="0"/>
              <a:t>Después de la cirugía, necesitará baños de asiento tibios (sentarse en una tina con agua tibia). </a:t>
            </a:r>
            <a:r>
              <a:rPr lang="es-BO" sz="2800" smtClean="0"/>
              <a:t>Esto  </a:t>
            </a:r>
            <a:r>
              <a:rPr lang="es-BO" sz="2800" dirty="0" smtClean="0"/>
              <a:t>puede ayudar a aliviar el dolor, reducir la inflamación, al igual que hacer que el absceso sea más fácil de drenar.</a:t>
            </a:r>
            <a:endParaRPr lang="es-BO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1">
  <a:themeElements>
    <a:clrScheme name="Cintas 1">
      <a:dk1>
        <a:srgbClr val="220011"/>
      </a:dk1>
      <a:lt1>
        <a:srgbClr val="FFFFCC"/>
      </a:lt1>
      <a:dk2>
        <a:srgbClr val="660033"/>
      </a:dk2>
      <a:lt2>
        <a:srgbClr val="FFCC00"/>
      </a:lt2>
      <a:accent1>
        <a:srgbClr val="CC0099"/>
      </a:accent1>
      <a:accent2>
        <a:srgbClr val="56002B"/>
      </a:accent2>
      <a:accent3>
        <a:srgbClr val="B8AAAD"/>
      </a:accent3>
      <a:accent4>
        <a:srgbClr val="DADAAE"/>
      </a:accent4>
      <a:accent5>
        <a:srgbClr val="E2AACA"/>
      </a:accent5>
      <a:accent6>
        <a:srgbClr val="4D0026"/>
      </a:accent6>
      <a:hlink>
        <a:srgbClr val="9C004E"/>
      </a:hlink>
      <a:folHlink>
        <a:srgbClr val="FF6600"/>
      </a:folHlink>
    </a:clrScheme>
    <a:fontScheme name="Cintas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Cintas 1">
        <a:dk1>
          <a:srgbClr val="220011"/>
        </a:dk1>
        <a:lt1>
          <a:srgbClr val="FFFFCC"/>
        </a:lt1>
        <a:dk2>
          <a:srgbClr val="660033"/>
        </a:dk2>
        <a:lt2>
          <a:srgbClr val="FFCC00"/>
        </a:lt2>
        <a:accent1>
          <a:srgbClr val="CC0099"/>
        </a:accent1>
        <a:accent2>
          <a:srgbClr val="56002B"/>
        </a:accent2>
        <a:accent3>
          <a:srgbClr val="B8AAAD"/>
        </a:accent3>
        <a:accent4>
          <a:srgbClr val="DADAAE"/>
        </a:accent4>
        <a:accent5>
          <a:srgbClr val="E2AACA"/>
        </a:accent5>
        <a:accent6>
          <a:srgbClr val="4D0026"/>
        </a:accent6>
        <a:hlink>
          <a:srgbClr val="9C004E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intas 2">
        <a:dk1>
          <a:srgbClr val="001600"/>
        </a:dk1>
        <a:lt1>
          <a:srgbClr val="669900"/>
        </a:lt1>
        <a:dk2>
          <a:srgbClr val="000000"/>
        </a:dk2>
        <a:lt2>
          <a:srgbClr val="006600"/>
        </a:lt2>
        <a:accent1>
          <a:srgbClr val="336600"/>
        </a:accent1>
        <a:accent2>
          <a:srgbClr val="89BA00"/>
        </a:accent2>
        <a:accent3>
          <a:srgbClr val="B8CAAA"/>
        </a:accent3>
        <a:accent4>
          <a:srgbClr val="001100"/>
        </a:accent4>
        <a:accent5>
          <a:srgbClr val="ADB8AA"/>
        </a:accent5>
        <a:accent6>
          <a:srgbClr val="7CA800"/>
        </a:accent6>
        <a:hlink>
          <a:srgbClr val="FFCC00"/>
        </a:hlink>
        <a:folHlink>
          <a:srgbClr val="FF7C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intas 3">
        <a:dk1>
          <a:srgbClr val="000000"/>
        </a:dk1>
        <a:lt1>
          <a:srgbClr val="B2B2B2"/>
        </a:lt1>
        <a:dk2>
          <a:srgbClr val="000000"/>
        </a:dk2>
        <a:lt2>
          <a:srgbClr val="777777"/>
        </a:lt2>
        <a:accent1>
          <a:srgbClr val="CBCBCB"/>
        </a:accent1>
        <a:accent2>
          <a:srgbClr val="969696"/>
        </a:accent2>
        <a:accent3>
          <a:srgbClr val="D5D5D5"/>
        </a:accent3>
        <a:accent4>
          <a:srgbClr val="000000"/>
        </a:accent4>
        <a:accent5>
          <a:srgbClr val="E2E2E2"/>
        </a:accent5>
        <a:accent6>
          <a:srgbClr val="878787"/>
        </a:accent6>
        <a:hlink>
          <a:srgbClr val="333333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intas 4">
        <a:dk1>
          <a:srgbClr val="000F1E"/>
        </a:dk1>
        <a:lt1>
          <a:srgbClr val="FFFFFF"/>
        </a:lt1>
        <a:dk2>
          <a:srgbClr val="003366"/>
        </a:dk2>
        <a:lt2>
          <a:srgbClr val="33CCCC"/>
        </a:lt2>
        <a:accent1>
          <a:srgbClr val="006699"/>
        </a:accent1>
        <a:accent2>
          <a:srgbClr val="003366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2D5C"/>
        </a:accent6>
        <a:hlink>
          <a:srgbClr val="0099CC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intas 5">
        <a:dk1>
          <a:srgbClr val="002F2E"/>
        </a:dk1>
        <a:lt1>
          <a:srgbClr val="FFFFFF"/>
        </a:lt1>
        <a:dk2>
          <a:srgbClr val="008080"/>
        </a:dk2>
        <a:lt2>
          <a:srgbClr val="66FFCC"/>
        </a:lt2>
        <a:accent1>
          <a:srgbClr val="0099CC"/>
        </a:accent1>
        <a:accent2>
          <a:srgbClr val="005250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4948"/>
        </a:accent6>
        <a:hlink>
          <a:srgbClr val="00CC99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intas 6">
        <a:dk1>
          <a:srgbClr val="000022"/>
        </a:dk1>
        <a:lt1>
          <a:srgbClr val="FFFFFF"/>
        </a:lt1>
        <a:dk2>
          <a:srgbClr val="000066"/>
        </a:dk2>
        <a:lt2>
          <a:srgbClr val="FFCC00"/>
        </a:lt2>
        <a:accent1>
          <a:srgbClr val="666699"/>
        </a:accent1>
        <a:accent2>
          <a:srgbClr val="000048"/>
        </a:accent2>
        <a:accent3>
          <a:srgbClr val="AAAAB8"/>
        </a:accent3>
        <a:accent4>
          <a:srgbClr val="DADADA"/>
        </a:accent4>
        <a:accent5>
          <a:srgbClr val="B8B8CA"/>
        </a:accent5>
        <a:accent6>
          <a:srgbClr val="000040"/>
        </a:accent6>
        <a:hlink>
          <a:srgbClr val="9999FF"/>
        </a:hlink>
        <a:folHlink>
          <a:srgbClr val="00009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Tema1</Template>
  <TotalTime>330</TotalTime>
  <Words>258</Words>
  <Application>Microsoft Office PowerPoint</Application>
  <PresentationFormat>Presentación en pantalla (4:3)</PresentationFormat>
  <Paragraphs>65</Paragraphs>
  <Slides>10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Tema1</vt:lpstr>
      <vt:lpstr>Diapositiva 1</vt:lpstr>
      <vt:lpstr>Diapositiva 2</vt:lpstr>
      <vt:lpstr>Diapositiva 3</vt:lpstr>
      <vt:lpstr>Diapositiva 4</vt:lpstr>
      <vt:lpstr>Diapositiva 5</vt:lpstr>
      <vt:lpstr>Diapositiva 6</vt:lpstr>
      <vt:lpstr>Diapositiva 7</vt:lpstr>
      <vt:lpstr>Diapositiva 8</vt:lpstr>
      <vt:lpstr>Diapositiva 9</vt:lpstr>
      <vt:lpstr>Diapositiva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minedu</dc:creator>
  <cp:lastModifiedBy>ALSIE CONSULTORES</cp:lastModifiedBy>
  <cp:revision>44</cp:revision>
  <dcterms:created xsi:type="dcterms:W3CDTF">2014-05-31T16:10:07Z</dcterms:created>
  <dcterms:modified xsi:type="dcterms:W3CDTF">2014-05-31T15:13:42Z</dcterms:modified>
</cp:coreProperties>
</file>