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rawings/drawing2.xml" ContentType="application/vnd.openxmlformats-officedocument.drawingml.chartshapes+xml"/>
  <Override PartName="/ppt/charts/chart19.xml" ContentType="application/vnd.openxmlformats-officedocument.drawingml.char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charts/chart17.xml" ContentType="application/vnd.openxmlformats-officedocument.drawingml.char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1.xml" ContentType="application/vnd.openxmlformats-officedocument.drawingml.char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10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rawings/drawing1.xml" ContentType="application/vnd.openxmlformats-officedocument.drawingml.chartshapes+xml"/>
  <Override PartName="/ppt/charts/chart18.xml" ContentType="application/vnd.openxmlformats-officedocument.drawingml.char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charts/chart16.xml" ContentType="application/vnd.openxmlformats-officedocument.drawingml.char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ppt/charts/chart14.xml" ContentType="application/vnd.openxmlformats-officedocument.drawingml.char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3" r:id="rId16"/>
    <p:sldId id="274" r:id="rId17"/>
    <p:sldId id="272" r:id="rId18"/>
    <p:sldId id="275" r:id="rId19"/>
    <p:sldId id="276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Libro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Libro1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view3D>
      <c:perspective val="30"/>
    </c:view3D>
    <c:sideWall>
      <c:spPr>
        <a:noFill/>
        <a:ln w="25400">
          <a:noFill/>
        </a:ln>
      </c:spPr>
    </c:sideWall>
    <c:backWall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9.8571741032371027E-2"/>
          <c:y val="0.19862277631962663"/>
          <c:w val="0.84981474190726081"/>
          <c:h val="0.649104695246428"/>
        </c:manualLayout>
      </c:layout>
      <c:bar3DChart>
        <c:barDir val="col"/>
        <c:grouping val="standard"/>
        <c:ser>
          <c:idx val="0"/>
          <c:order val="0"/>
          <c:spPr>
            <a:gradFill rotWithShape="1">
              <a:gsLst>
                <a:gs pos="0">
                  <a:schemeClr val="accent4">
                    <a:tint val="50000"/>
                    <a:satMod val="300000"/>
                  </a:schemeClr>
                </a:gs>
                <a:gs pos="35000">
                  <a:schemeClr val="accent4">
                    <a:tint val="37000"/>
                    <a:satMod val="300000"/>
                  </a:schemeClr>
                </a:gs>
                <a:gs pos="100000">
                  <a:schemeClr val="accent4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4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No </a:t>
                    </a:r>
                  </a:p>
                  <a:p>
                    <a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85</a:t>
                    </a:r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Si </a:t>
                    </a:r>
                  </a:p>
                  <a:p>
                    <a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</a:rPr>
                      <a:t>15</a:t>
                    </a: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3200">
                    <a:solidFill>
                      <a:schemeClr val="accent4">
                        <a:lumMod val="50000"/>
                      </a:schemeClr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Hoja1!$B$2:$C$2</c:f>
              <c:numCache>
                <c:formatCode>General</c:formatCod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</c:ser>
        <c:dLbls>
          <c:showVal val="1"/>
        </c:dLbls>
        <c:shape val="box"/>
        <c:axId val="53393664"/>
        <c:axId val="53609600"/>
        <c:axId val="53502400"/>
      </c:bar3DChart>
      <c:catAx>
        <c:axId val="5339366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ES" sz="2800"/>
                </a:pPr>
                <a:r>
                  <a:rPr lang="en-US" sz="2800"/>
                  <a:t>Nº mujeres que conoce de algun colegio que no remitio a alguna alumna embarazada a un centro de salud para control prenatal</a:t>
                </a:r>
              </a:p>
            </c:rich>
          </c:tx>
          <c:layout>
            <c:manualLayout>
              <c:xMode val="edge"/>
              <c:yMode val="edge"/>
              <c:x val="8.7460629921259844E-2"/>
              <c:y val="2.0322980460776401E-3"/>
            </c:manualLayout>
          </c:layout>
        </c:title>
        <c:tickLblPos val="nextTo"/>
        <c:txPr>
          <a:bodyPr/>
          <a:lstStyle/>
          <a:p>
            <a:pPr>
              <a:defRPr lang="es-ES"/>
            </a:pPr>
            <a:endParaRPr lang="es-BO"/>
          </a:p>
        </c:txPr>
        <c:crossAx val="53609600"/>
        <c:crosses val="autoZero"/>
        <c:auto val="1"/>
        <c:lblAlgn val="ctr"/>
        <c:lblOffset val="100"/>
      </c:catAx>
      <c:valAx>
        <c:axId val="53609600"/>
        <c:scaling>
          <c:orientation val="minMax"/>
        </c:scaling>
        <c:delete val="1"/>
        <c:axPos val="l"/>
        <c:numFmt formatCode="General" sourceLinked="1"/>
        <c:tickLblPos val="nextTo"/>
        <c:crossAx val="53393664"/>
        <c:crosses val="autoZero"/>
        <c:crossBetween val="between"/>
      </c:valAx>
      <c:serAx>
        <c:axId val="53502400"/>
        <c:scaling>
          <c:orientation val="minMax"/>
        </c:scaling>
        <c:delete val="1"/>
        <c:axPos val="b"/>
        <c:tickLblPos val="nextTo"/>
        <c:crossAx val="53609600"/>
        <c:crosses val="autoZero"/>
      </c:serAx>
    </c:plotArea>
    <c:plotVisOnly val="1"/>
  </c:chart>
  <c:externalData r:id="rId1"/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200"/>
            </a:pPr>
            <a:r>
              <a:rPr lang="es-ES" sz="3200" dirty="0"/>
              <a:t>No conoce donde se presta servicios de salud especializada</a:t>
            </a:r>
            <a:r>
              <a:rPr lang="es-ES" sz="3200" baseline="0" dirty="0"/>
              <a:t> a adolescentes embarazadas</a:t>
            </a:r>
            <a:endParaRPr lang="es-ES" sz="3200" dirty="0"/>
          </a:p>
        </c:rich>
      </c:tx>
      <c:layout>
        <c:manualLayout>
          <c:xMode val="edge"/>
          <c:yMode val="edge"/>
          <c:x val="0.17096522309711301"/>
          <c:y val="3.9814814814814845E-2"/>
        </c:manualLayout>
      </c:layout>
    </c:title>
    <c:view3D>
      <c:rotX val="30"/>
      <c:perspective val="30"/>
    </c:view3D>
    <c:plotArea>
      <c:layout/>
      <c:pie3DChart>
        <c:varyColors val="1"/>
        <c:ser>
          <c:idx val="0"/>
          <c:order val="0"/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explosion val="25"/>
          <c:dLbls>
            <c:dLbl>
              <c:idx val="0"/>
              <c:layout>
                <c:manualLayout>
                  <c:x val="-6.8680832481549658E-2"/>
                  <c:y val="-0.23534852737950118"/>
                </c:manualLayout>
              </c:layout>
              <c:tx>
                <c:rich>
                  <a:bodyPr/>
                  <a:lstStyle/>
                  <a:p>
                    <a:r>
                      <a:rPr lang="en-US" sz="2000" dirty="0" smtClean="0">
                        <a:solidFill>
                          <a:schemeClr val="tx1"/>
                        </a:solidFill>
                      </a:rPr>
                      <a:t>No</a:t>
                    </a:r>
                    <a:r>
                      <a:rPr lang="en-US" sz="2000" dirty="0">
                        <a:solidFill>
                          <a:schemeClr val="tx1"/>
                        </a:solidFill>
                      </a:rPr>
                      <a:t>
80%</a:t>
                    </a:r>
                  </a:p>
                </c:rich>
              </c:tx>
              <c:showCatName val="1"/>
              <c:showPercent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z="2000" smtClean="0">
                        <a:solidFill>
                          <a:schemeClr val="tx1"/>
                        </a:solidFill>
                      </a:rPr>
                      <a:t>2Si</a:t>
                    </a:r>
                    <a:r>
                      <a:rPr lang="en-US" sz="2000" baseline="0" smtClean="0">
                        <a:solidFill>
                          <a:schemeClr val="tx1"/>
                        </a:solidFill>
                      </a:rPr>
                      <a:t> </a:t>
                    </a:r>
                  </a:p>
                  <a:p>
                    <a:r>
                      <a:rPr lang="en-US" sz="2000" smtClean="0">
                        <a:solidFill>
                          <a:schemeClr val="tx1"/>
                        </a:solidFill>
                      </a:rPr>
                      <a:t>20</a:t>
                    </a:r>
                    <a:r>
                      <a:rPr lang="en-US" sz="2000" dirty="0">
                        <a:solidFill>
                          <a:schemeClr val="tx1"/>
                        </a:solidFill>
                      </a:rPr>
                      <a:t>%</a:t>
                    </a:r>
                  </a:p>
                </c:rich>
              </c:tx>
              <c:showCatName val="1"/>
              <c:showPercent val="1"/>
            </c:dLbl>
            <c:txPr>
              <a:bodyPr/>
              <a:lstStyle/>
              <a:p>
                <a:pPr>
                  <a:defRPr lang="es-ES" sz="2000">
                    <a:solidFill>
                      <a:schemeClr val="tx1"/>
                    </a:solidFill>
                  </a:defRPr>
                </a:pPr>
                <a:endParaRPr lang="es-BO"/>
              </a:p>
            </c:txPr>
            <c:showCatName val="1"/>
            <c:showPercent val="1"/>
          </c:dLbls>
          <c:val>
            <c:numRef>
              <c:f>Hoja1!$B$3:$C$3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CatName val="1"/>
          <c:showPercent val="1"/>
        </c:dLbls>
      </c:pie3DChart>
    </c:plotArea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200"/>
            </a:pPr>
            <a:r>
              <a:rPr lang="es-ES" sz="3200" dirty="0"/>
              <a:t>Conoce de </a:t>
            </a:r>
            <a:r>
              <a:rPr lang="es-ES" sz="3200" dirty="0" smtClean="0"/>
              <a:t>algún </a:t>
            </a:r>
            <a:r>
              <a:rPr lang="es-ES" sz="3200" dirty="0"/>
              <a:t>colegio que no </a:t>
            </a:r>
            <a:r>
              <a:rPr lang="es-ES" sz="3200" dirty="0" smtClean="0"/>
              <a:t>compartió </a:t>
            </a:r>
            <a:r>
              <a:rPr lang="es-ES" sz="3200" dirty="0"/>
              <a:t>con los padres de familia</a:t>
            </a:r>
            <a:r>
              <a:rPr lang="es-ES" sz="3200" baseline="0" dirty="0"/>
              <a:t> la necesidad del control prenatal de alguna alumna embarazada</a:t>
            </a:r>
            <a:endParaRPr lang="es-ES" sz="3200" dirty="0"/>
          </a:p>
        </c:rich>
      </c:tx>
      <c:layout>
        <c:manualLayout>
          <c:xMode val="edge"/>
          <c:yMode val="edge"/>
          <c:x val="0.13048600174978128"/>
          <c:y val="0"/>
        </c:manualLayout>
      </c:layout>
    </c:title>
    <c:view3D>
      <c:perspective val="30"/>
    </c:view3D>
    <c:plotArea>
      <c:layout/>
      <c:bar3DChart>
        <c:barDir val="col"/>
        <c:grouping val="standard"/>
        <c:ser>
          <c:idx val="0"/>
          <c:order val="0"/>
          <c:spPr>
            <a:gradFill rotWithShape="1">
              <a:gsLst>
                <a:gs pos="0">
                  <a:schemeClr val="accent6">
                    <a:tint val="50000"/>
                    <a:satMod val="300000"/>
                  </a:schemeClr>
                </a:gs>
                <a:gs pos="3500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No</a:t>
                    </a:r>
                  </a:p>
                  <a:p>
                    <a:r>
                      <a:rPr lang="en-US" smtClean="0"/>
                      <a:t>80</a:t>
                    </a:r>
                    <a:endParaRPr lang="en-US"/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Si</a:t>
                    </a:r>
                  </a:p>
                  <a:p>
                    <a:r>
                      <a:rPr lang="en-US" smtClean="0"/>
                      <a:t>20</a:t>
                    </a:r>
                    <a:endParaRPr lang="en-US" dirty="0"/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2400">
                    <a:solidFill>
                      <a:srgbClr val="FF0000"/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Hoja1!$B$4:$C$4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Val val="1"/>
        </c:dLbls>
        <c:shape val="cylinder"/>
        <c:axId val="59950208"/>
        <c:axId val="59951744"/>
        <c:axId val="59781568"/>
      </c:bar3DChart>
      <c:catAx>
        <c:axId val="59950208"/>
        <c:scaling>
          <c:orientation val="minMax"/>
        </c:scaling>
        <c:delete val="1"/>
        <c:axPos val="b"/>
        <c:tickLblPos val="nextTo"/>
        <c:crossAx val="59951744"/>
        <c:crosses val="autoZero"/>
        <c:auto val="1"/>
        <c:lblAlgn val="ctr"/>
        <c:lblOffset val="100"/>
      </c:catAx>
      <c:valAx>
        <c:axId val="59951744"/>
        <c:scaling>
          <c:orientation val="minMax"/>
        </c:scaling>
        <c:delete val="1"/>
        <c:axPos val="l"/>
        <c:numFmt formatCode="General" sourceLinked="1"/>
        <c:tickLblPos val="nextTo"/>
        <c:crossAx val="59950208"/>
        <c:crosses val="autoZero"/>
        <c:crossBetween val="between"/>
      </c:valAx>
      <c:serAx>
        <c:axId val="59781568"/>
        <c:scaling>
          <c:orientation val="minMax"/>
        </c:scaling>
        <c:delete val="1"/>
        <c:axPos val="b"/>
        <c:tickLblPos val="nextTo"/>
        <c:crossAx val="59951744"/>
        <c:crosses val="autoZero"/>
      </c:serAx>
    </c:plotArea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/>
            </a:pPr>
            <a:r>
              <a:rPr lang="es-ES" sz="2800" dirty="0" smtClean="0"/>
              <a:t>Considera</a:t>
            </a:r>
            <a:r>
              <a:rPr lang="es-ES" sz="2800" baseline="0" dirty="0" smtClean="0"/>
              <a:t> </a:t>
            </a:r>
            <a:r>
              <a:rPr lang="es-ES" sz="2800" baseline="0" dirty="0"/>
              <a:t>que la incompatibilidad del tipo de sangre suyo y de su pareja no conllevan peligro para el bebé</a:t>
            </a:r>
            <a:endParaRPr lang="es-ES" sz="2800" dirty="0"/>
          </a:p>
        </c:rich>
      </c:tx>
      <c:layout/>
    </c:title>
    <c:view3D>
      <c:rotX val="30"/>
      <c:perspective val="30"/>
    </c:view3D>
    <c:plotArea>
      <c:layout/>
      <c:pie3DChart>
        <c:varyColors val="1"/>
        <c:ser>
          <c:idx val="0"/>
          <c:order val="0"/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explosion val="25"/>
          <c:dPt>
            <c:idx val="1"/>
            <c:spPr>
              <a:gradFill rotWithShape="1">
                <a:gsLst>
                  <a:gs pos="0">
                    <a:schemeClr val="accent3">
                      <a:tint val="50000"/>
                      <a:satMod val="300000"/>
                    </a:schemeClr>
                  </a:gs>
                  <a:gs pos="35000">
                    <a:schemeClr val="accent3">
                      <a:tint val="37000"/>
                      <a:satMod val="300000"/>
                    </a:schemeClr>
                  </a:gs>
                  <a:gs pos="100000">
                    <a:schemeClr val="accent3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3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2400">
                        <a:solidFill>
                          <a:schemeClr val="tx1"/>
                        </a:solidFill>
                      </a:rPr>
                      <a:t>No</a:t>
                    </a:r>
                    <a:r>
                      <a:rPr lang="en-US" sz="2400" baseline="0">
                        <a:solidFill>
                          <a:schemeClr val="tx1"/>
                        </a:solidFill>
                      </a:rPr>
                      <a:t> </a:t>
                    </a:r>
                  </a:p>
                  <a:p>
                    <a:r>
                      <a:rPr lang="en-US" sz="2400">
                        <a:solidFill>
                          <a:schemeClr val="tx1"/>
                        </a:solidFill>
                      </a:rPr>
                      <a:t>75%</a:t>
                    </a:r>
                  </a:p>
                </c:rich>
              </c:tx>
              <c:showCatName val="1"/>
              <c:showPercent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z="2400">
                        <a:solidFill>
                          <a:schemeClr val="tx1"/>
                        </a:solidFill>
                      </a:rPr>
                      <a:t>Si
25%</a:t>
                    </a:r>
                  </a:p>
                </c:rich>
              </c:tx>
              <c:showCatName val="1"/>
              <c:showPercent val="1"/>
            </c:dLbl>
            <c:txPr>
              <a:bodyPr/>
              <a:lstStyle/>
              <a:p>
                <a:pPr>
                  <a:defRPr lang="es-ES" sz="2400">
                    <a:solidFill>
                      <a:schemeClr val="tx1"/>
                    </a:solidFill>
                  </a:defRPr>
                </a:pPr>
                <a:endParaRPr lang="es-BO"/>
              </a:p>
            </c:txPr>
            <c:showCatName val="1"/>
            <c:showPercent val="1"/>
            <c:showLeaderLines val="1"/>
          </c:dLbls>
          <c:val>
            <c:numRef>
              <c:f>Hoja1!$B$5:$C$5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dLbls>
          <c:showCatName val="1"/>
          <c:showPercent val="1"/>
        </c:dLbls>
      </c:pie3DChart>
    </c:plotArea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600"/>
            </a:pPr>
            <a:r>
              <a:rPr lang="es-ES" sz="3600"/>
              <a:t>No identifica la etapa de fertilidad del hombre</a:t>
            </a:r>
          </a:p>
        </c:rich>
      </c:tx>
      <c:layout/>
    </c:title>
    <c:view3D>
      <c:perspective val="30"/>
    </c:view3D>
    <c:plotArea>
      <c:layout/>
      <c:bar3DChart>
        <c:barDir val="col"/>
        <c:grouping val="standard"/>
        <c:ser>
          <c:idx val="0"/>
          <c:order val="0"/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>
                        <a:solidFill>
                          <a:srgbClr val="0070C0"/>
                        </a:solidFill>
                      </a:rPr>
                      <a:t>No</a:t>
                    </a:r>
                  </a:p>
                  <a:p>
                    <a:r>
                      <a:rPr lang="en-US" smtClean="0">
                        <a:solidFill>
                          <a:srgbClr val="0070C0"/>
                        </a:solidFill>
                      </a:rPr>
                      <a:t>70</a:t>
                    </a:r>
                    <a:endParaRPr lang="en-US" dirty="0">
                      <a:solidFill>
                        <a:srgbClr val="0070C0"/>
                      </a:solidFill>
                    </a:endParaRPr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>
                        <a:solidFill>
                          <a:srgbClr val="0070C0"/>
                        </a:solidFill>
                      </a:rPr>
                      <a:t>Si</a:t>
                    </a:r>
                  </a:p>
                  <a:p>
                    <a:r>
                      <a:rPr lang="en-US" smtClean="0">
                        <a:solidFill>
                          <a:srgbClr val="0070C0"/>
                        </a:solidFill>
                      </a:rPr>
                      <a:t>30</a:t>
                    </a:r>
                    <a:endParaRPr lang="en-US">
                      <a:solidFill>
                        <a:srgbClr val="0070C0"/>
                      </a:solidFill>
                    </a:endParaRP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3600">
                    <a:solidFill>
                      <a:srgbClr val="0070C0"/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Hoja1!$B$6:$C$6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showVal val="1"/>
        </c:dLbls>
        <c:shape val="cylinder"/>
        <c:axId val="59259904"/>
        <c:axId val="59265792"/>
        <c:axId val="59784256"/>
      </c:bar3DChart>
      <c:catAx>
        <c:axId val="59259904"/>
        <c:scaling>
          <c:orientation val="minMax"/>
        </c:scaling>
        <c:delete val="1"/>
        <c:axPos val="b"/>
        <c:tickLblPos val="nextTo"/>
        <c:crossAx val="59265792"/>
        <c:crosses val="autoZero"/>
        <c:auto val="1"/>
        <c:lblAlgn val="ctr"/>
        <c:lblOffset val="100"/>
      </c:catAx>
      <c:valAx>
        <c:axId val="59265792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59259904"/>
        <c:crosses val="autoZero"/>
        <c:crossBetween val="between"/>
      </c:valAx>
      <c:serAx>
        <c:axId val="59784256"/>
        <c:scaling>
          <c:orientation val="minMax"/>
        </c:scaling>
        <c:delete val="1"/>
        <c:axPos val="b"/>
        <c:tickLblPos val="nextTo"/>
        <c:crossAx val="59265792"/>
        <c:crosses val="autoZero"/>
      </c:serAx>
    </c:plotArea>
    <c:plotVisOnly val="1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200"/>
            </a:pPr>
            <a:r>
              <a:rPr lang="es-ES" sz="3200" dirty="0" smtClean="0"/>
              <a:t>No </a:t>
            </a:r>
            <a:r>
              <a:rPr lang="es-ES" sz="3200" dirty="0"/>
              <a:t>se vacunó</a:t>
            </a:r>
            <a:r>
              <a:rPr lang="es-ES" sz="3200" baseline="0" dirty="0"/>
              <a:t> contra la hepatitis antes de su último embarazo</a:t>
            </a:r>
            <a:endParaRPr lang="es-ES" sz="3200" dirty="0"/>
          </a:p>
        </c:rich>
      </c:tx>
      <c:layout/>
    </c:title>
    <c:view3D>
      <c:perspective val="30"/>
    </c:view3D>
    <c:sideWall>
      <c:spPr>
        <a:noFill/>
        <a:ln w="25400">
          <a:noFill/>
        </a:ln>
      </c:spPr>
    </c:sideWall>
    <c:backWall>
      <c:spPr>
        <a:noFill/>
        <a:ln w="25400">
          <a:noFill/>
        </a:ln>
      </c:spPr>
    </c:backWall>
    <c:plotArea>
      <c:layout/>
      <c:bar3DChart>
        <c:barDir val="col"/>
        <c:grouping val="standard"/>
        <c:ser>
          <c:idx val="0"/>
          <c:order val="0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rPr>
                      <a:t>No </a:t>
                    </a:r>
                  </a:p>
                  <a:p>
                    <a:r>
                      <a:rPr lang="en-US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rPr>
                      <a:t>70</a:t>
                    </a:r>
                    <a:endParaRPr lang="en-US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a:endParaRPr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rPr>
                      <a:t>Si</a:t>
                    </a:r>
                  </a:p>
                  <a:p>
                    <a:r>
                      <a:rPr lang="en-US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rPr>
                      <a:t>30</a:t>
                    </a:r>
                    <a:endParaRPr lang="en-US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a:endParaRP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3600">
                    <a:solidFill>
                      <a:schemeClr val="accent4">
                        <a:lumMod val="60000"/>
                        <a:lumOff val="40000"/>
                      </a:schemeClr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Hoja1!$B$6:$C$6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showVal val="1"/>
        </c:dLbls>
        <c:shape val="cylinder"/>
        <c:axId val="59304192"/>
        <c:axId val="60178432"/>
        <c:axId val="60010944"/>
      </c:bar3DChart>
      <c:catAx>
        <c:axId val="59304192"/>
        <c:scaling>
          <c:orientation val="minMax"/>
        </c:scaling>
        <c:delete val="1"/>
        <c:axPos val="b"/>
        <c:tickLblPos val="nextTo"/>
        <c:crossAx val="60178432"/>
        <c:crosses val="autoZero"/>
        <c:auto val="1"/>
        <c:lblAlgn val="ctr"/>
        <c:lblOffset val="100"/>
      </c:catAx>
      <c:valAx>
        <c:axId val="60178432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59304192"/>
        <c:crosses val="autoZero"/>
        <c:crossBetween val="between"/>
      </c:valAx>
      <c:serAx>
        <c:axId val="60010944"/>
        <c:scaling>
          <c:orientation val="minMax"/>
        </c:scaling>
        <c:delete val="1"/>
        <c:axPos val="b"/>
        <c:tickLblPos val="nextTo"/>
        <c:crossAx val="60178432"/>
        <c:crosses val="autoZero"/>
      </c:serAx>
    </c:plotArea>
    <c:plotVisOnly val="1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200"/>
            </a:pPr>
            <a:r>
              <a:rPr lang="es-ES" sz="3200"/>
              <a:t>No conoce servicios de salud que se preocupan por hacer seguimiento a adolescentes embarazadas</a:t>
            </a:r>
          </a:p>
        </c:rich>
      </c:tx>
      <c:layout/>
    </c:title>
    <c:view3D>
      <c:perspective val="30"/>
    </c:view3D>
    <c:sideWall>
      <c:spPr>
        <a:noFill/>
        <a:ln w="25400">
          <a:noFill/>
        </a:ln>
      </c:spPr>
    </c:sideWall>
    <c:backWall>
      <c:spPr>
        <a:noFill/>
        <a:ln w="25400">
          <a:noFill/>
        </a:ln>
      </c:spPr>
    </c:backWall>
    <c:plotArea>
      <c:layout/>
      <c:bar3DChart>
        <c:barDir val="col"/>
        <c:grouping val="percentStacked"/>
        <c:ser>
          <c:idx val="0"/>
          <c:order val="0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dLbl>
              <c:idx val="0"/>
              <c:layout>
                <c:manualLayout>
                  <c:x val="1.5277777777777781E-2"/>
                  <c:y val="0.12173872292564895"/>
                </c:manualLayout>
              </c:layout>
              <c:tx>
                <c:rich>
                  <a:bodyPr/>
                  <a:lstStyle/>
                  <a:p>
                    <a:r>
                      <a:rPr lang="en-US" sz="2400">
                        <a:solidFill>
                          <a:srgbClr val="FFFF00"/>
                        </a:solidFill>
                      </a:rPr>
                      <a:t>No </a:t>
                    </a:r>
                  </a:p>
                  <a:p>
                    <a:r>
                      <a:rPr lang="en-US" sz="2400">
                        <a:solidFill>
                          <a:srgbClr val="FFFF00"/>
                        </a:solidFill>
                      </a:rPr>
                      <a:t>65</a:t>
                    </a:r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z="2400">
                        <a:solidFill>
                          <a:srgbClr val="FFFF00"/>
                        </a:solidFill>
                      </a:rPr>
                      <a:t>Si</a:t>
                    </a:r>
                  </a:p>
                  <a:p>
                    <a:r>
                      <a:rPr lang="en-US" sz="2400">
                        <a:solidFill>
                          <a:srgbClr val="FFFF00"/>
                        </a:solidFill>
                      </a:rPr>
                      <a:t>35</a:t>
                    </a: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2400">
                    <a:solidFill>
                      <a:srgbClr val="FFFF00"/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Hoja1!$B$8:$C$8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dLbls>
          <c:showVal val="1"/>
        </c:dLbls>
        <c:shape val="pyramid"/>
        <c:axId val="60200448"/>
        <c:axId val="60201984"/>
        <c:axId val="0"/>
      </c:bar3DChart>
      <c:catAx>
        <c:axId val="60200448"/>
        <c:scaling>
          <c:orientation val="minMax"/>
        </c:scaling>
        <c:delete val="1"/>
        <c:axPos val="b"/>
        <c:majorTickMark val="none"/>
        <c:tickLblPos val="nextTo"/>
        <c:crossAx val="60201984"/>
        <c:crosses val="autoZero"/>
        <c:auto val="1"/>
        <c:lblAlgn val="ctr"/>
        <c:lblOffset val="100"/>
      </c:catAx>
      <c:valAx>
        <c:axId val="60201984"/>
        <c:scaling>
          <c:orientation val="minMax"/>
        </c:scaling>
        <c:delete val="1"/>
        <c:axPos val="l"/>
        <c:numFmt formatCode="0%" sourceLinked="1"/>
        <c:majorTickMark val="none"/>
        <c:tickLblPos val="nextTo"/>
        <c:crossAx val="60200448"/>
        <c:crosses val="autoZero"/>
        <c:crossBetween val="between"/>
      </c:valAx>
    </c:plotArea>
    <c:plotVisOnly val="1"/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600"/>
            </a:pPr>
            <a:r>
              <a:rPr lang="es-ES" sz="3600"/>
              <a:t>No ha hablado</a:t>
            </a:r>
            <a:r>
              <a:rPr lang="es-ES" sz="3600" baseline="0"/>
              <a:t> con un servicio de salud sobre el peligro de las ITS</a:t>
            </a:r>
            <a:endParaRPr lang="es-ES" sz="3600"/>
          </a:p>
        </c:rich>
      </c:tx>
      <c:layout/>
    </c:title>
    <c:view3D>
      <c:rAngAx val="1"/>
    </c:view3D>
    <c:sideWall>
      <c:spPr>
        <a:noFill/>
        <a:ln w="25400">
          <a:noFill/>
        </a:ln>
      </c:spPr>
    </c:sideWall>
    <c:backWall>
      <c:spPr>
        <a:noFill/>
        <a:ln w="25400">
          <a:noFill/>
        </a:ln>
      </c:spPr>
    </c:backWall>
    <c:plotArea>
      <c:layout/>
      <c:bar3DChart>
        <c:barDir val="col"/>
        <c:grouping val="clustered"/>
        <c:ser>
          <c:idx val="0"/>
          <c:order val="0"/>
          <c:dPt>
            <c:idx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1.3888888888888909E-3"/>
                  <c:y val="0.31481481481481544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No</a:t>
                    </a:r>
                  </a:p>
                  <a:p>
                    <a:r>
                      <a:rPr lang="en-US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60</a:t>
                    </a:r>
                    <a:endParaRPr lang="en-US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c:rich>
              </c:tx>
              <c:showVal val="1"/>
            </c:dLbl>
            <c:dLbl>
              <c:idx val="1"/>
              <c:layout>
                <c:manualLayout>
                  <c:x val="0"/>
                  <c:y val="0.24814814814814828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Si</a:t>
                    </a:r>
                  </a:p>
                  <a:p>
                    <a:r>
                      <a:rPr lang="en-US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40</a:t>
                    </a:r>
                    <a:endParaRPr lang="en-US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3600">
                    <a:solidFill>
                      <a:schemeClr val="accent2">
                        <a:lumMod val="60000"/>
                        <a:lumOff val="40000"/>
                      </a:schemeClr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Hoja1!$B$10:$C$10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showVal val="1"/>
        </c:dLbls>
        <c:shape val="box"/>
        <c:axId val="60121088"/>
        <c:axId val="60122624"/>
        <c:axId val="0"/>
      </c:bar3DChart>
      <c:catAx>
        <c:axId val="60121088"/>
        <c:scaling>
          <c:orientation val="minMax"/>
        </c:scaling>
        <c:delete val="1"/>
        <c:axPos val="b"/>
        <c:tickLblPos val="nextTo"/>
        <c:crossAx val="60122624"/>
        <c:crosses val="autoZero"/>
        <c:auto val="1"/>
        <c:lblAlgn val="ctr"/>
        <c:lblOffset val="100"/>
      </c:catAx>
      <c:valAx>
        <c:axId val="60122624"/>
        <c:scaling>
          <c:orientation val="minMax"/>
        </c:scaling>
        <c:delete val="1"/>
        <c:axPos val="l"/>
        <c:numFmt formatCode="General" sourceLinked="1"/>
        <c:tickLblPos val="nextTo"/>
        <c:crossAx val="60121088"/>
        <c:crosses val="autoZero"/>
        <c:crossBetween val="between"/>
      </c:valAx>
    </c:plotArea>
    <c:plotVisOnly val="1"/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/>
            </a:pPr>
            <a:r>
              <a:rPr lang="es-ES" sz="3200" dirty="0" smtClean="0"/>
              <a:t>Considera </a:t>
            </a:r>
            <a:r>
              <a:rPr lang="es-ES" sz="3200" dirty="0"/>
              <a:t>que los servicios</a:t>
            </a:r>
            <a:r>
              <a:rPr lang="es-ES" sz="3200" baseline="0" dirty="0"/>
              <a:t> de salud no realizan seguimiento a embarazadas de alto riesgo</a:t>
            </a:r>
            <a:endParaRPr lang="es-ES" sz="3200" dirty="0"/>
          </a:p>
        </c:rich>
      </c:tx>
      <c:layout/>
    </c:title>
    <c:view3D>
      <c:rotX val="30"/>
      <c:perspective val="30"/>
    </c:view3D>
    <c:plotArea>
      <c:layout>
        <c:manualLayout>
          <c:layoutTarget val="inner"/>
          <c:xMode val="edge"/>
          <c:yMode val="edge"/>
          <c:x val="0.10138888888888888"/>
          <c:y val="0.29110192475940527"/>
          <c:w val="0.73750000000000004"/>
          <c:h val="0.55149066783318812"/>
        </c:manualLayout>
      </c:layout>
      <c:pie3DChart>
        <c:varyColors val="1"/>
        <c:ser>
          <c:idx val="0"/>
          <c:order val="0"/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Pt>
            <c:idx val="0"/>
            <c:spPr>
              <a:solidFill>
                <a:schemeClr val="accent4"/>
              </a:solidFill>
              <a:ln w="25400" cap="flat" cmpd="sng" algn="ctr">
                <a:solidFill>
                  <a:schemeClr val="accent4">
                    <a:shade val="50000"/>
                  </a:schemeClr>
                </a:solidFill>
                <a:prstDash val="solid"/>
              </a:ln>
              <a:effectLst/>
            </c:spPr>
          </c:dPt>
          <c:dPt>
            <c:idx val="1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4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No</a:t>
                    </a:r>
                  </a:p>
                  <a:p>
                    <a:r>
                      <a:rPr lang="en-US" smtClean="0"/>
                      <a:t>60</a:t>
                    </a:r>
                    <a:endParaRPr lang="en-US" dirty="0"/>
                  </a:p>
                </c:rich>
              </c:tx>
              <c:dLblPos val="ctr"/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Si</a:t>
                    </a:r>
                  </a:p>
                  <a:p>
                    <a:r>
                      <a:rPr lang="en-US" smtClean="0"/>
                      <a:t>40</a:t>
                    </a:r>
                    <a:endParaRPr lang="en-US"/>
                  </a:p>
                </c:rich>
              </c:tx>
              <c:dLblPos val="ctr"/>
              <c:showVal val="1"/>
            </c:dLbl>
            <c:txPr>
              <a:bodyPr/>
              <a:lstStyle/>
              <a:p>
                <a:pPr>
                  <a:defRPr lang="es-ES" sz="4000">
                    <a:solidFill>
                      <a:schemeClr val="accent4">
                        <a:lumMod val="20000"/>
                        <a:lumOff val="80000"/>
                      </a:schemeClr>
                    </a:solidFill>
                  </a:defRPr>
                </a:pPr>
                <a:endParaRPr lang="es-BO"/>
              </a:p>
            </c:txPr>
            <c:dLblPos val="ctr"/>
            <c:showVal val="1"/>
          </c:dLbls>
          <c:val>
            <c:numRef>
              <c:f>Hoja1!$B$11:$C$11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showVal val="1"/>
        </c:dLbls>
      </c:pie3DChart>
    </c:plotArea>
    <c:plotVisOnly val="1"/>
  </c:chart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/>
            </a:pPr>
            <a:r>
              <a:rPr lang="es-ES" sz="4400" dirty="0"/>
              <a:t>Desconoce su tipo de sangre</a:t>
            </a:r>
          </a:p>
        </c:rich>
      </c:tx>
      <c:layout>
        <c:manualLayout>
          <c:xMode val="edge"/>
          <c:yMode val="edge"/>
          <c:x val="0.11779855643044622"/>
          <c:y val="6.1111111111111123E-2"/>
        </c:manualLayout>
      </c:layout>
    </c:title>
    <c:view3D>
      <c:rotX val="30"/>
      <c:perspective val="30"/>
    </c:view3D>
    <c:plotArea>
      <c:layout>
        <c:manualLayout>
          <c:layoutTarget val="inner"/>
          <c:xMode val="edge"/>
          <c:yMode val="edge"/>
          <c:x val="4.5833333333333406E-2"/>
          <c:y val="0.21747710702828821"/>
          <c:w val="0.90833333333333333"/>
          <c:h val="0.73159703995333913"/>
        </c:manualLayout>
      </c:layout>
      <c:pie3DChart>
        <c:varyColors val="1"/>
        <c:ser>
          <c:idx val="0"/>
          <c:order val="0"/>
          <c:dPt>
            <c:idx val="0"/>
            <c:spPr>
              <a:solidFill>
                <a:schemeClr val="accent3"/>
              </a:solidFill>
              <a:ln w="38100" cap="flat" cmpd="sng" algn="ctr">
                <a:solidFill>
                  <a:schemeClr val="lt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1"/>
            <c:spPr>
              <a:gradFill rotWithShape="1">
                <a:gsLst>
                  <a:gs pos="0">
                    <a:schemeClr val="accent3">
                      <a:tint val="50000"/>
                      <a:satMod val="300000"/>
                    </a:schemeClr>
                  </a:gs>
                  <a:gs pos="35000">
                    <a:schemeClr val="accent3">
                      <a:tint val="37000"/>
                      <a:satMod val="300000"/>
                    </a:schemeClr>
                  </a:gs>
                  <a:gs pos="100000">
                    <a:schemeClr val="accent3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3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txPr>
              <a:bodyPr/>
              <a:lstStyle/>
              <a:p>
                <a:pPr>
                  <a:defRPr lang="es-ES" sz="4000"/>
                </a:pPr>
                <a:endParaRPr lang="es-BO"/>
              </a:p>
            </c:txPr>
            <c:dLblPos val="ctr"/>
            <c:showVal val="1"/>
          </c:dLbls>
          <c:val>
            <c:numRef>
              <c:f>Hoja1!$B$12:$C$12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dLbls>
          <c:showVal val="1"/>
        </c:dLbls>
      </c:pie3DChart>
    </c:plotArea>
    <c:plotVisOnly val="1"/>
  </c:chart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4000"/>
            </a:pPr>
            <a:r>
              <a:rPr lang="es-ES" sz="4000"/>
              <a:t>Ha tomado medicamentos por retraso menstrual</a:t>
            </a:r>
          </a:p>
        </c:rich>
      </c:tx>
      <c:layout/>
    </c:title>
    <c:view3D>
      <c:rotX val="30"/>
      <c:perspective val="100"/>
    </c:view3D>
    <c:plotArea>
      <c:layout>
        <c:manualLayout>
          <c:layoutTarget val="inner"/>
          <c:xMode val="edge"/>
          <c:yMode val="edge"/>
          <c:x val="3.0555555555555579E-2"/>
          <c:y val="0.21747703412073513"/>
          <c:w val="0.90833333333333333"/>
          <c:h val="0.73159703995333913"/>
        </c:manualLayout>
      </c:layout>
      <c:pie3DChart>
        <c:varyColors val="1"/>
        <c:ser>
          <c:idx val="0"/>
          <c:order val="0"/>
          <c:spPr>
            <a:gradFill rotWithShape="1">
              <a:gsLst>
                <a:gs pos="0">
                  <a:schemeClr val="accent5">
                    <a:tint val="50000"/>
                    <a:satMod val="300000"/>
                  </a:schemeClr>
                </a:gs>
                <a:gs pos="35000">
                  <a:schemeClr val="accent5">
                    <a:tint val="37000"/>
                    <a:satMod val="300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5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dPt>
            <c:idx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5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txPr>
              <a:bodyPr/>
              <a:lstStyle/>
              <a:p>
                <a:pPr>
                  <a:defRPr lang="es-ES" sz="4000"/>
                </a:pPr>
                <a:endParaRPr lang="es-BO"/>
              </a:p>
            </c:txPr>
            <c:dLblPos val="ctr"/>
            <c:showVal val="1"/>
          </c:dLbls>
          <c:val>
            <c:numRef>
              <c:f>Hoja1!$B$15:$C$15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showVal val="1"/>
        </c:dLbls>
      </c:pie3DChart>
    </c:plotArea>
    <c:plotVisOnly val="1"/>
  </c:chart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600"/>
            </a:pPr>
            <a:r>
              <a:rPr lang="es-ES" sz="3600"/>
              <a:t>Cree</a:t>
            </a:r>
            <a:r>
              <a:rPr lang="es-ES" sz="3600" baseline="0"/>
              <a:t> que un bebé no tiene riesgos cuando nace de menos de 2.5 Kg</a:t>
            </a:r>
            <a:endParaRPr lang="es-ES" sz="3600"/>
          </a:p>
        </c:rich>
      </c:tx>
      <c:layout/>
    </c:title>
    <c:view3D>
      <c:rotX val="30"/>
      <c:perspective val="30"/>
    </c:view3D>
    <c:plotArea>
      <c:layout>
        <c:manualLayout>
          <c:layoutTarget val="inner"/>
          <c:xMode val="edge"/>
          <c:yMode val="edge"/>
          <c:x val="3.0555555555555579E-2"/>
          <c:y val="0.21747703412073513"/>
          <c:w val="0.90833333333333333"/>
          <c:h val="0.73159703995333913"/>
        </c:manualLayout>
      </c:layout>
      <c:bar3DChart>
        <c:barDir val="col"/>
        <c:grouping val="percentStacked"/>
        <c:ser>
          <c:idx val="0"/>
          <c:order val="0"/>
          <c:dPt>
            <c:idx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spPr>
              <a:gradFill rotWithShape="1">
                <a:gsLst>
                  <a:gs pos="0">
                    <a:schemeClr val="accent6">
                      <a:tint val="50000"/>
                      <a:satMod val="300000"/>
                    </a:schemeClr>
                  </a:gs>
                  <a:gs pos="35000">
                    <a:schemeClr val="accent6">
                      <a:tint val="37000"/>
                      <a:satMod val="300000"/>
                    </a:schemeClr>
                  </a:gs>
                  <a:gs pos="100000">
                    <a:schemeClr val="accent6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txPr>
              <a:bodyPr/>
              <a:lstStyle/>
              <a:p>
                <a:pPr>
                  <a:defRPr lang="es-ES" sz="2800"/>
                </a:pPr>
                <a:endParaRPr lang="es-BO"/>
              </a:p>
            </c:txPr>
            <c:showVal val="1"/>
          </c:dLbls>
          <c:val>
            <c:numRef>
              <c:f>Hoja1!$B$15:$C$15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shape val="cylinder"/>
        <c:axId val="61487744"/>
        <c:axId val="61493632"/>
        <c:axId val="0"/>
      </c:bar3DChart>
      <c:catAx>
        <c:axId val="61487744"/>
        <c:scaling>
          <c:orientation val="minMax"/>
        </c:scaling>
        <c:delete val="1"/>
        <c:axPos val="b"/>
        <c:tickLblPos val="nextTo"/>
        <c:crossAx val="61493632"/>
        <c:crosses val="autoZero"/>
        <c:auto val="1"/>
        <c:lblAlgn val="ctr"/>
        <c:lblOffset val="100"/>
      </c:catAx>
      <c:valAx>
        <c:axId val="61493632"/>
        <c:scaling>
          <c:orientation val="minMax"/>
        </c:scaling>
        <c:delete val="1"/>
        <c:axPos val="l"/>
        <c:numFmt formatCode="0%" sourceLinked="1"/>
        <c:tickLblPos val="nextTo"/>
        <c:crossAx val="61487744"/>
        <c:crosses val="autoZero"/>
        <c:crossBetween val="between"/>
      </c:valAx>
    </c:plotArea>
    <c:plotVisOnly val="1"/>
  </c:chart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600"/>
            </a:pPr>
            <a:r>
              <a:rPr lang="es-ES" sz="3600"/>
              <a:t>Cuya pareja no asistio a controles en el último</a:t>
            </a:r>
            <a:r>
              <a:rPr lang="es-ES" sz="3600" baseline="0"/>
              <a:t> embarazo</a:t>
            </a:r>
            <a:endParaRPr lang="es-ES" sz="3600"/>
          </a:p>
        </c:rich>
      </c:tx>
      <c:layout/>
    </c:title>
    <c:view3D>
      <c:rotX val="30"/>
      <c:perspective val="30"/>
    </c:view3D>
    <c:plotArea>
      <c:layout>
        <c:manualLayout>
          <c:layoutTarget val="inner"/>
          <c:xMode val="edge"/>
          <c:yMode val="edge"/>
          <c:x val="3.0555555555555579E-2"/>
          <c:y val="0.21747703412073513"/>
          <c:w val="0.90833333333333333"/>
          <c:h val="0.73159703995333913"/>
        </c:manualLayout>
      </c:layout>
      <c:bar3DChart>
        <c:barDir val="col"/>
        <c:grouping val="clustered"/>
        <c:ser>
          <c:idx val="0"/>
          <c:order val="0"/>
          <c:spPr>
            <a:gradFill rotWithShape="1">
              <a:gsLst>
                <a:gs pos="0">
                  <a:schemeClr val="accent4">
                    <a:tint val="50000"/>
                    <a:satMod val="300000"/>
                  </a:schemeClr>
                </a:gs>
                <a:gs pos="35000">
                  <a:schemeClr val="accent4">
                    <a:tint val="37000"/>
                    <a:satMod val="300000"/>
                  </a:schemeClr>
                </a:gs>
                <a:gs pos="100000">
                  <a:schemeClr val="accent4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4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a:t>No </a:t>
                    </a:r>
                  </a:p>
                  <a:p>
                    <a:r>
                      <a:rPr lang="en-US" smtClean="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a:t>100</a:t>
                    </a:r>
                    <a:endParaRPr lang="en-US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a:t>Si</a:t>
                    </a:r>
                  </a:p>
                  <a:p>
                    <a:r>
                      <a:rPr lang="en-US" smtClean="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a:t>0</a:t>
                    </a:r>
                    <a:endParaRPr lang="en-US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3600">
                    <a:solidFill>
                      <a:schemeClr val="accent5">
                        <a:lumMod val="75000"/>
                      </a:schemeClr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Hoja1!$F$2:$G$2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shape val="cone"/>
        <c:axId val="61518592"/>
        <c:axId val="61520128"/>
        <c:axId val="0"/>
      </c:bar3DChart>
      <c:catAx>
        <c:axId val="61518592"/>
        <c:scaling>
          <c:orientation val="minMax"/>
        </c:scaling>
        <c:delete val="1"/>
        <c:axPos val="b"/>
        <c:tickLblPos val="nextTo"/>
        <c:crossAx val="61520128"/>
        <c:crosses val="autoZero"/>
        <c:auto val="1"/>
        <c:lblAlgn val="ctr"/>
        <c:lblOffset val="100"/>
      </c:catAx>
      <c:valAx>
        <c:axId val="61520128"/>
        <c:scaling>
          <c:orientation val="minMax"/>
        </c:scaling>
        <c:delete val="1"/>
        <c:axPos val="l"/>
        <c:numFmt formatCode="General" sourceLinked="1"/>
        <c:tickLblPos val="nextTo"/>
        <c:crossAx val="61518592"/>
        <c:crosses val="autoZero"/>
        <c:crossBetween val="between"/>
      </c:valAx>
    </c:plotArea>
    <c:plotVisOnly val="1"/>
  </c:chart>
  <c:externalData r:id="rId1"/>
  <c:userShapes r:id="rId2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600"/>
            </a:pPr>
            <a:r>
              <a:rPr lang="es-ES" sz="3600" dirty="0" smtClean="0"/>
              <a:t>Considera </a:t>
            </a:r>
            <a:r>
              <a:rPr lang="es-ES" sz="3600" dirty="0"/>
              <a:t>que la buena </a:t>
            </a:r>
            <a:r>
              <a:rPr lang="es-ES" sz="3600" dirty="0" smtClean="0"/>
              <a:t>alimentación </a:t>
            </a:r>
            <a:r>
              <a:rPr lang="es-ES" sz="3600" dirty="0"/>
              <a:t>de su pareja antes y durante el embarazo no es importante para el bebé</a:t>
            </a:r>
          </a:p>
        </c:rich>
      </c:tx>
      <c:layout>
        <c:manualLayout>
          <c:xMode val="edge"/>
          <c:yMode val="edge"/>
          <c:x val="0.13248195538057742"/>
          <c:y val="0"/>
        </c:manualLayout>
      </c:layout>
    </c:title>
    <c:view3D>
      <c:rotX val="30"/>
      <c:perspective val="30"/>
    </c:view3D>
    <c:plotArea>
      <c:layout>
        <c:manualLayout>
          <c:layoutTarget val="inner"/>
          <c:xMode val="edge"/>
          <c:yMode val="edge"/>
          <c:x val="3.0555555555555579E-2"/>
          <c:y val="0.21747703412073513"/>
          <c:w val="0.90833333333333333"/>
          <c:h val="0.73159703995333913"/>
        </c:manualLayout>
      </c:layout>
      <c:bar3DChart>
        <c:barDir val="col"/>
        <c:grouping val="standard"/>
        <c:ser>
          <c:idx val="0"/>
          <c:order val="0"/>
          <c:dPt>
            <c:idx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3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spPr>
              <a:gradFill rotWithShape="1">
                <a:gsLst>
                  <a:gs pos="0">
                    <a:schemeClr val="accent3">
                      <a:tint val="50000"/>
                      <a:satMod val="300000"/>
                    </a:schemeClr>
                  </a:gs>
                  <a:gs pos="35000">
                    <a:schemeClr val="accent3">
                      <a:tint val="37000"/>
                      <a:satMod val="300000"/>
                    </a:schemeClr>
                  </a:gs>
                  <a:gs pos="100000">
                    <a:schemeClr val="accent3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3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No</a:t>
                    </a:r>
                  </a:p>
                  <a:p>
                    <a:r>
                      <a:rPr lang="en-US" smtClean="0"/>
                      <a:t>100</a:t>
                    </a:r>
                    <a:endParaRPr lang="en-US"/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3600"/>
                </a:pPr>
                <a:endParaRPr lang="es-BO"/>
              </a:p>
            </c:txPr>
            <c:showVal val="1"/>
          </c:dLbls>
          <c:val>
            <c:numRef>
              <c:f>Hoja1!$F$3:$G$3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shape val="pyramid"/>
        <c:axId val="63008128"/>
        <c:axId val="61592704"/>
        <c:axId val="10157568"/>
      </c:bar3DChart>
      <c:catAx>
        <c:axId val="63008128"/>
        <c:scaling>
          <c:orientation val="minMax"/>
        </c:scaling>
        <c:delete val="1"/>
        <c:axPos val="b"/>
        <c:tickLblPos val="nextTo"/>
        <c:crossAx val="61592704"/>
        <c:crosses val="autoZero"/>
        <c:auto val="1"/>
        <c:lblAlgn val="ctr"/>
        <c:lblOffset val="100"/>
      </c:catAx>
      <c:valAx>
        <c:axId val="61592704"/>
        <c:scaling>
          <c:orientation val="minMax"/>
        </c:scaling>
        <c:delete val="1"/>
        <c:axPos val="l"/>
        <c:numFmt formatCode="General" sourceLinked="1"/>
        <c:tickLblPos val="nextTo"/>
        <c:crossAx val="63008128"/>
        <c:crosses val="autoZero"/>
        <c:crossBetween val="between"/>
      </c:valAx>
      <c:serAx>
        <c:axId val="10157568"/>
        <c:scaling>
          <c:orientation val="minMax"/>
        </c:scaling>
        <c:delete val="1"/>
        <c:axPos val="b"/>
        <c:tickLblPos val="nextTo"/>
        <c:crossAx val="61592704"/>
        <c:crosses val="autoZero"/>
      </c:serAx>
    </c:plotArea>
    <c:plotVisOnly val="1"/>
  </c:chart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 algn="ctr">
              <a:defRPr lang="es-ES" sz="3600"/>
            </a:pPr>
            <a:r>
              <a:rPr lang="es-ES" sz="3600"/>
              <a:t>Considera que frente al sangrado en los ultimos tres meses de embarazo no es necesario acudir al servicio de salud</a:t>
            </a:r>
          </a:p>
        </c:rich>
      </c:tx>
      <c:layout>
        <c:manualLayout>
          <c:xMode val="edge"/>
          <c:yMode val="edge"/>
          <c:x val="3.8037552998182921E-2"/>
          <c:y val="2.7777777777777842E-2"/>
        </c:manualLayout>
      </c:layout>
    </c:title>
    <c:view3D>
      <c:rotX val="60"/>
      <c:perspective val="30"/>
    </c:view3D>
    <c:plotArea>
      <c:layout>
        <c:manualLayout>
          <c:layoutTarget val="inner"/>
          <c:xMode val="edge"/>
          <c:yMode val="edge"/>
          <c:x val="3.0555555555555579E-2"/>
          <c:y val="0.21747703412073513"/>
          <c:w val="0.90833333333333333"/>
          <c:h val="0.73159703995333913"/>
        </c:manualLayout>
      </c:layout>
      <c:bar3DChart>
        <c:barDir val="col"/>
        <c:grouping val="clustered"/>
        <c:ser>
          <c:idx val="0"/>
          <c:order val="0"/>
          <c:dPt>
            <c:idx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5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spPr>
              <a:solidFill>
                <a:schemeClr val="accent5"/>
              </a:solidFill>
              <a:ln w="38100" cap="flat" cmpd="sng" algn="ctr">
                <a:solidFill>
                  <a:schemeClr val="lt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>
                        <a:solidFill>
                          <a:schemeClr val="bg1"/>
                        </a:solidFill>
                      </a:rPr>
                      <a:t>No </a:t>
                    </a:r>
                  </a:p>
                  <a:p>
                    <a:r>
                      <a:rPr lang="en-US" smtClean="0">
                        <a:solidFill>
                          <a:schemeClr val="bg1"/>
                        </a:solidFill>
                      </a:rPr>
                      <a:t>100</a:t>
                    </a:r>
                    <a:endParaRPr lang="en-US">
                      <a:solidFill>
                        <a:schemeClr val="bg1"/>
                      </a:solidFill>
                    </a:endParaRP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2400">
                    <a:solidFill>
                      <a:schemeClr val="bg1"/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Hoja1!$F$3:$G$3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shape val="box"/>
        <c:axId val="63108224"/>
        <c:axId val="63106432"/>
        <c:axId val="0"/>
      </c:bar3DChart>
      <c:valAx>
        <c:axId val="63106432"/>
        <c:scaling>
          <c:orientation val="minMax"/>
        </c:scaling>
        <c:delete val="1"/>
        <c:axPos val="l"/>
        <c:numFmt formatCode="General" sourceLinked="1"/>
        <c:tickLblPos val="nextTo"/>
        <c:crossAx val="63108224"/>
        <c:crosses val="autoZero"/>
        <c:crossBetween val="between"/>
      </c:valAx>
      <c:catAx>
        <c:axId val="63108224"/>
        <c:scaling>
          <c:orientation val="minMax"/>
        </c:scaling>
        <c:delete val="1"/>
        <c:axPos val="b"/>
        <c:tickLblPos val="nextTo"/>
        <c:crossAx val="63106432"/>
        <c:crosses val="autoZero"/>
        <c:auto val="1"/>
        <c:lblAlgn val="ctr"/>
        <c:lblOffset val="100"/>
      </c:catAx>
    </c:plotArea>
    <c:plotVisOnly val="1"/>
  </c:chart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4000"/>
            </a:pPr>
            <a:r>
              <a:rPr lang="es-ES" sz="4000"/>
              <a:t>Concidera que se debe esperar</a:t>
            </a:r>
            <a:r>
              <a:rPr lang="es-ES" sz="4000" baseline="0"/>
              <a:t> mucho en la consulta medica de control de embarazo</a:t>
            </a:r>
            <a:endParaRPr lang="es-ES" sz="4000"/>
          </a:p>
        </c:rich>
      </c:tx>
      <c:layout/>
    </c:title>
    <c:view3D>
      <c:rotX val="30"/>
      <c:perspective val="30"/>
    </c:view3D>
    <c:plotArea>
      <c:layout>
        <c:manualLayout>
          <c:layoutTarget val="inner"/>
          <c:xMode val="edge"/>
          <c:yMode val="edge"/>
          <c:x val="3.0555555555555579E-2"/>
          <c:y val="0.21747703412073513"/>
          <c:w val="0.90833333333333333"/>
          <c:h val="0.73159703995333913"/>
        </c:manualLayout>
      </c:layout>
      <c:bar3DChart>
        <c:barDir val="col"/>
        <c:grouping val="standard"/>
        <c:ser>
          <c:idx val="0"/>
          <c:order val="0"/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dPt>
            <c:idx val="1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txPr>
              <a:bodyPr/>
              <a:lstStyle/>
              <a:p>
                <a:pPr>
                  <a:defRPr lang="es-ES" sz="3200">
                    <a:solidFill>
                      <a:srgbClr val="FFFF00"/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Hoja1!$F$5:$G$5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shape val="box"/>
        <c:axId val="61630336"/>
        <c:axId val="61631872"/>
        <c:axId val="63096576"/>
      </c:bar3DChart>
      <c:catAx>
        <c:axId val="61630336"/>
        <c:scaling>
          <c:orientation val="minMax"/>
        </c:scaling>
        <c:delete val="1"/>
        <c:axPos val="b"/>
        <c:tickLblPos val="nextTo"/>
        <c:crossAx val="61631872"/>
        <c:crosses val="autoZero"/>
        <c:auto val="1"/>
        <c:lblAlgn val="ctr"/>
        <c:lblOffset val="100"/>
      </c:catAx>
      <c:valAx>
        <c:axId val="61631872"/>
        <c:scaling>
          <c:orientation val="minMax"/>
        </c:scaling>
        <c:delete val="1"/>
        <c:axPos val="l"/>
        <c:numFmt formatCode="General" sourceLinked="1"/>
        <c:tickLblPos val="nextTo"/>
        <c:crossAx val="61630336"/>
        <c:crosses val="autoZero"/>
        <c:crossBetween val="between"/>
      </c:valAx>
      <c:serAx>
        <c:axId val="63096576"/>
        <c:scaling>
          <c:orientation val="minMax"/>
        </c:scaling>
        <c:axPos val="b"/>
        <c:tickLblPos val="nextTo"/>
        <c:txPr>
          <a:bodyPr/>
          <a:lstStyle/>
          <a:p>
            <a:pPr>
              <a:defRPr lang="es-ES"/>
            </a:pPr>
            <a:endParaRPr lang="es-BO"/>
          </a:p>
        </c:txPr>
        <c:crossAx val="61631872"/>
        <c:crosses val="autoZero"/>
      </c:serAx>
    </c:plotArea>
    <c:plotVisOnly val="1"/>
  </c:chart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4000"/>
            </a:pPr>
            <a:r>
              <a:rPr lang="es-ES" sz="4000"/>
              <a:t>No</a:t>
            </a:r>
            <a:r>
              <a:rPr lang="es-ES" sz="4000" baseline="0"/>
              <a:t> se vacunaron contra la hepatitis antes de la ultima gestación</a:t>
            </a:r>
            <a:endParaRPr lang="es-ES" sz="4000"/>
          </a:p>
        </c:rich>
      </c:tx>
      <c:layout/>
    </c:title>
    <c:view3D>
      <c:rotX val="60"/>
      <c:perspective val="30"/>
    </c:view3D>
    <c:plotArea>
      <c:layout>
        <c:manualLayout>
          <c:layoutTarget val="inner"/>
          <c:xMode val="edge"/>
          <c:yMode val="edge"/>
          <c:x val="3.0555555555555579E-2"/>
          <c:y val="0.21747703412073513"/>
          <c:w val="0.90833333333333333"/>
          <c:h val="0.73159703995333913"/>
        </c:manualLayout>
      </c:layout>
      <c:bar3DChart>
        <c:barDir val="col"/>
        <c:grouping val="percentStacked"/>
        <c:ser>
          <c:idx val="0"/>
          <c:order val="0"/>
          <c:dPt>
            <c:idx val="0"/>
            <c:spPr>
              <a:solidFill>
                <a:schemeClr val="accent2"/>
              </a:solidFill>
              <a:ln w="25400" cap="flat" cmpd="sng" algn="ctr">
                <a:solidFill>
                  <a:schemeClr val="accent2">
                    <a:shade val="50000"/>
                  </a:schemeClr>
                </a:solidFill>
                <a:prstDash val="solid"/>
              </a:ln>
              <a:effectLst/>
            </c:spPr>
          </c:dPt>
          <c:dPt>
            <c:idx val="1"/>
            <c:spPr>
              <a:gradFill rotWithShape="1">
                <a:gsLst>
                  <a:gs pos="0">
                    <a:schemeClr val="accent2">
                      <a:tint val="50000"/>
                      <a:satMod val="300000"/>
                    </a:schemeClr>
                  </a:gs>
                  <a:gs pos="35000">
                    <a:schemeClr val="accent2">
                      <a:tint val="37000"/>
                      <a:satMod val="300000"/>
                    </a:schemeClr>
                  </a:gs>
                  <a:gs pos="100000">
                    <a:schemeClr val="accent2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2400"/>
                      <a:t>No </a:t>
                    </a:r>
                  </a:p>
                  <a:p>
                    <a:r>
                      <a:rPr lang="en-US" sz="2400"/>
                      <a:t>80</a:t>
                    </a:r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z="2400"/>
                      <a:t>Si</a:t>
                    </a:r>
                  </a:p>
                  <a:p>
                    <a:r>
                      <a:rPr lang="en-US" sz="2400"/>
                      <a:t>20</a:t>
                    </a: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2400"/>
                </a:pPr>
                <a:endParaRPr lang="es-BO"/>
              </a:p>
            </c:txPr>
            <c:showVal val="1"/>
          </c:dLbls>
          <c:val>
            <c:numRef>
              <c:f>Hoja1!$F$7:$G$7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shape val="box"/>
        <c:axId val="63114624"/>
        <c:axId val="63113088"/>
        <c:axId val="0"/>
      </c:bar3DChart>
      <c:valAx>
        <c:axId val="63113088"/>
        <c:scaling>
          <c:orientation val="minMax"/>
        </c:scaling>
        <c:delete val="1"/>
        <c:axPos val="l"/>
        <c:numFmt formatCode="0%" sourceLinked="1"/>
        <c:tickLblPos val="nextTo"/>
        <c:crossAx val="63114624"/>
        <c:crosses val="autoZero"/>
        <c:crossBetween val="between"/>
      </c:valAx>
      <c:catAx>
        <c:axId val="63114624"/>
        <c:scaling>
          <c:orientation val="minMax"/>
        </c:scaling>
        <c:delete val="1"/>
        <c:axPos val="b"/>
        <c:tickLblPos val="nextTo"/>
        <c:crossAx val="63113088"/>
        <c:crosses val="autoZero"/>
        <c:auto val="1"/>
        <c:lblAlgn val="ctr"/>
        <c:lblOffset val="100"/>
      </c:catAx>
    </c:plotArea>
    <c:plotVisOnly val="1"/>
  </c:chart>
  <c:externalData r:id="rId1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4000"/>
            </a:pPr>
            <a:r>
              <a:rPr lang="es-ES" sz="4000"/>
              <a:t>No ha realizado evaluacion medica nutricional antes del embarazo</a:t>
            </a:r>
          </a:p>
        </c:rich>
      </c:tx>
      <c:layout/>
    </c:title>
    <c:view3D>
      <c:perspective val="30"/>
    </c:view3D>
    <c:plotArea>
      <c:layout/>
      <c:bar3DChart>
        <c:barDir val="col"/>
        <c:grouping val="standard"/>
        <c:ser>
          <c:idx val="0"/>
          <c:order val="0"/>
          <c:dPt>
            <c:idx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spPr>
              <a:gradFill rotWithShape="1">
                <a:gsLst>
                  <a:gs pos="0">
                    <a:schemeClr val="accent5">
                      <a:tint val="50000"/>
                      <a:satMod val="300000"/>
                    </a:schemeClr>
                  </a:gs>
                  <a:gs pos="35000">
                    <a:schemeClr val="accent5">
                      <a:tint val="37000"/>
                      <a:satMod val="300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5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2400"/>
                      <a:t>No </a:t>
                    </a:r>
                  </a:p>
                  <a:p>
                    <a:r>
                      <a:rPr lang="en-US" sz="2400"/>
                      <a:t>70</a:t>
                    </a: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2400"/>
                </a:pPr>
                <a:endParaRPr lang="es-BO"/>
              </a:p>
            </c:txPr>
            <c:showVal val="1"/>
          </c:dLbls>
          <c:val>
            <c:numRef>
              <c:f>Hoja1!$F$13:$G$13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showVal val="1"/>
        </c:dLbls>
        <c:shape val="box"/>
        <c:axId val="63165184"/>
        <c:axId val="63166720"/>
        <c:axId val="63160320"/>
      </c:bar3DChart>
      <c:catAx>
        <c:axId val="63165184"/>
        <c:scaling>
          <c:orientation val="minMax"/>
        </c:scaling>
        <c:delete val="1"/>
        <c:axPos val="b"/>
        <c:tickLblPos val="nextTo"/>
        <c:crossAx val="63166720"/>
        <c:crosses val="autoZero"/>
        <c:auto val="1"/>
        <c:lblAlgn val="ctr"/>
        <c:lblOffset val="100"/>
      </c:catAx>
      <c:valAx>
        <c:axId val="63166720"/>
        <c:scaling>
          <c:orientation val="minMax"/>
        </c:scaling>
        <c:delete val="1"/>
        <c:axPos val="l"/>
        <c:numFmt formatCode="General" sourceLinked="1"/>
        <c:tickLblPos val="nextTo"/>
        <c:crossAx val="63165184"/>
        <c:crosses val="autoZero"/>
        <c:crossBetween val="between"/>
      </c:valAx>
      <c:serAx>
        <c:axId val="63160320"/>
        <c:scaling>
          <c:orientation val="minMax"/>
        </c:scaling>
        <c:delete val="1"/>
        <c:axPos val="b"/>
        <c:tickLblPos val="nextTo"/>
        <c:crossAx val="63166720"/>
        <c:crosses val="autoZero"/>
      </c:serAx>
    </c:plotArea>
    <c:plotVisOnly val="1"/>
  </c:chart>
  <c:externalData r:id="rId1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3600"/>
            </a:pPr>
            <a:r>
              <a:rPr lang="es-ES" sz="3600"/>
              <a:t>Considera que la incompatibilidad del tipo de sangre suyo y de su pareja no conlleva peligro para el bebé</a:t>
            </a:r>
          </a:p>
        </c:rich>
      </c:tx>
      <c:layout/>
    </c:title>
    <c:view3D>
      <c:perspective val="30"/>
    </c:view3D>
    <c:plotArea>
      <c:layout/>
      <c:bar3DChart>
        <c:barDir val="col"/>
        <c:grouping val="standard"/>
        <c:ser>
          <c:idx val="0"/>
          <c:order val="0"/>
          <c:spPr>
            <a:gradFill rotWithShape="1">
              <a:gsLst>
                <a:gs pos="0">
                  <a:schemeClr val="accent4">
                    <a:tint val="50000"/>
                    <a:satMod val="300000"/>
                  </a:schemeClr>
                </a:gs>
                <a:gs pos="35000">
                  <a:schemeClr val="accent4">
                    <a:tint val="37000"/>
                    <a:satMod val="300000"/>
                  </a:schemeClr>
                </a:gs>
                <a:gs pos="100000">
                  <a:schemeClr val="accent4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4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dPt>
            <c:idx val="1"/>
            <c:spPr>
              <a:solidFill>
                <a:schemeClr val="accent4"/>
              </a:solidFill>
              <a:ln w="25400" cap="flat" cmpd="sng" algn="ctr">
                <a:solidFill>
                  <a:schemeClr val="accent4">
                    <a:shade val="50000"/>
                  </a:schemeClr>
                </a:solidFill>
                <a:prstDash val="solid"/>
              </a:ln>
              <a:effectLst/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3200">
                        <a:solidFill>
                          <a:srgbClr val="FF0000"/>
                        </a:solidFill>
                      </a:rPr>
                      <a:t>No </a:t>
                    </a:r>
                  </a:p>
                  <a:p>
                    <a:r>
                      <a:rPr lang="en-US" sz="3200">
                        <a:solidFill>
                          <a:srgbClr val="FF0000"/>
                        </a:solidFill>
                      </a:rPr>
                      <a:t>65</a:t>
                    </a: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3200">
                    <a:solidFill>
                      <a:srgbClr val="FF0000"/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Hoja1!$F$14:$G$14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dLbls>
          <c:showVal val="1"/>
        </c:dLbls>
        <c:shape val="pyramid"/>
        <c:axId val="64188800"/>
        <c:axId val="64190336"/>
        <c:axId val="63161664"/>
      </c:bar3DChart>
      <c:catAx>
        <c:axId val="64188800"/>
        <c:scaling>
          <c:orientation val="minMax"/>
        </c:scaling>
        <c:delete val="1"/>
        <c:axPos val="b"/>
        <c:tickLblPos val="nextTo"/>
        <c:crossAx val="64190336"/>
        <c:crosses val="autoZero"/>
        <c:auto val="1"/>
        <c:lblAlgn val="ctr"/>
        <c:lblOffset val="100"/>
      </c:catAx>
      <c:valAx>
        <c:axId val="64190336"/>
        <c:scaling>
          <c:orientation val="minMax"/>
        </c:scaling>
        <c:delete val="1"/>
        <c:axPos val="l"/>
        <c:numFmt formatCode="General" sourceLinked="1"/>
        <c:tickLblPos val="nextTo"/>
        <c:crossAx val="64188800"/>
        <c:crosses val="autoZero"/>
        <c:crossBetween val="between"/>
      </c:valAx>
      <c:serAx>
        <c:axId val="63161664"/>
        <c:scaling>
          <c:orientation val="minMax"/>
        </c:scaling>
        <c:delete val="1"/>
        <c:axPos val="b"/>
        <c:tickLblPos val="nextTo"/>
        <c:crossAx val="64190336"/>
        <c:crosses val="autoZero"/>
      </c:serAx>
    </c:plotArea>
    <c:plotVisOnly val="1"/>
  </c:chart>
  <c:externalData r:id="rId1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2800"/>
            </a:pPr>
            <a:r>
              <a:rPr lang="es-ES" sz="2800"/>
              <a:t>No</a:t>
            </a:r>
            <a:r>
              <a:rPr lang="es-ES" sz="2800" baseline="0"/>
              <a:t> reconoce signos de ITS en mujeres</a:t>
            </a:r>
          </a:p>
          <a:p>
            <a:pPr>
              <a:defRPr lang="es-ES" sz="2800"/>
            </a:pPr>
            <a:r>
              <a:rPr lang="es-ES" sz="2800" baseline="0"/>
              <a:t>No cree que un bebé no tiene riesgos cuando nace de menos de 2.5 Kg</a:t>
            </a:r>
          </a:p>
          <a:p>
            <a:pPr>
              <a:defRPr lang="es-ES" sz="2800"/>
            </a:pPr>
            <a:r>
              <a:rPr lang="es-ES" sz="2800" baseline="0"/>
              <a:t>Desconoce que la hipertensión es peligrosa para la embarazada y el bebé</a:t>
            </a:r>
          </a:p>
          <a:p>
            <a:pPr>
              <a:defRPr lang="es-ES" sz="2800"/>
            </a:pPr>
            <a:r>
              <a:rPr lang="es-ES" sz="2800" baseline="0"/>
              <a:t>no tomo suplementos nutricionales y vitaminas durante el último embarazo</a:t>
            </a:r>
            <a:endParaRPr lang="es-ES" sz="2800"/>
          </a:p>
        </c:rich>
      </c:tx>
      <c:layout/>
    </c:title>
    <c:view3D>
      <c:perspective val="30"/>
    </c:view3D>
    <c:plotArea>
      <c:layout/>
      <c:bar3DChart>
        <c:barDir val="col"/>
        <c:grouping val="standard"/>
        <c:ser>
          <c:idx val="0"/>
          <c:order val="0"/>
          <c:dPt>
            <c:idx val="0"/>
            <c:spPr>
              <a:gradFill rotWithShape="1">
                <a:gsLst>
                  <a:gs pos="0">
                    <a:schemeClr val="accent2">
                      <a:tint val="50000"/>
                      <a:satMod val="300000"/>
                    </a:schemeClr>
                  </a:gs>
                  <a:gs pos="35000">
                    <a:schemeClr val="accent2">
                      <a:tint val="37000"/>
                      <a:satMod val="300000"/>
                    </a:schemeClr>
                  </a:gs>
                  <a:gs pos="100000">
                    <a:schemeClr val="accent2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1"/>
            <c:spPr>
              <a:gradFill rotWithShape="1">
                <a:gsLst>
                  <a:gs pos="0">
                    <a:schemeClr val="accent6">
                      <a:tint val="50000"/>
                      <a:satMod val="300000"/>
                    </a:schemeClr>
                  </a:gs>
                  <a:gs pos="35000">
                    <a:schemeClr val="accent6">
                      <a:tint val="37000"/>
                      <a:satMod val="300000"/>
                    </a:schemeClr>
                  </a:gs>
                  <a:gs pos="100000">
                    <a:schemeClr val="accent6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6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2400"/>
                      <a:t>No </a:t>
                    </a:r>
                  </a:p>
                  <a:p>
                    <a:r>
                      <a:rPr lang="en-US" sz="2400"/>
                      <a:t>60</a:t>
                    </a:r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2400"/>
                </a:pPr>
                <a:endParaRPr lang="es-BO"/>
              </a:p>
            </c:txPr>
            <c:showVal val="1"/>
          </c:dLbls>
          <c:val>
            <c:numRef>
              <c:f>Hoja1!$F$15:$G$15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showVal val="1"/>
        </c:dLbls>
        <c:shape val="cylinder"/>
        <c:axId val="64373120"/>
        <c:axId val="64374656"/>
        <c:axId val="63163008"/>
      </c:bar3DChart>
      <c:catAx>
        <c:axId val="64373120"/>
        <c:scaling>
          <c:orientation val="minMax"/>
        </c:scaling>
        <c:delete val="1"/>
        <c:axPos val="b"/>
        <c:tickLblPos val="nextTo"/>
        <c:crossAx val="64374656"/>
        <c:crosses val="autoZero"/>
        <c:auto val="1"/>
        <c:lblAlgn val="ctr"/>
        <c:lblOffset val="100"/>
      </c:catAx>
      <c:valAx>
        <c:axId val="64374656"/>
        <c:scaling>
          <c:orientation val="minMax"/>
        </c:scaling>
        <c:delete val="1"/>
        <c:axPos val="l"/>
        <c:numFmt formatCode="General" sourceLinked="1"/>
        <c:tickLblPos val="nextTo"/>
        <c:crossAx val="64373120"/>
        <c:crosses val="autoZero"/>
        <c:crossBetween val="between"/>
      </c:valAx>
      <c:serAx>
        <c:axId val="63163008"/>
        <c:scaling>
          <c:orientation val="minMax"/>
        </c:scaling>
        <c:delete val="1"/>
        <c:axPos val="b"/>
        <c:tickLblPos val="nextTo"/>
        <c:crossAx val="64374656"/>
        <c:crosses val="autoZero"/>
      </c:serAx>
    </c:plotArea>
    <c:plotVisOnly val="1"/>
  </c:chart>
  <c:externalData r:id="rId1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BO"/>
  <c:chart>
    <c:title>
      <c:tx>
        <c:rich>
          <a:bodyPr/>
          <a:lstStyle/>
          <a:p>
            <a:pPr>
              <a:defRPr lang="es-ES" sz="2400"/>
            </a:pPr>
            <a:r>
              <a:rPr lang="es-ES" sz="2400"/>
              <a:t>Desconoce tipo de sangre</a:t>
            </a:r>
          </a:p>
          <a:p>
            <a:pPr>
              <a:defRPr lang="es-ES" sz="2400"/>
            </a:pPr>
            <a:r>
              <a:rPr lang="es-ES" sz="2400"/>
              <a:t>Desagrada</a:t>
            </a:r>
            <a:r>
              <a:rPr lang="es-ES" sz="2400" baseline="0"/>
              <a:t> el servicio prenatal</a:t>
            </a:r>
          </a:p>
          <a:p>
            <a:pPr>
              <a:defRPr lang="es-ES" sz="2400"/>
            </a:pPr>
            <a:r>
              <a:rPr lang="es-ES" sz="2400" baseline="0"/>
              <a:t>No recibio evaluacion medica nutricional</a:t>
            </a:r>
          </a:p>
          <a:p>
            <a:pPr>
              <a:defRPr lang="es-ES" sz="2400"/>
            </a:pPr>
            <a:r>
              <a:rPr lang="es-ES" sz="2400" baseline="0"/>
              <a:t>Pareja no tomo acido folico</a:t>
            </a:r>
          </a:p>
          <a:p>
            <a:pPr>
              <a:defRPr lang="es-ES" sz="2400"/>
            </a:pPr>
            <a:r>
              <a:rPr lang="es-ES" sz="2400" baseline="0"/>
              <a:t>hinchazon no es motivo  para acudir al CS</a:t>
            </a:r>
          </a:p>
          <a:p>
            <a:pPr>
              <a:defRPr lang="es-ES" sz="2400"/>
            </a:pPr>
            <a:r>
              <a:rPr lang="es-ES" sz="2400" baseline="0"/>
              <a:t>complicacion de la pareja en alguno de sus embarazos</a:t>
            </a:r>
          </a:p>
          <a:p>
            <a:pPr>
              <a:defRPr lang="es-ES" sz="2400"/>
            </a:pPr>
            <a:endParaRPr lang="es-ES" sz="2400" baseline="0"/>
          </a:p>
          <a:p>
            <a:pPr>
              <a:defRPr lang="es-ES" sz="2400"/>
            </a:pPr>
            <a:endParaRPr lang="es-ES" sz="2400"/>
          </a:p>
        </c:rich>
      </c:tx>
      <c:layout/>
    </c:title>
    <c:view3D>
      <c:perspective val="30"/>
    </c:view3D>
    <c:plotArea>
      <c:layout/>
      <c:bar3DChart>
        <c:barDir val="col"/>
        <c:grouping val="percentStacked"/>
        <c:ser>
          <c:idx val="0"/>
          <c:order val="0"/>
          <c:dPt>
            <c:idx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3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2800" dirty="0">
                        <a:solidFill>
                          <a:srgbClr val="FF0000"/>
                        </a:solidFill>
                      </a:rPr>
                      <a:t>No </a:t>
                    </a:r>
                  </a:p>
                  <a:p>
                    <a:r>
                      <a:rPr lang="en-US" sz="2800" dirty="0" smtClean="0">
                        <a:solidFill>
                          <a:srgbClr val="FF0000"/>
                        </a:solidFill>
                      </a:rPr>
                      <a:t>55</a:t>
                    </a:r>
                    <a:endParaRPr lang="en-US" sz="2800" dirty="0">
                      <a:solidFill>
                        <a:srgbClr val="FF0000"/>
                      </a:solidFill>
                    </a:endParaRPr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45</a:t>
                    </a:r>
                    <a:endParaRPr lang="en-US" dirty="0"/>
                  </a:p>
                </c:rich>
              </c:tx>
              <c:showVal val="1"/>
            </c:dLbl>
            <c:txPr>
              <a:bodyPr/>
              <a:lstStyle/>
              <a:p>
                <a:pPr>
                  <a:defRPr lang="es-ES" sz="2800">
                    <a:solidFill>
                      <a:srgbClr val="FF0000"/>
                    </a:solidFill>
                  </a:defRPr>
                </a:pPr>
                <a:endParaRPr lang="es-BO"/>
              </a:p>
            </c:txPr>
            <c:showVal val="1"/>
          </c:dLbls>
          <c:val>
            <c:numRef>
              <c:f>Hoja1!$F$15:$G$15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dLbls>
          <c:showVal val="1"/>
        </c:dLbls>
        <c:shape val="pyramid"/>
        <c:axId val="64418176"/>
        <c:axId val="64419712"/>
        <c:axId val="0"/>
      </c:bar3DChart>
      <c:catAx>
        <c:axId val="64418176"/>
        <c:scaling>
          <c:orientation val="minMax"/>
        </c:scaling>
        <c:delete val="1"/>
        <c:axPos val="b"/>
        <c:tickLblPos val="nextTo"/>
        <c:crossAx val="64419712"/>
        <c:crosses val="autoZero"/>
        <c:auto val="1"/>
        <c:lblAlgn val="ctr"/>
        <c:lblOffset val="100"/>
      </c:catAx>
      <c:valAx>
        <c:axId val="64419712"/>
        <c:scaling>
          <c:orientation val="minMax"/>
        </c:scaling>
        <c:delete val="1"/>
        <c:axPos val="l"/>
        <c:numFmt formatCode="0%" sourceLinked="1"/>
        <c:tickLblPos val="nextTo"/>
        <c:crossAx val="64418176"/>
        <c:crosses val="autoZero"/>
        <c:crossBetween val="between"/>
      </c:valAx>
    </c:plotArea>
    <c:plotVisOnly val="1"/>
  </c:chart>
  <c:externalData r:id="rId1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0.75653</cdr:y>
    </cdr:from>
    <cdr:to>
      <cdr:x>0.1</cdr:x>
      <cdr:y>0.88986</cdr:y>
    </cdr:to>
    <cdr:sp macro="" textlink="">
      <cdr:nvSpPr>
        <cdr:cNvPr id="5" name="1 Menos"/>
        <cdr:cNvSpPr/>
      </cdr:nvSpPr>
      <cdr:spPr>
        <a:xfrm xmlns:a="http://schemas.openxmlformats.org/drawingml/2006/main" rot="18646201">
          <a:off x="-457200" y="5188253"/>
          <a:ext cx="914400" cy="914400"/>
        </a:xfrm>
        <a:prstGeom xmlns:a="http://schemas.openxmlformats.org/drawingml/2006/main" prst="mathMinus">
          <a:avLst/>
        </a:prstGeom>
        <a:ln xmlns:a="http://schemas.openxmlformats.org/drawingml/2006/main"/>
      </cdr:spPr>
      <cdr:style>
        <a:lnRef xmlns:a="http://schemas.openxmlformats.org/drawingml/2006/main" idx="1">
          <a:schemeClr val="accent6"/>
        </a:lnRef>
        <a:fillRef xmlns:a="http://schemas.openxmlformats.org/drawingml/2006/main" idx="2">
          <a:schemeClr val="accent6"/>
        </a:fillRef>
        <a:effectRef xmlns:a="http://schemas.openxmlformats.org/drawingml/2006/main" idx="1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ysClr val="window" lastClr="FFFFFF"/>
              </a:solidFill>
              <a:latin typeface="Calibri"/>
            </a:defRPr>
          </a:lvl1pPr>
          <a:lvl2pPr marL="457200" indent="0">
            <a:defRPr sz="1100">
              <a:solidFill>
                <a:sysClr val="window" lastClr="FFFFFF"/>
              </a:solidFill>
              <a:latin typeface="Calibri"/>
            </a:defRPr>
          </a:lvl2pPr>
          <a:lvl3pPr marL="914400" indent="0">
            <a:defRPr sz="1100">
              <a:solidFill>
                <a:sysClr val="window" lastClr="FFFFFF"/>
              </a:solidFill>
              <a:latin typeface="Calibri"/>
            </a:defRPr>
          </a:lvl3pPr>
          <a:lvl4pPr marL="1371600" indent="0">
            <a:defRPr sz="1100">
              <a:solidFill>
                <a:sysClr val="window" lastClr="FFFFFF"/>
              </a:solidFill>
              <a:latin typeface="Calibri"/>
            </a:defRPr>
          </a:lvl4pPr>
          <a:lvl5pPr marL="1828800" indent="0">
            <a:defRPr sz="1100">
              <a:solidFill>
                <a:sysClr val="window" lastClr="FFFFFF"/>
              </a:solidFill>
              <a:latin typeface="Calibri"/>
            </a:defRPr>
          </a:lvl5pPr>
          <a:lvl6pPr marL="2286000" indent="0">
            <a:defRPr sz="1100">
              <a:solidFill>
                <a:sysClr val="window" lastClr="FFFFFF"/>
              </a:solidFill>
              <a:latin typeface="Calibri"/>
            </a:defRPr>
          </a:lvl6pPr>
          <a:lvl7pPr marL="2743200" indent="0">
            <a:defRPr sz="1100">
              <a:solidFill>
                <a:sysClr val="window" lastClr="FFFFFF"/>
              </a:solidFill>
              <a:latin typeface="Calibri"/>
            </a:defRPr>
          </a:lvl7pPr>
          <a:lvl8pPr marL="3200400" indent="0">
            <a:defRPr sz="1100">
              <a:solidFill>
                <a:sysClr val="window" lastClr="FFFFFF"/>
              </a:solidFill>
              <a:latin typeface="Calibri"/>
            </a:defRPr>
          </a:lvl8pPr>
          <a:lvl9pPr marL="3657600" indent="0">
            <a:defRPr sz="1100">
              <a:solidFill>
                <a:sysClr val="window" lastClr="FFFFFF"/>
              </a:solidFill>
              <a:latin typeface="Calibri"/>
            </a:defRPr>
          </a:lvl9pPr>
        </a:lstStyle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0.10653</cdr:x>
      <cdr:y>0.75663</cdr:y>
    </cdr:from>
    <cdr:to>
      <cdr:x>0.20653</cdr:x>
      <cdr:y>0.88996</cdr:y>
    </cdr:to>
    <cdr:sp macro="" textlink="">
      <cdr:nvSpPr>
        <cdr:cNvPr id="4" name="3 Menos"/>
        <cdr:cNvSpPr/>
      </cdr:nvSpPr>
      <cdr:spPr>
        <a:xfrm xmlns:a="http://schemas.openxmlformats.org/drawingml/2006/main" rot="2897806">
          <a:off x="974095" y="5188945"/>
          <a:ext cx="914400" cy="914400"/>
        </a:xfrm>
        <a:prstGeom xmlns:a="http://schemas.openxmlformats.org/drawingml/2006/main" prst="mathMinus">
          <a:avLst/>
        </a:prstGeom>
      </cdr:spPr>
      <cdr:style>
        <a:lnRef xmlns:a="http://schemas.openxmlformats.org/drawingml/2006/main" idx="1">
          <a:schemeClr val="accent6"/>
        </a:lnRef>
        <a:fillRef xmlns:a="http://schemas.openxmlformats.org/drawingml/2006/main" idx="2">
          <a:schemeClr val="accent6"/>
        </a:fillRef>
        <a:effectRef xmlns:a="http://schemas.openxmlformats.org/drawingml/2006/main" idx="1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0.07031</cdr:x>
      <cdr:y>0.69792</cdr:y>
    </cdr:from>
    <cdr:to>
      <cdr:x>0.12031</cdr:x>
      <cdr:y>0.76458</cdr:y>
    </cdr:to>
    <cdr:sp macro="" textlink="">
      <cdr:nvSpPr>
        <cdr:cNvPr id="2" name="1 Conector"/>
        <cdr:cNvSpPr/>
      </cdr:nvSpPr>
      <cdr:spPr>
        <a:xfrm xmlns:a="http://schemas.openxmlformats.org/drawingml/2006/main">
          <a:off x="642910" y="4786322"/>
          <a:ext cx="457200" cy="457200"/>
        </a:xfrm>
        <a:prstGeom xmlns:a="http://schemas.openxmlformats.org/drawingml/2006/main" prst="flowChartConnector">
          <a:avLst/>
        </a:prstGeom>
      </cdr:spPr>
      <cdr:style>
        <a:lnRef xmlns:a="http://schemas.openxmlformats.org/drawingml/2006/main" idx="1">
          <a:schemeClr val="accent6"/>
        </a:lnRef>
        <a:fillRef xmlns:a="http://schemas.openxmlformats.org/drawingml/2006/main" idx="2">
          <a:schemeClr val="accent6"/>
        </a:fillRef>
        <a:effectRef xmlns:a="http://schemas.openxmlformats.org/drawingml/2006/main" idx="1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0.03906</cdr:x>
      <cdr:y>0.77084</cdr:y>
    </cdr:from>
    <cdr:to>
      <cdr:x>0.16406</cdr:x>
      <cdr:y>1</cdr:y>
    </cdr:to>
    <cdr:sp macro="" textlink="">
      <cdr:nvSpPr>
        <cdr:cNvPr id="3" name="2 Operación manual"/>
        <cdr:cNvSpPr/>
      </cdr:nvSpPr>
      <cdr:spPr>
        <a:xfrm xmlns:a="http://schemas.openxmlformats.org/drawingml/2006/main" rot="10800000">
          <a:off x="357158" y="5286388"/>
          <a:ext cx="1143008" cy="1571612"/>
        </a:xfrm>
        <a:prstGeom xmlns:a="http://schemas.openxmlformats.org/drawingml/2006/main" prst="flowChartManualOperation">
          <a:avLst/>
        </a:prstGeom>
      </cdr:spPr>
      <cdr:style>
        <a:lnRef xmlns:a="http://schemas.openxmlformats.org/drawingml/2006/main" idx="1">
          <a:schemeClr val="accent6"/>
        </a:lnRef>
        <a:fillRef xmlns:a="http://schemas.openxmlformats.org/drawingml/2006/main" idx="2">
          <a:schemeClr val="accent6"/>
        </a:fillRef>
        <a:effectRef xmlns:a="http://schemas.openxmlformats.org/drawingml/2006/main" idx="1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s-E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0.77344</cdr:x>
      <cdr:y>0.25</cdr:y>
    </cdr:from>
    <cdr:to>
      <cdr:x>0.96094</cdr:x>
      <cdr:y>0.51042</cdr:y>
    </cdr:to>
    <cdr:grpSp>
      <cdr:nvGrpSpPr>
        <cdr:cNvPr id="2" name="5 Grupo"/>
        <cdr:cNvGrpSpPr/>
      </cdr:nvGrpSpPr>
      <cdr:grpSpPr>
        <a:xfrm xmlns:a="http://schemas.openxmlformats.org/drawingml/2006/main">
          <a:off x="7072335" y="1714500"/>
          <a:ext cx="1714500" cy="1785960"/>
          <a:chOff x="2806649" y="928670"/>
          <a:chExt cx="3603955" cy="3571900"/>
        </a:xfrm>
      </cdr:grpSpPr>
      <cdr:sp macro="" textlink="">
        <cdr:nvSpPr>
          <cdr:cNvPr id="3" name="4 Menos"/>
          <cdr:cNvSpPr/>
        </cdr:nvSpPr>
        <cdr:spPr>
          <a:xfrm xmlns:a="http://schemas.openxmlformats.org/drawingml/2006/main" rot="2489902">
            <a:off x="4755875" y="2015852"/>
            <a:ext cx="1654729" cy="1397537"/>
          </a:xfrm>
          <a:prstGeom xmlns:a="http://schemas.openxmlformats.org/drawingml/2006/main" prst="mathMinus">
            <a:avLst/>
          </a:prstGeom>
          <a:solidFill xmlns:a="http://schemas.openxmlformats.org/drawingml/2006/main">
            <a:srgbClr val="72A376"/>
          </a:solidFill>
          <a:ln xmlns:a="http://schemas.openxmlformats.org/drawingml/2006/main" w="25400" cap="flat" cmpd="sng" algn="ctr">
            <a:solidFill>
              <a:srgbClr val="72A376">
                <a:shade val="50000"/>
              </a:srgbClr>
            </a:solidFill>
            <a:prstDash val="solid"/>
          </a:ln>
          <a:effectLst xmlns:a="http://schemas.openxmlformats.org/drawingml/2006/main"/>
        </cdr:spPr>
        <cdr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 rtlCol="0" anchor="ctr"/>
          <a:lstStyle xmlns:a="http://schemas.openxmlformats.org/drawingml/2006/main"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9pPr>
          </a:lstStyle>
          <a:p xmlns:a="http://schemas.openxmlformats.org/drawingml/2006/main">
            <a:pPr algn="ctr"/>
            <a:endParaRPr lang="es-ES"/>
          </a:p>
        </cdr:txBody>
      </cdr:sp>
      <cdr:sp macro="" textlink="">
        <cdr:nvSpPr>
          <cdr:cNvPr id="4" name="3 Menos"/>
          <cdr:cNvSpPr/>
        </cdr:nvSpPr>
        <cdr:spPr>
          <a:xfrm xmlns:a="http://schemas.openxmlformats.org/drawingml/2006/main" rot="19411255">
            <a:off x="2806649" y="2008433"/>
            <a:ext cx="1671050" cy="1340939"/>
          </a:xfrm>
          <a:prstGeom xmlns:a="http://schemas.openxmlformats.org/drawingml/2006/main" prst="mathMinus">
            <a:avLst/>
          </a:prstGeom>
          <a:solidFill xmlns:a="http://schemas.openxmlformats.org/drawingml/2006/main">
            <a:srgbClr val="72A376"/>
          </a:solidFill>
          <a:ln xmlns:a="http://schemas.openxmlformats.org/drawingml/2006/main" w="25400" cap="flat" cmpd="sng" algn="ctr">
            <a:solidFill>
              <a:srgbClr val="72A376">
                <a:shade val="50000"/>
              </a:srgbClr>
            </a:solidFill>
            <a:prstDash val="solid"/>
          </a:ln>
          <a:effectLst xmlns:a="http://schemas.openxmlformats.org/drawingml/2006/main"/>
        </cdr:spPr>
        <cdr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 rtlCol="0" anchor="ctr"/>
          <a:lstStyle xmlns:a="http://schemas.openxmlformats.org/drawingml/2006/main"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9pPr>
          </a:lstStyle>
          <a:p xmlns:a="http://schemas.openxmlformats.org/drawingml/2006/main">
            <a:pPr algn="ctr"/>
            <a:endParaRPr lang="es-ES"/>
          </a:p>
        </cdr:txBody>
      </cdr:sp>
      <cdr:sp macro="" textlink="">
        <cdr:nvSpPr>
          <cdr:cNvPr id="5" name="1 Conector"/>
          <cdr:cNvSpPr/>
        </cdr:nvSpPr>
        <cdr:spPr>
          <a:xfrm xmlns:a="http://schemas.openxmlformats.org/drawingml/2006/main">
            <a:off x="4143372" y="928670"/>
            <a:ext cx="1071570" cy="110014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rgbClr val="72A376"/>
          </a:solidFill>
          <a:ln xmlns:a="http://schemas.openxmlformats.org/drawingml/2006/main" w="25400" cap="flat" cmpd="sng" algn="ctr">
            <a:solidFill>
              <a:srgbClr val="72A376">
                <a:shade val="50000"/>
              </a:srgbClr>
            </a:solidFill>
            <a:prstDash val="solid"/>
          </a:ln>
          <a:effectLst xmlns:a="http://schemas.openxmlformats.org/drawingml/2006/main"/>
        </cdr:spPr>
        <cdr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 rtlCol="0" anchor="ctr"/>
          <a:lstStyle xmlns:a="http://schemas.openxmlformats.org/drawingml/2006/main"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9pPr>
          </a:lstStyle>
          <a:p xmlns:a="http://schemas.openxmlformats.org/drawingml/2006/main">
            <a:pPr algn="ctr"/>
            <a:endParaRPr lang="es-ES"/>
          </a:p>
        </cdr:txBody>
      </cdr:sp>
      <cdr:sp macro="" textlink="">
        <cdr:nvSpPr>
          <cdr:cNvPr id="6" name="2 Rectángulo"/>
          <cdr:cNvSpPr/>
        </cdr:nvSpPr>
        <cdr:spPr>
          <a:xfrm xmlns:a="http://schemas.openxmlformats.org/drawingml/2006/main">
            <a:off x="4000496" y="2143116"/>
            <a:ext cx="1285884" cy="23574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376"/>
          </a:solidFill>
          <a:ln xmlns:a="http://schemas.openxmlformats.org/drawingml/2006/main" w="25400" cap="flat" cmpd="sng" algn="ctr">
            <a:solidFill>
              <a:srgbClr val="72A376">
                <a:shade val="50000"/>
              </a:srgbClr>
            </a:solidFill>
            <a:prstDash val="solid"/>
          </a:ln>
          <a:effectLst xmlns:a="http://schemas.openxmlformats.org/drawingml/2006/main"/>
        </cdr:spPr>
        <cdr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cdr:style>
        <cdr:txBody>
          <a:bodyPr xmlns:a="http://schemas.openxmlformats.org/drawingml/2006/main" rtlCol="0" anchor="ctr"/>
          <a:lstStyle xmlns:a="http://schemas.openxmlformats.org/drawingml/2006/main"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9pPr>
          </a:lstStyle>
          <a:p xmlns:a="http://schemas.openxmlformats.org/drawingml/2006/main">
            <a:pPr algn="ctr"/>
            <a:endParaRPr lang="es-ES"/>
          </a:p>
        </cdr:txBody>
      </cdr:sp>
    </cdr:grp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8248D-5592-44C1-8009-40700BC0CABA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F9770-26F2-4491-89B1-5D9E8974B43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000DD-B876-4DDF-81BE-D8A8C7EA37A5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6F97C-1B83-4837-87E9-F2DDC9EBB18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39EC00-68EE-4197-A1E5-B693CBBD56D1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623E1-7B70-4771-AF5F-8E917222375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52D61-82E7-4459-A665-BC2D26DD6026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F4566-2FF8-468F-B6F9-8CFD0F67008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1E087-CEE7-4346-9512-9D621C6BDFB2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6C5C3-CD07-4B03-80C2-60C6411C719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6D884-E838-4292-A669-ECD669A91D72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240F2-0531-4AB9-AC58-1ED8BC1F754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CCEF8-5103-41B2-97CF-40BC61C8A846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7E6D8D-77CE-4313-A142-F15B6D302EC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F1D46-C933-46BF-A54A-B966E30C4D2A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E0C9E-DF50-4625-A70B-A8F3FA89C24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F61BC-7744-444A-816E-080C00AE029F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2F49E5-7F85-49D1-8784-D0DBAA62516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3C5AB-60AB-44DE-98D9-80BA2C83D953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DC4E-8826-4ECC-8006-B66294C454A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4A378-EE26-42D4-B840-5214B1535557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1E720-572B-43E6-A9BF-2F966C6F924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</a:p>
        </p:txBody>
      </p:sp>
      <p:sp>
        <p:nvSpPr>
          <p:cNvPr id="2051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D2E1C22-E465-4B35-9C9D-88EF6ED1C3B3}" type="datetimeFigureOut">
              <a:rPr lang="es-ES"/>
              <a:pPr>
                <a:defRPr/>
              </a:pPr>
              <a:t>24/02/2011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61D7928-0B94-49E1-BF9D-7C9D6D9F138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731" name="Object 3"/>
          <p:cNvGraphicFramePr>
            <a:graphicFrameLocks noChangeAspect="1"/>
          </p:cNvGraphicFramePr>
          <p:nvPr/>
        </p:nvGraphicFramePr>
        <p:xfrm>
          <a:off x="2571750" y="0"/>
          <a:ext cx="1928813" cy="1839913"/>
        </p:xfrm>
        <a:graphic>
          <a:graphicData uri="http://schemas.openxmlformats.org/presentationml/2006/ole">
            <p:oleObj spid="_x0000_s1026" name="CorelDRAW" r:id="rId4" imgW="2939040" imgH="2885040" progId="">
              <p:embed/>
            </p:oleObj>
          </a:graphicData>
        </a:graphic>
      </p:graphicFrame>
      <p:sp>
        <p:nvSpPr>
          <p:cNvPr id="1027" name="2 Rectángulo"/>
          <p:cNvSpPr>
            <a:spLocks noChangeArrowheads="1"/>
          </p:cNvSpPr>
          <p:nvPr/>
        </p:nvSpPr>
        <p:spPr bwMode="auto">
          <a:xfrm>
            <a:off x="357188" y="0"/>
            <a:ext cx="8501062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 sz="9600" b="1">
                <a:solidFill>
                  <a:srgbClr val="716729"/>
                </a:solidFill>
                <a:latin typeface="Technical"/>
              </a:rPr>
              <a:t>Pre</a:t>
            </a:r>
            <a:r>
              <a:rPr lang="es-MX" b="1">
                <a:solidFill>
                  <a:srgbClr val="716729"/>
                </a:solidFill>
                <a:latin typeface="Technical"/>
              </a:rPr>
              <a:t>                           </a:t>
            </a:r>
            <a:r>
              <a:rPr lang="es-MX" sz="9600" b="1">
                <a:solidFill>
                  <a:srgbClr val="716729"/>
                </a:solidFill>
                <a:latin typeface="Technical"/>
              </a:rPr>
              <a:t>Natal</a:t>
            </a:r>
            <a:endParaRPr lang="es-ES">
              <a:latin typeface="Calibri" pitchFamily="34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71500" y="2000250"/>
            <a:ext cx="7812088" cy="7016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MX" sz="4000" b="1">
                <a:solidFill>
                  <a:srgbClr val="716729"/>
                </a:solidFill>
                <a:latin typeface="Technical"/>
              </a:rPr>
              <a:t> Prevención de discapacidades</a:t>
            </a:r>
            <a:endParaRPr lang="es-ES" sz="4000" b="1">
              <a:solidFill>
                <a:srgbClr val="716729"/>
              </a:solidFill>
              <a:latin typeface="Technical"/>
            </a:endParaRPr>
          </a:p>
        </p:txBody>
      </p:sp>
      <p:sp>
        <p:nvSpPr>
          <p:cNvPr id="1029" name="4 CuadroTexto"/>
          <p:cNvSpPr txBox="1">
            <a:spLocks noChangeArrowheads="1"/>
          </p:cNvSpPr>
          <p:nvPr/>
        </p:nvSpPr>
        <p:spPr bwMode="auto">
          <a:xfrm>
            <a:off x="2357438" y="4357688"/>
            <a:ext cx="43640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4000">
                <a:solidFill>
                  <a:srgbClr val="FFC000"/>
                </a:solidFill>
                <a:latin typeface="Calibri" pitchFamily="34" charset="0"/>
              </a:rPr>
              <a:t>Curso de diplomado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1 Gráfico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3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4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5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5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5 Gráfico"/>
          <p:cNvGraphicFramePr/>
          <p:nvPr/>
        </p:nvGraphicFramePr>
        <p:xfrm>
          <a:off x="0" y="0"/>
          <a:ext cx="9144000" cy="6572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6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 Gráfico"/>
          <p:cNvGraphicFramePr/>
          <p:nvPr/>
        </p:nvGraphicFramePr>
        <p:xfrm>
          <a:off x="0" y="0"/>
          <a:ext cx="9144000" cy="6500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8 Gráfico"/>
          <p:cNvGraphicFramePr/>
          <p:nvPr/>
        </p:nvGraphicFramePr>
        <p:xfrm>
          <a:off x="0" y="0"/>
          <a:ext cx="9144000" cy="6643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8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8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8 Gráfico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ódulo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407</Words>
  <Application>Microsoft Office PowerPoint</Application>
  <PresentationFormat>Presentación en pantalla (4:3)</PresentationFormat>
  <Paragraphs>87</Paragraphs>
  <Slides>22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4" baseType="lpstr">
      <vt:lpstr>Tema de Office</vt:lpstr>
      <vt:lpstr>CorelDRAW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</vt:vector>
  </TitlesOfParts>
  <Company>Cristhyan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Invitado</dc:creator>
  <cp:lastModifiedBy>Lilian</cp:lastModifiedBy>
  <cp:revision>15</cp:revision>
  <dcterms:created xsi:type="dcterms:W3CDTF">2010-09-18T03:47:13Z</dcterms:created>
  <dcterms:modified xsi:type="dcterms:W3CDTF">2011-02-24T23:40:04Z</dcterms:modified>
</cp:coreProperties>
</file>