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Valoración de  acuerdo  a patrones funcionales de salud 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442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PE" b="1" dirty="0"/>
              <a:t>Percepción de Salud – Manejo de Situación de Salud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b="1" dirty="0"/>
              <a:t>Historia de su salud:</a:t>
            </a:r>
            <a:endParaRPr lang="es-ES" dirty="0"/>
          </a:p>
          <a:p>
            <a:r>
              <a:rPr lang="es-ES" dirty="0"/>
              <a:t>A causa de su enfermedad, el paciente se encuentra deprimido, refiere que su estado de salud cada vez se complica. Y se encuentra nervioso por su cirugía que va presentar.</a:t>
            </a:r>
          </a:p>
          <a:p>
            <a:r>
              <a:rPr lang="es-ES" dirty="0"/>
              <a:t>Posteriormente a su cirugía paciente  no se puede comunicar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8160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76894" y="430060"/>
            <a:ext cx="8915400" cy="3777622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s-ES" b="1" dirty="0"/>
              <a:t>Hábitos para mantenerse sano:</a:t>
            </a:r>
            <a:endParaRPr lang="es-ES" dirty="0"/>
          </a:p>
          <a:p>
            <a:r>
              <a:rPr lang="es-ES" dirty="0"/>
              <a:t>Sus hábitos de higiene general, específica que lo realiza 2 veces a la semana, en este tiempo de su hospitalización,  menciona que el personal de salud  le realiza  el aseo diariamente durante la madrugada, ropa de cama y pijama se lo cambian después de su baño.</a:t>
            </a:r>
          </a:p>
          <a:p>
            <a:r>
              <a:rPr lang="es-ES" dirty="0"/>
              <a:t>Acostumbra a consumir medicina natural,  rara vez asiste a un centro hospitalario  en caso de no remediar sus dolencias.</a:t>
            </a:r>
          </a:p>
          <a:p>
            <a:r>
              <a:rPr lang="es-ES" dirty="0"/>
              <a:t>Actualmente el paciente siente encontrarse en un ambiente y sala segura, no se encuentran alterados sus sentidos, se puede observar que se encuentra expuesto a poder contraer algún tipo de infección, debido a que el paciente  se encuentra  con dispositivos invasivos</a:t>
            </a:r>
          </a:p>
          <a:p>
            <a:r>
              <a:rPr lang="es-ES" dirty="0"/>
              <a:t>Recibe oxigeno por mascarilla a 6 libras por minuto </a:t>
            </a:r>
          </a:p>
          <a:p>
            <a:r>
              <a:rPr lang="es-ES" dirty="0"/>
              <a:t>Posterior a su </a:t>
            </a:r>
            <a:r>
              <a:rPr lang="es-ES" dirty="0" err="1"/>
              <a:t>cirugia</a:t>
            </a:r>
            <a:r>
              <a:rPr lang="es-ES" dirty="0"/>
              <a:t> paciente con ventilación  mecánica </a:t>
            </a:r>
          </a:p>
          <a:p>
            <a:r>
              <a:rPr lang="es-ES" dirty="0"/>
              <a:t>Leucocitos  12.400 mm3</a:t>
            </a:r>
          </a:p>
          <a:p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1979113" y="4496844"/>
            <a:ext cx="9770301" cy="18914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/>
              <a:t>Real presencia de infección relacionado a tejido necrótico pancreático y compromiso del peritoneo </a:t>
            </a:r>
            <a:endParaRPr lang="es-ES"/>
          </a:p>
          <a:p>
            <a:pPr lvl="0"/>
            <a:r>
              <a:rPr lang="es-ES" b="1"/>
              <a:t>Alteración en el manejo de la situación actual de salud </a:t>
            </a:r>
            <a:r>
              <a:rPr lang="es-ES" b="1" i="1"/>
              <a:t>relacionado con </a:t>
            </a:r>
            <a:r>
              <a:rPr lang="es-ES" b="1"/>
              <a:t>preocupación sobre su estado de  salud.</a:t>
            </a:r>
            <a:endParaRPr lang="es-ES"/>
          </a:p>
          <a:p>
            <a:pPr lvl="0"/>
            <a:r>
              <a:rPr lang="es-ES" b="1"/>
              <a:t>Deficit de autocuidado baño, higiene relacionado a limitaciones  personales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602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 </a:t>
            </a:r>
            <a:br>
              <a:rPr lang="es-ES" dirty="0"/>
            </a:br>
            <a:r>
              <a:rPr lang="es-PE" b="1" i="1" dirty="0"/>
              <a:t>Patrón Nutricional – Metabolismo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ES" b="1" dirty="0"/>
              <a:t>Higiene e Integridad Cutánea</a:t>
            </a:r>
            <a:endParaRPr lang="es-ES" sz="1400" dirty="0"/>
          </a:p>
          <a:p>
            <a:r>
              <a:rPr lang="es-ES" dirty="0"/>
              <a:t>Piel: en regular  estado de conservación higiénica, color morena, hidratado, turgencia menor a 2 segundos, con presencia de edemas con </a:t>
            </a:r>
            <a:r>
              <a:rPr lang="es-ES" dirty="0" err="1"/>
              <a:t>fobea</a:t>
            </a:r>
            <a:r>
              <a:rPr lang="es-ES" dirty="0"/>
              <a:t> +++ </a:t>
            </a:r>
            <a:endParaRPr lang="es-ES" sz="1600" dirty="0"/>
          </a:p>
          <a:p>
            <a:r>
              <a:rPr lang="es-ES" dirty="0"/>
              <a:t>Pelo:(cuero cabelludo, vello): regular conservación higiénica, grueso, textura suave, color negro, con implantación pilosa normal, corta, sin presencia de caspa.</a:t>
            </a:r>
            <a:endParaRPr lang="es-ES" sz="1600" dirty="0"/>
          </a:p>
          <a:p>
            <a:r>
              <a:rPr lang="es-ES" dirty="0"/>
              <a:t>Uñas: regular conservación higiénica, duras, sin traumatismos, con zonas de callosidades en dedos de manos y pies.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518276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425885"/>
            <a:ext cx="8915400" cy="6087649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s-ES" b="1" dirty="0"/>
              <a:t>Estado Nutricional</a:t>
            </a:r>
            <a:endParaRPr lang="es-ES" dirty="0"/>
          </a:p>
          <a:p>
            <a:r>
              <a:rPr lang="es-ES" dirty="0"/>
              <a:t>Talla: 1.75 cm.</a:t>
            </a:r>
          </a:p>
          <a:p>
            <a:r>
              <a:rPr lang="es-ES" dirty="0"/>
              <a:t>Peso anterior:  no recuerda cundo se peso.</a:t>
            </a:r>
          </a:p>
          <a:p>
            <a:r>
              <a:rPr lang="es-ES" dirty="0"/>
              <a:t>Peso actual: 80 kg.</a:t>
            </a:r>
          </a:p>
          <a:p>
            <a:r>
              <a:rPr lang="es-ES" dirty="0"/>
              <a:t>Su temperatura actual es de 37. °C</a:t>
            </a:r>
          </a:p>
          <a:p>
            <a:r>
              <a:rPr lang="es-ES" dirty="0"/>
              <a:t>Paciente refiere  tener ganas de comer  ya que por muchos  días no come por el régimen </a:t>
            </a:r>
            <a:r>
              <a:rPr lang="es-ES" dirty="0" err="1"/>
              <a:t>terapeutico</a:t>
            </a:r>
            <a:r>
              <a:rPr lang="es-ES" dirty="0"/>
              <a:t>.</a:t>
            </a:r>
          </a:p>
          <a:p>
            <a:r>
              <a:rPr lang="es-ES" dirty="0"/>
              <a:t>Actualmente no presenta nauseas, vómitos, refiere que nunca sintió ese problema.</a:t>
            </a:r>
          </a:p>
          <a:p>
            <a:r>
              <a:rPr lang="es-ES" dirty="0"/>
              <a:t>Se puede describir que su ingesta diaria habitual de comidas en su casa es de 3 veces al día y su menú típico es:</a:t>
            </a:r>
          </a:p>
          <a:p>
            <a:pPr lvl="0"/>
            <a:r>
              <a:rPr lang="es-ES" dirty="0"/>
              <a:t>Desayuno 06 am.: té o chocolate con pan.</a:t>
            </a:r>
          </a:p>
          <a:p>
            <a:pPr lvl="0"/>
            <a:r>
              <a:rPr lang="es-ES" dirty="0"/>
              <a:t>Almuerzo 12 </a:t>
            </a:r>
            <a:r>
              <a:rPr lang="es-ES" baseline="30000" dirty="0"/>
              <a:t>30</a:t>
            </a:r>
            <a:r>
              <a:rPr lang="es-ES" dirty="0"/>
              <a:t>: sopa o segundo, solo uno en moderada cantidad, consume a veces legumbres, verduras, frutas; pero en su mayoría arroz, papa y fideo.</a:t>
            </a:r>
          </a:p>
          <a:p>
            <a:pPr lvl="0"/>
            <a:r>
              <a:rPr lang="es-ES" dirty="0"/>
              <a:t>Cena 20 pm.: sopa o segundo, solo uno en abundante cantidad, consume a veces legumbres, verduras, frutas; en su mayoría arroz, papa y fideo.</a:t>
            </a:r>
          </a:p>
          <a:p>
            <a:r>
              <a:rPr lang="es-ES" dirty="0"/>
              <a:t>Desde su internación  paciente estuvo 7 días en NPO, posteriormente  con nutrición parenteral parcial.</a:t>
            </a:r>
          </a:p>
          <a:p>
            <a:r>
              <a:rPr lang="es-ES" dirty="0"/>
              <a:t>Actualmente se encuentra NPO con nutrición  parenteral parcial con </a:t>
            </a:r>
            <a:r>
              <a:rPr lang="es-ES" dirty="0" err="1"/>
              <a:t>aminoplasma</a:t>
            </a:r>
            <a:r>
              <a:rPr lang="es-ES" dirty="0"/>
              <a:t> un frasco, dextrosa 500cc al 50 % con 50 unidades de  insulina cristalina </a:t>
            </a:r>
          </a:p>
          <a:p>
            <a:r>
              <a:rPr lang="es-ES" dirty="0"/>
              <a:t>Aporte calórico de 500 gramos  de glucosa = 2000 kilocalorías  diarias </a:t>
            </a:r>
          </a:p>
          <a:p>
            <a:r>
              <a:rPr lang="es-ES" b="1" dirty="0"/>
              <a:t>TAC de abdomen </a:t>
            </a:r>
            <a:r>
              <a:rPr lang="es-ES" dirty="0"/>
              <a:t>=</a:t>
            </a:r>
            <a:r>
              <a:rPr lang="es-ES" dirty="0" smtClean="0"/>
              <a:t>Pancreatitis  </a:t>
            </a:r>
            <a:r>
              <a:rPr lang="es-ES" dirty="0"/>
              <a:t>edematosa necrotizante (con formación de abscesos  </a:t>
            </a:r>
            <a:r>
              <a:rPr lang="es-ES" dirty="0" err="1"/>
              <a:t>perirrenales</a:t>
            </a:r>
            <a:r>
              <a:rPr lang="es-ES" dirty="0"/>
              <a:t>), comprometiendo el peritoneo  y derrame pleural izquierdo  y ascitis en poca cantidad  </a:t>
            </a:r>
            <a:r>
              <a:rPr lang="es-ES" dirty="0" err="1"/>
              <a:t>perihepatica</a:t>
            </a:r>
            <a:r>
              <a:rPr lang="es-ES" dirty="0"/>
              <a:t> y peri esplénica con </a:t>
            </a:r>
            <a:r>
              <a:rPr lang="es-ES" dirty="0" err="1"/>
              <a:t>litiais</a:t>
            </a:r>
            <a:r>
              <a:rPr lang="es-ES" dirty="0"/>
              <a:t> vesicular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1194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ángulo redondeado 3"/>
          <p:cNvSpPr/>
          <p:nvPr/>
        </p:nvSpPr>
        <p:spPr>
          <a:xfrm>
            <a:off x="3093929" y="2279737"/>
            <a:ext cx="7753611" cy="31690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u="sng"/>
              <a:t>Diagnóstico de enfermería</a:t>
            </a:r>
            <a:endParaRPr lang="es-ES"/>
          </a:p>
          <a:p>
            <a:pPr lvl="0"/>
            <a:r>
              <a:rPr lang="es-ES"/>
              <a:t>Alteración  de la nutrición  por defecto  relacionado con  aporte calórico menor a los requerimientos, problemas de digestión secundaria  a una disminución  de las enzimas pancreáticas.</a:t>
            </a:r>
          </a:p>
          <a:p>
            <a:r>
              <a:rPr lang="es-E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5293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53753"/>
          </a:xfrm>
        </p:spPr>
        <p:txBody>
          <a:bodyPr/>
          <a:lstStyle/>
          <a:p>
            <a:pPr lvl="1" algn="l" defTabSz="457200" rtl="0">
              <a:spcBef>
                <a:spcPct val="0"/>
              </a:spcBef>
            </a:pPr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Líquidos y Electrolitos</a:t>
            </a:r>
            <a:r>
              <a:rPr lang="es-ES" sz="1200" dirty="0">
                <a:solidFill>
                  <a:schemeClr val="tx1"/>
                </a:solidFill>
              </a:rPr>
              <a:t/>
            </a:r>
            <a:br>
              <a:rPr lang="es-ES" sz="1200" dirty="0">
                <a:solidFill>
                  <a:schemeClr val="tx1"/>
                </a:solidFill>
              </a:rPr>
            </a:br>
            <a:endParaRPr lang="es-E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7564362"/>
              </p:ext>
            </p:extLst>
          </p:nvPr>
        </p:nvGraphicFramePr>
        <p:xfrm>
          <a:off x="4395544" y="4434570"/>
          <a:ext cx="5703570" cy="20241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5575"/>
                <a:gridCol w="1425575"/>
                <a:gridCol w="1426210"/>
                <a:gridCol w="1426210"/>
              </a:tblGrid>
              <a:tr h="0"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PERFIL ELECTROLITICO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Sodio 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           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         153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135-145mEq/l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Potasio 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            4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3.5- 5.3mEq/l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Cloro 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         113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95-105mEq/l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PERFIL METABOLICO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Glucemia 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          210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70-110mg/dl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124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Urea 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          145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20-45mg/dl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057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Creatinina 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           2.9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0.6-1,3mg/dl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30050" y="1690952"/>
            <a:ext cx="669307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95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95400" algn="l"/>
              </a:tabLst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Paciente refiere que bebe poca cantidad de líquidos en 24 horas, la ingesta de líquidos por vía oral  en su casa es de 4 a 6 vasos y su desgaste físico era mayor, refiere que constantemente su boca la sentía seca.</a:t>
            </a: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95400" algn="l"/>
              </a:tabLst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Actualmente en hospital se encuentra en NPO </a:t>
            </a: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95400" algn="l"/>
              </a:tabLst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Con diurético de 10 </a:t>
            </a:r>
            <a:r>
              <a:rPr kumimoji="0" lang="es-E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amp</a:t>
            </a: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 de furosemida diluido en sol. Fisiológica 250cc p 24/</a:t>
            </a:r>
            <a:r>
              <a:rPr kumimoji="0" lang="es-E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hrs</a:t>
            </a: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95400" algn="l"/>
              </a:tabLst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Presenta edemas  en miembros  superiores e inferiores con fóvea +++.</a:t>
            </a: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95400" algn="l"/>
              </a:tabLst>
            </a:pPr>
            <a:r>
              <a:rPr kumimoji="0" lang="es-E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Laboratorios</a:t>
            </a: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8893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43237" y="2903847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s-ES" b="1" i="1" u="sng" dirty="0"/>
              <a:t>Diagnostico de enfermería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Sobrecarga hídrica relacionado con la disminución del  gasto urinario,  retención de sodio  y agua secundario  a la disminución de la función renal  </a:t>
            </a:r>
            <a:br>
              <a:rPr lang="es-ES" dirty="0"/>
            </a:br>
            <a:endParaRPr lang="es-ES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637216"/>
              </p:ext>
            </p:extLst>
          </p:nvPr>
        </p:nvGraphicFramePr>
        <p:xfrm>
          <a:off x="2705623" y="821323"/>
          <a:ext cx="7791187" cy="14562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5379"/>
                <a:gridCol w="1954854"/>
                <a:gridCol w="1800477"/>
                <a:gridCol w="1800477"/>
              </a:tblGrid>
              <a:tr h="74041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 dirty="0">
                          <a:effectLst/>
                        </a:rPr>
                        <a:t>Líquidos  administrados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Líquidos eliminados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Balance  en 24 hrs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Balance acumulativo 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790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4602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 dirty="0">
                          <a:effectLst/>
                        </a:rPr>
                        <a:t>5360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-758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2620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790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5729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5050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>
                          <a:effectLst/>
                        </a:rPr>
                        <a:t>+679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PE" sz="1200" dirty="0">
                          <a:effectLst/>
                        </a:rPr>
                        <a:t>+3299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167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PE" b="1" i="1" dirty="0"/>
              <a:t>Patrón de Eliminación</a:t>
            </a:r>
            <a:r>
              <a:rPr lang="es-ES" sz="3200" dirty="0"/>
              <a:t/>
            </a:r>
            <a:br>
              <a:rPr lang="es-ES" sz="3200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16899" y="1528175"/>
            <a:ext cx="9387713" cy="4383047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s-ES" sz="1900" b="1" dirty="0" smtClean="0"/>
              <a:t>Intestinal</a:t>
            </a:r>
            <a:endParaRPr lang="es-ES" sz="1900" dirty="0"/>
          </a:p>
          <a:p>
            <a:r>
              <a:rPr lang="es-ES" sz="1900" dirty="0"/>
              <a:t> Paciente  refiere que su patrón de eliminación antes de su ingreso al hospital fue con una frecuencia de 2  veces al día de características </a:t>
            </a:r>
            <a:r>
              <a:rPr lang="es-ES" sz="1900" dirty="0" err="1"/>
              <a:t>semi</a:t>
            </a:r>
            <a:r>
              <a:rPr lang="es-ES" sz="1900" dirty="0"/>
              <a:t> pastosas, no presentaba dolor en la eliminación.</a:t>
            </a:r>
          </a:p>
          <a:p>
            <a:r>
              <a:rPr lang="es-ES" sz="1900" dirty="0"/>
              <a:t>Actualmente con una frecuencia de 3 a 4  deposiciones diarias  </a:t>
            </a:r>
            <a:r>
              <a:rPr lang="es-ES" sz="1900" dirty="0" err="1"/>
              <a:t>semi</a:t>
            </a:r>
            <a:r>
              <a:rPr lang="es-ES" sz="1900" dirty="0"/>
              <a:t> liquidas </a:t>
            </a:r>
          </a:p>
          <a:p>
            <a:pPr lvl="0"/>
            <a:r>
              <a:rPr lang="es-ES" sz="1900" b="1" dirty="0"/>
              <a:t>Urinario:</a:t>
            </a:r>
            <a:endParaRPr lang="es-ES" sz="1900" dirty="0"/>
          </a:p>
          <a:p>
            <a:r>
              <a:rPr lang="es-ES" sz="1900" dirty="0"/>
              <a:t>Anteriormente el paciente presentaba una micción de 3 – 4 veces al día en una cantidad moderada de +/- 200cc.  en cada una, de características amarillo,  con olor.</a:t>
            </a:r>
          </a:p>
          <a:p>
            <a:r>
              <a:rPr lang="es-ES" sz="1900" dirty="0"/>
              <a:t>Actualmente se encuentra con sonda Foley con una diuresis horaria 143cc  con apoyo de  furosemida 200mg (10 </a:t>
            </a:r>
            <a:r>
              <a:rPr lang="es-ES" sz="1900" dirty="0" err="1"/>
              <a:t>amp</a:t>
            </a:r>
            <a:r>
              <a:rPr lang="es-ES" sz="1900" dirty="0"/>
              <a:t>.) diluido en solución fisiológica 250cc para 24 </a:t>
            </a:r>
            <a:r>
              <a:rPr lang="es-ES" sz="1900" dirty="0" err="1"/>
              <a:t>hrs</a:t>
            </a:r>
            <a:r>
              <a:rPr lang="es-ES" sz="1900" dirty="0"/>
              <a:t>.</a:t>
            </a:r>
          </a:p>
          <a:p>
            <a:r>
              <a:rPr lang="es-ES" sz="1900" b="1" i="1" u="sng" dirty="0"/>
              <a:t>Diagnostico de enfermería</a:t>
            </a:r>
            <a:endParaRPr lang="es-ES" sz="1900" dirty="0"/>
          </a:p>
          <a:p>
            <a:pPr lvl="0"/>
            <a:r>
              <a:rPr lang="es-ES" sz="1900" dirty="0"/>
              <a:t>Alteración del patrón de eliminación intestinal relacionado a proceso infeccioso</a:t>
            </a:r>
            <a:r>
              <a:rPr lang="es-ES" dirty="0"/>
              <a:t>.</a:t>
            </a:r>
            <a:endParaRPr lang="es-ES" sz="16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07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PE" b="1" i="1" dirty="0"/>
              <a:t>Patrón de Actividad y Ejercicio</a:t>
            </a:r>
            <a:r>
              <a:rPr lang="es-ES" sz="3200" dirty="0"/>
              <a:t/>
            </a:r>
            <a:br>
              <a:rPr lang="es-ES" sz="3200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40910" y="1465545"/>
            <a:ext cx="9863702" cy="4997885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s-ES" b="1" dirty="0" smtClean="0"/>
              <a:t>Valoración </a:t>
            </a:r>
            <a:r>
              <a:rPr lang="es-ES" b="1" dirty="0"/>
              <a:t>Cardiopulmonar:</a:t>
            </a:r>
            <a:endParaRPr lang="es-ES" sz="1400" dirty="0"/>
          </a:p>
          <a:p>
            <a:r>
              <a:rPr lang="es-ES" dirty="0"/>
              <a:t>Pulso: La frecuencia del pulso es de 102  por minuto, con pulso regular, perceptible.</a:t>
            </a:r>
            <a:endParaRPr lang="es-ES" sz="1600" dirty="0"/>
          </a:p>
          <a:p>
            <a:r>
              <a:rPr lang="es-ES" dirty="0"/>
              <a:t>Presión Arterial: Presenta una presión de 130/90 </a:t>
            </a:r>
            <a:r>
              <a:rPr lang="es-ES" dirty="0" err="1"/>
              <a:t>mmHg</a:t>
            </a:r>
            <a:r>
              <a:rPr lang="es-ES" dirty="0"/>
              <a:t>., siendo tomado en la cama en posición decúbito dorsal.</a:t>
            </a:r>
            <a:endParaRPr lang="es-ES" sz="1600" dirty="0"/>
          </a:p>
          <a:p>
            <a:r>
              <a:rPr lang="es-ES" dirty="0"/>
              <a:t>Paciente no refiere cambios en la función cardiaca, cuando realiza actividades cotidianas, no se fatiga al caminar.</a:t>
            </a:r>
            <a:endParaRPr lang="es-ES" sz="1600" dirty="0"/>
          </a:p>
          <a:p>
            <a:r>
              <a:rPr lang="es-ES" dirty="0"/>
              <a:t>Respiración: Es de 30  por minuto, presenta signos de dificultad respiratoria disnea, taquipnea, utilización de músculos accesorios,  con oxígeno complementario  a 6l/x por mascarilla   con una saturación de oxigeno de 88-90%,</a:t>
            </a:r>
            <a:endParaRPr lang="es-ES" sz="1600" dirty="0"/>
          </a:p>
          <a:p>
            <a:r>
              <a:rPr lang="es-ES" dirty="0"/>
              <a:t>Pulmones murmullo vesicular conservado  en ápices pulmonares, en tercio medio  derecho con presencia de </a:t>
            </a:r>
            <a:r>
              <a:rPr lang="es-ES" dirty="0" err="1"/>
              <a:t>estreptores</a:t>
            </a:r>
            <a:r>
              <a:rPr lang="es-ES" dirty="0"/>
              <a:t>, murmullo vesicular disminuido  en ambas bases pulmonares.</a:t>
            </a:r>
            <a:endParaRPr lang="es-ES" sz="1600" dirty="0"/>
          </a:p>
          <a:p>
            <a:r>
              <a:rPr lang="es-ES" dirty="0"/>
              <a:t>RX de </a:t>
            </a:r>
            <a:r>
              <a:rPr lang="es-ES" dirty="0" err="1"/>
              <a:t>torax</a:t>
            </a:r>
            <a:r>
              <a:rPr lang="es-ES" dirty="0"/>
              <a:t>: derrame pleural bilateral </a:t>
            </a:r>
            <a:endParaRPr lang="es-ES" sz="1600" dirty="0"/>
          </a:p>
          <a:p>
            <a:r>
              <a:rPr lang="es-ES" dirty="0"/>
              <a:t>Después de su cirugía paciente con apoyo de inotrópicos:</a:t>
            </a:r>
            <a:endParaRPr lang="es-ES" sz="1600" dirty="0"/>
          </a:p>
          <a:p>
            <a:pPr lvl="0"/>
            <a:r>
              <a:rPr lang="es-ES" dirty="0"/>
              <a:t>8 mg de noradrenalina  diluido en 50 cc de sol. Fisiológico a 4.5cc/ hora</a:t>
            </a:r>
            <a:endParaRPr lang="es-ES" sz="1600" dirty="0"/>
          </a:p>
          <a:p>
            <a:pPr lvl="0"/>
            <a:r>
              <a:rPr lang="es-ES" dirty="0"/>
              <a:t>400 mg  de dopamina  diluido en 50cc  sol fisiológica a 3 cc hora </a:t>
            </a:r>
            <a:endParaRPr lang="es-ES" sz="1600" dirty="0"/>
          </a:p>
          <a:p>
            <a:pPr lvl="0"/>
            <a:r>
              <a:rPr lang="es-ES" dirty="0"/>
              <a:t>Drenaje  bajo sello de agua en </a:t>
            </a:r>
            <a:r>
              <a:rPr lang="es-ES" dirty="0" err="1"/>
              <a:t>hemitorax</a:t>
            </a:r>
            <a:r>
              <a:rPr lang="es-ES" dirty="0"/>
              <a:t> izquierdo </a:t>
            </a:r>
            <a:endParaRPr lang="es-ES" sz="16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42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71" y="2329840"/>
            <a:ext cx="8911687" cy="639871"/>
          </a:xfrm>
        </p:spPr>
        <p:txBody>
          <a:bodyPr>
            <a:normAutofit fontScale="90000"/>
          </a:bodyPr>
          <a:lstStyle/>
          <a:p>
            <a:r>
              <a:rPr lang="es-ES" b="1" i="1" u="sng" dirty="0"/>
              <a:t>Diagnostico de enfermería</a:t>
            </a:r>
            <a:r>
              <a:rPr lang="es-ES" dirty="0"/>
              <a:t/>
            </a:r>
            <a:br>
              <a:rPr lang="es-ES" dirty="0"/>
            </a:br>
            <a:r>
              <a:rPr lang="es-ES" sz="2700" dirty="0"/>
              <a:t>Alteración del patrón respiratorio relacionado  a la limpieza ineficaz de las vías respiratorias por acumulación de secreciones secundaria a proceso infeccioso   y la reducción de la capacidad  </a:t>
            </a:r>
            <a:r>
              <a:rPr lang="es-ES" sz="2700" dirty="0" smtClean="0"/>
              <a:t>pulmonar</a:t>
            </a:r>
            <a:br>
              <a:rPr lang="es-ES" sz="2700" dirty="0" smtClean="0"/>
            </a:br>
            <a:r>
              <a:rPr lang="es-ES" sz="2700" dirty="0"/>
              <a:t/>
            </a:r>
            <a:br>
              <a:rPr lang="es-ES" sz="2700" dirty="0"/>
            </a:br>
            <a:r>
              <a:rPr lang="es-ES" sz="2700" dirty="0"/>
              <a:t>Potencial deterioro de la integridad cutánea relacionado con la falta de movilización, sequedad de la piel. </a:t>
            </a:r>
            <a:br>
              <a:rPr lang="es-ES" sz="2700" dirty="0"/>
            </a:br>
            <a:r>
              <a:rPr lang="es-ES" sz="2700" dirty="0"/>
              <a:t> </a:t>
            </a:r>
            <a:br>
              <a:rPr lang="es-ES" sz="2700" dirty="0"/>
            </a:br>
            <a:endParaRPr lang="es-ES" sz="27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304789" y="370570"/>
            <a:ext cx="8636152" cy="2428986"/>
          </a:xfrm>
        </p:spPr>
        <p:txBody>
          <a:bodyPr>
            <a:normAutofit/>
          </a:bodyPr>
          <a:lstStyle/>
          <a:p>
            <a:r>
              <a:rPr lang="es-ES" b="1" dirty="0"/>
              <a:t>Capacidad motora:</a:t>
            </a:r>
            <a:endParaRPr lang="es-ES" dirty="0"/>
          </a:p>
          <a:p>
            <a:r>
              <a:rPr lang="es-ES" dirty="0"/>
              <a:t>Paciente tiene fuerza, energía suficiente para afrontar las actividades físicas de la vida diaria deseadas y precisas.</a:t>
            </a:r>
          </a:p>
          <a:p>
            <a:r>
              <a:rPr lang="es-ES" dirty="0"/>
              <a:t>Refiere que en sus tiempos libres practica actividades de recreativas como el futbol, junto a sus colegas de trabajo.</a:t>
            </a:r>
          </a:p>
          <a:p>
            <a:r>
              <a:rPr lang="es-ES" b="1" i="1" dirty="0"/>
              <a:t> 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0222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PE" b="1" i="1" dirty="0"/>
              <a:t>Patrón de Sueño y Descanso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367419" y="1615858"/>
            <a:ext cx="9137193" cy="4295364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 </a:t>
            </a:r>
          </a:p>
          <a:p>
            <a:r>
              <a:rPr lang="es-ES" dirty="0" smtClean="0"/>
              <a:t>Refiere </a:t>
            </a:r>
            <a:r>
              <a:rPr lang="es-ES" dirty="0"/>
              <a:t>que antes de su hospitalización dormía durante la noche de 24:00 p.m. a 6:00a.m., su patrón de sueño es de 6 horas, durante el día descansaba a media mañana </a:t>
            </a:r>
          </a:p>
          <a:p>
            <a:r>
              <a:rPr lang="es-ES" dirty="0"/>
              <a:t>Actualmente duerme con sueño superficial, por el  ambiente  hospitalario, e últimamente no pudo conciliar el sueño  por la preocupación  de su cirugía</a:t>
            </a:r>
          </a:p>
          <a:p>
            <a:r>
              <a:rPr lang="es-ES" b="1" i="1" u="sng" dirty="0"/>
              <a:t>Diagnostico de enfermería</a:t>
            </a:r>
            <a:endParaRPr lang="es-ES" dirty="0"/>
          </a:p>
          <a:p>
            <a:pPr lvl="0"/>
            <a:r>
              <a:rPr lang="es-ES" dirty="0"/>
              <a:t>Alteración del patrón del sueño relacionado con factores ambientales hospitalario.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5747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19040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</TotalTime>
  <Words>1104</Words>
  <Application>Microsoft Office PowerPoint</Application>
  <PresentationFormat>Panorámica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Wingdings 3</vt:lpstr>
      <vt:lpstr>Espiral</vt:lpstr>
      <vt:lpstr>Valoración de  acuerdo  a patrones funcionales de salud </vt:lpstr>
      <vt:lpstr>Percepción de Salud – Manejo de Situación de Salud </vt:lpstr>
      <vt:lpstr>Presentación de PowerPoint</vt:lpstr>
      <vt:lpstr>  Patrón Nutricional – Metabolismo </vt:lpstr>
      <vt:lpstr>Presentación de PowerPoint</vt:lpstr>
      <vt:lpstr>Presentación de PowerPoint</vt:lpstr>
      <vt:lpstr>Líquidos y Electrolitos </vt:lpstr>
      <vt:lpstr>Diagnostico de enfermería Sobrecarga hídrica relacionado con la disminución del  gasto urinario,  retención de sodio  y agua secundario  a la disminución de la función renal   </vt:lpstr>
      <vt:lpstr>Patrón de Eliminación </vt:lpstr>
      <vt:lpstr>Patrón de Actividad y Ejercicio </vt:lpstr>
      <vt:lpstr>Diagnostico de enfermería Alteración del patrón respiratorio relacionado  a la limpieza ineficaz de las vías respiratorias por acumulación de secreciones secundaria a proceso infeccioso   y la reducción de la capacidad  pulmonar  Potencial deterioro de la integridad cutánea relacionado con la falta de movilización, sequedad de la piel.    </vt:lpstr>
      <vt:lpstr>Patrón de Sueño y Descanso 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Valoración de  acuerdo  a patrones funcionales de salud</dc:title>
  <dc:creator>PC</dc:creator>
  <cp:lastModifiedBy>PC</cp:lastModifiedBy>
  <cp:revision>2</cp:revision>
  <dcterms:created xsi:type="dcterms:W3CDTF">2014-02-15T05:00:25Z</dcterms:created>
  <dcterms:modified xsi:type="dcterms:W3CDTF">2014-02-15T05:15:11Z</dcterms:modified>
</cp:coreProperties>
</file>