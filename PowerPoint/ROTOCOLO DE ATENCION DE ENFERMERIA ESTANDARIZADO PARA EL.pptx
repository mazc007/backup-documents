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74" r:id="rId13"/>
    <p:sldId id="275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72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0299-7083-4D73-B404-38C167B28AB6}" type="datetimeFigureOut">
              <a:rPr lang="es-PE" smtClean="0"/>
              <a:pPr/>
              <a:t>31/05/2014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5A40-69C1-4EA9-A53E-BFFD4FB125D2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0299-7083-4D73-B404-38C167B28AB6}" type="datetimeFigureOut">
              <a:rPr lang="es-PE" smtClean="0"/>
              <a:pPr/>
              <a:t>31/05/2014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5A40-69C1-4EA9-A53E-BFFD4FB125D2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0299-7083-4D73-B404-38C167B28AB6}" type="datetimeFigureOut">
              <a:rPr lang="es-PE" smtClean="0"/>
              <a:pPr/>
              <a:t>31/05/2014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5A40-69C1-4EA9-A53E-BFFD4FB125D2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0299-7083-4D73-B404-38C167B28AB6}" type="datetimeFigureOut">
              <a:rPr lang="es-PE" smtClean="0"/>
              <a:pPr/>
              <a:t>31/05/2014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5A40-69C1-4EA9-A53E-BFFD4FB125D2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0299-7083-4D73-B404-38C167B28AB6}" type="datetimeFigureOut">
              <a:rPr lang="es-PE" smtClean="0"/>
              <a:pPr/>
              <a:t>31/05/2014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5A40-69C1-4EA9-A53E-BFFD4FB125D2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0299-7083-4D73-B404-38C167B28AB6}" type="datetimeFigureOut">
              <a:rPr lang="es-PE" smtClean="0"/>
              <a:pPr/>
              <a:t>31/05/2014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5A40-69C1-4EA9-A53E-BFFD4FB125D2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0299-7083-4D73-B404-38C167B28AB6}" type="datetimeFigureOut">
              <a:rPr lang="es-PE" smtClean="0"/>
              <a:pPr/>
              <a:t>31/05/2014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5A40-69C1-4EA9-A53E-BFFD4FB125D2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0299-7083-4D73-B404-38C167B28AB6}" type="datetimeFigureOut">
              <a:rPr lang="es-PE" smtClean="0"/>
              <a:pPr/>
              <a:t>31/05/2014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5A40-69C1-4EA9-A53E-BFFD4FB125D2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0299-7083-4D73-B404-38C167B28AB6}" type="datetimeFigureOut">
              <a:rPr lang="es-PE" smtClean="0"/>
              <a:pPr/>
              <a:t>31/05/2014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5A40-69C1-4EA9-A53E-BFFD4FB125D2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0299-7083-4D73-B404-38C167B28AB6}" type="datetimeFigureOut">
              <a:rPr lang="es-PE" smtClean="0"/>
              <a:pPr/>
              <a:t>31/05/2014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5A40-69C1-4EA9-A53E-BFFD4FB125D2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0299-7083-4D73-B404-38C167B28AB6}" type="datetimeFigureOut">
              <a:rPr lang="es-PE" smtClean="0"/>
              <a:pPr/>
              <a:t>31/05/2014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35A40-69C1-4EA9-A53E-BFFD4FB125D2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36570299-7083-4D73-B404-38C167B28AB6}" type="datetimeFigureOut">
              <a:rPr lang="es-PE" smtClean="0"/>
              <a:pPr/>
              <a:t>31/05/2014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3DE35A40-69C1-4EA9-A53E-BFFD4FB125D2}" type="slidenum">
              <a:rPr lang="es-PE" smtClean="0"/>
              <a:pPr/>
              <a:t>‹Nº›</a:t>
            </a:fld>
            <a:endParaRPr lang="es-PE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4572000" y="3861048"/>
            <a:ext cx="3528392" cy="216024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PE" b="1" dirty="0"/>
              <a:t>DOCENTE: </a:t>
            </a:r>
            <a:endParaRPr lang="es-PE" dirty="0"/>
          </a:p>
          <a:p>
            <a:pPr algn="just"/>
            <a:r>
              <a:rPr lang="es-PE" b="1" dirty="0"/>
              <a:t>LIC. VICTORIA NICOLAS C.</a:t>
            </a:r>
            <a:endParaRPr lang="es-PE" dirty="0"/>
          </a:p>
          <a:p>
            <a:pPr algn="just"/>
            <a:r>
              <a:rPr lang="es-PE" b="1" dirty="0"/>
              <a:t>ESTUDIANTES:</a:t>
            </a:r>
            <a:endParaRPr lang="es-PE" dirty="0"/>
          </a:p>
          <a:p>
            <a:pPr lvl="0" algn="just"/>
            <a:r>
              <a:rPr lang="es-PE" b="1" dirty="0"/>
              <a:t>MENDOZA VILLCA CELIA</a:t>
            </a:r>
            <a:endParaRPr lang="es-PE" dirty="0"/>
          </a:p>
          <a:p>
            <a:pPr lvl="0" algn="just"/>
            <a:r>
              <a:rPr lang="es-PE" b="1" dirty="0"/>
              <a:t>ROCHA ORTEGA VERONICA T.</a:t>
            </a:r>
            <a:endParaRPr lang="es-PE" dirty="0"/>
          </a:p>
          <a:p>
            <a:pPr algn="just"/>
            <a:r>
              <a:rPr lang="es-PE" b="1" dirty="0"/>
              <a:t> </a:t>
            </a:r>
            <a:endParaRPr lang="es-PE" dirty="0"/>
          </a:p>
          <a:p>
            <a:endParaRPr lang="es-PE" dirty="0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b="1" dirty="0" err="1" smtClean="0"/>
              <a:t>pROTOCOLO</a:t>
            </a:r>
            <a:r>
              <a:rPr lang="es-ES_tradnl" b="1" dirty="0" smtClean="0"/>
              <a:t> </a:t>
            </a:r>
            <a:r>
              <a:rPr lang="es-ES_tradnl" b="1" dirty="0"/>
              <a:t>DE ATENCION DE ENFERMERIA ESTANDARIZADO PARA EL PACIENTE QUE INGRESA A PROCEDIMIENTOS QUIRURGICOS DE  </a:t>
            </a:r>
            <a:r>
              <a:rPr lang="es-PE" dirty="0"/>
              <a:t/>
            </a:r>
            <a:br>
              <a:rPr lang="es-PE" dirty="0"/>
            </a:br>
            <a:r>
              <a:rPr lang="es-ES_tradnl" b="1" dirty="0"/>
              <a:t>FISTULA ANO - RECTAL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xmlns="" val="370782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340768"/>
            <a:ext cx="7924800" cy="1143000"/>
          </a:xfrm>
        </p:spPr>
        <p:txBody>
          <a:bodyPr/>
          <a:lstStyle/>
          <a:p>
            <a:pPr algn="ctr"/>
            <a:r>
              <a:rPr lang="es-PE" sz="5400" dirty="0" smtClean="0"/>
              <a:t>FISTULA ANO - RECTAL</a:t>
            </a:r>
            <a:endParaRPr lang="es-PE" sz="5400" dirty="0"/>
          </a:p>
        </p:txBody>
      </p:sp>
      <p:pic>
        <p:nvPicPr>
          <p:cNvPr id="8194" name="Picture 2" descr="C:\Documents and Settings\F&amp;M&amp;V\Escritorio\nanda\imagesff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12640" y="2724933"/>
            <a:ext cx="4970539" cy="308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63868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DEFINICION:</a:t>
            </a:r>
            <a:r>
              <a:rPr lang="es-PE" dirty="0"/>
              <a:t/>
            </a:r>
            <a:br>
              <a:rPr lang="es-PE" dirty="0"/>
            </a:b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lvl="0" algn="just"/>
            <a:r>
              <a:rPr lang="es-ES_tradnl" sz="2400" i="1" dirty="0" smtClean="0"/>
              <a:t>Fistula</a:t>
            </a:r>
            <a:r>
              <a:rPr lang="es-ES_tradnl" sz="2400" i="1" dirty="0"/>
              <a:t>:</a:t>
            </a:r>
            <a:r>
              <a:rPr lang="es-ES_tradnl" sz="2400" dirty="0"/>
              <a:t> Una fistula es una comunicación anormal entre dos superficies </a:t>
            </a:r>
            <a:r>
              <a:rPr lang="es-ES_tradnl" sz="2400" dirty="0" err="1"/>
              <a:t>epitelizadas</a:t>
            </a:r>
            <a:r>
              <a:rPr lang="es-ES_tradnl" sz="2400" dirty="0"/>
              <a:t>, por lo  general con tejido de granulación</a:t>
            </a:r>
            <a:r>
              <a:rPr lang="es-ES_tradnl" sz="2400" dirty="0" smtClean="0"/>
              <a:t>.</a:t>
            </a:r>
          </a:p>
          <a:p>
            <a:pPr marL="0" lvl="0" indent="0" algn="just">
              <a:buNone/>
            </a:pPr>
            <a:endParaRPr lang="es-PE" sz="2400" dirty="0"/>
          </a:p>
          <a:p>
            <a:pPr lvl="0" algn="just"/>
            <a:r>
              <a:rPr lang="es-PE" sz="2400" i="1" dirty="0"/>
              <a:t>Fistula ano - rectal:</a:t>
            </a:r>
            <a:r>
              <a:rPr lang="es-PE" sz="2400" dirty="0"/>
              <a:t> Se origina en la infección de una cripta anal, en la  desembocadura de las glándulas anales de </a:t>
            </a:r>
            <a:r>
              <a:rPr lang="es-PE" sz="2400" dirty="0" err="1"/>
              <a:t>Hermann</a:t>
            </a:r>
            <a:r>
              <a:rPr lang="es-PE" sz="2400" dirty="0"/>
              <a:t> y </a:t>
            </a:r>
            <a:r>
              <a:rPr lang="es-PE" sz="2400" dirty="0" err="1"/>
              <a:t>Desfosses</a:t>
            </a:r>
            <a:r>
              <a:rPr lang="es-PE" sz="2400" dirty="0"/>
              <a:t>. En su evolución tiende a desarrollar trayectos que comunican el canal anal con la piel (lo más frecuente) o con la ampolla rectal.</a:t>
            </a:r>
          </a:p>
          <a:p>
            <a:pPr marL="0" lvl="0" indent="0">
              <a:buNone/>
            </a:pPr>
            <a:r>
              <a:rPr lang="es-ES_tradnl" dirty="0" smtClean="0"/>
              <a:t> </a:t>
            </a:r>
            <a:endParaRPr lang="es-PE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xmlns="" val="296186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1026" name="Picture 2" descr="C:\Documents and Settings\F&amp;M&amp;V\Escritorio\nanda\imagesfa.jpeg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628799"/>
            <a:ext cx="4852593" cy="397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57824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s-PE" dirty="0"/>
              <a:t>Signos y síntomas: </a:t>
            </a:r>
            <a:br>
              <a:rPr lang="es-PE" dirty="0"/>
            </a:b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 algn="just"/>
            <a:r>
              <a:rPr lang="es-PE" sz="2800" dirty="0" smtClean="0"/>
              <a:t>Dolor </a:t>
            </a:r>
            <a:r>
              <a:rPr lang="es-PE" sz="2800" dirty="0"/>
              <a:t>en la zona afectada sobre todo en episodios agudos, </a:t>
            </a:r>
          </a:p>
          <a:p>
            <a:pPr lvl="0" algn="just"/>
            <a:r>
              <a:rPr lang="es-PE" sz="2800" dirty="0"/>
              <a:t>Puede aparecer fiebre y malestar general, </a:t>
            </a:r>
          </a:p>
          <a:p>
            <a:pPr lvl="0" algn="just"/>
            <a:r>
              <a:rPr lang="es-PE" sz="2800" dirty="0"/>
              <a:t>Enrojecimiento e inflamación y/o sangrado</a:t>
            </a:r>
          </a:p>
          <a:p>
            <a:pPr lvl="0" algn="just"/>
            <a:r>
              <a:rPr lang="es-PE" sz="2800" dirty="0"/>
              <a:t>Prurito  ardor al defecar</a:t>
            </a:r>
          </a:p>
          <a:p>
            <a:endParaRPr lang="es-PE" dirty="0"/>
          </a:p>
        </p:txBody>
      </p:sp>
      <p:pic>
        <p:nvPicPr>
          <p:cNvPr id="2050" name="Picture 2" descr="C:\Documents and Settings\F&amp;M&amp;V\Escritorio\fistulas\herrt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40152" y="3933056"/>
            <a:ext cx="2592288" cy="262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38076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s-PE" dirty="0"/>
              <a:t>Exámenes de diagnóstico :</a:t>
            </a:r>
            <a:br>
              <a:rPr lang="es-PE" dirty="0"/>
            </a:b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 algn="just"/>
            <a:r>
              <a:rPr lang="es-PE" sz="2800" dirty="0" smtClean="0"/>
              <a:t>Fistulografía</a:t>
            </a:r>
            <a:r>
              <a:rPr lang="es-PE" sz="2800" dirty="0"/>
              <a:t>: Podrá evidenciar el trayecto fistuloso.</a:t>
            </a:r>
          </a:p>
          <a:p>
            <a:pPr lvl="0" algn="just"/>
            <a:r>
              <a:rPr lang="es-PE" sz="2800" dirty="0"/>
              <a:t>Endoscopía: Debe realizarse para descartar una enfermedad asociada, ya que es excepcional que se precise el orificio primario.</a:t>
            </a:r>
          </a:p>
          <a:p>
            <a:pPr lvl="0" algn="just"/>
            <a:r>
              <a:rPr lang="es-PE" sz="2800" dirty="0"/>
              <a:t>Deben descartarse las fístulas perianales de otro origen regional, colitis ulcerativa y otras.</a:t>
            </a:r>
          </a:p>
          <a:p>
            <a:endParaRPr lang="es-PE" dirty="0"/>
          </a:p>
        </p:txBody>
      </p:sp>
      <p:pic>
        <p:nvPicPr>
          <p:cNvPr id="3074" name="Picture 2" descr="C:\Documents and Settings\F&amp;M&amp;V\Escritorio\nanda\imagescc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725144"/>
            <a:ext cx="3024336" cy="1699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10786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s-PE" dirty="0"/>
              <a:t>Tratamiento quirúrgico:</a:t>
            </a:r>
            <a:br>
              <a:rPr lang="es-PE" dirty="0"/>
            </a:b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565104"/>
          </a:xfrm>
        </p:spPr>
        <p:txBody>
          <a:bodyPr>
            <a:normAutofit/>
          </a:bodyPr>
          <a:lstStyle/>
          <a:p>
            <a:pPr lvl="0" algn="just"/>
            <a:r>
              <a:rPr lang="es-PE" sz="2800" dirty="0" smtClean="0"/>
              <a:t>Las </a:t>
            </a:r>
            <a:r>
              <a:rPr lang="es-PE" sz="2800" dirty="0"/>
              <a:t>fístulas serán tratadas de acuerdo a su etiología.  En los casos que éstas sean consecuencia de una enfermedad de base, deben hacerse de acuerdo a su naturaleza e igualmente cuando las fístulas invadan órganos vecinos.</a:t>
            </a:r>
          </a:p>
          <a:p>
            <a:pPr lvl="0" algn="just"/>
            <a:r>
              <a:rPr lang="es-PE" sz="2800" dirty="0"/>
              <a:t>Las fístulas de origen local se tratarán mediante una </a:t>
            </a:r>
            <a:r>
              <a:rPr lang="es-PE" sz="2800" dirty="0" err="1"/>
              <a:t>fistulectomía</a:t>
            </a:r>
            <a:r>
              <a:rPr lang="es-PE" sz="2800" dirty="0"/>
              <a:t> o una  </a:t>
            </a:r>
            <a:r>
              <a:rPr lang="es-PE" sz="2800" dirty="0" err="1"/>
              <a:t>fistulotomía</a:t>
            </a:r>
            <a:r>
              <a:rPr lang="es-PE" sz="2800" dirty="0"/>
              <a:t>, de acuerdo con el estado inflamatorio regional y las preferencias del cirujano.</a:t>
            </a:r>
          </a:p>
          <a:p>
            <a:endParaRPr lang="es-PE" dirty="0"/>
          </a:p>
        </p:txBody>
      </p:sp>
      <p:pic>
        <p:nvPicPr>
          <p:cNvPr id="4098" name="Picture 2" descr="C:\Documents and Settings\F&amp;M&amp;V\Escritorio\fistulas\sd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60648"/>
            <a:ext cx="1346845" cy="1439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55756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Documents and Settings\F&amp;M&amp;V\Escritorio\nanda\gfr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54545" y="1772816"/>
            <a:ext cx="7234910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11560" y="2780928"/>
            <a:ext cx="7924800" cy="1143000"/>
          </a:xfrm>
        </p:spPr>
        <p:txBody>
          <a:bodyPr/>
          <a:lstStyle/>
          <a:p>
            <a:pPr algn="ctr"/>
            <a:r>
              <a:rPr lang="es-PE" sz="4800" dirty="0" smtClean="0"/>
              <a:t>PROTOCOLO DE ENFERMERIA</a:t>
            </a:r>
            <a:endParaRPr lang="es-PE" sz="4800" dirty="0"/>
          </a:p>
        </p:txBody>
      </p:sp>
    </p:spTree>
    <p:extLst>
      <p:ext uri="{BB962C8B-B14F-4D97-AF65-F5344CB8AC3E}">
        <p14:creationId xmlns:p14="http://schemas.microsoft.com/office/powerpoint/2010/main" xmlns="" val="332139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OBJETIVOS:</a:t>
            </a:r>
            <a:r>
              <a:rPr lang="es-PE" dirty="0"/>
              <a:t/>
            </a:r>
            <a:br>
              <a:rPr lang="es-PE" dirty="0"/>
            </a:br>
            <a:endParaRPr lang="es-PE" dirty="0"/>
          </a:p>
        </p:txBody>
      </p:sp>
      <p:sp>
        <p:nvSpPr>
          <p:cNvPr id="4" name="3 Elipse"/>
          <p:cNvSpPr/>
          <p:nvPr/>
        </p:nvSpPr>
        <p:spPr>
          <a:xfrm>
            <a:off x="539552" y="1052736"/>
            <a:ext cx="7848872" cy="547260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 algn="just">
              <a:buFont typeface="Arial" pitchFamily="34" charset="0"/>
              <a:buChar char="•"/>
            </a:pPr>
            <a:r>
              <a:rPr lang="es-PE" sz="2800" dirty="0" smtClean="0">
                <a:solidFill>
                  <a:srgbClr val="002060"/>
                </a:solidFill>
              </a:rPr>
              <a:t>Preparar al paciente para la realización de la intervención quirúrgica.</a:t>
            </a:r>
          </a:p>
          <a:p>
            <a:pPr marL="342900" lvl="0" indent="-342900" algn="just">
              <a:buFont typeface="Arial" pitchFamily="34" charset="0"/>
              <a:buChar char="•"/>
            </a:pPr>
            <a:r>
              <a:rPr lang="es-PE" sz="2800" dirty="0" smtClean="0">
                <a:solidFill>
                  <a:srgbClr val="002060"/>
                </a:solidFill>
              </a:rPr>
              <a:t>Disminuir la ansiedad del paciente.</a:t>
            </a:r>
          </a:p>
          <a:p>
            <a:pPr marL="342900" lvl="0" indent="-342900" algn="just">
              <a:buFont typeface="Arial" pitchFamily="34" charset="0"/>
              <a:buChar char="•"/>
            </a:pPr>
            <a:r>
              <a:rPr lang="es-PE" sz="2800" dirty="0" smtClean="0">
                <a:solidFill>
                  <a:srgbClr val="002060"/>
                </a:solidFill>
              </a:rPr>
              <a:t>Prevenir y vigilar la aparición de complicaciones tras la intervención quirúrgica.</a:t>
            </a:r>
          </a:p>
          <a:p>
            <a:pPr marL="342900" lvl="0" indent="-342900" algn="just">
              <a:buFont typeface="Arial" pitchFamily="34" charset="0"/>
              <a:buChar char="•"/>
            </a:pPr>
            <a:r>
              <a:rPr lang="es-PE" sz="2800" dirty="0" smtClean="0">
                <a:solidFill>
                  <a:srgbClr val="002060"/>
                </a:solidFill>
              </a:rPr>
              <a:t>Educar al paciente y familia en los cuidados a seguir en el domicilio.</a:t>
            </a:r>
          </a:p>
          <a:p>
            <a:pPr algn="ctr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xmlns="" val="273899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UNIDAD DE ATENCION:</a:t>
            </a:r>
            <a:r>
              <a:rPr lang="es-PE" dirty="0"/>
              <a:t/>
            </a:r>
            <a:br>
              <a:rPr lang="es-PE" dirty="0"/>
            </a:b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 algn="just">
              <a:buNone/>
            </a:pPr>
            <a:r>
              <a:rPr lang="es-PE" sz="2800" dirty="0" smtClean="0"/>
              <a:t>CRITERIOS </a:t>
            </a:r>
            <a:r>
              <a:rPr lang="es-PE" sz="2800" dirty="0"/>
              <a:t>DE APLICACIÓN DEL PLAN</a:t>
            </a:r>
            <a:r>
              <a:rPr lang="es-PE" sz="2800" dirty="0" smtClean="0"/>
              <a:t>.</a:t>
            </a:r>
            <a:endParaRPr lang="es-PE" sz="2800" dirty="0"/>
          </a:p>
          <a:p>
            <a:pPr algn="just"/>
            <a:r>
              <a:rPr lang="es-PE" sz="3200" dirty="0"/>
              <a:t>Este plan de cuidados estandarizados se aplicará a todos aquellos pacientes que ingresen en el servicio de Medicina del Hospital Obrero N° 2 de la Caja Nacional de Salud  con el diagnóstico de FISTULA ANO - RECTAL</a:t>
            </a:r>
          </a:p>
          <a:p>
            <a:pPr marL="0" indent="0">
              <a:buNone/>
            </a:pPr>
            <a:r>
              <a:rPr lang="es-PE" dirty="0"/>
              <a:t> 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xmlns="" val="2707340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9672" y="476672"/>
            <a:ext cx="6104831" cy="5128822"/>
          </a:xfrm>
          <a:prstGeom prst="rect">
            <a:avLst/>
          </a:prstGeom>
        </p:spPr>
      </p:pic>
      <p:sp>
        <p:nvSpPr>
          <p:cNvPr id="7" name="6 Rectángulo"/>
          <p:cNvSpPr/>
          <p:nvPr/>
        </p:nvSpPr>
        <p:spPr>
          <a:xfrm>
            <a:off x="3136313" y="6093296"/>
            <a:ext cx="28355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b="1" dirty="0"/>
              <a:t>ALGORITMO DE ACTUACION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xmlns="" val="3559112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/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 r="3407" b="6356"/>
          <a:stretch/>
        </p:blipFill>
        <p:spPr bwMode="auto">
          <a:xfrm>
            <a:off x="1259632" y="908720"/>
            <a:ext cx="6912768" cy="48245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 xmlns=""/>
            </a:ext>
          </a:extLst>
        </p:spPr>
      </p:pic>
    </p:spTree>
    <p:extLst>
      <p:ext uri="{BB962C8B-B14F-4D97-AF65-F5344CB8AC3E}">
        <p14:creationId xmlns:p14="http://schemas.microsoft.com/office/powerpoint/2010/main" xmlns="" val="366577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55576" y="764704"/>
            <a:ext cx="7560840" cy="532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5790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dirty="0"/>
              <a:t>VALORACION DE ENFERMERIA DE ACUERDO A LOS 13 </a:t>
            </a:r>
            <a:r>
              <a:rPr lang="es-PE" dirty="0" smtClean="0"/>
              <a:t>DOMINIOS</a:t>
            </a: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709120"/>
          </a:xfrm>
          <a:ln>
            <a:solidFill>
              <a:srgbClr val="00B050"/>
            </a:solidFill>
          </a:ln>
        </p:spPr>
        <p:txBody>
          <a:bodyPr>
            <a:normAutofit/>
          </a:bodyPr>
          <a:lstStyle/>
          <a:p>
            <a:pPr algn="just"/>
            <a:r>
              <a:rPr lang="es-PE" dirty="0" smtClean="0"/>
              <a:t>1</a:t>
            </a:r>
            <a:r>
              <a:rPr lang="es-PE" sz="2400" dirty="0"/>
              <a:t>.  Promoción de la salud:</a:t>
            </a:r>
            <a:r>
              <a:rPr lang="es-PE" sz="2400" b="1" dirty="0"/>
              <a:t> toma de conciencia del bienestar o normalidad de las funciones y estrategias usadas para mantener el control y fomentar el bienestar y la normalidad del funcionamiento.</a:t>
            </a:r>
            <a:endParaRPr lang="es-PE" sz="2400" dirty="0"/>
          </a:p>
          <a:p>
            <a:pPr algn="just"/>
            <a:r>
              <a:rPr lang="es-PE" sz="2400" dirty="0"/>
              <a:t>2. Nutrición:</a:t>
            </a:r>
            <a:r>
              <a:rPr lang="es-PE" sz="2400" b="1" dirty="0"/>
              <a:t> actividades de ingerir, asimilar y usar los nutrientes a fin de mantener y reparar los tejidos y producir energía.</a:t>
            </a:r>
            <a:endParaRPr lang="es-PE" sz="2400" dirty="0"/>
          </a:p>
          <a:p>
            <a:pPr algn="just"/>
            <a:r>
              <a:rPr lang="es-PE" sz="2400" dirty="0"/>
              <a:t>3. Eliminación:</a:t>
            </a:r>
            <a:r>
              <a:rPr lang="es-PE" sz="2400" b="1" dirty="0"/>
              <a:t> secreción y excreción de los productos corporales de desecho.</a:t>
            </a:r>
            <a:endParaRPr lang="es-PE" sz="2400" dirty="0"/>
          </a:p>
          <a:p>
            <a:pPr algn="just"/>
            <a:r>
              <a:rPr lang="es-PE" sz="2400" dirty="0"/>
              <a:t>4. Actividad/reposo:</a:t>
            </a:r>
            <a:r>
              <a:rPr lang="es-PE" sz="2400" b="1" dirty="0"/>
              <a:t> producción, conservación, gasto o equilibrio de los recursos energéticos.</a:t>
            </a:r>
            <a:endParaRPr lang="es-PE" sz="2400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xmlns="" val="232359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>
          <a:xfrm>
            <a:off x="609600" y="548680"/>
            <a:ext cx="7924800" cy="5760640"/>
          </a:xfrm>
          <a:ln>
            <a:solidFill>
              <a:srgbClr val="00B0F0"/>
            </a:solidFill>
          </a:ln>
        </p:spPr>
        <p:txBody>
          <a:bodyPr>
            <a:normAutofit fontScale="92500"/>
          </a:bodyPr>
          <a:lstStyle/>
          <a:p>
            <a:pPr algn="just"/>
            <a:r>
              <a:rPr lang="es-PE" sz="2400" dirty="0"/>
              <a:t>5. Percepción/cognición:</a:t>
            </a:r>
            <a:r>
              <a:rPr lang="es-PE" sz="2400" b="1" dirty="0"/>
              <a:t> sistema de procesamiento de la información humana incluyendo la atención, orientación, sensación, percepción, cognición y comunicación. </a:t>
            </a:r>
            <a:endParaRPr lang="es-PE" sz="2400" dirty="0"/>
          </a:p>
          <a:p>
            <a:pPr algn="just"/>
            <a:r>
              <a:rPr lang="es-PE" sz="2400" dirty="0" smtClean="0"/>
              <a:t>6</a:t>
            </a:r>
            <a:r>
              <a:rPr lang="es-PE" sz="2400" dirty="0"/>
              <a:t>. Autopercepción:</a:t>
            </a:r>
            <a:r>
              <a:rPr lang="es-PE" sz="2400" b="1" dirty="0"/>
              <a:t> conciencia del propio ser.</a:t>
            </a:r>
            <a:endParaRPr lang="es-PE" sz="2400" dirty="0"/>
          </a:p>
          <a:p>
            <a:pPr algn="just"/>
            <a:r>
              <a:rPr lang="es-PE" sz="2400" dirty="0"/>
              <a:t>7. Rol/relaciones:</a:t>
            </a:r>
            <a:r>
              <a:rPr lang="es-PE" sz="2400" b="1" dirty="0"/>
              <a:t> conexiones y asociaciones negativas y positivas entre personas o grupos de personas y los medios por los que demuestran tales conexiones. </a:t>
            </a:r>
            <a:endParaRPr lang="es-PE" sz="2400" dirty="0"/>
          </a:p>
          <a:p>
            <a:pPr algn="just"/>
            <a:r>
              <a:rPr lang="es-PE" sz="2400" dirty="0"/>
              <a:t>8. Sexualidad:</a:t>
            </a:r>
            <a:r>
              <a:rPr lang="es-PE" sz="2400" b="1" dirty="0"/>
              <a:t> identidad sexual, función sexual y reproducción.</a:t>
            </a:r>
            <a:endParaRPr lang="es-PE" sz="2400" dirty="0"/>
          </a:p>
          <a:p>
            <a:pPr algn="just"/>
            <a:r>
              <a:rPr lang="es-PE" sz="2400" dirty="0"/>
              <a:t>9. Afrontamiento/tolerancia al estrés:</a:t>
            </a:r>
            <a:r>
              <a:rPr lang="es-PE" sz="2400" b="1" dirty="0"/>
              <a:t> forma de hacer frente a los acontecimientos/procesos vitales.</a:t>
            </a:r>
            <a:endParaRPr lang="es-PE" sz="2400" dirty="0"/>
          </a:p>
          <a:p>
            <a:pPr algn="just"/>
            <a:r>
              <a:rPr lang="es-PE" sz="2400" dirty="0"/>
              <a:t>10. Principios vitales:</a:t>
            </a:r>
            <a:r>
              <a:rPr lang="es-PE" sz="2400" b="1" dirty="0"/>
              <a:t> principios que subyacen en la conducta, pensamiento y conductas sobre los actos, costumbres o instituciones contempladas como verdaderas o poseedores de un valor intrínseco.</a:t>
            </a:r>
            <a:endParaRPr lang="es-PE" sz="2400" dirty="0"/>
          </a:p>
          <a:p>
            <a:pPr algn="just"/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xmlns="" val="109436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>
          <a:xfrm>
            <a:off x="609600" y="836712"/>
            <a:ext cx="7924800" cy="4878288"/>
          </a:xfrm>
          <a:ln>
            <a:solidFill>
              <a:srgbClr val="FFFF00"/>
            </a:solidFill>
          </a:ln>
        </p:spPr>
        <p:txBody>
          <a:bodyPr>
            <a:normAutofit/>
          </a:bodyPr>
          <a:lstStyle/>
          <a:p>
            <a:pPr algn="just"/>
            <a:r>
              <a:rPr lang="es-PE" sz="2400" dirty="0"/>
              <a:t>11. Seguridad/protección:</a:t>
            </a:r>
            <a:r>
              <a:rPr lang="es-PE" sz="2400" b="1" dirty="0"/>
              <a:t> ausencia de peligro, lesión física o trastornos del sistema inmunitario, preservación de las pérdidas y preservación de la protección y seguridad.</a:t>
            </a:r>
            <a:endParaRPr lang="es-PE" sz="2400" dirty="0"/>
          </a:p>
          <a:p>
            <a:pPr algn="just"/>
            <a:r>
              <a:rPr lang="es-PE" sz="2400" dirty="0"/>
              <a:t>12. Confort:</a:t>
            </a:r>
            <a:r>
              <a:rPr lang="es-PE" sz="2400" b="1" dirty="0"/>
              <a:t> sensación de bienestar o comodidad física, mental o social.</a:t>
            </a:r>
            <a:endParaRPr lang="es-PE" sz="2400" dirty="0"/>
          </a:p>
          <a:p>
            <a:pPr algn="just"/>
            <a:r>
              <a:rPr lang="es-PE" sz="2400" dirty="0"/>
              <a:t>13. Crecimiento/desarrollo:</a:t>
            </a:r>
            <a:r>
              <a:rPr lang="es-PE" sz="2400" b="1" dirty="0"/>
              <a:t> aumento de las dimensiones físicas, sistemas corporales y logro de las tareas de desarrollo acordes con la edad.</a:t>
            </a:r>
            <a:endParaRPr lang="es-PE" sz="2400" dirty="0"/>
          </a:p>
          <a:p>
            <a:pPr algn="just"/>
            <a:endParaRPr lang="es-PE" sz="2400" dirty="0"/>
          </a:p>
        </p:txBody>
      </p:sp>
      <p:pic>
        <p:nvPicPr>
          <p:cNvPr id="4" name="3 Imagen" descr="C:\Documents and Settings\F&amp;M&amp;V\Escritorio\fistulas\images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077072"/>
            <a:ext cx="2426454" cy="2520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4763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Documents and Settings\F&amp;M&amp;V\Escritorio\fistulas\def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29971" y="2492896"/>
            <a:ext cx="5400600" cy="2133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27584" y="3068960"/>
            <a:ext cx="7924800" cy="1143000"/>
          </a:xfrm>
        </p:spPr>
        <p:txBody>
          <a:bodyPr/>
          <a:lstStyle/>
          <a:p>
            <a:pPr algn="ctr"/>
            <a:r>
              <a:rPr lang="es-PE" sz="4800" dirty="0" smtClean="0"/>
              <a:t>PLAN DE CUIDADOS</a:t>
            </a:r>
            <a:endParaRPr lang="es-PE" sz="4800" dirty="0"/>
          </a:p>
        </p:txBody>
      </p:sp>
    </p:spTree>
    <p:extLst>
      <p:ext uri="{BB962C8B-B14F-4D97-AF65-F5344CB8AC3E}">
        <p14:creationId xmlns:p14="http://schemas.microsoft.com/office/powerpoint/2010/main" xmlns="" val="330882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/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25000"/>
                    </a14:imgEffect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 t="947"/>
          <a:stretch/>
        </p:blipFill>
        <p:spPr bwMode="auto">
          <a:xfrm>
            <a:off x="-104775" y="-56197"/>
            <a:ext cx="9353550" cy="69703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 xmlns=""/>
            </a:ext>
          </a:extLst>
        </p:spPr>
      </p:pic>
    </p:spTree>
    <p:extLst>
      <p:ext uri="{BB962C8B-B14F-4D97-AF65-F5344CB8AC3E}">
        <p14:creationId xmlns:p14="http://schemas.microsoft.com/office/powerpoint/2010/main" xmlns="" val="361272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25000"/>
                    </a14:imgEffect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88265" y="-21907"/>
            <a:ext cx="9320530" cy="690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55193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2548" y="159210"/>
            <a:ext cx="6164818" cy="651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108317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orizonte">
  <a:themeElements>
    <a:clrScheme name="Horizonte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te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te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63</TotalTime>
  <Words>648</Words>
  <Application>Microsoft Office PowerPoint</Application>
  <PresentationFormat>Presentación en pantalla (4:3)</PresentationFormat>
  <Paragraphs>51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1" baseType="lpstr">
      <vt:lpstr>Horizonte</vt:lpstr>
      <vt:lpstr>pROTOCOLO DE ATENCION DE ENFERMERIA ESTANDARIZADO PARA EL PACIENTE QUE INGRESA A PROCEDIMIENTOS QUIRURGICOS DE   FISTULA ANO - RECTAL </vt:lpstr>
      <vt:lpstr>FISTULA ANO - RECTAL</vt:lpstr>
      <vt:lpstr>DEFINICION: </vt:lpstr>
      <vt:lpstr>Diapositiva 4</vt:lpstr>
      <vt:lpstr>Signos y síntomas:  </vt:lpstr>
      <vt:lpstr>Exámenes de diagnóstico : </vt:lpstr>
      <vt:lpstr>Tratamiento quirúrgico: </vt:lpstr>
      <vt:lpstr>PROTOCOLO DE ENFERMERIA</vt:lpstr>
      <vt:lpstr>OBJETIVOS: </vt:lpstr>
      <vt:lpstr>UNIDAD DE ATENCION: </vt:lpstr>
      <vt:lpstr>Diapositiva 11</vt:lpstr>
      <vt:lpstr>Diapositiva 12</vt:lpstr>
      <vt:lpstr>Diapositiva 13</vt:lpstr>
      <vt:lpstr>VALORACION DE ENFERMERIA DE ACUERDO A LOS 13 DOMINIOS</vt:lpstr>
      <vt:lpstr>Diapositiva 15</vt:lpstr>
      <vt:lpstr>Diapositiva 16</vt:lpstr>
      <vt:lpstr>PLAN DE CUIDADOS</vt:lpstr>
      <vt:lpstr>Diapositiva 18</vt:lpstr>
      <vt:lpstr>Diapositiva 19</vt:lpstr>
      <vt:lpstr>Diapositiva 20</vt:lpstr>
    </vt:vector>
  </TitlesOfParts>
  <Company>M&amp;V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Mendoza</dc:creator>
  <cp:lastModifiedBy>ALSIE CONSULTORES</cp:lastModifiedBy>
  <cp:revision>8</cp:revision>
  <dcterms:created xsi:type="dcterms:W3CDTF">2014-05-31T11:40:58Z</dcterms:created>
  <dcterms:modified xsi:type="dcterms:W3CDTF">2014-05-31T14:18:27Z</dcterms:modified>
</cp:coreProperties>
</file>