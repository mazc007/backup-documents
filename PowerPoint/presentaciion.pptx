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  <p:sldId id="279" r:id="rId23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8C2E0-98B1-4648-B0D0-6E929A69793A}" type="datetimeFigureOut">
              <a:rPr lang="es-ES" smtClean="0"/>
              <a:pPr/>
              <a:t>20/06/2011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89791-F685-4A64-815F-B373DF3B5D74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89791-F685-4A64-815F-B373DF3B5D74}" type="slidenum">
              <a:rPr lang="es-ES" smtClean="0"/>
              <a:pPr/>
              <a:t>1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20/06/2011</a:t>
            </a:fld>
            <a:endParaRPr lang="es-BO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20/06/2011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20/06/2011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20/06/2011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20/06/2011</a:t>
            </a:fld>
            <a:endParaRPr lang="es-B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20/06/2011</a:t>
            </a:fld>
            <a:endParaRPr lang="es-B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20/06/2011</a:t>
            </a:fld>
            <a:endParaRPr lang="es-B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20/06/2011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20/06/2011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20/06/2011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20/06/2011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85275DA-3768-49E3-878C-3F62F5250911}" type="datetimeFigureOut">
              <a:rPr lang="es-BO" smtClean="0"/>
              <a:pPr/>
              <a:t>20/06/2011</a:t>
            </a:fld>
            <a:endParaRPr lang="es-BO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2700342"/>
          </a:xfrm>
        </p:spPr>
        <p:txBody>
          <a:bodyPr>
            <a:normAutofit fontScale="90000"/>
          </a:bodyPr>
          <a:lstStyle/>
          <a:p>
            <a:pPr algn="ctr"/>
            <a:r>
              <a:rPr lang="es-ES_tradnl" sz="3600" dirty="0" smtClean="0"/>
              <a:t/>
            </a:r>
            <a:br>
              <a:rPr lang="es-ES_tradnl" sz="3600" dirty="0" smtClean="0"/>
            </a:br>
            <a:r>
              <a:rPr lang="es-ES_tradnl" sz="3600" dirty="0" smtClean="0"/>
              <a:t/>
            </a:r>
            <a:br>
              <a:rPr lang="es-ES_tradnl" sz="3600" dirty="0" smtClean="0"/>
            </a:br>
            <a:r>
              <a:rPr lang="es-ES_tradnl" sz="3600" dirty="0" smtClean="0"/>
              <a:t/>
            </a:r>
            <a:br>
              <a:rPr lang="es-ES_tradnl" sz="3600" dirty="0" smtClean="0"/>
            </a:br>
            <a:r>
              <a:rPr lang="es-ES_tradnl" sz="3600" dirty="0" smtClean="0"/>
              <a:t/>
            </a:r>
            <a:br>
              <a:rPr lang="es-ES_tradnl" sz="3600" dirty="0" smtClean="0"/>
            </a:br>
            <a:r>
              <a:rPr lang="es-ES_tradnl" sz="3600" dirty="0" smtClean="0"/>
              <a:t>INFORMACION </a:t>
            </a:r>
            <a:r>
              <a:rPr lang="es-ES_tradnl" sz="3600" dirty="0" smtClean="0"/>
              <a:t>SOBRE LA IMPORTANCIA DE LA NUTRICION DE LA MUJER ANTES Y DURANTE EL PROCESO DE GESTACION EN EL CENTRO DE SALUD DE JAIHUAYCO</a:t>
            </a:r>
            <a:r>
              <a:rPr lang="es-BO" dirty="0"/>
              <a:t/>
            </a:r>
            <a:br>
              <a:rPr lang="es-BO" dirty="0"/>
            </a:b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42910" y="4214818"/>
            <a:ext cx="7854696" cy="1752600"/>
          </a:xfrm>
        </p:spPr>
        <p:txBody>
          <a:bodyPr/>
          <a:lstStyle/>
          <a:p>
            <a:r>
              <a:rPr lang="es-BO" dirty="0" smtClean="0"/>
              <a:t>Elaborado por: Lic. Christian Jiménez</a:t>
            </a:r>
          </a:p>
          <a:p>
            <a:r>
              <a:rPr lang="es-BO" dirty="0" smtClean="0"/>
              <a:t>                      Lic. Cecilia Rafael</a:t>
            </a:r>
          </a:p>
          <a:p>
            <a:r>
              <a:rPr lang="es-BO" dirty="0" smtClean="0"/>
              <a:t>                      Lic. </a:t>
            </a:r>
            <a:r>
              <a:rPr lang="es-BO" dirty="0" err="1" smtClean="0"/>
              <a:t>Lilian</a:t>
            </a:r>
            <a:r>
              <a:rPr lang="es-BO" dirty="0" smtClean="0"/>
              <a:t> Zapata</a:t>
            </a:r>
            <a:endParaRPr lang="es-BO" dirty="0"/>
          </a:p>
        </p:txBody>
      </p:sp>
      <p:sp>
        <p:nvSpPr>
          <p:cNvPr id="1027" name="WordArt 3"/>
          <p:cNvSpPr>
            <a:spLocks noChangeArrowheads="1" noChangeShapeType="1" noTextEdit="1"/>
          </p:cNvSpPr>
          <p:nvPr/>
        </p:nvSpPr>
        <p:spPr bwMode="auto">
          <a:xfrm>
            <a:off x="500034" y="642918"/>
            <a:ext cx="8001056" cy="3143272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fromWordArt="1">
            <a:prstTxWarp prst="textWave1">
              <a:avLst>
                <a:gd name="adj1" fmla="val 13005"/>
                <a:gd name="adj2" fmla="val 0"/>
              </a:avLst>
            </a:prstTxWarp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rtl="0"/>
            <a:endParaRPr lang="es-ES" sz="3600" b="1" kern="10" cap="all" dirty="0" smtClean="0">
              <a:ln/>
              <a:solidFill>
                <a:schemeClr val="accent4">
                  <a:lumMod val="75000"/>
                </a:schemeClr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/>
              <a:t> </a:t>
            </a:r>
            <a:r>
              <a:rPr lang="es-BO" b="1" dirty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SINTESIS DEL PROBLEMA</a:t>
            </a:r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:</a:t>
            </a: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BO" dirty="0" smtClean="0"/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La </a:t>
            </a:r>
            <a:r>
              <a:rPr lang="es-BO" dirty="0">
                <a:latin typeface="Comic Sans MS" pitchFamily="66" charset="0"/>
              </a:rPr>
              <a:t>creencia del hombre de que</a:t>
            </a:r>
            <a:r>
              <a:rPr lang="es-BO" dirty="0" smtClean="0">
                <a:latin typeface="Comic Sans MS" pitchFamily="66" charset="0"/>
              </a:rPr>
              <a:t>, la nutrición  </a:t>
            </a:r>
            <a:r>
              <a:rPr lang="es-BO" dirty="0">
                <a:latin typeface="Comic Sans MS" pitchFamily="66" charset="0"/>
              </a:rPr>
              <a:t>no es un factor importante </a:t>
            </a:r>
            <a:r>
              <a:rPr lang="es-BO" dirty="0" smtClean="0">
                <a:latin typeface="Comic Sans MS" pitchFamily="66" charset="0"/>
              </a:rPr>
              <a:t>antes, </a:t>
            </a:r>
            <a:r>
              <a:rPr lang="es-BO" dirty="0">
                <a:latin typeface="Comic Sans MS" pitchFamily="66" charset="0"/>
              </a:rPr>
              <a:t>durante y después del </a:t>
            </a:r>
            <a:r>
              <a:rPr lang="es-BO" dirty="0" smtClean="0">
                <a:latin typeface="Comic Sans MS" pitchFamily="66" charset="0"/>
              </a:rPr>
              <a:t>embarazo  puede </a:t>
            </a:r>
            <a:r>
              <a:rPr lang="es-BO" dirty="0">
                <a:latin typeface="Comic Sans MS" pitchFamily="66" charset="0"/>
              </a:rPr>
              <a:t>ocasionar </a:t>
            </a:r>
            <a:r>
              <a:rPr lang="es-BO" dirty="0" smtClean="0">
                <a:latin typeface="Comic Sans MS" pitchFamily="66" charset="0"/>
              </a:rPr>
              <a:t>discapacidades en el bebe por nacer.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Un factor importante es el nivel socioeconómico. </a:t>
            </a:r>
            <a:endParaRPr lang="es-BO" dirty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0" y="1571625"/>
            <a:ext cx="8229600" cy="4389438"/>
          </a:xfrm>
        </p:spPr>
        <p:txBody>
          <a:bodyPr/>
          <a:lstStyle/>
          <a:p>
            <a:pPr>
              <a:buNone/>
            </a:pPr>
            <a:endParaRPr lang="es-BO" dirty="0"/>
          </a:p>
          <a:p>
            <a:pPr>
              <a:lnSpc>
                <a:spcPct val="150000"/>
              </a:lnSpc>
            </a:pPr>
            <a:r>
              <a:rPr lang="es-BO" i="1" dirty="0">
                <a:latin typeface="Comic Sans MS" pitchFamily="66" charset="0"/>
              </a:rPr>
              <a:t>La Agencia de Noticias </a:t>
            </a:r>
            <a:r>
              <a:rPr lang="es-BO" i="1" dirty="0" err="1">
                <a:latin typeface="Comic Sans MS" pitchFamily="66" charset="0"/>
              </a:rPr>
              <a:t>Fides</a:t>
            </a:r>
            <a:r>
              <a:rPr lang="es-BO" i="1" dirty="0">
                <a:latin typeface="Comic Sans MS" pitchFamily="66" charset="0"/>
              </a:rPr>
              <a:t>, señala, que en Bolivia el impacto de la desnutrición significó más de 28.000 casos en la población menor de 5 años. </a:t>
            </a:r>
            <a:endParaRPr lang="es-BO" dirty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JUSTIFICACION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BO" dirty="0" smtClean="0"/>
          </a:p>
          <a:p>
            <a:endParaRPr lang="es-BO" dirty="0" smtClean="0"/>
          </a:p>
          <a:p>
            <a:endParaRPr lang="es-BO" dirty="0" smtClean="0"/>
          </a:p>
          <a:p>
            <a:pPr algn="just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El </a:t>
            </a:r>
            <a:r>
              <a:rPr lang="es-BO" dirty="0">
                <a:latin typeface="Comic Sans MS" pitchFamily="66" charset="0"/>
              </a:rPr>
              <a:t>déficit de vitaminas y minerales llamada también “hambre oculta” </a:t>
            </a:r>
            <a:r>
              <a:rPr lang="es-BO" dirty="0" smtClean="0">
                <a:latin typeface="Comic Sans MS" pitchFamily="66" charset="0"/>
              </a:rPr>
              <a:t>afecta </a:t>
            </a:r>
            <a:r>
              <a:rPr lang="es-BO" dirty="0">
                <a:latin typeface="Comic Sans MS" pitchFamily="66" charset="0"/>
              </a:rPr>
              <a:t>a grandes sectores de la población boliviana, sobre todo niños de 1 a 5 años, mujeres </a:t>
            </a:r>
            <a:r>
              <a:rPr lang="es-BO" dirty="0" smtClean="0">
                <a:latin typeface="Comic Sans MS" pitchFamily="66" charset="0"/>
              </a:rPr>
              <a:t>embarazadas.</a:t>
            </a:r>
            <a:endParaRPr lang="es-BO" dirty="0">
              <a:latin typeface="Comic Sans MS" pitchFamily="66" charset="0"/>
            </a:endParaRPr>
          </a:p>
          <a:p>
            <a:endParaRPr lang="es-BO" dirty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285992"/>
            <a:ext cx="6929486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57158" y="92867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BO" dirty="0" smtClean="0"/>
              <a:t/>
            </a:r>
            <a:br>
              <a:rPr lang="es-BO" dirty="0" smtClean="0"/>
            </a:br>
            <a:r>
              <a:rPr lang="es-BO" dirty="0" smtClean="0"/>
              <a:t/>
            </a:r>
            <a:br>
              <a:rPr lang="es-BO" dirty="0" smtClean="0"/>
            </a:br>
            <a:r>
              <a:rPr lang="es-BO" dirty="0" smtClean="0"/>
              <a:t/>
            </a:r>
            <a:br>
              <a:rPr lang="es-BO" dirty="0" smtClean="0"/>
            </a:br>
            <a:r>
              <a:rPr lang="es-BO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OBJETIVO GENERAL DE LA POBLACION</a:t>
            </a: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s-BO" dirty="0"/>
              <a:t> </a:t>
            </a:r>
          </a:p>
          <a:p>
            <a:endParaRPr lang="es-ES_tradnl" dirty="0" smtClean="0"/>
          </a:p>
          <a:p>
            <a:pPr algn="just">
              <a:lnSpc>
                <a:spcPct val="150000"/>
              </a:lnSpc>
            </a:pPr>
            <a:r>
              <a:rPr lang="es-ES_tradnl" dirty="0" smtClean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</a:rPr>
              <a:t>Lograr 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</a:rPr>
              <a:t>que  hombres y mujeres de 20 a 42 años, que asisten al centro de salud Jaihuayco reconozcan que   la  mala alimentación  antes y después del embarazo son un peligro para el bebe,  para  la formación de discapacidades</a:t>
            </a:r>
            <a:r>
              <a:rPr lang="es-ES_tradnl" dirty="0">
                <a:latin typeface="Comic Sans MS" pitchFamily="66" charset="0"/>
              </a:rPr>
              <a:t>.      </a:t>
            </a:r>
            <a:endParaRPr lang="es-BO" dirty="0">
              <a:latin typeface="Comic Sans MS" pitchFamily="66" charset="0"/>
            </a:endParaRPr>
          </a:p>
          <a:p>
            <a:pPr>
              <a:buNone/>
            </a:pPr>
            <a:r>
              <a:rPr lang="es-ES_tradnl" dirty="0" smtClean="0">
                <a:latin typeface="Comic Sans MS" pitchFamily="66" charset="0"/>
              </a:rPr>
              <a:t>                                                       </a:t>
            </a:r>
            <a:r>
              <a:rPr lang="es-ES_tradnl" dirty="0" smtClean="0"/>
              <a:t>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s-BO" dirty="0"/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785794"/>
            <a:ext cx="8401080" cy="1143000"/>
          </a:xfrm>
        </p:spPr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OBJETIVOS ESPECÍFICOS POBLACIÓN</a:t>
            </a: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endParaRPr lang="es-BO" dirty="0" smtClean="0"/>
          </a:p>
          <a:p>
            <a:pPr algn="just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Elaborar  material de difusión para Identificar las consecuencias de la mala alimentación durante los primeros tres meses de gestación</a:t>
            </a:r>
          </a:p>
          <a:p>
            <a:pPr algn="just">
              <a:lnSpc>
                <a:spcPct val="150000"/>
              </a:lnSpc>
            </a:pPr>
            <a:endParaRPr lang="es-BO" dirty="0" smtClean="0">
              <a:latin typeface="Comic Sans MS" pitchFamily="66" charset="0"/>
            </a:endParaRPr>
          </a:p>
          <a:p>
            <a:pPr algn="just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Establecer en el hombre la importancia de los alimentos como parte del desarrollo del bebe </a:t>
            </a:r>
          </a:p>
          <a:p>
            <a:pPr algn="just">
              <a:lnSpc>
                <a:spcPct val="150000"/>
              </a:lnSpc>
            </a:pPr>
            <a:endParaRPr lang="es-BO" dirty="0" smtClean="0">
              <a:latin typeface="Comic Sans MS" pitchFamily="66" charset="0"/>
            </a:endParaRPr>
          </a:p>
          <a:p>
            <a:pPr algn="just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Desarrollar charlas a la población sobre los  beneficios de la alimentación antes durante y después del embarazo.</a:t>
            </a:r>
          </a:p>
          <a:p>
            <a:pPr algn="just">
              <a:lnSpc>
                <a:spcPct val="150000"/>
              </a:lnSpc>
            </a:pPr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439028"/>
          </a:xfrm>
        </p:spPr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OBJETIVO GENERAL  INSTITUCIONAL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endParaRPr lang="es-BO" b="1" dirty="0" smtClean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  <a:p>
            <a:endParaRPr lang="es-BO" dirty="0" smtClean="0"/>
          </a:p>
          <a:p>
            <a:pPr algn="just">
              <a:lnSpc>
                <a:spcPct val="150000"/>
              </a:lnSpc>
            </a:pPr>
            <a:r>
              <a:rPr lang="es-ES_tradnl" dirty="0" smtClean="0">
                <a:latin typeface="Comic Sans MS" pitchFamily="66" charset="0"/>
              </a:rPr>
              <a:t>Lograr que el centro de Salud Jaihuayco difunda e informe a la población gestante sobre  la importancia de los alimentos durante la gestación y después del nacimiento para el buen desarrollo del bebe y la salud de la madre.</a:t>
            </a:r>
            <a:endParaRPr lang="es-BO" dirty="0" smtClean="0">
              <a:latin typeface="Comic Sans MS" pitchFamily="66" charset="0"/>
            </a:endParaRPr>
          </a:p>
          <a:p>
            <a:pPr>
              <a:buNone/>
            </a:pPr>
            <a:r>
              <a:rPr lang="es-ES_tradnl" dirty="0" smtClean="0">
                <a:latin typeface="Comic Sans MS" pitchFamily="66" charset="0"/>
              </a:rPr>
              <a:t> </a:t>
            </a:r>
            <a:endParaRPr lang="es-BO" dirty="0" smtClean="0">
              <a:latin typeface="Comic Sans MS" pitchFamily="66" charset="0"/>
            </a:endParaRPr>
          </a:p>
          <a:p>
            <a:pPr>
              <a:buNone/>
            </a:pPr>
            <a:r>
              <a:rPr lang="es-ES_tradnl" dirty="0" smtClean="0"/>
              <a:t> </a:t>
            </a:r>
            <a:r>
              <a:rPr lang="es-BO" dirty="0" smtClean="0"/>
              <a:t> 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642918"/>
            <a:ext cx="8186766" cy="1204170"/>
          </a:xfrm>
        </p:spPr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OBJETIVO ESPECIFICO INSTITUCIONAL</a:t>
            </a: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935480"/>
            <a:ext cx="8472518" cy="4389120"/>
          </a:xfrm>
        </p:spPr>
        <p:txBody>
          <a:bodyPr>
            <a:normAutofit fontScale="55000" lnSpcReduction="20000"/>
          </a:bodyPr>
          <a:lstStyle/>
          <a:p>
            <a:endParaRPr lang="es-BO" dirty="0" smtClean="0"/>
          </a:p>
          <a:p>
            <a:pPr>
              <a:lnSpc>
                <a:spcPct val="170000"/>
              </a:lnSpc>
              <a:buNone/>
            </a:pPr>
            <a:r>
              <a:rPr lang="es-BO" sz="2900" dirty="0" smtClean="0"/>
              <a:t> </a:t>
            </a:r>
          </a:p>
          <a:p>
            <a:pPr>
              <a:lnSpc>
                <a:spcPct val="170000"/>
              </a:lnSpc>
            </a:pPr>
            <a:r>
              <a:rPr lang="es-ES_tradnl" sz="3200" dirty="0" smtClean="0">
                <a:latin typeface="Comic Sans MS" pitchFamily="66" charset="0"/>
              </a:rPr>
              <a:t>Proponer que el centro de salud difunda la importancia de los alimentos y sus consecuencias durante y después del embarazo.</a:t>
            </a:r>
            <a:endParaRPr lang="es-BO" sz="3200" dirty="0" smtClean="0">
              <a:latin typeface="Comic Sans MS" pitchFamily="66" charset="0"/>
            </a:endParaRPr>
          </a:p>
          <a:p>
            <a:pPr>
              <a:lnSpc>
                <a:spcPct val="170000"/>
              </a:lnSpc>
              <a:buNone/>
            </a:pPr>
            <a:r>
              <a:rPr lang="es-ES_tradnl" sz="3200" dirty="0" smtClean="0">
                <a:latin typeface="Comic Sans MS" pitchFamily="66" charset="0"/>
              </a:rPr>
              <a:t> </a:t>
            </a:r>
            <a:endParaRPr lang="es-BO" sz="3200" dirty="0" smtClean="0">
              <a:latin typeface="Comic Sans MS" pitchFamily="66" charset="0"/>
            </a:endParaRPr>
          </a:p>
          <a:p>
            <a:pPr>
              <a:lnSpc>
                <a:spcPct val="170000"/>
              </a:lnSpc>
            </a:pPr>
            <a:r>
              <a:rPr lang="es-ES_tradnl" sz="3200" dirty="0" smtClean="0">
                <a:latin typeface="Comic Sans MS" pitchFamily="66" charset="0"/>
              </a:rPr>
              <a:t>Desarrollar materiales de difusión.</a:t>
            </a:r>
            <a:endParaRPr lang="es-BO" sz="3200" dirty="0" smtClean="0">
              <a:latin typeface="Comic Sans MS" pitchFamily="66" charset="0"/>
            </a:endParaRPr>
          </a:p>
          <a:p>
            <a:pPr>
              <a:lnSpc>
                <a:spcPct val="170000"/>
              </a:lnSpc>
              <a:buNone/>
            </a:pPr>
            <a:r>
              <a:rPr lang="es-ES_tradnl" sz="3200" dirty="0" smtClean="0">
                <a:latin typeface="Comic Sans MS" pitchFamily="66" charset="0"/>
              </a:rPr>
              <a:t> </a:t>
            </a:r>
            <a:endParaRPr lang="es-BO" sz="3200" dirty="0" smtClean="0">
              <a:latin typeface="Comic Sans MS" pitchFamily="66" charset="0"/>
            </a:endParaRPr>
          </a:p>
          <a:p>
            <a:pPr>
              <a:lnSpc>
                <a:spcPct val="170000"/>
              </a:lnSpc>
            </a:pPr>
            <a:r>
              <a:rPr lang="es-ES_tradnl" sz="3200" dirty="0" smtClean="0">
                <a:latin typeface="Comic Sans MS" pitchFamily="66" charset="0"/>
              </a:rPr>
              <a:t>Proponer  que se establezca un programa de atención nutricional  para parejas   antes y durante los primeros tres meses de gestación.</a:t>
            </a:r>
            <a:endParaRPr lang="es-BO" sz="3200" dirty="0" smtClean="0">
              <a:latin typeface="Comic Sans MS" pitchFamily="66" charset="0"/>
            </a:endParaRPr>
          </a:p>
          <a:p>
            <a:endParaRPr lang="es-BO" sz="2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/>
            </a:r>
            <a:b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</a:br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MARCO</a:t>
            </a:r>
            <a:r>
              <a:rPr lang="es-BO" b="1" dirty="0" smtClean="0"/>
              <a:t> TEORICO</a:t>
            </a:r>
            <a:br>
              <a:rPr lang="es-BO" b="1" dirty="0" smtClean="0"/>
            </a:br>
            <a:endParaRPr lang="es-BO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071546"/>
            <a:ext cx="7929618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s-BO" dirty="0" smtClean="0"/>
          </a:p>
          <a:p>
            <a:pPr>
              <a:buNone/>
            </a:pPr>
            <a:r>
              <a:rPr lang="es-BO" b="1" dirty="0" smtClean="0">
                <a:latin typeface="Comic Sans MS" pitchFamily="66" charset="0"/>
              </a:rPr>
              <a:t>NUTRICION MATERNA Y EMBARAZO</a:t>
            </a:r>
          </a:p>
          <a:p>
            <a:pPr>
              <a:buNone/>
            </a:pPr>
            <a:endParaRPr lang="es-BO" dirty="0" smtClean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Uno de los aspectos relevantes es el control prenatal es el diagnóstico, evaluación y manejo de la condición nutricional de la embarazada.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ALIMENTOS QUE DEBE     CONSUMIR</a:t>
            </a: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lnSpc>
                <a:spcPct val="150000"/>
              </a:lnSpc>
            </a:pPr>
            <a:endParaRPr lang="es-BO" dirty="0" smtClean="0"/>
          </a:p>
          <a:p>
            <a:pPr algn="ctr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Hierro</a:t>
            </a:r>
          </a:p>
          <a:p>
            <a:pPr algn="ctr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Cereales</a:t>
            </a:r>
          </a:p>
          <a:p>
            <a:pPr algn="ctr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Carnes</a:t>
            </a:r>
          </a:p>
          <a:p>
            <a:pPr algn="ctr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Acido </a:t>
            </a:r>
            <a:r>
              <a:rPr lang="es-BO" dirty="0" err="1" smtClean="0">
                <a:latin typeface="Comic Sans MS" pitchFamily="66" charset="0"/>
              </a:rPr>
              <a:t>folico</a:t>
            </a:r>
            <a:endParaRPr lang="es-BO" dirty="0" smtClean="0">
              <a:latin typeface="Comic Sans MS" pitchFamily="66" charset="0"/>
            </a:endParaRPr>
          </a:p>
          <a:p>
            <a:endParaRPr lang="es-BO" dirty="0">
              <a:latin typeface="Comic Sans MS" pitchFamily="66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3143248"/>
            <a:ext cx="2754318" cy="3251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785794"/>
            <a:ext cx="8229600" cy="1428752"/>
          </a:xfrm>
        </p:spPr>
        <p:txBody>
          <a:bodyPr>
            <a:normAutofit fontScale="90000"/>
          </a:bodyPr>
          <a:lstStyle/>
          <a:p>
            <a:pPr algn="ctr"/>
            <a:r>
              <a:rPr lang="es-BO" b="1" dirty="0" smtClean="0"/>
              <a:t/>
            </a:r>
            <a:br>
              <a:rPr lang="es-BO" b="1" dirty="0" smtClean="0"/>
            </a:br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EFECTOS DE LA DESNUTRICION EN BOLIVIA</a:t>
            </a: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s-BO" dirty="0" smtClean="0"/>
          </a:p>
          <a:p>
            <a:pPr>
              <a:lnSpc>
                <a:spcPct val="150000"/>
              </a:lnSpc>
            </a:pPr>
            <a:endParaRPr lang="es-BO" i="1" dirty="0" smtClean="0"/>
          </a:p>
          <a:p>
            <a:pPr>
              <a:lnSpc>
                <a:spcPct val="150000"/>
              </a:lnSpc>
            </a:pPr>
            <a:r>
              <a:rPr lang="es-BO" i="1" dirty="0" smtClean="0">
                <a:latin typeface="Comic Sans MS" pitchFamily="66" charset="0"/>
              </a:rPr>
              <a:t>La Agencia de Noticias </a:t>
            </a:r>
            <a:r>
              <a:rPr lang="es-BO" i="1" dirty="0" err="1" smtClean="0">
                <a:latin typeface="Comic Sans MS" pitchFamily="66" charset="0"/>
              </a:rPr>
              <a:t>Fides</a:t>
            </a:r>
            <a:r>
              <a:rPr lang="es-BO" i="1" dirty="0" smtClean="0">
                <a:latin typeface="Comic Sans MS" pitchFamily="66" charset="0"/>
              </a:rPr>
              <a:t>, señala también, que en Bolivia el impacto de la desnutrición significó más de 28.000 casos en la población menor de 5 años</a:t>
            </a:r>
            <a:endParaRPr lang="es-BO" dirty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785794"/>
            <a:ext cx="8643966" cy="2081970"/>
          </a:xfrm>
        </p:spPr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DESCRIPCION GENERAL DE LA PROPUESTA:</a:t>
            </a:r>
            <a:r>
              <a:rPr lang="es-BO" b="1" dirty="0" smtClean="0">
                <a:latin typeface="Comic Sans MS" pitchFamily="66" charset="0"/>
              </a:rPr>
              <a:t/>
            </a:r>
            <a:br>
              <a:rPr lang="es-BO" b="1" dirty="0" smtClean="0">
                <a:latin typeface="Comic Sans MS" pitchFamily="66" charset="0"/>
              </a:rPr>
            </a:br>
            <a:endParaRPr lang="es-BO" dirty="0"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s-BO" dirty="0" smtClean="0"/>
          </a:p>
          <a:p>
            <a:pPr>
              <a:lnSpc>
                <a:spcPct val="150000"/>
              </a:lnSpc>
              <a:buNone/>
            </a:pPr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Estrategias para la población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Entrega de pancartas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Entrega de videos con la temática 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Entrega de </a:t>
            </a:r>
            <a:r>
              <a:rPr lang="es-BO" dirty="0" err="1" smtClean="0">
                <a:latin typeface="Comic Sans MS" pitchFamily="66" charset="0"/>
              </a:rPr>
              <a:t>Rotafolio</a:t>
            </a:r>
            <a:endParaRPr lang="es-BO" dirty="0" smtClean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Entrega de  volantes  </a:t>
            </a:r>
          </a:p>
          <a:p>
            <a:pPr>
              <a:buNone/>
            </a:pPr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928670"/>
            <a:ext cx="8229600" cy="1224714"/>
          </a:xfrm>
        </p:spPr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Actividades para la población</a:t>
            </a:r>
            <a:b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</a:b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Elaborar materiales  de  difusión, volantes de difusión sobre la importancia  de la nutrición y consecuencias de la desnutrición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Dar charlas una vez a la semana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Elaborar material informativo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Difusión de información audiovisual</a:t>
            </a:r>
          </a:p>
          <a:p>
            <a:endParaRPr lang="es-BO" dirty="0" smtClean="0">
              <a:latin typeface="Comic Sans MS" pitchFamily="66" charset="0"/>
            </a:endParaRPr>
          </a:p>
          <a:p>
            <a:endParaRPr lang="es-BO" dirty="0" smtClean="0">
              <a:latin typeface="Comic Sans MS" pitchFamily="66" charset="0"/>
            </a:endParaRP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10715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Actividades para la institución</a:t>
            </a:r>
            <a:b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</a:b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s-BO" dirty="0" smtClean="0"/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Crear un espacio de difusión e información sobre las causas para una discapacidad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Elaborar trípticos y panfletos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Reunir a los profesionales de salud para ver la factibilidad de la propuesta.</a:t>
            </a:r>
          </a:p>
          <a:p>
            <a:endParaRPr lang="es-BO" dirty="0" smtClean="0"/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92867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Indicadores y medios de verificación población</a:t>
            </a: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8596" y="2468880"/>
            <a:ext cx="8229600" cy="4389120"/>
          </a:xfrm>
        </p:spPr>
        <p:txBody>
          <a:bodyPr/>
          <a:lstStyle/>
          <a:p>
            <a:endParaRPr lang="es-BO" dirty="0" smtClean="0"/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Cuestionario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Fotografías de las actividades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Difusión de videos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Listas de participantes.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914400" y="928688"/>
            <a:ext cx="8229600" cy="53959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Indicadores y medios de verificación para la institución</a:t>
            </a:r>
          </a:p>
          <a:p>
            <a:pPr>
              <a:buNone/>
            </a:pPr>
            <a:endParaRPr lang="es-BO" dirty="0" smtClean="0"/>
          </a:p>
          <a:p>
            <a:r>
              <a:rPr lang="es-BO" dirty="0" smtClean="0"/>
              <a:t>Los videos, verificados por firma de participantes.</a:t>
            </a:r>
          </a:p>
          <a:p>
            <a:endParaRPr lang="es-BO" dirty="0" smtClean="0"/>
          </a:p>
          <a:p>
            <a:r>
              <a:rPr lang="es-BO" dirty="0" smtClean="0"/>
              <a:t>Volantes que se proporcionaran a las mujeres gestantes y a sus parejas. </a:t>
            </a:r>
          </a:p>
          <a:p>
            <a:r>
              <a:rPr lang="es-BO" dirty="0" smtClean="0"/>
              <a:t>Reporte de entrega de volantes</a:t>
            </a:r>
          </a:p>
          <a:p>
            <a:endParaRPr lang="es-BO" dirty="0" smtClean="0"/>
          </a:p>
          <a:p>
            <a:r>
              <a:rPr lang="es-BO" dirty="0" smtClean="0"/>
              <a:t>Fotografías</a:t>
            </a:r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928662" y="857232"/>
            <a:ext cx="7572428" cy="5357831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Beneficiarios directos</a:t>
            </a:r>
          </a:p>
          <a:p>
            <a:pPr>
              <a:buNone/>
            </a:pPr>
            <a:endParaRPr lang="es-BO" dirty="0" smtClean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Mujeres y hombres que asisten a consulta dentro las instalaciones del centro de salud Jaihuayco en proceso de gestación y planificación familiar.</a:t>
            </a:r>
          </a:p>
          <a:p>
            <a:pPr>
              <a:lnSpc>
                <a:spcPct val="150000"/>
              </a:lnSpc>
            </a:pPr>
            <a:endParaRPr lang="es-BO" dirty="0" smtClean="0">
              <a:latin typeface="Comic Sans MS" pitchFamily="66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s-BO" b="1" dirty="0" smtClean="0">
                <a:latin typeface="Comic Sans MS" pitchFamily="66" charset="0"/>
              </a:rPr>
              <a:t> </a:t>
            </a:r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Beneficiarios Indirectos</a:t>
            </a:r>
          </a:p>
          <a:p>
            <a:pPr>
              <a:lnSpc>
                <a:spcPct val="150000"/>
              </a:lnSpc>
              <a:buNone/>
            </a:pPr>
            <a:r>
              <a:rPr lang="es-BO" dirty="0" smtClean="0">
                <a:latin typeface="Comic Sans MS" pitchFamily="66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Institución que tendrá material audiovisual para la difusión sobre la temática</a:t>
            </a:r>
            <a:endParaRPr lang="es-BO" dirty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42860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BO" b="1" dirty="0" smtClean="0"/>
              <a:t/>
            </a:r>
            <a:br>
              <a:rPr lang="es-BO" b="1" dirty="0" smtClean="0"/>
            </a:br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Datos obtenidos</a:t>
            </a:r>
            <a:r>
              <a:rPr lang="es-ES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/>
            </a:r>
            <a:br>
              <a:rPr lang="es-ES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</a:b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96730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BO" dirty="0" smtClean="0"/>
              <a:t>El 12% de los hombres les desagrada  la atención prenatal que prestan en los servicios de salud.</a:t>
            </a:r>
          </a:p>
          <a:p>
            <a:pPr>
              <a:lnSpc>
                <a:spcPct val="150000"/>
              </a:lnSpc>
            </a:pPr>
            <a:r>
              <a:rPr lang="es-BO" dirty="0" smtClean="0"/>
              <a:t>El 19% de los hombres  considera que se espera mucho en la consulta de control de embarazo.</a:t>
            </a:r>
          </a:p>
          <a:p>
            <a:pPr>
              <a:lnSpc>
                <a:spcPct val="150000"/>
              </a:lnSpc>
            </a:pPr>
            <a:r>
              <a:rPr lang="es-BO" dirty="0" smtClean="0"/>
              <a:t>El 30% de los hombres considera que la mala alimentación de su pareja antes y durante el embarazo no es un riesgo para el bebé.</a:t>
            </a:r>
          </a:p>
          <a:p>
            <a:pPr>
              <a:lnSpc>
                <a:spcPct val="150000"/>
              </a:lnSpc>
            </a:pPr>
            <a:r>
              <a:rPr lang="es-BO" dirty="0" smtClean="0"/>
              <a:t>El 15% hombres cuya pareja no ha recibido evaluación medica nutricional al saber que esta embarazada.</a:t>
            </a:r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Gráfico 5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071546"/>
            <a:ext cx="7000924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571472" y="10715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CONCLUSIONES</a:t>
            </a:r>
            <a:r>
              <a:rPr lang="es-ES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/>
            </a:r>
            <a:br>
              <a:rPr lang="es-ES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</a:br>
            <a:endParaRPr lang="es-ES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4" name="3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Las mujeres en la etapa de  gestación deben consumir alimentos que principalmente les aporten vitaminas, minerales, hierro, calorías, que es muy importante para que tengan un embarazo saludable. </a:t>
            </a:r>
            <a:endParaRPr lang="es-ES" dirty="0" smtClean="0">
              <a:latin typeface="Comic Sans MS" pitchFamily="66" charset="0"/>
            </a:endParaRPr>
          </a:p>
          <a:p>
            <a:pPr algn="just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Se considera que es necesaria la buena alimentación antes y después del embarazo ya que esta ayuda al crecimiento del bebe mediante la lactancia materna, y el apoyo de la pareja en tan importante y confortable para el binomio madre niño.</a:t>
            </a:r>
            <a:endParaRPr lang="es-ES" dirty="0" smtClean="0">
              <a:latin typeface="Comic Sans MS" pitchFamily="66" charset="0"/>
            </a:endParaRPr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Tabla"/>
          <p:cNvGraphicFramePr>
            <a:graphicFrameLocks noGrp="1"/>
          </p:cNvGraphicFramePr>
          <p:nvPr/>
        </p:nvGraphicFramePr>
        <p:xfrm>
          <a:off x="642910" y="714356"/>
          <a:ext cx="7858180" cy="5786476"/>
        </p:xfrm>
        <a:graphic>
          <a:graphicData uri="http://schemas.openxmlformats.org/drawingml/2006/table">
            <a:tbl>
              <a:tblPr/>
              <a:tblGrid>
                <a:gridCol w="2551487"/>
                <a:gridCol w="155819"/>
                <a:gridCol w="156370"/>
                <a:gridCol w="155819"/>
                <a:gridCol w="224094"/>
                <a:gridCol w="144809"/>
                <a:gridCol w="144809"/>
                <a:gridCol w="144809"/>
                <a:gridCol w="144809"/>
                <a:gridCol w="197666"/>
                <a:gridCol w="191060"/>
                <a:gridCol w="191060"/>
                <a:gridCol w="191060"/>
                <a:gridCol w="155819"/>
                <a:gridCol w="156370"/>
                <a:gridCol w="155819"/>
                <a:gridCol w="156370"/>
                <a:gridCol w="180597"/>
                <a:gridCol w="174542"/>
                <a:gridCol w="173991"/>
                <a:gridCol w="174542"/>
                <a:gridCol w="165731"/>
                <a:gridCol w="165731"/>
                <a:gridCol w="165731"/>
                <a:gridCol w="165731"/>
                <a:gridCol w="155819"/>
                <a:gridCol w="156370"/>
                <a:gridCol w="155819"/>
                <a:gridCol w="156370"/>
                <a:gridCol w="161876"/>
                <a:gridCol w="162427"/>
                <a:gridCol w="162427"/>
                <a:gridCol w="162427"/>
              </a:tblGrid>
              <a:tr h="3003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 dirty="0">
                          <a:latin typeface="Arial"/>
                          <a:ea typeface="Calibri"/>
                          <a:cs typeface="Times New Roman"/>
                        </a:rPr>
                        <a:t>MESES</a:t>
                      </a:r>
                      <a:endParaRPr lang="es-E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Julio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Agosto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Septiembre.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Octubre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Noviembre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Diciembre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Enero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Febrero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</a:tr>
              <a:tr h="29987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ACTIVIDADES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1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2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3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4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1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2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3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4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1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2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3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4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1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2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3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4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1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2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3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4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1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2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3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4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1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2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3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4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1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2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3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4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61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Coordinación y presentación de la propuesta a la institución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74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Reunión con el grupo y coordinación para elaborar encuestas en la población  y  el centro de salud.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Encuesta en la comunidad 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61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Coordinar junto con la Lic. Las actividades a realizar en el centro de salud de Jaihuayco 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Encuesta al centro de salud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61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Revisar  y  conglomerado con todos los datos obtenidos de las encuestas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Reunión con Dr. Max Herbas (coordinador)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41161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Presentación de los datos obtenidos y de las tablas realizadas con los Datos obtenidos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61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Planificar actividades junto con la Lic. Beatriz y exposición 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Actividades desarrolladas como charlas 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Exposición de Medios audiovisuales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Colocación de los afiches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61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Presentación de PIP con los datos obtenidos de las actividades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Presentación del PIP antes de la defensa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Rectángulo"/>
          <p:cNvSpPr/>
          <p:nvPr/>
        </p:nvSpPr>
        <p:spPr>
          <a:xfrm>
            <a:off x="1201686" y="2967334"/>
            <a:ext cx="10072181" cy="20313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Escriba</a:t>
            </a:r>
          </a:p>
          <a:p>
            <a:pPr algn="ctr"/>
            <a:r>
              <a:rPr lang="es-ES" sz="7200" b="1" cap="none" spc="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Lucida Calligraphy" pitchFamily="66" charset="0"/>
              </a:rPr>
              <a:t>Gracias</a:t>
            </a:r>
            <a:r>
              <a:rPr lang="es-ES" sz="7200" b="1" cap="none" spc="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… </a:t>
            </a:r>
            <a:r>
              <a:rPr lang="es-ES" sz="7200" b="1" cap="none" spc="0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aquí </a:t>
            </a:r>
            <a:r>
              <a:rPr lang="es-ES" sz="5400" b="1" cap="none" spc="0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el texto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277</TotalTime>
  <Words>805</Words>
  <Application>Microsoft Office PowerPoint</Application>
  <PresentationFormat>Presentación en pantalla (4:3)</PresentationFormat>
  <Paragraphs>162</Paragraphs>
  <Slides>22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3" baseType="lpstr">
      <vt:lpstr>Flujo</vt:lpstr>
      <vt:lpstr>    INFORMACION SOBRE LA IMPORTANCIA DE LA NUTRICION DE LA MUJER ANTES Y DURANTE EL PROCESO DE GESTACION EN EL CENTRO DE SALUD DE JAIHUAYCO </vt:lpstr>
      <vt:lpstr> SINTESIS DEL PROBLEMA:</vt:lpstr>
      <vt:lpstr>Diapositiva 3</vt:lpstr>
      <vt:lpstr>JUSTIFICACION</vt:lpstr>
      <vt:lpstr>   OBJETIVO GENERAL DE LA POBLACION</vt:lpstr>
      <vt:lpstr>OBJETIVOS ESPECÍFICOS POBLACIÓN</vt:lpstr>
      <vt:lpstr>OBJETIVO GENERAL  INSTITUCIONAL</vt:lpstr>
      <vt:lpstr>OBJETIVO ESPECIFICO INSTITUCIONAL</vt:lpstr>
      <vt:lpstr> MARCO TEORICO </vt:lpstr>
      <vt:lpstr>ALIMENTOS QUE DEBE     CONSUMIR</vt:lpstr>
      <vt:lpstr> EFECTOS DE LA DESNUTRICION EN BOLIVIA</vt:lpstr>
      <vt:lpstr>DESCRIPCION GENERAL DE LA PROPUESTA: </vt:lpstr>
      <vt:lpstr>Actividades para la población </vt:lpstr>
      <vt:lpstr>Actividades para la institución </vt:lpstr>
      <vt:lpstr>Indicadores y medios de verificación población</vt:lpstr>
      <vt:lpstr>Diapositiva 16</vt:lpstr>
      <vt:lpstr>Diapositiva 17</vt:lpstr>
      <vt:lpstr> Datos obtenidos </vt:lpstr>
      <vt:lpstr>Diapositiva 19</vt:lpstr>
      <vt:lpstr>CONCLUSIONES </vt:lpstr>
      <vt:lpstr>Diapositiva 21</vt:lpstr>
      <vt:lpstr>Diapositiva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IDEOLOGIA DEL HOMBRE SOBRE LA NUTRICION EN LA ETAPA DE LA GESTACION</dc:title>
  <dc:creator>Lilian</dc:creator>
  <cp:lastModifiedBy>Lilian</cp:lastModifiedBy>
  <cp:revision>23</cp:revision>
  <dcterms:created xsi:type="dcterms:W3CDTF">2011-03-27T01:27:37Z</dcterms:created>
  <dcterms:modified xsi:type="dcterms:W3CDTF">2011-06-20T15:43:48Z</dcterms:modified>
</cp:coreProperties>
</file>