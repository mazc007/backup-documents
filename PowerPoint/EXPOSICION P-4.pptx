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75" r:id="rId3"/>
    <p:sldId id="279" r:id="rId4"/>
    <p:sldId id="269" r:id="rId5"/>
    <p:sldId id="287" r:id="rId6"/>
    <p:sldId id="284" r:id="rId7"/>
    <p:sldId id="285" r:id="rId8"/>
    <p:sldId id="286" r:id="rId9"/>
    <p:sldId id="266" r:id="rId10"/>
    <p:sldId id="288" r:id="rId11"/>
    <p:sldId id="291" r:id="rId12"/>
    <p:sldId id="289" r:id="rId13"/>
    <p:sldId id="290" r:id="rId14"/>
    <p:sldId id="270" r:id="rId15"/>
    <p:sldId id="280" r:id="rId16"/>
    <p:sldId id="281" r:id="rId17"/>
    <p:sldId id="261" r:id="rId18"/>
    <p:sldId id="263" r:id="rId19"/>
    <p:sldId id="283" r:id="rId20"/>
    <p:sldId id="273" r:id="rId21"/>
    <p:sldId id="274" r:id="rId22"/>
    <p:sldId id="282" r:id="rId23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7" autoAdjust="0"/>
  </p:normalViewPr>
  <p:slideViewPr>
    <p:cSldViewPr>
      <p:cViewPr varScale="1">
        <p:scale>
          <a:sx n="75" d="100"/>
          <a:sy n="75" d="100"/>
        </p:scale>
        <p:origin x="-1020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71F0-E99F-4111-A0C7-01E3F495FBFA}" type="datetimeFigureOut">
              <a:rPr lang="es-ES" smtClean="0"/>
              <a:pPr/>
              <a:t>18/08/2010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3893-9959-430E-8F01-27AECCE34971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71F0-E99F-4111-A0C7-01E3F495FBFA}" type="datetimeFigureOut">
              <a:rPr lang="es-ES" smtClean="0"/>
              <a:pPr/>
              <a:t>18/08/2010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3893-9959-430E-8F01-27AECCE34971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71F0-E99F-4111-A0C7-01E3F495FBFA}" type="datetimeFigureOut">
              <a:rPr lang="es-ES" smtClean="0"/>
              <a:pPr/>
              <a:t>18/08/2010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3893-9959-430E-8F01-27AECCE34971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71F0-E99F-4111-A0C7-01E3F495FBFA}" type="datetimeFigureOut">
              <a:rPr lang="es-ES" smtClean="0"/>
              <a:pPr/>
              <a:t>18/08/2010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3893-9959-430E-8F01-27AECCE34971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71F0-E99F-4111-A0C7-01E3F495FBFA}" type="datetimeFigureOut">
              <a:rPr lang="es-ES" smtClean="0"/>
              <a:pPr/>
              <a:t>18/08/2010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3893-9959-430E-8F01-27AECCE34971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71F0-E99F-4111-A0C7-01E3F495FBFA}" type="datetimeFigureOut">
              <a:rPr lang="es-ES" smtClean="0"/>
              <a:pPr/>
              <a:t>18/08/2010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3893-9959-430E-8F01-27AECCE34971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71F0-E99F-4111-A0C7-01E3F495FBFA}" type="datetimeFigureOut">
              <a:rPr lang="es-ES" smtClean="0"/>
              <a:pPr/>
              <a:t>18/08/2010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3893-9959-430E-8F01-27AECCE34971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71F0-E99F-4111-A0C7-01E3F495FBFA}" type="datetimeFigureOut">
              <a:rPr lang="es-ES" smtClean="0"/>
              <a:pPr/>
              <a:t>18/08/2010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3893-9959-430E-8F01-27AECCE34971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71F0-E99F-4111-A0C7-01E3F495FBFA}" type="datetimeFigureOut">
              <a:rPr lang="es-ES" smtClean="0"/>
              <a:pPr/>
              <a:t>18/08/2010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3893-9959-430E-8F01-27AECCE34971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71F0-E99F-4111-A0C7-01E3F495FBFA}" type="datetimeFigureOut">
              <a:rPr lang="es-ES" smtClean="0"/>
              <a:pPr/>
              <a:t>18/08/2010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3893-9959-430E-8F01-27AECCE34971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71F0-E99F-4111-A0C7-01E3F495FBFA}" type="datetimeFigureOut">
              <a:rPr lang="es-ES" smtClean="0"/>
              <a:pPr/>
              <a:t>18/08/2010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3893-9959-430E-8F01-27AECCE34971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771F0-E99F-4111-A0C7-01E3F495FBFA}" type="datetimeFigureOut">
              <a:rPr lang="es-ES" smtClean="0"/>
              <a:pPr/>
              <a:t>18/08/2010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93893-9959-430E-8F01-27AECCE34971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27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971600" y="1772816"/>
            <a:ext cx="7848872" cy="3312368"/>
          </a:xfrm>
        </p:spPr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115616" y="1916832"/>
            <a:ext cx="7272808" cy="2736304"/>
          </a:xfrm>
        </p:spPr>
        <p:txBody>
          <a:bodyPr>
            <a:noAutofit/>
          </a:bodyPr>
          <a:lstStyle/>
          <a:p>
            <a:r>
              <a:rPr lang="es-ES" sz="8000" dirty="0" smtClean="0">
                <a:solidFill>
                  <a:srgbClr val="FFFF00"/>
                </a:solidFill>
              </a:rPr>
              <a:t>EXPOSICION P-4</a:t>
            </a:r>
            <a:endParaRPr lang="es-ES" sz="8000" dirty="0">
              <a:solidFill>
                <a:srgbClr val="FFFF00"/>
              </a:solidFill>
            </a:endParaRPr>
          </a:p>
        </p:txBody>
      </p:sp>
      <p:pic>
        <p:nvPicPr>
          <p:cNvPr id="4" name="Picture 39" descr="EMBLEMA FFAA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" y="0"/>
            <a:ext cx="1475655" cy="1268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5" name="7 Imagen" descr="PAYIN.bmp"/>
          <p:cNvPicPr>
            <a:picLocks noChangeAspect="1"/>
          </p:cNvPicPr>
          <p:nvPr/>
        </p:nvPicPr>
        <p:blipFill>
          <a:blip r:embed="rId3" cstate="print"/>
          <a:srcRect l="9283" r="8869"/>
          <a:stretch>
            <a:fillRect/>
          </a:stretch>
        </p:blipFill>
        <p:spPr bwMode="auto">
          <a:xfrm>
            <a:off x="7812360" y="9872"/>
            <a:ext cx="1296144" cy="1325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1143000"/>
          </a:xfrm>
        </p:spPr>
        <p:txBody>
          <a:bodyPr/>
          <a:lstStyle/>
          <a:p>
            <a:r>
              <a:rPr lang="es-ES" dirty="0" smtClean="0">
                <a:solidFill>
                  <a:srgbClr val="FFFF00"/>
                </a:solidFill>
              </a:rPr>
              <a:t>ABASTECIMIENTO</a:t>
            </a:r>
            <a:endParaRPr lang="es-ES" dirty="0">
              <a:solidFill>
                <a:srgbClr val="FFFF00"/>
              </a:solidFill>
            </a:endParaRPr>
          </a:p>
        </p:txBody>
      </p:sp>
      <p:pic>
        <p:nvPicPr>
          <p:cNvPr id="4" name="3 Marcador de contenido" descr="DSC03540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9512" y="2420888"/>
            <a:ext cx="3645727" cy="2734295"/>
          </a:xfrm>
        </p:spPr>
      </p:pic>
      <p:sp>
        <p:nvSpPr>
          <p:cNvPr id="5" name="4 Flecha a la derecha con muesca"/>
          <p:cNvSpPr/>
          <p:nvPr/>
        </p:nvSpPr>
        <p:spPr>
          <a:xfrm>
            <a:off x="3779912" y="3789040"/>
            <a:ext cx="576064" cy="432048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FF00"/>
              </a:solidFill>
            </a:endParaRPr>
          </a:p>
        </p:txBody>
      </p:sp>
      <p:sp>
        <p:nvSpPr>
          <p:cNvPr id="6" name="5 Abrir llave"/>
          <p:cNvSpPr/>
          <p:nvPr/>
        </p:nvSpPr>
        <p:spPr>
          <a:xfrm>
            <a:off x="4499992" y="2924944"/>
            <a:ext cx="1296144" cy="2232248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FF00"/>
              </a:solidFill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5796136" y="2924944"/>
            <a:ext cx="33478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 smtClean="0">
                <a:solidFill>
                  <a:srgbClr val="FFFF00"/>
                </a:solidFill>
                <a:latin typeface="Calibri" pitchFamily="34" charset="0"/>
              </a:rPr>
              <a:t>AREA DE OPERACIONES</a:t>
            </a:r>
          </a:p>
          <a:p>
            <a:r>
              <a:rPr lang="es-ES" sz="2400" b="1" dirty="0" smtClean="0">
                <a:solidFill>
                  <a:srgbClr val="FFFF00"/>
                </a:solidFill>
                <a:latin typeface="Calibri" pitchFamily="34" charset="0"/>
              </a:rPr>
              <a:t>INSTITUCION A CARGO</a:t>
            </a:r>
            <a:endParaRPr lang="es-ES" sz="2400" b="1" dirty="0" smtClean="0">
              <a:solidFill>
                <a:srgbClr val="FFFF00"/>
              </a:solidFill>
              <a:latin typeface="Calibri" pitchFamily="34" charset="0"/>
            </a:endParaRPr>
          </a:p>
          <a:p>
            <a:r>
              <a:rPr lang="es-ES" sz="2400" b="1" dirty="0" smtClean="0">
                <a:solidFill>
                  <a:srgbClr val="FFFF00"/>
                </a:solidFill>
                <a:latin typeface="Calibri" pitchFamily="34" charset="0"/>
              </a:rPr>
              <a:t>CL. I          AUTONOMA</a:t>
            </a:r>
            <a:endParaRPr lang="es-ES" sz="2400" b="1" dirty="0" smtClean="0">
              <a:solidFill>
                <a:srgbClr val="FFFF00"/>
              </a:solidFill>
              <a:latin typeface="Calibri" pitchFamily="34" charset="0"/>
            </a:endParaRPr>
          </a:p>
          <a:p>
            <a:r>
              <a:rPr lang="es-ES" sz="2400" b="1" dirty="0" smtClean="0">
                <a:solidFill>
                  <a:srgbClr val="FFFF00"/>
                </a:solidFill>
                <a:latin typeface="Calibri" pitchFamily="34" charset="0"/>
              </a:rPr>
              <a:t>CL. </a:t>
            </a:r>
            <a:r>
              <a:rPr lang="es-ES" sz="2400" b="1" dirty="0" smtClean="0">
                <a:solidFill>
                  <a:srgbClr val="FFFF00"/>
                </a:solidFill>
                <a:latin typeface="Calibri" pitchFamily="34" charset="0"/>
              </a:rPr>
              <a:t>III        ASIGNACION</a:t>
            </a:r>
            <a:endParaRPr lang="es-ES" sz="2400" b="1" dirty="0" smtClean="0">
              <a:solidFill>
                <a:srgbClr val="FFFF00"/>
              </a:solidFill>
              <a:latin typeface="Calibri" pitchFamily="34" charset="0"/>
            </a:endParaRPr>
          </a:p>
          <a:p>
            <a:r>
              <a:rPr lang="es-ES" sz="2400" b="1" dirty="0" smtClean="0">
                <a:solidFill>
                  <a:srgbClr val="FFFF00"/>
                </a:solidFill>
                <a:latin typeface="Calibri" pitchFamily="34" charset="0"/>
              </a:rPr>
              <a:t>CL. </a:t>
            </a:r>
            <a:r>
              <a:rPr lang="es-ES" sz="2400" b="1" dirty="0" smtClean="0">
                <a:solidFill>
                  <a:srgbClr val="FFFF00"/>
                </a:solidFill>
                <a:latin typeface="Calibri" pitchFamily="34" charset="0"/>
              </a:rPr>
              <a:t>V   EXTRAORDINARIA</a:t>
            </a:r>
            <a:endParaRPr lang="es-ES" sz="2400" b="1" dirty="0" smtClean="0">
              <a:solidFill>
                <a:srgbClr val="FFFF00"/>
              </a:solidFill>
              <a:latin typeface="Calibri" pitchFamily="34" charset="0"/>
            </a:endParaRPr>
          </a:p>
          <a:p>
            <a:r>
              <a:rPr lang="es-ES" sz="2400" b="1" dirty="0" smtClean="0">
                <a:solidFill>
                  <a:srgbClr val="FFFF00"/>
                </a:solidFill>
                <a:latin typeface="Calibri" pitchFamily="34" charset="0"/>
              </a:rPr>
              <a:t>CL</a:t>
            </a:r>
            <a:r>
              <a:rPr lang="es-ES" sz="2400" b="1" dirty="0" smtClean="0">
                <a:solidFill>
                  <a:srgbClr val="FFFF00"/>
                </a:solidFill>
                <a:latin typeface="Calibri" pitchFamily="34" charset="0"/>
              </a:rPr>
              <a:t>. </a:t>
            </a:r>
            <a:r>
              <a:rPr lang="es-ES" sz="2400" b="1" dirty="0" smtClean="0">
                <a:solidFill>
                  <a:srgbClr val="FFFF00"/>
                </a:solidFill>
                <a:latin typeface="Calibri" pitchFamily="34" charset="0"/>
              </a:rPr>
              <a:t>II;IV       NO</a:t>
            </a:r>
            <a:endParaRPr lang="es-ES" sz="2400" b="1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3881021" y="2060848"/>
            <a:ext cx="52629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OPERACIONES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5291064" y="5445224"/>
            <a:ext cx="3852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b="1" i="1" dirty="0" smtClean="0">
                <a:solidFill>
                  <a:srgbClr val="FFFF00"/>
                </a:solidFill>
              </a:rPr>
              <a:t>DONACION DE MEDICAMENTOS </a:t>
            </a:r>
            <a:endParaRPr lang="es-ES" b="1" i="1" dirty="0" smtClean="0">
              <a:solidFill>
                <a:srgbClr val="FFFF00"/>
              </a:solidFill>
            </a:endParaRPr>
          </a:p>
          <a:p>
            <a:pPr algn="just"/>
            <a:r>
              <a:rPr lang="es-ES" b="1" i="1" dirty="0" smtClean="0">
                <a:solidFill>
                  <a:srgbClr val="FFFF00"/>
                </a:solidFill>
              </a:rPr>
              <a:t>INSTITUCIONES</a:t>
            </a:r>
            <a:endParaRPr lang="es-ES" b="1" i="1" dirty="0" smtClean="0">
              <a:solidFill>
                <a:srgbClr val="FFFF00"/>
              </a:solidFill>
            </a:endParaRPr>
          </a:p>
          <a:p>
            <a:pPr algn="just"/>
            <a:r>
              <a:rPr lang="es-ES" b="1" i="1" dirty="0" smtClean="0">
                <a:solidFill>
                  <a:srgbClr val="FFFF00"/>
                </a:solidFill>
              </a:rPr>
              <a:t>CUBANOS</a:t>
            </a:r>
            <a:r>
              <a:rPr lang="es-ES" b="1" i="1" dirty="0" smtClean="0">
                <a:solidFill>
                  <a:srgbClr val="FFFF00"/>
                </a:solidFill>
              </a:rPr>
              <a:t>, </a:t>
            </a:r>
            <a:r>
              <a:rPr lang="es-ES" b="1" i="1" dirty="0" smtClean="0">
                <a:solidFill>
                  <a:srgbClr val="FFFF00"/>
                </a:solidFill>
              </a:rPr>
              <a:t>FARMACIAS SAS, AMIGOS</a:t>
            </a:r>
            <a:r>
              <a:rPr lang="es-ES" dirty="0" smtClean="0">
                <a:solidFill>
                  <a:srgbClr val="FFFF00"/>
                </a:solidFill>
              </a:rPr>
              <a:t>.</a:t>
            </a:r>
            <a:endParaRPr lang="es-ES" dirty="0">
              <a:solidFill>
                <a:srgbClr val="FFFF00"/>
              </a:solidFill>
            </a:endParaRPr>
          </a:p>
        </p:txBody>
      </p:sp>
      <p:pic>
        <p:nvPicPr>
          <p:cNvPr id="11" name="10 Imagen" descr="MEDICAMENTO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5301208"/>
            <a:ext cx="5040560" cy="1206197"/>
          </a:xfrm>
          <a:prstGeom prst="rect">
            <a:avLst/>
          </a:prstGeom>
        </p:spPr>
      </p:pic>
      <p:sp>
        <p:nvSpPr>
          <p:cNvPr id="12" name="11 Rectángulo"/>
          <p:cNvSpPr/>
          <p:nvPr/>
        </p:nvSpPr>
        <p:spPr>
          <a:xfrm>
            <a:off x="3957964" y="1268760"/>
            <a:ext cx="51090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INSTRUCCION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59832" y="253536"/>
            <a:ext cx="5626968" cy="1087232"/>
          </a:xfrm>
        </p:spPr>
        <p:txBody>
          <a:bodyPr>
            <a:normAutofit/>
          </a:bodyPr>
          <a:lstStyle/>
          <a:p>
            <a:pPr algn="ctr"/>
            <a:r>
              <a:rPr lang="es-ES" sz="4800" dirty="0" smtClean="0">
                <a:solidFill>
                  <a:srgbClr val="FFFF00"/>
                </a:solidFill>
              </a:rPr>
              <a:t>EVACUCIONES</a:t>
            </a:r>
            <a:endParaRPr lang="es-ES" sz="4800" dirty="0">
              <a:solidFill>
                <a:srgbClr val="FFFF00"/>
              </a:solidFill>
            </a:endParaRPr>
          </a:p>
        </p:txBody>
      </p:sp>
      <p:pic>
        <p:nvPicPr>
          <p:cNvPr id="8" name="5 Marcador de contenido" descr="moto_0080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51520" y="2492896"/>
            <a:ext cx="3168352" cy="2193468"/>
          </a:xfrm>
        </p:spPr>
      </p:pic>
      <p:pic>
        <p:nvPicPr>
          <p:cNvPr id="4" name="3 Imagen" descr="03022009(002)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1520" y="188640"/>
            <a:ext cx="3110065" cy="2232248"/>
          </a:xfrm>
          <a:prstGeom prst="rect">
            <a:avLst/>
          </a:prstGeom>
        </p:spPr>
      </p:pic>
      <p:sp>
        <p:nvSpPr>
          <p:cNvPr id="5" name="4 Flecha derecha"/>
          <p:cNvSpPr/>
          <p:nvPr/>
        </p:nvSpPr>
        <p:spPr>
          <a:xfrm>
            <a:off x="3419872" y="2132856"/>
            <a:ext cx="648072" cy="576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5 CuadroTexto"/>
          <p:cNvSpPr txBox="1"/>
          <p:nvPr/>
        </p:nvSpPr>
        <p:spPr>
          <a:xfrm>
            <a:off x="3923928" y="2132856"/>
            <a:ext cx="1944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s-ES" dirty="0" smtClean="0">
                <a:solidFill>
                  <a:srgbClr val="FFFF00"/>
                </a:solidFill>
                <a:latin typeface="Calibri" pitchFamily="34" charset="0"/>
              </a:rPr>
              <a:t>PARAMEDICOS</a:t>
            </a:r>
          </a:p>
          <a:p>
            <a:pPr marL="342900" indent="-342900"/>
            <a:r>
              <a:rPr lang="es-ES" dirty="0" smtClean="0">
                <a:solidFill>
                  <a:srgbClr val="FFFF00"/>
                </a:solidFill>
                <a:latin typeface="Calibri" pitchFamily="34" charset="0"/>
              </a:rPr>
              <a:t>DE COMBATE</a:t>
            </a:r>
            <a:endParaRPr lang="es-ES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7" name="6 Abrir llave"/>
          <p:cNvSpPr/>
          <p:nvPr/>
        </p:nvSpPr>
        <p:spPr>
          <a:xfrm>
            <a:off x="5436096" y="1556792"/>
            <a:ext cx="504056" cy="1584176"/>
          </a:xfrm>
          <a:prstGeom prst="leftBrace">
            <a:avLst>
              <a:gd name="adj1" fmla="val 0"/>
              <a:gd name="adj2" fmla="val 50000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9 CuadroTexto"/>
          <p:cNvSpPr txBox="1"/>
          <p:nvPr/>
        </p:nvSpPr>
        <p:spPr>
          <a:xfrm>
            <a:off x="3275856" y="5877272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 </a:t>
            </a:r>
            <a:r>
              <a:rPr lang="es-ES" b="1" i="1" dirty="0" smtClean="0">
                <a:solidFill>
                  <a:srgbClr val="FFFF00"/>
                </a:solidFill>
                <a:latin typeface="Calibri" pitchFamily="34" charset="0"/>
              </a:rPr>
              <a:t>CERO  ACCIDENTES EN INSTRUCCIÓN Y OPS.</a:t>
            </a:r>
          </a:p>
          <a:p>
            <a:r>
              <a:rPr lang="es-ES" b="1" i="1" dirty="0" smtClean="0">
                <a:solidFill>
                  <a:srgbClr val="FFFF00"/>
                </a:solidFill>
                <a:latin typeface="Calibri" pitchFamily="34" charset="0"/>
              </a:rPr>
              <a:t>NORMAS DE SEG.</a:t>
            </a:r>
            <a:endParaRPr lang="es-ES" b="1" i="1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1547664" y="4725144"/>
            <a:ext cx="1872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smtClean="0"/>
              <a:t> </a:t>
            </a:r>
            <a:r>
              <a:rPr lang="es-ES" sz="2400" b="1" dirty="0" smtClean="0">
                <a:solidFill>
                  <a:srgbClr val="FFFF00"/>
                </a:solidFill>
              </a:rPr>
              <a:t>COSSMIL</a:t>
            </a:r>
            <a:endParaRPr lang="es-ES" sz="2400" b="1" dirty="0">
              <a:solidFill>
                <a:srgbClr val="FFFF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63688" y="5013176"/>
            <a:ext cx="1353104" cy="1396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12 CuadroTexto"/>
          <p:cNvSpPr txBox="1"/>
          <p:nvPr/>
        </p:nvSpPr>
        <p:spPr>
          <a:xfrm>
            <a:off x="5796136" y="1613699"/>
            <a:ext cx="33478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rgbClr val="FFFF00"/>
                </a:solidFill>
              </a:rPr>
              <a:t>AUXILIAR</a:t>
            </a:r>
          </a:p>
          <a:p>
            <a:r>
              <a:rPr lang="es-ES" dirty="0" smtClean="0">
                <a:solidFill>
                  <a:srgbClr val="FFFF00"/>
                </a:solidFill>
              </a:rPr>
              <a:t>EVALUAR BAJAS</a:t>
            </a:r>
          </a:p>
          <a:p>
            <a:r>
              <a:rPr lang="es-ES" dirty="0" smtClean="0">
                <a:solidFill>
                  <a:srgbClr val="FFFF00"/>
                </a:solidFill>
              </a:rPr>
              <a:t>APOYO </a:t>
            </a:r>
            <a:r>
              <a:rPr lang="es-ES" dirty="0" smtClean="0">
                <a:solidFill>
                  <a:srgbClr val="FFFF00"/>
                </a:solidFill>
              </a:rPr>
              <a:t>MEDICO OPORTUNO</a:t>
            </a:r>
            <a:endParaRPr lang="es-ES" dirty="0" smtClean="0">
              <a:solidFill>
                <a:srgbClr val="FFFF00"/>
              </a:solidFill>
            </a:endParaRPr>
          </a:p>
          <a:p>
            <a:r>
              <a:rPr lang="es-ES" dirty="0" smtClean="0">
                <a:solidFill>
                  <a:srgbClr val="FFFF00"/>
                </a:solidFill>
              </a:rPr>
              <a:t>EVACUAR</a:t>
            </a:r>
          </a:p>
          <a:p>
            <a:r>
              <a:rPr lang="es-ES" dirty="0" smtClean="0">
                <a:solidFill>
                  <a:srgbClr val="FFFF00"/>
                </a:solidFill>
              </a:rPr>
              <a:t>CIRUGIAS MENORES</a:t>
            </a:r>
          </a:p>
          <a:p>
            <a:endParaRPr lang="es-ES" dirty="0" smtClean="0">
              <a:solidFill>
                <a:srgbClr val="FFFF00"/>
              </a:solidFill>
            </a:endParaRPr>
          </a:p>
          <a:p>
            <a:endParaRPr lang="es-ES" dirty="0">
              <a:solidFill>
                <a:srgbClr val="FFFF00"/>
              </a:solidFill>
            </a:endParaRPr>
          </a:p>
        </p:txBody>
      </p:sp>
      <p:sp>
        <p:nvSpPr>
          <p:cNvPr id="14" name="13 Flecha curvada hacia la izquierda"/>
          <p:cNvSpPr/>
          <p:nvPr/>
        </p:nvSpPr>
        <p:spPr>
          <a:xfrm>
            <a:off x="3635896" y="3789040"/>
            <a:ext cx="1080120" cy="187220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pic>
        <p:nvPicPr>
          <p:cNvPr id="16" name="Picture 2" descr="http://images.quebarato.com.br/photos/big/6/8/872268_1.jpg"/>
          <p:cNvPicPr>
            <a:picLocks noChangeAspect="1" noChangeArrowheads="1"/>
          </p:cNvPicPr>
          <p:nvPr/>
        </p:nvPicPr>
        <p:blipFill>
          <a:blip r:embed="rId5" cstate="print"/>
          <a:srcRect t="4888" b="5111"/>
          <a:stretch>
            <a:fillRect/>
          </a:stretch>
        </p:blipFill>
        <p:spPr bwMode="auto">
          <a:xfrm>
            <a:off x="5940152" y="3573016"/>
            <a:ext cx="1928826" cy="151331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17" name="16 CuadroTexto"/>
          <p:cNvSpPr txBox="1"/>
          <p:nvPr/>
        </p:nvSpPr>
        <p:spPr>
          <a:xfrm>
            <a:off x="5796136" y="5373216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rgbClr val="FFFF00"/>
                </a:solidFill>
              </a:rPr>
              <a:t>AMBULANCIA</a:t>
            </a:r>
            <a:endParaRPr lang="es-E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99592" y="155448"/>
            <a:ext cx="7787208" cy="1113312"/>
          </a:xfrm>
        </p:spPr>
        <p:txBody>
          <a:bodyPr>
            <a:normAutofit/>
          </a:bodyPr>
          <a:lstStyle/>
          <a:p>
            <a:r>
              <a:rPr lang="es-ES" dirty="0" smtClean="0">
                <a:solidFill>
                  <a:srgbClr val="FFFF00"/>
                </a:solidFill>
              </a:rPr>
              <a:t>TRANSPORTES</a:t>
            </a:r>
            <a:endParaRPr lang="es-ES" dirty="0">
              <a:solidFill>
                <a:srgbClr val="FFFF00"/>
              </a:solidFill>
            </a:endParaRPr>
          </a:p>
        </p:txBody>
      </p:sp>
      <p:pic>
        <p:nvPicPr>
          <p:cNvPr id="5" name="4 Marcador de contenido" descr="10-06-09_1716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95536" y="1916832"/>
            <a:ext cx="4032448" cy="3547864"/>
          </a:xfrm>
        </p:spPr>
      </p:pic>
      <p:sp>
        <p:nvSpPr>
          <p:cNvPr id="11" name="10 Flecha a la derecha con muesca"/>
          <p:cNvSpPr/>
          <p:nvPr/>
        </p:nvSpPr>
        <p:spPr>
          <a:xfrm>
            <a:off x="4572000" y="3429000"/>
            <a:ext cx="648072" cy="36004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13 CuadroTexto"/>
          <p:cNvSpPr txBox="1"/>
          <p:nvPr/>
        </p:nvSpPr>
        <p:spPr>
          <a:xfrm>
            <a:off x="5076056" y="1700808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i="1" dirty="0" smtClean="0">
                <a:solidFill>
                  <a:srgbClr val="FFFF00"/>
                </a:solidFill>
                <a:latin typeface="Calibri" pitchFamily="34" charset="0"/>
              </a:rPr>
              <a:t>  </a:t>
            </a:r>
            <a:endParaRPr lang="es-ES" sz="2400" b="1" i="1" dirty="0">
              <a:solidFill>
                <a:srgbClr val="FFFF00"/>
              </a:solidFill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rgbClr val="FFFF00"/>
                </a:solidFill>
              </a:rPr>
              <a:t>TRANSPORTES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0" y="1600200"/>
            <a:ext cx="4114800" cy="4525963"/>
          </a:xfrm>
        </p:spPr>
        <p:txBody>
          <a:bodyPr/>
          <a:lstStyle/>
          <a:p>
            <a:r>
              <a:rPr lang="es-ES" dirty="0" smtClean="0">
                <a:solidFill>
                  <a:srgbClr val="FFFF00"/>
                </a:solidFill>
                <a:latin typeface="Calibri" pitchFamily="34" charset="0"/>
              </a:rPr>
              <a:t>CAMION FORD</a:t>
            </a:r>
          </a:p>
          <a:p>
            <a:pPr>
              <a:buNone/>
            </a:pPr>
            <a:endParaRPr lang="es-ES" dirty="0" smtClean="0">
              <a:solidFill>
                <a:srgbClr val="FFFF00"/>
              </a:solidFill>
              <a:latin typeface="Calibri" pitchFamily="34" charset="0"/>
            </a:endParaRPr>
          </a:p>
          <a:p>
            <a:r>
              <a:rPr lang="es-ES" dirty="0" smtClean="0">
                <a:solidFill>
                  <a:srgbClr val="FFFF00"/>
                </a:solidFill>
                <a:latin typeface="Calibri" pitchFamily="34" charset="0"/>
              </a:rPr>
              <a:t>TALLER BRAS BOL.</a:t>
            </a:r>
          </a:p>
          <a:p>
            <a:r>
              <a:rPr lang="es-ES" dirty="0" smtClean="0">
                <a:solidFill>
                  <a:srgbClr val="FFFF00"/>
                </a:solidFill>
                <a:latin typeface="Calibri" pitchFamily="34" charset="0"/>
              </a:rPr>
              <a:t>TES DE INYECTORES</a:t>
            </a:r>
          </a:p>
          <a:p>
            <a:endParaRPr lang="es-ES" dirty="0"/>
          </a:p>
        </p:txBody>
      </p:sp>
      <p:pic>
        <p:nvPicPr>
          <p:cNvPr id="4" name="3 Imagen" descr="vieja 2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9552" y="1700808"/>
            <a:ext cx="4071068" cy="45365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rgbClr val="FFFF00"/>
                </a:solidFill>
              </a:rPr>
              <a:t>TRANSPORTES</a:t>
            </a:r>
            <a:endParaRPr lang="es-ES" dirty="0"/>
          </a:p>
        </p:txBody>
      </p:sp>
      <p:pic>
        <p:nvPicPr>
          <p:cNvPr id="4" name="Picture 2" descr="http://images04.olx.com.mx/ui/1/09/72/9870772_1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484784"/>
            <a:ext cx="3024336" cy="251951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5" name="Picture 2" descr="http://images04.olx.com.mx/ui/1/09/72/9870772_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4077072"/>
            <a:ext cx="2904555" cy="251951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6" name="5 Rectángulo"/>
          <p:cNvSpPr/>
          <p:nvPr/>
        </p:nvSpPr>
        <p:spPr>
          <a:xfrm>
            <a:off x="3491880" y="220486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b="1" dirty="0" smtClean="0">
                <a:solidFill>
                  <a:srgbClr val="FFFF00"/>
                </a:solidFill>
                <a:latin typeface="Calibri" pitchFamily="34" charset="0"/>
              </a:rPr>
              <a:t>SR. BENJAMIN SIPE MECANICO</a:t>
            </a:r>
          </a:p>
          <a:p>
            <a:r>
              <a:rPr lang="es-ES" b="1" dirty="0" smtClean="0">
                <a:solidFill>
                  <a:srgbClr val="FFFF00"/>
                </a:solidFill>
                <a:latin typeface="Calibri" pitchFamily="34" charset="0"/>
              </a:rPr>
              <a:t>TALLER  FINAL AV</a:t>
            </a:r>
            <a:r>
              <a:rPr lang="es-ES" b="1" dirty="0" smtClean="0">
                <a:solidFill>
                  <a:srgbClr val="FFFF00"/>
                </a:solidFill>
                <a:latin typeface="Calibri" pitchFamily="34" charset="0"/>
              </a:rPr>
              <a:t>. PANAMERICANA </a:t>
            </a:r>
            <a:r>
              <a:rPr lang="es-ES" b="1" dirty="0" smtClean="0">
                <a:solidFill>
                  <a:srgbClr val="FFFF00"/>
                </a:solidFill>
                <a:latin typeface="Calibri" pitchFamily="34" charset="0"/>
              </a:rPr>
              <a:t> </a:t>
            </a:r>
          </a:p>
          <a:p>
            <a:r>
              <a:rPr lang="es-ES" b="1" dirty="0" smtClean="0">
                <a:solidFill>
                  <a:srgbClr val="FFFF00"/>
                </a:solidFill>
                <a:latin typeface="Calibri" pitchFamily="34" charset="0"/>
              </a:rPr>
              <a:t>MOTOR AGRIPADO</a:t>
            </a:r>
          </a:p>
          <a:p>
            <a:endParaRPr lang="es-ES" b="1" dirty="0" smtClean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3707904" y="4725144"/>
            <a:ext cx="1512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 smtClean="0">
                <a:solidFill>
                  <a:srgbClr val="FFFF00"/>
                </a:solidFill>
                <a:latin typeface="Calibri" pitchFamily="34" charset="0"/>
              </a:rPr>
              <a:t>OPERABLE</a:t>
            </a:r>
            <a:endParaRPr lang="es-ES" b="1" dirty="0" smtClean="0">
              <a:solidFill>
                <a:srgbClr val="FFFF00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images.quebarato.com.br/photos/big/6/8/872268_1.jpg"/>
          <p:cNvPicPr>
            <a:picLocks noChangeAspect="1" noChangeArrowheads="1"/>
          </p:cNvPicPr>
          <p:nvPr/>
        </p:nvPicPr>
        <p:blipFill>
          <a:blip r:embed="rId2" cstate="print"/>
          <a:srcRect t="4888" b="5111"/>
          <a:stretch>
            <a:fillRect/>
          </a:stretch>
        </p:blipFill>
        <p:spPr bwMode="auto">
          <a:xfrm>
            <a:off x="323528" y="4221088"/>
            <a:ext cx="2890322" cy="187220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4" name="Picture 15" descr="http://www.datoavisos.com.mx/fotos/55461c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lum contrast="30000"/>
          </a:blip>
          <a:srcRect/>
          <a:stretch>
            <a:fillRect/>
          </a:stretch>
        </p:blipFill>
        <p:spPr bwMode="auto">
          <a:xfrm>
            <a:off x="323528" y="1916832"/>
            <a:ext cx="2952328" cy="196821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rgbClr val="FFFF00"/>
                </a:solidFill>
              </a:rPr>
              <a:t>TRANSPORTES</a:t>
            </a:r>
            <a:endParaRPr lang="es-ES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4572000" y="1600200"/>
            <a:ext cx="4114800" cy="2476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CAMION FORD INYECTORES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TALLER DIAGNOSTICO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s-E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4572000" y="4077072"/>
            <a:ext cx="4114800" cy="216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RD INYECTORES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TALLER DIAGNOSTICO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s-E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rgbClr val="FFFF00"/>
                </a:solidFill>
              </a:rPr>
              <a:t>TRANSPORTES</a:t>
            </a:r>
            <a:endParaRPr lang="es-ES" dirty="0"/>
          </a:p>
        </p:txBody>
      </p:sp>
      <p:pic>
        <p:nvPicPr>
          <p:cNvPr id="4" name="Picture 2" descr="http://toyotamotor.files.wordpress.com/2009/07/121-toyota-coaster-images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4725" t="17010" r="3926" b="18731"/>
          <a:stretch>
            <a:fillRect/>
          </a:stretch>
        </p:blipFill>
        <p:spPr bwMode="auto">
          <a:xfrm>
            <a:off x="539552" y="1988840"/>
            <a:ext cx="4968552" cy="28803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8100">
            <a:solidFill>
              <a:srgbClr val="FF0000"/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5 CuadroTexto"/>
          <p:cNvSpPr txBox="1"/>
          <p:nvPr/>
        </p:nvSpPr>
        <p:spPr>
          <a:xfrm>
            <a:off x="2195736" y="3789040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smtClean="0">
                <a:solidFill>
                  <a:srgbClr val="FFC000"/>
                </a:solidFill>
              </a:rPr>
              <a:t>NUEVO</a:t>
            </a:r>
            <a:endParaRPr lang="es-ES" sz="28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rgbClr val="FFFF00"/>
                </a:solidFill>
              </a:rPr>
              <a:t>MANTENIMIENTO</a:t>
            </a:r>
            <a:endParaRPr lang="es-ES" dirty="0">
              <a:solidFill>
                <a:srgbClr val="FFFF00"/>
              </a:solidFill>
            </a:endParaRPr>
          </a:p>
        </p:txBody>
      </p:sp>
      <p:pic>
        <p:nvPicPr>
          <p:cNvPr id="8" name="4 Marcador de contenido" descr="10-06-09_171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556792"/>
            <a:ext cx="4211960" cy="4536504"/>
          </a:xfrm>
          <a:prstGeom prst="rect">
            <a:avLst/>
          </a:prstGeom>
        </p:spPr>
      </p:pic>
      <p:sp>
        <p:nvSpPr>
          <p:cNvPr id="9" name="8 Marcador de contenido"/>
          <p:cNvSpPr>
            <a:spLocks noGrp="1"/>
          </p:cNvSpPr>
          <p:nvPr>
            <p:ph idx="1"/>
          </p:nvPr>
        </p:nvSpPr>
        <p:spPr>
          <a:xfrm>
            <a:off x="4499992" y="1600200"/>
            <a:ext cx="4186808" cy="4525963"/>
          </a:xfrm>
        </p:spPr>
        <p:txBody>
          <a:bodyPr/>
          <a:lstStyle/>
          <a:p>
            <a:r>
              <a:rPr lang="es-ES" dirty="0" smtClean="0">
                <a:solidFill>
                  <a:srgbClr val="FFFF00"/>
                </a:solidFill>
              </a:rPr>
              <a:t>REPARACION DE CAJA PRINCIPAL DEL SISTEMA ELECTRICO.</a:t>
            </a:r>
            <a:endParaRPr lang="es-E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rgbClr val="FFFF00"/>
                </a:solidFill>
              </a:rPr>
              <a:t>MANTENIMIENTO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499992" y="1600200"/>
            <a:ext cx="4186808" cy="4525963"/>
          </a:xfrm>
        </p:spPr>
        <p:txBody>
          <a:bodyPr/>
          <a:lstStyle/>
          <a:p>
            <a:r>
              <a:rPr lang="es-ES" b="1" dirty="0" smtClean="0">
                <a:solidFill>
                  <a:srgbClr val="FFFF00"/>
                </a:solidFill>
                <a:latin typeface="Calibri" pitchFamily="34" charset="0"/>
              </a:rPr>
              <a:t>SR. BENJAMIN SIPE MECANICO</a:t>
            </a:r>
          </a:p>
          <a:p>
            <a:r>
              <a:rPr lang="es-ES" b="1" dirty="0" smtClean="0">
                <a:solidFill>
                  <a:srgbClr val="FFFF00"/>
                </a:solidFill>
                <a:latin typeface="Calibri" pitchFamily="34" charset="0"/>
              </a:rPr>
              <a:t>TALLER  FINAL AV. PANAMERICANA  </a:t>
            </a:r>
          </a:p>
          <a:p>
            <a:r>
              <a:rPr lang="es-ES" b="1" dirty="0" smtClean="0">
                <a:solidFill>
                  <a:srgbClr val="FFFF00"/>
                </a:solidFill>
                <a:latin typeface="Calibri" pitchFamily="34" charset="0"/>
              </a:rPr>
              <a:t>MOTOR AGRIPADO</a:t>
            </a:r>
          </a:p>
          <a:p>
            <a:r>
              <a:rPr lang="es-ES" b="1" smtClean="0">
                <a:solidFill>
                  <a:srgbClr val="FFFF00"/>
                </a:solidFill>
                <a:latin typeface="Calibri" pitchFamily="34" charset="0"/>
              </a:rPr>
              <a:t>REPUESTOS PARA REPARACION 800 $ IMPORTADOS</a:t>
            </a:r>
            <a:endParaRPr lang="es-ES" dirty="0"/>
          </a:p>
        </p:txBody>
      </p:sp>
      <p:pic>
        <p:nvPicPr>
          <p:cNvPr id="4" name="4 Marcador de contenido" descr="DSC0797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3528" y="2060848"/>
            <a:ext cx="3960440" cy="30963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rgbClr val="FFFF00"/>
                </a:solidFill>
              </a:rPr>
              <a:t>MANTENIMIENTO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499992" y="1600200"/>
            <a:ext cx="4644008" cy="4525963"/>
          </a:xfrm>
        </p:spPr>
        <p:txBody>
          <a:bodyPr/>
          <a:lstStyle/>
          <a:p>
            <a:pPr algn="just"/>
            <a:r>
              <a:rPr lang="es-ES" dirty="0" smtClean="0">
                <a:solidFill>
                  <a:srgbClr val="FFFF00"/>
                </a:solidFill>
                <a:latin typeface="+mj-lt"/>
              </a:rPr>
              <a:t>TALLER BRAS BOL</a:t>
            </a:r>
          </a:p>
          <a:p>
            <a:pPr algn="just"/>
            <a:r>
              <a:rPr lang="es-ES" dirty="0" smtClean="0">
                <a:solidFill>
                  <a:srgbClr val="FFFF00"/>
                </a:solidFill>
                <a:latin typeface="+mj-lt"/>
              </a:rPr>
              <a:t>CIRCUMBALACION Y BEIJING</a:t>
            </a:r>
          </a:p>
          <a:p>
            <a:pPr algn="just"/>
            <a:r>
              <a:rPr lang="es-ES" dirty="0" smtClean="0">
                <a:solidFill>
                  <a:srgbClr val="FFFF00"/>
                </a:solidFill>
                <a:latin typeface="+mj-lt"/>
              </a:rPr>
              <a:t>TECNICO ALEX ROSALES</a:t>
            </a:r>
          </a:p>
          <a:p>
            <a:pPr algn="just"/>
            <a:r>
              <a:rPr lang="es-ES" dirty="0" smtClean="0">
                <a:solidFill>
                  <a:srgbClr val="FFFF00"/>
                </a:solidFill>
                <a:latin typeface="+mj-lt"/>
              </a:rPr>
              <a:t>DIAGNOSTICO DE INYECTORES</a:t>
            </a:r>
            <a:endParaRPr lang="es-ES" dirty="0">
              <a:solidFill>
                <a:srgbClr val="FFFF00"/>
              </a:solidFill>
              <a:latin typeface="+mj-lt"/>
            </a:endParaRPr>
          </a:p>
        </p:txBody>
      </p:sp>
      <p:pic>
        <p:nvPicPr>
          <p:cNvPr id="5" name="4 Imagen" descr="vieja 209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5536" y="1340768"/>
            <a:ext cx="4071068" cy="4320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rgbClr val="FFFF00"/>
                </a:solidFill>
              </a:rPr>
              <a:t>MANTENIMIENTO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499992" y="4005064"/>
            <a:ext cx="4114800" cy="2116832"/>
          </a:xfrm>
        </p:spPr>
        <p:txBody>
          <a:bodyPr>
            <a:normAutofit fontScale="77500" lnSpcReduction="20000"/>
          </a:bodyPr>
          <a:lstStyle/>
          <a:p>
            <a:r>
              <a:rPr lang="es-ES" dirty="0" smtClean="0">
                <a:solidFill>
                  <a:srgbClr val="FFFF00"/>
                </a:solidFill>
              </a:rPr>
              <a:t>ARREGLO DE DIRECCION</a:t>
            </a:r>
          </a:p>
          <a:p>
            <a:r>
              <a:rPr lang="es-ES" dirty="0" smtClean="0">
                <a:solidFill>
                  <a:srgbClr val="FFFF00"/>
                </a:solidFill>
              </a:rPr>
              <a:t>CAMBIO CORREA</a:t>
            </a:r>
          </a:p>
          <a:p>
            <a:r>
              <a:rPr lang="es-ES" dirty="0" smtClean="0">
                <a:solidFill>
                  <a:srgbClr val="FFFF00"/>
                </a:solidFill>
              </a:rPr>
              <a:t>FALTA CAMBIO DE DISCO DE EMBRIAGUE 450$</a:t>
            </a:r>
            <a:endParaRPr lang="es-ES" dirty="0">
              <a:solidFill>
                <a:srgbClr val="FFFF00"/>
              </a:solidFill>
            </a:endParaRPr>
          </a:p>
        </p:txBody>
      </p:sp>
      <p:pic>
        <p:nvPicPr>
          <p:cNvPr id="5" name="Picture 15" descr="http://www.datoavisos.com.mx/fotos/55461c.jpg"/>
          <p:cNvPicPr>
            <a:picLocks noChangeAspect="1" noChangeArrowheads="1"/>
          </p:cNvPicPr>
          <p:nvPr/>
        </p:nvPicPr>
        <p:blipFill>
          <a:blip r:embed="rId2" cstate="print">
            <a:lum contrast="30000"/>
          </a:blip>
          <a:srcRect/>
          <a:stretch>
            <a:fillRect/>
          </a:stretch>
        </p:blipFill>
        <p:spPr bwMode="auto">
          <a:xfrm>
            <a:off x="323528" y="1916832"/>
            <a:ext cx="2952328" cy="196821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6" name="Picture 2" descr="http://images.quebarato.com.br/photos/big/6/8/872268_1.jpg"/>
          <p:cNvPicPr>
            <a:picLocks noChangeAspect="1" noChangeArrowheads="1"/>
          </p:cNvPicPr>
          <p:nvPr/>
        </p:nvPicPr>
        <p:blipFill>
          <a:blip r:embed="rId3" cstate="print"/>
          <a:srcRect t="4888" b="5111"/>
          <a:stretch>
            <a:fillRect/>
          </a:stretch>
        </p:blipFill>
        <p:spPr bwMode="auto">
          <a:xfrm>
            <a:off x="323528" y="4221088"/>
            <a:ext cx="2890322" cy="187220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7" name="2 Marcador de contenido"/>
          <p:cNvSpPr txBox="1">
            <a:spLocks/>
          </p:cNvSpPr>
          <p:nvPr/>
        </p:nvSpPr>
        <p:spPr>
          <a:xfrm>
            <a:off x="4644008" y="1772816"/>
            <a:ext cx="4114800" cy="2116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s-ES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2 Marcador de contenido"/>
          <p:cNvSpPr txBox="1">
            <a:spLocks/>
          </p:cNvSpPr>
          <p:nvPr/>
        </p:nvSpPr>
        <p:spPr>
          <a:xfrm>
            <a:off x="4572000" y="1772816"/>
            <a:ext cx="4114800" cy="21168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CAMBIO DE CABLES</a:t>
            </a:r>
            <a:r>
              <a:rPr kumimoji="0" lang="es-ES" sz="3200" b="0" i="0" u="none" strike="noStrike" kern="1200" cap="none" spc="0" normalizeH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 BUJIAS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s-ES" sz="3200" baseline="0" dirty="0" smtClean="0">
                <a:solidFill>
                  <a:srgbClr val="FFFF00"/>
                </a:solidFill>
              </a:rPr>
              <a:t>BUJIAS</a:t>
            </a:r>
            <a:endParaRPr kumimoji="0" lang="es-ES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rgbClr val="FFFF00"/>
                </a:solidFill>
              </a:rPr>
              <a:t>MANTENIMIENTO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499992" y="1600200"/>
            <a:ext cx="4186808" cy="4525963"/>
          </a:xfrm>
        </p:spPr>
        <p:txBody>
          <a:bodyPr/>
          <a:lstStyle/>
          <a:p>
            <a:pPr>
              <a:buNone/>
            </a:pPr>
            <a:r>
              <a:rPr lang="es-ES" dirty="0" smtClean="0">
                <a:solidFill>
                  <a:srgbClr val="FFFF00"/>
                </a:solidFill>
              </a:rPr>
              <a:t>Material del accidente</a:t>
            </a:r>
          </a:p>
          <a:p>
            <a:pPr>
              <a:buNone/>
            </a:pPr>
            <a:r>
              <a:rPr lang="es-ES" dirty="0" smtClean="0">
                <a:solidFill>
                  <a:srgbClr val="FFFF00"/>
                </a:solidFill>
              </a:rPr>
              <a:t>5to. </a:t>
            </a:r>
            <a:r>
              <a:rPr lang="es-ES" dirty="0" err="1" smtClean="0">
                <a:solidFill>
                  <a:srgbClr val="FFFF00"/>
                </a:solidFill>
              </a:rPr>
              <a:t>Elon</a:t>
            </a:r>
            <a:r>
              <a:rPr lang="es-ES" dirty="0" smtClean="0">
                <a:solidFill>
                  <a:srgbClr val="FFFF00"/>
                </a:solidFill>
              </a:rPr>
              <a:t>.</a:t>
            </a:r>
          </a:p>
          <a:p>
            <a:pPr>
              <a:buNone/>
            </a:pPr>
            <a:endParaRPr lang="es-ES" dirty="0" smtClean="0">
              <a:solidFill>
                <a:srgbClr val="FFFF00"/>
              </a:solidFill>
            </a:endParaRPr>
          </a:p>
          <a:p>
            <a:pPr>
              <a:buNone/>
            </a:pPr>
            <a:endParaRPr lang="es-ES" dirty="0">
              <a:solidFill>
                <a:srgbClr val="FFFF00"/>
              </a:solidFill>
            </a:endParaRPr>
          </a:p>
        </p:txBody>
      </p:sp>
      <p:pic>
        <p:nvPicPr>
          <p:cNvPr id="4" name="3 Imagen" descr="http://www.dragunov.net/ndm86/em351__NDM86%20%20b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>
            <a:off x="-1934703" y="2538921"/>
            <a:ext cx="6408712" cy="170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rgbClr val="FFFF00"/>
                </a:solidFill>
              </a:rPr>
              <a:t>ADMINISTRACION</a:t>
            </a:r>
            <a:endParaRPr lang="es-ES" dirty="0">
              <a:solidFill>
                <a:srgbClr val="FFFF00"/>
              </a:solidFill>
            </a:endParaRPr>
          </a:p>
        </p:txBody>
      </p:sp>
      <p:pic>
        <p:nvPicPr>
          <p:cNvPr id="4" name="3 Marcador de contenido" descr="27012009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11560" y="1556792"/>
            <a:ext cx="1872208" cy="2520280"/>
          </a:xfrm>
        </p:spPr>
      </p:pic>
      <p:pic>
        <p:nvPicPr>
          <p:cNvPr id="5" name="4 Imagen" descr="DSC0035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52120" y="1484784"/>
            <a:ext cx="2483768" cy="2376264"/>
          </a:xfrm>
          <a:prstGeom prst="rect">
            <a:avLst/>
          </a:prstGeom>
        </p:spPr>
      </p:pic>
      <p:pic>
        <p:nvPicPr>
          <p:cNvPr id="6" name="5 Imagen" descr="DSC00367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23528" y="4149080"/>
            <a:ext cx="2592288" cy="2420888"/>
          </a:xfrm>
          <a:prstGeom prst="rect">
            <a:avLst/>
          </a:prstGeom>
        </p:spPr>
      </p:pic>
      <p:pic>
        <p:nvPicPr>
          <p:cNvPr id="7" name="6 Imagen" descr="DSC07077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868144" y="4077072"/>
            <a:ext cx="2736304" cy="2060848"/>
          </a:xfrm>
          <a:prstGeom prst="rect">
            <a:avLst/>
          </a:prstGeom>
        </p:spPr>
      </p:pic>
      <p:sp>
        <p:nvSpPr>
          <p:cNvPr id="8" name="7 Flecha cuádruple"/>
          <p:cNvSpPr/>
          <p:nvPr/>
        </p:nvSpPr>
        <p:spPr>
          <a:xfrm rot="1551071">
            <a:off x="2416641" y="2186666"/>
            <a:ext cx="3573448" cy="3312233"/>
          </a:xfrm>
          <a:prstGeom prst="quad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8 CuadroTexto"/>
          <p:cNvSpPr txBox="1"/>
          <p:nvPr/>
        </p:nvSpPr>
        <p:spPr>
          <a:xfrm>
            <a:off x="3131840" y="2708920"/>
            <a:ext cx="23762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s-ES" sz="2400" i="1" dirty="0" smtClean="0">
                <a:solidFill>
                  <a:srgbClr val="0070C0"/>
                </a:solidFill>
                <a:latin typeface="Calibri" pitchFamily="34" charset="0"/>
              </a:rPr>
              <a:t>MEDIOS  DISPUESTOS PARA LA UNIDAD </a:t>
            </a:r>
          </a:p>
          <a:p>
            <a:pPr algn="just">
              <a:buFont typeface="Arial" pitchFamily="34" charset="0"/>
              <a:buChar char="•"/>
            </a:pPr>
            <a:r>
              <a:rPr lang="es-ES" sz="2400" i="1" dirty="0" smtClean="0">
                <a:solidFill>
                  <a:srgbClr val="0070C0"/>
                </a:solidFill>
                <a:latin typeface="Calibri" pitchFamily="34" charset="0"/>
              </a:rPr>
              <a:t>PEDIDOS </a:t>
            </a:r>
          </a:p>
          <a:p>
            <a:pPr algn="just">
              <a:buFont typeface="Arial" pitchFamily="34" charset="0"/>
              <a:buChar char="•"/>
            </a:pPr>
            <a:r>
              <a:rPr lang="es-ES" sz="2400" i="1" dirty="0" smtClean="0">
                <a:solidFill>
                  <a:srgbClr val="0070C0"/>
                </a:solidFill>
                <a:latin typeface="Calibri" pitchFamily="34" charset="0"/>
              </a:rPr>
              <a:t>REGISTROS</a:t>
            </a:r>
          </a:p>
          <a:p>
            <a:pPr algn="just">
              <a:buFont typeface="Arial" pitchFamily="34" charset="0"/>
              <a:buChar char="•"/>
            </a:pPr>
            <a:r>
              <a:rPr lang="es-ES" sz="2400" i="1" dirty="0" smtClean="0">
                <a:solidFill>
                  <a:srgbClr val="0070C0"/>
                </a:solidFill>
                <a:latin typeface="Calibri" pitchFamily="34" charset="0"/>
              </a:rPr>
              <a:t>ECONOMIA</a:t>
            </a:r>
            <a:endParaRPr lang="es-ES" sz="2400" i="1" dirty="0">
              <a:solidFill>
                <a:srgbClr val="0070C0"/>
              </a:solidFill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897288"/>
          </a:xfrm>
        </p:spPr>
        <p:txBody>
          <a:bodyPr>
            <a:normAutofit fontScale="90000"/>
          </a:bodyPr>
          <a:lstStyle/>
          <a:p>
            <a:r>
              <a:rPr lang="es-ES" dirty="0" smtClean="0">
                <a:solidFill>
                  <a:srgbClr val="FFFF00"/>
                </a:solidFill>
              </a:rPr>
              <a:t>MATERIAL BELICO</a:t>
            </a:r>
            <a:br>
              <a:rPr lang="es-ES" dirty="0" smtClean="0">
                <a:solidFill>
                  <a:srgbClr val="FFFF00"/>
                </a:solidFill>
              </a:rPr>
            </a:br>
            <a:r>
              <a:rPr lang="es-ES" dirty="0" smtClean="0">
                <a:solidFill>
                  <a:srgbClr val="FFFF00"/>
                </a:solidFill>
              </a:rPr>
              <a:t> ARMAMENTO</a:t>
            </a:r>
            <a:endParaRPr lang="es-ES" dirty="0">
              <a:solidFill>
                <a:srgbClr val="FFFF00"/>
              </a:solidFill>
            </a:endParaRPr>
          </a:p>
        </p:txBody>
      </p:sp>
      <p:graphicFrame>
        <p:nvGraphicFramePr>
          <p:cNvPr id="6" name="5 Marcador de contenido"/>
          <p:cNvGraphicFramePr>
            <a:graphicFrameLocks noGrp="1"/>
          </p:cNvGraphicFramePr>
          <p:nvPr>
            <p:ph idx="1"/>
          </p:nvPr>
        </p:nvGraphicFramePr>
        <p:xfrm>
          <a:off x="179514" y="1200944"/>
          <a:ext cx="8784975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2"/>
                <a:gridCol w="1497768"/>
                <a:gridCol w="1886608"/>
                <a:gridCol w="1152128"/>
                <a:gridCol w="2232249"/>
              </a:tblGrid>
              <a:tr h="346837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ARMA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CANTIDAD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NOVEDADES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ESTADO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OBSERVACIONES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46837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GALIL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FALTAN 12 CAR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ACCIDENTE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46837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AK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FALTA 1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PRESTAMO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46837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MOSBERG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S/N.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46837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M-79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r>
                        <a:rPr lang="es-ES" sz="1200" baseline="0" dirty="0" smtClean="0">
                          <a:latin typeface="Arial" pitchFamily="34" charset="0"/>
                          <a:cs typeface="Arial" pitchFamily="34" charset="0"/>
                        </a:rPr>
                        <a:t> GUION CAMBIADO</a:t>
                      </a:r>
                      <a:endParaRPr lang="es-ES" sz="1200" dirty="0" smtClean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R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ACCIDENTE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46837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RPG-7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r>
                        <a:rPr lang="es-ES" sz="1200" baseline="0" dirty="0" smtClean="0">
                          <a:latin typeface="Arial" pitchFamily="34" charset="0"/>
                          <a:cs typeface="Arial" pitchFamily="34" charset="0"/>
                        </a:rPr>
                        <a:t> AP. HONBRO ROTOS</a:t>
                      </a:r>
                      <a:endParaRPr lang="es-ES" dirty="0" smtClean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R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ACCIDENTE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46837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MAG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S/N.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2 ESTUCHES COM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46837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M-60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S/N.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46837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GARANT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12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S/N.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R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2 COMPL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46837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DRAGUNOV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smtClean="0">
                          <a:latin typeface="Arial" pitchFamily="34" charset="0"/>
                          <a:cs typeface="Arial" pitchFamily="34" charset="0"/>
                        </a:rPr>
                        <a:t>1 MIRA LENTE RETRAIDO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ACCIDENTE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46837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PISTOLA 37MM.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S/N.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R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46837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LANZAGR.40MM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S/N.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46837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MORTERO 60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S/N.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46837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PISTOLAS GLOK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24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GUIONES HEC.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46837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REVOLVER 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FALTA 1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R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TCNL. RODRIGUEZ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609256"/>
          </a:xfrm>
        </p:spPr>
        <p:txBody>
          <a:bodyPr>
            <a:normAutofit fontScale="90000"/>
          </a:bodyPr>
          <a:lstStyle/>
          <a:p>
            <a:r>
              <a:rPr lang="es-ES" dirty="0" smtClean="0">
                <a:solidFill>
                  <a:srgbClr val="FFFF00"/>
                </a:solidFill>
              </a:rPr>
              <a:t>MATERIAL BELICO  MUNICION</a:t>
            </a:r>
            <a:endParaRPr lang="es-ES" dirty="0">
              <a:solidFill>
                <a:srgbClr val="FFFF00"/>
              </a:solidFill>
            </a:endParaRPr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467544" y="764704"/>
          <a:ext cx="8229600" cy="593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10464"/>
                <a:gridCol w="1481376"/>
                <a:gridCol w="1645920"/>
                <a:gridCol w="1645920"/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CALIBRE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TOTAL EN SALA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RESERVA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DOTADO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5.56 MM.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37.171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13.440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6720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50.610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5.56 MM. FOG.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10.260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10.260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5.56 MM. MINI.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2.000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2.000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12 MY.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1.000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320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300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1600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7.62X54MM.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3500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1.000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1000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4500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7.62X39MM.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2000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1.000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3120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3000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 dirty="0" smtClean="0">
                          <a:latin typeface="Arial" pitchFamily="34" charset="0"/>
                          <a:cs typeface="Arial" pitchFamily="34" charset="0"/>
                        </a:rPr>
                        <a:t>7.62X51MM. M60</a:t>
                      </a:r>
                      <a:endParaRPr lang="es-E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800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1.600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800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2.400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9 MM.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2.200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2.000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2.800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4.200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.30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1.000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1.000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.50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1.200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1.200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GR. MOR.60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57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smtClean="0">
                          <a:latin typeface="Arial" pitchFamily="34" charset="0"/>
                          <a:cs typeface="Arial" pitchFamily="34" charset="0"/>
                        </a:rPr>
                        <a:t>DEPOSITO FBM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57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 dirty="0" smtClean="0">
                          <a:latin typeface="Arial" pitchFamily="34" charset="0"/>
                          <a:cs typeface="Arial" pitchFamily="34" charset="0"/>
                        </a:rPr>
                        <a:t>COHETE</a:t>
                      </a:r>
                      <a:r>
                        <a:rPr lang="es-ES" sz="1400" baseline="0" dirty="0" smtClean="0">
                          <a:latin typeface="Arial" pitchFamily="34" charset="0"/>
                          <a:cs typeface="Arial" pitchFamily="34" charset="0"/>
                        </a:rPr>
                        <a:t> 40MM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31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12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43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GR. MANO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32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62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GR. CS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GR. 40MM.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790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72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21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Arial" pitchFamily="34" charset="0"/>
                          <a:cs typeface="Arial" pitchFamily="34" charset="0"/>
                        </a:rPr>
                        <a:t>864</a:t>
                      </a:r>
                      <a:endParaRPr lang="es-E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MATERIAL BELICO</a:t>
            </a:r>
            <a:br>
              <a:rPr lang="es-ES" dirty="0" smtClean="0"/>
            </a:br>
            <a:r>
              <a:rPr lang="es-ES" dirty="0" smtClean="0"/>
              <a:t>EXPLOSIVOS</a:t>
            </a:r>
            <a:endParaRPr lang="es-ES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457200" y="1774825"/>
          <a:ext cx="843528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1591"/>
                <a:gridCol w="3012560"/>
                <a:gridCol w="1291129"/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EXPLOSIVO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CANTIDAD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RESERVA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CORDON DETONANTE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5000 PIES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1000PIES.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C-4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75 LBS.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37.5 LBS.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CARGAS SISIMICAS 40 LBS.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18 DEPOSITO FBM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MECHA LENTA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3000 PIES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1000PIES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BUSTERS ½ KL. PENTOLITA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16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IBEGEL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385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DINAMITA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117 PERU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INICIADORES NO ELECTRICOS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200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i="1" dirty="0" smtClean="0">
                          <a:latin typeface="Arial" pitchFamily="34" charset="0"/>
                          <a:cs typeface="Arial" pitchFamily="34" charset="0"/>
                        </a:rPr>
                        <a:t>OJO</a:t>
                      </a:r>
                      <a:endParaRPr lang="es-ES" i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INICIADORES ELECTRICOS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es-E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i="1" dirty="0" smtClean="0">
                          <a:latin typeface="Arial" pitchFamily="34" charset="0"/>
                          <a:cs typeface="Arial" pitchFamily="34" charset="0"/>
                        </a:rPr>
                        <a:t>OJO</a:t>
                      </a:r>
                      <a:endParaRPr lang="es-ES" i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SANIDAD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4" name="3 CuadroTexto"/>
          <p:cNvSpPr txBox="1"/>
          <p:nvPr/>
        </p:nvSpPr>
        <p:spPr>
          <a:xfrm>
            <a:off x="3419872" y="5517232"/>
            <a:ext cx="288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i="1" dirty="0" smtClean="0">
                <a:latin typeface="Calibri" pitchFamily="34" charset="0"/>
              </a:rPr>
              <a:t>MATERIAL DONADO</a:t>
            </a:r>
          </a:p>
          <a:p>
            <a:pPr algn="ctr"/>
            <a:r>
              <a:rPr lang="es-ES" sz="2000" b="1" i="1" dirty="0" smtClean="0">
                <a:latin typeface="Calibri" pitchFamily="34" charset="0"/>
              </a:rPr>
              <a:t>CADUCIDAD 10 -2010</a:t>
            </a:r>
            <a:endParaRPr lang="es-ES" sz="2000" b="1" i="1" dirty="0">
              <a:latin typeface="Calibri" pitchFamily="34" charset="0"/>
            </a:endParaRPr>
          </a:p>
        </p:txBody>
      </p:sp>
      <p:pic>
        <p:nvPicPr>
          <p:cNvPr id="5" name="4 Imagen" descr="MEDICAMENTO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19672" y="1700808"/>
            <a:ext cx="6408712" cy="2304256"/>
          </a:xfrm>
          <a:prstGeom prst="rect">
            <a:avLst/>
          </a:prstGeom>
        </p:spPr>
      </p:pic>
      <p:sp>
        <p:nvSpPr>
          <p:cNvPr id="6" name="5 Flecha izquierda, derecha y arriba"/>
          <p:cNvSpPr/>
          <p:nvPr/>
        </p:nvSpPr>
        <p:spPr>
          <a:xfrm>
            <a:off x="3995936" y="4221088"/>
            <a:ext cx="1872208" cy="1152128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rgbClr val="FFFF00"/>
                </a:solidFill>
              </a:rPr>
              <a:t>CONCLUSIONES</a:t>
            </a:r>
            <a:endParaRPr lang="es-ES" dirty="0">
              <a:solidFill>
                <a:srgbClr val="FFFF00"/>
              </a:solidFill>
            </a:endParaRPr>
          </a:p>
        </p:txBody>
      </p:sp>
      <p:pic>
        <p:nvPicPr>
          <p:cNvPr id="4" name="3 Marcador de contenido" descr="05-06-09_0927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51520" y="1700808"/>
            <a:ext cx="2736304" cy="2088232"/>
          </a:xfrm>
        </p:spPr>
      </p:pic>
      <p:pic>
        <p:nvPicPr>
          <p:cNvPr id="5" name="4 Imagen" descr="03022009(016)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59832" y="1700808"/>
            <a:ext cx="2880320" cy="2116832"/>
          </a:xfrm>
          <a:prstGeom prst="rect">
            <a:avLst/>
          </a:prstGeom>
        </p:spPr>
      </p:pic>
      <p:pic>
        <p:nvPicPr>
          <p:cNvPr id="6" name="5 Imagen" descr="27012009(003)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12160" y="1700808"/>
            <a:ext cx="2664296" cy="2116832"/>
          </a:xfrm>
          <a:prstGeom prst="rect">
            <a:avLst/>
          </a:prstGeom>
        </p:spPr>
      </p:pic>
      <p:sp>
        <p:nvSpPr>
          <p:cNvPr id="7" name="6 CuadroTexto"/>
          <p:cNvSpPr txBox="1"/>
          <p:nvPr/>
        </p:nvSpPr>
        <p:spPr>
          <a:xfrm>
            <a:off x="323528" y="4005064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b="1" i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LA UNIDAD SE ENCUENTRA AL 85% DE SU CAPACIDAD COMBATIVA CON LOS MEDIOS REDUCIDOS CON LOS QUE CUENTA </a:t>
            </a:r>
            <a:endParaRPr lang="es-ES" b="1" i="1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7 Imagen" descr="28012009(022)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51520" y="4710336"/>
            <a:ext cx="2592288" cy="1944216"/>
          </a:xfrm>
          <a:prstGeom prst="rect">
            <a:avLst/>
          </a:prstGeom>
        </p:spPr>
      </p:pic>
      <p:pic>
        <p:nvPicPr>
          <p:cNvPr id="9" name="8 Imagen" descr="DSC00273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915816" y="4725144"/>
            <a:ext cx="2843808" cy="1944216"/>
          </a:xfrm>
          <a:prstGeom prst="rect">
            <a:avLst/>
          </a:prstGeom>
        </p:spPr>
      </p:pic>
      <p:pic>
        <p:nvPicPr>
          <p:cNvPr id="10" name="9 Imagen" descr="DSC00407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084168" y="4653136"/>
            <a:ext cx="2771800" cy="2078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69371"/>
          </a:xfrm>
        </p:spPr>
        <p:txBody>
          <a:bodyPr>
            <a:normAutofit fontScale="62500" lnSpcReduction="20000"/>
          </a:bodyPr>
          <a:lstStyle/>
          <a:p>
            <a:pPr lvl="0"/>
            <a:r>
              <a:rPr lang="es-ES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Clase IV.</a:t>
            </a:r>
            <a:endParaRPr lang="es-ES" dirty="0" smtClean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 </a:t>
            </a:r>
            <a:endParaRPr lang="es-ES" dirty="0" smtClean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EQUIPO ESPECIAL</a:t>
            </a: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10 Cuerdas de perlón de ½ </a:t>
            </a:r>
            <a:r>
              <a:rPr lang="es-ES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pulg</a:t>
            </a:r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.  100 metros	(dinámica color negro)</a:t>
            </a: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10 Cuerdas de perlón de 1 </a:t>
            </a:r>
            <a:r>
              <a:rPr lang="es-ES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pulg</a:t>
            </a:r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.   100 metros	(dinámica color negro)</a:t>
            </a: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5   Cuerdas de perlón ó fibra de plátano de 2 </a:t>
            </a:r>
            <a:r>
              <a:rPr lang="es-ES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pulg</a:t>
            </a:r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.  200 metros.</a:t>
            </a: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7 Cuerdas de perlón de ½ </a:t>
            </a:r>
            <a:r>
              <a:rPr lang="es-ES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pulg</a:t>
            </a:r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.  (dinámica)</a:t>
            </a: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60 Mosquetones de 7 kilo newton de resistencia  auto bloqueantes.</a:t>
            </a: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60 </a:t>
            </a:r>
            <a:r>
              <a:rPr lang="es-ES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Descensores</a:t>
            </a:r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en ocho. </a:t>
            </a: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30 sillas de descenso.</a:t>
            </a: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30 Radios Motorola. HT 750 </a:t>
            </a:r>
            <a:r>
              <a:rPr lang="es-ES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CON MANOS LIBRES, MODELO AARMN4029 O AARMN4022</a:t>
            </a:r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(o mejor).</a:t>
            </a:r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040560"/>
          </a:xfrm>
        </p:spPr>
        <p:txBody>
          <a:bodyPr>
            <a:normAutofit fontScale="40000" lnSpcReduction="20000"/>
          </a:bodyPr>
          <a:lstStyle/>
          <a:p>
            <a:pPr lvl="0"/>
            <a:r>
              <a:rPr lang="es-ES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Clase V.</a:t>
            </a:r>
            <a:endParaRPr lang="es-ES" dirty="0" smtClean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ES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 </a:t>
            </a:r>
            <a:endParaRPr lang="es-ES" dirty="0" smtClean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ES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ARMAMENTO</a:t>
            </a:r>
            <a:endParaRPr lang="es-ES" dirty="0" smtClean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Reasignación del siguiente armamento:</a:t>
            </a: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50 CARABINAS M-4</a:t>
            </a: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4 FUSILES REMINTON 700 CAL. 308</a:t>
            </a: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8 ESCOPETAS REMINTON CAL. 12 MY.</a:t>
            </a: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37 PISTOLAS BERETTA CAL. 9MM.</a:t>
            </a: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1 AMETRALLADORA M-279 MINIMI CAL. 5.56 MM.</a:t>
            </a: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10 LANZA GRANADAS M-79. CAL. 40 MM.</a:t>
            </a: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Asignación del siguiente armamento:</a:t>
            </a: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70 FUSILLES GALIL AR</a:t>
            </a: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630 CARGADORES DE GALIL(Para llegar a un efectivo de 100)</a:t>
            </a: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4 FUSILES MALINGER CAL. 7.62 X51 ó DRAGUNNOF 7.62 X54 mm.</a:t>
            </a:r>
          </a:p>
          <a:p>
            <a:pPr>
              <a:buNone/>
            </a:pPr>
            <a:r>
              <a:rPr lang="es-ES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MUNICIÓN</a:t>
            </a:r>
            <a:endParaRPr lang="es-ES" dirty="0" smtClean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Asignación de Munición de guerra y fogueo de acuerdo a disponibilidad y necesidades de instrucción y operativas de la compañía calibres 7.62x51, 7.62x54, 7.62x39, 12 </a:t>
            </a:r>
            <a:r>
              <a:rPr lang="es-ES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My.</a:t>
            </a:r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,  9 mm. y cal. 5.56mm.</a:t>
            </a:r>
          </a:p>
          <a:p>
            <a:pPr>
              <a:buNone/>
            </a:pPr>
            <a:r>
              <a:rPr lang="es-ES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EXPLOSIVOS</a:t>
            </a:r>
            <a:endParaRPr lang="es-ES" dirty="0" smtClean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300		libras	C4</a:t>
            </a: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10000	pies	Cordón detonante.</a:t>
            </a: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10000	pies	mecha lenta</a:t>
            </a:r>
          </a:p>
          <a:p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200		</a:t>
            </a:r>
            <a:r>
              <a:rPr lang="es-ES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uu</a:t>
            </a:r>
            <a:r>
              <a:rPr lang="es-ES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.	Carga Sísmicas BUSTERS </a:t>
            </a:r>
          </a:p>
          <a:p>
            <a:endParaRPr lang="es-ES" dirty="0" smtClean="0">
              <a:latin typeface="Arial" pitchFamily="34" charset="0"/>
              <a:cs typeface="Arial" pitchFamily="34" charset="0"/>
            </a:endParaRPr>
          </a:p>
          <a:p>
            <a:endParaRPr lang="es-ES" dirty="0" smtClean="0"/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4 Marcador de contenido" descr="10-06-09_171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96136" y="4725144"/>
            <a:ext cx="3024336" cy="1944216"/>
          </a:xfrm>
          <a:prstGeom prst="rect">
            <a:avLst/>
          </a:prstGeom>
        </p:spPr>
      </p:pic>
      <p:pic>
        <p:nvPicPr>
          <p:cNvPr id="7" name="Picture 2" descr="http://toyotamotor.files.wordpress.com/2009/07/121-toyota-coaster-images.jpg"/>
          <p:cNvPicPr>
            <a:picLocks noChangeAspect="1" noChangeArrowheads="1"/>
          </p:cNvPicPr>
          <p:nvPr/>
        </p:nvPicPr>
        <p:blipFill>
          <a:blip r:embed="rId3" cstate="print"/>
          <a:srcRect l="4725" t="17010" r="3926" b="18731"/>
          <a:stretch>
            <a:fillRect/>
          </a:stretch>
        </p:blipFill>
        <p:spPr bwMode="auto">
          <a:xfrm>
            <a:off x="5652120" y="2708920"/>
            <a:ext cx="3168352" cy="19442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8100">
            <a:solidFill>
              <a:srgbClr val="FF0000"/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rgbClr val="FFFF00"/>
                </a:solidFill>
              </a:rPr>
              <a:t>ACTIVIDADES REALIZADAS</a:t>
            </a:r>
            <a:endParaRPr lang="es-ES" dirty="0">
              <a:solidFill>
                <a:srgbClr val="FFFF0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775191"/>
            <a:ext cx="8507288" cy="4625609"/>
          </a:xfrm>
        </p:spPr>
        <p:txBody>
          <a:bodyPr/>
          <a:lstStyle/>
          <a:p>
            <a:pPr>
              <a:buNone/>
            </a:pPr>
            <a:r>
              <a:rPr lang="es-ES" dirty="0" smtClean="0">
                <a:solidFill>
                  <a:srgbClr val="FFC000"/>
                </a:solidFill>
              </a:rPr>
              <a:t>    PROYECTO DE INFRAESTRUCTURA COMANJEFE.</a:t>
            </a:r>
          </a:p>
          <a:p>
            <a:endParaRPr lang="es-ES" dirty="0" smtClean="0">
              <a:solidFill>
                <a:srgbClr val="FFC000"/>
              </a:solidFill>
            </a:endParaRPr>
          </a:p>
          <a:p>
            <a:endParaRPr lang="es-ES" dirty="0" smtClean="0">
              <a:solidFill>
                <a:srgbClr val="FFC000"/>
              </a:solidFill>
            </a:endParaRPr>
          </a:p>
          <a:p>
            <a:endParaRPr lang="es-ES" dirty="0" smtClean="0">
              <a:solidFill>
                <a:srgbClr val="FFC000"/>
              </a:solidFill>
            </a:endParaRPr>
          </a:p>
          <a:p>
            <a:pPr>
              <a:buNone/>
            </a:pPr>
            <a:r>
              <a:rPr lang="es-ES" dirty="0" smtClean="0">
                <a:solidFill>
                  <a:srgbClr val="FFC000"/>
                </a:solidFill>
              </a:rPr>
              <a:t>SOLICITUDES A: PRESIDENCIA</a:t>
            </a:r>
          </a:p>
          <a:p>
            <a:pPr>
              <a:buNone/>
            </a:pPr>
            <a:r>
              <a:rPr lang="es-ES" dirty="0" smtClean="0">
                <a:solidFill>
                  <a:srgbClr val="FFC000"/>
                </a:solidFill>
              </a:rPr>
              <a:t>				EMBAJADA DE VENEZUELA</a:t>
            </a:r>
            <a:endParaRPr lang="es-ES" dirty="0">
              <a:solidFill>
                <a:srgbClr val="FFC000"/>
              </a:solidFill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4788024" y="5517232"/>
            <a:ext cx="9541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s-ES" sz="5400" b="1" cap="all" spc="0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Arial" pitchFamily="34" charset="0"/>
                <a:cs typeface="Arial" pitchFamily="34" charset="0"/>
              </a:rPr>
              <a:t>10</a:t>
            </a:r>
            <a:endParaRPr lang="es-ES" sz="5400" b="1" cap="all" spc="0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Personalizado 4">
      <a:dk1>
        <a:sysClr val="windowText" lastClr="000000"/>
      </a:dk1>
      <a:lt1>
        <a:srgbClr val="000000"/>
      </a:lt1>
      <a:dk2>
        <a:srgbClr val="4E5B6F"/>
      </a:dk2>
      <a:lt2>
        <a:srgbClr val="000000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Clásico de Office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677</TotalTime>
  <Words>485</Words>
  <Application>Microsoft Office PowerPoint</Application>
  <PresentationFormat>Presentación en pantalla (4:3)</PresentationFormat>
  <Paragraphs>282</Paragraphs>
  <Slides>22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3" baseType="lpstr">
      <vt:lpstr>Tema de Office</vt:lpstr>
      <vt:lpstr>EXPOSICION P-4</vt:lpstr>
      <vt:lpstr>ABASTECIMIENTO</vt:lpstr>
      <vt:lpstr>EVACUCIONES</vt:lpstr>
      <vt:lpstr>TRANSPORTES</vt:lpstr>
      <vt:lpstr>TRANSPORTES</vt:lpstr>
      <vt:lpstr>TRANSPORTES</vt:lpstr>
      <vt:lpstr>TRANSPORTES</vt:lpstr>
      <vt:lpstr>TRANSPORTES</vt:lpstr>
      <vt:lpstr>MANTENIMIENTO</vt:lpstr>
      <vt:lpstr>MANTENIMIENTO</vt:lpstr>
      <vt:lpstr>MANTENIMIENTO</vt:lpstr>
      <vt:lpstr>MANTENIMIENTO</vt:lpstr>
      <vt:lpstr>MANTENIMIENTO</vt:lpstr>
      <vt:lpstr>ADMINISTRACION</vt:lpstr>
      <vt:lpstr>MATERIAL BELICO  ARMAMENTO</vt:lpstr>
      <vt:lpstr>MATERIAL BELICO  MUNICION</vt:lpstr>
      <vt:lpstr>MATERIAL BELICO EXPLOSIVOS</vt:lpstr>
      <vt:lpstr>SANIDAD</vt:lpstr>
      <vt:lpstr>CONCLUSIONES</vt:lpstr>
      <vt:lpstr>Diapositiva 20</vt:lpstr>
      <vt:lpstr>Diapositiva 21</vt:lpstr>
      <vt:lpstr>ACTIVIDADES REALIZADAS</vt:lpstr>
    </vt:vector>
  </TitlesOfParts>
  <Company>0wn Inc.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EXPOSICION P-4</dc:title>
  <dc:creator>0wner</dc:creator>
  <cp:lastModifiedBy>0wner</cp:lastModifiedBy>
  <cp:revision>55</cp:revision>
  <dcterms:created xsi:type="dcterms:W3CDTF">2010-08-17T14:57:34Z</dcterms:created>
  <dcterms:modified xsi:type="dcterms:W3CDTF">2010-08-18T17:15:02Z</dcterms:modified>
</cp:coreProperties>
</file>