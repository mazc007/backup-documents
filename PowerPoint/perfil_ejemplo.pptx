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4" r:id="rId1"/>
  </p:sldMasterIdLst>
  <p:notesMasterIdLst>
    <p:notesMasterId r:id="rId16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2" r:id="rId13"/>
    <p:sldId id="273" r:id="rId14"/>
    <p:sldId id="28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603E"/>
    <a:srgbClr val="F47210"/>
    <a:srgbClr val="33CCCC"/>
    <a:srgbClr val="F8F8F8"/>
    <a:srgbClr val="000514"/>
    <a:srgbClr val="000000"/>
    <a:srgbClr val="0033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50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5C3FE-2558-47F2-ADDF-BA987FC9E38B}" type="datetimeFigureOut">
              <a:rPr lang="es-BO" smtClean="0"/>
              <a:pPr/>
              <a:t>24/9/2018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71488-97CC-4D4A-AA43-DD70F08C83F1}" type="slidenum">
              <a:rPr lang="es-BO" smtClean="0"/>
              <a:pPr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9411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66532240-C233-44BE-A576-196BD568B4F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6960139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2E9FEDB-49BE-4583-BA1B-0D7E7BDAB0E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81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B05B1DAB-657C-4B46-AC6A-6A055CE4414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60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504D5-4DBA-4592-869C-E039A1C4E6F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27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054F0-47DA-44C3-A18C-466B8460D78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2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25659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67E2-1C1D-4DF3-8E48-F7D927E2B6C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7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D81A-7CBC-4B2D-854C-65317BB4345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070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D26E-53BB-4378-A691-26E19A7A652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35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4091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27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5681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56790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2362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1643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BC06-81DA-4724-8BC2-8C8E3545928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05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380CE-4754-4DE4-B7E1-8B0B063D257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5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05000" y="228600"/>
            <a:ext cx="6781800" cy="88423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038600" cy="48307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07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3733800" y="6584950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fld id="{F5346779-5507-4D1A-8173-D21ECE0274F7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5943600" y="6451600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</p:spTree>
    <p:extLst>
      <p:ext uri="{BB962C8B-B14F-4D97-AF65-F5344CB8AC3E}">
        <p14:creationId xmlns:p14="http://schemas.microsoft.com/office/powerpoint/2010/main" val="3406492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ítul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05000" y="228600"/>
            <a:ext cx="6781800" cy="88423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gráfico"/>
          <p:cNvSpPr>
            <a:spLocks noGrp="1"/>
          </p:cNvSpPr>
          <p:nvPr>
            <p:ph type="chart"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s-ES" smtClean="0"/>
              <a:t>Haga clic en el icono para agregar un gráfico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3733800" y="6584950"/>
            <a:ext cx="2133600" cy="273050"/>
          </a:xfrm>
        </p:spPr>
        <p:txBody>
          <a:bodyPr/>
          <a:lstStyle>
            <a:lvl1pPr>
              <a:defRPr/>
            </a:lvl1pPr>
          </a:lstStyle>
          <a:p>
            <a:fld id="{E2903266-B823-411C-A278-B0667A9E1EE4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5943600" y="6451600"/>
            <a:ext cx="2895600" cy="273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</p:spTree>
    <p:extLst>
      <p:ext uri="{BB962C8B-B14F-4D97-AF65-F5344CB8AC3E}">
        <p14:creationId xmlns:p14="http://schemas.microsoft.com/office/powerpoint/2010/main" val="180724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www.themegallery.com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195B45-A5DB-4CDF-8835-2B37E4801F5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37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4073" r:id="rId9"/>
    <p:sldLayoutId id="2147484074" r:id="rId10"/>
    <p:sldLayoutId id="2147484075" r:id="rId11"/>
    <p:sldLayoutId id="2147484076" r:id="rId12"/>
    <p:sldLayoutId id="2147484077" r:id="rId13"/>
    <p:sldLayoutId id="2147484078" r:id="rId14"/>
    <p:sldLayoutId id="2147484079" r:id="rId15"/>
    <p:sldLayoutId id="2147484080" r:id="rId16"/>
    <p:sldLayoutId id="2147484081" r:id="rId17"/>
    <p:sldLayoutId id="2147484082" r:id="rId18"/>
    <p:sldLayoutId id="2147484083" r:id="rId1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7704" y="2204864"/>
            <a:ext cx="5486400" cy="1083568"/>
          </a:xfrm>
        </p:spPr>
        <p:txBody>
          <a:bodyPr/>
          <a:lstStyle/>
          <a:p>
            <a:pPr algn="l"/>
            <a:r>
              <a:rPr lang="es-ES" sz="3000" dirty="0" smtClean="0"/>
              <a:t>SISTEMA WEB DE GESTION DE SUELDOS Y SALARIOS</a:t>
            </a:r>
            <a:endParaRPr lang="en-US" sz="30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55776" y="4725144"/>
            <a:ext cx="5143504" cy="609600"/>
          </a:xfrm>
        </p:spPr>
        <p:txBody>
          <a:bodyPr/>
          <a:lstStyle/>
          <a:p>
            <a:r>
              <a:rPr lang="en-US" dirty="0" smtClean="0"/>
              <a:t>MIGUEL ANGEL ZAPATA CLAROS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94027" y="623652"/>
            <a:ext cx="6781800" cy="884238"/>
          </a:xfrm>
        </p:spPr>
        <p:txBody>
          <a:bodyPr/>
          <a:lstStyle/>
          <a:p>
            <a:r>
              <a:rPr lang="en-US" sz="3600" dirty="0" smtClean="0"/>
              <a:t>INTRODUCCIÓN</a:t>
            </a:r>
            <a:endParaRPr lang="en-US" sz="3600" dirty="0"/>
          </a:p>
        </p:txBody>
      </p:sp>
      <p:sp>
        <p:nvSpPr>
          <p:cNvPr id="7" name="Freeform 67"/>
          <p:cNvSpPr>
            <a:spLocks/>
          </p:cNvSpPr>
          <p:nvPr/>
        </p:nvSpPr>
        <p:spPr bwMode="gray">
          <a:xfrm>
            <a:off x="671513" y="2825750"/>
            <a:ext cx="7999412" cy="2476500"/>
          </a:xfrm>
          <a:custGeom>
            <a:avLst/>
            <a:gdLst/>
            <a:ahLst/>
            <a:cxnLst>
              <a:cxn ang="0">
                <a:pos x="0" y="1440"/>
              </a:cxn>
              <a:cxn ang="0">
                <a:pos x="0" y="1488"/>
              </a:cxn>
              <a:cxn ang="0">
                <a:pos x="1152" y="1488"/>
              </a:cxn>
              <a:cxn ang="0">
                <a:pos x="1392" y="1008"/>
              </a:cxn>
              <a:cxn ang="0">
                <a:pos x="2544" y="1008"/>
              </a:cxn>
              <a:cxn ang="0">
                <a:pos x="2832" y="528"/>
              </a:cxn>
              <a:cxn ang="0">
                <a:pos x="3984" y="528"/>
              </a:cxn>
              <a:cxn ang="0">
                <a:pos x="4272" y="48"/>
              </a:cxn>
              <a:cxn ang="0">
                <a:pos x="5424" y="48"/>
              </a:cxn>
              <a:cxn ang="0">
                <a:pos x="5424" y="0"/>
              </a:cxn>
              <a:cxn ang="0">
                <a:pos x="4272" y="0"/>
              </a:cxn>
              <a:cxn ang="0">
                <a:pos x="3984" y="480"/>
              </a:cxn>
              <a:cxn ang="0">
                <a:pos x="2832" y="480"/>
              </a:cxn>
              <a:cxn ang="0">
                <a:pos x="2544" y="960"/>
              </a:cxn>
              <a:cxn ang="0">
                <a:pos x="1392" y="960"/>
              </a:cxn>
              <a:cxn ang="0">
                <a:pos x="1152" y="1440"/>
              </a:cxn>
              <a:cxn ang="0">
                <a:pos x="0" y="1440"/>
              </a:cxn>
            </a:cxnLst>
            <a:rect l="0" t="0" r="r" b="b"/>
            <a:pathLst>
              <a:path w="5424" h="1488">
                <a:moveTo>
                  <a:pt x="0" y="1440"/>
                </a:moveTo>
                <a:lnTo>
                  <a:pt x="0" y="1488"/>
                </a:lnTo>
                <a:lnTo>
                  <a:pt x="1152" y="1488"/>
                </a:lnTo>
                <a:lnTo>
                  <a:pt x="1392" y="1008"/>
                </a:lnTo>
                <a:lnTo>
                  <a:pt x="2544" y="1008"/>
                </a:lnTo>
                <a:lnTo>
                  <a:pt x="2832" y="528"/>
                </a:lnTo>
                <a:lnTo>
                  <a:pt x="3984" y="528"/>
                </a:lnTo>
                <a:lnTo>
                  <a:pt x="4272" y="48"/>
                </a:lnTo>
                <a:lnTo>
                  <a:pt x="5424" y="48"/>
                </a:lnTo>
                <a:lnTo>
                  <a:pt x="5424" y="0"/>
                </a:lnTo>
                <a:lnTo>
                  <a:pt x="4272" y="0"/>
                </a:lnTo>
                <a:lnTo>
                  <a:pt x="3984" y="480"/>
                </a:lnTo>
                <a:lnTo>
                  <a:pt x="2832" y="480"/>
                </a:lnTo>
                <a:lnTo>
                  <a:pt x="2544" y="960"/>
                </a:lnTo>
                <a:lnTo>
                  <a:pt x="1392" y="960"/>
                </a:lnTo>
                <a:lnTo>
                  <a:pt x="1152" y="1440"/>
                </a:lnTo>
                <a:lnTo>
                  <a:pt x="0" y="144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  <a:scene3d>
            <a:camera prst="legacyPerspectiveTop"/>
            <a:lightRig rig="legacyNormal3" dir="r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>
            <a:flatTx/>
          </a:bodyPr>
          <a:lstStyle/>
          <a:p>
            <a:endParaRPr lang="es-BO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1236663" y="4029075"/>
            <a:ext cx="1133475" cy="1044575"/>
            <a:chOff x="482" y="1851"/>
            <a:chExt cx="860" cy="796"/>
          </a:xfrm>
        </p:grpSpPr>
        <p:sp>
          <p:nvSpPr>
            <p:cNvPr id="9" name="Freeform 69"/>
            <p:cNvSpPr>
              <a:spLocks/>
            </p:cNvSpPr>
            <p:nvPr/>
          </p:nvSpPr>
          <p:spPr bwMode="gray">
            <a:xfrm>
              <a:off x="567" y="2464"/>
              <a:ext cx="335" cy="173"/>
            </a:xfrm>
            <a:custGeom>
              <a:avLst/>
              <a:gdLst/>
              <a:ahLst/>
              <a:cxnLst>
                <a:cxn ang="0">
                  <a:pos x="0" y="166"/>
                </a:cxn>
                <a:cxn ang="0">
                  <a:pos x="58" y="173"/>
                </a:cxn>
                <a:cxn ang="0">
                  <a:pos x="297" y="32"/>
                </a:cxn>
                <a:cxn ang="0">
                  <a:pos x="289" y="8"/>
                </a:cxn>
                <a:cxn ang="0">
                  <a:pos x="223" y="26"/>
                </a:cxn>
                <a:cxn ang="0">
                  <a:pos x="0" y="166"/>
                </a:cxn>
              </a:cxnLst>
              <a:rect l="0" t="0" r="r" b="b"/>
              <a:pathLst>
                <a:path w="335" h="173">
                  <a:moveTo>
                    <a:pt x="0" y="166"/>
                  </a:moveTo>
                  <a:lnTo>
                    <a:pt x="58" y="173"/>
                  </a:lnTo>
                  <a:lnTo>
                    <a:pt x="297" y="32"/>
                  </a:lnTo>
                  <a:cubicBezTo>
                    <a:pt x="335" y="5"/>
                    <a:pt x="301" y="9"/>
                    <a:pt x="289" y="8"/>
                  </a:cubicBezTo>
                  <a:cubicBezTo>
                    <a:pt x="277" y="7"/>
                    <a:pt x="271" y="0"/>
                    <a:pt x="223" y="26"/>
                  </a:cubicBezTo>
                  <a:lnTo>
                    <a:pt x="0" y="166"/>
                  </a:lnTo>
                  <a:close/>
                </a:path>
              </a:pathLst>
            </a:custGeom>
            <a:gradFill rotWithShape="1">
              <a:gsLst>
                <a:gs pos="0">
                  <a:srgbClr val="1C1C1C">
                    <a:gamma/>
                    <a:shade val="85882"/>
                    <a:invGamma/>
                    <a:alpha val="0"/>
                  </a:srgbClr>
                </a:gs>
                <a:gs pos="100000">
                  <a:srgbClr val="1C1C1C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0" name="Freeform 70"/>
            <p:cNvSpPr>
              <a:spLocks/>
            </p:cNvSpPr>
            <p:nvPr/>
          </p:nvSpPr>
          <p:spPr bwMode="gray">
            <a:xfrm>
              <a:off x="797" y="2401"/>
              <a:ext cx="367" cy="170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80" y="170"/>
                </a:cxn>
                <a:cxn ang="0">
                  <a:pos x="332" y="37"/>
                </a:cxn>
                <a:cxn ang="0">
                  <a:pos x="292" y="1"/>
                </a:cxn>
                <a:cxn ang="0">
                  <a:pos x="230" y="29"/>
                </a:cxn>
                <a:cxn ang="0">
                  <a:pos x="0" y="158"/>
                </a:cxn>
              </a:cxnLst>
              <a:rect l="0" t="0" r="r" b="b"/>
              <a:pathLst>
                <a:path w="367" h="170">
                  <a:moveTo>
                    <a:pt x="0" y="158"/>
                  </a:moveTo>
                  <a:lnTo>
                    <a:pt x="80" y="170"/>
                  </a:lnTo>
                  <a:lnTo>
                    <a:pt x="332" y="37"/>
                  </a:lnTo>
                  <a:cubicBezTo>
                    <a:pt x="367" y="9"/>
                    <a:pt x="309" y="2"/>
                    <a:pt x="292" y="1"/>
                  </a:cubicBezTo>
                  <a:cubicBezTo>
                    <a:pt x="280" y="0"/>
                    <a:pt x="279" y="3"/>
                    <a:pt x="230" y="29"/>
                  </a:cubicBezTo>
                  <a:lnTo>
                    <a:pt x="0" y="158"/>
                  </a:lnTo>
                  <a:close/>
                </a:path>
              </a:pathLst>
            </a:custGeom>
            <a:gradFill rotWithShape="1">
              <a:gsLst>
                <a:gs pos="0">
                  <a:srgbClr val="1C1C1C">
                    <a:gamma/>
                    <a:shade val="85882"/>
                    <a:invGamma/>
                    <a:alpha val="0"/>
                  </a:srgbClr>
                </a:gs>
                <a:gs pos="100000">
                  <a:srgbClr val="1C1C1C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1" name="Freeform 71"/>
            <p:cNvSpPr>
              <a:spLocks/>
            </p:cNvSpPr>
            <p:nvPr/>
          </p:nvSpPr>
          <p:spPr bwMode="gray">
            <a:xfrm>
              <a:off x="1035" y="2504"/>
              <a:ext cx="307" cy="143"/>
            </a:xfrm>
            <a:custGeom>
              <a:avLst/>
              <a:gdLst/>
              <a:ahLst/>
              <a:cxnLst>
                <a:cxn ang="0">
                  <a:pos x="0" y="134"/>
                </a:cxn>
                <a:cxn ang="0">
                  <a:pos x="66" y="143"/>
                </a:cxn>
                <a:cxn ang="0">
                  <a:pos x="282" y="35"/>
                </a:cxn>
                <a:cxn ang="0">
                  <a:pos x="219" y="17"/>
                </a:cxn>
                <a:cxn ang="0">
                  <a:pos x="0" y="134"/>
                </a:cxn>
              </a:cxnLst>
              <a:rect l="0" t="0" r="r" b="b"/>
              <a:pathLst>
                <a:path w="307" h="143">
                  <a:moveTo>
                    <a:pt x="0" y="134"/>
                  </a:moveTo>
                  <a:lnTo>
                    <a:pt x="66" y="143"/>
                  </a:lnTo>
                  <a:lnTo>
                    <a:pt x="282" y="35"/>
                  </a:lnTo>
                  <a:cubicBezTo>
                    <a:pt x="307" y="14"/>
                    <a:pt x="266" y="0"/>
                    <a:pt x="219" y="17"/>
                  </a:cubicBezTo>
                  <a:lnTo>
                    <a:pt x="0" y="134"/>
                  </a:lnTo>
                  <a:close/>
                </a:path>
              </a:pathLst>
            </a:custGeom>
            <a:gradFill rotWithShape="1">
              <a:gsLst>
                <a:gs pos="0">
                  <a:srgbClr val="1C1C1C">
                    <a:gamma/>
                    <a:shade val="85882"/>
                    <a:invGamma/>
                    <a:alpha val="0"/>
                  </a:srgbClr>
                </a:gs>
                <a:gs pos="100000">
                  <a:srgbClr val="1C1C1C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" name="Freeform 72"/>
            <p:cNvSpPr>
              <a:spLocks/>
            </p:cNvSpPr>
            <p:nvPr/>
          </p:nvSpPr>
          <p:spPr bwMode="gray">
            <a:xfrm>
              <a:off x="482" y="2066"/>
              <a:ext cx="224" cy="569"/>
            </a:xfrm>
            <a:custGeom>
              <a:avLst/>
              <a:gdLst/>
              <a:ahLst/>
              <a:cxnLst>
                <a:cxn ang="0">
                  <a:pos x="103" y="101"/>
                </a:cxn>
                <a:cxn ang="0">
                  <a:pos x="74" y="50"/>
                </a:cxn>
                <a:cxn ang="0">
                  <a:pos x="121" y="1"/>
                </a:cxn>
                <a:cxn ang="0">
                  <a:pos x="171" y="52"/>
                </a:cxn>
                <a:cxn ang="0">
                  <a:pos x="135" y="101"/>
                </a:cxn>
                <a:cxn ang="0">
                  <a:pos x="134" y="124"/>
                </a:cxn>
                <a:cxn ang="0">
                  <a:pos x="209" y="145"/>
                </a:cxn>
                <a:cxn ang="0">
                  <a:pos x="221" y="204"/>
                </a:cxn>
                <a:cxn ang="0">
                  <a:pos x="218" y="321"/>
                </a:cxn>
                <a:cxn ang="0">
                  <a:pos x="209" y="365"/>
                </a:cxn>
                <a:cxn ang="0">
                  <a:pos x="196" y="308"/>
                </a:cxn>
                <a:cxn ang="0">
                  <a:pos x="187" y="202"/>
                </a:cxn>
                <a:cxn ang="0">
                  <a:pos x="170" y="321"/>
                </a:cxn>
                <a:cxn ang="0">
                  <a:pos x="144" y="569"/>
                </a:cxn>
                <a:cxn ang="0">
                  <a:pos x="78" y="565"/>
                </a:cxn>
                <a:cxn ang="0">
                  <a:pos x="50" y="325"/>
                </a:cxn>
                <a:cxn ang="0">
                  <a:pos x="33" y="208"/>
                </a:cxn>
                <a:cxn ang="0">
                  <a:pos x="25" y="310"/>
                </a:cxn>
                <a:cxn ang="0">
                  <a:pos x="12" y="365"/>
                </a:cxn>
                <a:cxn ang="0">
                  <a:pos x="1" y="305"/>
                </a:cxn>
                <a:cxn ang="0">
                  <a:pos x="7" y="184"/>
                </a:cxn>
                <a:cxn ang="0">
                  <a:pos x="23" y="140"/>
                </a:cxn>
                <a:cxn ang="0">
                  <a:pos x="102" y="124"/>
                </a:cxn>
                <a:cxn ang="0">
                  <a:pos x="103" y="101"/>
                </a:cxn>
              </a:cxnLst>
              <a:rect l="0" t="0" r="r" b="b"/>
              <a:pathLst>
                <a:path w="224" h="569">
                  <a:moveTo>
                    <a:pt x="103" y="101"/>
                  </a:moveTo>
                  <a:cubicBezTo>
                    <a:pt x="87" y="94"/>
                    <a:pt x="75" y="75"/>
                    <a:pt x="74" y="50"/>
                  </a:cubicBezTo>
                  <a:cubicBezTo>
                    <a:pt x="72" y="26"/>
                    <a:pt x="90" y="0"/>
                    <a:pt x="121" y="1"/>
                  </a:cubicBezTo>
                  <a:cubicBezTo>
                    <a:pt x="152" y="2"/>
                    <a:pt x="172" y="18"/>
                    <a:pt x="171" y="52"/>
                  </a:cubicBezTo>
                  <a:cubicBezTo>
                    <a:pt x="170" y="85"/>
                    <a:pt x="151" y="96"/>
                    <a:pt x="135" y="101"/>
                  </a:cubicBezTo>
                  <a:cubicBezTo>
                    <a:pt x="132" y="111"/>
                    <a:pt x="132" y="118"/>
                    <a:pt x="134" y="124"/>
                  </a:cubicBezTo>
                  <a:cubicBezTo>
                    <a:pt x="151" y="131"/>
                    <a:pt x="194" y="132"/>
                    <a:pt x="209" y="145"/>
                  </a:cubicBezTo>
                  <a:cubicBezTo>
                    <a:pt x="224" y="156"/>
                    <a:pt x="219" y="175"/>
                    <a:pt x="221" y="204"/>
                  </a:cubicBezTo>
                  <a:lnTo>
                    <a:pt x="218" y="321"/>
                  </a:lnTo>
                  <a:cubicBezTo>
                    <a:pt x="216" y="348"/>
                    <a:pt x="212" y="367"/>
                    <a:pt x="209" y="365"/>
                  </a:cubicBezTo>
                  <a:cubicBezTo>
                    <a:pt x="199" y="370"/>
                    <a:pt x="200" y="335"/>
                    <a:pt x="196" y="308"/>
                  </a:cubicBezTo>
                  <a:lnTo>
                    <a:pt x="187" y="202"/>
                  </a:lnTo>
                  <a:cubicBezTo>
                    <a:pt x="182" y="204"/>
                    <a:pt x="177" y="260"/>
                    <a:pt x="170" y="321"/>
                  </a:cubicBezTo>
                  <a:lnTo>
                    <a:pt x="144" y="569"/>
                  </a:lnTo>
                  <a:lnTo>
                    <a:pt x="78" y="565"/>
                  </a:lnTo>
                  <a:lnTo>
                    <a:pt x="50" y="325"/>
                  </a:lnTo>
                  <a:cubicBezTo>
                    <a:pt x="39" y="255"/>
                    <a:pt x="37" y="211"/>
                    <a:pt x="33" y="208"/>
                  </a:cubicBezTo>
                  <a:lnTo>
                    <a:pt x="25" y="310"/>
                  </a:lnTo>
                  <a:cubicBezTo>
                    <a:pt x="22" y="336"/>
                    <a:pt x="16" y="366"/>
                    <a:pt x="12" y="365"/>
                  </a:cubicBezTo>
                  <a:cubicBezTo>
                    <a:pt x="4" y="365"/>
                    <a:pt x="2" y="335"/>
                    <a:pt x="1" y="305"/>
                  </a:cubicBezTo>
                  <a:cubicBezTo>
                    <a:pt x="0" y="275"/>
                    <a:pt x="3" y="212"/>
                    <a:pt x="7" y="184"/>
                  </a:cubicBezTo>
                  <a:cubicBezTo>
                    <a:pt x="12" y="157"/>
                    <a:pt x="7" y="150"/>
                    <a:pt x="23" y="140"/>
                  </a:cubicBezTo>
                  <a:cubicBezTo>
                    <a:pt x="39" y="131"/>
                    <a:pt x="89" y="131"/>
                    <a:pt x="102" y="124"/>
                  </a:cubicBezTo>
                  <a:cubicBezTo>
                    <a:pt x="106" y="120"/>
                    <a:pt x="108" y="108"/>
                    <a:pt x="103" y="10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  <a:scene3d>
              <a:camera prst="legacyPerspectiveTopRight">
                <a:rot lat="0" lon="900000" rev="0"/>
              </a:camera>
              <a:lightRig rig="legacyFlat1" dir="t"/>
            </a:scene3d>
            <a:sp3d extrusionH="36500" prstMaterial="legacyMetal">
              <a:bevelT w="13500" h="13500" prst="angle"/>
              <a:bevelB w="13500" h="13500" prst="angle"/>
              <a:extrusionClr>
                <a:srgbClr val="333333"/>
              </a:extrusionClr>
            </a:sp3d>
          </p:spPr>
          <p:txBody>
            <a:bodyPr>
              <a:flatTx/>
            </a:bodyPr>
            <a:lstStyle/>
            <a:p>
              <a:endParaRPr lang="es-BO"/>
            </a:p>
          </p:txBody>
        </p:sp>
        <p:sp>
          <p:nvSpPr>
            <p:cNvPr id="13" name="Freeform 73"/>
            <p:cNvSpPr>
              <a:spLocks/>
            </p:cNvSpPr>
            <p:nvPr/>
          </p:nvSpPr>
          <p:spPr bwMode="gray">
            <a:xfrm>
              <a:off x="698" y="1851"/>
              <a:ext cx="282" cy="716"/>
            </a:xfrm>
            <a:custGeom>
              <a:avLst/>
              <a:gdLst/>
              <a:ahLst/>
              <a:cxnLst>
                <a:cxn ang="0">
                  <a:pos x="103" y="101"/>
                </a:cxn>
                <a:cxn ang="0">
                  <a:pos x="74" y="50"/>
                </a:cxn>
                <a:cxn ang="0">
                  <a:pos x="121" y="1"/>
                </a:cxn>
                <a:cxn ang="0">
                  <a:pos x="171" y="52"/>
                </a:cxn>
                <a:cxn ang="0">
                  <a:pos x="135" y="101"/>
                </a:cxn>
                <a:cxn ang="0">
                  <a:pos x="134" y="124"/>
                </a:cxn>
                <a:cxn ang="0">
                  <a:pos x="209" y="145"/>
                </a:cxn>
                <a:cxn ang="0">
                  <a:pos x="221" y="204"/>
                </a:cxn>
                <a:cxn ang="0">
                  <a:pos x="218" y="321"/>
                </a:cxn>
                <a:cxn ang="0">
                  <a:pos x="209" y="365"/>
                </a:cxn>
                <a:cxn ang="0">
                  <a:pos x="196" y="308"/>
                </a:cxn>
                <a:cxn ang="0">
                  <a:pos x="187" y="202"/>
                </a:cxn>
                <a:cxn ang="0">
                  <a:pos x="170" y="321"/>
                </a:cxn>
                <a:cxn ang="0">
                  <a:pos x="144" y="569"/>
                </a:cxn>
                <a:cxn ang="0">
                  <a:pos x="78" y="565"/>
                </a:cxn>
                <a:cxn ang="0">
                  <a:pos x="50" y="325"/>
                </a:cxn>
                <a:cxn ang="0">
                  <a:pos x="33" y="208"/>
                </a:cxn>
                <a:cxn ang="0">
                  <a:pos x="25" y="310"/>
                </a:cxn>
                <a:cxn ang="0">
                  <a:pos x="12" y="365"/>
                </a:cxn>
                <a:cxn ang="0">
                  <a:pos x="1" y="305"/>
                </a:cxn>
                <a:cxn ang="0">
                  <a:pos x="7" y="184"/>
                </a:cxn>
                <a:cxn ang="0">
                  <a:pos x="23" y="140"/>
                </a:cxn>
                <a:cxn ang="0">
                  <a:pos x="102" y="124"/>
                </a:cxn>
                <a:cxn ang="0">
                  <a:pos x="103" y="101"/>
                </a:cxn>
              </a:cxnLst>
              <a:rect l="0" t="0" r="r" b="b"/>
              <a:pathLst>
                <a:path w="224" h="569">
                  <a:moveTo>
                    <a:pt x="103" y="101"/>
                  </a:moveTo>
                  <a:cubicBezTo>
                    <a:pt x="87" y="94"/>
                    <a:pt x="75" y="75"/>
                    <a:pt x="74" y="50"/>
                  </a:cubicBezTo>
                  <a:cubicBezTo>
                    <a:pt x="72" y="26"/>
                    <a:pt x="90" y="0"/>
                    <a:pt x="121" y="1"/>
                  </a:cubicBezTo>
                  <a:cubicBezTo>
                    <a:pt x="152" y="2"/>
                    <a:pt x="172" y="18"/>
                    <a:pt x="171" y="52"/>
                  </a:cubicBezTo>
                  <a:cubicBezTo>
                    <a:pt x="170" y="85"/>
                    <a:pt x="151" y="96"/>
                    <a:pt x="135" y="101"/>
                  </a:cubicBezTo>
                  <a:cubicBezTo>
                    <a:pt x="132" y="111"/>
                    <a:pt x="132" y="118"/>
                    <a:pt x="134" y="124"/>
                  </a:cubicBezTo>
                  <a:cubicBezTo>
                    <a:pt x="151" y="131"/>
                    <a:pt x="194" y="132"/>
                    <a:pt x="209" y="145"/>
                  </a:cubicBezTo>
                  <a:cubicBezTo>
                    <a:pt x="224" y="156"/>
                    <a:pt x="219" y="175"/>
                    <a:pt x="221" y="204"/>
                  </a:cubicBezTo>
                  <a:lnTo>
                    <a:pt x="218" y="321"/>
                  </a:lnTo>
                  <a:cubicBezTo>
                    <a:pt x="216" y="348"/>
                    <a:pt x="212" y="367"/>
                    <a:pt x="209" y="365"/>
                  </a:cubicBezTo>
                  <a:cubicBezTo>
                    <a:pt x="199" y="370"/>
                    <a:pt x="200" y="335"/>
                    <a:pt x="196" y="308"/>
                  </a:cubicBezTo>
                  <a:lnTo>
                    <a:pt x="187" y="202"/>
                  </a:lnTo>
                  <a:cubicBezTo>
                    <a:pt x="182" y="204"/>
                    <a:pt x="177" y="260"/>
                    <a:pt x="170" y="321"/>
                  </a:cubicBezTo>
                  <a:lnTo>
                    <a:pt x="144" y="569"/>
                  </a:lnTo>
                  <a:lnTo>
                    <a:pt x="78" y="565"/>
                  </a:lnTo>
                  <a:lnTo>
                    <a:pt x="50" y="325"/>
                  </a:lnTo>
                  <a:cubicBezTo>
                    <a:pt x="39" y="255"/>
                    <a:pt x="37" y="211"/>
                    <a:pt x="33" y="208"/>
                  </a:cubicBezTo>
                  <a:lnTo>
                    <a:pt x="25" y="310"/>
                  </a:lnTo>
                  <a:cubicBezTo>
                    <a:pt x="22" y="336"/>
                    <a:pt x="16" y="366"/>
                    <a:pt x="12" y="365"/>
                  </a:cubicBezTo>
                  <a:cubicBezTo>
                    <a:pt x="4" y="365"/>
                    <a:pt x="2" y="335"/>
                    <a:pt x="1" y="305"/>
                  </a:cubicBezTo>
                  <a:cubicBezTo>
                    <a:pt x="0" y="275"/>
                    <a:pt x="3" y="212"/>
                    <a:pt x="7" y="184"/>
                  </a:cubicBezTo>
                  <a:cubicBezTo>
                    <a:pt x="12" y="157"/>
                    <a:pt x="7" y="150"/>
                    <a:pt x="23" y="140"/>
                  </a:cubicBezTo>
                  <a:cubicBezTo>
                    <a:pt x="39" y="131"/>
                    <a:pt x="89" y="131"/>
                    <a:pt x="102" y="124"/>
                  </a:cubicBezTo>
                  <a:cubicBezTo>
                    <a:pt x="106" y="120"/>
                    <a:pt x="108" y="108"/>
                    <a:pt x="103" y="10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  <a:scene3d>
              <a:camera prst="legacyPerspectiveTopRight">
                <a:rot lat="0" lon="900000" rev="0"/>
              </a:camera>
              <a:lightRig rig="legacyFlat1" dir="t"/>
            </a:scene3d>
            <a:sp3d extrusionH="36500" prstMaterial="legacyMetal">
              <a:bevelT w="13500" h="13500" prst="angle"/>
              <a:bevelB w="13500" h="13500" prst="angle"/>
              <a:extrusionClr>
                <a:srgbClr val="333333"/>
              </a:extrusionClr>
            </a:sp3d>
          </p:spPr>
          <p:txBody>
            <a:bodyPr>
              <a:flatTx/>
            </a:bodyPr>
            <a:lstStyle/>
            <a:p>
              <a:endParaRPr lang="es-BO"/>
            </a:p>
          </p:txBody>
        </p:sp>
        <p:sp>
          <p:nvSpPr>
            <p:cNvPr id="14" name="Freeform 74"/>
            <p:cNvSpPr>
              <a:spLocks/>
            </p:cNvSpPr>
            <p:nvPr/>
          </p:nvSpPr>
          <p:spPr bwMode="gray">
            <a:xfrm>
              <a:off x="956" y="2078"/>
              <a:ext cx="224" cy="569"/>
            </a:xfrm>
            <a:custGeom>
              <a:avLst/>
              <a:gdLst/>
              <a:ahLst/>
              <a:cxnLst>
                <a:cxn ang="0">
                  <a:pos x="103" y="101"/>
                </a:cxn>
                <a:cxn ang="0">
                  <a:pos x="74" y="50"/>
                </a:cxn>
                <a:cxn ang="0">
                  <a:pos x="121" y="1"/>
                </a:cxn>
                <a:cxn ang="0">
                  <a:pos x="171" y="52"/>
                </a:cxn>
                <a:cxn ang="0">
                  <a:pos x="135" y="101"/>
                </a:cxn>
                <a:cxn ang="0">
                  <a:pos x="134" y="124"/>
                </a:cxn>
                <a:cxn ang="0">
                  <a:pos x="209" y="145"/>
                </a:cxn>
                <a:cxn ang="0">
                  <a:pos x="221" y="204"/>
                </a:cxn>
                <a:cxn ang="0">
                  <a:pos x="218" y="321"/>
                </a:cxn>
                <a:cxn ang="0">
                  <a:pos x="209" y="365"/>
                </a:cxn>
                <a:cxn ang="0">
                  <a:pos x="196" y="308"/>
                </a:cxn>
                <a:cxn ang="0">
                  <a:pos x="187" y="202"/>
                </a:cxn>
                <a:cxn ang="0">
                  <a:pos x="170" y="321"/>
                </a:cxn>
                <a:cxn ang="0">
                  <a:pos x="144" y="569"/>
                </a:cxn>
                <a:cxn ang="0">
                  <a:pos x="78" y="565"/>
                </a:cxn>
                <a:cxn ang="0">
                  <a:pos x="50" y="325"/>
                </a:cxn>
                <a:cxn ang="0">
                  <a:pos x="33" y="208"/>
                </a:cxn>
                <a:cxn ang="0">
                  <a:pos x="25" y="310"/>
                </a:cxn>
                <a:cxn ang="0">
                  <a:pos x="12" y="365"/>
                </a:cxn>
                <a:cxn ang="0">
                  <a:pos x="1" y="305"/>
                </a:cxn>
                <a:cxn ang="0">
                  <a:pos x="7" y="184"/>
                </a:cxn>
                <a:cxn ang="0">
                  <a:pos x="23" y="140"/>
                </a:cxn>
                <a:cxn ang="0">
                  <a:pos x="102" y="124"/>
                </a:cxn>
                <a:cxn ang="0">
                  <a:pos x="103" y="101"/>
                </a:cxn>
              </a:cxnLst>
              <a:rect l="0" t="0" r="r" b="b"/>
              <a:pathLst>
                <a:path w="224" h="569">
                  <a:moveTo>
                    <a:pt x="103" y="101"/>
                  </a:moveTo>
                  <a:cubicBezTo>
                    <a:pt x="87" y="94"/>
                    <a:pt x="75" y="75"/>
                    <a:pt x="74" y="50"/>
                  </a:cubicBezTo>
                  <a:cubicBezTo>
                    <a:pt x="72" y="26"/>
                    <a:pt x="90" y="0"/>
                    <a:pt x="121" y="1"/>
                  </a:cubicBezTo>
                  <a:cubicBezTo>
                    <a:pt x="152" y="2"/>
                    <a:pt x="172" y="18"/>
                    <a:pt x="171" y="52"/>
                  </a:cubicBezTo>
                  <a:cubicBezTo>
                    <a:pt x="170" y="85"/>
                    <a:pt x="151" y="96"/>
                    <a:pt x="135" y="101"/>
                  </a:cubicBezTo>
                  <a:cubicBezTo>
                    <a:pt x="132" y="111"/>
                    <a:pt x="132" y="118"/>
                    <a:pt x="134" y="124"/>
                  </a:cubicBezTo>
                  <a:cubicBezTo>
                    <a:pt x="151" y="131"/>
                    <a:pt x="194" y="132"/>
                    <a:pt x="209" y="145"/>
                  </a:cubicBezTo>
                  <a:cubicBezTo>
                    <a:pt x="224" y="156"/>
                    <a:pt x="219" y="175"/>
                    <a:pt x="221" y="204"/>
                  </a:cubicBezTo>
                  <a:lnTo>
                    <a:pt x="218" y="321"/>
                  </a:lnTo>
                  <a:cubicBezTo>
                    <a:pt x="216" y="348"/>
                    <a:pt x="212" y="367"/>
                    <a:pt x="209" y="365"/>
                  </a:cubicBezTo>
                  <a:cubicBezTo>
                    <a:pt x="199" y="370"/>
                    <a:pt x="200" y="335"/>
                    <a:pt x="196" y="308"/>
                  </a:cubicBezTo>
                  <a:lnTo>
                    <a:pt x="187" y="202"/>
                  </a:lnTo>
                  <a:cubicBezTo>
                    <a:pt x="182" y="204"/>
                    <a:pt x="177" y="260"/>
                    <a:pt x="170" y="321"/>
                  </a:cubicBezTo>
                  <a:lnTo>
                    <a:pt x="144" y="569"/>
                  </a:lnTo>
                  <a:lnTo>
                    <a:pt x="78" y="565"/>
                  </a:lnTo>
                  <a:lnTo>
                    <a:pt x="50" y="325"/>
                  </a:lnTo>
                  <a:cubicBezTo>
                    <a:pt x="39" y="255"/>
                    <a:pt x="37" y="211"/>
                    <a:pt x="33" y="208"/>
                  </a:cubicBezTo>
                  <a:lnTo>
                    <a:pt x="25" y="310"/>
                  </a:lnTo>
                  <a:cubicBezTo>
                    <a:pt x="22" y="336"/>
                    <a:pt x="16" y="366"/>
                    <a:pt x="12" y="365"/>
                  </a:cubicBezTo>
                  <a:cubicBezTo>
                    <a:pt x="4" y="365"/>
                    <a:pt x="2" y="335"/>
                    <a:pt x="1" y="305"/>
                  </a:cubicBezTo>
                  <a:cubicBezTo>
                    <a:pt x="0" y="275"/>
                    <a:pt x="3" y="212"/>
                    <a:pt x="7" y="184"/>
                  </a:cubicBezTo>
                  <a:cubicBezTo>
                    <a:pt x="12" y="157"/>
                    <a:pt x="7" y="150"/>
                    <a:pt x="23" y="140"/>
                  </a:cubicBezTo>
                  <a:cubicBezTo>
                    <a:pt x="39" y="131"/>
                    <a:pt x="89" y="131"/>
                    <a:pt x="102" y="124"/>
                  </a:cubicBezTo>
                  <a:cubicBezTo>
                    <a:pt x="106" y="120"/>
                    <a:pt x="108" y="108"/>
                    <a:pt x="103" y="10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  <a:scene3d>
              <a:camera prst="legacyPerspectiveTopRight">
                <a:rot lat="0" lon="900000" rev="0"/>
              </a:camera>
              <a:lightRig rig="legacyFlat1" dir="t"/>
            </a:scene3d>
            <a:sp3d extrusionH="36500" prstMaterial="legacyMetal">
              <a:bevelT w="13500" h="13500" prst="angle"/>
              <a:bevelB w="13500" h="13500" prst="angle"/>
              <a:extrusionClr>
                <a:srgbClr val="333333"/>
              </a:extrusionClr>
            </a:sp3d>
          </p:spPr>
          <p:txBody>
            <a:bodyPr>
              <a:flatTx/>
            </a:bodyPr>
            <a:lstStyle/>
            <a:p>
              <a:endParaRPr lang="es-BO"/>
            </a:p>
          </p:txBody>
        </p:sp>
      </p:grpSp>
      <p:pic>
        <p:nvPicPr>
          <p:cNvPr id="15" name="Picture 75" descr="16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83438" y="1905000"/>
            <a:ext cx="800100" cy="800100"/>
          </a:xfrm>
          <a:prstGeom prst="rect">
            <a:avLst/>
          </a:prstGeom>
          <a:noFill/>
        </p:spPr>
      </p:pic>
      <p:pic>
        <p:nvPicPr>
          <p:cNvPr id="16" name="Picture 76" descr="2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30800" y="2543175"/>
            <a:ext cx="1062038" cy="928688"/>
          </a:xfrm>
          <a:prstGeom prst="rect">
            <a:avLst/>
          </a:prstGeom>
          <a:noFill/>
        </p:spPr>
      </p:pic>
      <p:pic>
        <p:nvPicPr>
          <p:cNvPr id="17" name="Picture 77" descr="1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24213" y="3179763"/>
            <a:ext cx="1017587" cy="1158875"/>
          </a:xfrm>
          <a:prstGeom prst="rect">
            <a:avLst/>
          </a:prstGeom>
          <a:noFill/>
          <a:effectLst/>
        </p:spPr>
      </p:pic>
      <p:grpSp>
        <p:nvGrpSpPr>
          <p:cNvPr id="18" name="Group 78"/>
          <p:cNvGrpSpPr>
            <a:grpSpLocks/>
          </p:cNvGrpSpPr>
          <p:nvPr/>
        </p:nvGrpSpPr>
        <p:grpSpPr bwMode="auto">
          <a:xfrm>
            <a:off x="571472" y="5357826"/>
            <a:ext cx="1808163" cy="314325"/>
            <a:chOff x="406" y="980"/>
            <a:chExt cx="2330" cy="294"/>
          </a:xfrm>
        </p:grpSpPr>
        <p:sp>
          <p:nvSpPr>
            <p:cNvPr id="19" name="AutoShape 79"/>
            <p:cNvSpPr>
              <a:spLocks noChangeArrowheads="1"/>
            </p:cNvSpPr>
            <p:nvPr/>
          </p:nvSpPr>
          <p:spPr bwMode="gray">
            <a:xfrm>
              <a:off x="406" y="980"/>
              <a:ext cx="2330" cy="29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68A1C"/>
                </a:gs>
                <a:gs pos="50000">
                  <a:srgbClr val="B68A1C">
                    <a:gamma/>
                    <a:tint val="72941"/>
                    <a:invGamma/>
                  </a:srgbClr>
                </a:gs>
                <a:gs pos="100000">
                  <a:srgbClr val="B68A1C"/>
                </a:gs>
              </a:gsLst>
              <a:lin ang="0" scaled="1"/>
            </a:gradFill>
            <a:ln w="12700">
              <a:noFill/>
              <a:round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20" name="AutoShape 80"/>
            <p:cNvSpPr>
              <a:spLocks noChangeArrowheads="1"/>
            </p:cNvSpPr>
            <p:nvPr/>
          </p:nvSpPr>
          <p:spPr bwMode="gray">
            <a:xfrm flipH="1">
              <a:off x="2620" y="1005"/>
              <a:ext cx="104" cy="246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21" name="AutoShape 81"/>
            <p:cNvSpPr>
              <a:spLocks noChangeArrowheads="1"/>
            </p:cNvSpPr>
            <p:nvPr/>
          </p:nvSpPr>
          <p:spPr bwMode="gray">
            <a:xfrm>
              <a:off x="420" y="1006"/>
              <a:ext cx="104" cy="242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</p:grpSp>
      <p:sp>
        <p:nvSpPr>
          <p:cNvPr id="22" name="Text Box 18"/>
          <p:cNvSpPr txBox="1">
            <a:spLocks noChangeArrowheads="1"/>
          </p:cNvSpPr>
          <p:nvPr/>
        </p:nvSpPr>
        <p:spPr bwMode="white">
          <a:xfrm>
            <a:off x="500034" y="5357826"/>
            <a:ext cx="1857387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DESARROLLO DE SOFTWARE</a:t>
            </a:r>
            <a:endParaRPr lang="en-US" sz="1100" b="1" i="0" dirty="0">
              <a:solidFill>
                <a:srgbClr val="FFFF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25" name="Rectangle 86"/>
          <p:cNvSpPr>
            <a:spLocks noChangeArrowheads="1"/>
          </p:cNvSpPr>
          <p:nvPr/>
        </p:nvSpPr>
        <p:spPr bwMode="black">
          <a:xfrm>
            <a:off x="4795838" y="4214813"/>
            <a:ext cx="1770062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300" dirty="0" err="1" smtClean="0">
                <a:cs typeface="Arial" charset="0"/>
              </a:rPr>
              <a:t>Desarrollan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su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propio</a:t>
            </a:r>
            <a:r>
              <a:rPr lang="en-US" sz="1300" dirty="0" smtClean="0">
                <a:cs typeface="Arial" charset="0"/>
              </a:rPr>
              <a:t> software( </a:t>
            </a:r>
            <a:r>
              <a:rPr lang="en-US" sz="1300" dirty="0" err="1" smtClean="0">
                <a:cs typeface="Arial" charset="0"/>
              </a:rPr>
              <a:t>fabricas</a:t>
            </a:r>
            <a:r>
              <a:rPr lang="en-US" sz="1300" dirty="0" smtClean="0">
                <a:cs typeface="Arial" charset="0"/>
              </a:rPr>
              <a:t>, </a:t>
            </a:r>
            <a:r>
              <a:rPr lang="en-US" sz="1300" dirty="0" err="1" smtClean="0">
                <a:cs typeface="Arial" charset="0"/>
              </a:rPr>
              <a:t>instituciones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educativas</a:t>
            </a:r>
            <a:r>
              <a:rPr lang="en-US" sz="1300" dirty="0" smtClean="0">
                <a:cs typeface="Arial" charset="0"/>
              </a:rPr>
              <a:t>, etc)  </a:t>
            </a:r>
            <a:endParaRPr lang="en-US" sz="1300" i="0" dirty="0">
              <a:cs typeface="Arial" charset="0"/>
            </a:endParaRPr>
          </a:p>
        </p:txBody>
      </p:sp>
      <p:sp>
        <p:nvSpPr>
          <p:cNvPr id="26" name="Rectangle 87"/>
          <p:cNvSpPr>
            <a:spLocks noChangeArrowheads="1"/>
          </p:cNvSpPr>
          <p:nvPr/>
        </p:nvSpPr>
        <p:spPr bwMode="black">
          <a:xfrm>
            <a:off x="6900863" y="3387725"/>
            <a:ext cx="1770062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300" dirty="0" smtClean="0">
                <a:cs typeface="Arial" charset="0"/>
              </a:rPr>
              <a:t>La </a:t>
            </a:r>
            <a:r>
              <a:rPr lang="en-US" sz="1300" dirty="0" err="1" smtClean="0">
                <a:cs typeface="Arial" charset="0"/>
              </a:rPr>
              <a:t>información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es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uno</a:t>
            </a:r>
            <a:r>
              <a:rPr lang="en-US" sz="1300" dirty="0" smtClean="0">
                <a:cs typeface="Arial" charset="0"/>
              </a:rPr>
              <a:t> de los </a:t>
            </a:r>
            <a:r>
              <a:rPr lang="en-US" sz="1300" dirty="0" err="1" smtClean="0">
                <a:cs typeface="Arial" charset="0"/>
              </a:rPr>
              <a:t>activos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mas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valiosos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para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las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organizaciones</a:t>
            </a:r>
            <a:r>
              <a:rPr lang="en-US" sz="1600" dirty="0" smtClean="0">
                <a:cs typeface="Arial" charset="0"/>
              </a:rPr>
              <a:t> </a:t>
            </a:r>
            <a:endParaRPr lang="en-US" sz="1600" i="0" dirty="0">
              <a:cs typeface="Arial" charset="0"/>
            </a:endParaRPr>
          </a:p>
        </p:txBody>
      </p:sp>
      <p:grpSp>
        <p:nvGrpSpPr>
          <p:cNvPr id="27" name="Group 88"/>
          <p:cNvGrpSpPr>
            <a:grpSpLocks/>
          </p:cNvGrpSpPr>
          <p:nvPr/>
        </p:nvGrpSpPr>
        <p:grpSpPr bwMode="auto">
          <a:xfrm>
            <a:off x="2730500" y="4595813"/>
            <a:ext cx="1808163" cy="312737"/>
            <a:chOff x="406" y="980"/>
            <a:chExt cx="2330" cy="294"/>
          </a:xfrm>
        </p:grpSpPr>
        <p:sp>
          <p:nvSpPr>
            <p:cNvPr id="28" name="AutoShape 89"/>
            <p:cNvSpPr>
              <a:spLocks noChangeArrowheads="1"/>
            </p:cNvSpPr>
            <p:nvPr/>
          </p:nvSpPr>
          <p:spPr bwMode="gray">
            <a:xfrm>
              <a:off x="406" y="980"/>
              <a:ext cx="2330" cy="29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68A1C"/>
                </a:gs>
                <a:gs pos="50000">
                  <a:srgbClr val="B68A1C">
                    <a:gamma/>
                    <a:tint val="72941"/>
                    <a:invGamma/>
                  </a:srgbClr>
                </a:gs>
                <a:gs pos="100000">
                  <a:srgbClr val="B68A1C"/>
                </a:gs>
              </a:gsLst>
              <a:lin ang="0" scaled="1"/>
            </a:gradFill>
            <a:ln w="12700">
              <a:noFill/>
              <a:round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29" name="AutoShape 90"/>
            <p:cNvSpPr>
              <a:spLocks noChangeArrowheads="1"/>
            </p:cNvSpPr>
            <p:nvPr/>
          </p:nvSpPr>
          <p:spPr bwMode="gray">
            <a:xfrm flipH="1">
              <a:off x="2620" y="1005"/>
              <a:ext cx="104" cy="246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30" name="AutoShape 91"/>
            <p:cNvSpPr>
              <a:spLocks noChangeArrowheads="1"/>
            </p:cNvSpPr>
            <p:nvPr/>
          </p:nvSpPr>
          <p:spPr bwMode="gray">
            <a:xfrm>
              <a:off x="420" y="1006"/>
              <a:ext cx="104" cy="242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</p:grpSp>
      <p:sp>
        <p:nvSpPr>
          <p:cNvPr id="31" name="Text Box 18"/>
          <p:cNvSpPr txBox="1">
            <a:spLocks noChangeArrowheads="1"/>
          </p:cNvSpPr>
          <p:nvPr/>
        </p:nvSpPr>
        <p:spPr bwMode="white">
          <a:xfrm>
            <a:off x="2571736" y="4643446"/>
            <a:ext cx="2000264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RECURSOS NUMEROSOS</a:t>
            </a:r>
            <a:endParaRPr lang="en-US" sz="1100" b="1" i="0" dirty="0">
              <a:solidFill>
                <a:srgbClr val="FFFFFF"/>
              </a:solidFill>
              <a:latin typeface="Calibri" pitchFamily="34" charset="0"/>
              <a:cs typeface="Arial" charset="0"/>
            </a:endParaRPr>
          </a:p>
        </p:txBody>
      </p:sp>
      <p:grpSp>
        <p:nvGrpSpPr>
          <p:cNvPr id="32" name="Group 93"/>
          <p:cNvGrpSpPr>
            <a:grpSpLocks/>
          </p:cNvGrpSpPr>
          <p:nvPr/>
        </p:nvGrpSpPr>
        <p:grpSpPr bwMode="auto">
          <a:xfrm>
            <a:off x="4760912" y="3714753"/>
            <a:ext cx="2097103" cy="382586"/>
            <a:chOff x="406" y="980"/>
            <a:chExt cx="2330" cy="294"/>
          </a:xfrm>
        </p:grpSpPr>
        <p:sp>
          <p:nvSpPr>
            <p:cNvPr id="33" name="AutoShape 94"/>
            <p:cNvSpPr>
              <a:spLocks noChangeArrowheads="1"/>
            </p:cNvSpPr>
            <p:nvPr/>
          </p:nvSpPr>
          <p:spPr bwMode="gray">
            <a:xfrm>
              <a:off x="406" y="980"/>
              <a:ext cx="2330" cy="29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68A1C"/>
                </a:gs>
                <a:gs pos="50000">
                  <a:srgbClr val="B68A1C">
                    <a:gamma/>
                    <a:tint val="72941"/>
                    <a:invGamma/>
                  </a:srgbClr>
                </a:gs>
                <a:gs pos="100000">
                  <a:srgbClr val="B68A1C"/>
                </a:gs>
              </a:gsLst>
              <a:lin ang="0" scaled="1"/>
            </a:gradFill>
            <a:ln w="12700">
              <a:noFill/>
              <a:round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es-BO" sz="1100" dirty="0" smtClean="0"/>
                <a:t>GRAN NÚMERO </a:t>
              </a:r>
            </a:p>
            <a:p>
              <a:r>
                <a:rPr lang="es-BO" sz="1100" dirty="0" smtClean="0"/>
                <a:t>DE ORGANIZACIONES</a:t>
              </a:r>
              <a:endParaRPr lang="es-BO" sz="1100" dirty="0"/>
            </a:p>
          </p:txBody>
        </p:sp>
        <p:sp>
          <p:nvSpPr>
            <p:cNvPr id="34" name="AutoShape 95"/>
            <p:cNvSpPr>
              <a:spLocks noChangeArrowheads="1"/>
            </p:cNvSpPr>
            <p:nvPr/>
          </p:nvSpPr>
          <p:spPr bwMode="gray">
            <a:xfrm flipH="1">
              <a:off x="2620" y="1005"/>
              <a:ext cx="104" cy="246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35" name="AutoShape 96"/>
            <p:cNvSpPr>
              <a:spLocks noChangeArrowheads="1"/>
            </p:cNvSpPr>
            <p:nvPr/>
          </p:nvSpPr>
          <p:spPr bwMode="gray">
            <a:xfrm>
              <a:off x="420" y="1006"/>
              <a:ext cx="104" cy="242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</p:grpSp>
      <p:grpSp>
        <p:nvGrpSpPr>
          <p:cNvPr id="37" name="Group 98"/>
          <p:cNvGrpSpPr>
            <a:grpSpLocks/>
          </p:cNvGrpSpPr>
          <p:nvPr/>
        </p:nvGrpSpPr>
        <p:grpSpPr bwMode="auto">
          <a:xfrm>
            <a:off x="6878638" y="2992438"/>
            <a:ext cx="1808162" cy="314325"/>
            <a:chOff x="406" y="980"/>
            <a:chExt cx="2330" cy="294"/>
          </a:xfrm>
        </p:grpSpPr>
        <p:sp>
          <p:nvSpPr>
            <p:cNvPr id="38" name="AutoShape 99"/>
            <p:cNvSpPr>
              <a:spLocks noChangeArrowheads="1"/>
            </p:cNvSpPr>
            <p:nvPr/>
          </p:nvSpPr>
          <p:spPr bwMode="gray">
            <a:xfrm>
              <a:off x="406" y="980"/>
              <a:ext cx="2330" cy="29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68A1C"/>
                </a:gs>
                <a:gs pos="50000">
                  <a:srgbClr val="B68A1C">
                    <a:gamma/>
                    <a:tint val="72941"/>
                    <a:invGamma/>
                  </a:srgbClr>
                </a:gs>
                <a:gs pos="100000">
                  <a:srgbClr val="B68A1C"/>
                </a:gs>
              </a:gsLst>
              <a:lin ang="0" scaled="1"/>
            </a:gradFill>
            <a:ln w="12700">
              <a:noFill/>
              <a:round/>
              <a:headEnd/>
              <a:tailEnd/>
            </a:ln>
            <a:effectLst>
              <a:outerShdw dist="35921" dir="2700000" algn="ctr" rotWithShape="0">
                <a:srgbClr val="080808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39" name="AutoShape 100"/>
            <p:cNvSpPr>
              <a:spLocks noChangeArrowheads="1"/>
            </p:cNvSpPr>
            <p:nvPr/>
          </p:nvSpPr>
          <p:spPr bwMode="gray">
            <a:xfrm flipH="1">
              <a:off x="2620" y="1005"/>
              <a:ext cx="104" cy="246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40" name="AutoShape 101"/>
            <p:cNvSpPr>
              <a:spLocks noChangeArrowheads="1"/>
            </p:cNvSpPr>
            <p:nvPr/>
          </p:nvSpPr>
          <p:spPr bwMode="gray">
            <a:xfrm>
              <a:off x="420" y="1006"/>
              <a:ext cx="104" cy="242"/>
            </a:xfrm>
            <a:prstGeom prst="moon">
              <a:avLst>
                <a:gd name="adj" fmla="val 22032"/>
              </a:avLst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  <a:alpha val="0"/>
                  </a:srgbClr>
                </a:gs>
                <a:gs pos="50000">
                  <a:srgbClr val="FFFFFF">
                    <a:alpha val="84000"/>
                  </a:srgbClr>
                </a:gs>
                <a:gs pos="100000">
                  <a:srgbClr val="FFFFFF">
                    <a:gamma/>
                    <a:shade val="46275"/>
                    <a:invGamma/>
                    <a:alpha val="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</p:grpSp>
      <p:sp>
        <p:nvSpPr>
          <p:cNvPr id="41" name="Text Box 18"/>
          <p:cNvSpPr txBox="1">
            <a:spLocks noChangeArrowheads="1"/>
          </p:cNvSpPr>
          <p:nvPr/>
        </p:nvSpPr>
        <p:spPr bwMode="white">
          <a:xfrm>
            <a:off x="7072330" y="3000372"/>
            <a:ext cx="1316037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ACTUALIDAD</a:t>
            </a:r>
            <a:endParaRPr lang="en-US" sz="1100" b="1" i="0" dirty="0">
              <a:solidFill>
                <a:srgbClr val="FFFFFF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42" name="Rectangle 85"/>
          <p:cNvSpPr>
            <a:spLocks noChangeArrowheads="1"/>
          </p:cNvSpPr>
          <p:nvPr/>
        </p:nvSpPr>
        <p:spPr bwMode="black">
          <a:xfrm>
            <a:off x="571472" y="5715016"/>
            <a:ext cx="1770062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300" dirty="0" err="1" smtClean="0">
                <a:cs typeface="Arial" charset="0"/>
              </a:rPr>
              <a:t>Puede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sufrir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fallas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si</a:t>
            </a:r>
            <a:r>
              <a:rPr lang="en-US" sz="1300" dirty="0" smtClean="0">
                <a:cs typeface="Arial" charset="0"/>
              </a:rPr>
              <a:t> no  </a:t>
            </a:r>
            <a:r>
              <a:rPr lang="en-US" sz="1300" dirty="0" err="1" smtClean="0">
                <a:cs typeface="Arial" charset="0"/>
              </a:rPr>
              <a:t>es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probado</a:t>
            </a:r>
            <a:r>
              <a:rPr lang="en-US" sz="1300" dirty="0" smtClean="0">
                <a:cs typeface="Arial" charset="0"/>
              </a:rPr>
              <a:t> antes de la </a:t>
            </a:r>
            <a:r>
              <a:rPr lang="en-US" sz="1300" dirty="0" err="1" smtClean="0">
                <a:cs typeface="Arial" charset="0"/>
              </a:rPr>
              <a:t>implantación</a:t>
            </a:r>
            <a:endParaRPr lang="en-US" sz="1300" i="0" dirty="0">
              <a:cs typeface="Arial" charset="0"/>
            </a:endParaRPr>
          </a:p>
        </p:txBody>
      </p:sp>
      <p:sp>
        <p:nvSpPr>
          <p:cNvPr id="45" name="Rectangle 85"/>
          <p:cNvSpPr>
            <a:spLocks noChangeArrowheads="1"/>
          </p:cNvSpPr>
          <p:nvPr/>
        </p:nvSpPr>
        <p:spPr bwMode="black">
          <a:xfrm>
            <a:off x="2792413" y="5041900"/>
            <a:ext cx="1770062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300" dirty="0" smtClean="0">
                <a:cs typeface="Arial" charset="0"/>
              </a:rPr>
              <a:t>Para </a:t>
            </a:r>
            <a:r>
              <a:rPr lang="en-US" sz="1300" dirty="0" err="1" smtClean="0">
                <a:cs typeface="Arial" charset="0"/>
              </a:rPr>
              <a:t>llevar</a:t>
            </a:r>
            <a:r>
              <a:rPr lang="en-US" sz="1300" dirty="0" smtClean="0">
                <a:cs typeface="Arial" charset="0"/>
              </a:rPr>
              <a:t> a </a:t>
            </a:r>
            <a:r>
              <a:rPr lang="en-US" sz="1300" dirty="0" err="1" smtClean="0">
                <a:cs typeface="Arial" charset="0"/>
              </a:rPr>
              <a:t>cabo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pruebas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detalladas</a:t>
            </a:r>
            <a:r>
              <a:rPr lang="en-US" sz="1300" dirty="0" smtClean="0">
                <a:cs typeface="Arial" charset="0"/>
              </a:rPr>
              <a:t> (</a:t>
            </a:r>
            <a:r>
              <a:rPr lang="en-US" sz="1300" dirty="0" err="1" smtClean="0">
                <a:cs typeface="Arial" charset="0"/>
              </a:rPr>
              <a:t>otras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organizaciones</a:t>
            </a:r>
            <a:r>
              <a:rPr lang="en-US" sz="1300" dirty="0" smtClean="0">
                <a:cs typeface="Arial" charset="0"/>
              </a:rPr>
              <a:t>, </a:t>
            </a:r>
            <a:r>
              <a:rPr lang="en-US" sz="1300" dirty="0" err="1" smtClean="0">
                <a:cs typeface="Arial" charset="0"/>
              </a:rPr>
              <a:t>ambientes</a:t>
            </a:r>
            <a:r>
              <a:rPr lang="en-US" sz="1300" dirty="0" smtClean="0">
                <a:cs typeface="Arial" charset="0"/>
              </a:rPr>
              <a:t> </a:t>
            </a:r>
            <a:r>
              <a:rPr lang="en-US" sz="1300" dirty="0" err="1" smtClean="0">
                <a:cs typeface="Arial" charset="0"/>
              </a:rPr>
              <a:t>adecuados</a:t>
            </a:r>
            <a:r>
              <a:rPr lang="en-US" sz="1300" dirty="0" smtClean="0">
                <a:cs typeface="Arial" charset="0"/>
              </a:rPr>
              <a:t>, </a:t>
            </a:r>
            <a:r>
              <a:rPr lang="en-US" sz="1300" dirty="0" err="1" smtClean="0">
                <a:cs typeface="Arial" charset="0"/>
              </a:rPr>
              <a:t>tiempo</a:t>
            </a:r>
            <a:r>
              <a:rPr lang="en-US" sz="1300" dirty="0" smtClean="0">
                <a:cs typeface="Arial" charset="0"/>
              </a:rPr>
              <a:t> considerable)</a:t>
            </a:r>
            <a:endParaRPr lang="en-US" sz="1300" i="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  <p:bldP spid="41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97" name="Rectangle 29"/>
          <p:cNvSpPr>
            <a:spLocks noGrp="1" noRot="1" noChangeArrowheads="1"/>
          </p:cNvSpPr>
          <p:nvPr>
            <p:ph type="title"/>
          </p:nvPr>
        </p:nvSpPr>
        <p:spPr>
          <a:xfrm>
            <a:off x="2679037" y="235063"/>
            <a:ext cx="3569363" cy="80000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ANTECEDENTES</a:t>
            </a:r>
            <a:endParaRPr lang="en-US" sz="3600" dirty="0"/>
          </a:p>
        </p:txBody>
      </p:sp>
      <p:sp>
        <p:nvSpPr>
          <p:cNvPr id="17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6248400" y="6451600"/>
            <a:ext cx="2895600" cy="273050"/>
          </a:xfrm>
        </p:spPr>
        <p:txBody>
          <a:bodyPr/>
          <a:lstStyle/>
          <a:p>
            <a:r>
              <a:rPr lang="en-US"/>
              <a:t>www.themegallery.com</a:t>
            </a:r>
          </a:p>
        </p:txBody>
      </p:sp>
      <p:grpSp>
        <p:nvGrpSpPr>
          <p:cNvPr id="177" name="Group 4"/>
          <p:cNvGrpSpPr>
            <a:grpSpLocks/>
          </p:cNvGrpSpPr>
          <p:nvPr/>
        </p:nvGrpSpPr>
        <p:grpSpPr bwMode="auto">
          <a:xfrm>
            <a:off x="214282" y="2000240"/>
            <a:ext cx="2095500" cy="2681288"/>
            <a:chOff x="1922" y="1614"/>
            <a:chExt cx="1320" cy="1689"/>
          </a:xfrm>
        </p:grpSpPr>
        <p:sp>
          <p:nvSpPr>
            <p:cNvPr id="178" name="Freeform 5"/>
            <p:cNvSpPr>
              <a:spLocks/>
            </p:cNvSpPr>
            <p:nvPr/>
          </p:nvSpPr>
          <p:spPr bwMode="gray">
            <a:xfrm>
              <a:off x="1922" y="1875"/>
              <a:ext cx="654" cy="1428"/>
            </a:xfrm>
            <a:custGeom>
              <a:avLst/>
              <a:gdLst>
                <a:gd name="T0" fmla="*/ 1 w 654"/>
                <a:gd name="T1" fmla="*/ 0 h 1428"/>
                <a:gd name="T2" fmla="*/ 117 w 654"/>
                <a:gd name="T3" fmla="*/ 110 h 1428"/>
                <a:gd name="T4" fmla="*/ 117 w 654"/>
                <a:gd name="T5" fmla="*/ 1026 h 1428"/>
                <a:gd name="T6" fmla="*/ 649 w 654"/>
                <a:gd name="T7" fmla="*/ 1241 h 1428"/>
                <a:gd name="T8" fmla="*/ 654 w 654"/>
                <a:gd name="T9" fmla="*/ 1428 h 1428"/>
                <a:gd name="T10" fmla="*/ 0 w 654"/>
                <a:gd name="T11" fmla="*/ 1128 h 1428"/>
                <a:gd name="T12" fmla="*/ 1 w 654"/>
                <a:gd name="T13" fmla="*/ 0 h 14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4"/>
                <a:gd name="T22" fmla="*/ 0 h 1428"/>
                <a:gd name="T23" fmla="*/ 654 w 654"/>
                <a:gd name="T24" fmla="*/ 1428 h 14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4" h="1428">
                  <a:moveTo>
                    <a:pt x="1" y="0"/>
                  </a:moveTo>
                  <a:lnTo>
                    <a:pt x="117" y="110"/>
                  </a:lnTo>
                  <a:lnTo>
                    <a:pt x="117" y="1026"/>
                  </a:lnTo>
                  <a:lnTo>
                    <a:pt x="649" y="1241"/>
                  </a:lnTo>
                  <a:lnTo>
                    <a:pt x="654" y="1428"/>
                  </a:lnTo>
                  <a:lnTo>
                    <a:pt x="0" y="11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BC63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  <a:cs typeface="Arial" charset="0"/>
              </a:endParaRPr>
            </a:p>
          </p:txBody>
        </p:sp>
        <p:sp>
          <p:nvSpPr>
            <p:cNvPr id="179" name="Freeform 6"/>
            <p:cNvSpPr>
              <a:spLocks/>
            </p:cNvSpPr>
            <p:nvPr/>
          </p:nvSpPr>
          <p:spPr bwMode="gray">
            <a:xfrm>
              <a:off x="2571" y="1880"/>
              <a:ext cx="671" cy="1422"/>
            </a:xfrm>
            <a:custGeom>
              <a:avLst/>
              <a:gdLst>
                <a:gd name="T0" fmla="*/ 654 w 671"/>
                <a:gd name="T1" fmla="*/ 0 h 1422"/>
                <a:gd name="T2" fmla="*/ 516 w 671"/>
                <a:gd name="T3" fmla="*/ 111 h 1422"/>
                <a:gd name="T4" fmla="*/ 519 w 671"/>
                <a:gd name="T5" fmla="*/ 1008 h 1422"/>
                <a:gd name="T6" fmla="*/ 0 w 671"/>
                <a:gd name="T7" fmla="*/ 1237 h 1422"/>
                <a:gd name="T8" fmla="*/ 2 w 671"/>
                <a:gd name="T9" fmla="*/ 1422 h 1422"/>
                <a:gd name="T10" fmla="*/ 671 w 671"/>
                <a:gd name="T11" fmla="*/ 1114 h 1422"/>
                <a:gd name="T12" fmla="*/ 654 w 671"/>
                <a:gd name="T13" fmla="*/ 0 h 14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1"/>
                <a:gd name="T22" fmla="*/ 0 h 1422"/>
                <a:gd name="T23" fmla="*/ 671 w 671"/>
                <a:gd name="T24" fmla="*/ 1422 h 14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1" h="1422">
                  <a:moveTo>
                    <a:pt x="654" y="0"/>
                  </a:moveTo>
                  <a:lnTo>
                    <a:pt x="516" y="111"/>
                  </a:lnTo>
                  <a:lnTo>
                    <a:pt x="519" y="1008"/>
                  </a:lnTo>
                  <a:lnTo>
                    <a:pt x="0" y="1237"/>
                  </a:lnTo>
                  <a:lnTo>
                    <a:pt x="2" y="1422"/>
                  </a:lnTo>
                  <a:lnTo>
                    <a:pt x="671" y="1114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FBE2A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  <a:cs typeface="Arial" charset="0"/>
              </a:endParaRPr>
            </a:p>
          </p:txBody>
        </p:sp>
        <p:sp>
          <p:nvSpPr>
            <p:cNvPr id="180" name="Freeform 7"/>
            <p:cNvSpPr>
              <a:spLocks/>
            </p:cNvSpPr>
            <p:nvPr/>
          </p:nvSpPr>
          <p:spPr bwMode="gray">
            <a:xfrm>
              <a:off x="1923" y="1614"/>
              <a:ext cx="1304" cy="377"/>
            </a:xfrm>
            <a:custGeom>
              <a:avLst/>
              <a:gdLst>
                <a:gd name="T0" fmla="*/ 0 w 1304"/>
                <a:gd name="T1" fmla="*/ 261 h 377"/>
                <a:gd name="T2" fmla="*/ 117 w 1304"/>
                <a:gd name="T3" fmla="*/ 374 h 377"/>
                <a:gd name="T4" fmla="*/ 638 w 1304"/>
                <a:gd name="T5" fmla="*/ 155 h 377"/>
                <a:gd name="T6" fmla="*/ 1164 w 1304"/>
                <a:gd name="T7" fmla="*/ 377 h 377"/>
                <a:gd name="T8" fmla="*/ 1304 w 1304"/>
                <a:gd name="T9" fmla="*/ 266 h 377"/>
                <a:gd name="T10" fmla="*/ 633 w 1304"/>
                <a:gd name="T11" fmla="*/ 0 h 377"/>
                <a:gd name="T12" fmla="*/ 0 w 1304"/>
                <a:gd name="T13" fmla="*/ 261 h 3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4"/>
                <a:gd name="T22" fmla="*/ 0 h 377"/>
                <a:gd name="T23" fmla="*/ 1304 w 1304"/>
                <a:gd name="T24" fmla="*/ 377 h 3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4" h="377">
                  <a:moveTo>
                    <a:pt x="0" y="261"/>
                  </a:moveTo>
                  <a:lnTo>
                    <a:pt x="117" y="374"/>
                  </a:lnTo>
                  <a:lnTo>
                    <a:pt x="638" y="155"/>
                  </a:lnTo>
                  <a:lnTo>
                    <a:pt x="1164" y="377"/>
                  </a:lnTo>
                  <a:lnTo>
                    <a:pt x="1304" y="266"/>
                  </a:lnTo>
                  <a:lnTo>
                    <a:pt x="633" y="0"/>
                  </a:lnTo>
                  <a:lnTo>
                    <a:pt x="0" y="261"/>
                  </a:lnTo>
                  <a:close/>
                </a:path>
              </a:pathLst>
            </a:custGeom>
            <a:solidFill>
              <a:srgbClr val="FEFBD6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  <a:cs typeface="Arial" charset="0"/>
              </a:endParaRPr>
            </a:p>
          </p:txBody>
        </p:sp>
        <p:sp>
          <p:nvSpPr>
            <p:cNvPr id="181" name="Freeform 8"/>
            <p:cNvSpPr>
              <a:spLocks/>
            </p:cNvSpPr>
            <p:nvPr/>
          </p:nvSpPr>
          <p:spPr bwMode="gray">
            <a:xfrm>
              <a:off x="2037" y="1768"/>
              <a:ext cx="529" cy="1133"/>
            </a:xfrm>
            <a:custGeom>
              <a:avLst/>
              <a:gdLst>
                <a:gd name="T0" fmla="*/ 2 w 529"/>
                <a:gd name="T1" fmla="*/ 218 h 1133"/>
                <a:gd name="T2" fmla="*/ 0 w 529"/>
                <a:gd name="T3" fmla="*/ 1133 h 1133"/>
                <a:gd name="T4" fmla="*/ 529 w 529"/>
                <a:gd name="T5" fmla="*/ 878 h 1133"/>
                <a:gd name="T6" fmla="*/ 524 w 529"/>
                <a:gd name="T7" fmla="*/ 0 h 1133"/>
                <a:gd name="T8" fmla="*/ 2 w 529"/>
                <a:gd name="T9" fmla="*/ 218 h 1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133"/>
                <a:gd name="T17" fmla="*/ 529 w 529"/>
                <a:gd name="T18" fmla="*/ 1133 h 11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133">
                  <a:moveTo>
                    <a:pt x="2" y="218"/>
                  </a:moveTo>
                  <a:lnTo>
                    <a:pt x="0" y="1133"/>
                  </a:lnTo>
                  <a:lnTo>
                    <a:pt x="529" y="878"/>
                  </a:lnTo>
                  <a:lnTo>
                    <a:pt x="524" y="0"/>
                  </a:lnTo>
                  <a:lnTo>
                    <a:pt x="2" y="218"/>
                  </a:lnTo>
                  <a:close/>
                </a:path>
              </a:pathLst>
            </a:custGeom>
            <a:solidFill>
              <a:srgbClr val="FDEBBD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  <a:cs typeface="Arial" charset="0"/>
              </a:endParaRPr>
            </a:p>
          </p:txBody>
        </p:sp>
        <p:sp>
          <p:nvSpPr>
            <p:cNvPr id="182" name="Freeform 9"/>
            <p:cNvSpPr>
              <a:spLocks/>
            </p:cNvSpPr>
            <p:nvPr/>
          </p:nvSpPr>
          <p:spPr bwMode="gray">
            <a:xfrm>
              <a:off x="2562" y="1769"/>
              <a:ext cx="528" cy="1123"/>
            </a:xfrm>
            <a:custGeom>
              <a:avLst/>
              <a:gdLst>
                <a:gd name="T0" fmla="*/ 527 w 528"/>
                <a:gd name="T1" fmla="*/ 222 h 1123"/>
                <a:gd name="T2" fmla="*/ 528 w 528"/>
                <a:gd name="T3" fmla="*/ 1123 h 1123"/>
                <a:gd name="T4" fmla="*/ 0 w 528"/>
                <a:gd name="T5" fmla="*/ 879 h 1123"/>
                <a:gd name="T6" fmla="*/ 0 w 528"/>
                <a:gd name="T7" fmla="*/ 0 h 1123"/>
                <a:gd name="T8" fmla="*/ 527 w 528"/>
                <a:gd name="T9" fmla="*/ 222 h 1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123"/>
                <a:gd name="T17" fmla="*/ 528 w 528"/>
                <a:gd name="T18" fmla="*/ 1123 h 11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123">
                  <a:moveTo>
                    <a:pt x="527" y="222"/>
                  </a:moveTo>
                  <a:lnTo>
                    <a:pt x="528" y="1123"/>
                  </a:lnTo>
                  <a:lnTo>
                    <a:pt x="0" y="879"/>
                  </a:lnTo>
                  <a:lnTo>
                    <a:pt x="0" y="0"/>
                  </a:lnTo>
                  <a:lnTo>
                    <a:pt x="527" y="222"/>
                  </a:lnTo>
                  <a:close/>
                </a:path>
              </a:pathLst>
            </a:custGeom>
            <a:solidFill>
              <a:srgbClr val="FBC63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  <a:cs typeface="Arial" charset="0"/>
              </a:endParaRPr>
            </a:p>
          </p:txBody>
        </p:sp>
        <p:sp>
          <p:nvSpPr>
            <p:cNvPr id="183" name="Freeform 10"/>
            <p:cNvSpPr>
              <a:spLocks/>
            </p:cNvSpPr>
            <p:nvPr/>
          </p:nvSpPr>
          <p:spPr bwMode="gray">
            <a:xfrm>
              <a:off x="2034" y="2648"/>
              <a:ext cx="1061" cy="469"/>
            </a:xfrm>
            <a:custGeom>
              <a:avLst/>
              <a:gdLst>
                <a:gd name="T0" fmla="*/ 527 w 1061"/>
                <a:gd name="T1" fmla="*/ 0 h 469"/>
                <a:gd name="T2" fmla="*/ 0 w 1061"/>
                <a:gd name="T3" fmla="*/ 252 h 469"/>
                <a:gd name="T4" fmla="*/ 537 w 1061"/>
                <a:gd name="T5" fmla="*/ 469 h 469"/>
                <a:gd name="T6" fmla="*/ 1061 w 1061"/>
                <a:gd name="T7" fmla="*/ 241 h 469"/>
                <a:gd name="T8" fmla="*/ 527 w 1061"/>
                <a:gd name="T9" fmla="*/ 0 h 4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1"/>
                <a:gd name="T16" fmla="*/ 0 h 469"/>
                <a:gd name="T17" fmla="*/ 1061 w 1061"/>
                <a:gd name="T18" fmla="*/ 469 h 4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1" h="469">
                  <a:moveTo>
                    <a:pt x="527" y="0"/>
                  </a:moveTo>
                  <a:lnTo>
                    <a:pt x="0" y="252"/>
                  </a:lnTo>
                  <a:lnTo>
                    <a:pt x="537" y="469"/>
                  </a:lnTo>
                  <a:lnTo>
                    <a:pt x="1061" y="241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FEEBB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s-BO">
                <a:latin typeface="Arial" charset="0"/>
                <a:cs typeface="Arial" charset="0"/>
              </a:endParaRPr>
            </a:p>
          </p:txBody>
        </p:sp>
      </p:grpSp>
      <p:sp>
        <p:nvSpPr>
          <p:cNvPr id="184" name="Line 11"/>
          <p:cNvSpPr>
            <a:spLocks noChangeShapeType="1"/>
          </p:cNvSpPr>
          <p:nvPr/>
        </p:nvSpPr>
        <p:spPr bwMode="auto">
          <a:xfrm flipV="1">
            <a:off x="2315506" y="1055441"/>
            <a:ext cx="1422400" cy="1387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BO"/>
          </a:p>
        </p:txBody>
      </p:sp>
      <p:sp>
        <p:nvSpPr>
          <p:cNvPr id="185" name="Line 12"/>
          <p:cNvSpPr>
            <a:spLocks noChangeShapeType="1"/>
          </p:cNvSpPr>
          <p:nvPr/>
        </p:nvSpPr>
        <p:spPr bwMode="auto">
          <a:xfrm flipH="1" flipV="1">
            <a:off x="2285984" y="4143380"/>
            <a:ext cx="1422400" cy="1387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BO"/>
          </a:p>
        </p:txBody>
      </p:sp>
      <p:pic>
        <p:nvPicPr>
          <p:cNvPr id="188" name="Picture 15" descr="light_shadow"/>
          <p:cNvPicPr>
            <a:picLocks noChangeAspect="1" noChangeArrowheads="1"/>
          </p:cNvPicPr>
          <p:nvPr/>
        </p:nvPicPr>
        <p:blipFill>
          <a:blip r:embed="rId2">
            <a:lum bright="-78000" contrast="-78000"/>
          </a:blip>
          <a:srcRect/>
          <a:stretch>
            <a:fillRect/>
          </a:stretch>
        </p:blipFill>
        <p:spPr bwMode="gray">
          <a:xfrm>
            <a:off x="560359" y="3800469"/>
            <a:ext cx="121602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9" name="Picture 16" descr="circuler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gray">
          <a:xfrm>
            <a:off x="419072" y="2541581"/>
            <a:ext cx="1479550" cy="148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0" name="Oval 17"/>
          <p:cNvSpPr>
            <a:spLocks noChangeArrowheads="1"/>
          </p:cNvSpPr>
          <p:nvPr/>
        </p:nvSpPr>
        <p:spPr bwMode="gray">
          <a:xfrm>
            <a:off x="442879" y="2559040"/>
            <a:ext cx="1468439" cy="1484312"/>
          </a:xfrm>
          <a:prstGeom prst="ellipse">
            <a:avLst/>
          </a:prstGeom>
          <a:gradFill rotWithShape="1">
            <a:gsLst>
              <a:gs pos="0">
                <a:srgbClr val="004B66">
                  <a:alpha val="89999"/>
                </a:srgbClr>
              </a:gs>
              <a:gs pos="50000">
                <a:srgbClr val="6AC1FC">
                  <a:alpha val="55000"/>
                </a:srgbClr>
              </a:gs>
              <a:gs pos="100000">
                <a:srgbClr val="004B66">
                  <a:alpha val="89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91" name="Freeform 18"/>
          <p:cNvSpPr>
            <a:spLocks/>
          </p:cNvSpPr>
          <p:nvPr/>
        </p:nvSpPr>
        <p:spPr bwMode="ltGray">
          <a:xfrm>
            <a:off x="571472" y="2571744"/>
            <a:ext cx="1154112" cy="514350"/>
          </a:xfrm>
          <a:custGeom>
            <a:avLst/>
            <a:gdLst>
              <a:gd name="T0" fmla="*/ 1136640 w 1321"/>
              <a:gd name="T1" fmla="*/ 289683 h 712"/>
              <a:gd name="T2" fmla="*/ 1150618 w 1321"/>
              <a:gd name="T3" fmla="*/ 319302 h 712"/>
              <a:gd name="T4" fmla="*/ 1154113 w 1321"/>
              <a:gd name="T5" fmla="*/ 347475 h 712"/>
              <a:gd name="T6" fmla="*/ 1148871 w 1321"/>
              <a:gd name="T7" fmla="*/ 372759 h 712"/>
              <a:gd name="T8" fmla="*/ 1134019 w 1321"/>
              <a:gd name="T9" fmla="*/ 397321 h 712"/>
              <a:gd name="T10" fmla="*/ 1111303 w 1321"/>
              <a:gd name="T11" fmla="*/ 418271 h 712"/>
              <a:gd name="T12" fmla="*/ 1082472 w 1321"/>
              <a:gd name="T13" fmla="*/ 436331 h 712"/>
              <a:gd name="T14" fmla="*/ 1044905 w 1321"/>
              <a:gd name="T15" fmla="*/ 453668 h 712"/>
              <a:gd name="T16" fmla="*/ 1002095 w 1321"/>
              <a:gd name="T17" fmla="*/ 468839 h 712"/>
              <a:gd name="T18" fmla="*/ 954044 w 1321"/>
              <a:gd name="T19" fmla="*/ 481842 h 712"/>
              <a:gd name="T20" fmla="*/ 900750 w 1321"/>
              <a:gd name="T21" fmla="*/ 493400 h 712"/>
              <a:gd name="T22" fmla="*/ 844835 w 1321"/>
              <a:gd name="T23" fmla="*/ 501347 h 712"/>
              <a:gd name="T24" fmla="*/ 782805 w 1321"/>
              <a:gd name="T25" fmla="*/ 508571 h 712"/>
              <a:gd name="T26" fmla="*/ 719901 w 1321"/>
              <a:gd name="T27" fmla="*/ 512905 h 712"/>
              <a:gd name="T28" fmla="*/ 694565 w 1321"/>
              <a:gd name="T29" fmla="*/ 514350 h 712"/>
              <a:gd name="T30" fmla="*/ 415865 w 1321"/>
              <a:gd name="T31" fmla="*/ 514350 h 712"/>
              <a:gd name="T32" fmla="*/ 412370 w 1321"/>
              <a:gd name="T33" fmla="*/ 514350 h 712"/>
              <a:gd name="T34" fmla="*/ 357329 w 1321"/>
              <a:gd name="T35" fmla="*/ 511460 h 712"/>
              <a:gd name="T36" fmla="*/ 304036 w 1321"/>
              <a:gd name="T37" fmla="*/ 508571 h 712"/>
              <a:gd name="T38" fmla="*/ 253363 w 1321"/>
              <a:gd name="T39" fmla="*/ 502792 h 712"/>
              <a:gd name="T40" fmla="*/ 205312 w 1321"/>
              <a:gd name="T41" fmla="*/ 497735 h 712"/>
              <a:gd name="T42" fmla="*/ 162502 w 1321"/>
              <a:gd name="T43" fmla="*/ 489066 h 712"/>
              <a:gd name="T44" fmla="*/ 123187 w 1321"/>
              <a:gd name="T45" fmla="*/ 478952 h 712"/>
              <a:gd name="T46" fmla="*/ 89114 w 1321"/>
              <a:gd name="T47" fmla="*/ 468116 h 712"/>
              <a:gd name="T48" fmla="*/ 58536 w 1321"/>
              <a:gd name="T49" fmla="*/ 455113 h 712"/>
              <a:gd name="T50" fmla="*/ 34073 w 1321"/>
              <a:gd name="T51" fmla="*/ 439220 h 712"/>
              <a:gd name="T52" fmla="*/ 15726 w 1321"/>
              <a:gd name="T53" fmla="*/ 421160 h 712"/>
              <a:gd name="T54" fmla="*/ 5242 w 1321"/>
              <a:gd name="T55" fmla="*/ 400211 h 712"/>
              <a:gd name="T56" fmla="*/ 0 w 1321"/>
              <a:gd name="T57" fmla="*/ 378539 h 712"/>
              <a:gd name="T58" fmla="*/ 0 w 1321"/>
              <a:gd name="T59" fmla="*/ 375649 h 712"/>
              <a:gd name="T60" fmla="*/ 3495 w 1321"/>
              <a:gd name="T61" fmla="*/ 351810 h 712"/>
              <a:gd name="T62" fmla="*/ 13979 w 1321"/>
              <a:gd name="T63" fmla="*/ 322191 h 712"/>
              <a:gd name="T64" fmla="*/ 44557 w 1321"/>
              <a:gd name="T65" fmla="*/ 267289 h 712"/>
              <a:gd name="T66" fmla="*/ 82125 w 1321"/>
              <a:gd name="T67" fmla="*/ 215998 h 712"/>
              <a:gd name="T68" fmla="*/ 128429 w 1321"/>
              <a:gd name="T69" fmla="*/ 169764 h 712"/>
              <a:gd name="T70" fmla="*/ 178228 w 1321"/>
              <a:gd name="T71" fmla="*/ 127143 h 712"/>
              <a:gd name="T72" fmla="*/ 235890 w 1321"/>
              <a:gd name="T73" fmla="*/ 90300 h 712"/>
              <a:gd name="T74" fmla="*/ 297920 w 1321"/>
              <a:gd name="T75" fmla="*/ 59237 h 712"/>
              <a:gd name="T76" fmla="*/ 362571 w 1321"/>
              <a:gd name="T77" fmla="*/ 33953 h 712"/>
              <a:gd name="T78" fmla="*/ 434212 w 1321"/>
              <a:gd name="T79" fmla="*/ 15170 h 712"/>
              <a:gd name="T80" fmla="*/ 507600 w 1321"/>
              <a:gd name="T81" fmla="*/ 4334 h 712"/>
              <a:gd name="T82" fmla="*/ 582735 w 1321"/>
              <a:gd name="T83" fmla="*/ 0 h 712"/>
              <a:gd name="T84" fmla="*/ 582735 w 1321"/>
              <a:gd name="T85" fmla="*/ 0 h 712"/>
              <a:gd name="T86" fmla="*/ 663113 w 1321"/>
              <a:gd name="T87" fmla="*/ 4334 h 712"/>
              <a:gd name="T88" fmla="*/ 739995 w 1321"/>
              <a:gd name="T89" fmla="*/ 16615 h 712"/>
              <a:gd name="T90" fmla="*/ 814257 w 1321"/>
              <a:gd name="T91" fmla="*/ 38287 h 712"/>
              <a:gd name="T92" fmla="*/ 882403 w 1321"/>
              <a:gd name="T93" fmla="*/ 65016 h 712"/>
              <a:gd name="T94" fmla="*/ 945307 w 1321"/>
              <a:gd name="T95" fmla="*/ 98969 h 712"/>
              <a:gd name="T96" fmla="*/ 1003842 w 1321"/>
              <a:gd name="T97" fmla="*/ 140146 h 712"/>
              <a:gd name="T98" fmla="*/ 1055389 w 1321"/>
              <a:gd name="T99" fmla="*/ 184935 h 712"/>
              <a:gd name="T100" fmla="*/ 1099072 w 1321"/>
              <a:gd name="T101" fmla="*/ 234781 h 712"/>
              <a:gd name="T102" fmla="*/ 1136640 w 1321"/>
              <a:gd name="T103" fmla="*/ 289683 h 712"/>
              <a:gd name="T104" fmla="*/ 1136640 w 1321"/>
              <a:gd name="T105" fmla="*/ 289683 h 712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321"/>
              <a:gd name="T160" fmla="*/ 0 h 712"/>
              <a:gd name="T161" fmla="*/ 1321 w 1321"/>
              <a:gd name="T162" fmla="*/ 712 h 712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71B9DD"/>
              </a:gs>
            </a:gsLst>
            <a:lin ang="5400000" scaled="1"/>
          </a:gradFill>
          <a:ln w="0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s-BO">
              <a:latin typeface="Arial" charset="0"/>
              <a:cs typeface="Arial" charset="0"/>
            </a:endParaRPr>
          </a:p>
        </p:txBody>
      </p:sp>
      <p:sp>
        <p:nvSpPr>
          <p:cNvPr id="199" name="Text Box 29"/>
          <p:cNvSpPr txBox="1">
            <a:spLocks noChangeArrowheads="1"/>
          </p:cNvSpPr>
          <p:nvPr/>
        </p:nvSpPr>
        <p:spPr bwMode="auto">
          <a:xfrm>
            <a:off x="657193" y="3059106"/>
            <a:ext cx="109036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EMPRESAS </a:t>
            </a:r>
          </a:p>
          <a:p>
            <a:r>
              <a:rPr lang="en-US" sz="12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BOLVIANAS</a:t>
            </a:r>
            <a:endParaRPr lang="en-US" sz="1200" dirty="0">
              <a:latin typeface="Arial" charset="0"/>
              <a:cs typeface="Arial" charset="0"/>
            </a:endParaRPr>
          </a:p>
        </p:txBody>
      </p:sp>
      <p:sp>
        <p:nvSpPr>
          <p:cNvPr id="201" name="Rectangle 19"/>
          <p:cNvSpPr>
            <a:spLocks noChangeArrowheads="1"/>
          </p:cNvSpPr>
          <p:nvPr/>
        </p:nvSpPr>
        <p:spPr bwMode="gray">
          <a:xfrm>
            <a:off x="2500298" y="3000372"/>
            <a:ext cx="1428760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SzPct val="115000"/>
              <a:buFont typeface="Wingdings" pitchFamily="2" charset="2"/>
              <a:buNone/>
            </a:pPr>
            <a:r>
              <a:rPr lang="en-US" sz="1400" b="1" dirty="0" smtClean="0">
                <a:latin typeface="Arial" charset="0"/>
                <a:cs typeface="Arial" charset="0"/>
              </a:rPr>
              <a:t> </a:t>
            </a:r>
            <a:r>
              <a:rPr lang="en-US" sz="1400" b="1" dirty="0" err="1" smtClean="0">
                <a:latin typeface="Arial" charset="0"/>
                <a:cs typeface="Arial" charset="0"/>
              </a:rPr>
              <a:t>Desarrollo</a:t>
            </a:r>
            <a:r>
              <a:rPr lang="en-US" sz="1400" b="1" dirty="0" smtClean="0">
                <a:latin typeface="Arial" charset="0"/>
                <a:cs typeface="Arial" charset="0"/>
              </a:rPr>
              <a:t> </a:t>
            </a:r>
          </a:p>
          <a:p>
            <a:pPr>
              <a:buClr>
                <a:srgbClr val="FF3300"/>
              </a:buClr>
              <a:buSzPct val="115000"/>
              <a:buFont typeface="Wingdings" pitchFamily="2" charset="2"/>
              <a:buNone/>
            </a:pPr>
            <a:r>
              <a:rPr lang="en-US" sz="1400" b="1" dirty="0" smtClean="0">
                <a:latin typeface="Arial" charset="0"/>
                <a:cs typeface="Arial" charset="0"/>
              </a:rPr>
              <a:t>de </a:t>
            </a:r>
            <a:r>
              <a:rPr lang="en-US" sz="1400" b="1" dirty="0" err="1" smtClean="0">
                <a:latin typeface="Arial" charset="0"/>
                <a:cs typeface="Arial" charset="0"/>
              </a:rPr>
              <a:t>su</a:t>
            </a:r>
            <a:r>
              <a:rPr lang="en-US" sz="1400" b="1" dirty="0" smtClean="0">
                <a:latin typeface="Arial" charset="0"/>
                <a:cs typeface="Arial" charset="0"/>
              </a:rPr>
              <a:t> </a:t>
            </a:r>
            <a:r>
              <a:rPr lang="en-US" sz="1400" b="1" dirty="0" err="1" smtClean="0">
                <a:latin typeface="Arial" charset="0"/>
                <a:cs typeface="Arial" charset="0"/>
              </a:rPr>
              <a:t>propio</a:t>
            </a:r>
            <a:r>
              <a:rPr lang="en-US" sz="1400" b="1" dirty="0" smtClean="0">
                <a:latin typeface="Arial" charset="0"/>
                <a:cs typeface="Arial" charset="0"/>
              </a:rPr>
              <a:t> </a:t>
            </a:r>
          </a:p>
          <a:p>
            <a:pPr>
              <a:buClr>
                <a:srgbClr val="FF3300"/>
              </a:buClr>
              <a:buSzPct val="115000"/>
              <a:buFont typeface="Wingdings" pitchFamily="2" charset="2"/>
              <a:buNone/>
            </a:pPr>
            <a:r>
              <a:rPr lang="en-US" sz="1400" b="1" dirty="0" smtClean="0">
                <a:latin typeface="Arial" charset="0"/>
                <a:cs typeface="Arial" charset="0"/>
              </a:rPr>
              <a:t>software</a:t>
            </a:r>
            <a:endParaRPr lang="en-US" sz="1400" b="1" dirty="0">
              <a:latin typeface="Arial" charset="0"/>
              <a:cs typeface="Arial" charset="0"/>
            </a:endParaRPr>
          </a:p>
        </p:txBody>
      </p:sp>
      <p:pic>
        <p:nvPicPr>
          <p:cNvPr id="238" name="Picture 25" descr="1"/>
          <p:cNvPicPr>
            <a:picLocks noChangeAspect="1" noChangeArrowheads="1"/>
          </p:cNvPicPr>
          <p:nvPr/>
        </p:nvPicPr>
        <p:blipFill>
          <a:blip r:embed="rId4">
            <a:lum bright="-6000" contrast="24000"/>
            <a:grayscl/>
          </a:blip>
          <a:srcRect l="42606" t="64474" r="19473"/>
          <a:stretch>
            <a:fillRect/>
          </a:stretch>
        </p:blipFill>
        <p:spPr bwMode="gray">
          <a:xfrm>
            <a:off x="5487994" y="2270116"/>
            <a:ext cx="538163" cy="690563"/>
          </a:xfrm>
          <a:prstGeom prst="rect">
            <a:avLst/>
          </a:prstGeom>
          <a:noFill/>
        </p:spPr>
      </p:pic>
      <p:pic>
        <p:nvPicPr>
          <p:cNvPr id="239" name="Picture 26" descr="1"/>
          <p:cNvPicPr>
            <a:picLocks noChangeAspect="1" noChangeArrowheads="1"/>
          </p:cNvPicPr>
          <p:nvPr/>
        </p:nvPicPr>
        <p:blipFill>
          <a:blip r:embed="rId4">
            <a:lum bright="-6000" contrast="24000"/>
            <a:grayscl/>
          </a:blip>
          <a:srcRect l="42606" t="64474" r="19473"/>
          <a:stretch>
            <a:fillRect/>
          </a:stretch>
        </p:blipFill>
        <p:spPr bwMode="gray">
          <a:xfrm>
            <a:off x="5689607" y="3059104"/>
            <a:ext cx="538162" cy="690562"/>
          </a:xfrm>
          <a:prstGeom prst="rect">
            <a:avLst/>
          </a:prstGeom>
          <a:noFill/>
        </p:spPr>
      </p:pic>
      <p:pic>
        <p:nvPicPr>
          <p:cNvPr id="240" name="Picture 27" descr="1"/>
          <p:cNvPicPr>
            <a:picLocks noChangeAspect="1" noChangeArrowheads="1"/>
          </p:cNvPicPr>
          <p:nvPr/>
        </p:nvPicPr>
        <p:blipFill>
          <a:blip r:embed="rId4">
            <a:lum bright="-6000" contrast="24000"/>
            <a:grayscl/>
          </a:blip>
          <a:srcRect l="42606" t="64474" r="19473"/>
          <a:stretch>
            <a:fillRect/>
          </a:stretch>
        </p:blipFill>
        <p:spPr bwMode="gray">
          <a:xfrm>
            <a:off x="5487994" y="3849679"/>
            <a:ext cx="538163" cy="690562"/>
          </a:xfrm>
          <a:prstGeom prst="rect">
            <a:avLst/>
          </a:prstGeom>
          <a:noFill/>
        </p:spPr>
      </p:pic>
      <p:grpSp>
        <p:nvGrpSpPr>
          <p:cNvPr id="241" name="Group 3"/>
          <p:cNvGrpSpPr>
            <a:grpSpLocks/>
          </p:cNvGrpSpPr>
          <p:nvPr/>
        </p:nvGrpSpPr>
        <p:grpSpPr bwMode="auto">
          <a:xfrm>
            <a:off x="1714480" y="1571614"/>
            <a:ext cx="6732272" cy="3287831"/>
            <a:chOff x="96" y="1108"/>
            <a:chExt cx="5412" cy="2720"/>
          </a:xfrm>
        </p:grpSpPr>
        <p:grpSp>
          <p:nvGrpSpPr>
            <p:cNvPr id="242" name="Group 8"/>
            <p:cNvGrpSpPr>
              <a:grpSpLocks/>
            </p:cNvGrpSpPr>
            <p:nvPr/>
          </p:nvGrpSpPr>
          <p:grpSpPr bwMode="auto">
            <a:xfrm rot="20302575" flipH="1" flipV="1">
              <a:off x="4712" y="2433"/>
              <a:ext cx="796" cy="598"/>
              <a:chOff x="2528" y="941"/>
              <a:chExt cx="742" cy="643"/>
            </a:xfrm>
          </p:grpSpPr>
          <p:grpSp>
            <p:nvGrpSpPr>
              <p:cNvPr id="307" name="Group 9"/>
              <p:cNvGrpSpPr>
                <a:grpSpLocks/>
              </p:cNvGrpSpPr>
              <p:nvPr/>
            </p:nvGrpSpPr>
            <p:grpSpPr bwMode="auto">
              <a:xfrm>
                <a:off x="2528" y="1060"/>
                <a:ext cx="742" cy="186"/>
                <a:chOff x="1565" y="2568"/>
                <a:chExt cx="1118" cy="279"/>
              </a:xfrm>
            </p:grpSpPr>
            <p:sp>
              <p:nvSpPr>
                <p:cNvPr id="313" name="AutoShape 10"/>
                <p:cNvSpPr>
                  <a:spLocks noChangeArrowheads="1"/>
                </p:cNvSpPr>
                <p:nvPr/>
              </p:nvSpPr>
              <p:spPr bwMode="lt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314" name="AutoShape 11"/>
                <p:cNvSpPr>
                  <a:spLocks noChangeArrowheads="1"/>
                </p:cNvSpPr>
                <p:nvPr/>
              </p:nvSpPr>
              <p:spPr bwMode="lt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315" name="AutoShape 12"/>
                <p:cNvSpPr>
                  <a:spLocks noChangeArrowheads="1"/>
                </p:cNvSpPr>
                <p:nvPr/>
              </p:nvSpPr>
              <p:spPr bwMode="lt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316" name="AutoShape 13"/>
                <p:cNvSpPr>
                  <a:spLocks noChangeArrowheads="1"/>
                </p:cNvSpPr>
                <p:nvPr/>
              </p:nvSpPr>
              <p:spPr bwMode="lt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sp>
            <p:nvSpPr>
              <p:cNvPr id="312" name="AutoShape 18"/>
              <p:cNvSpPr>
                <a:spLocks noChangeArrowheads="1"/>
              </p:cNvSpPr>
              <p:nvPr/>
            </p:nvSpPr>
            <p:spPr bwMode="ltGray">
              <a:xfrm rot="8259852">
                <a:off x="3075" y="941"/>
                <a:ext cx="127" cy="643"/>
              </a:xfrm>
              <a:prstGeom prst="moon">
                <a:avLst>
                  <a:gd name="adj" fmla="val 49773"/>
                </a:avLst>
              </a:prstGeom>
              <a:solidFill>
                <a:srgbClr val="F8F8F8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BO"/>
              </a:p>
            </p:txBody>
          </p:sp>
        </p:grpSp>
        <p:grpSp>
          <p:nvGrpSpPr>
            <p:cNvPr id="243" name="Group 23"/>
            <p:cNvGrpSpPr>
              <a:grpSpLocks/>
            </p:cNvGrpSpPr>
            <p:nvPr/>
          </p:nvGrpSpPr>
          <p:grpSpPr bwMode="auto">
            <a:xfrm>
              <a:off x="1673" y="2351"/>
              <a:ext cx="328" cy="251"/>
              <a:chOff x="2183" y="1267"/>
              <a:chExt cx="1341" cy="1030"/>
            </a:xfrm>
          </p:grpSpPr>
          <p:sp>
            <p:nvSpPr>
              <p:cNvPr id="260" name="Oval 24"/>
              <p:cNvSpPr>
                <a:spLocks noChangeArrowheads="1"/>
              </p:cNvSpPr>
              <p:nvPr/>
            </p:nvSpPr>
            <p:spPr bwMode="gray">
              <a:xfrm>
                <a:off x="2301" y="1267"/>
                <a:ext cx="1021" cy="1030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66275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66275"/>
                      <a:invGamma/>
                    </a:schemeClr>
                  </a:gs>
                </a:gsLst>
                <a:lin ang="2700000" scaled="1"/>
              </a:gradFill>
              <a:ln w="28575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BO"/>
              </a:p>
            </p:txBody>
          </p:sp>
          <p:grpSp>
            <p:nvGrpSpPr>
              <p:cNvPr id="261" name="Group 25"/>
              <p:cNvGrpSpPr>
                <a:grpSpLocks/>
              </p:cNvGrpSpPr>
              <p:nvPr/>
            </p:nvGrpSpPr>
            <p:grpSpPr bwMode="auto">
              <a:xfrm rot="10082854">
                <a:off x="2183" y="2008"/>
                <a:ext cx="927" cy="229"/>
                <a:chOff x="2591" y="1040"/>
                <a:chExt cx="958" cy="234"/>
              </a:xfrm>
            </p:grpSpPr>
            <p:grpSp>
              <p:nvGrpSpPr>
                <p:cNvPr id="285" name="Group 26"/>
                <p:cNvGrpSpPr>
                  <a:grpSpLocks/>
                </p:cNvGrpSpPr>
                <p:nvPr/>
              </p:nvGrpSpPr>
              <p:grpSpPr bwMode="auto">
                <a:xfrm rot="-9970459" flipH="1" flipV="1">
                  <a:off x="2591" y="1040"/>
                  <a:ext cx="958" cy="234"/>
                  <a:chOff x="2528" y="1060"/>
                  <a:chExt cx="894" cy="236"/>
                </a:xfrm>
              </p:grpSpPr>
              <p:grpSp>
                <p:nvGrpSpPr>
                  <p:cNvPr id="297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528" y="106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303" name="AutoShape 28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304" name="AutoShape 29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305" name="AutoShape 30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306" name="AutoShape 31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  <p:grpSp>
                <p:nvGrpSpPr>
                  <p:cNvPr id="298" name="Group 32"/>
                  <p:cNvGrpSpPr>
                    <a:grpSpLocks/>
                  </p:cNvGrpSpPr>
                  <p:nvPr/>
                </p:nvGrpSpPr>
                <p:grpSpPr bwMode="auto">
                  <a:xfrm rot="1353540">
                    <a:off x="2680" y="111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99" name="AutoShape 33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300" name="AutoShape 34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301" name="AutoShape 35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302" name="AutoShape 36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</p:grpSp>
            <p:grpSp>
              <p:nvGrpSpPr>
                <p:cNvPr id="286" name="Group 37"/>
                <p:cNvGrpSpPr>
                  <a:grpSpLocks/>
                </p:cNvGrpSpPr>
                <p:nvPr/>
              </p:nvGrpSpPr>
              <p:grpSpPr bwMode="auto">
                <a:xfrm rot="-9970459" flipH="1" flipV="1">
                  <a:off x="2679" y="1065"/>
                  <a:ext cx="784" cy="191"/>
                  <a:chOff x="2528" y="1060"/>
                  <a:chExt cx="894" cy="236"/>
                </a:xfrm>
              </p:grpSpPr>
              <p:grpSp>
                <p:nvGrpSpPr>
                  <p:cNvPr id="287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2528" y="106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93" name="AutoShape 39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94" name="AutoShape 40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95" name="AutoShape 41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96" name="AutoShape 42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  <p:grpSp>
                <p:nvGrpSpPr>
                  <p:cNvPr id="288" name="Group 43"/>
                  <p:cNvGrpSpPr>
                    <a:grpSpLocks/>
                  </p:cNvGrpSpPr>
                  <p:nvPr/>
                </p:nvGrpSpPr>
                <p:grpSpPr bwMode="auto">
                  <a:xfrm rot="1353540">
                    <a:off x="2680" y="111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89" name="AutoShape 44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90" name="AutoShape 45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91" name="AutoShape 46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92" name="AutoShape 47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</p:grpSp>
          </p:grpSp>
          <p:grpSp>
            <p:nvGrpSpPr>
              <p:cNvPr id="262" name="Group 48"/>
              <p:cNvGrpSpPr>
                <a:grpSpLocks/>
              </p:cNvGrpSpPr>
              <p:nvPr/>
            </p:nvGrpSpPr>
            <p:grpSpPr bwMode="auto">
              <a:xfrm>
                <a:off x="2597" y="1373"/>
                <a:ext cx="927" cy="229"/>
                <a:chOff x="2591" y="1040"/>
                <a:chExt cx="958" cy="234"/>
              </a:xfrm>
            </p:grpSpPr>
            <p:grpSp>
              <p:nvGrpSpPr>
                <p:cNvPr id="263" name="Group 49"/>
                <p:cNvGrpSpPr>
                  <a:grpSpLocks/>
                </p:cNvGrpSpPr>
                <p:nvPr/>
              </p:nvGrpSpPr>
              <p:grpSpPr bwMode="auto">
                <a:xfrm rot="-9970459" flipH="1" flipV="1">
                  <a:off x="2591" y="1040"/>
                  <a:ext cx="958" cy="234"/>
                  <a:chOff x="2528" y="1060"/>
                  <a:chExt cx="894" cy="236"/>
                </a:xfrm>
              </p:grpSpPr>
              <p:grpSp>
                <p:nvGrpSpPr>
                  <p:cNvPr id="275" name="Group 50"/>
                  <p:cNvGrpSpPr>
                    <a:grpSpLocks/>
                  </p:cNvGrpSpPr>
                  <p:nvPr/>
                </p:nvGrpSpPr>
                <p:grpSpPr bwMode="auto">
                  <a:xfrm>
                    <a:off x="2528" y="106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81" name="AutoShape 51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82" name="AutoShape 52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83" name="AutoShape 53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84" name="AutoShape 54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  <p:grpSp>
                <p:nvGrpSpPr>
                  <p:cNvPr id="276" name="Group 55"/>
                  <p:cNvGrpSpPr>
                    <a:grpSpLocks/>
                  </p:cNvGrpSpPr>
                  <p:nvPr/>
                </p:nvGrpSpPr>
                <p:grpSpPr bwMode="auto">
                  <a:xfrm rot="1353540">
                    <a:off x="2680" y="111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77" name="AutoShape 56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78" name="AutoShape 57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79" name="AutoShape 58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80" name="AutoShape 59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</p:grpSp>
            <p:grpSp>
              <p:nvGrpSpPr>
                <p:cNvPr id="264" name="Group 60"/>
                <p:cNvGrpSpPr>
                  <a:grpSpLocks/>
                </p:cNvGrpSpPr>
                <p:nvPr/>
              </p:nvGrpSpPr>
              <p:grpSpPr bwMode="auto">
                <a:xfrm rot="-9970459" flipH="1" flipV="1">
                  <a:off x="2679" y="1065"/>
                  <a:ext cx="784" cy="191"/>
                  <a:chOff x="2528" y="1060"/>
                  <a:chExt cx="894" cy="236"/>
                </a:xfrm>
              </p:grpSpPr>
              <p:grpSp>
                <p:nvGrpSpPr>
                  <p:cNvPr id="265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528" y="106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71" name="AutoShape 62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72" name="AutoShape 63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73" name="AutoShape 64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74" name="AutoShape 65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  <p:grpSp>
                <p:nvGrpSpPr>
                  <p:cNvPr id="266" name="Group 66"/>
                  <p:cNvGrpSpPr>
                    <a:grpSpLocks/>
                  </p:cNvGrpSpPr>
                  <p:nvPr/>
                </p:nvGrpSpPr>
                <p:grpSpPr bwMode="auto">
                  <a:xfrm rot="1353540">
                    <a:off x="2680" y="1110"/>
                    <a:ext cx="742" cy="186"/>
                    <a:chOff x="1565" y="2568"/>
                    <a:chExt cx="1118" cy="279"/>
                  </a:xfrm>
                </p:grpSpPr>
                <p:sp>
                  <p:nvSpPr>
                    <p:cNvPr id="267" name="AutoShape 67"/>
                    <p:cNvSpPr>
                      <a:spLocks noChangeArrowheads="1"/>
                    </p:cNvSpPr>
                    <p:nvPr/>
                  </p:nvSpPr>
                  <p:spPr bwMode="gray">
                    <a:xfrm rot="5263130">
                      <a:off x="1859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68" name="AutoShape 68"/>
                    <p:cNvSpPr>
                      <a:spLocks noChangeArrowheads="1"/>
                    </p:cNvSpPr>
                    <p:nvPr/>
                  </p:nvSpPr>
                  <p:spPr bwMode="gray">
                    <a:xfrm rot="6078281">
                      <a:off x="1995" y="2274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69" name="AutoShape 69"/>
                    <p:cNvSpPr>
                      <a:spLocks noChangeArrowheads="1"/>
                    </p:cNvSpPr>
                    <p:nvPr/>
                  </p:nvSpPr>
                  <p:spPr bwMode="gray">
                    <a:xfrm rot="6373927">
                      <a:off x="2071" y="229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  <p:sp>
                  <p:nvSpPr>
                    <p:cNvPr id="270" name="AutoShape 70"/>
                    <p:cNvSpPr>
                      <a:spLocks noChangeArrowheads="1"/>
                    </p:cNvSpPr>
                    <p:nvPr/>
                  </p:nvSpPr>
                  <p:spPr bwMode="gray">
                    <a:xfrm rot="6906312">
                      <a:off x="2161" y="2326"/>
                      <a:ext cx="227" cy="816"/>
                    </a:xfrm>
                    <a:prstGeom prst="moon">
                      <a:avLst>
                        <a:gd name="adj" fmla="val 49773"/>
                      </a:avLst>
                    </a:prstGeom>
                    <a:solidFill>
                      <a:srgbClr val="FFFFFF">
                        <a:alpha val="3999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s-BO"/>
                    </a:p>
                  </p:txBody>
                </p:sp>
              </p:grpSp>
            </p:grpSp>
          </p:grpSp>
        </p:grpSp>
        <p:cxnSp>
          <p:nvCxnSpPr>
            <p:cNvPr id="244" name="AutoShape 71"/>
            <p:cNvCxnSpPr>
              <a:cxnSpLocks noChangeShapeType="1"/>
              <a:stCxn id="260" idx="0"/>
            </p:cNvCxnSpPr>
            <p:nvPr/>
          </p:nvCxnSpPr>
          <p:spPr bwMode="auto">
            <a:xfrm rot="16200000">
              <a:off x="1597" y="1690"/>
              <a:ext cx="883" cy="422"/>
            </a:xfrm>
            <a:prstGeom prst="bentConnector2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cxnSp>
          <p:nvCxnSpPr>
            <p:cNvPr id="245" name="AutoShape 72"/>
            <p:cNvCxnSpPr>
              <a:cxnSpLocks noChangeShapeType="1"/>
              <a:stCxn id="260" idx="4"/>
            </p:cNvCxnSpPr>
            <p:nvPr/>
          </p:nvCxnSpPr>
          <p:spPr bwMode="auto">
            <a:xfrm rot="16200000" flipH="1">
              <a:off x="1599" y="2840"/>
              <a:ext cx="879" cy="422"/>
            </a:xfrm>
            <a:prstGeom prst="bentConnector2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246" name="Line 73"/>
            <p:cNvSpPr>
              <a:spLocks noChangeShapeType="1"/>
            </p:cNvSpPr>
            <p:nvPr/>
          </p:nvSpPr>
          <p:spPr bwMode="auto">
            <a:xfrm>
              <a:off x="1974" y="2482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grpSp>
          <p:nvGrpSpPr>
            <p:cNvPr id="247" name="Group 74"/>
            <p:cNvGrpSpPr>
              <a:grpSpLocks/>
            </p:cNvGrpSpPr>
            <p:nvPr/>
          </p:nvGrpSpPr>
          <p:grpSpPr bwMode="auto">
            <a:xfrm>
              <a:off x="2256" y="1108"/>
              <a:ext cx="1411" cy="710"/>
              <a:chOff x="2289" y="1260"/>
              <a:chExt cx="1335" cy="672"/>
            </a:xfrm>
          </p:grpSpPr>
          <p:sp>
            <p:nvSpPr>
              <p:cNvPr id="258" name="AutoShape 75"/>
              <p:cNvSpPr>
                <a:spLocks noChangeArrowheads="1"/>
              </p:cNvSpPr>
              <p:nvPr/>
            </p:nvSpPr>
            <p:spPr bwMode="ltGray">
              <a:xfrm>
                <a:off x="2289" y="1260"/>
                <a:ext cx="1335" cy="672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9804"/>
                      <a:invGamma/>
                    </a:schemeClr>
                  </a:gs>
                </a:gsLst>
                <a:lin ang="5400000" scaled="1"/>
              </a:gradFill>
              <a:ln w="25400">
                <a:solidFill>
                  <a:srgbClr val="FEFEFE"/>
                </a:solidFill>
                <a:round/>
                <a:headEnd/>
                <a:tailEnd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es-BO"/>
              </a:p>
            </p:txBody>
          </p:sp>
          <p:pic>
            <p:nvPicPr>
              <p:cNvPr id="259" name="Picture 76" descr="Picture4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ltGray">
              <a:xfrm>
                <a:off x="2313" y="1280"/>
                <a:ext cx="386" cy="424"/>
              </a:xfrm>
              <a:prstGeom prst="rect">
                <a:avLst/>
              </a:prstGeom>
              <a:noFill/>
            </p:spPr>
          </p:pic>
        </p:grpSp>
        <p:grpSp>
          <p:nvGrpSpPr>
            <p:cNvPr id="248" name="Group 77"/>
            <p:cNvGrpSpPr>
              <a:grpSpLocks/>
            </p:cNvGrpSpPr>
            <p:nvPr/>
          </p:nvGrpSpPr>
          <p:grpSpPr bwMode="auto">
            <a:xfrm>
              <a:off x="2278" y="2154"/>
              <a:ext cx="1411" cy="728"/>
              <a:chOff x="2310" y="2249"/>
              <a:chExt cx="1335" cy="689"/>
            </a:xfrm>
          </p:grpSpPr>
          <p:sp>
            <p:nvSpPr>
              <p:cNvPr id="256" name="AutoShape 78"/>
              <p:cNvSpPr>
                <a:spLocks noChangeArrowheads="1"/>
              </p:cNvSpPr>
              <p:nvPr/>
            </p:nvSpPr>
            <p:spPr bwMode="ltGray">
              <a:xfrm>
                <a:off x="2310" y="2266"/>
                <a:ext cx="1335" cy="672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69804"/>
                      <a:invGamma/>
                    </a:schemeClr>
                  </a:gs>
                </a:gsLst>
                <a:lin ang="5400000" scaled="1"/>
              </a:gradFill>
              <a:ln w="25400">
                <a:solidFill>
                  <a:srgbClr val="FEFEFE"/>
                </a:solidFill>
                <a:round/>
                <a:headEnd/>
                <a:tailEnd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es-BO"/>
              </a:p>
            </p:txBody>
          </p:sp>
          <p:pic>
            <p:nvPicPr>
              <p:cNvPr id="257" name="Picture 79" descr="Picture4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ltGray">
              <a:xfrm>
                <a:off x="2313" y="2249"/>
                <a:ext cx="386" cy="424"/>
              </a:xfrm>
              <a:prstGeom prst="rect">
                <a:avLst/>
              </a:prstGeom>
              <a:noFill/>
            </p:spPr>
          </p:pic>
        </p:grpSp>
        <p:grpSp>
          <p:nvGrpSpPr>
            <p:cNvPr id="249" name="Group 80"/>
            <p:cNvGrpSpPr>
              <a:grpSpLocks/>
            </p:cNvGrpSpPr>
            <p:nvPr/>
          </p:nvGrpSpPr>
          <p:grpSpPr bwMode="auto">
            <a:xfrm>
              <a:off x="2278" y="3118"/>
              <a:ext cx="1411" cy="710"/>
              <a:chOff x="2310" y="3162"/>
              <a:chExt cx="1335" cy="672"/>
            </a:xfrm>
          </p:grpSpPr>
          <p:sp>
            <p:nvSpPr>
              <p:cNvPr id="254" name="AutoShape 81"/>
              <p:cNvSpPr>
                <a:spLocks noChangeArrowheads="1"/>
              </p:cNvSpPr>
              <p:nvPr/>
            </p:nvSpPr>
            <p:spPr bwMode="ltGray">
              <a:xfrm>
                <a:off x="2310" y="3162"/>
                <a:ext cx="1335" cy="672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69804"/>
                      <a:invGamma/>
                    </a:schemeClr>
                  </a:gs>
                </a:gsLst>
                <a:lin ang="5400000" scaled="1"/>
              </a:gradFill>
              <a:ln w="25400">
                <a:solidFill>
                  <a:srgbClr val="FEFEFE"/>
                </a:solidFill>
                <a:round/>
                <a:headEnd/>
                <a:tailEnd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es-BO"/>
              </a:p>
            </p:txBody>
          </p:sp>
          <p:pic>
            <p:nvPicPr>
              <p:cNvPr id="255" name="Picture 82" descr="Picture4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ltGray">
              <a:xfrm>
                <a:off x="2313" y="3216"/>
                <a:ext cx="386" cy="424"/>
              </a:xfrm>
              <a:prstGeom prst="rect">
                <a:avLst/>
              </a:prstGeom>
              <a:noFill/>
            </p:spPr>
          </p:pic>
        </p:grpSp>
        <p:sp>
          <p:nvSpPr>
            <p:cNvPr id="250" name="Rectangle 83"/>
            <p:cNvSpPr>
              <a:spLocks noChangeArrowheads="1"/>
            </p:cNvSpPr>
            <p:nvPr/>
          </p:nvSpPr>
          <p:spPr bwMode="auto">
            <a:xfrm>
              <a:off x="2294" y="1245"/>
              <a:ext cx="1332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71450" indent="-171450" algn="ctr" eaLnBrk="1" hangingPunct="1">
                <a:lnSpc>
                  <a:spcPct val="80000"/>
                </a:lnSpc>
              </a:pPr>
              <a:r>
                <a:rPr lang="en-US" sz="1200" dirty="0" smtClean="0">
                  <a:latin typeface="Arial" charset="0"/>
                  <a:cs typeface="Arial" charset="0"/>
                </a:rPr>
                <a:t>En base a </a:t>
              </a:r>
              <a:r>
                <a:rPr lang="en-US" sz="1200" dirty="0" err="1" smtClean="0">
                  <a:latin typeface="Arial" charset="0"/>
                  <a:cs typeface="Arial" charset="0"/>
                </a:rPr>
                <a:t>requerimientos</a:t>
              </a:r>
              <a:r>
                <a:rPr lang="en-US" sz="1200" dirty="0" smtClean="0">
                  <a:latin typeface="Arial" charset="0"/>
                  <a:cs typeface="Arial" charset="0"/>
                </a:rPr>
                <a:t> </a:t>
              </a:r>
            </a:p>
            <a:p>
              <a:pPr marL="171450" indent="-171450" algn="ctr" eaLnBrk="1" hangingPunct="1">
                <a:lnSpc>
                  <a:spcPct val="80000"/>
                </a:lnSpc>
              </a:pPr>
              <a:r>
                <a:rPr lang="en-US" sz="1200" dirty="0" smtClean="0">
                  <a:latin typeface="Arial" charset="0"/>
                  <a:cs typeface="Arial" charset="0"/>
                </a:rPr>
                <a:t>de </a:t>
              </a:r>
              <a:r>
                <a:rPr lang="en-US" sz="1200" dirty="0" err="1" smtClean="0">
                  <a:latin typeface="Arial" charset="0"/>
                  <a:cs typeface="Arial" charset="0"/>
                </a:rPr>
                <a:t>empresa</a:t>
              </a:r>
              <a:r>
                <a:rPr lang="en-US" sz="1200" dirty="0" smtClean="0">
                  <a:latin typeface="Arial" charset="0"/>
                  <a:cs typeface="Arial" charset="0"/>
                </a:rPr>
                <a:t> </a:t>
              </a:r>
            </a:p>
          </p:txBody>
        </p:sp>
        <p:sp>
          <p:nvSpPr>
            <p:cNvPr id="251" name="Rectangle 84"/>
            <p:cNvSpPr>
              <a:spLocks noChangeArrowheads="1"/>
            </p:cNvSpPr>
            <p:nvPr/>
          </p:nvSpPr>
          <p:spPr bwMode="auto">
            <a:xfrm>
              <a:off x="2278" y="2054"/>
              <a:ext cx="1332" cy="6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171450" indent="-171450" eaLnBrk="1" hangingPunct="1">
                <a:lnSpc>
                  <a:spcPct val="80000"/>
                </a:lnSpc>
                <a:buFontTx/>
                <a:buChar char="•"/>
              </a:pPr>
              <a:endParaRPr lang="en-US" sz="3200" dirty="0" smtClean="0">
                <a:latin typeface="Arial" charset="0"/>
                <a:cs typeface="Arial" charset="0"/>
              </a:endParaRPr>
            </a:p>
            <a:p>
              <a:pPr marL="171450" indent="-171450" algn="ctr" eaLnBrk="1" hangingPunct="1">
                <a:lnSpc>
                  <a:spcPct val="80000"/>
                </a:lnSpc>
              </a:pPr>
              <a:r>
                <a:rPr lang="en-US" sz="1200" dirty="0" err="1" smtClean="0">
                  <a:latin typeface="Arial" charset="0"/>
                  <a:cs typeface="Arial" charset="0"/>
                </a:rPr>
                <a:t>Enfatización</a:t>
              </a:r>
              <a:r>
                <a:rPr lang="en-US" sz="1200" dirty="0" smtClean="0">
                  <a:latin typeface="Arial" charset="0"/>
                  <a:cs typeface="Arial" charset="0"/>
                </a:rPr>
                <a:t> en la </a:t>
              </a:r>
              <a:r>
                <a:rPr lang="es-BO" sz="1200" dirty="0" smtClean="0">
                  <a:latin typeface="Arial" charset="0"/>
                  <a:cs typeface="Arial" charset="0"/>
                </a:rPr>
                <a:t>funcionalidad</a:t>
              </a:r>
            </a:p>
          </p:txBody>
        </p:sp>
        <p:sp>
          <p:nvSpPr>
            <p:cNvPr id="252" name="Rectangle 85"/>
            <p:cNvSpPr>
              <a:spLocks noChangeArrowheads="1"/>
            </p:cNvSpPr>
            <p:nvPr/>
          </p:nvSpPr>
          <p:spPr bwMode="auto">
            <a:xfrm>
              <a:off x="2278" y="3177"/>
              <a:ext cx="1332" cy="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dirty="0" err="1" smtClean="0">
                  <a:latin typeface="Arial" charset="0"/>
                  <a:cs typeface="Arial" charset="0"/>
                </a:rPr>
                <a:t>Amigables</a:t>
              </a:r>
              <a:r>
                <a:rPr lang="en-US" sz="1200" dirty="0" smtClean="0">
                  <a:latin typeface="Arial" charset="0"/>
                  <a:cs typeface="Arial" charset="0"/>
                </a:rPr>
                <a:t> </a:t>
              </a:r>
              <a:r>
                <a:rPr lang="en-US" sz="1200" dirty="0" err="1" smtClean="0">
                  <a:latin typeface="Arial" charset="0"/>
                  <a:cs typeface="Arial" charset="0"/>
                </a:rPr>
                <a:t>para</a:t>
              </a:r>
              <a:r>
                <a:rPr lang="en-US" sz="1200" dirty="0" smtClean="0">
                  <a:latin typeface="Arial" charset="0"/>
                  <a:cs typeface="Arial" charset="0"/>
                </a:rPr>
                <a:t> los </a:t>
              </a:r>
              <a:r>
                <a:rPr lang="es-BO" sz="1200" dirty="0" smtClean="0">
                  <a:latin typeface="Arial" charset="0"/>
                  <a:cs typeface="Arial" charset="0"/>
                </a:rPr>
                <a:t>usuarios</a:t>
              </a:r>
              <a:r>
                <a:rPr lang="en-US" sz="1200" dirty="0" smtClean="0">
                  <a:latin typeface="Arial" charset="0"/>
                  <a:cs typeface="Arial" charset="0"/>
                </a:rPr>
                <a:t>  </a:t>
              </a:r>
              <a:r>
                <a:rPr lang="en-US" sz="1200" dirty="0" err="1" smtClean="0">
                  <a:latin typeface="Arial" charset="0"/>
                  <a:cs typeface="Arial" charset="0"/>
                </a:rPr>
                <a:t>miembros</a:t>
              </a:r>
              <a:r>
                <a:rPr lang="en-US" sz="1200" dirty="0" smtClean="0">
                  <a:latin typeface="Arial" charset="0"/>
                  <a:cs typeface="Arial" charset="0"/>
                </a:rPr>
                <a:t> de la </a:t>
              </a:r>
              <a:r>
                <a:rPr lang="en-US" sz="1200" dirty="0" err="1" smtClean="0">
                  <a:latin typeface="Arial" charset="0"/>
                  <a:cs typeface="Arial" charset="0"/>
                </a:rPr>
                <a:t>empresa</a:t>
              </a:r>
              <a:endParaRPr lang="en-US" sz="1200" dirty="0" smtClean="0">
                <a:latin typeface="Arial" charset="0"/>
                <a:cs typeface="Arial" charset="0"/>
              </a:endParaRPr>
            </a:p>
          </p:txBody>
        </p:sp>
        <p:sp>
          <p:nvSpPr>
            <p:cNvPr id="253" name="Rectangle 86"/>
            <p:cNvSpPr>
              <a:spLocks noChangeArrowheads="1"/>
            </p:cNvSpPr>
            <p:nvPr/>
          </p:nvSpPr>
          <p:spPr bwMode="auto">
            <a:xfrm>
              <a:off x="96" y="1988"/>
              <a:ext cx="1605" cy="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endParaRPr lang="en-US" dirty="0">
                <a:latin typeface="Arial" charset="0"/>
                <a:cs typeface="Arial" charset="0"/>
              </a:endParaRPr>
            </a:p>
          </p:txBody>
        </p:sp>
      </p:grpSp>
      <p:sp>
        <p:nvSpPr>
          <p:cNvPr id="327" name="AutoShape 10"/>
          <p:cNvSpPr>
            <a:spLocks noChangeArrowheads="1"/>
          </p:cNvSpPr>
          <p:nvPr/>
        </p:nvSpPr>
        <p:spPr bwMode="ltGray">
          <a:xfrm rot="3965705" flipH="1" flipV="1">
            <a:off x="9412415" y="3644170"/>
            <a:ext cx="94471" cy="923099"/>
          </a:xfrm>
          <a:prstGeom prst="moon">
            <a:avLst>
              <a:gd name="adj" fmla="val 49773"/>
            </a:avLst>
          </a:prstGeom>
          <a:solidFill>
            <a:srgbClr val="F8F8F8">
              <a:alpha val="3999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328" name="AutoShape 15"/>
          <p:cNvSpPr>
            <a:spLocks noChangeArrowheads="1"/>
          </p:cNvSpPr>
          <p:nvPr/>
        </p:nvSpPr>
        <p:spPr bwMode="ltGray">
          <a:xfrm rot="5319245" flipH="1" flipV="1">
            <a:off x="9158926" y="3722121"/>
            <a:ext cx="94866" cy="923396"/>
          </a:xfrm>
          <a:prstGeom prst="moon">
            <a:avLst>
              <a:gd name="adj" fmla="val 49773"/>
            </a:avLst>
          </a:prstGeom>
          <a:solidFill>
            <a:srgbClr val="F8F8F8">
              <a:alpha val="3999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329" name="Freeform 20"/>
          <p:cNvSpPr>
            <a:spLocks/>
          </p:cNvSpPr>
          <p:nvPr/>
        </p:nvSpPr>
        <p:spPr bwMode="invGray">
          <a:xfrm rot="16200000">
            <a:off x="6077663" y="3850366"/>
            <a:ext cx="1071568" cy="7177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2" y="202"/>
              </a:cxn>
              <a:cxn ang="0">
                <a:pos x="577" y="202"/>
              </a:cxn>
              <a:cxn ang="0">
                <a:pos x="637" y="249"/>
              </a:cxn>
              <a:cxn ang="0">
                <a:pos x="639" y="402"/>
              </a:cxn>
              <a:cxn ang="0">
                <a:pos x="598" y="400"/>
              </a:cxn>
              <a:cxn ang="0">
                <a:pos x="669" y="532"/>
              </a:cxn>
              <a:cxn ang="0">
                <a:pos x="735" y="402"/>
              </a:cxn>
              <a:cxn ang="0">
                <a:pos x="696" y="402"/>
              </a:cxn>
              <a:cxn ang="0">
                <a:pos x="694" y="226"/>
              </a:cxn>
              <a:cxn ang="0">
                <a:pos x="616" y="150"/>
              </a:cxn>
              <a:cxn ang="0">
                <a:pos x="335" y="149"/>
              </a:cxn>
              <a:cxn ang="0">
                <a:pos x="69" y="0"/>
              </a:cxn>
              <a:cxn ang="0">
                <a:pos x="0" y="0"/>
              </a:cxn>
            </a:cxnLst>
            <a:rect l="0" t="0" r="r" b="b"/>
            <a:pathLst>
              <a:path w="735" h="532">
                <a:moveTo>
                  <a:pt x="0" y="0"/>
                </a:moveTo>
                <a:cubicBezTo>
                  <a:pt x="0" y="0"/>
                  <a:pt x="85" y="216"/>
                  <a:pt x="382" y="202"/>
                </a:cubicBezTo>
                <a:cubicBezTo>
                  <a:pt x="479" y="202"/>
                  <a:pt x="577" y="202"/>
                  <a:pt x="577" y="202"/>
                </a:cubicBezTo>
                <a:cubicBezTo>
                  <a:pt x="577" y="202"/>
                  <a:pt x="639" y="201"/>
                  <a:pt x="637" y="249"/>
                </a:cubicBezTo>
                <a:cubicBezTo>
                  <a:pt x="638" y="325"/>
                  <a:pt x="639" y="402"/>
                  <a:pt x="639" y="402"/>
                </a:cubicBezTo>
                <a:lnTo>
                  <a:pt x="598" y="400"/>
                </a:lnTo>
                <a:lnTo>
                  <a:pt x="669" y="532"/>
                </a:lnTo>
                <a:lnTo>
                  <a:pt x="735" y="402"/>
                </a:lnTo>
                <a:lnTo>
                  <a:pt x="696" y="402"/>
                </a:lnTo>
                <a:cubicBezTo>
                  <a:pt x="696" y="402"/>
                  <a:pt x="695" y="314"/>
                  <a:pt x="694" y="226"/>
                </a:cubicBezTo>
                <a:cubicBezTo>
                  <a:pt x="687" y="160"/>
                  <a:pt x="616" y="150"/>
                  <a:pt x="616" y="150"/>
                </a:cubicBezTo>
                <a:cubicBezTo>
                  <a:pt x="556" y="137"/>
                  <a:pt x="473" y="153"/>
                  <a:pt x="335" y="149"/>
                </a:cubicBezTo>
                <a:cubicBezTo>
                  <a:pt x="110" y="126"/>
                  <a:pt x="69" y="0"/>
                  <a:pt x="69" y="0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gamma/>
                  <a:tint val="0"/>
                  <a:invGamma/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330" name="Freeform 21"/>
          <p:cNvSpPr>
            <a:spLocks/>
          </p:cNvSpPr>
          <p:nvPr/>
        </p:nvSpPr>
        <p:spPr bwMode="invGray">
          <a:xfrm rot="16200000">
            <a:off x="6499821" y="2982900"/>
            <a:ext cx="353447" cy="877340"/>
          </a:xfrm>
          <a:custGeom>
            <a:avLst/>
            <a:gdLst/>
            <a:ahLst/>
            <a:cxnLst>
              <a:cxn ang="0">
                <a:pos x="37" y="1"/>
              </a:cxn>
              <a:cxn ang="0">
                <a:pos x="45" y="472"/>
              </a:cxn>
              <a:cxn ang="0">
                <a:pos x="0" y="474"/>
              </a:cxn>
              <a:cxn ang="0">
                <a:pos x="72" y="604"/>
              </a:cxn>
              <a:cxn ang="0">
                <a:pos x="142" y="474"/>
              </a:cxn>
              <a:cxn ang="0">
                <a:pos x="100" y="474"/>
              </a:cxn>
              <a:cxn ang="0">
                <a:pos x="99" y="0"/>
              </a:cxn>
              <a:cxn ang="0">
                <a:pos x="37" y="1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gamma/>
                  <a:tint val="0"/>
                  <a:invGamma/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331" name="Freeform 22"/>
          <p:cNvSpPr>
            <a:spLocks/>
          </p:cNvSpPr>
          <p:nvPr/>
        </p:nvSpPr>
        <p:spPr bwMode="invGray">
          <a:xfrm rot="16200000" flipH="1">
            <a:off x="5969710" y="2027905"/>
            <a:ext cx="1357324" cy="79081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2" y="202"/>
              </a:cxn>
              <a:cxn ang="0">
                <a:pos x="577" y="202"/>
              </a:cxn>
              <a:cxn ang="0">
                <a:pos x="637" y="249"/>
              </a:cxn>
              <a:cxn ang="0">
                <a:pos x="639" y="402"/>
              </a:cxn>
              <a:cxn ang="0">
                <a:pos x="598" y="400"/>
              </a:cxn>
              <a:cxn ang="0">
                <a:pos x="669" y="532"/>
              </a:cxn>
              <a:cxn ang="0">
                <a:pos x="735" y="402"/>
              </a:cxn>
              <a:cxn ang="0">
                <a:pos x="696" y="402"/>
              </a:cxn>
              <a:cxn ang="0">
                <a:pos x="694" y="226"/>
              </a:cxn>
              <a:cxn ang="0">
                <a:pos x="616" y="150"/>
              </a:cxn>
              <a:cxn ang="0">
                <a:pos x="335" y="149"/>
              </a:cxn>
              <a:cxn ang="0">
                <a:pos x="69" y="0"/>
              </a:cxn>
              <a:cxn ang="0">
                <a:pos x="0" y="0"/>
              </a:cxn>
            </a:cxnLst>
            <a:rect l="0" t="0" r="r" b="b"/>
            <a:pathLst>
              <a:path w="735" h="532">
                <a:moveTo>
                  <a:pt x="0" y="0"/>
                </a:moveTo>
                <a:cubicBezTo>
                  <a:pt x="0" y="0"/>
                  <a:pt x="85" y="216"/>
                  <a:pt x="382" y="202"/>
                </a:cubicBezTo>
                <a:cubicBezTo>
                  <a:pt x="479" y="202"/>
                  <a:pt x="577" y="202"/>
                  <a:pt x="577" y="202"/>
                </a:cubicBezTo>
                <a:cubicBezTo>
                  <a:pt x="577" y="202"/>
                  <a:pt x="639" y="201"/>
                  <a:pt x="637" y="249"/>
                </a:cubicBezTo>
                <a:cubicBezTo>
                  <a:pt x="638" y="325"/>
                  <a:pt x="639" y="402"/>
                  <a:pt x="639" y="402"/>
                </a:cubicBezTo>
                <a:lnTo>
                  <a:pt x="598" y="400"/>
                </a:lnTo>
                <a:lnTo>
                  <a:pt x="669" y="532"/>
                </a:lnTo>
                <a:lnTo>
                  <a:pt x="735" y="402"/>
                </a:lnTo>
                <a:lnTo>
                  <a:pt x="696" y="402"/>
                </a:lnTo>
                <a:cubicBezTo>
                  <a:pt x="696" y="402"/>
                  <a:pt x="695" y="314"/>
                  <a:pt x="694" y="226"/>
                </a:cubicBezTo>
                <a:cubicBezTo>
                  <a:pt x="687" y="160"/>
                  <a:pt x="616" y="150"/>
                  <a:pt x="616" y="150"/>
                </a:cubicBezTo>
                <a:cubicBezTo>
                  <a:pt x="556" y="137"/>
                  <a:pt x="473" y="153"/>
                  <a:pt x="335" y="149"/>
                </a:cubicBezTo>
                <a:cubicBezTo>
                  <a:pt x="110" y="126"/>
                  <a:pt x="69" y="0"/>
                  <a:pt x="69" y="0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gamma/>
                  <a:tint val="0"/>
                  <a:invGamma/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337" name="Oval 5"/>
          <p:cNvSpPr>
            <a:spLocks noChangeArrowheads="1"/>
          </p:cNvSpPr>
          <p:nvPr/>
        </p:nvSpPr>
        <p:spPr bwMode="gray">
          <a:xfrm>
            <a:off x="7104079" y="2744782"/>
            <a:ext cx="1439863" cy="1425575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31765"/>
                  <a:invGamma/>
                </a:schemeClr>
              </a:gs>
            </a:gsLst>
            <a:lin ang="5400000" scaled="1"/>
          </a:gradFill>
          <a:ln w="38100" algn="ctr">
            <a:solidFill>
              <a:srgbClr val="F8F8F8">
                <a:alpha val="80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pic>
        <p:nvPicPr>
          <p:cNvPr id="338" name="Picture 6" descr="cir_lighteffect0"/>
          <p:cNvPicPr>
            <a:picLocks noChangeAspect="1" noChangeArrowheads="1"/>
          </p:cNvPicPr>
          <p:nvPr/>
        </p:nvPicPr>
        <p:blipFill>
          <a:blip r:embed="rId6">
            <a:lum bright="18000" contrast="-12000"/>
          </a:blip>
          <a:srcRect/>
          <a:stretch>
            <a:fillRect/>
          </a:stretch>
        </p:blipFill>
        <p:spPr bwMode="gray">
          <a:xfrm>
            <a:off x="7062804" y="2679694"/>
            <a:ext cx="1511300" cy="1295400"/>
          </a:xfrm>
          <a:prstGeom prst="rect">
            <a:avLst/>
          </a:prstGeom>
          <a:noFill/>
        </p:spPr>
      </p:pic>
      <p:sp>
        <p:nvSpPr>
          <p:cNvPr id="339" name="Rectangle 7"/>
          <p:cNvSpPr>
            <a:spLocks noChangeArrowheads="1"/>
          </p:cNvSpPr>
          <p:nvPr/>
        </p:nvSpPr>
        <p:spPr bwMode="white">
          <a:xfrm>
            <a:off x="7050105" y="3101972"/>
            <a:ext cx="1493837" cy="892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2000" b="1" dirty="0">
                <a:solidFill>
                  <a:srgbClr val="F8F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1200" b="1" dirty="0" err="1" smtClean="0">
                <a:solidFill>
                  <a:srgbClr val="F8F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Cabos</a:t>
            </a:r>
            <a:r>
              <a:rPr lang="en-US" sz="12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1200" b="1" dirty="0" err="1" smtClean="0">
                <a:solidFill>
                  <a:srgbClr val="F8F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sueltos</a:t>
            </a:r>
            <a:r>
              <a:rPr lang="en-US" sz="1200" b="1" dirty="0" smtClean="0">
                <a:solidFill>
                  <a:srgbClr val="F8F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en </a:t>
            </a:r>
            <a:r>
              <a:rPr lang="en-US" sz="1200" b="1" dirty="0" err="1" smtClean="0">
                <a:solidFill>
                  <a:srgbClr val="F8F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seguridad</a:t>
            </a:r>
            <a:endParaRPr lang="en-US" sz="1200" b="1" dirty="0" smtClean="0">
              <a:solidFill>
                <a:srgbClr val="F8F8F8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  <a:p>
            <a:pPr algn="ctr" eaLnBrk="1" hangingPunct="1"/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340" name="Oval 8"/>
          <p:cNvSpPr>
            <a:spLocks noChangeArrowheads="1"/>
          </p:cNvSpPr>
          <p:nvPr/>
        </p:nvSpPr>
        <p:spPr bwMode="black">
          <a:xfrm>
            <a:off x="7000892" y="2643182"/>
            <a:ext cx="1649412" cy="1647825"/>
          </a:xfrm>
          <a:prstGeom prst="ellipse">
            <a:avLst/>
          </a:prstGeom>
          <a:noFill/>
          <a:ln w="19050" cap="rnd">
            <a:solidFill>
              <a:srgbClr val="EAEAEA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  <p:bldP spid="185" grpId="0" animBg="1"/>
      <p:bldP spid="190" grpId="0" animBg="1"/>
      <p:bldP spid="191" grpId="0" animBg="1"/>
      <p:bldP spid="199" grpId="0"/>
      <p:bldP spid="201" grpId="0"/>
      <p:bldP spid="329" grpId="0" animBg="1"/>
      <p:bldP spid="330" grpId="0" animBg="1"/>
      <p:bldP spid="331" grpId="0" animBg="1"/>
      <p:bldP spid="3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7" name="Rectangle 61"/>
          <p:cNvSpPr>
            <a:spLocks noGrp="1" noRot="1" noChangeArrowheads="1"/>
          </p:cNvSpPr>
          <p:nvPr>
            <p:ph type="title"/>
          </p:nvPr>
        </p:nvSpPr>
        <p:spPr>
          <a:xfrm>
            <a:off x="611560" y="431948"/>
            <a:ext cx="8024850" cy="884238"/>
          </a:xfrm>
        </p:spPr>
        <p:txBody>
          <a:bodyPr/>
          <a:lstStyle/>
          <a:p>
            <a:r>
              <a:rPr lang="en-US" sz="3600" dirty="0" smtClean="0"/>
              <a:t>PLANTEAMIENTO DEL PROBLEMA</a:t>
            </a:r>
            <a:endParaRPr lang="en-US" sz="3600" dirty="0"/>
          </a:p>
        </p:txBody>
      </p:sp>
      <p:sp>
        <p:nvSpPr>
          <p:cNvPr id="113" name="AutoShape 13"/>
          <p:cNvSpPr>
            <a:spLocks noChangeArrowheads="1"/>
          </p:cNvSpPr>
          <p:nvPr/>
        </p:nvSpPr>
        <p:spPr bwMode="gray">
          <a:xfrm>
            <a:off x="3714744" y="1285860"/>
            <a:ext cx="3962400" cy="8953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38039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1587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21" name="AutoShape 21"/>
          <p:cNvSpPr>
            <a:spLocks noChangeArrowheads="1"/>
          </p:cNvSpPr>
          <p:nvPr/>
        </p:nvSpPr>
        <p:spPr bwMode="gray">
          <a:xfrm rot="5400000">
            <a:off x="3476619" y="1484297"/>
            <a:ext cx="488950" cy="488950"/>
          </a:xfrm>
          <a:prstGeom prst="diamond">
            <a:avLst/>
          </a:prstGeom>
          <a:solidFill>
            <a:schemeClr val="folHlink"/>
          </a:solidFill>
          <a:ln w="19050">
            <a:solidFill>
              <a:srgbClr val="F8F8F8"/>
            </a:solidFill>
            <a:miter lim="800000"/>
            <a:headEnd/>
            <a:tailEnd/>
          </a:ln>
          <a:effectLst>
            <a:outerShdw sy="50000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  <p:sp>
        <p:nvSpPr>
          <p:cNvPr id="123" name="AutoShape 23"/>
          <p:cNvSpPr>
            <a:spLocks noChangeArrowheads="1"/>
          </p:cNvSpPr>
          <p:nvPr/>
        </p:nvSpPr>
        <p:spPr bwMode="gray">
          <a:xfrm>
            <a:off x="3714744" y="2219310"/>
            <a:ext cx="3962400" cy="8953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38039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1587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s-BO" dirty="0" smtClean="0"/>
              <a:t>a</a:t>
            </a:r>
            <a:endParaRPr lang="es-BO" dirty="0"/>
          </a:p>
        </p:txBody>
      </p:sp>
      <p:sp>
        <p:nvSpPr>
          <p:cNvPr id="127" name="Text Box 9"/>
          <p:cNvSpPr txBox="1">
            <a:spLocks noChangeArrowheads="1"/>
          </p:cNvSpPr>
          <p:nvPr/>
        </p:nvSpPr>
        <p:spPr bwMode="gray">
          <a:xfrm>
            <a:off x="4152924" y="1503360"/>
            <a:ext cx="3505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Desarrollo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de software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enfocado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en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funcionalidad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dejando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de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lado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seguridad</a:t>
            </a:r>
            <a:endParaRPr lang="en-US" sz="1400" b="1" i="0" dirty="0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131" name="Oval 31"/>
          <p:cNvSpPr>
            <a:spLocks noChangeArrowheads="1"/>
          </p:cNvSpPr>
          <p:nvPr/>
        </p:nvSpPr>
        <p:spPr bwMode="ltGray">
          <a:xfrm>
            <a:off x="500034" y="1643050"/>
            <a:ext cx="2927350" cy="2867025"/>
          </a:xfrm>
          <a:prstGeom prst="ellipse">
            <a:avLst/>
          </a:prstGeom>
          <a:solidFill>
            <a:schemeClr val="folHlink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dist="91581" dir="3378596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 dirty="0"/>
          </a:p>
        </p:txBody>
      </p:sp>
      <p:sp>
        <p:nvSpPr>
          <p:cNvPr id="132" name="Oval 32"/>
          <p:cNvSpPr>
            <a:spLocks noChangeArrowheads="1"/>
          </p:cNvSpPr>
          <p:nvPr/>
        </p:nvSpPr>
        <p:spPr bwMode="gray">
          <a:xfrm>
            <a:off x="895322" y="2371712"/>
            <a:ext cx="2160587" cy="213995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dist="91581" dir="3378596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  <p:sp>
        <p:nvSpPr>
          <p:cNvPr id="138" name="Text Box 9"/>
          <p:cNvSpPr txBox="1">
            <a:spLocks noChangeArrowheads="1"/>
          </p:cNvSpPr>
          <p:nvPr/>
        </p:nvSpPr>
        <p:spPr bwMode="gray">
          <a:xfrm>
            <a:off x="4081486" y="2360616"/>
            <a:ext cx="3505200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Aparción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de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vulnerabilidades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no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contempladas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en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desarrollo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que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se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presentan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en software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terminado</a:t>
            </a:r>
            <a:endParaRPr lang="en-US" sz="1400" b="1" i="0" dirty="0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140" name="Oval 33"/>
          <p:cNvSpPr>
            <a:spLocks noChangeArrowheads="1"/>
          </p:cNvSpPr>
          <p:nvPr/>
        </p:nvSpPr>
        <p:spPr bwMode="ltGray">
          <a:xfrm>
            <a:off x="1198540" y="3017845"/>
            <a:ext cx="1484313" cy="14525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8F8F8"/>
            </a:solidFill>
            <a:round/>
            <a:headEnd/>
            <a:tailEnd/>
          </a:ln>
          <a:effectLst>
            <a:outerShdw dist="91581" dir="3378596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es-BO" sz="1400" dirty="0" smtClean="0"/>
              <a:t>Formulación </a:t>
            </a:r>
          </a:p>
          <a:p>
            <a:pPr algn="ctr"/>
            <a:r>
              <a:rPr lang="es-BO" sz="1400" dirty="0" smtClean="0"/>
              <a:t>del problema</a:t>
            </a:r>
            <a:endParaRPr lang="es-BO" sz="1400" dirty="0"/>
          </a:p>
        </p:txBody>
      </p:sp>
      <p:sp>
        <p:nvSpPr>
          <p:cNvPr id="144" name="143 CuadroTexto"/>
          <p:cNvSpPr txBox="1"/>
          <p:nvPr/>
        </p:nvSpPr>
        <p:spPr>
          <a:xfrm>
            <a:off x="928662" y="1785926"/>
            <a:ext cx="2214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1600" dirty="0" err="1" smtClean="0"/>
              <a:t>Indentificación</a:t>
            </a:r>
            <a:r>
              <a:rPr lang="es-BO" sz="1600" dirty="0" smtClean="0"/>
              <a:t> del problema</a:t>
            </a:r>
            <a:endParaRPr lang="es-BO" sz="1600" dirty="0"/>
          </a:p>
        </p:txBody>
      </p:sp>
      <p:sp>
        <p:nvSpPr>
          <p:cNvPr id="145" name="AutoShape 21"/>
          <p:cNvSpPr>
            <a:spLocks noChangeArrowheads="1"/>
          </p:cNvSpPr>
          <p:nvPr/>
        </p:nvSpPr>
        <p:spPr bwMode="gray">
          <a:xfrm rot="5400000">
            <a:off x="3500430" y="2428868"/>
            <a:ext cx="488950" cy="488950"/>
          </a:xfrm>
          <a:prstGeom prst="diamond">
            <a:avLst/>
          </a:prstGeom>
          <a:solidFill>
            <a:schemeClr val="folHlink"/>
          </a:solidFill>
          <a:ln w="19050">
            <a:solidFill>
              <a:srgbClr val="F8F8F8"/>
            </a:solidFill>
            <a:miter lim="800000"/>
            <a:headEnd/>
            <a:tailEnd/>
          </a:ln>
          <a:effectLst>
            <a:outerShdw sy="50000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  <p:sp>
        <p:nvSpPr>
          <p:cNvPr id="148" name="AutoShape 22"/>
          <p:cNvSpPr>
            <a:spLocks noChangeArrowheads="1"/>
          </p:cNvSpPr>
          <p:nvPr/>
        </p:nvSpPr>
        <p:spPr bwMode="gray">
          <a:xfrm>
            <a:off x="3767134" y="4071943"/>
            <a:ext cx="3962400" cy="8953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38039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1587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49" name="AutoShape 25"/>
          <p:cNvSpPr>
            <a:spLocks noChangeArrowheads="1"/>
          </p:cNvSpPr>
          <p:nvPr/>
        </p:nvSpPr>
        <p:spPr bwMode="gray">
          <a:xfrm rot="5400000">
            <a:off x="3529009" y="4270380"/>
            <a:ext cx="488950" cy="488950"/>
          </a:xfrm>
          <a:prstGeom prst="diamond">
            <a:avLst/>
          </a:prstGeom>
          <a:solidFill>
            <a:schemeClr val="accent2"/>
          </a:solidFill>
          <a:ln w="19050">
            <a:solidFill>
              <a:srgbClr val="F8F8F8"/>
            </a:solidFill>
            <a:miter lim="800000"/>
            <a:headEnd/>
            <a:tailEnd/>
          </a:ln>
          <a:effectLst>
            <a:outerShdw sy="50000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  <p:sp>
        <p:nvSpPr>
          <p:cNvPr id="151" name="AutoShape 23"/>
          <p:cNvSpPr>
            <a:spLocks noChangeArrowheads="1"/>
          </p:cNvSpPr>
          <p:nvPr/>
        </p:nvSpPr>
        <p:spPr bwMode="gray">
          <a:xfrm>
            <a:off x="3714744" y="3143248"/>
            <a:ext cx="3962400" cy="8953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38039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1587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52" name="AutoShape 24"/>
          <p:cNvSpPr>
            <a:spLocks noChangeArrowheads="1"/>
          </p:cNvSpPr>
          <p:nvPr/>
        </p:nvSpPr>
        <p:spPr bwMode="gray">
          <a:xfrm rot="5400000">
            <a:off x="3476619" y="3341685"/>
            <a:ext cx="488950" cy="488950"/>
          </a:xfrm>
          <a:prstGeom prst="diamond">
            <a:avLst/>
          </a:prstGeom>
          <a:solidFill>
            <a:schemeClr val="accent1"/>
          </a:solidFill>
          <a:ln w="19050">
            <a:solidFill>
              <a:srgbClr val="F8F8F8"/>
            </a:solidFill>
            <a:miter lim="800000"/>
            <a:headEnd/>
            <a:tailEnd/>
          </a:ln>
          <a:effectLst>
            <a:outerShdw sy="50000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  <p:sp>
        <p:nvSpPr>
          <p:cNvPr id="153" name="Text Box 28"/>
          <p:cNvSpPr txBox="1">
            <a:spLocks noChangeArrowheads="1"/>
          </p:cNvSpPr>
          <p:nvPr/>
        </p:nvSpPr>
        <p:spPr bwMode="gray">
          <a:xfrm>
            <a:off x="4019544" y="3346448"/>
            <a:ext cx="3352800" cy="8159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Software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desarrollado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empresas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no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siempre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cuenta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con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profesionales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en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área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de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seguridad</a:t>
            </a:r>
            <a:endParaRPr lang="en-US" sz="1400" b="1" dirty="0" smtClean="0">
              <a:solidFill>
                <a:srgbClr val="080808"/>
              </a:solidFill>
              <a:cs typeface="Arial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endParaRPr lang="en-US" sz="1400" b="1" i="0" dirty="0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154" name="153 CuadroTexto"/>
          <p:cNvSpPr txBox="1"/>
          <p:nvPr/>
        </p:nvSpPr>
        <p:spPr>
          <a:xfrm>
            <a:off x="1000100" y="2500306"/>
            <a:ext cx="192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1400" dirty="0" err="1" smtClean="0"/>
              <a:t>Indetificación</a:t>
            </a:r>
            <a:r>
              <a:rPr lang="es-BO" sz="1400" dirty="0" smtClean="0"/>
              <a:t> </a:t>
            </a:r>
          </a:p>
          <a:p>
            <a:pPr algn="ctr"/>
            <a:r>
              <a:rPr lang="es-BO" sz="1400" dirty="0" smtClean="0"/>
              <a:t>de la causa</a:t>
            </a:r>
            <a:endParaRPr lang="es-BO" sz="1400" dirty="0"/>
          </a:p>
        </p:txBody>
      </p:sp>
      <p:sp>
        <p:nvSpPr>
          <p:cNvPr id="157" name="AutoShape 23"/>
          <p:cNvSpPr>
            <a:spLocks noChangeArrowheads="1"/>
          </p:cNvSpPr>
          <p:nvPr/>
        </p:nvSpPr>
        <p:spPr bwMode="gray">
          <a:xfrm>
            <a:off x="3786182" y="5000636"/>
            <a:ext cx="3962400" cy="8953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38039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1587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58" name="Text Box 9"/>
          <p:cNvSpPr txBox="1">
            <a:spLocks noChangeArrowheads="1"/>
          </p:cNvSpPr>
          <p:nvPr/>
        </p:nvSpPr>
        <p:spPr bwMode="gray">
          <a:xfrm>
            <a:off x="4071934" y="4143380"/>
            <a:ext cx="3505200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Falta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de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tiempo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y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experiencia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en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diseño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e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implementación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en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seguridad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por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  parte de </a:t>
            </a:r>
            <a:r>
              <a:rPr lang="en-US" sz="1400" b="1" i="0" dirty="0" err="1" smtClean="0">
                <a:solidFill>
                  <a:srgbClr val="080808"/>
                </a:solidFill>
                <a:cs typeface="Arial" charset="0"/>
              </a:rPr>
              <a:t>desarrolladores</a:t>
            </a:r>
            <a:r>
              <a:rPr lang="en-US" sz="1400" b="1" i="0" dirty="0" smtClean="0">
                <a:solidFill>
                  <a:srgbClr val="080808"/>
                </a:solidFill>
                <a:cs typeface="Arial" charset="0"/>
              </a:rPr>
              <a:t>.</a:t>
            </a:r>
            <a:endParaRPr lang="en-US" sz="1400" b="1" i="0" dirty="0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159" name="Text Box 28"/>
          <p:cNvSpPr txBox="1">
            <a:spLocks noChangeArrowheads="1"/>
          </p:cNvSpPr>
          <p:nvPr/>
        </p:nvSpPr>
        <p:spPr bwMode="gray">
          <a:xfrm>
            <a:off x="4143372" y="5214950"/>
            <a:ext cx="3352800" cy="5447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Sistemas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vulnerables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solo con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mecanismos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básicos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 de control de </a:t>
            </a:r>
            <a:r>
              <a:rPr lang="en-US" sz="1400" b="1" dirty="0" err="1" smtClean="0">
                <a:solidFill>
                  <a:srgbClr val="080808"/>
                </a:solidFill>
                <a:cs typeface="Arial" charset="0"/>
              </a:rPr>
              <a:t>accesos</a:t>
            </a:r>
            <a:r>
              <a:rPr lang="en-US" sz="1400" b="1" dirty="0" smtClean="0">
                <a:solidFill>
                  <a:srgbClr val="080808"/>
                </a:solidFill>
                <a:cs typeface="Arial" charset="0"/>
              </a:rPr>
              <a:t>.</a:t>
            </a:r>
            <a:endParaRPr lang="en-US" sz="1400" b="1" i="0" dirty="0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162" name="AutoShape 25"/>
          <p:cNvSpPr>
            <a:spLocks noChangeArrowheads="1"/>
          </p:cNvSpPr>
          <p:nvPr/>
        </p:nvSpPr>
        <p:spPr bwMode="gray">
          <a:xfrm rot="5400000">
            <a:off x="3571868" y="5214950"/>
            <a:ext cx="488950" cy="488950"/>
          </a:xfrm>
          <a:prstGeom prst="diamond">
            <a:avLst/>
          </a:prstGeom>
          <a:solidFill>
            <a:schemeClr val="accent2"/>
          </a:solidFill>
          <a:ln w="19050">
            <a:solidFill>
              <a:srgbClr val="F8F8F8"/>
            </a:solidFill>
            <a:miter lim="800000"/>
            <a:headEnd/>
            <a:tailEnd/>
          </a:ln>
          <a:effectLst>
            <a:outerShdw sy="50000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21" grpId="0" animBg="1"/>
      <p:bldP spid="123" grpId="0" animBg="1"/>
      <p:bldP spid="127" grpId="0"/>
      <p:bldP spid="131" grpId="0" animBg="1"/>
      <p:bldP spid="132" grpId="0" animBg="1"/>
      <p:bldP spid="138" grpId="0"/>
      <p:bldP spid="140" grpId="0" animBg="1"/>
      <p:bldP spid="144" grpId="0"/>
      <p:bldP spid="145" grpId="0" animBg="1"/>
      <p:bldP spid="148" grpId="0" animBg="1"/>
      <p:bldP spid="149" grpId="0" animBg="1"/>
      <p:bldP spid="151" grpId="0" animBg="1"/>
      <p:bldP spid="152" grpId="0" animBg="1"/>
      <p:bldP spid="153" grpId="0"/>
      <p:bldP spid="154" grpId="0"/>
      <p:bldP spid="157" grpId="0" animBg="1"/>
      <p:bldP spid="158" grpId="0"/>
      <p:bldP spid="159" grpId="0"/>
      <p:bldP spid="1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61"/>
          <p:cNvSpPr txBox="1">
            <a:spLocks noRot="1" noChangeArrowheads="1"/>
          </p:cNvSpPr>
          <p:nvPr/>
        </p:nvSpPr>
        <p:spPr bwMode="auto">
          <a:xfrm>
            <a:off x="1171846" y="442165"/>
            <a:ext cx="645735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PLANTEAMIENTO DEL PROBLEMA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18" name="Group 73"/>
          <p:cNvGrpSpPr>
            <a:grpSpLocks/>
          </p:cNvGrpSpPr>
          <p:nvPr/>
        </p:nvGrpSpPr>
        <p:grpSpPr bwMode="auto">
          <a:xfrm>
            <a:off x="500034" y="2500306"/>
            <a:ext cx="3381375" cy="3124200"/>
            <a:chOff x="672" y="1344"/>
            <a:chExt cx="2130" cy="1968"/>
          </a:xfrm>
        </p:grpSpPr>
        <p:sp>
          <p:nvSpPr>
            <p:cNvPr id="119" name="AutoShape 74"/>
            <p:cNvSpPr>
              <a:spLocks noChangeArrowheads="1"/>
            </p:cNvSpPr>
            <p:nvPr/>
          </p:nvSpPr>
          <p:spPr bwMode="gray">
            <a:xfrm>
              <a:off x="672" y="1872"/>
              <a:ext cx="2112" cy="1440"/>
            </a:xfrm>
            <a:prstGeom prst="roundRect">
              <a:avLst>
                <a:gd name="adj" fmla="val 10347"/>
              </a:avLst>
            </a:prstGeom>
            <a:gradFill rotWithShape="1">
              <a:gsLst>
                <a:gs pos="0">
                  <a:srgbClr val="CCECFF"/>
                </a:gs>
                <a:gs pos="100000">
                  <a:srgbClr val="CCECFF">
                    <a:gamma/>
                    <a:tint val="0"/>
                    <a:invGamma/>
                  </a:srgbClr>
                </a:gs>
              </a:gsLst>
              <a:lin ang="18900000" scaled="1"/>
            </a:gradFill>
            <a:ln w="50800">
              <a:solidFill>
                <a:srgbClr val="7099E2"/>
              </a:solidFill>
              <a:round/>
              <a:headEnd/>
              <a:tailEnd/>
            </a:ln>
            <a:effectLst>
              <a:outerShdw dist="107763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20" name="Group 75"/>
            <p:cNvGrpSpPr>
              <a:grpSpLocks/>
            </p:cNvGrpSpPr>
            <p:nvPr/>
          </p:nvGrpSpPr>
          <p:grpSpPr bwMode="auto">
            <a:xfrm>
              <a:off x="2304" y="1344"/>
              <a:ext cx="498" cy="1245"/>
              <a:chOff x="2304" y="1344"/>
              <a:chExt cx="498" cy="1245"/>
            </a:xfrm>
          </p:grpSpPr>
          <p:sp>
            <p:nvSpPr>
              <p:cNvPr id="121" name="Freeform 76"/>
              <p:cNvSpPr>
                <a:spLocks/>
              </p:cNvSpPr>
              <p:nvPr/>
            </p:nvSpPr>
            <p:spPr bwMode="gray">
              <a:xfrm>
                <a:off x="2425" y="1344"/>
                <a:ext cx="233" cy="254"/>
              </a:xfrm>
              <a:custGeom>
                <a:avLst/>
                <a:gdLst/>
                <a:ahLst/>
                <a:cxnLst>
                  <a:cxn ang="0">
                    <a:pos x="133" y="0"/>
                  </a:cxn>
                  <a:cxn ang="0">
                    <a:pos x="161" y="3"/>
                  </a:cxn>
                  <a:cxn ang="0">
                    <a:pos x="186" y="12"/>
                  </a:cxn>
                  <a:cxn ang="0">
                    <a:pos x="209" y="25"/>
                  </a:cxn>
                  <a:cxn ang="0">
                    <a:pos x="228" y="42"/>
                  </a:cxn>
                  <a:cxn ang="0">
                    <a:pos x="245" y="64"/>
                  </a:cxn>
                  <a:cxn ang="0">
                    <a:pos x="257" y="88"/>
                  </a:cxn>
                  <a:cxn ang="0">
                    <a:pos x="265" y="116"/>
                  </a:cxn>
                  <a:cxn ang="0">
                    <a:pos x="267" y="146"/>
                  </a:cxn>
                  <a:cxn ang="0">
                    <a:pos x="265" y="175"/>
                  </a:cxn>
                  <a:cxn ang="0">
                    <a:pos x="257" y="203"/>
                  </a:cxn>
                  <a:cxn ang="0">
                    <a:pos x="245" y="227"/>
                  </a:cxn>
                  <a:cxn ang="0">
                    <a:pos x="228" y="249"/>
                  </a:cxn>
                  <a:cxn ang="0">
                    <a:pos x="209" y="267"/>
                  </a:cxn>
                  <a:cxn ang="0">
                    <a:pos x="186" y="281"/>
                  </a:cxn>
                  <a:cxn ang="0">
                    <a:pos x="161" y="289"/>
                  </a:cxn>
                  <a:cxn ang="0">
                    <a:pos x="133" y="292"/>
                  </a:cxn>
                  <a:cxn ang="0">
                    <a:pos x="103" y="288"/>
                  </a:cxn>
                  <a:cxn ang="0">
                    <a:pos x="75" y="277"/>
                  </a:cxn>
                  <a:cxn ang="0">
                    <a:pos x="51" y="260"/>
                  </a:cxn>
                  <a:cxn ang="0">
                    <a:pos x="29" y="237"/>
                  </a:cxn>
                  <a:cxn ang="0">
                    <a:pos x="13" y="210"/>
                  </a:cxn>
                  <a:cxn ang="0">
                    <a:pos x="4" y="178"/>
                  </a:cxn>
                  <a:cxn ang="0">
                    <a:pos x="0" y="146"/>
                  </a:cxn>
                  <a:cxn ang="0">
                    <a:pos x="4" y="113"/>
                  </a:cxn>
                  <a:cxn ang="0">
                    <a:pos x="13" y="81"/>
                  </a:cxn>
                  <a:cxn ang="0">
                    <a:pos x="29" y="54"/>
                  </a:cxn>
                  <a:cxn ang="0">
                    <a:pos x="51" y="32"/>
                  </a:cxn>
                  <a:cxn ang="0">
                    <a:pos x="75" y="14"/>
                  </a:cxn>
                  <a:cxn ang="0">
                    <a:pos x="103" y="3"/>
                  </a:cxn>
                  <a:cxn ang="0">
                    <a:pos x="133" y="0"/>
                  </a:cxn>
                </a:cxnLst>
                <a:rect l="0" t="0" r="r" b="b"/>
                <a:pathLst>
                  <a:path w="267" h="292">
                    <a:moveTo>
                      <a:pt x="133" y="0"/>
                    </a:moveTo>
                    <a:lnTo>
                      <a:pt x="161" y="3"/>
                    </a:lnTo>
                    <a:lnTo>
                      <a:pt x="186" y="12"/>
                    </a:lnTo>
                    <a:lnTo>
                      <a:pt x="209" y="25"/>
                    </a:lnTo>
                    <a:lnTo>
                      <a:pt x="228" y="42"/>
                    </a:lnTo>
                    <a:lnTo>
                      <a:pt x="245" y="64"/>
                    </a:lnTo>
                    <a:lnTo>
                      <a:pt x="257" y="88"/>
                    </a:lnTo>
                    <a:lnTo>
                      <a:pt x="265" y="116"/>
                    </a:lnTo>
                    <a:lnTo>
                      <a:pt x="267" y="146"/>
                    </a:lnTo>
                    <a:lnTo>
                      <a:pt x="265" y="175"/>
                    </a:lnTo>
                    <a:lnTo>
                      <a:pt x="257" y="203"/>
                    </a:lnTo>
                    <a:lnTo>
                      <a:pt x="245" y="227"/>
                    </a:lnTo>
                    <a:lnTo>
                      <a:pt x="228" y="249"/>
                    </a:lnTo>
                    <a:lnTo>
                      <a:pt x="209" y="267"/>
                    </a:lnTo>
                    <a:lnTo>
                      <a:pt x="186" y="281"/>
                    </a:lnTo>
                    <a:lnTo>
                      <a:pt x="161" y="289"/>
                    </a:lnTo>
                    <a:lnTo>
                      <a:pt x="133" y="292"/>
                    </a:lnTo>
                    <a:lnTo>
                      <a:pt x="103" y="288"/>
                    </a:lnTo>
                    <a:lnTo>
                      <a:pt x="75" y="277"/>
                    </a:lnTo>
                    <a:lnTo>
                      <a:pt x="51" y="260"/>
                    </a:lnTo>
                    <a:lnTo>
                      <a:pt x="29" y="237"/>
                    </a:lnTo>
                    <a:lnTo>
                      <a:pt x="13" y="210"/>
                    </a:lnTo>
                    <a:lnTo>
                      <a:pt x="4" y="178"/>
                    </a:lnTo>
                    <a:lnTo>
                      <a:pt x="0" y="146"/>
                    </a:lnTo>
                    <a:lnTo>
                      <a:pt x="4" y="113"/>
                    </a:lnTo>
                    <a:lnTo>
                      <a:pt x="13" y="81"/>
                    </a:lnTo>
                    <a:lnTo>
                      <a:pt x="29" y="54"/>
                    </a:lnTo>
                    <a:lnTo>
                      <a:pt x="51" y="32"/>
                    </a:lnTo>
                    <a:lnTo>
                      <a:pt x="75" y="14"/>
                    </a:lnTo>
                    <a:lnTo>
                      <a:pt x="103" y="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7099E2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22" name="Freeform 77"/>
              <p:cNvSpPr>
                <a:spLocks/>
              </p:cNvSpPr>
              <p:nvPr/>
            </p:nvSpPr>
            <p:spPr bwMode="gray">
              <a:xfrm>
                <a:off x="2304" y="1625"/>
                <a:ext cx="498" cy="964"/>
              </a:xfrm>
              <a:custGeom>
                <a:avLst/>
                <a:gdLst/>
                <a:ahLst/>
                <a:cxnLst>
                  <a:cxn ang="0">
                    <a:pos x="72" y="5"/>
                  </a:cxn>
                  <a:cxn ang="0">
                    <a:pos x="30" y="32"/>
                  </a:cxn>
                  <a:cxn ang="0">
                    <a:pos x="4" y="75"/>
                  </a:cxn>
                  <a:cxn ang="0">
                    <a:pos x="0" y="509"/>
                  </a:cxn>
                  <a:cxn ang="0">
                    <a:pos x="1" y="516"/>
                  </a:cxn>
                  <a:cxn ang="0">
                    <a:pos x="9" y="533"/>
                  </a:cxn>
                  <a:cxn ang="0">
                    <a:pos x="26" y="550"/>
                  </a:cxn>
                  <a:cxn ang="0">
                    <a:pos x="56" y="557"/>
                  </a:cxn>
                  <a:cxn ang="0">
                    <a:pos x="84" y="551"/>
                  </a:cxn>
                  <a:cxn ang="0">
                    <a:pos x="100" y="534"/>
                  </a:cxn>
                  <a:cxn ang="0">
                    <a:pos x="106" y="516"/>
                  </a:cxn>
                  <a:cxn ang="0">
                    <a:pos x="108" y="503"/>
                  </a:cxn>
                  <a:cxn ang="0">
                    <a:pos x="108" y="166"/>
                  </a:cxn>
                  <a:cxn ang="0">
                    <a:pos x="135" y="1066"/>
                  </a:cxn>
                  <a:cxn ang="0">
                    <a:pos x="138" y="1073"/>
                  </a:cxn>
                  <a:cxn ang="0">
                    <a:pos x="151" y="1089"/>
                  </a:cxn>
                  <a:cxn ang="0">
                    <a:pos x="174" y="1105"/>
                  </a:cxn>
                  <a:cxn ang="0">
                    <a:pos x="199" y="1111"/>
                  </a:cxn>
                  <a:cxn ang="0">
                    <a:pos x="227" y="1110"/>
                  </a:cxn>
                  <a:cxn ang="0">
                    <a:pos x="255" y="1097"/>
                  </a:cxn>
                  <a:cxn ang="0">
                    <a:pos x="272" y="1080"/>
                  </a:cxn>
                  <a:cxn ang="0">
                    <a:pos x="278" y="1068"/>
                  </a:cxn>
                  <a:cxn ang="0">
                    <a:pos x="279" y="499"/>
                  </a:cxn>
                  <a:cxn ang="0">
                    <a:pos x="302" y="503"/>
                  </a:cxn>
                  <a:cxn ang="0">
                    <a:pos x="302" y="534"/>
                  </a:cxn>
                  <a:cxn ang="0">
                    <a:pos x="304" y="590"/>
                  </a:cxn>
                  <a:cxn ang="0">
                    <a:pos x="304" y="664"/>
                  </a:cxn>
                  <a:cxn ang="0">
                    <a:pos x="304" y="750"/>
                  </a:cxn>
                  <a:cxn ang="0">
                    <a:pos x="304" y="838"/>
                  </a:cxn>
                  <a:cxn ang="0">
                    <a:pos x="305" y="926"/>
                  </a:cxn>
                  <a:cxn ang="0">
                    <a:pos x="305" y="1004"/>
                  </a:cxn>
                  <a:cxn ang="0">
                    <a:pos x="305" y="1066"/>
                  </a:cxn>
                  <a:cxn ang="0">
                    <a:pos x="306" y="1073"/>
                  </a:cxn>
                  <a:cxn ang="0">
                    <a:pos x="315" y="1088"/>
                  </a:cxn>
                  <a:cxn ang="0">
                    <a:pos x="335" y="1103"/>
                  </a:cxn>
                  <a:cxn ang="0">
                    <a:pos x="372" y="1111"/>
                  </a:cxn>
                  <a:cxn ang="0">
                    <a:pos x="408" y="1103"/>
                  </a:cxn>
                  <a:cxn ang="0">
                    <a:pos x="429" y="1089"/>
                  </a:cxn>
                  <a:cxn ang="0">
                    <a:pos x="437" y="1073"/>
                  </a:cxn>
                  <a:cxn ang="0">
                    <a:pos x="438" y="1067"/>
                  </a:cxn>
                  <a:cxn ang="0">
                    <a:pos x="466" y="166"/>
                  </a:cxn>
                  <a:cxn ang="0">
                    <a:pos x="468" y="503"/>
                  </a:cxn>
                  <a:cxn ang="0">
                    <a:pos x="472" y="517"/>
                  </a:cxn>
                  <a:cxn ang="0">
                    <a:pos x="483" y="537"/>
                  </a:cxn>
                  <a:cxn ang="0">
                    <a:pos x="505" y="551"/>
                  </a:cxn>
                  <a:cxn ang="0">
                    <a:pos x="536" y="551"/>
                  </a:cxn>
                  <a:cxn ang="0">
                    <a:pos x="557" y="537"/>
                  </a:cxn>
                  <a:cxn ang="0">
                    <a:pos x="570" y="517"/>
                  </a:cxn>
                  <a:cxn ang="0">
                    <a:pos x="573" y="508"/>
                  </a:cxn>
                  <a:cxn ang="0">
                    <a:pos x="572" y="68"/>
                  </a:cxn>
                  <a:cxn ang="0">
                    <a:pos x="546" y="28"/>
                  </a:cxn>
                  <a:cxn ang="0">
                    <a:pos x="506" y="4"/>
                  </a:cxn>
                  <a:cxn ang="0">
                    <a:pos x="94" y="0"/>
                  </a:cxn>
                </a:cxnLst>
                <a:rect l="0" t="0" r="r" b="b"/>
                <a:pathLst>
                  <a:path w="573" h="1111">
                    <a:moveTo>
                      <a:pt x="94" y="0"/>
                    </a:moveTo>
                    <a:lnTo>
                      <a:pt x="72" y="5"/>
                    </a:lnTo>
                    <a:lnTo>
                      <a:pt x="50" y="16"/>
                    </a:lnTo>
                    <a:lnTo>
                      <a:pt x="30" y="32"/>
                    </a:lnTo>
                    <a:lnTo>
                      <a:pt x="15" y="53"/>
                    </a:lnTo>
                    <a:lnTo>
                      <a:pt x="4" y="75"/>
                    </a:lnTo>
                    <a:lnTo>
                      <a:pt x="0" y="99"/>
                    </a:lnTo>
                    <a:lnTo>
                      <a:pt x="0" y="509"/>
                    </a:lnTo>
                    <a:lnTo>
                      <a:pt x="0" y="511"/>
                    </a:lnTo>
                    <a:lnTo>
                      <a:pt x="1" y="516"/>
                    </a:lnTo>
                    <a:lnTo>
                      <a:pt x="4" y="525"/>
                    </a:lnTo>
                    <a:lnTo>
                      <a:pt x="9" y="533"/>
                    </a:lnTo>
                    <a:lnTo>
                      <a:pt x="16" y="543"/>
                    </a:lnTo>
                    <a:lnTo>
                      <a:pt x="26" y="550"/>
                    </a:lnTo>
                    <a:lnTo>
                      <a:pt x="39" y="556"/>
                    </a:lnTo>
                    <a:lnTo>
                      <a:pt x="56" y="557"/>
                    </a:lnTo>
                    <a:lnTo>
                      <a:pt x="72" y="556"/>
                    </a:lnTo>
                    <a:lnTo>
                      <a:pt x="84" y="551"/>
                    </a:lnTo>
                    <a:lnTo>
                      <a:pt x="92" y="543"/>
                    </a:lnTo>
                    <a:lnTo>
                      <a:pt x="100" y="534"/>
                    </a:lnTo>
                    <a:lnTo>
                      <a:pt x="103" y="525"/>
                    </a:lnTo>
                    <a:lnTo>
                      <a:pt x="106" y="516"/>
                    </a:lnTo>
                    <a:lnTo>
                      <a:pt x="107" y="508"/>
                    </a:lnTo>
                    <a:lnTo>
                      <a:pt x="108" y="503"/>
                    </a:lnTo>
                    <a:lnTo>
                      <a:pt x="108" y="500"/>
                    </a:lnTo>
                    <a:lnTo>
                      <a:pt x="108" y="166"/>
                    </a:lnTo>
                    <a:lnTo>
                      <a:pt x="134" y="167"/>
                    </a:lnTo>
                    <a:lnTo>
                      <a:pt x="135" y="1066"/>
                    </a:lnTo>
                    <a:lnTo>
                      <a:pt x="136" y="1068"/>
                    </a:lnTo>
                    <a:lnTo>
                      <a:pt x="138" y="1073"/>
                    </a:lnTo>
                    <a:lnTo>
                      <a:pt x="143" y="1080"/>
                    </a:lnTo>
                    <a:lnTo>
                      <a:pt x="151" y="1089"/>
                    </a:lnTo>
                    <a:lnTo>
                      <a:pt x="162" y="1097"/>
                    </a:lnTo>
                    <a:lnTo>
                      <a:pt x="174" y="1105"/>
                    </a:lnTo>
                    <a:lnTo>
                      <a:pt x="189" y="1110"/>
                    </a:lnTo>
                    <a:lnTo>
                      <a:pt x="199" y="1111"/>
                    </a:lnTo>
                    <a:lnTo>
                      <a:pt x="217" y="1111"/>
                    </a:lnTo>
                    <a:lnTo>
                      <a:pt x="227" y="1110"/>
                    </a:lnTo>
                    <a:lnTo>
                      <a:pt x="243" y="1105"/>
                    </a:lnTo>
                    <a:lnTo>
                      <a:pt x="255" y="1097"/>
                    </a:lnTo>
                    <a:lnTo>
                      <a:pt x="265" y="1089"/>
                    </a:lnTo>
                    <a:lnTo>
                      <a:pt x="272" y="1080"/>
                    </a:lnTo>
                    <a:lnTo>
                      <a:pt x="276" y="1073"/>
                    </a:lnTo>
                    <a:lnTo>
                      <a:pt x="278" y="1068"/>
                    </a:lnTo>
                    <a:lnTo>
                      <a:pt x="279" y="1066"/>
                    </a:lnTo>
                    <a:lnTo>
                      <a:pt x="279" y="499"/>
                    </a:lnTo>
                    <a:lnTo>
                      <a:pt x="302" y="499"/>
                    </a:lnTo>
                    <a:lnTo>
                      <a:pt x="302" y="503"/>
                    </a:lnTo>
                    <a:lnTo>
                      <a:pt x="302" y="515"/>
                    </a:lnTo>
                    <a:lnTo>
                      <a:pt x="302" y="534"/>
                    </a:lnTo>
                    <a:lnTo>
                      <a:pt x="302" y="560"/>
                    </a:lnTo>
                    <a:lnTo>
                      <a:pt x="304" y="590"/>
                    </a:lnTo>
                    <a:lnTo>
                      <a:pt x="304" y="626"/>
                    </a:lnTo>
                    <a:lnTo>
                      <a:pt x="304" y="664"/>
                    </a:lnTo>
                    <a:lnTo>
                      <a:pt x="304" y="706"/>
                    </a:lnTo>
                    <a:lnTo>
                      <a:pt x="304" y="750"/>
                    </a:lnTo>
                    <a:lnTo>
                      <a:pt x="304" y="793"/>
                    </a:lnTo>
                    <a:lnTo>
                      <a:pt x="304" y="838"/>
                    </a:lnTo>
                    <a:lnTo>
                      <a:pt x="305" y="882"/>
                    </a:lnTo>
                    <a:lnTo>
                      <a:pt x="305" y="926"/>
                    </a:lnTo>
                    <a:lnTo>
                      <a:pt x="305" y="966"/>
                    </a:lnTo>
                    <a:lnTo>
                      <a:pt x="305" y="1004"/>
                    </a:lnTo>
                    <a:lnTo>
                      <a:pt x="305" y="1037"/>
                    </a:lnTo>
                    <a:lnTo>
                      <a:pt x="305" y="1066"/>
                    </a:lnTo>
                    <a:lnTo>
                      <a:pt x="305" y="1067"/>
                    </a:lnTo>
                    <a:lnTo>
                      <a:pt x="306" y="1073"/>
                    </a:lnTo>
                    <a:lnTo>
                      <a:pt x="310" y="1079"/>
                    </a:lnTo>
                    <a:lnTo>
                      <a:pt x="315" y="1088"/>
                    </a:lnTo>
                    <a:lnTo>
                      <a:pt x="323" y="1096"/>
                    </a:lnTo>
                    <a:lnTo>
                      <a:pt x="335" y="1103"/>
                    </a:lnTo>
                    <a:lnTo>
                      <a:pt x="351" y="1108"/>
                    </a:lnTo>
                    <a:lnTo>
                      <a:pt x="372" y="1111"/>
                    </a:lnTo>
                    <a:lnTo>
                      <a:pt x="392" y="1108"/>
                    </a:lnTo>
                    <a:lnTo>
                      <a:pt x="408" y="1103"/>
                    </a:lnTo>
                    <a:lnTo>
                      <a:pt x="420" y="1096"/>
                    </a:lnTo>
                    <a:lnTo>
                      <a:pt x="429" y="1089"/>
                    </a:lnTo>
                    <a:lnTo>
                      <a:pt x="434" y="1080"/>
                    </a:lnTo>
                    <a:lnTo>
                      <a:pt x="437" y="1073"/>
                    </a:lnTo>
                    <a:lnTo>
                      <a:pt x="438" y="1068"/>
                    </a:lnTo>
                    <a:lnTo>
                      <a:pt x="438" y="1067"/>
                    </a:lnTo>
                    <a:lnTo>
                      <a:pt x="440" y="166"/>
                    </a:lnTo>
                    <a:lnTo>
                      <a:pt x="466" y="166"/>
                    </a:lnTo>
                    <a:lnTo>
                      <a:pt x="466" y="500"/>
                    </a:lnTo>
                    <a:lnTo>
                      <a:pt x="468" y="503"/>
                    </a:lnTo>
                    <a:lnTo>
                      <a:pt x="469" y="509"/>
                    </a:lnTo>
                    <a:lnTo>
                      <a:pt x="472" y="517"/>
                    </a:lnTo>
                    <a:lnTo>
                      <a:pt x="477" y="527"/>
                    </a:lnTo>
                    <a:lnTo>
                      <a:pt x="483" y="537"/>
                    </a:lnTo>
                    <a:lnTo>
                      <a:pt x="493" y="545"/>
                    </a:lnTo>
                    <a:lnTo>
                      <a:pt x="505" y="551"/>
                    </a:lnTo>
                    <a:lnTo>
                      <a:pt x="520" y="554"/>
                    </a:lnTo>
                    <a:lnTo>
                      <a:pt x="536" y="551"/>
                    </a:lnTo>
                    <a:lnTo>
                      <a:pt x="548" y="545"/>
                    </a:lnTo>
                    <a:lnTo>
                      <a:pt x="557" y="537"/>
                    </a:lnTo>
                    <a:lnTo>
                      <a:pt x="563" y="527"/>
                    </a:lnTo>
                    <a:lnTo>
                      <a:pt x="570" y="517"/>
                    </a:lnTo>
                    <a:lnTo>
                      <a:pt x="573" y="510"/>
                    </a:lnTo>
                    <a:lnTo>
                      <a:pt x="573" y="508"/>
                    </a:lnTo>
                    <a:lnTo>
                      <a:pt x="573" y="79"/>
                    </a:lnTo>
                    <a:lnTo>
                      <a:pt x="572" y="68"/>
                    </a:lnTo>
                    <a:lnTo>
                      <a:pt x="561" y="47"/>
                    </a:lnTo>
                    <a:lnTo>
                      <a:pt x="546" y="28"/>
                    </a:lnTo>
                    <a:lnTo>
                      <a:pt x="528" y="14"/>
                    </a:lnTo>
                    <a:lnTo>
                      <a:pt x="506" y="4"/>
                    </a:lnTo>
                    <a:lnTo>
                      <a:pt x="485" y="0"/>
                    </a:lnTo>
                    <a:lnTo>
                      <a:pt x="94" y="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7099E2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es-BO"/>
              </a:p>
            </p:txBody>
          </p:sp>
        </p:grpSp>
      </p:grpSp>
      <p:sp>
        <p:nvSpPr>
          <p:cNvPr id="123" name="Text Box 78"/>
          <p:cNvSpPr txBox="1">
            <a:spLocks noChangeArrowheads="1"/>
          </p:cNvSpPr>
          <p:nvPr/>
        </p:nvSpPr>
        <p:spPr bwMode="gray">
          <a:xfrm>
            <a:off x="857224" y="3643314"/>
            <a:ext cx="2438400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/>
            <a:r>
              <a:rPr lang="en-US" sz="2000" dirty="0" err="1" smtClean="0">
                <a:solidFill>
                  <a:srgbClr val="000000"/>
                </a:solidFill>
              </a:rPr>
              <a:t>Poca</a:t>
            </a:r>
            <a:r>
              <a:rPr lang="en-US" sz="2000" dirty="0" smtClean="0">
                <a:solidFill>
                  <a:srgbClr val="000000"/>
                </a:solidFill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</a:rPr>
              <a:t>preocupación</a:t>
            </a:r>
            <a:r>
              <a:rPr lang="en-US" sz="2000" dirty="0" smtClean="0">
                <a:solidFill>
                  <a:srgbClr val="000000"/>
                </a:solidFill>
              </a:rPr>
              <a:t> en </a:t>
            </a:r>
            <a:r>
              <a:rPr lang="en-US" sz="2000" dirty="0" err="1" smtClean="0">
                <a:solidFill>
                  <a:srgbClr val="000000"/>
                </a:solidFill>
              </a:rPr>
              <a:t>seguridad</a:t>
            </a:r>
            <a:r>
              <a:rPr lang="en-US" sz="2000" dirty="0" smtClean="0">
                <a:solidFill>
                  <a:srgbClr val="000000"/>
                </a:solidFill>
              </a:rPr>
              <a:t> , mayor </a:t>
            </a:r>
            <a:r>
              <a:rPr lang="en-US" sz="2000" dirty="0" err="1" smtClean="0">
                <a:solidFill>
                  <a:srgbClr val="000000"/>
                </a:solidFill>
              </a:rPr>
              <a:t>enfasis</a:t>
            </a:r>
            <a:r>
              <a:rPr lang="en-US" sz="2000" dirty="0" smtClean="0">
                <a:solidFill>
                  <a:srgbClr val="000000"/>
                </a:solidFill>
              </a:rPr>
              <a:t> en </a:t>
            </a:r>
            <a:r>
              <a:rPr lang="en-US" sz="2000" dirty="0" err="1" smtClean="0">
                <a:solidFill>
                  <a:srgbClr val="000000"/>
                </a:solidFill>
              </a:rPr>
              <a:t>funcionalidad</a:t>
            </a:r>
            <a:endParaRPr lang="en-US" sz="2000" b="0" dirty="0">
              <a:solidFill>
                <a:srgbClr val="000000"/>
              </a:solidFill>
            </a:endParaRPr>
          </a:p>
        </p:txBody>
      </p:sp>
      <p:grpSp>
        <p:nvGrpSpPr>
          <p:cNvPr id="124" name="Group 79"/>
          <p:cNvGrpSpPr>
            <a:grpSpLocks/>
          </p:cNvGrpSpPr>
          <p:nvPr/>
        </p:nvGrpSpPr>
        <p:grpSpPr bwMode="auto">
          <a:xfrm>
            <a:off x="4005234" y="2500306"/>
            <a:ext cx="3375025" cy="3124200"/>
            <a:chOff x="2880" y="1344"/>
            <a:chExt cx="2126" cy="1968"/>
          </a:xfrm>
        </p:grpSpPr>
        <p:sp>
          <p:nvSpPr>
            <p:cNvPr id="125" name="AutoShape 80"/>
            <p:cNvSpPr>
              <a:spLocks noChangeArrowheads="1"/>
            </p:cNvSpPr>
            <p:nvPr/>
          </p:nvSpPr>
          <p:spPr bwMode="gray">
            <a:xfrm>
              <a:off x="2894" y="1872"/>
              <a:ext cx="2112" cy="1440"/>
            </a:xfrm>
            <a:prstGeom prst="roundRect">
              <a:avLst>
                <a:gd name="adj" fmla="val 10347"/>
              </a:avLst>
            </a:prstGeom>
            <a:gradFill rotWithShape="1">
              <a:gsLst>
                <a:gs pos="0">
                  <a:srgbClr val="D8F4BE">
                    <a:gamma/>
                    <a:tint val="0"/>
                    <a:invGamma/>
                  </a:srgbClr>
                </a:gs>
                <a:gs pos="100000">
                  <a:srgbClr val="D8F4BE"/>
                </a:gs>
              </a:gsLst>
              <a:lin ang="2700000" scaled="1"/>
            </a:gradFill>
            <a:ln w="50800">
              <a:solidFill>
                <a:srgbClr val="44988C"/>
              </a:solidFill>
              <a:round/>
              <a:headEnd/>
              <a:tailEnd/>
            </a:ln>
            <a:effectLst>
              <a:outerShdw dist="107763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26" name="Text Box 81"/>
            <p:cNvSpPr txBox="1">
              <a:spLocks noChangeArrowheads="1"/>
            </p:cNvSpPr>
            <p:nvPr/>
          </p:nvSpPr>
          <p:spPr bwMode="gray">
            <a:xfrm>
              <a:off x="3360" y="2016"/>
              <a:ext cx="1632" cy="10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2000" dirty="0" err="1" smtClean="0">
                  <a:solidFill>
                    <a:srgbClr val="000000"/>
                  </a:solidFill>
                </a:rPr>
                <a:t>Huecos</a:t>
              </a:r>
              <a:r>
                <a:rPr lang="en-US" sz="2000" dirty="0" smtClean="0">
                  <a:solidFill>
                    <a:srgbClr val="000000"/>
                  </a:solidFill>
                </a:rPr>
                <a:t> de </a:t>
              </a:r>
              <a:r>
                <a:rPr lang="en-US" sz="2000" dirty="0" err="1" smtClean="0">
                  <a:solidFill>
                    <a:srgbClr val="000000"/>
                  </a:solidFill>
                </a:rPr>
                <a:t>seguridad</a:t>
              </a:r>
              <a:r>
                <a:rPr lang="en-US" sz="2000" dirty="0" smtClean="0">
                  <a:solidFill>
                    <a:srgbClr val="000000"/>
                  </a:solidFill>
                </a:rPr>
                <a:t> no </a:t>
              </a:r>
              <a:r>
                <a:rPr lang="en-US" sz="2000" dirty="0" err="1" smtClean="0">
                  <a:solidFill>
                    <a:srgbClr val="000000"/>
                  </a:solidFill>
                </a:rPr>
                <a:t>evidenciados</a:t>
              </a:r>
              <a:r>
                <a:rPr lang="en-US" sz="2000" dirty="0" smtClean="0">
                  <a:solidFill>
                    <a:srgbClr val="00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000000"/>
                  </a:solidFill>
                </a:rPr>
                <a:t>que</a:t>
              </a:r>
              <a:r>
                <a:rPr lang="en-US" sz="2000" dirty="0" smtClean="0">
                  <a:solidFill>
                    <a:srgbClr val="00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000000"/>
                  </a:solidFill>
                </a:rPr>
                <a:t>comprometen</a:t>
              </a:r>
              <a:r>
                <a:rPr lang="en-US" sz="2000" dirty="0" smtClean="0">
                  <a:solidFill>
                    <a:srgbClr val="000000"/>
                  </a:solidFill>
                </a:rPr>
                <a:t> </a:t>
              </a:r>
              <a:r>
                <a:rPr lang="en-US" sz="2000" dirty="0" err="1" smtClean="0">
                  <a:solidFill>
                    <a:srgbClr val="000000"/>
                  </a:solidFill>
                </a:rPr>
                <a:t>integridad</a:t>
              </a:r>
              <a:r>
                <a:rPr lang="en-US" sz="2000" dirty="0" smtClean="0">
                  <a:solidFill>
                    <a:srgbClr val="000000"/>
                  </a:solidFill>
                </a:rPr>
                <a:t> de la </a:t>
              </a:r>
              <a:r>
                <a:rPr lang="en-US" sz="2000" dirty="0" err="1" smtClean="0">
                  <a:solidFill>
                    <a:srgbClr val="000000"/>
                  </a:solidFill>
                </a:rPr>
                <a:t>seguridad</a:t>
              </a:r>
              <a:endParaRPr lang="en-US" sz="2000" b="0" dirty="0">
                <a:solidFill>
                  <a:srgbClr val="000000"/>
                </a:solidFill>
              </a:endParaRPr>
            </a:p>
          </p:txBody>
        </p:sp>
        <p:grpSp>
          <p:nvGrpSpPr>
            <p:cNvPr id="127" name="Group 82"/>
            <p:cNvGrpSpPr>
              <a:grpSpLocks/>
            </p:cNvGrpSpPr>
            <p:nvPr/>
          </p:nvGrpSpPr>
          <p:grpSpPr bwMode="auto">
            <a:xfrm>
              <a:off x="2880" y="1344"/>
              <a:ext cx="498" cy="1245"/>
              <a:chOff x="2880" y="1344"/>
              <a:chExt cx="498" cy="1245"/>
            </a:xfrm>
          </p:grpSpPr>
          <p:sp>
            <p:nvSpPr>
              <p:cNvPr id="128" name="Freeform 83"/>
              <p:cNvSpPr>
                <a:spLocks/>
              </p:cNvSpPr>
              <p:nvPr/>
            </p:nvSpPr>
            <p:spPr bwMode="gray">
              <a:xfrm>
                <a:off x="3001" y="1344"/>
                <a:ext cx="233" cy="254"/>
              </a:xfrm>
              <a:custGeom>
                <a:avLst/>
                <a:gdLst/>
                <a:ahLst/>
                <a:cxnLst>
                  <a:cxn ang="0">
                    <a:pos x="133" y="0"/>
                  </a:cxn>
                  <a:cxn ang="0">
                    <a:pos x="161" y="3"/>
                  </a:cxn>
                  <a:cxn ang="0">
                    <a:pos x="186" y="12"/>
                  </a:cxn>
                  <a:cxn ang="0">
                    <a:pos x="209" y="25"/>
                  </a:cxn>
                  <a:cxn ang="0">
                    <a:pos x="228" y="42"/>
                  </a:cxn>
                  <a:cxn ang="0">
                    <a:pos x="245" y="64"/>
                  </a:cxn>
                  <a:cxn ang="0">
                    <a:pos x="257" y="88"/>
                  </a:cxn>
                  <a:cxn ang="0">
                    <a:pos x="265" y="116"/>
                  </a:cxn>
                  <a:cxn ang="0">
                    <a:pos x="267" y="146"/>
                  </a:cxn>
                  <a:cxn ang="0">
                    <a:pos x="265" y="175"/>
                  </a:cxn>
                  <a:cxn ang="0">
                    <a:pos x="257" y="203"/>
                  </a:cxn>
                  <a:cxn ang="0">
                    <a:pos x="245" y="227"/>
                  </a:cxn>
                  <a:cxn ang="0">
                    <a:pos x="228" y="249"/>
                  </a:cxn>
                  <a:cxn ang="0">
                    <a:pos x="209" y="267"/>
                  </a:cxn>
                  <a:cxn ang="0">
                    <a:pos x="186" y="281"/>
                  </a:cxn>
                  <a:cxn ang="0">
                    <a:pos x="161" y="289"/>
                  </a:cxn>
                  <a:cxn ang="0">
                    <a:pos x="133" y="292"/>
                  </a:cxn>
                  <a:cxn ang="0">
                    <a:pos x="103" y="288"/>
                  </a:cxn>
                  <a:cxn ang="0">
                    <a:pos x="75" y="277"/>
                  </a:cxn>
                  <a:cxn ang="0">
                    <a:pos x="51" y="260"/>
                  </a:cxn>
                  <a:cxn ang="0">
                    <a:pos x="29" y="237"/>
                  </a:cxn>
                  <a:cxn ang="0">
                    <a:pos x="13" y="210"/>
                  </a:cxn>
                  <a:cxn ang="0">
                    <a:pos x="4" y="178"/>
                  </a:cxn>
                  <a:cxn ang="0">
                    <a:pos x="0" y="146"/>
                  </a:cxn>
                  <a:cxn ang="0">
                    <a:pos x="4" y="113"/>
                  </a:cxn>
                  <a:cxn ang="0">
                    <a:pos x="13" y="81"/>
                  </a:cxn>
                  <a:cxn ang="0">
                    <a:pos x="29" y="54"/>
                  </a:cxn>
                  <a:cxn ang="0">
                    <a:pos x="51" y="32"/>
                  </a:cxn>
                  <a:cxn ang="0">
                    <a:pos x="75" y="14"/>
                  </a:cxn>
                  <a:cxn ang="0">
                    <a:pos x="103" y="3"/>
                  </a:cxn>
                  <a:cxn ang="0">
                    <a:pos x="133" y="0"/>
                  </a:cxn>
                </a:cxnLst>
                <a:rect l="0" t="0" r="r" b="b"/>
                <a:pathLst>
                  <a:path w="267" h="292">
                    <a:moveTo>
                      <a:pt x="133" y="0"/>
                    </a:moveTo>
                    <a:lnTo>
                      <a:pt x="161" y="3"/>
                    </a:lnTo>
                    <a:lnTo>
                      <a:pt x="186" y="12"/>
                    </a:lnTo>
                    <a:lnTo>
                      <a:pt x="209" y="25"/>
                    </a:lnTo>
                    <a:lnTo>
                      <a:pt x="228" y="42"/>
                    </a:lnTo>
                    <a:lnTo>
                      <a:pt x="245" y="64"/>
                    </a:lnTo>
                    <a:lnTo>
                      <a:pt x="257" y="88"/>
                    </a:lnTo>
                    <a:lnTo>
                      <a:pt x="265" y="116"/>
                    </a:lnTo>
                    <a:lnTo>
                      <a:pt x="267" y="146"/>
                    </a:lnTo>
                    <a:lnTo>
                      <a:pt x="265" y="175"/>
                    </a:lnTo>
                    <a:lnTo>
                      <a:pt x="257" y="203"/>
                    </a:lnTo>
                    <a:lnTo>
                      <a:pt x="245" y="227"/>
                    </a:lnTo>
                    <a:lnTo>
                      <a:pt x="228" y="249"/>
                    </a:lnTo>
                    <a:lnTo>
                      <a:pt x="209" y="267"/>
                    </a:lnTo>
                    <a:lnTo>
                      <a:pt x="186" y="281"/>
                    </a:lnTo>
                    <a:lnTo>
                      <a:pt x="161" y="289"/>
                    </a:lnTo>
                    <a:lnTo>
                      <a:pt x="133" y="292"/>
                    </a:lnTo>
                    <a:lnTo>
                      <a:pt x="103" y="288"/>
                    </a:lnTo>
                    <a:lnTo>
                      <a:pt x="75" y="277"/>
                    </a:lnTo>
                    <a:lnTo>
                      <a:pt x="51" y="260"/>
                    </a:lnTo>
                    <a:lnTo>
                      <a:pt x="29" y="237"/>
                    </a:lnTo>
                    <a:lnTo>
                      <a:pt x="13" y="210"/>
                    </a:lnTo>
                    <a:lnTo>
                      <a:pt x="4" y="178"/>
                    </a:lnTo>
                    <a:lnTo>
                      <a:pt x="0" y="146"/>
                    </a:lnTo>
                    <a:lnTo>
                      <a:pt x="4" y="113"/>
                    </a:lnTo>
                    <a:lnTo>
                      <a:pt x="13" y="81"/>
                    </a:lnTo>
                    <a:lnTo>
                      <a:pt x="29" y="54"/>
                    </a:lnTo>
                    <a:lnTo>
                      <a:pt x="51" y="32"/>
                    </a:lnTo>
                    <a:lnTo>
                      <a:pt x="75" y="14"/>
                    </a:lnTo>
                    <a:lnTo>
                      <a:pt x="103" y="3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44988C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es-BO"/>
              </a:p>
            </p:txBody>
          </p:sp>
          <p:sp>
            <p:nvSpPr>
              <p:cNvPr id="129" name="Freeform 84"/>
              <p:cNvSpPr>
                <a:spLocks/>
              </p:cNvSpPr>
              <p:nvPr/>
            </p:nvSpPr>
            <p:spPr bwMode="gray">
              <a:xfrm>
                <a:off x="2880" y="1625"/>
                <a:ext cx="498" cy="964"/>
              </a:xfrm>
              <a:custGeom>
                <a:avLst/>
                <a:gdLst/>
                <a:ahLst/>
                <a:cxnLst>
                  <a:cxn ang="0">
                    <a:pos x="72" y="5"/>
                  </a:cxn>
                  <a:cxn ang="0">
                    <a:pos x="30" y="32"/>
                  </a:cxn>
                  <a:cxn ang="0">
                    <a:pos x="4" y="75"/>
                  </a:cxn>
                  <a:cxn ang="0">
                    <a:pos x="0" y="509"/>
                  </a:cxn>
                  <a:cxn ang="0">
                    <a:pos x="1" y="516"/>
                  </a:cxn>
                  <a:cxn ang="0">
                    <a:pos x="9" y="533"/>
                  </a:cxn>
                  <a:cxn ang="0">
                    <a:pos x="26" y="550"/>
                  </a:cxn>
                  <a:cxn ang="0">
                    <a:pos x="56" y="557"/>
                  </a:cxn>
                  <a:cxn ang="0">
                    <a:pos x="84" y="551"/>
                  </a:cxn>
                  <a:cxn ang="0">
                    <a:pos x="100" y="534"/>
                  </a:cxn>
                  <a:cxn ang="0">
                    <a:pos x="106" y="516"/>
                  </a:cxn>
                  <a:cxn ang="0">
                    <a:pos x="108" y="503"/>
                  </a:cxn>
                  <a:cxn ang="0">
                    <a:pos x="108" y="166"/>
                  </a:cxn>
                  <a:cxn ang="0">
                    <a:pos x="135" y="1066"/>
                  </a:cxn>
                  <a:cxn ang="0">
                    <a:pos x="138" y="1073"/>
                  </a:cxn>
                  <a:cxn ang="0">
                    <a:pos x="151" y="1089"/>
                  </a:cxn>
                  <a:cxn ang="0">
                    <a:pos x="174" y="1105"/>
                  </a:cxn>
                  <a:cxn ang="0">
                    <a:pos x="199" y="1111"/>
                  </a:cxn>
                  <a:cxn ang="0">
                    <a:pos x="227" y="1110"/>
                  </a:cxn>
                  <a:cxn ang="0">
                    <a:pos x="255" y="1097"/>
                  </a:cxn>
                  <a:cxn ang="0">
                    <a:pos x="272" y="1080"/>
                  </a:cxn>
                  <a:cxn ang="0">
                    <a:pos x="278" y="1068"/>
                  </a:cxn>
                  <a:cxn ang="0">
                    <a:pos x="279" y="499"/>
                  </a:cxn>
                  <a:cxn ang="0">
                    <a:pos x="302" y="503"/>
                  </a:cxn>
                  <a:cxn ang="0">
                    <a:pos x="302" y="534"/>
                  </a:cxn>
                  <a:cxn ang="0">
                    <a:pos x="304" y="590"/>
                  </a:cxn>
                  <a:cxn ang="0">
                    <a:pos x="304" y="664"/>
                  </a:cxn>
                  <a:cxn ang="0">
                    <a:pos x="304" y="750"/>
                  </a:cxn>
                  <a:cxn ang="0">
                    <a:pos x="304" y="838"/>
                  </a:cxn>
                  <a:cxn ang="0">
                    <a:pos x="305" y="926"/>
                  </a:cxn>
                  <a:cxn ang="0">
                    <a:pos x="305" y="1004"/>
                  </a:cxn>
                  <a:cxn ang="0">
                    <a:pos x="305" y="1066"/>
                  </a:cxn>
                  <a:cxn ang="0">
                    <a:pos x="306" y="1073"/>
                  </a:cxn>
                  <a:cxn ang="0">
                    <a:pos x="315" y="1088"/>
                  </a:cxn>
                  <a:cxn ang="0">
                    <a:pos x="335" y="1103"/>
                  </a:cxn>
                  <a:cxn ang="0">
                    <a:pos x="372" y="1111"/>
                  </a:cxn>
                  <a:cxn ang="0">
                    <a:pos x="408" y="1103"/>
                  </a:cxn>
                  <a:cxn ang="0">
                    <a:pos x="429" y="1089"/>
                  </a:cxn>
                  <a:cxn ang="0">
                    <a:pos x="437" y="1073"/>
                  </a:cxn>
                  <a:cxn ang="0">
                    <a:pos x="438" y="1067"/>
                  </a:cxn>
                  <a:cxn ang="0">
                    <a:pos x="466" y="166"/>
                  </a:cxn>
                  <a:cxn ang="0">
                    <a:pos x="468" y="503"/>
                  </a:cxn>
                  <a:cxn ang="0">
                    <a:pos x="472" y="517"/>
                  </a:cxn>
                  <a:cxn ang="0">
                    <a:pos x="483" y="537"/>
                  </a:cxn>
                  <a:cxn ang="0">
                    <a:pos x="505" y="551"/>
                  </a:cxn>
                  <a:cxn ang="0">
                    <a:pos x="536" y="551"/>
                  </a:cxn>
                  <a:cxn ang="0">
                    <a:pos x="557" y="537"/>
                  </a:cxn>
                  <a:cxn ang="0">
                    <a:pos x="570" y="517"/>
                  </a:cxn>
                  <a:cxn ang="0">
                    <a:pos x="573" y="508"/>
                  </a:cxn>
                  <a:cxn ang="0">
                    <a:pos x="572" y="68"/>
                  </a:cxn>
                  <a:cxn ang="0">
                    <a:pos x="546" y="28"/>
                  </a:cxn>
                  <a:cxn ang="0">
                    <a:pos x="506" y="4"/>
                  </a:cxn>
                  <a:cxn ang="0">
                    <a:pos x="94" y="0"/>
                  </a:cxn>
                </a:cxnLst>
                <a:rect l="0" t="0" r="r" b="b"/>
                <a:pathLst>
                  <a:path w="573" h="1111">
                    <a:moveTo>
                      <a:pt x="94" y="0"/>
                    </a:moveTo>
                    <a:lnTo>
                      <a:pt x="72" y="5"/>
                    </a:lnTo>
                    <a:lnTo>
                      <a:pt x="50" y="16"/>
                    </a:lnTo>
                    <a:lnTo>
                      <a:pt x="30" y="32"/>
                    </a:lnTo>
                    <a:lnTo>
                      <a:pt x="15" y="53"/>
                    </a:lnTo>
                    <a:lnTo>
                      <a:pt x="4" y="75"/>
                    </a:lnTo>
                    <a:lnTo>
                      <a:pt x="0" y="99"/>
                    </a:lnTo>
                    <a:lnTo>
                      <a:pt x="0" y="509"/>
                    </a:lnTo>
                    <a:lnTo>
                      <a:pt x="0" y="511"/>
                    </a:lnTo>
                    <a:lnTo>
                      <a:pt x="1" y="516"/>
                    </a:lnTo>
                    <a:lnTo>
                      <a:pt x="4" y="525"/>
                    </a:lnTo>
                    <a:lnTo>
                      <a:pt x="9" y="533"/>
                    </a:lnTo>
                    <a:lnTo>
                      <a:pt x="16" y="543"/>
                    </a:lnTo>
                    <a:lnTo>
                      <a:pt x="26" y="550"/>
                    </a:lnTo>
                    <a:lnTo>
                      <a:pt x="39" y="556"/>
                    </a:lnTo>
                    <a:lnTo>
                      <a:pt x="56" y="557"/>
                    </a:lnTo>
                    <a:lnTo>
                      <a:pt x="72" y="556"/>
                    </a:lnTo>
                    <a:lnTo>
                      <a:pt x="84" y="551"/>
                    </a:lnTo>
                    <a:lnTo>
                      <a:pt x="92" y="543"/>
                    </a:lnTo>
                    <a:lnTo>
                      <a:pt x="100" y="534"/>
                    </a:lnTo>
                    <a:lnTo>
                      <a:pt x="103" y="525"/>
                    </a:lnTo>
                    <a:lnTo>
                      <a:pt x="106" y="516"/>
                    </a:lnTo>
                    <a:lnTo>
                      <a:pt x="107" y="508"/>
                    </a:lnTo>
                    <a:lnTo>
                      <a:pt x="108" y="503"/>
                    </a:lnTo>
                    <a:lnTo>
                      <a:pt x="108" y="500"/>
                    </a:lnTo>
                    <a:lnTo>
                      <a:pt x="108" y="166"/>
                    </a:lnTo>
                    <a:lnTo>
                      <a:pt x="134" y="167"/>
                    </a:lnTo>
                    <a:lnTo>
                      <a:pt x="135" y="1066"/>
                    </a:lnTo>
                    <a:lnTo>
                      <a:pt x="136" y="1068"/>
                    </a:lnTo>
                    <a:lnTo>
                      <a:pt x="138" y="1073"/>
                    </a:lnTo>
                    <a:lnTo>
                      <a:pt x="143" y="1080"/>
                    </a:lnTo>
                    <a:lnTo>
                      <a:pt x="151" y="1089"/>
                    </a:lnTo>
                    <a:lnTo>
                      <a:pt x="162" y="1097"/>
                    </a:lnTo>
                    <a:lnTo>
                      <a:pt x="174" y="1105"/>
                    </a:lnTo>
                    <a:lnTo>
                      <a:pt x="189" y="1110"/>
                    </a:lnTo>
                    <a:lnTo>
                      <a:pt x="199" y="1111"/>
                    </a:lnTo>
                    <a:lnTo>
                      <a:pt x="217" y="1111"/>
                    </a:lnTo>
                    <a:lnTo>
                      <a:pt x="227" y="1110"/>
                    </a:lnTo>
                    <a:lnTo>
                      <a:pt x="243" y="1105"/>
                    </a:lnTo>
                    <a:lnTo>
                      <a:pt x="255" y="1097"/>
                    </a:lnTo>
                    <a:lnTo>
                      <a:pt x="265" y="1089"/>
                    </a:lnTo>
                    <a:lnTo>
                      <a:pt x="272" y="1080"/>
                    </a:lnTo>
                    <a:lnTo>
                      <a:pt x="276" y="1073"/>
                    </a:lnTo>
                    <a:lnTo>
                      <a:pt x="278" y="1068"/>
                    </a:lnTo>
                    <a:lnTo>
                      <a:pt x="279" y="1066"/>
                    </a:lnTo>
                    <a:lnTo>
                      <a:pt x="279" y="499"/>
                    </a:lnTo>
                    <a:lnTo>
                      <a:pt x="302" y="499"/>
                    </a:lnTo>
                    <a:lnTo>
                      <a:pt x="302" y="503"/>
                    </a:lnTo>
                    <a:lnTo>
                      <a:pt x="302" y="515"/>
                    </a:lnTo>
                    <a:lnTo>
                      <a:pt x="302" y="534"/>
                    </a:lnTo>
                    <a:lnTo>
                      <a:pt x="302" y="560"/>
                    </a:lnTo>
                    <a:lnTo>
                      <a:pt x="304" y="590"/>
                    </a:lnTo>
                    <a:lnTo>
                      <a:pt x="304" y="626"/>
                    </a:lnTo>
                    <a:lnTo>
                      <a:pt x="304" y="664"/>
                    </a:lnTo>
                    <a:lnTo>
                      <a:pt x="304" y="706"/>
                    </a:lnTo>
                    <a:lnTo>
                      <a:pt x="304" y="750"/>
                    </a:lnTo>
                    <a:lnTo>
                      <a:pt x="304" y="793"/>
                    </a:lnTo>
                    <a:lnTo>
                      <a:pt x="304" y="838"/>
                    </a:lnTo>
                    <a:lnTo>
                      <a:pt x="305" y="882"/>
                    </a:lnTo>
                    <a:lnTo>
                      <a:pt x="305" y="926"/>
                    </a:lnTo>
                    <a:lnTo>
                      <a:pt x="305" y="966"/>
                    </a:lnTo>
                    <a:lnTo>
                      <a:pt x="305" y="1004"/>
                    </a:lnTo>
                    <a:lnTo>
                      <a:pt x="305" y="1037"/>
                    </a:lnTo>
                    <a:lnTo>
                      <a:pt x="305" y="1066"/>
                    </a:lnTo>
                    <a:lnTo>
                      <a:pt x="305" y="1067"/>
                    </a:lnTo>
                    <a:lnTo>
                      <a:pt x="306" y="1073"/>
                    </a:lnTo>
                    <a:lnTo>
                      <a:pt x="310" y="1079"/>
                    </a:lnTo>
                    <a:lnTo>
                      <a:pt x="315" y="1088"/>
                    </a:lnTo>
                    <a:lnTo>
                      <a:pt x="323" y="1096"/>
                    </a:lnTo>
                    <a:lnTo>
                      <a:pt x="335" y="1103"/>
                    </a:lnTo>
                    <a:lnTo>
                      <a:pt x="351" y="1108"/>
                    </a:lnTo>
                    <a:lnTo>
                      <a:pt x="372" y="1111"/>
                    </a:lnTo>
                    <a:lnTo>
                      <a:pt x="392" y="1108"/>
                    </a:lnTo>
                    <a:lnTo>
                      <a:pt x="408" y="1103"/>
                    </a:lnTo>
                    <a:lnTo>
                      <a:pt x="420" y="1096"/>
                    </a:lnTo>
                    <a:lnTo>
                      <a:pt x="429" y="1089"/>
                    </a:lnTo>
                    <a:lnTo>
                      <a:pt x="434" y="1080"/>
                    </a:lnTo>
                    <a:lnTo>
                      <a:pt x="437" y="1073"/>
                    </a:lnTo>
                    <a:lnTo>
                      <a:pt x="438" y="1068"/>
                    </a:lnTo>
                    <a:lnTo>
                      <a:pt x="438" y="1067"/>
                    </a:lnTo>
                    <a:lnTo>
                      <a:pt x="440" y="166"/>
                    </a:lnTo>
                    <a:lnTo>
                      <a:pt x="466" y="166"/>
                    </a:lnTo>
                    <a:lnTo>
                      <a:pt x="466" y="500"/>
                    </a:lnTo>
                    <a:lnTo>
                      <a:pt x="468" y="503"/>
                    </a:lnTo>
                    <a:lnTo>
                      <a:pt x="469" y="509"/>
                    </a:lnTo>
                    <a:lnTo>
                      <a:pt x="472" y="517"/>
                    </a:lnTo>
                    <a:lnTo>
                      <a:pt x="477" y="527"/>
                    </a:lnTo>
                    <a:lnTo>
                      <a:pt x="483" y="537"/>
                    </a:lnTo>
                    <a:lnTo>
                      <a:pt x="493" y="545"/>
                    </a:lnTo>
                    <a:lnTo>
                      <a:pt x="505" y="551"/>
                    </a:lnTo>
                    <a:lnTo>
                      <a:pt x="520" y="554"/>
                    </a:lnTo>
                    <a:lnTo>
                      <a:pt x="536" y="551"/>
                    </a:lnTo>
                    <a:lnTo>
                      <a:pt x="548" y="545"/>
                    </a:lnTo>
                    <a:lnTo>
                      <a:pt x="557" y="537"/>
                    </a:lnTo>
                    <a:lnTo>
                      <a:pt x="563" y="527"/>
                    </a:lnTo>
                    <a:lnTo>
                      <a:pt x="570" y="517"/>
                    </a:lnTo>
                    <a:lnTo>
                      <a:pt x="573" y="510"/>
                    </a:lnTo>
                    <a:lnTo>
                      <a:pt x="573" y="508"/>
                    </a:lnTo>
                    <a:lnTo>
                      <a:pt x="573" y="79"/>
                    </a:lnTo>
                    <a:lnTo>
                      <a:pt x="572" y="68"/>
                    </a:lnTo>
                    <a:lnTo>
                      <a:pt x="561" y="47"/>
                    </a:lnTo>
                    <a:lnTo>
                      <a:pt x="546" y="28"/>
                    </a:lnTo>
                    <a:lnTo>
                      <a:pt x="528" y="14"/>
                    </a:lnTo>
                    <a:lnTo>
                      <a:pt x="506" y="4"/>
                    </a:lnTo>
                    <a:lnTo>
                      <a:pt x="485" y="0"/>
                    </a:lnTo>
                    <a:lnTo>
                      <a:pt x="94" y="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44988C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outerShdw dist="91581" dir="3378596" algn="ctr" rotWithShape="0">
                  <a:srgbClr val="C0C0C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es-BO"/>
              </a:p>
            </p:txBody>
          </p:sp>
        </p:grpSp>
      </p:grpSp>
      <p:sp>
        <p:nvSpPr>
          <p:cNvPr id="130" name="AutoShape 48"/>
          <p:cNvSpPr>
            <a:spLocks noChangeArrowheads="1"/>
          </p:cNvSpPr>
          <p:nvPr/>
        </p:nvSpPr>
        <p:spPr bwMode="ltGray">
          <a:xfrm rot="10800000" flipV="1">
            <a:off x="3071802" y="1857364"/>
            <a:ext cx="1701800" cy="785813"/>
          </a:xfrm>
          <a:prstGeom prst="downArrow">
            <a:avLst>
              <a:gd name="adj1" fmla="val 75111"/>
              <a:gd name="adj2" fmla="val 40843"/>
            </a:avLst>
          </a:prstGeom>
          <a:gradFill rotWithShape="1">
            <a:gsLst>
              <a:gs pos="0">
                <a:schemeClr val="accent1">
                  <a:gamma/>
                  <a:tint val="53333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31" name="AutoShape 11"/>
          <p:cNvSpPr>
            <a:spLocks noChangeArrowheads="1"/>
          </p:cNvSpPr>
          <p:nvPr/>
        </p:nvSpPr>
        <p:spPr bwMode="gray">
          <a:xfrm>
            <a:off x="1444605" y="1203310"/>
            <a:ext cx="5492750" cy="488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F8F8F8">
                  <a:gamma/>
                  <a:shade val="76471"/>
                  <a:invGamma/>
                </a:srgbClr>
              </a:gs>
            </a:gsLst>
            <a:lin ang="5400000" scaled="1"/>
          </a:gradFill>
          <a:ln w="19050">
            <a:solidFill>
              <a:srgbClr val="C0C0C0"/>
            </a:solidFill>
            <a:round/>
            <a:headEnd/>
            <a:tailEnd/>
          </a:ln>
          <a:effectLst>
            <a:outerShdw dist="53882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es-BO"/>
          </a:p>
        </p:txBody>
      </p:sp>
      <p:sp>
        <p:nvSpPr>
          <p:cNvPr id="132" name="Rectangle 12"/>
          <p:cNvSpPr>
            <a:spLocks noChangeArrowheads="1"/>
          </p:cNvSpPr>
          <p:nvPr/>
        </p:nvSpPr>
        <p:spPr bwMode="gray">
          <a:xfrm>
            <a:off x="1714480" y="1285860"/>
            <a:ext cx="499268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ctr" eaLnBrk="0" hangingPunct="0"/>
            <a:r>
              <a:rPr lang="en-US" sz="2000" dirty="0" err="1" smtClean="0">
                <a:solidFill>
                  <a:srgbClr val="1C1C1C"/>
                </a:solidFill>
              </a:rPr>
              <a:t>Análisis</a:t>
            </a:r>
            <a:r>
              <a:rPr lang="en-US" sz="2000" dirty="0" smtClean="0">
                <a:solidFill>
                  <a:srgbClr val="1C1C1C"/>
                </a:solidFill>
              </a:rPr>
              <a:t> </a:t>
            </a:r>
            <a:r>
              <a:rPr lang="en-US" sz="2000" dirty="0" err="1" smtClean="0">
                <a:solidFill>
                  <a:srgbClr val="1C1C1C"/>
                </a:solidFill>
              </a:rPr>
              <a:t>causa-efecto</a:t>
            </a:r>
            <a:endParaRPr lang="en-US" sz="2000" dirty="0">
              <a:solidFill>
                <a:srgbClr val="1C1C1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30" grpId="0" animBg="1"/>
      <p:bldP spid="131" grpId="0" animBg="1"/>
      <p:bldP spid="1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21" name="Rectangle 57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OBJETIVOS</a:t>
            </a:r>
            <a:endParaRPr lang="en-US" sz="3600" dirty="0"/>
          </a:p>
        </p:txBody>
      </p:sp>
      <p:sp>
        <p:nvSpPr>
          <p:cNvPr id="86" name="AutoShape 3"/>
          <p:cNvSpPr>
            <a:spLocks noChangeArrowheads="1"/>
          </p:cNvSpPr>
          <p:nvPr/>
        </p:nvSpPr>
        <p:spPr bwMode="gray">
          <a:xfrm>
            <a:off x="6521450" y="3214686"/>
            <a:ext cx="2622550" cy="2360611"/>
          </a:xfrm>
          <a:prstGeom prst="homePlate">
            <a:avLst>
              <a:gd name="adj" fmla="val 25462"/>
            </a:avLst>
          </a:prstGeom>
          <a:gradFill rotWithShape="1">
            <a:gsLst>
              <a:gs pos="0">
                <a:srgbClr val="F6F6F6"/>
              </a:gs>
              <a:gs pos="100000">
                <a:schemeClr val="accent2"/>
              </a:gs>
            </a:gsLst>
            <a:lin ang="2700000" scaled="1"/>
          </a:gradFill>
          <a:ln w="12700" algn="ctr">
            <a:noFill/>
            <a:prstDash val="dash"/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7" name="AutoShape 3"/>
          <p:cNvSpPr>
            <a:spLocks noChangeArrowheads="1"/>
          </p:cNvSpPr>
          <p:nvPr/>
        </p:nvSpPr>
        <p:spPr bwMode="gray">
          <a:xfrm>
            <a:off x="4968904" y="3214686"/>
            <a:ext cx="2514600" cy="2373309"/>
          </a:xfrm>
          <a:prstGeom prst="homePlate">
            <a:avLst>
              <a:gd name="adj" fmla="val 25000"/>
            </a:avLst>
          </a:prstGeom>
          <a:gradFill rotWithShape="1">
            <a:gsLst>
              <a:gs pos="0">
                <a:srgbClr val="F6F6F6"/>
              </a:gs>
              <a:gs pos="100000">
                <a:schemeClr val="folHlink"/>
              </a:gs>
            </a:gsLst>
            <a:lin ang="2700000" scaled="1"/>
          </a:gradFill>
          <a:ln w="12700" algn="ctr">
            <a:noFill/>
            <a:prstDash val="dash"/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8" name="AutoShape 4"/>
          <p:cNvSpPr>
            <a:spLocks noChangeArrowheads="1"/>
          </p:cNvSpPr>
          <p:nvPr/>
        </p:nvSpPr>
        <p:spPr bwMode="gray">
          <a:xfrm>
            <a:off x="2987704" y="3214686"/>
            <a:ext cx="2809875" cy="2374896"/>
          </a:xfrm>
          <a:prstGeom prst="homePlate">
            <a:avLst>
              <a:gd name="adj" fmla="val 27281"/>
            </a:avLst>
          </a:prstGeom>
          <a:gradFill rotWithShape="1">
            <a:gsLst>
              <a:gs pos="0">
                <a:srgbClr val="FFFFFF"/>
              </a:gs>
              <a:gs pos="100000">
                <a:schemeClr val="hlink"/>
              </a:gs>
            </a:gsLst>
            <a:lin ang="18900000" scaled="1"/>
          </a:gradFill>
          <a:ln w="12700" algn="ctr">
            <a:noFill/>
            <a:prstDash val="dash"/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9" name="Freeform 5"/>
          <p:cNvSpPr>
            <a:spLocks/>
          </p:cNvSpPr>
          <p:nvPr/>
        </p:nvSpPr>
        <p:spPr bwMode="gray">
          <a:xfrm>
            <a:off x="0" y="2714620"/>
            <a:ext cx="8715404" cy="517525"/>
          </a:xfrm>
          <a:custGeom>
            <a:avLst/>
            <a:gdLst>
              <a:gd name="T0" fmla="*/ 0 w 3454"/>
              <a:gd name="T1" fmla="*/ 0 h 267"/>
              <a:gd name="T2" fmla="*/ 87 w 3454"/>
              <a:gd name="T3" fmla="*/ 267 h 267"/>
              <a:gd name="T4" fmla="*/ 3454 w 3454"/>
              <a:gd name="T5" fmla="*/ 267 h 267"/>
              <a:gd name="T6" fmla="*/ 3292 w 3454"/>
              <a:gd name="T7" fmla="*/ 8 h 267"/>
              <a:gd name="T8" fmla="*/ 0 w 3454"/>
              <a:gd name="T9" fmla="*/ 0 h 2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54"/>
              <a:gd name="T16" fmla="*/ 0 h 267"/>
              <a:gd name="T17" fmla="*/ 3454 w 3454"/>
              <a:gd name="T18" fmla="*/ 267 h 2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54" h="267">
                <a:moveTo>
                  <a:pt x="0" y="0"/>
                </a:moveTo>
                <a:lnTo>
                  <a:pt x="87" y="267"/>
                </a:lnTo>
                <a:lnTo>
                  <a:pt x="3454" y="267"/>
                </a:lnTo>
                <a:lnTo>
                  <a:pt x="3292" y="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12700">
            <a:noFill/>
            <a:prstDash val="dash"/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14603E"/>
              </a:solidFill>
              <a:latin typeface="+mn-lt"/>
            </a:endParaRPr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ltGray">
          <a:xfrm>
            <a:off x="1592292" y="3228972"/>
            <a:ext cx="2400300" cy="2379660"/>
          </a:xfrm>
          <a:prstGeom prst="homePlate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tint val="66667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12700" algn="ctr">
            <a:noFill/>
            <a:prstDash val="dash"/>
            <a:miter lim="800000"/>
            <a:headEnd/>
            <a:tailEnd/>
          </a:ln>
          <a:effectLst>
            <a:outerShdw dist="56796" dir="3806097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1" name="Rectangle 8"/>
          <p:cNvSpPr>
            <a:spLocks noChangeArrowheads="1"/>
          </p:cNvSpPr>
          <p:nvPr/>
        </p:nvSpPr>
        <p:spPr bwMode="white">
          <a:xfrm>
            <a:off x="-285784" y="2786058"/>
            <a:ext cx="3852889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n-US" b="1" dirty="0" err="1" smtClean="0">
                <a:solidFill>
                  <a:schemeClr val="bg2"/>
                </a:solidFill>
                <a:latin typeface="Arial" charset="0"/>
                <a:cs typeface="Arial" charset="0"/>
              </a:rPr>
              <a:t>Objetivos</a:t>
            </a:r>
            <a:r>
              <a:rPr lang="en-US" b="1" dirty="0" smtClean="0">
                <a:solidFill>
                  <a:schemeClr val="bg2"/>
                </a:solidFill>
                <a:latin typeface="Arial" charset="0"/>
                <a:cs typeface="Arial" charset="0"/>
              </a:rPr>
              <a:t> </a:t>
            </a:r>
            <a:r>
              <a:rPr lang="en-US" b="1" dirty="0" err="1" smtClean="0">
                <a:solidFill>
                  <a:schemeClr val="bg2"/>
                </a:solidFill>
                <a:latin typeface="Arial" charset="0"/>
                <a:cs typeface="Arial" charset="0"/>
              </a:rPr>
              <a:t>específicos</a:t>
            </a:r>
            <a:endParaRPr lang="en-US" b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92" name="AutoShape 3"/>
          <p:cNvSpPr>
            <a:spLocks noChangeArrowheads="1"/>
          </p:cNvSpPr>
          <p:nvPr/>
        </p:nvSpPr>
        <p:spPr bwMode="gray">
          <a:xfrm>
            <a:off x="142876" y="3214686"/>
            <a:ext cx="2071702" cy="2428892"/>
          </a:xfrm>
          <a:prstGeom prst="homePlate">
            <a:avLst>
              <a:gd name="adj" fmla="val 25462"/>
            </a:avLst>
          </a:prstGeom>
          <a:gradFill rotWithShape="1">
            <a:gsLst>
              <a:gs pos="0">
                <a:srgbClr val="F6F6F6"/>
              </a:gs>
              <a:gs pos="100000">
                <a:schemeClr val="accent2"/>
              </a:gs>
            </a:gsLst>
            <a:lin ang="2700000" scaled="1"/>
          </a:gradFill>
          <a:ln w="12700" algn="ctr">
            <a:noFill/>
            <a:prstDash val="dash"/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93" name="Freeform 73"/>
          <p:cNvSpPr>
            <a:spLocks/>
          </p:cNvSpPr>
          <p:nvPr/>
        </p:nvSpPr>
        <p:spPr bwMode="gray">
          <a:xfrm>
            <a:off x="2357422" y="1142985"/>
            <a:ext cx="6247026" cy="857256"/>
          </a:xfrm>
          <a:custGeom>
            <a:avLst/>
            <a:gdLst>
              <a:gd name="T0" fmla="*/ 383 w 4357"/>
              <a:gd name="T1" fmla="*/ 0 h 623"/>
              <a:gd name="T2" fmla="*/ 3954 w 4357"/>
              <a:gd name="T3" fmla="*/ 0 h 623"/>
              <a:gd name="T4" fmla="*/ 4356 w 4357"/>
              <a:gd name="T5" fmla="*/ 622 h 623"/>
              <a:gd name="T6" fmla="*/ 0 w 4357"/>
              <a:gd name="T7" fmla="*/ 622 h 623"/>
              <a:gd name="T8" fmla="*/ 383 w 4357"/>
              <a:gd name="T9" fmla="*/ 0 h 6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57"/>
              <a:gd name="T16" fmla="*/ 0 h 623"/>
              <a:gd name="T17" fmla="*/ 4357 w 4357"/>
              <a:gd name="T18" fmla="*/ 623 h 6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57" h="623">
                <a:moveTo>
                  <a:pt x="383" y="0"/>
                </a:moveTo>
                <a:lnTo>
                  <a:pt x="3954" y="0"/>
                </a:lnTo>
                <a:lnTo>
                  <a:pt x="4356" y="622"/>
                </a:lnTo>
                <a:lnTo>
                  <a:pt x="0" y="622"/>
                </a:lnTo>
                <a:lnTo>
                  <a:pt x="383" y="0"/>
                </a:lnTo>
              </a:path>
            </a:pathLst>
          </a:custGeom>
          <a:gradFill rotWithShape="1">
            <a:gsLst>
              <a:gs pos="0">
                <a:schemeClr val="accent1">
                  <a:gamma/>
                  <a:tint val="60392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rnd">
            <a:noFill/>
            <a:round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endParaRPr lang="en-US" dirty="0">
              <a:solidFill>
                <a:srgbClr val="14603E"/>
              </a:solidFill>
              <a:latin typeface="Arial" charset="0"/>
            </a:endParaRPr>
          </a:p>
        </p:txBody>
      </p:sp>
      <p:sp>
        <p:nvSpPr>
          <p:cNvPr id="94" name="93 CuadroTexto"/>
          <p:cNvSpPr txBox="1"/>
          <p:nvPr/>
        </p:nvSpPr>
        <p:spPr>
          <a:xfrm>
            <a:off x="2928926" y="1142984"/>
            <a:ext cx="5357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Diseñar e implementar un agente de software basado en la norma ISO-NB17799 que realice el testeo para el control de accesos ante las amenazas de protección de software </a:t>
            </a:r>
            <a:endParaRPr lang="es-BO" dirty="0"/>
          </a:p>
        </p:txBody>
      </p:sp>
      <p:grpSp>
        <p:nvGrpSpPr>
          <p:cNvPr id="95" name="Group 71"/>
          <p:cNvGrpSpPr>
            <a:grpSpLocks/>
          </p:cNvGrpSpPr>
          <p:nvPr/>
        </p:nvGrpSpPr>
        <p:grpSpPr bwMode="auto">
          <a:xfrm>
            <a:off x="214282" y="1000108"/>
            <a:ext cx="1357322" cy="1567699"/>
            <a:chOff x="969" y="2211"/>
            <a:chExt cx="1099" cy="1374"/>
          </a:xfrm>
        </p:grpSpPr>
        <p:pic>
          <p:nvPicPr>
            <p:cNvPr id="96" name="Picture 8" descr="light_shadow"/>
            <p:cNvPicPr>
              <a:picLocks noChangeAspect="1" noChangeArrowheads="1"/>
            </p:cNvPicPr>
            <p:nvPr/>
          </p:nvPicPr>
          <p:blipFill>
            <a:blip r:embed="rId2" cstate="print">
              <a:lum bright="-78000" contrast="-78000"/>
            </a:blip>
            <a:srcRect/>
            <a:stretch>
              <a:fillRect/>
            </a:stretch>
          </p:blipFill>
          <p:spPr bwMode="gray">
            <a:xfrm>
              <a:off x="1047" y="3166"/>
              <a:ext cx="912" cy="248"/>
            </a:xfrm>
            <a:prstGeom prst="rect">
              <a:avLst/>
            </a:prstGeom>
            <a:noFill/>
          </p:spPr>
        </p:pic>
        <p:grpSp>
          <p:nvGrpSpPr>
            <p:cNvPr id="97" name="Group 36"/>
            <p:cNvGrpSpPr>
              <a:grpSpLocks/>
            </p:cNvGrpSpPr>
            <p:nvPr/>
          </p:nvGrpSpPr>
          <p:grpSpPr bwMode="auto">
            <a:xfrm>
              <a:off x="969" y="2215"/>
              <a:ext cx="1099" cy="1371"/>
              <a:chOff x="2304" y="2496"/>
              <a:chExt cx="1200" cy="1523"/>
            </a:xfrm>
          </p:grpSpPr>
          <p:pic>
            <p:nvPicPr>
              <p:cNvPr id="99" name="Picture 37" descr="circuler_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2314" y="2544"/>
                <a:ext cx="1182" cy="11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0" name="Oval 38"/>
              <p:cNvSpPr>
                <a:spLocks noChangeArrowheads="1"/>
              </p:cNvSpPr>
              <p:nvPr/>
            </p:nvSpPr>
            <p:spPr bwMode="gray">
              <a:xfrm>
                <a:off x="2314" y="2544"/>
                <a:ext cx="1190" cy="1199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BO"/>
              </a:p>
            </p:txBody>
          </p:sp>
          <p:pic>
            <p:nvPicPr>
              <p:cNvPr id="101" name="Picture 39" descr="light_shadow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t="14285"/>
              <a:stretch>
                <a:fillRect/>
              </a:stretch>
            </p:blipFill>
            <p:spPr bwMode="gray">
              <a:xfrm>
                <a:off x="2304" y="2496"/>
                <a:ext cx="871" cy="7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102" name="Group 40"/>
              <p:cNvGrpSpPr>
                <a:grpSpLocks/>
              </p:cNvGrpSpPr>
              <p:nvPr/>
            </p:nvGrpSpPr>
            <p:grpSpPr bwMode="auto">
              <a:xfrm rot="-3733502" flipH="1" flipV="1">
                <a:off x="2667" y="3372"/>
                <a:ext cx="1051" cy="244"/>
                <a:chOff x="2526" y="1060"/>
                <a:chExt cx="896" cy="236"/>
              </a:xfrm>
            </p:grpSpPr>
            <p:grpSp>
              <p:nvGrpSpPr>
                <p:cNvPr id="103" name="Group 41"/>
                <p:cNvGrpSpPr>
                  <a:grpSpLocks/>
                </p:cNvGrpSpPr>
                <p:nvPr/>
              </p:nvGrpSpPr>
              <p:grpSpPr bwMode="auto">
                <a:xfrm>
                  <a:off x="2526" y="1060"/>
                  <a:ext cx="742" cy="186"/>
                  <a:chOff x="1565" y="2568"/>
                  <a:chExt cx="1118" cy="279"/>
                </a:xfrm>
              </p:grpSpPr>
              <p:sp>
                <p:nvSpPr>
                  <p:cNvPr id="109" name="AutoShape 42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sp>
                <p:nvSpPr>
                  <p:cNvPr id="110" name="AutoShape 43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sp>
                <p:nvSpPr>
                  <p:cNvPr id="111" name="AutoShape 44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sp>
                <p:nvSpPr>
                  <p:cNvPr id="112" name="AutoShape 45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</p:grpSp>
            <p:grpSp>
              <p:nvGrpSpPr>
                <p:cNvPr id="104" name="Group 46"/>
                <p:cNvGrpSpPr>
                  <a:grpSpLocks/>
                </p:cNvGrpSpPr>
                <p:nvPr/>
              </p:nvGrpSpPr>
              <p:grpSpPr bwMode="auto">
                <a:xfrm rot="1353540">
                  <a:off x="2680" y="1110"/>
                  <a:ext cx="742" cy="186"/>
                  <a:chOff x="1565" y="2568"/>
                  <a:chExt cx="1118" cy="279"/>
                </a:xfrm>
              </p:grpSpPr>
              <p:sp>
                <p:nvSpPr>
                  <p:cNvPr id="105" name="AutoShape 47"/>
                  <p:cNvSpPr>
                    <a:spLocks noChangeArrowheads="1"/>
                  </p:cNvSpPr>
                  <p:nvPr/>
                </p:nvSpPr>
                <p:spPr bwMode="white">
                  <a:xfrm rot="5263130">
                    <a:off x="1859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sp>
                <p:nvSpPr>
                  <p:cNvPr id="106" name="AutoShape 48"/>
                  <p:cNvSpPr>
                    <a:spLocks noChangeArrowheads="1"/>
                  </p:cNvSpPr>
                  <p:nvPr/>
                </p:nvSpPr>
                <p:spPr bwMode="white">
                  <a:xfrm rot="6078281">
                    <a:off x="1995" y="227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sp>
                <p:nvSpPr>
                  <p:cNvPr id="107" name="AutoShape 49"/>
                  <p:cNvSpPr>
                    <a:spLocks noChangeArrowheads="1"/>
                  </p:cNvSpPr>
                  <p:nvPr/>
                </p:nvSpPr>
                <p:spPr bwMode="white">
                  <a:xfrm rot="6373927">
                    <a:off x="2071" y="229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  <p:sp>
                <p:nvSpPr>
                  <p:cNvPr id="108" name="AutoShape 50"/>
                  <p:cNvSpPr>
                    <a:spLocks noChangeArrowheads="1"/>
                  </p:cNvSpPr>
                  <p:nvPr/>
                </p:nvSpPr>
                <p:spPr bwMode="white">
                  <a:xfrm rot="6906312">
                    <a:off x="2161" y="2326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s-BO"/>
                  </a:p>
                </p:txBody>
              </p:sp>
            </p:grpSp>
          </p:grpSp>
        </p:grpSp>
        <p:sp>
          <p:nvSpPr>
            <p:cNvPr id="98" name="Rectangle 66"/>
            <p:cNvSpPr>
              <a:spLocks noChangeArrowheads="1"/>
            </p:cNvSpPr>
            <p:nvPr/>
          </p:nvSpPr>
          <p:spPr bwMode="auto">
            <a:xfrm>
              <a:off x="1027" y="2461"/>
              <a:ext cx="925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 err="1" smtClean="0">
                  <a:latin typeface="Arial" charset="0"/>
                  <a:cs typeface="Arial" charset="0"/>
                </a:rPr>
                <a:t>Objetivo</a:t>
              </a:r>
              <a:r>
                <a:rPr lang="en-US" b="1" dirty="0" smtClean="0">
                  <a:solidFill>
                    <a:schemeClr val="bg2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b="1" dirty="0" smtClean="0">
                  <a:latin typeface="Arial" charset="0"/>
                  <a:cs typeface="Arial" charset="0"/>
                </a:rPr>
                <a:t>general</a:t>
              </a:r>
              <a:endParaRPr lang="en-US" b="1" dirty="0">
                <a:latin typeface="Arial" charset="0"/>
                <a:cs typeface="Arial" charset="0"/>
              </a:endParaRPr>
            </a:p>
          </p:txBody>
        </p:sp>
      </p:grpSp>
      <p:sp>
        <p:nvSpPr>
          <p:cNvPr id="113" name="Freeform 48"/>
          <p:cNvSpPr>
            <a:spLocks/>
          </p:cNvSpPr>
          <p:nvPr/>
        </p:nvSpPr>
        <p:spPr bwMode="invGray">
          <a:xfrm rot="16200000">
            <a:off x="1795486" y="1378346"/>
            <a:ext cx="255138" cy="560023"/>
          </a:xfrm>
          <a:custGeom>
            <a:avLst/>
            <a:gdLst/>
            <a:ahLst/>
            <a:cxnLst>
              <a:cxn ang="0">
                <a:pos x="37" y="1"/>
              </a:cxn>
              <a:cxn ang="0">
                <a:pos x="45" y="472"/>
              </a:cxn>
              <a:cxn ang="0">
                <a:pos x="0" y="474"/>
              </a:cxn>
              <a:cxn ang="0">
                <a:pos x="72" y="604"/>
              </a:cxn>
              <a:cxn ang="0">
                <a:pos x="142" y="474"/>
              </a:cxn>
              <a:cxn ang="0">
                <a:pos x="100" y="474"/>
              </a:cxn>
              <a:cxn ang="0">
                <a:pos x="99" y="0"/>
              </a:cxn>
              <a:cxn ang="0">
                <a:pos x="37" y="1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14" name="Text Box 24"/>
          <p:cNvSpPr txBox="1">
            <a:spLocks noChangeArrowheads="1"/>
          </p:cNvSpPr>
          <p:nvPr/>
        </p:nvSpPr>
        <p:spPr bwMode="black">
          <a:xfrm>
            <a:off x="214282" y="3786190"/>
            <a:ext cx="157003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Verificar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procesos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para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realizar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testeo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penetración</a:t>
            </a:r>
            <a:endParaRPr lang="en-US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5" name="Text Box 20"/>
          <p:cNvSpPr txBox="1">
            <a:spLocks noChangeArrowheads="1"/>
          </p:cNvSpPr>
          <p:nvPr/>
        </p:nvSpPr>
        <p:spPr bwMode="black">
          <a:xfrm>
            <a:off x="2071670" y="3643314"/>
            <a:ext cx="157163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Establecer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tipos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agentes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software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para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satisfacer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necesidades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testeo</a:t>
            </a:r>
            <a:endParaRPr lang="en-US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6" name="Text Box 21"/>
          <p:cNvSpPr txBox="1">
            <a:spLocks noChangeArrowheads="1"/>
          </p:cNvSpPr>
          <p:nvPr/>
        </p:nvSpPr>
        <p:spPr bwMode="black">
          <a:xfrm>
            <a:off x="4071934" y="3643314"/>
            <a:ext cx="1214446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Establecer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tipos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amenazas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penetración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endParaRPr lang="en-US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7" name="Text Box 22"/>
          <p:cNvSpPr txBox="1">
            <a:spLocks noChangeArrowheads="1"/>
          </p:cNvSpPr>
          <p:nvPr/>
        </p:nvSpPr>
        <p:spPr bwMode="black">
          <a:xfrm>
            <a:off x="5786446" y="3571876"/>
            <a:ext cx="142876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Realizar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análisis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norma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ISO-NB17799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para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reducir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niveles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riesgo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amenazas</a:t>
            </a:r>
            <a:endParaRPr lang="en-US" sz="140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8" name="Text Box 23"/>
          <p:cNvSpPr txBox="1">
            <a:spLocks noChangeArrowheads="1"/>
          </p:cNvSpPr>
          <p:nvPr/>
        </p:nvSpPr>
        <p:spPr bwMode="black">
          <a:xfrm>
            <a:off x="7500958" y="3571876"/>
            <a:ext cx="1347782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Desarrollar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agente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software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para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testeo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vulnerabilidades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 en control de </a:t>
            </a:r>
            <a:r>
              <a:rPr lang="en-US" sz="1400" dirty="0" err="1" smtClean="0">
                <a:solidFill>
                  <a:schemeClr val="bg1"/>
                </a:solidFill>
                <a:latin typeface="Arial" charset="0"/>
              </a:rPr>
              <a:t>accesos</a:t>
            </a:r>
            <a:endParaRPr lang="en-US" sz="14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90" grpId="0" animBg="1"/>
      <p:bldP spid="91" grpId="0"/>
      <p:bldP spid="92" grpId="0" animBg="1"/>
      <p:bldP spid="93" grpId="0" animBg="1"/>
      <p:bldP spid="94" grpId="0"/>
      <p:bldP spid="114" grpId="0"/>
      <p:bldP spid="115" grpId="0"/>
      <p:bldP spid="116" grpId="0"/>
      <p:bldP spid="117" grpId="0"/>
      <p:bldP spid="1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AutoShape 2"/>
          <p:cNvSpPr>
            <a:spLocks noChangeArrowheads="1"/>
          </p:cNvSpPr>
          <p:nvPr/>
        </p:nvSpPr>
        <p:spPr bwMode="invGray">
          <a:xfrm>
            <a:off x="5757863" y="1868488"/>
            <a:ext cx="2166937" cy="2994025"/>
          </a:xfrm>
          <a:prstGeom prst="roundRect">
            <a:avLst>
              <a:gd name="adj" fmla="val 12574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14691" name="AutoShape 3"/>
          <p:cNvSpPr>
            <a:spLocks noChangeArrowheads="1"/>
          </p:cNvSpPr>
          <p:nvPr/>
        </p:nvSpPr>
        <p:spPr bwMode="gray">
          <a:xfrm>
            <a:off x="5754688" y="4086225"/>
            <a:ext cx="2159000" cy="769938"/>
          </a:xfrm>
          <a:prstGeom prst="roundRect">
            <a:avLst>
              <a:gd name="adj" fmla="val 32134"/>
            </a:avLst>
          </a:prstGeom>
          <a:gradFill rotWithShape="1">
            <a:gsLst>
              <a:gs pos="0">
                <a:schemeClr val="folHlink">
                  <a:alpha val="0"/>
                </a:schemeClr>
              </a:gs>
              <a:gs pos="100000">
                <a:schemeClr val="folHlink">
                  <a:gamma/>
                  <a:tint val="41176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114692" name="AutoShape 4"/>
          <p:cNvSpPr>
            <a:spLocks noChangeArrowheads="1"/>
          </p:cNvSpPr>
          <p:nvPr/>
        </p:nvSpPr>
        <p:spPr bwMode="gray">
          <a:xfrm>
            <a:off x="5715008" y="1878013"/>
            <a:ext cx="2130425" cy="771525"/>
          </a:xfrm>
          <a:prstGeom prst="roundRect">
            <a:avLst>
              <a:gd name="adj" fmla="val 31319"/>
            </a:avLst>
          </a:prstGeom>
          <a:gradFill rotWithShape="1">
            <a:gsLst>
              <a:gs pos="0">
                <a:schemeClr val="folHlink">
                  <a:gamma/>
                  <a:tint val="33333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r>
              <a:rPr lang="es-BO" sz="1700" dirty="0" smtClean="0"/>
              <a:t>La herramienta podrá </a:t>
            </a:r>
          </a:p>
          <a:p>
            <a:r>
              <a:rPr lang="es-BO" sz="1700" dirty="0" smtClean="0"/>
              <a:t>ser utilizada en SW ya </a:t>
            </a:r>
          </a:p>
          <a:p>
            <a:r>
              <a:rPr lang="es-BO" sz="1700" dirty="0" smtClean="0"/>
              <a:t>implantado como en el </a:t>
            </a:r>
          </a:p>
          <a:p>
            <a:r>
              <a:rPr lang="es-BO" sz="1700" dirty="0" smtClean="0"/>
              <a:t>que fue desarrollado</a:t>
            </a:r>
          </a:p>
          <a:p>
            <a:r>
              <a:rPr lang="es-BO" sz="1700" dirty="0" smtClean="0"/>
              <a:t> recientemente antes </a:t>
            </a:r>
          </a:p>
          <a:p>
            <a:r>
              <a:rPr lang="es-BO" sz="1700" dirty="0" smtClean="0"/>
              <a:t>de  pasar al área de </a:t>
            </a:r>
          </a:p>
          <a:p>
            <a:r>
              <a:rPr lang="es-BO" sz="1700" dirty="0" smtClean="0"/>
              <a:t>producción para </a:t>
            </a:r>
          </a:p>
          <a:p>
            <a:r>
              <a:rPr lang="es-BO" sz="1700" dirty="0" smtClean="0"/>
              <a:t>determinar </a:t>
            </a:r>
          </a:p>
          <a:p>
            <a:r>
              <a:rPr lang="es-BO" sz="1700" dirty="0" smtClean="0"/>
              <a:t>vulnerabilidades de </a:t>
            </a:r>
          </a:p>
          <a:p>
            <a:r>
              <a:rPr lang="es-BO" sz="1700" dirty="0" smtClean="0"/>
              <a:t>acceso no autorizado</a:t>
            </a:r>
          </a:p>
          <a:p>
            <a:r>
              <a:rPr lang="es-BO" sz="1700" dirty="0" smtClean="0"/>
              <a:t>antes de que ocurra  </a:t>
            </a:r>
            <a:endParaRPr lang="es-BO" sz="1700" dirty="0"/>
          </a:p>
        </p:txBody>
      </p:sp>
      <p:grpSp>
        <p:nvGrpSpPr>
          <p:cNvPr id="114693" name="Group 5"/>
          <p:cNvGrpSpPr>
            <a:grpSpLocks/>
          </p:cNvGrpSpPr>
          <p:nvPr/>
        </p:nvGrpSpPr>
        <p:grpSpPr bwMode="auto">
          <a:xfrm>
            <a:off x="3417888" y="2149475"/>
            <a:ext cx="2170112" cy="2713038"/>
            <a:chOff x="2234" y="1634"/>
            <a:chExt cx="1489" cy="1862"/>
          </a:xfrm>
        </p:grpSpPr>
        <p:sp>
          <p:nvSpPr>
            <p:cNvPr id="114694" name="AutoShape 6"/>
            <p:cNvSpPr>
              <a:spLocks noChangeArrowheads="1"/>
            </p:cNvSpPr>
            <p:nvPr/>
          </p:nvSpPr>
          <p:spPr bwMode="gray">
            <a:xfrm>
              <a:off x="2236" y="1634"/>
              <a:ext cx="1487" cy="1862"/>
            </a:xfrm>
            <a:prstGeom prst="roundRect">
              <a:avLst>
                <a:gd name="adj" fmla="val 12574"/>
              </a:avLst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4695" name="AutoShape 7"/>
            <p:cNvSpPr>
              <a:spLocks noChangeArrowheads="1"/>
            </p:cNvSpPr>
            <p:nvPr/>
          </p:nvSpPr>
          <p:spPr bwMode="gray">
            <a:xfrm>
              <a:off x="2234" y="3013"/>
              <a:ext cx="1488" cy="479"/>
            </a:xfrm>
            <a:prstGeom prst="roundRect">
              <a:avLst>
                <a:gd name="adj" fmla="val 42588"/>
              </a:avLst>
            </a:prstGeom>
            <a:gradFill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gamma/>
                    <a:tint val="4117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4696" name="AutoShape 8"/>
            <p:cNvSpPr>
              <a:spLocks noChangeArrowheads="1"/>
            </p:cNvSpPr>
            <p:nvPr/>
          </p:nvSpPr>
          <p:spPr bwMode="gray">
            <a:xfrm>
              <a:off x="2241" y="1640"/>
              <a:ext cx="1475" cy="479"/>
            </a:xfrm>
            <a:prstGeom prst="roundRect">
              <a:avLst>
                <a:gd name="adj" fmla="val 35907"/>
              </a:avLst>
            </a:prstGeom>
            <a:gradFill rotWithShape="1">
              <a:gsLst>
                <a:gs pos="0">
                  <a:schemeClr val="accent2">
                    <a:gamma/>
                    <a:tint val="33333"/>
                    <a:invGamma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</p:grpSp>
      <p:grpSp>
        <p:nvGrpSpPr>
          <p:cNvPr id="114697" name="Group 9"/>
          <p:cNvGrpSpPr>
            <a:grpSpLocks/>
          </p:cNvGrpSpPr>
          <p:nvPr/>
        </p:nvGrpSpPr>
        <p:grpSpPr bwMode="auto">
          <a:xfrm>
            <a:off x="1111250" y="2554288"/>
            <a:ext cx="2170113" cy="2308225"/>
            <a:chOff x="797" y="1945"/>
            <a:chExt cx="1489" cy="1584"/>
          </a:xfrm>
        </p:grpSpPr>
        <p:sp>
          <p:nvSpPr>
            <p:cNvPr id="114698" name="AutoShape 10"/>
            <p:cNvSpPr>
              <a:spLocks noChangeArrowheads="1"/>
            </p:cNvSpPr>
            <p:nvPr/>
          </p:nvSpPr>
          <p:spPr bwMode="gray">
            <a:xfrm>
              <a:off x="799" y="1945"/>
              <a:ext cx="1487" cy="1584"/>
            </a:xfrm>
            <a:prstGeom prst="roundRect">
              <a:avLst>
                <a:gd name="adj" fmla="val 12574"/>
              </a:avLst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4699" name="AutoShape 11"/>
            <p:cNvSpPr>
              <a:spLocks noChangeArrowheads="1"/>
            </p:cNvSpPr>
            <p:nvPr/>
          </p:nvSpPr>
          <p:spPr bwMode="gray">
            <a:xfrm>
              <a:off x="797" y="3118"/>
              <a:ext cx="1488" cy="408"/>
            </a:xfrm>
            <a:prstGeom prst="roundRect">
              <a:avLst>
                <a:gd name="adj" fmla="val 49755"/>
              </a:avLst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4117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4700" name="AutoShape 12"/>
            <p:cNvSpPr>
              <a:spLocks noChangeArrowheads="1"/>
            </p:cNvSpPr>
            <p:nvPr/>
          </p:nvSpPr>
          <p:spPr bwMode="gray">
            <a:xfrm>
              <a:off x="817" y="1950"/>
              <a:ext cx="1462" cy="408"/>
            </a:xfrm>
            <a:prstGeom prst="roundRect">
              <a:avLst>
                <a:gd name="adj" fmla="val 38727"/>
              </a:avLst>
            </a:prstGeom>
            <a:gradFill rotWithShape="1">
              <a:gsLst>
                <a:gs pos="0">
                  <a:schemeClr val="accent1">
                    <a:gamma/>
                    <a:tint val="33333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</p:grpSp>
      <p:sp>
        <p:nvSpPr>
          <p:cNvPr id="114701" name="Text Box 13"/>
          <p:cNvSpPr txBox="1">
            <a:spLocks noChangeArrowheads="1"/>
          </p:cNvSpPr>
          <p:nvPr/>
        </p:nvSpPr>
        <p:spPr bwMode="white">
          <a:xfrm>
            <a:off x="1214414" y="2928934"/>
            <a:ext cx="1958975" cy="1590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dirty="0" err="1" smtClean="0">
                <a:cs typeface="Arial" charset="0"/>
              </a:rPr>
              <a:t>Evidenciar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riesgos</a:t>
            </a:r>
            <a:r>
              <a:rPr lang="en-US" dirty="0" smtClean="0">
                <a:cs typeface="Arial" charset="0"/>
              </a:rPr>
              <a:t> en un </a:t>
            </a:r>
            <a:r>
              <a:rPr lang="en-US" dirty="0" err="1" smtClean="0">
                <a:cs typeface="Arial" charset="0"/>
              </a:rPr>
              <a:t>sistema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por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tomar</a:t>
            </a:r>
            <a:r>
              <a:rPr lang="en-US" dirty="0" smtClean="0">
                <a:cs typeface="Arial" charset="0"/>
              </a:rPr>
              <a:t> solo </a:t>
            </a:r>
            <a:r>
              <a:rPr lang="en-US" dirty="0" err="1" smtClean="0">
                <a:cs typeface="Arial" charset="0"/>
              </a:rPr>
              <a:t>requeriemientos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funcionales</a:t>
            </a:r>
            <a:r>
              <a:rPr lang="en-US" dirty="0" smtClean="0">
                <a:cs typeface="Arial" charset="0"/>
              </a:rPr>
              <a:t> de la </a:t>
            </a:r>
            <a:r>
              <a:rPr lang="en-US" dirty="0" err="1" smtClean="0">
                <a:cs typeface="Arial" charset="0"/>
              </a:rPr>
              <a:t>empresa</a:t>
            </a:r>
            <a:endParaRPr lang="en-US" dirty="0">
              <a:cs typeface="Arial" charset="0"/>
            </a:endParaRPr>
          </a:p>
        </p:txBody>
      </p:sp>
      <p:sp>
        <p:nvSpPr>
          <p:cNvPr id="114702" name="Text Box 14"/>
          <p:cNvSpPr txBox="1">
            <a:spLocks noChangeArrowheads="1"/>
          </p:cNvSpPr>
          <p:nvPr/>
        </p:nvSpPr>
        <p:spPr bwMode="white">
          <a:xfrm>
            <a:off x="3500430" y="2714620"/>
            <a:ext cx="1957387" cy="1588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dirty="0" smtClean="0">
                <a:cs typeface="Arial" charset="0"/>
              </a:rPr>
              <a:t>La </a:t>
            </a:r>
            <a:r>
              <a:rPr lang="en-US" dirty="0" err="1" smtClean="0">
                <a:cs typeface="Arial" charset="0"/>
              </a:rPr>
              <a:t>herramienta</a:t>
            </a:r>
            <a:r>
              <a:rPr lang="en-US" dirty="0" smtClean="0">
                <a:cs typeface="Arial" charset="0"/>
              </a:rPr>
              <a:t> sera </a:t>
            </a:r>
            <a:r>
              <a:rPr lang="en-US" dirty="0" err="1" smtClean="0">
                <a:cs typeface="Arial" charset="0"/>
              </a:rPr>
              <a:t>desarrollada</a:t>
            </a:r>
            <a:r>
              <a:rPr lang="en-US" dirty="0" smtClean="0">
                <a:cs typeface="Arial" charset="0"/>
              </a:rPr>
              <a:t> en </a:t>
            </a:r>
            <a:r>
              <a:rPr lang="en-US" dirty="0" err="1" smtClean="0">
                <a:cs typeface="Arial" charset="0"/>
              </a:rPr>
              <a:t>plataformas</a:t>
            </a:r>
            <a:r>
              <a:rPr lang="en-US" dirty="0" smtClean="0">
                <a:cs typeface="Arial" charset="0"/>
              </a:rPr>
              <a:t> de </a:t>
            </a:r>
            <a:r>
              <a:rPr lang="en-US" dirty="0" err="1" smtClean="0">
                <a:cs typeface="Arial" charset="0"/>
              </a:rPr>
              <a:t>acceso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libre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por</a:t>
            </a:r>
            <a:r>
              <a:rPr lang="en-US" dirty="0" smtClean="0">
                <a:cs typeface="Arial" charset="0"/>
              </a:rPr>
              <a:t> lo </a:t>
            </a:r>
            <a:r>
              <a:rPr lang="en-US" dirty="0" err="1" smtClean="0">
                <a:cs typeface="Arial" charset="0"/>
              </a:rPr>
              <a:t>que</a:t>
            </a:r>
            <a:r>
              <a:rPr lang="en-US" dirty="0" smtClean="0">
                <a:cs typeface="Arial" charset="0"/>
              </a:rPr>
              <a:t> no se </a:t>
            </a:r>
            <a:r>
              <a:rPr lang="en-US" dirty="0" err="1" smtClean="0">
                <a:cs typeface="Arial" charset="0"/>
              </a:rPr>
              <a:t>pagaran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licenc</a:t>
            </a:r>
            <a:r>
              <a:rPr lang="en-US" sz="1600" dirty="0" err="1" smtClean="0">
                <a:latin typeface="Arial" charset="0"/>
                <a:cs typeface="Arial" charset="0"/>
              </a:rPr>
              <a:t>ias</a:t>
            </a:r>
            <a:r>
              <a:rPr lang="en-US" sz="1600" dirty="0" smtClean="0">
                <a:latin typeface="Arial" charset="0"/>
                <a:cs typeface="Arial" charset="0"/>
              </a:rPr>
              <a:t>. </a:t>
            </a:r>
            <a:endParaRPr lang="en-US" sz="1600" dirty="0">
              <a:latin typeface="Arial" charset="0"/>
              <a:cs typeface="Arial" charset="0"/>
            </a:endParaRPr>
          </a:p>
        </p:txBody>
      </p:sp>
      <p:sp>
        <p:nvSpPr>
          <p:cNvPr id="114704" name="Text Box 16"/>
          <p:cNvSpPr txBox="1">
            <a:spLocks noChangeArrowheads="1"/>
          </p:cNvSpPr>
          <p:nvPr/>
        </p:nvSpPr>
        <p:spPr bwMode="black">
          <a:xfrm>
            <a:off x="1244600" y="1963738"/>
            <a:ext cx="16065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1600" b="1" dirty="0" err="1" smtClean="0">
                <a:latin typeface="Arial" charset="0"/>
                <a:cs typeface="Arial" charset="0"/>
              </a:rPr>
              <a:t>Justificación</a:t>
            </a:r>
            <a:r>
              <a:rPr lang="en-US" sz="1600" b="1" dirty="0" smtClean="0">
                <a:latin typeface="Arial" charset="0"/>
                <a:cs typeface="Arial" charset="0"/>
              </a:rPr>
              <a:t> </a:t>
            </a:r>
            <a:r>
              <a:rPr lang="en-US" sz="1600" b="1" dirty="0" err="1" smtClean="0">
                <a:latin typeface="Arial" charset="0"/>
                <a:cs typeface="Arial" charset="0"/>
              </a:rPr>
              <a:t>Técnica</a:t>
            </a:r>
            <a:endParaRPr lang="en-US" sz="1600" b="1" dirty="0">
              <a:latin typeface="Arial" charset="0"/>
              <a:cs typeface="Arial" charset="0"/>
            </a:endParaRPr>
          </a:p>
        </p:txBody>
      </p:sp>
      <p:sp>
        <p:nvSpPr>
          <p:cNvPr id="114705" name="Text Box 17"/>
          <p:cNvSpPr txBox="1">
            <a:spLocks noChangeArrowheads="1"/>
          </p:cNvSpPr>
          <p:nvPr/>
        </p:nvSpPr>
        <p:spPr bwMode="black">
          <a:xfrm>
            <a:off x="3644900" y="1458913"/>
            <a:ext cx="16065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1600" b="1" dirty="0" err="1" smtClean="0">
                <a:latin typeface="Arial" charset="0"/>
                <a:cs typeface="Arial" charset="0"/>
              </a:rPr>
              <a:t>Justificación</a:t>
            </a:r>
            <a:r>
              <a:rPr lang="en-US" sz="1600" b="1" dirty="0" smtClean="0">
                <a:latin typeface="Arial" charset="0"/>
                <a:cs typeface="Arial" charset="0"/>
              </a:rPr>
              <a:t> </a:t>
            </a:r>
            <a:r>
              <a:rPr lang="en-US" sz="1600" b="1" dirty="0" err="1" smtClean="0">
                <a:latin typeface="Arial" charset="0"/>
                <a:cs typeface="Arial" charset="0"/>
              </a:rPr>
              <a:t>económica</a:t>
            </a:r>
            <a:endParaRPr lang="en-US" sz="1600" b="1" dirty="0">
              <a:latin typeface="Arial" charset="0"/>
              <a:cs typeface="Arial" charset="0"/>
            </a:endParaRPr>
          </a:p>
        </p:txBody>
      </p:sp>
      <p:sp>
        <p:nvSpPr>
          <p:cNvPr id="114706" name="Text Box 18"/>
          <p:cNvSpPr txBox="1">
            <a:spLocks noChangeArrowheads="1"/>
          </p:cNvSpPr>
          <p:nvPr/>
        </p:nvSpPr>
        <p:spPr bwMode="black">
          <a:xfrm>
            <a:off x="6000750" y="1219200"/>
            <a:ext cx="16065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1600" b="1" dirty="0" err="1" smtClean="0">
                <a:latin typeface="Arial" charset="0"/>
                <a:cs typeface="Arial" charset="0"/>
              </a:rPr>
              <a:t>Justificación</a:t>
            </a:r>
            <a:r>
              <a:rPr lang="en-US" sz="1600" b="1" dirty="0" smtClean="0">
                <a:latin typeface="Arial" charset="0"/>
                <a:cs typeface="Arial" charset="0"/>
              </a:rPr>
              <a:t> social</a:t>
            </a:r>
            <a:endParaRPr lang="en-US" sz="1600" b="1" dirty="0">
              <a:latin typeface="Arial" charset="0"/>
              <a:cs typeface="Arial" charset="0"/>
            </a:endParaRPr>
          </a:p>
        </p:txBody>
      </p:sp>
      <p:sp>
        <p:nvSpPr>
          <p:cNvPr id="114711" name="Rectangle 2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JUSTIFICACIÓN</a:t>
            </a:r>
            <a:endParaRPr 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nimBg="1"/>
      <p:bldP spid="114691" grpId="0" animBg="1"/>
      <p:bldP spid="114692" grpId="0" animBg="1"/>
      <p:bldP spid="114701" grpId="0"/>
      <p:bldP spid="114702" grpId="0"/>
      <p:bldP spid="114704" grpId="0"/>
      <p:bldP spid="114705" grpId="0"/>
      <p:bldP spid="1147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14" name="Group 2"/>
          <p:cNvGrpSpPr>
            <a:grpSpLocks/>
          </p:cNvGrpSpPr>
          <p:nvPr/>
        </p:nvGrpSpPr>
        <p:grpSpPr bwMode="auto">
          <a:xfrm>
            <a:off x="1096963" y="3076575"/>
            <a:ext cx="1041400" cy="1052513"/>
            <a:chOff x="691" y="2077"/>
            <a:chExt cx="656" cy="663"/>
          </a:xfrm>
        </p:grpSpPr>
        <p:pic>
          <p:nvPicPr>
            <p:cNvPr id="115715" name="Picture 3" descr="circuler_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691" y="2077"/>
              <a:ext cx="656" cy="662"/>
            </a:xfrm>
            <a:prstGeom prst="rect">
              <a:avLst/>
            </a:prstGeom>
            <a:noFill/>
          </p:spPr>
        </p:pic>
        <p:sp>
          <p:nvSpPr>
            <p:cNvPr id="115716" name="Oval 4"/>
            <p:cNvSpPr>
              <a:spLocks noChangeArrowheads="1"/>
            </p:cNvSpPr>
            <p:nvPr/>
          </p:nvSpPr>
          <p:spPr bwMode="gray">
            <a:xfrm>
              <a:off x="691" y="2077"/>
              <a:ext cx="652" cy="66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2353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15717" name="Group 5"/>
            <p:cNvGrpSpPr>
              <a:grpSpLocks/>
            </p:cNvGrpSpPr>
            <p:nvPr/>
          </p:nvGrpSpPr>
          <p:grpSpPr bwMode="auto">
            <a:xfrm>
              <a:off x="737" y="2609"/>
              <a:ext cx="575" cy="110"/>
              <a:chOff x="3704" y="1872"/>
              <a:chExt cx="827" cy="156"/>
            </a:xfrm>
          </p:grpSpPr>
          <p:grpSp>
            <p:nvGrpSpPr>
              <p:cNvPr id="115718" name="Group 6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115719" name="AutoShape 7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20" name="AutoShape 8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21" name="AutoShape 9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22" name="AutoShape 10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15723" name="Group 11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115724" name="AutoShape 12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25" name="AutoShape 13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26" name="AutoShape 14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27" name="AutoShape 15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</p:grpSp>
      </p:grpSp>
      <p:grpSp>
        <p:nvGrpSpPr>
          <p:cNvPr id="115728" name="Group 16"/>
          <p:cNvGrpSpPr>
            <a:grpSpLocks/>
          </p:cNvGrpSpPr>
          <p:nvPr/>
        </p:nvGrpSpPr>
        <p:grpSpPr bwMode="auto">
          <a:xfrm>
            <a:off x="3060700" y="3068638"/>
            <a:ext cx="1041400" cy="1052512"/>
            <a:chOff x="1928" y="2072"/>
            <a:chExt cx="656" cy="663"/>
          </a:xfrm>
        </p:grpSpPr>
        <p:pic>
          <p:nvPicPr>
            <p:cNvPr id="115729" name="Picture 17" descr="circuler_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1928" y="2072"/>
              <a:ext cx="656" cy="662"/>
            </a:xfrm>
            <a:prstGeom prst="rect">
              <a:avLst/>
            </a:prstGeom>
            <a:noFill/>
          </p:spPr>
        </p:pic>
        <p:sp>
          <p:nvSpPr>
            <p:cNvPr id="115730" name="Oval 18"/>
            <p:cNvSpPr>
              <a:spLocks noChangeArrowheads="1"/>
            </p:cNvSpPr>
            <p:nvPr/>
          </p:nvSpPr>
          <p:spPr bwMode="gray">
            <a:xfrm>
              <a:off x="1928" y="2072"/>
              <a:ext cx="652" cy="663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2353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15731" name="Group 19"/>
            <p:cNvGrpSpPr>
              <a:grpSpLocks/>
            </p:cNvGrpSpPr>
            <p:nvPr/>
          </p:nvGrpSpPr>
          <p:grpSpPr bwMode="auto">
            <a:xfrm>
              <a:off x="1974" y="2604"/>
              <a:ext cx="575" cy="110"/>
              <a:chOff x="3704" y="1872"/>
              <a:chExt cx="827" cy="156"/>
            </a:xfrm>
          </p:grpSpPr>
          <p:grpSp>
            <p:nvGrpSpPr>
              <p:cNvPr id="115732" name="Group 20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115733" name="AutoShape 21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34" name="AutoShape 22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35" name="AutoShape 23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36" name="AutoShape 24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15737" name="Group 25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115738" name="AutoShape 26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39" name="AutoShape 27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40" name="AutoShape 28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41" name="AutoShape 29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</p:grpSp>
      </p:grpSp>
      <p:grpSp>
        <p:nvGrpSpPr>
          <p:cNvPr id="115742" name="Group 30"/>
          <p:cNvGrpSpPr>
            <a:grpSpLocks/>
          </p:cNvGrpSpPr>
          <p:nvPr/>
        </p:nvGrpSpPr>
        <p:grpSpPr bwMode="auto">
          <a:xfrm>
            <a:off x="4999038" y="3079750"/>
            <a:ext cx="1041400" cy="1050925"/>
            <a:chOff x="3149" y="2079"/>
            <a:chExt cx="656" cy="662"/>
          </a:xfrm>
        </p:grpSpPr>
        <p:pic>
          <p:nvPicPr>
            <p:cNvPr id="115743" name="Picture 31" descr="circuler_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149" y="2079"/>
              <a:ext cx="656" cy="661"/>
            </a:xfrm>
            <a:prstGeom prst="rect">
              <a:avLst/>
            </a:prstGeom>
            <a:noFill/>
          </p:spPr>
        </p:pic>
        <p:sp>
          <p:nvSpPr>
            <p:cNvPr id="115744" name="Oval 32"/>
            <p:cNvSpPr>
              <a:spLocks noChangeArrowheads="1"/>
            </p:cNvSpPr>
            <p:nvPr/>
          </p:nvSpPr>
          <p:spPr bwMode="gray">
            <a:xfrm>
              <a:off x="3149" y="2079"/>
              <a:ext cx="652" cy="662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2353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15745" name="Group 33"/>
            <p:cNvGrpSpPr>
              <a:grpSpLocks/>
            </p:cNvGrpSpPr>
            <p:nvPr/>
          </p:nvGrpSpPr>
          <p:grpSpPr bwMode="auto">
            <a:xfrm>
              <a:off x="3195" y="2610"/>
              <a:ext cx="575" cy="111"/>
              <a:chOff x="3704" y="1872"/>
              <a:chExt cx="827" cy="156"/>
            </a:xfrm>
          </p:grpSpPr>
          <p:grpSp>
            <p:nvGrpSpPr>
              <p:cNvPr id="115746" name="Group 34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115747" name="AutoShape 35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48" name="AutoShape 36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49" name="AutoShape 37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50" name="AutoShape 38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15751" name="Group 39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115752" name="AutoShape 40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53" name="AutoShape 41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54" name="AutoShape 42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55" name="AutoShape 43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</p:grpSp>
      </p:grpSp>
      <p:grpSp>
        <p:nvGrpSpPr>
          <p:cNvPr id="115756" name="Group 44"/>
          <p:cNvGrpSpPr>
            <a:grpSpLocks/>
          </p:cNvGrpSpPr>
          <p:nvPr/>
        </p:nvGrpSpPr>
        <p:grpSpPr bwMode="auto">
          <a:xfrm>
            <a:off x="6961188" y="3071813"/>
            <a:ext cx="1041400" cy="1050925"/>
            <a:chOff x="4385" y="2074"/>
            <a:chExt cx="656" cy="662"/>
          </a:xfrm>
        </p:grpSpPr>
        <p:pic>
          <p:nvPicPr>
            <p:cNvPr id="115757" name="Picture 45" descr="circuler_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385" y="2074"/>
              <a:ext cx="656" cy="661"/>
            </a:xfrm>
            <a:prstGeom prst="rect">
              <a:avLst/>
            </a:prstGeom>
            <a:noFill/>
          </p:spPr>
        </p:pic>
        <p:sp>
          <p:nvSpPr>
            <p:cNvPr id="115758" name="Oval 46"/>
            <p:cNvSpPr>
              <a:spLocks noChangeArrowheads="1"/>
            </p:cNvSpPr>
            <p:nvPr/>
          </p:nvSpPr>
          <p:spPr bwMode="gray">
            <a:xfrm>
              <a:off x="4385" y="2074"/>
              <a:ext cx="652" cy="662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2353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grpSp>
          <p:nvGrpSpPr>
            <p:cNvPr id="115759" name="Group 47"/>
            <p:cNvGrpSpPr>
              <a:grpSpLocks/>
            </p:cNvGrpSpPr>
            <p:nvPr/>
          </p:nvGrpSpPr>
          <p:grpSpPr bwMode="auto">
            <a:xfrm>
              <a:off x="4431" y="2605"/>
              <a:ext cx="575" cy="111"/>
              <a:chOff x="3704" y="1872"/>
              <a:chExt cx="827" cy="156"/>
            </a:xfrm>
          </p:grpSpPr>
          <p:grpSp>
            <p:nvGrpSpPr>
              <p:cNvPr id="115760" name="Group 48"/>
              <p:cNvGrpSpPr>
                <a:grpSpLocks/>
              </p:cNvGrpSpPr>
              <p:nvPr/>
            </p:nvGrpSpPr>
            <p:grpSpPr bwMode="auto">
              <a:xfrm rot="-1297425" flipH="1" flipV="1">
                <a:off x="3850" y="1872"/>
                <a:ext cx="681" cy="150"/>
                <a:chOff x="1565" y="2568"/>
                <a:chExt cx="1118" cy="279"/>
              </a:xfrm>
            </p:grpSpPr>
            <p:sp>
              <p:nvSpPr>
                <p:cNvPr id="115761" name="AutoShape 49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62" name="AutoShape 50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63" name="AutoShape 51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64" name="AutoShape 52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  <p:grpSp>
            <p:nvGrpSpPr>
              <p:cNvPr id="115765" name="Group 53"/>
              <p:cNvGrpSpPr>
                <a:grpSpLocks/>
              </p:cNvGrpSpPr>
              <p:nvPr/>
            </p:nvGrpSpPr>
            <p:grpSpPr bwMode="auto">
              <a:xfrm rot="56115" flipH="1" flipV="1">
                <a:off x="3704" y="1878"/>
                <a:ext cx="681" cy="150"/>
                <a:chOff x="1565" y="2568"/>
                <a:chExt cx="1118" cy="279"/>
              </a:xfrm>
            </p:grpSpPr>
            <p:sp>
              <p:nvSpPr>
                <p:cNvPr id="115766" name="AutoShape 54"/>
                <p:cNvSpPr>
                  <a:spLocks noChangeArrowheads="1"/>
                </p:cNvSpPr>
                <p:nvPr/>
              </p:nvSpPr>
              <p:spPr bwMode="gray">
                <a:xfrm rot="5263130">
                  <a:off x="1859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67" name="AutoShape 55"/>
                <p:cNvSpPr>
                  <a:spLocks noChangeArrowheads="1"/>
                </p:cNvSpPr>
                <p:nvPr/>
              </p:nvSpPr>
              <p:spPr bwMode="gray">
                <a:xfrm rot="6078281">
                  <a:off x="1995" y="227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68" name="AutoShape 56"/>
                <p:cNvSpPr>
                  <a:spLocks noChangeArrowheads="1"/>
                </p:cNvSpPr>
                <p:nvPr/>
              </p:nvSpPr>
              <p:spPr bwMode="gray">
                <a:xfrm rot="6373927">
                  <a:off x="2071" y="229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  <p:sp>
              <p:nvSpPr>
                <p:cNvPr id="115769" name="AutoShape 57"/>
                <p:cNvSpPr>
                  <a:spLocks noChangeArrowheads="1"/>
                </p:cNvSpPr>
                <p:nvPr/>
              </p:nvSpPr>
              <p:spPr bwMode="gray">
                <a:xfrm rot="6906312">
                  <a:off x="2161" y="2326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FFFFF">
                    <a:alpha val="3999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BO"/>
                </a:p>
              </p:txBody>
            </p:sp>
          </p:grpSp>
        </p:grpSp>
      </p:grpSp>
      <p:sp>
        <p:nvSpPr>
          <p:cNvPr id="115770" name="Line 58"/>
          <p:cNvSpPr>
            <a:spLocks noChangeShapeType="1"/>
          </p:cNvSpPr>
          <p:nvPr/>
        </p:nvSpPr>
        <p:spPr bwMode="black">
          <a:xfrm>
            <a:off x="1612900" y="4224338"/>
            <a:ext cx="0" cy="334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71" name="Line 59"/>
          <p:cNvSpPr>
            <a:spLocks noChangeShapeType="1"/>
          </p:cNvSpPr>
          <p:nvPr/>
        </p:nvSpPr>
        <p:spPr bwMode="black">
          <a:xfrm flipH="1">
            <a:off x="857250" y="4568825"/>
            <a:ext cx="149542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72" name="Text Box 60"/>
          <p:cNvSpPr txBox="1">
            <a:spLocks noChangeArrowheads="1"/>
          </p:cNvSpPr>
          <p:nvPr/>
        </p:nvSpPr>
        <p:spPr bwMode="auto">
          <a:xfrm>
            <a:off x="744538" y="4622800"/>
            <a:ext cx="2070100" cy="1292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en-US" sz="1200" dirty="0" smtClean="0">
                <a:latin typeface="Arial" charset="0"/>
                <a:cs typeface="Arial" charset="0"/>
              </a:rPr>
              <a:t>El </a:t>
            </a:r>
            <a:r>
              <a:rPr lang="en-US" sz="1200" dirty="0" err="1" smtClean="0">
                <a:latin typeface="Arial" charset="0"/>
                <a:cs typeface="Arial" charset="0"/>
              </a:rPr>
              <a:t>área</a:t>
            </a:r>
            <a:r>
              <a:rPr lang="en-US" sz="1200" dirty="0" smtClean="0">
                <a:latin typeface="Arial" charset="0"/>
                <a:cs typeface="Arial" charset="0"/>
              </a:rPr>
              <a:t> de </a:t>
            </a:r>
            <a:r>
              <a:rPr lang="en-US" sz="1200" dirty="0" err="1" smtClean="0">
                <a:latin typeface="Arial" charset="0"/>
                <a:cs typeface="Arial" charset="0"/>
              </a:rPr>
              <a:t>investigación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es</a:t>
            </a:r>
            <a:r>
              <a:rPr lang="en-US" sz="1200" dirty="0" smtClean="0">
                <a:latin typeface="Arial" charset="0"/>
                <a:cs typeface="Arial" charset="0"/>
              </a:rPr>
              <a:t> de </a:t>
            </a:r>
            <a:r>
              <a:rPr lang="en-US" sz="1200" dirty="0" err="1" smtClean="0">
                <a:latin typeface="Arial" charset="0"/>
                <a:cs typeface="Arial" charset="0"/>
              </a:rPr>
              <a:t>seguridad</a:t>
            </a:r>
            <a:r>
              <a:rPr lang="en-US" sz="1200" dirty="0" smtClean="0">
                <a:latin typeface="Arial" charset="0"/>
                <a:cs typeface="Arial" charset="0"/>
              </a:rPr>
              <a:t>, en la parte de </a:t>
            </a:r>
            <a:r>
              <a:rPr lang="en-US" sz="1200" dirty="0" err="1" smtClean="0">
                <a:latin typeface="Arial" charset="0"/>
                <a:cs typeface="Arial" charset="0"/>
              </a:rPr>
              <a:t>controles</a:t>
            </a:r>
            <a:r>
              <a:rPr lang="en-US" sz="1200" dirty="0" smtClean="0">
                <a:latin typeface="Arial" charset="0"/>
                <a:cs typeface="Arial" charset="0"/>
              </a:rPr>
              <a:t> de </a:t>
            </a:r>
            <a:r>
              <a:rPr lang="en-US" sz="1200" dirty="0" err="1" smtClean="0">
                <a:latin typeface="Arial" charset="0"/>
                <a:cs typeface="Arial" charset="0"/>
              </a:rPr>
              <a:t>acceso</a:t>
            </a:r>
            <a:endParaRPr lang="en-US" sz="1200" dirty="0" smtClean="0">
              <a:latin typeface="Arial" charset="0"/>
              <a:cs typeface="Arial" charset="0"/>
            </a:endParaRPr>
          </a:p>
          <a:p>
            <a:pPr algn="ctr">
              <a:lnSpc>
                <a:spcPct val="130000"/>
              </a:lnSpc>
              <a:buClr>
                <a:schemeClr val="hlink"/>
              </a:buClr>
            </a:pPr>
            <a:r>
              <a:rPr lang="en-US" sz="1200" dirty="0" err="1" smtClean="0">
                <a:latin typeface="Arial" charset="0"/>
                <a:cs typeface="Arial" charset="0"/>
              </a:rPr>
              <a:t>Otra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área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es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agentes</a:t>
            </a:r>
            <a:r>
              <a:rPr lang="en-US" sz="1200" dirty="0" smtClean="0">
                <a:latin typeface="Arial" charset="0"/>
                <a:cs typeface="Arial" charset="0"/>
              </a:rPr>
              <a:t> de software.</a:t>
            </a:r>
            <a:endParaRPr lang="en-US" sz="1200" dirty="0">
              <a:latin typeface="Arial" charset="0"/>
              <a:cs typeface="Arial" charset="0"/>
            </a:endParaRPr>
          </a:p>
        </p:txBody>
      </p:sp>
      <p:sp>
        <p:nvSpPr>
          <p:cNvPr id="115773" name="Text Box 61"/>
          <p:cNvSpPr txBox="1">
            <a:spLocks noChangeArrowheads="1"/>
          </p:cNvSpPr>
          <p:nvPr/>
        </p:nvSpPr>
        <p:spPr bwMode="gray">
          <a:xfrm>
            <a:off x="857224" y="3357562"/>
            <a:ext cx="14065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 algn="ctr" eaLnBrk="1" hangingPunct="1">
              <a:spcBef>
                <a:spcPct val="50000"/>
              </a:spcBef>
            </a:pP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Alcance</a:t>
            </a:r>
            <a:r>
              <a:rPr lang="en-US" sz="1200" b="1" dirty="0" smtClean="0">
                <a:solidFill>
                  <a:srgbClr val="1C1C1C"/>
                </a:solidFill>
                <a:latin typeface="Arial" charset="0"/>
                <a:cs typeface="Arial" charset="0"/>
              </a:rPr>
              <a:t> </a:t>
            </a: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temático</a:t>
            </a:r>
            <a:endParaRPr lang="en-US" sz="1200" b="1" dirty="0">
              <a:solidFill>
                <a:srgbClr val="1C1C1C"/>
              </a:solidFill>
              <a:latin typeface="Arial" charset="0"/>
              <a:cs typeface="Arial" charset="0"/>
            </a:endParaRPr>
          </a:p>
        </p:txBody>
      </p:sp>
      <p:sp>
        <p:nvSpPr>
          <p:cNvPr id="115774" name="Text Box 62"/>
          <p:cNvSpPr txBox="1">
            <a:spLocks noChangeArrowheads="1"/>
          </p:cNvSpPr>
          <p:nvPr/>
        </p:nvSpPr>
        <p:spPr bwMode="gray">
          <a:xfrm>
            <a:off x="4857752" y="3357562"/>
            <a:ext cx="1236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 algn="ctr" eaLnBrk="1" hangingPunct="1">
              <a:spcBef>
                <a:spcPct val="50000"/>
              </a:spcBef>
            </a:pP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Alcance</a:t>
            </a:r>
            <a:r>
              <a:rPr lang="en-US" sz="1200" b="1" dirty="0" smtClean="0">
                <a:solidFill>
                  <a:srgbClr val="1C1C1C"/>
                </a:solidFill>
                <a:latin typeface="Arial" charset="0"/>
                <a:cs typeface="Arial" charset="0"/>
              </a:rPr>
              <a:t> temporal</a:t>
            </a:r>
            <a:endParaRPr lang="en-US" sz="1200" b="1" dirty="0">
              <a:solidFill>
                <a:srgbClr val="1C1C1C"/>
              </a:solidFill>
              <a:latin typeface="Arial" charset="0"/>
              <a:cs typeface="Arial" charset="0"/>
            </a:endParaRPr>
          </a:p>
        </p:txBody>
      </p:sp>
      <p:sp>
        <p:nvSpPr>
          <p:cNvPr id="115775" name="Text Box 63"/>
          <p:cNvSpPr txBox="1">
            <a:spLocks noChangeArrowheads="1"/>
          </p:cNvSpPr>
          <p:nvPr/>
        </p:nvSpPr>
        <p:spPr bwMode="gray">
          <a:xfrm>
            <a:off x="2857488" y="3286124"/>
            <a:ext cx="12858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 algn="ctr" eaLnBrk="1" hangingPunct="1">
              <a:spcBef>
                <a:spcPct val="50000"/>
              </a:spcBef>
            </a:pP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Alcance</a:t>
            </a:r>
            <a:r>
              <a:rPr lang="en-US" sz="1200" b="1" dirty="0" smtClean="0">
                <a:solidFill>
                  <a:srgbClr val="1C1C1C"/>
                </a:solidFill>
                <a:latin typeface="Arial" charset="0"/>
                <a:cs typeface="Arial" charset="0"/>
              </a:rPr>
              <a:t>  </a:t>
            </a: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geográfico</a:t>
            </a:r>
            <a:endParaRPr lang="en-US" sz="1200" b="1" dirty="0">
              <a:solidFill>
                <a:srgbClr val="1C1C1C"/>
              </a:solidFill>
              <a:latin typeface="Arial" charset="0"/>
              <a:cs typeface="Arial" charset="0"/>
            </a:endParaRPr>
          </a:p>
        </p:txBody>
      </p:sp>
      <p:sp>
        <p:nvSpPr>
          <p:cNvPr id="115776" name="Text Box 64"/>
          <p:cNvSpPr txBox="1">
            <a:spLocks noChangeArrowheads="1"/>
          </p:cNvSpPr>
          <p:nvPr/>
        </p:nvSpPr>
        <p:spPr bwMode="gray">
          <a:xfrm>
            <a:off x="6715140" y="3286124"/>
            <a:ext cx="13573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 algn="ctr" eaLnBrk="1" hangingPunct="1">
              <a:spcBef>
                <a:spcPct val="50000"/>
              </a:spcBef>
            </a:pP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Alcance</a:t>
            </a:r>
            <a:r>
              <a:rPr lang="en-US" sz="1200" b="1" dirty="0" smtClean="0">
                <a:solidFill>
                  <a:srgbClr val="1C1C1C"/>
                </a:solidFill>
                <a:latin typeface="Arial" charset="0"/>
                <a:cs typeface="Arial" charset="0"/>
              </a:rPr>
              <a:t> </a:t>
            </a:r>
            <a:r>
              <a:rPr lang="en-US" sz="1200" b="1" dirty="0" err="1" smtClean="0">
                <a:solidFill>
                  <a:srgbClr val="1C1C1C"/>
                </a:solidFill>
                <a:latin typeface="Arial" charset="0"/>
                <a:cs typeface="Arial" charset="0"/>
              </a:rPr>
              <a:t>institucional</a:t>
            </a:r>
            <a:endParaRPr lang="en-US" sz="1200" b="1" dirty="0">
              <a:solidFill>
                <a:srgbClr val="1C1C1C"/>
              </a:solidFill>
              <a:latin typeface="Arial" charset="0"/>
              <a:cs typeface="Arial" charset="0"/>
            </a:endParaRPr>
          </a:p>
        </p:txBody>
      </p:sp>
      <p:sp>
        <p:nvSpPr>
          <p:cNvPr id="115777" name="Line 65"/>
          <p:cNvSpPr>
            <a:spLocks noChangeShapeType="1"/>
          </p:cNvSpPr>
          <p:nvPr/>
        </p:nvSpPr>
        <p:spPr bwMode="black">
          <a:xfrm>
            <a:off x="7480300" y="2649538"/>
            <a:ext cx="0" cy="334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78" name="Line 66"/>
          <p:cNvSpPr>
            <a:spLocks noChangeShapeType="1"/>
          </p:cNvSpPr>
          <p:nvPr/>
        </p:nvSpPr>
        <p:spPr bwMode="black">
          <a:xfrm flipH="1">
            <a:off x="6616700" y="2647950"/>
            <a:ext cx="163195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79" name="Text Box 67"/>
          <p:cNvSpPr txBox="1">
            <a:spLocks noChangeArrowheads="1"/>
          </p:cNvSpPr>
          <p:nvPr/>
        </p:nvSpPr>
        <p:spPr bwMode="auto">
          <a:xfrm>
            <a:off x="6429388" y="1571612"/>
            <a:ext cx="2070100" cy="10276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en-US" sz="1200" dirty="0" smtClean="0">
                <a:latin typeface="Arial" charset="0"/>
                <a:cs typeface="Arial" charset="0"/>
              </a:rPr>
              <a:t>La </a:t>
            </a:r>
            <a:r>
              <a:rPr lang="en-US" sz="1200" dirty="0" err="1" smtClean="0">
                <a:latin typeface="Arial" charset="0"/>
                <a:cs typeface="Arial" charset="0"/>
              </a:rPr>
              <a:t>herramienta</a:t>
            </a:r>
            <a:r>
              <a:rPr lang="en-US" sz="1200" dirty="0" smtClean="0">
                <a:latin typeface="Arial" charset="0"/>
                <a:cs typeface="Arial" charset="0"/>
              </a:rPr>
              <a:t> se </a:t>
            </a:r>
            <a:r>
              <a:rPr lang="en-US" sz="1200" dirty="0" err="1" smtClean="0">
                <a:latin typeface="Arial" charset="0"/>
                <a:cs typeface="Arial" charset="0"/>
              </a:rPr>
              <a:t>implantar</a:t>
            </a:r>
            <a:r>
              <a:rPr lang="en-US" sz="1200" dirty="0" smtClean="0">
                <a:latin typeface="Arial" charset="0"/>
                <a:cs typeface="Arial" charset="0"/>
              </a:rPr>
              <a:t> en </a:t>
            </a:r>
            <a:r>
              <a:rPr lang="en-US" sz="1200" dirty="0" err="1" smtClean="0">
                <a:latin typeface="Arial" charset="0"/>
                <a:cs typeface="Arial" charset="0"/>
              </a:rPr>
              <a:t>sistemas</a:t>
            </a:r>
            <a:r>
              <a:rPr lang="en-US" sz="1200" dirty="0" smtClean="0">
                <a:latin typeface="Arial" charset="0"/>
                <a:cs typeface="Arial" charset="0"/>
              </a:rPr>
              <a:t> de </a:t>
            </a:r>
            <a:r>
              <a:rPr lang="en-US" sz="1200" dirty="0" err="1" smtClean="0">
                <a:latin typeface="Arial" charset="0"/>
                <a:cs typeface="Arial" charset="0"/>
              </a:rPr>
              <a:t>empresas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que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desarrollan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su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propio</a:t>
            </a:r>
            <a:r>
              <a:rPr lang="en-US" sz="1200" dirty="0" smtClean="0">
                <a:latin typeface="Arial" charset="0"/>
                <a:cs typeface="Arial" charset="0"/>
              </a:rPr>
              <a:t> software</a:t>
            </a:r>
            <a:endParaRPr lang="en-US" sz="1200" dirty="0">
              <a:latin typeface="Arial" charset="0"/>
              <a:cs typeface="Arial" charset="0"/>
            </a:endParaRPr>
          </a:p>
        </p:txBody>
      </p:sp>
      <p:sp>
        <p:nvSpPr>
          <p:cNvPr id="115780" name="Line 68"/>
          <p:cNvSpPr>
            <a:spLocks noChangeShapeType="1"/>
          </p:cNvSpPr>
          <p:nvPr/>
        </p:nvSpPr>
        <p:spPr bwMode="black">
          <a:xfrm>
            <a:off x="3581400" y="2649538"/>
            <a:ext cx="0" cy="334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81" name="Line 69"/>
          <p:cNvSpPr>
            <a:spLocks noChangeShapeType="1"/>
          </p:cNvSpPr>
          <p:nvPr/>
        </p:nvSpPr>
        <p:spPr bwMode="black">
          <a:xfrm flipH="1">
            <a:off x="2657475" y="2647950"/>
            <a:ext cx="177165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82" name="Text Box 70"/>
          <p:cNvSpPr txBox="1">
            <a:spLocks noChangeArrowheads="1"/>
          </p:cNvSpPr>
          <p:nvPr/>
        </p:nvSpPr>
        <p:spPr bwMode="auto">
          <a:xfrm>
            <a:off x="2571736" y="1643050"/>
            <a:ext cx="2070100" cy="10525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</a:pPr>
            <a:r>
              <a:rPr lang="en-US" sz="1200" dirty="0" err="1" smtClean="0">
                <a:latin typeface="Arial" charset="0"/>
                <a:cs typeface="Arial" charset="0"/>
              </a:rPr>
              <a:t>Desarrollo</a:t>
            </a:r>
            <a:r>
              <a:rPr lang="en-US" sz="1200" dirty="0" smtClean="0">
                <a:latin typeface="Arial" charset="0"/>
                <a:cs typeface="Arial" charset="0"/>
              </a:rPr>
              <a:t> de la </a:t>
            </a:r>
            <a:r>
              <a:rPr lang="en-US" sz="1200" dirty="0" err="1" smtClean="0">
                <a:latin typeface="Arial" charset="0"/>
                <a:cs typeface="Arial" charset="0"/>
              </a:rPr>
              <a:t>herramienta</a:t>
            </a:r>
            <a:r>
              <a:rPr lang="en-US" sz="1200" dirty="0" smtClean="0">
                <a:latin typeface="Arial" charset="0"/>
                <a:cs typeface="Arial" charset="0"/>
              </a:rPr>
              <a:t> en Bolivia y </a:t>
            </a:r>
            <a:r>
              <a:rPr lang="en-US" sz="1200" dirty="0" err="1" smtClean="0">
                <a:latin typeface="Arial" charset="0"/>
                <a:cs typeface="Arial" charset="0"/>
              </a:rPr>
              <a:t>vigencia</a:t>
            </a:r>
            <a:r>
              <a:rPr lang="en-US" sz="1200" dirty="0" smtClean="0">
                <a:latin typeface="Arial" charset="0"/>
                <a:cs typeface="Arial" charset="0"/>
              </a:rPr>
              <a:t> de la </a:t>
            </a:r>
            <a:r>
              <a:rPr lang="en-US" sz="1200" dirty="0" err="1" smtClean="0">
                <a:latin typeface="Arial" charset="0"/>
                <a:cs typeface="Arial" charset="0"/>
              </a:rPr>
              <a:t>misma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manera</a:t>
            </a:r>
            <a:r>
              <a:rPr lang="en-US" sz="1200" dirty="0" smtClean="0">
                <a:latin typeface="Arial" charset="0"/>
                <a:cs typeface="Arial" charset="0"/>
              </a:rPr>
              <a:t>.</a:t>
            </a:r>
            <a:endParaRPr lang="en-US" sz="1200" dirty="0">
              <a:latin typeface="Arial" charset="0"/>
              <a:cs typeface="Arial" charset="0"/>
            </a:endParaRPr>
          </a:p>
        </p:txBody>
      </p:sp>
      <p:sp>
        <p:nvSpPr>
          <p:cNvPr id="115783" name="Line 71"/>
          <p:cNvSpPr>
            <a:spLocks noChangeShapeType="1"/>
          </p:cNvSpPr>
          <p:nvPr/>
        </p:nvSpPr>
        <p:spPr bwMode="black">
          <a:xfrm>
            <a:off x="5495925" y="4224338"/>
            <a:ext cx="0" cy="334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84" name="Line 72"/>
          <p:cNvSpPr>
            <a:spLocks noChangeShapeType="1"/>
          </p:cNvSpPr>
          <p:nvPr/>
        </p:nvSpPr>
        <p:spPr bwMode="black">
          <a:xfrm flipH="1">
            <a:off x="4684713" y="4559300"/>
            <a:ext cx="15875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s-BO"/>
          </a:p>
        </p:txBody>
      </p:sp>
      <p:sp>
        <p:nvSpPr>
          <p:cNvPr id="115785" name="Text Box 73"/>
          <p:cNvSpPr txBox="1">
            <a:spLocks noChangeArrowheads="1"/>
          </p:cNvSpPr>
          <p:nvPr/>
        </p:nvSpPr>
        <p:spPr bwMode="auto">
          <a:xfrm>
            <a:off x="4572000" y="4643446"/>
            <a:ext cx="2070100" cy="10525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buClr>
                <a:schemeClr val="folHlink"/>
              </a:buClr>
            </a:pPr>
            <a:r>
              <a:rPr lang="en-US" sz="1200" dirty="0" err="1" smtClean="0">
                <a:latin typeface="Arial" charset="0"/>
                <a:cs typeface="Arial" charset="0"/>
              </a:rPr>
              <a:t>Herramienta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valida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mientras</a:t>
            </a:r>
            <a:r>
              <a:rPr lang="en-US" sz="1200" dirty="0" smtClean="0">
                <a:latin typeface="Arial" charset="0"/>
                <a:cs typeface="Arial" charset="0"/>
              </a:rPr>
              <a:t> no </a:t>
            </a:r>
            <a:r>
              <a:rPr lang="en-US" sz="1200" dirty="0" err="1" smtClean="0">
                <a:latin typeface="Arial" charset="0"/>
                <a:cs typeface="Arial" charset="0"/>
              </a:rPr>
              <a:t>cambien</a:t>
            </a:r>
            <a:r>
              <a:rPr lang="en-US" sz="1200" dirty="0" smtClean="0">
                <a:latin typeface="Arial" charset="0"/>
                <a:cs typeface="Arial" charset="0"/>
              </a:rPr>
              <a:t> </a:t>
            </a:r>
            <a:r>
              <a:rPr lang="en-US" sz="1200" dirty="0" err="1" smtClean="0">
                <a:latin typeface="Arial" charset="0"/>
                <a:cs typeface="Arial" charset="0"/>
              </a:rPr>
              <a:t>requerimientos</a:t>
            </a:r>
            <a:r>
              <a:rPr lang="en-US" sz="1200" dirty="0" smtClean="0">
                <a:latin typeface="Arial" charset="0"/>
                <a:cs typeface="Arial" charset="0"/>
              </a:rPr>
              <a:t> en </a:t>
            </a:r>
            <a:r>
              <a:rPr lang="en-US" sz="1200" dirty="0" err="1" smtClean="0">
                <a:latin typeface="Arial" charset="0"/>
                <a:cs typeface="Arial" charset="0"/>
              </a:rPr>
              <a:t>norma</a:t>
            </a:r>
            <a:r>
              <a:rPr lang="en-US" sz="1200" dirty="0" smtClean="0">
                <a:latin typeface="Arial" charset="0"/>
                <a:cs typeface="Arial" charset="0"/>
              </a:rPr>
              <a:t> ISO-NB17799.</a:t>
            </a:r>
            <a:endParaRPr lang="en-US" sz="1200" dirty="0">
              <a:latin typeface="Arial" charset="0"/>
              <a:cs typeface="Arial" charset="0"/>
            </a:endParaRPr>
          </a:p>
        </p:txBody>
      </p:sp>
      <p:grpSp>
        <p:nvGrpSpPr>
          <p:cNvPr id="115786" name="Group 74"/>
          <p:cNvGrpSpPr>
            <a:grpSpLocks/>
          </p:cNvGrpSpPr>
          <p:nvPr/>
        </p:nvGrpSpPr>
        <p:grpSpPr bwMode="auto">
          <a:xfrm>
            <a:off x="0" y="2963863"/>
            <a:ext cx="9144000" cy="1254125"/>
            <a:chOff x="0" y="2006"/>
            <a:chExt cx="5760" cy="790"/>
          </a:xfrm>
        </p:grpSpPr>
        <p:sp>
          <p:nvSpPr>
            <p:cNvPr id="115787" name="Line 75"/>
            <p:cNvSpPr>
              <a:spLocks noChangeShapeType="1"/>
            </p:cNvSpPr>
            <p:nvPr/>
          </p:nvSpPr>
          <p:spPr bwMode="gray">
            <a:xfrm flipH="1">
              <a:off x="0" y="2405"/>
              <a:ext cx="652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es-BO"/>
            </a:p>
          </p:txBody>
        </p:sp>
        <p:sp>
          <p:nvSpPr>
            <p:cNvPr id="115788" name="Line 76"/>
            <p:cNvSpPr>
              <a:spLocks noChangeShapeType="1"/>
            </p:cNvSpPr>
            <p:nvPr/>
          </p:nvSpPr>
          <p:spPr bwMode="gray">
            <a:xfrm flipH="1">
              <a:off x="3839" y="2405"/>
              <a:ext cx="510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es-BO"/>
            </a:p>
          </p:txBody>
        </p:sp>
        <p:sp>
          <p:nvSpPr>
            <p:cNvPr id="115789" name="Arc 77"/>
            <p:cNvSpPr>
              <a:spLocks/>
            </p:cNvSpPr>
            <p:nvPr/>
          </p:nvSpPr>
          <p:spPr bwMode="gray">
            <a:xfrm rot="16200000" flipV="1">
              <a:off x="2052" y="1833"/>
              <a:ext cx="412" cy="769"/>
            </a:xfrm>
            <a:custGeom>
              <a:avLst/>
              <a:gdLst>
                <a:gd name="G0" fmla="+- 1194 0 0"/>
                <a:gd name="G1" fmla="+- 21600 0 0"/>
                <a:gd name="G2" fmla="+- 21600 0 0"/>
                <a:gd name="T0" fmla="*/ 750 w 22794"/>
                <a:gd name="T1" fmla="*/ 5 h 43200"/>
                <a:gd name="T2" fmla="*/ 0 w 22794"/>
                <a:gd name="T3" fmla="*/ 43167 h 43200"/>
                <a:gd name="T4" fmla="*/ 1194 w 2279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94" h="43200" fill="none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</a:path>
                <a:path w="22794" h="43200" stroke="0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  <a:lnTo>
                    <a:pt x="1194" y="21600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5790" name="Arc 78"/>
            <p:cNvSpPr>
              <a:spLocks/>
            </p:cNvSpPr>
            <p:nvPr/>
          </p:nvSpPr>
          <p:spPr bwMode="gray">
            <a:xfrm rot="16200000" flipV="1">
              <a:off x="4503" y="1830"/>
              <a:ext cx="418" cy="769"/>
            </a:xfrm>
            <a:custGeom>
              <a:avLst/>
              <a:gdLst>
                <a:gd name="G0" fmla="+- 1194 0 0"/>
                <a:gd name="G1" fmla="+- 21600 0 0"/>
                <a:gd name="G2" fmla="+- 21600 0 0"/>
                <a:gd name="T0" fmla="*/ 750 w 22794"/>
                <a:gd name="T1" fmla="*/ 5 h 43200"/>
                <a:gd name="T2" fmla="*/ 0 w 22794"/>
                <a:gd name="T3" fmla="*/ 43167 h 43200"/>
                <a:gd name="T4" fmla="*/ 1194 w 2279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94" h="43200" fill="none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</a:path>
                <a:path w="22794" h="43200" stroke="0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  <a:lnTo>
                    <a:pt x="1194" y="21600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5791" name="Line 79"/>
            <p:cNvSpPr>
              <a:spLocks noChangeShapeType="1"/>
            </p:cNvSpPr>
            <p:nvPr/>
          </p:nvSpPr>
          <p:spPr bwMode="gray">
            <a:xfrm flipH="1">
              <a:off x="2619" y="2405"/>
              <a:ext cx="496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es-BO"/>
            </a:p>
          </p:txBody>
        </p:sp>
        <p:sp>
          <p:nvSpPr>
            <p:cNvPr id="115792" name="Arc 80"/>
            <p:cNvSpPr>
              <a:spLocks/>
            </p:cNvSpPr>
            <p:nvPr/>
          </p:nvSpPr>
          <p:spPr bwMode="gray">
            <a:xfrm rot="5400000">
              <a:off x="3278" y="2211"/>
              <a:ext cx="400" cy="769"/>
            </a:xfrm>
            <a:custGeom>
              <a:avLst/>
              <a:gdLst>
                <a:gd name="G0" fmla="+- 1194 0 0"/>
                <a:gd name="G1" fmla="+- 21600 0 0"/>
                <a:gd name="G2" fmla="+- 21600 0 0"/>
                <a:gd name="T0" fmla="*/ 750 w 22794"/>
                <a:gd name="T1" fmla="*/ 5 h 43200"/>
                <a:gd name="T2" fmla="*/ 0 w 22794"/>
                <a:gd name="T3" fmla="*/ 43167 h 43200"/>
                <a:gd name="T4" fmla="*/ 1194 w 2279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94" h="43200" fill="none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</a:path>
                <a:path w="22794" h="43200" stroke="0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  <a:lnTo>
                    <a:pt x="1194" y="21600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15793" name="Line 81"/>
            <p:cNvSpPr>
              <a:spLocks noChangeShapeType="1"/>
            </p:cNvSpPr>
            <p:nvPr/>
          </p:nvSpPr>
          <p:spPr bwMode="gray">
            <a:xfrm flipH="1">
              <a:off x="5071" y="2405"/>
              <a:ext cx="689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es-BO"/>
            </a:p>
          </p:txBody>
        </p:sp>
        <p:sp>
          <p:nvSpPr>
            <p:cNvPr id="115794" name="Line 82"/>
            <p:cNvSpPr>
              <a:spLocks noChangeShapeType="1"/>
            </p:cNvSpPr>
            <p:nvPr/>
          </p:nvSpPr>
          <p:spPr bwMode="gray">
            <a:xfrm flipH="1">
              <a:off x="1377" y="2405"/>
              <a:ext cx="523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es-BO"/>
            </a:p>
          </p:txBody>
        </p:sp>
        <p:sp>
          <p:nvSpPr>
            <p:cNvPr id="115795" name="Arc 83"/>
            <p:cNvSpPr>
              <a:spLocks/>
            </p:cNvSpPr>
            <p:nvPr/>
          </p:nvSpPr>
          <p:spPr bwMode="gray">
            <a:xfrm rot="5400000">
              <a:off x="815" y="2211"/>
              <a:ext cx="400" cy="769"/>
            </a:xfrm>
            <a:custGeom>
              <a:avLst/>
              <a:gdLst>
                <a:gd name="G0" fmla="+- 1194 0 0"/>
                <a:gd name="G1" fmla="+- 21600 0 0"/>
                <a:gd name="G2" fmla="+- 21600 0 0"/>
                <a:gd name="T0" fmla="*/ 750 w 22794"/>
                <a:gd name="T1" fmla="*/ 5 h 43200"/>
                <a:gd name="T2" fmla="*/ 0 w 22794"/>
                <a:gd name="T3" fmla="*/ 43167 h 43200"/>
                <a:gd name="T4" fmla="*/ 1194 w 2279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94" h="43200" fill="none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</a:path>
                <a:path w="22794" h="43200" stroke="0" extrusionOk="0">
                  <a:moveTo>
                    <a:pt x="749" y="4"/>
                  </a:moveTo>
                  <a:cubicBezTo>
                    <a:pt x="897" y="1"/>
                    <a:pt x="1045" y="-1"/>
                    <a:pt x="1194" y="0"/>
                  </a:cubicBezTo>
                  <a:cubicBezTo>
                    <a:pt x="13123" y="0"/>
                    <a:pt x="22794" y="9670"/>
                    <a:pt x="22794" y="21600"/>
                  </a:cubicBezTo>
                  <a:cubicBezTo>
                    <a:pt x="22794" y="33529"/>
                    <a:pt x="13123" y="43200"/>
                    <a:pt x="1194" y="43200"/>
                  </a:cubicBezTo>
                  <a:cubicBezTo>
                    <a:pt x="795" y="43200"/>
                    <a:pt x="397" y="43188"/>
                    <a:pt x="0" y="43166"/>
                  </a:cubicBezTo>
                  <a:lnTo>
                    <a:pt x="1194" y="21600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s-BO"/>
            </a:p>
          </p:txBody>
        </p:sp>
      </p:grpSp>
      <p:pic>
        <p:nvPicPr>
          <p:cNvPr id="115796" name="Picture 84" descr="Picture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04913" y="3087688"/>
            <a:ext cx="825500" cy="377825"/>
          </a:xfrm>
          <a:prstGeom prst="rect">
            <a:avLst/>
          </a:prstGeom>
          <a:noFill/>
        </p:spPr>
      </p:pic>
      <p:pic>
        <p:nvPicPr>
          <p:cNvPr id="115797" name="Picture 85" descr="Picture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1350" y="3078163"/>
            <a:ext cx="825500" cy="377825"/>
          </a:xfrm>
          <a:prstGeom prst="rect">
            <a:avLst/>
          </a:prstGeom>
          <a:noFill/>
        </p:spPr>
      </p:pic>
      <p:pic>
        <p:nvPicPr>
          <p:cNvPr id="115798" name="Picture 86" descr="Picture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14925" y="3097213"/>
            <a:ext cx="825500" cy="377825"/>
          </a:xfrm>
          <a:prstGeom prst="rect">
            <a:avLst/>
          </a:prstGeom>
          <a:noFill/>
        </p:spPr>
      </p:pic>
      <p:pic>
        <p:nvPicPr>
          <p:cNvPr id="115799" name="Picture 87" descr="Picture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77075" y="3087688"/>
            <a:ext cx="825500" cy="377825"/>
          </a:xfrm>
          <a:prstGeom prst="rect">
            <a:avLst/>
          </a:prstGeom>
          <a:noFill/>
        </p:spPr>
      </p:pic>
      <p:sp>
        <p:nvSpPr>
          <p:cNvPr id="115800" name="Rectangle 88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ALCANCE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1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1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1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1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1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1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1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1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1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1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1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1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1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1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1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11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11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11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70" grpId="0" animBg="1"/>
      <p:bldP spid="115771" grpId="0" animBg="1"/>
      <p:bldP spid="115772" grpId="0"/>
      <p:bldP spid="115773" grpId="0"/>
      <p:bldP spid="115774" grpId="0"/>
      <p:bldP spid="115775" grpId="0"/>
      <p:bldP spid="115776" grpId="0"/>
      <p:bldP spid="115777" grpId="0" animBg="1"/>
      <p:bldP spid="115778" grpId="0" animBg="1"/>
      <p:bldP spid="115779" grpId="0"/>
      <p:bldP spid="115780" grpId="0" animBg="1"/>
      <p:bldP spid="115781" grpId="0" animBg="1"/>
      <p:bldP spid="115782" grpId="0"/>
      <p:bldP spid="115783" grpId="0" animBg="1"/>
      <p:bldP spid="115784" grpId="0" animBg="1"/>
      <p:bldP spid="1157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6248400" y="6451600"/>
            <a:ext cx="2895600" cy="273050"/>
          </a:xfrm>
        </p:spPr>
        <p:txBody>
          <a:bodyPr/>
          <a:lstStyle/>
          <a:p>
            <a:r>
              <a:rPr lang="en-US"/>
              <a:t>www.themegallery.com</a:t>
            </a:r>
          </a:p>
        </p:txBody>
      </p:sp>
      <p:sp>
        <p:nvSpPr>
          <p:cNvPr id="117805" name="Rectangle 45"/>
          <p:cNvSpPr>
            <a:spLocks noGrp="1" noChangeArrowheads="1"/>
          </p:cNvSpPr>
          <p:nvPr>
            <p:ph type="title" idx="4294967295"/>
          </p:nvPr>
        </p:nvSpPr>
        <p:spPr>
          <a:xfrm>
            <a:off x="2757488" y="566738"/>
            <a:ext cx="6386512" cy="56515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3600" dirty="0" smtClean="0"/>
              <a:t>MATRIZ DE CONSISTENCIA</a:t>
            </a:r>
            <a:endParaRPr lang="en-US" sz="3600" dirty="0"/>
          </a:p>
        </p:txBody>
      </p:sp>
      <p:pic>
        <p:nvPicPr>
          <p:cNvPr id="136214" name="Picture 2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1131341"/>
            <a:ext cx="4714908" cy="4915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11" name="Rectangle 28"/>
          <p:cNvSpPr>
            <a:spLocks noChangeArrowheads="1"/>
          </p:cNvSpPr>
          <p:nvPr/>
        </p:nvSpPr>
        <p:spPr bwMode="black">
          <a:xfrm>
            <a:off x="1905000" y="1219200"/>
            <a:ext cx="5943600" cy="373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18812" name="Rectangle 28"/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228600"/>
            <a:ext cx="6781800" cy="884238"/>
          </a:xfrm>
          <a:noFill/>
          <a:ln/>
        </p:spPr>
        <p:txBody>
          <a:bodyPr/>
          <a:lstStyle/>
          <a:p>
            <a:r>
              <a:rPr lang="en-US" sz="3600" dirty="0" smtClean="0"/>
              <a:t>FUNDAMENTACIÓN TEÓRICA</a:t>
            </a:r>
            <a:endParaRPr lang="en-US" sz="3600" dirty="0"/>
          </a:p>
        </p:txBody>
      </p:sp>
      <p:sp>
        <p:nvSpPr>
          <p:cNvPr id="53" name="Freeform 26"/>
          <p:cNvSpPr>
            <a:spLocks/>
          </p:cNvSpPr>
          <p:nvPr/>
        </p:nvSpPr>
        <p:spPr bwMode="gray">
          <a:xfrm flipH="1">
            <a:off x="2286000" y="1524000"/>
            <a:ext cx="2063750" cy="1728788"/>
          </a:xfrm>
          <a:custGeom>
            <a:avLst/>
            <a:gdLst/>
            <a:ahLst/>
            <a:cxnLst>
              <a:cxn ang="0">
                <a:pos x="303" y="1008"/>
              </a:cxn>
              <a:cxn ang="0">
                <a:pos x="1299" y="1008"/>
              </a:cxn>
              <a:cxn ang="0">
                <a:pos x="1296" y="315"/>
              </a:cxn>
              <a:cxn ang="0">
                <a:pos x="942" y="0"/>
              </a:cxn>
              <a:cxn ang="0">
                <a:pos x="3" y="0"/>
              </a:cxn>
              <a:cxn ang="0">
                <a:pos x="0" y="723"/>
              </a:cxn>
              <a:cxn ang="0">
                <a:pos x="303" y="1008"/>
              </a:cxn>
            </a:cxnLst>
            <a:rect l="0" t="0" r="r" b="b"/>
            <a:pathLst>
              <a:path w="1299" h="1008">
                <a:moveTo>
                  <a:pt x="303" y="1008"/>
                </a:moveTo>
                <a:cubicBezTo>
                  <a:pt x="801" y="1008"/>
                  <a:pt x="1299" y="1008"/>
                  <a:pt x="1299" y="1008"/>
                </a:cubicBezTo>
                <a:cubicBezTo>
                  <a:pt x="1299" y="1008"/>
                  <a:pt x="1297" y="661"/>
                  <a:pt x="1296" y="315"/>
                </a:cubicBezTo>
                <a:cubicBezTo>
                  <a:pt x="1290" y="150"/>
                  <a:pt x="1161" y="0"/>
                  <a:pt x="942" y="0"/>
                </a:cubicBezTo>
                <a:cubicBezTo>
                  <a:pt x="472" y="0"/>
                  <a:pt x="3" y="0"/>
                  <a:pt x="3" y="0"/>
                </a:cubicBezTo>
                <a:cubicBezTo>
                  <a:pt x="3" y="0"/>
                  <a:pt x="1" y="361"/>
                  <a:pt x="0" y="723"/>
                </a:cubicBezTo>
                <a:cubicBezTo>
                  <a:pt x="0" y="915"/>
                  <a:pt x="144" y="1002"/>
                  <a:pt x="303" y="100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69804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28575" cmpd="sng">
            <a:solidFill>
              <a:srgbClr val="F8F8F8"/>
            </a:solidFill>
            <a:round/>
            <a:headEnd/>
            <a:tailEnd/>
          </a:ln>
          <a:effectLst>
            <a:outerShdw dist="107763" dir="2700000" algn="ctr" rotWithShape="0">
              <a:srgbClr val="1C1C1C">
                <a:alpha val="5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54" name="Freeform 27"/>
          <p:cNvSpPr>
            <a:spLocks/>
          </p:cNvSpPr>
          <p:nvPr/>
        </p:nvSpPr>
        <p:spPr bwMode="gray">
          <a:xfrm>
            <a:off x="4587875" y="1524000"/>
            <a:ext cx="2063750" cy="1728788"/>
          </a:xfrm>
          <a:custGeom>
            <a:avLst/>
            <a:gdLst/>
            <a:ahLst/>
            <a:cxnLst>
              <a:cxn ang="0">
                <a:pos x="303" y="1008"/>
              </a:cxn>
              <a:cxn ang="0">
                <a:pos x="1299" y="1008"/>
              </a:cxn>
              <a:cxn ang="0">
                <a:pos x="1296" y="315"/>
              </a:cxn>
              <a:cxn ang="0">
                <a:pos x="942" y="0"/>
              </a:cxn>
              <a:cxn ang="0">
                <a:pos x="3" y="0"/>
              </a:cxn>
              <a:cxn ang="0">
                <a:pos x="0" y="723"/>
              </a:cxn>
              <a:cxn ang="0">
                <a:pos x="303" y="1008"/>
              </a:cxn>
            </a:cxnLst>
            <a:rect l="0" t="0" r="r" b="b"/>
            <a:pathLst>
              <a:path w="1299" h="1008">
                <a:moveTo>
                  <a:pt x="303" y="1008"/>
                </a:moveTo>
                <a:cubicBezTo>
                  <a:pt x="801" y="1008"/>
                  <a:pt x="1299" y="1008"/>
                  <a:pt x="1299" y="1008"/>
                </a:cubicBezTo>
                <a:cubicBezTo>
                  <a:pt x="1299" y="1008"/>
                  <a:pt x="1297" y="661"/>
                  <a:pt x="1296" y="315"/>
                </a:cubicBezTo>
                <a:cubicBezTo>
                  <a:pt x="1290" y="150"/>
                  <a:pt x="1161" y="0"/>
                  <a:pt x="942" y="0"/>
                </a:cubicBezTo>
                <a:cubicBezTo>
                  <a:pt x="472" y="0"/>
                  <a:pt x="3" y="0"/>
                  <a:pt x="3" y="0"/>
                </a:cubicBezTo>
                <a:cubicBezTo>
                  <a:pt x="3" y="0"/>
                  <a:pt x="1" y="361"/>
                  <a:pt x="0" y="723"/>
                </a:cubicBezTo>
                <a:cubicBezTo>
                  <a:pt x="0" y="915"/>
                  <a:pt x="144" y="1002"/>
                  <a:pt x="303" y="1008"/>
                </a:cubicBezTo>
                <a:close/>
              </a:path>
            </a:pathLst>
          </a:custGeom>
          <a:gradFill rotWithShape="1">
            <a:gsLst>
              <a:gs pos="0">
                <a:schemeClr val="accent2">
                  <a:gamma/>
                  <a:shade val="80000"/>
                  <a:invGamma/>
                </a:schemeClr>
              </a:gs>
              <a:gs pos="100000">
                <a:schemeClr val="accent2"/>
              </a:gs>
            </a:gsLst>
            <a:lin ang="18900000" scaled="1"/>
          </a:gradFill>
          <a:ln w="28575" cmpd="sng">
            <a:solidFill>
              <a:srgbClr val="F8F8F8"/>
            </a:solidFill>
            <a:round/>
            <a:headEnd/>
            <a:tailEnd/>
          </a:ln>
          <a:effectLst>
            <a:outerShdw dist="107763" dir="2700000" algn="ctr" rotWithShape="0">
              <a:srgbClr val="1C1C1C">
                <a:alpha val="5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55" name="Freeform 28"/>
          <p:cNvSpPr>
            <a:spLocks/>
          </p:cNvSpPr>
          <p:nvPr/>
        </p:nvSpPr>
        <p:spPr bwMode="gray">
          <a:xfrm>
            <a:off x="2286000" y="3538538"/>
            <a:ext cx="2063750" cy="1728787"/>
          </a:xfrm>
          <a:custGeom>
            <a:avLst/>
            <a:gdLst/>
            <a:ahLst/>
            <a:cxnLst>
              <a:cxn ang="0">
                <a:pos x="303" y="1008"/>
              </a:cxn>
              <a:cxn ang="0">
                <a:pos x="1299" y="1008"/>
              </a:cxn>
              <a:cxn ang="0">
                <a:pos x="1296" y="315"/>
              </a:cxn>
              <a:cxn ang="0">
                <a:pos x="942" y="0"/>
              </a:cxn>
              <a:cxn ang="0">
                <a:pos x="3" y="0"/>
              </a:cxn>
              <a:cxn ang="0">
                <a:pos x="0" y="723"/>
              </a:cxn>
              <a:cxn ang="0">
                <a:pos x="303" y="1008"/>
              </a:cxn>
            </a:cxnLst>
            <a:rect l="0" t="0" r="r" b="b"/>
            <a:pathLst>
              <a:path w="1299" h="1008">
                <a:moveTo>
                  <a:pt x="303" y="1008"/>
                </a:moveTo>
                <a:cubicBezTo>
                  <a:pt x="801" y="1008"/>
                  <a:pt x="1299" y="1008"/>
                  <a:pt x="1299" y="1008"/>
                </a:cubicBezTo>
                <a:cubicBezTo>
                  <a:pt x="1299" y="1008"/>
                  <a:pt x="1297" y="661"/>
                  <a:pt x="1296" y="315"/>
                </a:cubicBezTo>
                <a:cubicBezTo>
                  <a:pt x="1290" y="150"/>
                  <a:pt x="1161" y="0"/>
                  <a:pt x="942" y="0"/>
                </a:cubicBezTo>
                <a:cubicBezTo>
                  <a:pt x="472" y="0"/>
                  <a:pt x="3" y="0"/>
                  <a:pt x="3" y="0"/>
                </a:cubicBezTo>
                <a:cubicBezTo>
                  <a:pt x="3" y="0"/>
                  <a:pt x="1" y="361"/>
                  <a:pt x="0" y="723"/>
                </a:cubicBezTo>
                <a:cubicBezTo>
                  <a:pt x="0" y="915"/>
                  <a:pt x="144" y="1002"/>
                  <a:pt x="303" y="1008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76078"/>
                  <a:invGamma/>
                </a:schemeClr>
              </a:gs>
            </a:gsLst>
            <a:lin ang="18900000" scaled="1"/>
          </a:gradFill>
          <a:ln w="28575" cmpd="sng">
            <a:solidFill>
              <a:srgbClr val="F8F8F8"/>
            </a:solidFill>
            <a:round/>
            <a:headEnd/>
            <a:tailEnd/>
          </a:ln>
          <a:effectLst>
            <a:outerShdw dist="107763" dir="2700000" algn="ctr" rotWithShape="0">
              <a:srgbClr val="1C1C1C">
                <a:alpha val="5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56" name="Freeform 29"/>
          <p:cNvSpPr>
            <a:spLocks/>
          </p:cNvSpPr>
          <p:nvPr/>
        </p:nvSpPr>
        <p:spPr bwMode="gray">
          <a:xfrm flipH="1">
            <a:off x="4587875" y="3538538"/>
            <a:ext cx="2063750" cy="1728787"/>
          </a:xfrm>
          <a:custGeom>
            <a:avLst/>
            <a:gdLst/>
            <a:ahLst/>
            <a:cxnLst>
              <a:cxn ang="0">
                <a:pos x="303" y="1008"/>
              </a:cxn>
              <a:cxn ang="0">
                <a:pos x="1299" y="1008"/>
              </a:cxn>
              <a:cxn ang="0">
                <a:pos x="1296" y="315"/>
              </a:cxn>
              <a:cxn ang="0">
                <a:pos x="942" y="0"/>
              </a:cxn>
              <a:cxn ang="0">
                <a:pos x="3" y="0"/>
              </a:cxn>
              <a:cxn ang="0">
                <a:pos x="0" y="723"/>
              </a:cxn>
              <a:cxn ang="0">
                <a:pos x="303" y="1008"/>
              </a:cxn>
            </a:cxnLst>
            <a:rect l="0" t="0" r="r" b="b"/>
            <a:pathLst>
              <a:path w="1299" h="1008">
                <a:moveTo>
                  <a:pt x="303" y="1008"/>
                </a:moveTo>
                <a:cubicBezTo>
                  <a:pt x="801" y="1008"/>
                  <a:pt x="1299" y="1008"/>
                  <a:pt x="1299" y="1008"/>
                </a:cubicBezTo>
                <a:cubicBezTo>
                  <a:pt x="1299" y="1008"/>
                  <a:pt x="1297" y="661"/>
                  <a:pt x="1296" y="315"/>
                </a:cubicBezTo>
                <a:cubicBezTo>
                  <a:pt x="1290" y="150"/>
                  <a:pt x="1161" y="0"/>
                  <a:pt x="942" y="0"/>
                </a:cubicBezTo>
                <a:cubicBezTo>
                  <a:pt x="472" y="0"/>
                  <a:pt x="3" y="0"/>
                  <a:pt x="3" y="0"/>
                </a:cubicBezTo>
                <a:cubicBezTo>
                  <a:pt x="3" y="0"/>
                  <a:pt x="1" y="361"/>
                  <a:pt x="0" y="723"/>
                </a:cubicBezTo>
                <a:cubicBezTo>
                  <a:pt x="0" y="915"/>
                  <a:pt x="144" y="1002"/>
                  <a:pt x="303" y="1008"/>
                </a:cubicBez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66275"/>
                  <a:invGamma/>
                </a:schemeClr>
              </a:gs>
            </a:gsLst>
            <a:lin ang="18900000" scaled="1"/>
          </a:gradFill>
          <a:ln w="28575" cmpd="sng">
            <a:solidFill>
              <a:srgbClr val="F8F8F8"/>
            </a:solidFill>
            <a:round/>
            <a:headEnd/>
            <a:tailEnd/>
          </a:ln>
          <a:effectLst>
            <a:outerShdw dist="107763" dir="2700000" algn="ctr" rotWithShape="0">
              <a:srgbClr val="1C1C1C">
                <a:alpha val="5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57" name="Oval 30"/>
          <p:cNvSpPr>
            <a:spLocks noChangeArrowheads="1"/>
          </p:cNvSpPr>
          <p:nvPr/>
        </p:nvSpPr>
        <p:spPr bwMode="gray">
          <a:xfrm>
            <a:off x="3429000" y="2341563"/>
            <a:ext cx="2081213" cy="2082800"/>
          </a:xfrm>
          <a:prstGeom prst="ellipse">
            <a:avLst/>
          </a:prstGeom>
          <a:solidFill>
            <a:srgbClr val="FEFFFF">
              <a:alpha val="5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58" name="Text Box 31"/>
          <p:cNvSpPr txBox="1">
            <a:spLocks noChangeArrowheads="1"/>
          </p:cNvSpPr>
          <p:nvPr/>
        </p:nvSpPr>
        <p:spPr bwMode="white">
          <a:xfrm>
            <a:off x="2487613" y="1927225"/>
            <a:ext cx="157956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 err="1" smtClean="0">
                <a:solidFill>
                  <a:srgbClr val="FFFFFF"/>
                </a:solidFill>
                <a:cs typeface="Arial" charset="0"/>
              </a:rPr>
              <a:t>Agentes</a:t>
            </a:r>
            <a:r>
              <a:rPr lang="en-US" sz="1600" b="1" dirty="0" smtClean="0">
                <a:solidFill>
                  <a:srgbClr val="FFFFFF"/>
                </a:solidFill>
                <a:cs typeface="Arial" charset="0"/>
              </a:rPr>
              <a:t> de software</a:t>
            </a:r>
            <a:endParaRPr lang="en-US" sz="1600" b="1" i="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59" name="Text Box 32"/>
          <p:cNvSpPr txBox="1">
            <a:spLocks noChangeArrowheads="1"/>
          </p:cNvSpPr>
          <p:nvPr/>
        </p:nvSpPr>
        <p:spPr bwMode="white">
          <a:xfrm>
            <a:off x="4838700" y="1927225"/>
            <a:ext cx="15795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 err="1" smtClean="0">
                <a:solidFill>
                  <a:srgbClr val="FFFFFF"/>
                </a:solidFill>
                <a:cs typeface="Arial" charset="0"/>
              </a:rPr>
              <a:t>Seguridad</a:t>
            </a:r>
            <a:r>
              <a:rPr lang="en-US" sz="1600" b="1" dirty="0" smtClean="0">
                <a:solidFill>
                  <a:srgbClr val="FFFFFF"/>
                </a:solidFill>
                <a:cs typeface="Arial" charset="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cs typeface="Arial" charset="0"/>
              </a:rPr>
              <a:t>informática</a:t>
            </a:r>
            <a:endParaRPr lang="en-US" sz="1600" b="1" i="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0" name="Text Box 33"/>
          <p:cNvSpPr txBox="1">
            <a:spLocks noChangeArrowheads="1"/>
          </p:cNvSpPr>
          <p:nvPr/>
        </p:nvSpPr>
        <p:spPr bwMode="white">
          <a:xfrm>
            <a:off x="2495550" y="4478338"/>
            <a:ext cx="15795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 err="1" smtClean="0">
                <a:solidFill>
                  <a:srgbClr val="FFFFFF"/>
                </a:solidFill>
                <a:cs typeface="Arial" charset="0"/>
              </a:rPr>
              <a:t>Análisis</a:t>
            </a:r>
            <a:r>
              <a:rPr lang="en-US" sz="1600" b="1" dirty="0" smtClean="0">
                <a:solidFill>
                  <a:srgbClr val="FFFFFF"/>
                </a:solidFill>
                <a:cs typeface="Arial" charset="0"/>
              </a:rPr>
              <a:t> de </a:t>
            </a:r>
            <a:r>
              <a:rPr lang="en-US" sz="1600" b="1" dirty="0" err="1" smtClean="0">
                <a:solidFill>
                  <a:srgbClr val="FFFFFF"/>
                </a:solidFill>
                <a:cs typeface="Arial" charset="0"/>
              </a:rPr>
              <a:t>riesgos</a:t>
            </a:r>
            <a:endParaRPr lang="en-US" sz="1600" b="1" i="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1" name="Text Box 34"/>
          <p:cNvSpPr txBox="1">
            <a:spLocks noChangeArrowheads="1"/>
          </p:cNvSpPr>
          <p:nvPr/>
        </p:nvSpPr>
        <p:spPr bwMode="white">
          <a:xfrm>
            <a:off x="4838700" y="4478338"/>
            <a:ext cx="15795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 smtClean="0">
                <a:solidFill>
                  <a:srgbClr val="FFFFFF"/>
                </a:solidFill>
                <a:cs typeface="Arial" charset="0"/>
              </a:rPr>
              <a:t>Norma ISO-NB17799</a:t>
            </a:r>
            <a:endParaRPr lang="en-US" sz="1600" b="1" i="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2" name="Rectangle 35"/>
          <p:cNvSpPr>
            <a:spLocks noChangeArrowheads="1"/>
          </p:cNvSpPr>
          <p:nvPr/>
        </p:nvSpPr>
        <p:spPr bwMode="gray">
          <a:xfrm>
            <a:off x="3571868" y="3000372"/>
            <a:ext cx="191911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Fundamentación</a:t>
            </a:r>
            <a:r>
              <a:rPr lang="en-US" b="1" dirty="0" smtClean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 </a:t>
            </a:r>
          </a:p>
          <a:p>
            <a:pPr algn="ctr"/>
            <a:r>
              <a:rPr lang="en-US" b="1" dirty="0" err="1" smtClean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teórica</a:t>
            </a:r>
            <a:endParaRPr lang="en-US" b="1" i="0" dirty="0">
              <a:solidFill>
                <a:srgbClr val="080808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6248400" y="6451600"/>
            <a:ext cx="2895600" cy="273050"/>
          </a:xfrm>
        </p:spPr>
        <p:txBody>
          <a:bodyPr/>
          <a:lstStyle/>
          <a:p>
            <a:r>
              <a:rPr lang="en-US"/>
              <a:t>www.themegallery.com</a:t>
            </a:r>
          </a:p>
        </p:txBody>
      </p:sp>
      <p:sp>
        <p:nvSpPr>
          <p:cNvPr id="119810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228600"/>
            <a:ext cx="7239000" cy="884238"/>
          </a:xfrm>
        </p:spPr>
        <p:txBody>
          <a:bodyPr/>
          <a:lstStyle/>
          <a:p>
            <a:r>
              <a:rPr lang="en-US" sz="3600" dirty="0" smtClean="0"/>
              <a:t>DISEÑO DE LA INVESTIGACIÓN</a:t>
            </a:r>
            <a:endParaRPr lang="en-US" sz="3600" dirty="0"/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214421"/>
            <a:ext cx="5643602" cy="453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228600"/>
            <a:ext cx="6781800" cy="884238"/>
          </a:xfrm>
          <a:noFill/>
          <a:ln/>
        </p:spPr>
        <p:txBody>
          <a:bodyPr/>
          <a:lstStyle/>
          <a:p>
            <a:r>
              <a:rPr lang="en-US" sz="3600" dirty="0" smtClean="0"/>
              <a:t>TEMARIO TENTATIVO</a:t>
            </a:r>
            <a:endParaRPr lang="en-US" sz="3600" dirty="0"/>
          </a:p>
        </p:txBody>
      </p:sp>
      <p:grpSp>
        <p:nvGrpSpPr>
          <p:cNvPr id="122883" name="Group 3"/>
          <p:cNvGrpSpPr>
            <a:grpSpLocks/>
          </p:cNvGrpSpPr>
          <p:nvPr/>
        </p:nvGrpSpPr>
        <p:grpSpPr bwMode="auto">
          <a:xfrm>
            <a:off x="6218249" y="1142984"/>
            <a:ext cx="2379663" cy="608013"/>
            <a:chOff x="3701" y="1158"/>
            <a:chExt cx="1499" cy="383"/>
          </a:xfrm>
        </p:grpSpPr>
        <p:sp>
          <p:nvSpPr>
            <p:cNvPr id="122884" name="AutoShape 4"/>
            <p:cNvSpPr>
              <a:spLocks noChangeArrowheads="1"/>
            </p:cNvSpPr>
            <p:nvPr/>
          </p:nvSpPr>
          <p:spPr bwMode="gray">
            <a:xfrm>
              <a:off x="3701" y="1162"/>
              <a:ext cx="1499" cy="37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pic>
          <p:nvPicPr>
            <p:cNvPr id="122885" name="Picture 5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715" y="1331"/>
              <a:ext cx="264" cy="210"/>
            </a:xfrm>
            <a:prstGeom prst="rect">
              <a:avLst/>
            </a:prstGeom>
            <a:noFill/>
          </p:spPr>
        </p:pic>
        <p:pic>
          <p:nvPicPr>
            <p:cNvPr id="122886" name="Picture 6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10800000">
              <a:off x="4920" y="1158"/>
              <a:ext cx="264" cy="210"/>
            </a:xfrm>
            <a:prstGeom prst="rect">
              <a:avLst/>
            </a:prstGeom>
            <a:noFill/>
          </p:spPr>
        </p:pic>
      </p:grpSp>
      <p:grpSp>
        <p:nvGrpSpPr>
          <p:cNvPr id="122887" name="Group 7"/>
          <p:cNvGrpSpPr>
            <a:grpSpLocks/>
          </p:cNvGrpSpPr>
          <p:nvPr/>
        </p:nvGrpSpPr>
        <p:grpSpPr bwMode="auto">
          <a:xfrm>
            <a:off x="2908296" y="1157286"/>
            <a:ext cx="2379662" cy="608013"/>
            <a:chOff x="2112" y="1158"/>
            <a:chExt cx="1499" cy="383"/>
          </a:xfrm>
        </p:grpSpPr>
        <p:sp>
          <p:nvSpPr>
            <p:cNvPr id="122888" name="AutoShape 8"/>
            <p:cNvSpPr>
              <a:spLocks noChangeArrowheads="1"/>
            </p:cNvSpPr>
            <p:nvPr/>
          </p:nvSpPr>
          <p:spPr bwMode="ltGray">
            <a:xfrm>
              <a:off x="2112" y="1162"/>
              <a:ext cx="1499" cy="37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pic>
          <p:nvPicPr>
            <p:cNvPr id="122889" name="Picture 9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ltGray">
            <a:xfrm>
              <a:off x="2119" y="1331"/>
              <a:ext cx="264" cy="210"/>
            </a:xfrm>
            <a:prstGeom prst="rect">
              <a:avLst/>
            </a:prstGeom>
            <a:noFill/>
          </p:spPr>
        </p:pic>
        <p:pic>
          <p:nvPicPr>
            <p:cNvPr id="122890" name="Picture 10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ltGray">
            <a:xfrm rot="10800000">
              <a:off x="3336" y="1158"/>
              <a:ext cx="264" cy="210"/>
            </a:xfrm>
            <a:prstGeom prst="rect">
              <a:avLst/>
            </a:prstGeom>
            <a:noFill/>
          </p:spPr>
        </p:pic>
      </p:grpSp>
      <p:grpSp>
        <p:nvGrpSpPr>
          <p:cNvPr id="122891" name="Group 11"/>
          <p:cNvGrpSpPr>
            <a:grpSpLocks/>
          </p:cNvGrpSpPr>
          <p:nvPr/>
        </p:nvGrpSpPr>
        <p:grpSpPr bwMode="auto">
          <a:xfrm>
            <a:off x="142844" y="1142984"/>
            <a:ext cx="2379663" cy="608013"/>
            <a:chOff x="547" y="1158"/>
            <a:chExt cx="1499" cy="383"/>
          </a:xfrm>
        </p:grpSpPr>
        <p:sp>
          <p:nvSpPr>
            <p:cNvPr id="122892" name="AutoShape 12"/>
            <p:cNvSpPr>
              <a:spLocks noChangeArrowheads="1"/>
            </p:cNvSpPr>
            <p:nvPr/>
          </p:nvSpPr>
          <p:spPr bwMode="gray">
            <a:xfrm>
              <a:off x="547" y="1162"/>
              <a:ext cx="1499" cy="37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pic>
          <p:nvPicPr>
            <p:cNvPr id="122893" name="Picture 13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9" y="1325"/>
              <a:ext cx="264" cy="210"/>
            </a:xfrm>
            <a:prstGeom prst="rect">
              <a:avLst/>
            </a:prstGeom>
            <a:noFill/>
          </p:spPr>
        </p:pic>
        <p:pic>
          <p:nvPicPr>
            <p:cNvPr id="122894" name="Picture 14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10800000">
              <a:off x="1770" y="1158"/>
              <a:ext cx="264" cy="210"/>
            </a:xfrm>
            <a:prstGeom prst="rect">
              <a:avLst/>
            </a:prstGeom>
            <a:noFill/>
          </p:spPr>
        </p:pic>
      </p:grpSp>
      <p:grpSp>
        <p:nvGrpSpPr>
          <p:cNvPr id="122895" name="Group 15"/>
          <p:cNvGrpSpPr>
            <a:grpSpLocks/>
          </p:cNvGrpSpPr>
          <p:nvPr/>
        </p:nvGrpSpPr>
        <p:grpSpPr bwMode="auto">
          <a:xfrm>
            <a:off x="157132" y="1701784"/>
            <a:ext cx="2370137" cy="4570434"/>
            <a:chOff x="313" y="1316"/>
            <a:chExt cx="1660" cy="2637"/>
          </a:xfrm>
        </p:grpSpPr>
        <p:sp>
          <p:nvSpPr>
            <p:cNvPr id="122896" name="Rectangle 16"/>
            <p:cNvSpPr>
              <a:spLocks noChangeArrowheads="1"/>
            </p:cNvSpPr>
            <p:nvPr/>
          </p:nvSpPr>
          <p:spPr bwMode="gray">
            <a:xfrm>
              <a:off x="313" y="3908"/>
              <a:ext cx="1660" cy="4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22897" name="Line 17"/>
            <p:cNvSpPr>
              <a:spLocks noChangeShapeType="1"/>
            </p:cNvSpPr>
            <p:nvPr/>
          </p:nvSpPr>
          <p:spPr bwMode="gray">
            <a:xfrm>
              <a:off x="313" y="1316"/>
              <a:ext cx="0" cy="2633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</p:grpSp>
      <p:grpSp>
        <p:nvGrpSpPr>
          <p:cNvPr id="122898" name="Group 18"/>
          <p:cNvGrpSpPr>
            <a:grpSpLocks/>
          </p:cNvGrpSpPr>
          <p:nvPr/>
        </p:nvGrpSpPr>
        <p:grpSpPr bwMode="auto">
          <a:xfrm>
            <a:off x="1200150" y="2093913"/>
            <a:ext cx="7073900" cy="2830512"/>
            <a:chOff x="664" y="1951"/>
            <a:chExt cx="4308" cy="2120"/>
          </a:xfrm>
        </p:grpSpPr>
        <p:sp>
          <p:nvSpPr>
            <p:cNvPr id="12289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0" name="Freeform 20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1" name="Freeform 21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2" name="Freeform 22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3" name="Freeform 23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6" name="Freeform 26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7" name="Freeform 27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8" name="Freeform 28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0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0" name="Freeform 30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1" name="Freeform 31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3" name="Freeform 33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4" name="Freeform 34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5" name="Freeform 35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6" name="Freeform 36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7" name="Freeform 37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8" name="Freeform 38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19" name="Freeform 39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3" name="Freeform 43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5" name="Freeform 45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6" name="Freeform 46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7" name="Freeform 47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8" name="Freeform 48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29" name="Freeform 49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0" name="Freeform 50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1" name="Freeform 51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2" name="Freeform 52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3" name="Freeform 53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5" name="Freeform 55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6" name="Freeform 56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7" name="Freeform 57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3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0" name="Freeform 60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1" name="Freeform 61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3" name="Freeform 63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4" name="Freeform 64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5" name="Freeform 65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6" name="Freeform 66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49" name="Freeform 69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1" name="Freeform 71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2" name="Freeform 72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3" name="Freeform 73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4" name="Freeform 74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7" name="Freeform 77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8" name="Freeform 78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59" name="Freeform 79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0" name="Freeform 80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1" name="Freeform 81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3" name="Freeform 83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4" name="Freeform 84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5" name="Freeform 85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7" name="Freeform 87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8" name="Freeform 88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6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1" name="Freeform 91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2" name="Freeform 92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4" name="Freeform 94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5" name="Freeform 95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79" name="Freeform 99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0" name="Freeform 100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1" name="Freeform 101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2" name="Freeform 102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3" name="Freeform 103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5" name="Freeform 105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7" name="Freeform 107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8" name="Freeform 108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89" name="Freeform 109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0" name="Freeform 110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1" name="Freeform 111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5" name="Freeform 115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6" name="Freeform 116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7" name="Freeform 117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8" name="Freeform 118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2999" name="Freeform 119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0" name="Freeform 120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1" name="Freeform 121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2" name="Freeform 122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3" name="Freeform 123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4" name="Freeform 124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5" name="Freeform 125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  <p:sp>
          <p:nvSpPr>
            <p:cNvPr id="123006" name="Freeform 126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777777">
                <a:alpha val="10001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s-BO"/>
            </a:p>
          </p:txBody>
        </p:sp>
      </p:grpSp>
      <p:sp>
        <p:nvSpPr>
          <p:cNvPr id="123008" name="Rectangle 128"/>
          <p:cNvSpPr>
            <a:spLocks noChangeArrowheads="1"/>
          </p:cNvSpPr>
          <p:nvPr/>
        </p:nvSpPr>
        <p:spPr bwMode="black">
          <a:xfrm>
            <a:off x="774669" y="1835134"/>
            <a:ext cx="184731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en-US" sz="1400" dirty="0">
              <a:latin typeface="Arial" charset="0"/>
              <a:cs typeface="Arial" charset="0"/>
            </a:endParaRPr>
          </a:p>
        </p:txBody>
      </p:sp>
      <p:sp>
        <p:nvSpPr>
          <p:cNvPr id="123018" name="Rectangle 138"/>
          <p:cNvSpPr>
            <a:spLocks noChangeArrowheads="1"/>
          </p:cNvSpPr>
          <p:nvPr/>
        </p:nvSpPr>
        <p:spPr bwMode="black">
          <a:xfrm>
            <a:off x="214282" y="1857364"/>
            <a:ext cx="2488053" cy="41857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BO" sz="1400" dirty="0" smtClean="0"/>
              <a:t>1.1 INTRODUCCIÓN</a:t>
            </a:r>
          </a:p>
          <a:p>
            <a:r>
              <a:rPr lang="es-BO" sz="1400" dirty="0" smtClean="0"/>
              <a:t>1.2 ANTECEDENTES</a:t>
            </a:r>
          </a:p>
          <a:p>
            <a:r>
              <a:rPr lang="es-BO" sz="1400" dirty="0" smtClean="0"/>
              <a:t>1.3 PLANTEAMIENTO </a:t>
            </a:r>
          </a:p>
          <a:p>
            <a:r>
              <a:rPr lang="es-BO" sz="1400" dirty="0" smtClean="0"/>
              <a:t>      DEL PROBLEMA</a:t>
            </a:r>
          </a:p>
          <a:p>
            <a:r>
              <a:rPr lang="es-BO" sz="1400" dirty="0" smtClean="0"/>
              <a:t>1.3.1 Identificación del problema</a:t>
            </a:r>
          </a:p>
          <a:p>
            <a:r>
              <a:rPr lang="es-BO" sz="1400" dirty="0" smtClean="0"/>
              <a:t>1.3.2 Formulación del problema</a:t>
            </a:r>
          </a:p>
          <a:p>
            <a:r>
              <a:rPr lang="es-BO" sz="1400" dirty="0" smtClean="0"/>
              <a:t>1.3.3 Análisis causa efecto</a:t>
            </a:r>
          </a:p>
          <a:p>
            <a:r>
              <a:rPr lang="es-BO" sz="1400" dirty="0" smtClean="0"/>
              <a:t>1.4 OBJETIVOS Y ACCIONES</a:t>
            </a:r>
          </a:p>
          <a:p>
            <a:r>
              <a:rPr lang="es-BO" sz="1400" dirty="0" smtClean="0"/>
              <a:t>1.4.1 Objetivo general</a:t>
            </a:r>
          </a:p>
          <a:p>
            <a:r>
              <a:rPr lang="es-BO" sz="1400" dirty="0" smtClean="0"/>
              <a:t>1.4.2 Objetivos específicos</a:t>
            </a:r>
          </a:p>
          <a:p>
            <a:r>
              <a:rPr lang="es-BO" sz="1400" dirty="0" smtClean="0"/>
              <a:t>1.5 JUSTIFICACIÓN </a:t>
            </a:r>
          </a:p>
          <a:p>
            <a:r>
              <a:rPr lang="es-BO" sz="1400" dirty="0" smtClean="0"/>
              <a:t>1.5.1 Justificación técnica</a:t>
            </a:r>
          </a:p>
          <a:p>
            <a:r>
              <a:rPr lang="es-BO" sz="1400" dirty="0" smtClean="0"/>
              <a:t>1.5.2 Justificación económica</a:t>
            </a:r>
          </a:p>
          <a:p>
            <a:r>
              <a:rPr lang="es-BO" sz="1400" dirty="0" smtClean="0"/>
              <a:t>1.5.3 Justificación social</a:t>
            </a:r>
          </a:p>
          <a:p>
            <a:r>
              <a:rPr lang="es-BO" sz="1400" dirty="0" smtClean="0"/>
              <a:t>1.6 ALCANCE</a:t>
            </a:r>
          </a:p>
          <a:p>
            <a:r>
              <a:rPr lang="es-BO" sz="1400" dirty="0" smtClean="0"/>
              <a:t>1.6.1 Alcance temático</a:t>
            </a:r>
          </a:p>
          <a:p>
            <a:r>
              <a:rPr lang="es-BO" sz="1400" dirty="0" smtClean="0"/>
              <a:t>1.6.2 Alcance geográfico</a:t>
            </a:r>
          </a:p>
          <a:p>
            <a:r>
              <a:rPr lang="es-BO" sz="1400" dirty="0" smtClean="0"/>
              <a:t>1.6.3 Alcance temporal</a:t>
            </a:r>
          </a:p>
          <a:p>
            <a:r>
              <a:rPr lang="es-BO" sz="1400" dirty="0" smtClean="0"/>
              <a:t>1.6.4 Alcance institucional</a:t>
            </a:r>
            <a:endParaRPr lang="en-US" sz="1400" dirty="0">
              <a:latin typeface="Arial" charset="0"/>
              <a:cs typeface="Arial" charset="0"/>
            </a:endParaRPr>
          </a:p>
        </p:txBody>
      </p:sp>
      <p:sp>
        <p:nvSpPr>
          <p:cNvPr id="123035" name="Rectangle 155"/>
          <p:cNvSpPr>
            <a:spLocks noChangeArrowheads="1"/>
          </p:cNvSpPr>
          <p:nvPr/>
        </p:nvSpPr>
        <p:spPr bwMode="black">
          <a:xfrm>
            <a:off x="3000364" y="1785926"/>
            <a:ext cx="3357779" cy="22467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BO" sz="1400" dirty="0" smtClean="0"/>
              <a:t>2.1 SEGURIDAD INFORMÁTICA</a:t>
            </a:r>
          </a:p>
          <a:p>
            <a:r>
              <a:rPr lang="es-BO" sz="1400" dirty="0" smtClean="0"/>
              <a:t>2.2 ANÁLISIS DE RIESGOS</a:t>
            </a:r>
          </a:p>
          <a:p>
            <a:r>
              <a:rPr lang="es-BO" sz="1400" dirty="0" smtClean="0"/>
              <a:t>2.3 LA NORMA ISO-NB17799</a:t>
            </a:r>
          </a:p>
          <a:p>
            <a:r>
              <a:rPr lang="es-BO" sz="1400" dirty="0" smtClean="0"/>
              <a:t>2.4 AGENTES DE SOFTWARE</a:t>
            </a:r>
          </a:p>
          <a:p>
            <a:r>
              <a:rPr lang="es-BO" sz="1400" dirty="0" smtClean="0"/>
              <a:t>2.5 MODELOS DE DESARROLLO </a:t>
            </a:r>
          </a:p>
          <a:p>
            <a:r>
              <a:rPr lang="es-BO" sz="1400" dirty="0" smtClean="0"/>
              <a:t>      DEL SOFTWARE</a:t>
            </a:r>
          </a:p>
          <a:p>
            <a:r>
              <a:rPr lang="es-BO" sz="1400" dirty="0" smtClean="0"/>
              <a:t>2.6 HERRAMIENTAS DE </a:t>
            </a:r>
          </a:p>
          <a:p>
            <a:r>
              <a:rPr lang="es-BO" sz="1400" dirty="0" smtClean="0"/>
              <a:t>      SOFTWARE Y DBMS </a:t>
            </a:r>
          </a:p>
          <a:p>
            <a:r>
              <a:rPr lang="es-BO" sz="1400" dirty="0" smtClean="0"/>
              <a:t>    (DATA BASE MANAGMENT </a:t>
            </a:r>
            <a:r>
              <a:rPr lang="es-BO" sz="1400" dirty="0" smtClean="0"/>
              <a:t>SYSTEM</a:t>
            </a:r>
            <a:r>
              <a:rPr lang="es-BO" sz="1400" dirty="0" smtClean="0"/>
              <a:t>)</a:t>
            </a:r>
          </a:p>
          <a:p>
            <a:pPr eaLnBrk="1" hangingPunct="1">
              <a:buFontTx/>
              <a:buChar char="•"/>
            </a:pPr>
            <a:endParaRPr lang="en-US" sz="1400" dirty="0">
              <a:latin typeface="Arial" charset="0"/>
              <a:cs typeface="Arial" charset="0"/>
            </a:endParaRPr>
          </a:p>
        </p:txBody>
      </p:sp>
      <p:sp>
        <p:nvSpPr>
          <p:cNvPr id="123042" name="Rectangle 162"/>
          <p:cNvSpPr>
            <a:spLocks noChangeArrowheads="1"/>
          </p:cNvSpPr>
          <p:nvPr/>
        </p:nvSpPr>
        <p:spPr bwMode="black">
          <a:xfrm>
            <a:off x="6381737" y="1785926"/>
            <a:ext cx="2860335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BO" sz="1400" dirty="0" smtClean="0"/>
              <a:t>3.1 HIPOTESIS </a:t>
            </a:r>
          </a:p>
          <a:p>
            <a:r>
              <a:rPr lang="es-BO" sz="1400" dirty="0" smtClean="0"/>
              <a:t>3.1 DESARROLLO </a:t>
            </a:r>
          </a:p>
          <a:p>
            <a:r>
              <a:rPr lang="es-BO" sz="1400" dirty="0" smtClean="0"/>
              <a:t>     DE LA PRIMERA ITERACION</a:t>
            </a:r>
          </a:p>
          <a:p>
            <a:r>
              <a:rPr lang="es-BO" sz="1400" dirty="0" smtClean="0"/>
              <a:t>3.2 DESARROLLO </a:t>
            </a:r>
          </a:p>
          <a:p>
            <a:r>
              <a:rPr lang="es-BO" sz="1400" dirty="0" smtClean="0"/>
              <a:t>     DE LA SEGUNDA ITERACION</a:t>
            </a:r>
          </a:p>
          <a:p>
            <a:r>
              <a:rPr lang="es-BO" sz="1400" dirty="0" smtClean="0"/>
              <a:t>3.3 INTEGRACION DE </a:t>
            </a:r>
          </a:p>
          <a:p>
            <a:r>
              <a:rPr lang="es-BO" sz="1400" dirty="0" smtClean="0"/>
              <a:t>      LOS COMPONENTES </a:t>
            </a:r>
          </a:p>
          <a:p>
            <a:r>
              <a:rPr lang="es-BO" sz="1400" dirty="0" smtClean="0"/>
              <a:t>     Y PRUEBAS FINALES</a:t>
            </a:r>
          </a:p>
          <a:p>
            <a:pPr eaLnBrk="1" hangingPunct="1"/>
            <a:endParaRPr lang="en-US" sz="1400" dirty="0">
              <a:latin typeface="Arial" charset="0"/>
              <a:cs typeface="Arial" charset="0"/>
            </a:endParaRPr>
          </a:p>
        </p:txBody>
      </p:sp>
      <p:grpSp>
        <p:nvGrpSpPr>
          <p:cNvPr id="123058" name="Group 178"/>
          <p:cNvGrpSpPr>
            <a:grpSpLocks/>
          </p:cNvGrpSpPr>
          <p:nvPr/>
        </p:nvGrpSpPr>
        <p:grpSpPr bwMode="auto">
          <a:xfrm>
            <a:off x="2938458" y="1716086"/>
            <a:ext cx="2387600" cy="2284418"/>
            <a:chOff x="2046" y="1316"/>
            <a:chExt cx="1673" cy="2637"/>
          </a:xfrm>
        </p:grpSpPr>
        <p:sp>
          <p:nvSpPr>
            <p:cNvPr id="123059" name="Rectangle 179"/>
            <p:cNvSpPr>
              <a:spLocks noChangeArrowheads="1"/>
            </p:cNvSpPr>
            <p:nvPr/>
          </p:nvSpPr>
          <p:spPr bwMode="gray">
            <a:xfrm>
              <a:off x="2046" y="3908"/>
              <a:ext cx="1673" cy="4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23060" name="Line 180"/>
            <p:cNvSpPr>
              <a:spLocks noChangeShapeType="1"/>
            </p:cNvSpPr>
            <p:nvPr/>
          </p:nvSpPr>
          <p:spPr bwMode="gray">
            <a:xfrm>
              <a:off x="2046" y="1316"/>
              <a:ext cx="0" cy="2633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</p:grpSp>
      <p:grpSp>
        <p:nvGrpSpPr>
          <p:cNvPr id="123061" name="Group 181"/>
          <p:cNvGrpSpPr>
            <a:grpSpLocks/>
          </p:cNvGrpSpPr>
          <p:nvPr/>
        </p:nvGrpSpPr>
        <p:grpSpPr bwMode="auto">
          <a:xfrm>
            <a:off x="6251587" y="1701784"/>
            <a:ext cx="2389187" cy="2084406"/>
            <a:chOff x="3816" y="1316"/>
            <a:chExt cx="1673" cy="2637"/>
          </a:xfrm>
        </p:grpSpPr>
        <p:sp>
          <p:nvSpPr>
            <p:cNvPr id="123062" name="Rectangle 182"/>
            <p:cNvSpPr>
              <a:spLocks noChangeArrowheads="1"/>
            </p:cNvSpPr>
            <p:nvPr/>
          </p:nvSpPr>
          <p:spPr bwMode="gray">
            <a:xfrm>
              <a:off x="3816" y="3908"/>
              <a:ext cx="1673" cy="45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123063" name="Line 183"/>
            <p:cNvSpPr>
              <a:spLocks noChangeShapeType="1"/>
            </p:cNvSpPr>
            <p:nvPr/>
          </p:nvSpPr>
          <p:spPr bwMode="gray">
            <a:xfrm>
              <a:off x="3816" y="1316"/>
              <a:ext cx="0" cy="2633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</p:grpSp>
      <p:sp>
        <p:nvSpPr>
          <p:cNvPr id="123067" name="Rectangle 187"/>
          <p:cNvSpPr>
            <a:spLocks noChangeArrowheads="1"/>
          </p:cNvSpPr>
          <p:nvPr/>
        </p:nvSpPr>
        <p:spPr bwMode="auto">
          <a:xfrm>
            <a:off x="0" y="1214422"/>
            <a:ext cx="247606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es-BO" sz="1200" b="1" dirty="0" smtClean="0"/>
              <a:t>CAPITULO 1 </a:t>
            </a:r>
          </a:p>
          <a:p>
            <a:pPr algn="ctr" eaLnBrk="1" hangingPunct="1"/>
            <a:r>
              <a:rPr lang="es-BO" sz="1200" b="1" dirty="0" smtClean="0"/>
              <a:t>GENERALIDADES</a:t>
            </a:r>
            <a:endParaRPr lang="es-BO" sz="1200" dirty="0" smtClean="0"/>
          </a:p>
          <a:p>
            <a:pPr eaLnBrk="1" hangingPunct="1"/>
            <a:endParaRPr lang="en-US" b="1" i="1" dirty="0">
              <a:solidFill>
                <a:srgbClr val="FEFFFF"/>
              </a:solidFill>
              <a:latin typeface="Arial" charset="0"/>
              <a:cs typeface="Arial" charset="0"/>
            </a:endParaRPr>
          </a:p>
        </p:txBody>
      </p:sp>
      <p:sp>
        <p:nvSpPr>
          <p:cNvPr id="123068" name="Rectangle 188"/>
          <p:cNvSpPr>
            <a:spLocks noChangeArrowheads="1"/>
          </p:cNvSpPr>
          <p:nvPr/>
        </p:nvSpPr>
        <p:spPr bwMode="auto">
          <a:xfrm>
            <a:off x="2786050" y="1142984"/>
            <a:ext cx="252075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s-BO" sz="1200" b="1" dirty="0" smtClean="0"/>
              <a:t>CAPITULO 2</a:t>
            </a:r>
          </a:p>
          <a:p>
            <a:pPr algn="ctr" eaLnBrk="1" hangingPunct="1"/>
            <a:r>
              <a:rPr lang="es-BO" sz="1200" b="1" dirty="0" smtClean="0"/>
              <a:t> FUNDAMENTACIÓN TEÓRICA</a:t>
            </a:r>
            <a:endParaRPr lang="es-BO" sz="1200" dirty="0" smtClean="0"/>
          </a:p>
          <a:p>
            <a:pPr eaLnBrk="1" hangingPunct="1"/>
            <a:endParaRPr lang="en-US" b="1" i="1" dirty="0">
              <a:solidFill>
                <a:srgbClr val="FEFFFF"/>
              </a:solidFill>
              <a:latin typeface="Arial" charset="0"/>
              <a:cs typeface="Arial" charset="0"/>
            </a:endParaRPr>
          </a:p>
        </p:txBody>
      </p:sp>
      <p:sp>
        <p:nvSpPr>
          <p:cNvPr id="192" name="191 CuadroTexto"/>
          <p:cNvSpPr txBox="1"/>
          <p:nvPr/>
        </p:nvSpPr>
        <p:spPr>
          <a:xfrm>
            <a:off x="6643702" y="1214422"/>
            <a:ext cx="17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1200" b="1" dirty="0" smtClean="0"/>
              <a:t>CAPITULO 3 </a:t>
            </a:r>
          </a:p>
          <a:p>
            <a:pPr algn="ctr"/>
            <a:r>
              <a:rPr lang="es-BO" sz="1200" b="1" dirty="0" smtClean="0"/>
              <a:t>MARCO PRÁCTICO</a:t>
            </a:r>
            <a:endParaRPr lang="es-BO" sz="1200" dirty="0" smtClean="0"/>
          </a:p>
          <a:p>
            <a:pPr algn="ctr"/>
            <a:endParaRPr lang="es-BO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6781800" cy="884238"/>
          </a:xfrm>
          <a:noFill/>
          <a:ln/>
        </p:spPr>
        <p:txBody>
          <a:bodyPr/>
          <a:lstStyle/>
          <a:p>
            <a:r>
              <a:rPr lang="en-US" sz="3600" dirty="0" smtClean="0"/>
              <a:t>TEMARIO TENTATIVO</a:t>
            </a:r>
            <a:endParaRPr lang="en-US" sz="3600" dirty="0"/>
          </a:p>
        </p:txBody>
      </p:sp>
      <p:grpSp>
        <p:nvGrpSpPr>
          <p:cNvPr id="28" name="Group 3"/>
          <p:cNvGrpSpPr>
            <a:grpSpLocks/>
          </p:cNvGrpSpPr>
          <p:nvPr/>
        </p:nvGrpSpPr>
        <p:grpSpPr bwMode="auto">
          <a:xfrm>
            <a:off x="4789489" y="1571612"/>
            <a:ext cx="2379663" cy="608013"/>
            <a:chOff x="3701" y="1158"/>
            <a:chExt cx="1499" cy="383"/>
          </a:xfrm>
        </p:grpSpPr>
        <p:sp>
          <p:nvSpPr>
            <p:cNvPr id="29" name="AutoShape 4"/>
            <p:cNvSpPr>
              <a:spLocks noChangeArrowheads="1"/>
            </p:cNvSpPr>
            <p:nvPr/>
          </p:nvSpPr>
          <p:spPr bwMode="gray">
            <a:xfrm>
              <a:off x="3701" y="1162"/>
              <a:ext cx="1499" cy="37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pic>
          <p:nvPicPr>
            <p:cNvPr id="30" name="Picture 5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715" y="1331"/>
              <a:ext cx="264" cy="210"/>
            </a:xfrm>
            <a:prstGeom prst="rect">
              <a:avLst/>
            </a:prstGeom>
            <a:noFill/>
          </p:spPr>
        </p:pic>
        <p:pic>
          <p:nvPicPr>
            <p:cNvPr id="31" name="Picture 6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10800000">
              <a:off x="4920" y="1158"/>
              <a:ext cx="264" cy="210"/>
            </a:xfrm>
            <a:prstGeom prst="rect">
              <a:avLst/>
            </a:prstGeom>
            <a:noFill/>
          </p:spPr>
        </p:pic>
      </p:grpSp>
      <p:grpSp>
        <p:nvGrpSpPr>
          <p:cNvPr id="32" name="Group 7"/>
          <p:cNvGrpSpPr>
            <a:grpSpLocks/>
          </p:cNvGrpSpPr>
          <p:nvPr/>
        </p:nvGrpSpPr>
        <p:grpSpPr bwMode="auto">
          <a:xfrm>
            <a:off x="1479536" y="1585914"/>
            <a:ext cx="2379662" cy="608013"/>
            <a:chOff x="2112" y="1158"/>
            <a:chExt cx="1499" cy="383"/>
          </a:xfrm>
        </p:grpSpPr>
        <p:sp>
          <p:nvSpPr>
            <p:cNvPr id="33" name="AutoShape 8"/>
            <p:cNvSpPr>
              <a:spLocks noChangeArrowheads="1"/>
            </p:cNvSpPr>
            <p:nvPr/>
          </p:nvSpPr>
          <p:spPr bwMode="ltGray">
            <a:xfrm>
              <a:off x="2112" y="1162"/>
              <a:ext cx="1499" cy="37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pic>
          <p:nvPicPr>
            <p:cNvPr id="34" name="Picture 9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ltGray">
            <a:xfrm>
              <a:off x="2119" y="1331"/>
              <a:ext cx="264" cy="210"/>
            </a:xfrm>
            <a:prstGeom prst="rect">
              <a:avLst/>
            </a:prstGeom>
            <a:noFill/>
          </p:spPr>
        </p:pic>
        <p:pic>
          <p:nvPicPr>
            <p:cNvPr id="35" name="Picture 10" descr="Picture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ltGray">
            <a:xfrm rot="10800000">
              <a:off x="3336" y="1158"/>
              <a:ext cx="264" cy="210"/>
            </a:xfrm>
            <a:prstGeom prst="rect">
              <a:avLst/>
            </a:prstGeom>
            <a:noFill/>
          </p:spPr>
        </p:pic>
      </p:grpSp>
      <p:sp>
        <p:nvSpPr>
          <p:cNvPr id="36" name="Rectangle 155"/>
          <p:cNvSpPr>
            <a:spLocks noChangeArrowheads="1"/>
          </p:cNvSpPr>
          <p:nvPr/>
        </p:nvSpPr>
        <p:spPr bwMode="black">
          <a:xfrm>
            <a:off x="1571604" y="2214554"/>
            <a:ext cx="1944763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BO" sz="1400" dirty="0" smtClean="0"/>
              <a:t>4.1 Viabilidad técnica</a:t>
            </a:r>
          </a:p>
          <a:p>
            <a:r>
              <a:rPr lang="es-BO" sz="1400" dirty="0" smtClean="0"/>
              <a:t>4.2 Viabilidad económica</a:t>
            </a:r>
          </a:p>
          <a:p>
            <a:endParaRPr lang="es-BO" sz="1400" dirty="0" smtClean="0"/>
          </a:p>
          <a:p>
            <a:pPr eaLnBrk="1" hangingPunct="1">
              <a:buFontTx/>
              <a:buChar char="•"/>
            </a:pPr>
            <a:endParaRPr lang="en-US" sz="1400" dirty="0">
              <a:latin typeface="Arial" charset="0"/>
              <a:cs typeface="Arial" charset="0"/>
            </a:endParaRPr>
          </a:p>
        </p:txBody>
      </p:sp>
      <p:grpSp>
        <p:nvGrpSpPr>
          <p:cNvPr id="37" name="Group 178"/>
          <p:cNvGrpSpPr>
            <a:grpSpLocks/>
          </p:cNvGrpSpPr>
          <p:nvPr/>
        </p:nvGrpSpPr>
        <p:grpSpPr bwMode="auto">
          <a:xfrm>
            <a:off x="1509698" y="2144714"/>
            <a:ext cx="2387600" cy="784220"/>
            <a:chOff x="2046" y="1316"/>
            <a:chExt cx="1673" cy="2637"/>
          </a:xfrm>
        </p:grpSpPr>
        <p:sp>
          <p:nvSpPr>
            <p:cNvPr id="38" name="Rectangle 179"/>
            <p:cNvSpPr>
              <a:spLocks noChangeArrowheads="1"/>
            </p:cNvSpPr>
            <p:nvPr/>
          </p:nvSpPr>
          <p:spPr bwMode="gray">
            <a:xfrm>
              <a:off x="2046" y="3908"/>
              <a:ext cx="1673" cy="4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39" name="Line 180"/>
            <p:cNvSpPr>
              <a:spLocks noChangeShapeType="1"/>
            </p:cNvSpPr>
            <p:nvPr/>
          </p:nvSpPr>
          <p:spPr bwMode="gray">
            <a:xfrm>
              <a:off x="2046" y="1316"/>
              <a:ext cx="0" cy="2633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</p:grpSp>
      <p:grpSp>
        <p:nvGrpSpPr>
          <p:cNvPr id="40" name="Group 181"/>
          <p:cNvGrpSpPr>
            <a:grpSpLocks/>
          </p:cNvGrpSpPr>
          <p:nvPr/>
        </p:nvGrpSpPr>
        <p:grpSpPr bwMode="auto">
          <a:xfrm>
            <a:off x="4822827" y="2130412"/>
            <a:ext cx="2389187" cy="1227150"/>
            <a:chOff x="3816" y="1316"/>
            <a:chExt cx="1673" cy="2637"/>
          </a:xfrm>
        </p:grpSpPr>
        <p:sp>
          <p:nvSpPr>
            <p:cNvPr id="41" name="Rectangle 182"/>
            <p:cNvSpPr>
              <a:spLocks noChangeArrowheads="1"/>
            </p:cNvSpPr>
            <p:nvPr/>
          </p:nvSpPr>
          <p:spPr bwMode="gray">
            <a:xfrm>
              <a:off x="3816" y="3908"/>
              <a:ext cx="1673" cy="45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BO"/>
            </a:p>
          </p:txBody>
        </p:sp>
        <p:sp>
          <p:nvSpPr>
            <p:cNvPr id="42" name="Line 183"/>
            <p:cNvSpPr>
              <a:spLocks noChangeShapeType="1"/>
            </p:cNvSpPr>
            <p:nvPr/>
          </p:nvSpPr>
          <p:spPr bwMode="gray">
            <a:xfrm>
              <a:off x="3816" y="1316"/>
              <a:ext cx="0" cy="2633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BO"/>
            </a:p>
          </p:txBody>
        </p:sp>
      </p:grpSp>
      <p:sp>
        <p:nvSpPr>
          <p:cNvPr id="43" name="Rectangle 188"/>
          <p:cNvSpPr>
            <a:spLocks noChangeArrowheads="1"/>
          </p:cNvSpPr>
          <p:nvPr/>
        </p:nvSpPr>
        <p:spPr bwMode="auto">
          <a:xfrm>
            <a:off x="1571604" y="1571612"/>
            <a:ext cx="216187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s-BO" sz="1200" b="1" dirty="0" smtClean="0"/>
              <a:t>CAPITULO 4</a:t>
            </a:r>
          </a:p>
          <a:p>
            <a:pPr algn="ctr" eaLnBrk="1" hangingPunct="1"/>
            <a:r>
              <a:rPr lang="es-BO" sz="1200" b="1" dirty="0" smtClean="0"/>
              <a:t> ANÁLISIS DE VIABILIDAD</a:t>
            </a:r>
            <a:endParaRPr lang="es-BO" sz="1200" dirty="0" smtClean="0"/>
          </a:p>
          <a:p>
            <a:pPr eaLnBrk="1" hangingPunct="1"/>
            <a:endParaRPr lang="en-US" b="1" i="1" dirty="0">
              <a:solidFill>
                <a:srgbClr val="FEFFFF"/>
              </a:solidFill>
              <a:latin typeface="Arial" charset="0"/>
              <a:cs typeface="Arial" charset="0"/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5000628" y="1571612"/>
            <a:ext cx="2000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1200" b="1" dirty="0" smtClean="0"/>
              <a:t>CAPITULO 5</a:t>
            </a:r>
          </a:p>
          <a:p>
            <a:pPr algn="ctr"/>
            <a:r>
              <a:rPr lang="es-BO" sz="1200" b="1" dirty="0" smtClean="0"/>
              <a:t>CONCLUSIONES Y RECOMENDACIONES</a:t>
            </a:r>
            <a:endParaRPr lang="es-BO" sz="1200" dirty="0" smtClean="0"/>
          </a:p>
          <a:p>
            <a:pPr algn="ctr"/>
            <a:endParaRPr lang="es-BO" sz="1200" dirty="0"/>
          </a:p>
        </p:txBody>
      </p:sp>
      <p:sp>
        <p:nvSpPr>
          <p:cNvPr id="45" name="44 CuadroTexto"/>
          <p:cNvSpPr txBox="1"/>
          <p:nvPr/>
        </p:nvSpPr>
        <p:spPr>
          <a:xfrm>
            <a:off x="4929190" y="2285992"/>
            <a:ext cx="21431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1400" dirty="0" smtClean="0"/>
              <a:t>5.1 Conclusiones </a:t>
            </a:r>
          </a:p>
          <a:p>
            <a:r>
              <a:rPr lang="es-BO" sz="1400" dirty="0" smtClean="0"/>
              <a:t>5.2 Recomendaciones</a:t>
            </a:r>
          </a:p>
          <a:p>
            <a:r>
              <a:rPr lang="es-BO" sz="1400" dirty="0" smtClean="0"/>
              <a:t>ANEXOS </a:t>
            </a:r>
          </a:p>
          <a:p>
            <a:r>
              <a:rPr lang="es-BO" sz="1400" dirty="0" smtClean="0"/>
              <a:t>BIBLIOGRAFIA</a:t>
            </a:r>
          </a:p>
          <a:p>
            <a:endParaRPr lang="es-BO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WordArt 2"/>
          <p:cNvSpPr>
            <a:spLocks noChangeArrowheads="1" noChangeShapeType="1" noTextEdit="1"/>
          </p:cNvSpPr>
          <p:nvPr/>
        </p:nvSpPr>
        <p:spPr bwMode="gray">
          <a:xfrm>
            <a:off x="3643306" y="1571612"/>
            <a:ext cx="4953000" cy="141445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s-BO" sz="5400" b="1" kern="10" dirty="0" smtClean="0">
                <a:ln w="25400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Gracias </a:t>
            </a:r>
          </a:p>
          <a:p>
            <a:pPr algn="ctr"/>
            <a:r>
              <a:rPr lang="es-BO" sz="5400" b="1" kern="10" dirty="0" smtClean="0">
                <a:ln w="25400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por su atención!!</a:t>
            </a:r>
            <a:endParaRPr lang="es-BO" sz="5400" b="1" kern="10" dirty="0">
              <a:ln w="25400">
                <a:solidFill>
                  <a:schemeClr val="tx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966</TotalTime>
  <Words>613</Words>
  <Application>Microsoft Office PowerPoint</Application>
  <PresentationFormat>Presentación en pantalla (4:3)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Corbel</vt:lpstr>
      <vt:lpstr>Verdana</vt:lpstr>
      <vt:lpstr>Wingdings</vt:lpstr>
      <vt:lpstr>Parallax</vt:lpstr>
      <vt:lpstr>SISTEMA WEB DE GESTION DE SUELDOS Y SALARIOS</vt:lpstr>
      <vt:lpstr>INTRODUCCIÓN</vt:lpstr>
      <vt:lpstr>ANTECEDENTES</vt:lpstr>
      <vt:lpstr>PLANTEAMIENTO DEL PROBLEMA</vt:lpstr>
      <vt:lpstr>Presentación de PowerPoint</vt:lpstr>
      <vt:lpstr>OBJETIVOS</vt:lpstr>
      <vt:lpstr>JUSTIFICACIÓN</vt:lpstr>
      <vt:lpstr>ALCANCE</vt:lpstr>
      <vt:lpstr>MATRIZ DE CONSISTENCIA</vt:lpstr>
      <vt:lpstr>FUNDAMENTACIÓN TEÓRICA</vt:lpstr>
      <vt:lpstr>DISEÑO DE LA INVESTIGACIÓN</vt:lpstr>
      <vt:lpstr>TEMARIO TENTATIVO</vt:lpstr>
      <vt:lpstr>TEMARIO TENTATIVO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 DE TESTEO DE VERIFICACIÓN PARA EL CONTROL DE ACCESOS DE LA SEGURIDAD BASADA EN UN AGENTE DE SOFTWARE</dc:title>
  <dc:creator>Alejandro</dc:creator>
  <cp:lastModifiedBy>MIGUEL</cp:lastModifiedBy>
  <cp:revision>94</cp:revision>
  <dcterms:created xsi:type="dcterms:W3CDTF">2009-02-27T14:28:31Z</dcterms:created>
  <dcterms:modified xsi:type="dcterms:W3CDTF">2018-09-24T17:39:59Z</dcterms:modified>
</cp:coreProperties>
</file>