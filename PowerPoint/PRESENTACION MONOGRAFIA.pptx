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charts/chart9.xml" ContentType="application/vnd.openxmlformats-officedocument.drawingml.chart+xml"/>
  <Override PartName="/ppt/charts/chart11.xml" ContentType="application/vnd.openxmlformats-officedocument.drawingml.chart+xml"/>
  <Override PartName="/ppt/charts/chart7.xml" ContentType="application/vnd.openxmlformats-officedocument.drawingml.chart+xml"/>
  <Override PartName="/ppt/diagrams/layout1.xml" ContentType="application/vnd.openxmlformats-officedocument.drawingml.diagramLayout+xml"/>
  <Override PartName="/ppt/charts/chart3.xml" ContentType="application/vnd.openxmlformats-officedocument.drawingml.chart+xml"/>
  <Override PartName="/ppt/charts/chart5.xml" ContentType="application/vnd.openxmlformats-officedocument.drawingml.char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charts/chart8.xml" ContentType="application/vnd.openxmlformats-officedocument.drawingml.chart+xml"/>
  <Override PartName="/ppt/charts/chart12.xml" ContentType="application/vnd.openxmlformats-officedocument.drawingml.chart+xml"/>
  <Override PartName="/ppt/slideLayouts/slideLayout10.xml" ContentType="application/vnd.openxmlformats-officedocument.presentationml.slideLayout+xml"/>
  <Default Extension="gif" ContentType="image/gif"/>
  <Override PartName="/ppt/charts/chart6.xml" ContentType="application/vnd.openxmlformats-officedocument.drawingml.chart+xml"/>
  <Override PartName="/ppt/charts/chart10.xml" ContentType="application/vnd.openxmlformats-officedocument.drawingml.chart+xml"/>
  <Override PartName="/ppt/charts/chart4.xml" ContentType="application/vnd.openxmlformats-officedocument.drawingml.char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5"/>
  </p:notesMasterIdLst>
  <p:sldIdLst>
    <p:sldId id="256" r:id="rId2"/>
    <p:sldId id="258" r:id="rId3"/>
    <p:sldId id="259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305" r:id="rId12"/>
    <p:sldId id="269" r:id="rId13"/>
    <p:sldId id="270" r:id="rId14"/>
    <p:sldId id="272" r:id="rId15"/>
    <p:sldId id="273" r:id="rId16"/>
    <p:sldId id="274" r:id="rId17"/>
    <p:sldId id="275" r:id="rId18"/>
    <p:sldId id="301" r:id="rId19"/>
    <p:sldId id="304" r:id="rId20"/>
    <p:sldId id="276" r:id="rId21"/>
    <p:sldId id="277" r:id="rId22"/>
    <p:sldId id="279" r:id="rId23"/>
    <p:sldId id="280" r:id="rId24"/>
    <p:sldId id="281" r:id="rId25"/>
    <p:sldId id="282" r:id="rId26"/>
    <p:sldId id="306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8" r:id="rId41"/>
    <p:sldId id="299" r:id="rId42"/>
    <p:sldId id="300" r:id="rId43"/>
    <p:sldId id="303" r:id="rId44"/>
  </p:sldIdLst>
  <p:sldSz cx="9144000" cy="6858000" type="screen4x3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3203" autoAdjust="0"/>
    <p:restoredTop sz="90502" autoAdjust="0"/>
  </p:normalViewPr>
  <p:slideViewPr>
    <p:cSldViewPr>
      <p:cViewPr varScale="1">
        <p:scale>
          <a:sx n="66" d="100"/>
          <a:sy n="66" d="100"/>
        </p:scale>
        <p:origin x="-71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file:///D:\Mis%20Documentos\TABULACI&#211;N-v200%20sin%20cambios.xls" TargetMode="External"/><Relationship Id="rId1" Type="http://schemas.openxmlformats.org/officeDocument/2006/relationships/image" Target="../media/image13.jpeg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oleObject" Target="file:///D:\Mis%20Documentos\TABULACI&#211;N-v200%20sin%20cambios.xls" TargetMode="External"/><Relationship Id="rId1" Type="http://schemas.openxmlformats.org/officeDocument/2006/relationships/image" Target="../media/image13.jpeg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G:\monografia.xls" TargetMode="External"/><Relationship Id="rId2" Type="http://schemas.openxmlformats.org/officeDocument/2006/relationships/image" Target="../media/image13.jpeg"/><Relationship Id="rId1" Type="http://schemas.openxmlformats.org/officeDocument/2006/relationships/image" Target="../media/image14.jpeg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oleObject" Target="file:///D:\Mis%20Documentos\TABULACI&#211;N-v200%20sin%20cambios.xls" TargetMode="External"/><Relationship Id="rId1" Type="http://schemas.openxmlformats.org/officeDocument/2006/relationships/image" Target="../media/image13.jpeg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G:\monografia.xls" TargetMode="External"/><Relationship Id="rId2" Type="http://schemas.openxmlformats.org/officeDocument/2006/relationships/image" Target="../media/image13.jpeg"/><Relationship Id="rId1" Type="http://schemas.openxmlformats.org/officeDocument/2006/relationships/image" Target="../media/image14.jpeg"/></Relationships>
</file>

<file path=ppt/charts/_rels/chart6.xml.rels><?xml version="1.0" encoding="UTF-8" standalone="yes"?>
<Relationships xmlns="http://schemas.openxmlformats.org/package/2006/relationships"><Relationship Id="rId2" Type="http://schemas.openxmlformats.org/officeDocument/2006/relationships/oleObject" Target="file:///D:\Mis%20Documentos\TABULACI&#211;N-v200%20sin%20cambios.xls" TargetMode="External"/><Relationship Id="rId1" Type="http://schemas.openxmlformats.org/officeDocument/2006/relationships/image" Target="../media/image13.jpeg"/></Relationships>
</file>

<file path=ppt/charts/_rels/chart7.xml.rels><?xml version="1.0" encoding="UTF-8" standalone="yes"?>
<Relationships xmlns="http://schemas.openxmlformats.org/package/2006/relationships"><Relationship Id="rId2" Type="http://schemas.openxmlformats.org/officeDocument/2006/relationships/oleObject" Target="file:///G:\monografia.xls" TargetMode="External"/><Relationship Id="rId1" Type="http://schemas.openxmlformats.org/officeDocument/2006/relationships/image" Target="../media/image13.jpeg"/></Relationships>
</file>

<file path=ppt/charts/_rels/chart8.xml.rels><?xml version="1.0" encoding="UTF-8" standalone="yes"?>
<Relationships xmlns="http://schemas.openxmlformats.org/package/2006/relationships"><Relationship Id="rId2" Type="http://schemas.openxmlformats.org/officeDocument/2006/relationships/oleObject" Target="file:///D:\Mis%20Documentos\TABULACI&#211;N-v200%20sin%20cambios.xls" TargetMode="External"/><Relationship Id="rId1" Type="http://schemas.openxmlformats.org/officeDocument/2006/relationships/image" Target="../media/image13.jpeg"/></Relationships>
</file>

<file path=ppt/charts/_rels/chart9.xml.rels><?xml version="1.0" encoding="UTF-8" standalone="yes"?>
<Relationships xmlns="http://schemas.openxmlformats.org/package/2006/relationships"><Relationship Id="rId2" Type="http://schemas.openxmlformats.org/officeDocument/2006/relationships/oleObject" Target="file:///G:\monografia.xls" TargetMode="External"/><Relationship Id="rId1" Type="http://schemas.openxmlformats.org/officeDocument/2006/relationships/image" Target="../media/image13.jpeg"/></Relationships>
</file>

<file path=ppt/charts/_rels/chart10.xml.rels><?xml version="1.0" encoding="UTF-8" standalone="yes"?>
<Relationships xmlns="http://schemas.openxmlformats.org/package/2006/relationships"><Relationship Id="rId2" Type="http://schemas.openxmlformats.org/officeDocument/2006/relationships/oleObject" Target="file:///D:\Mis%20Documentos\TABULACI&#211;N-v200%20sin%20cambios.xls" TargetMode="External"/><Relationship Id="rId1" Type="http://schemas.openxmlformats.org/officeDocument/2006/relationships/image" Target="../media/image13.jpeg"/></Relationships>
</file>

<file path=ppt/charts/_rels/chart11.xml.rels><?xml version="1.0" encoding="UTF-8" standalone="yes"?>
<Relationships xmlns="http://schemas.openxmlformats.org/package/2006/relationships"><Relationship Id="rId2" Type="http://schemas.openxmlformats.org/officeDocument/2006/relationships/oleObject" Target="file:///D:\Mis%20Documentos\TABULACI&#211;N-v200%20sin%20cambios.xls" TargetMode="External"/><Relationship Id="rId1" Type="http://schemas.openxmlformats.org/officeDocument/2006/relationships/image" Target="../media/image13.jpeg"/></Relationships>
</file>

<file path=ppt/charts/_rels/chart12.xml.rels><?xml version="1.0" encoding="UTF-8" standalone="yes"?>
<Relationships xmlns="http://schemas.openxmlformats.org/package/2006/relationships"><Relationship Id="rId2" Type="http://schemas.openxmlformats.org/officeDocument/2006/relationships/oleObject" Target="file:///D:\Mis%20Documentos\TABULACI&#211;N-v200%20sin%20cambios.xls" TargetMode="External"/><Relationship Id="rId1" Type="http://schemas.openxmlformats.org/officeDocument/2006/relationships/image" Target="../media/image13.jpeg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s-BO"/>
  <c:style val="27"/>
  <c:chart>
    <c:title>
      <c:layout/>
      <c:spPr>
        <a:noFill/>
        <a:ln w="25400">
          <a:noFill/>
        </a:ln>
      </c:spPr>
      <c:txPr>
        <a:bodyPr/>
        <a:lstStyle/>
        <a:p>
          <a:pPr>
            <a:defRPr sz="1800">
              <a:solidFill>
                <a:srgbClr val="002060"/>
              </a:solidFill>
            </a:defRPr>
          </a:pPr>
          <a:endParaRPr lang="es-BO"/>
        </a:p>
      </c:txPr>
    </c:title>
    <c:view3D>
      <c:rotX val="30"/>
      <c:rotY val="135"/>
      <c:perspective val="60"/>
    </c:view3D>
    <c:plotArea>
      <c:layout>
        <c:manualLayout>
          <c:layoutTarget val="inner"/>
          <c:xMode val="edge"/>
          <c:yMode val="edge"/>
          <c:x val="5.3830336581134723E-2"/>
          <c:y val="0.17105290632212841"/>
          <c:w val="0.62321840731339595"/>
          <c:h val="0.62537869098739973"/>
        </c:manualLayout>
      </c:layout>
      <c:pie3DChart>
        <c:varyColors val="1"/>
        <c:ser>
          <c:idx val="0"/>
          <c:order val="0"/>
          <c:tx>
            <c:strRef>
              <c:f>'Cuadros y gráficos'!$B$84</c:f>
              <c:strCache>
                <c:ptCount val="1"/>
                <c:pt idx="0">
                  <c:v>Pacientes que acuden al centro de salud</c:v>
                </c:pt>
              </c:strCache>
            </c:strRef>
          </c:tx>
          <c:spPr>
            <a:solidFill>
              <a:srgbClr val="0000FF"/>
            </a:solidFill>
            <a:scene3d>
              <a:camera prst="orthographicFront"/>
              <a:lightRig rig="threePt" dir="t">
                <a:rot lat="0" lon="0" rev="1200000"/>
              </a:lightRig>
            </a:scene3d>
            <a:sp3d prstMaterial="powder">
              <a:bevelT w="317500" h="317500"/>
            </a:sp3d>
          </c:spPr>
          <c:explosion val="2"/>
          <c:dPt>
            <c:idx val="0"/>
            <c:spPr>
              <a:solidFill>
                <a:srgbClr val="FF0000"/>
              </a:solidFill>
              <a:scene3d>
                <a:camera prst="orthographicFront"/>
                <a:lightRig rig="threePt" dir="t">
                  <a:rot lat="0" lon="0" rev="1200000"/>
                </a:lightRig>
              </a:scene3d>
              <a:sp3d prstMaterial="powder">
                <a:bevelT w="317500" h="317500"/>
              </a:sp3d>
            </c:spPr>
          </c:dPt>
          <c:dPt>
            <c:idx val="1"/>
            <c:spPr>
              <a:solidFill>
                <a:srgbClr val="0000FF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/>
                <a:lightRig rig="threePt" dir="t">
                  <a:rot lat="0" lon="0" rev="1200000"/>
                </a:lightRig>
              </a:scene3d>
              <a:sp3d prstMaterial="plastic">
                <a:bevelT w="317500" h="317500"/>
              </a:sp3d>
            </c:spPr>
          </c:dPt>
          <c:dLbls>
            <c:spPr>
              <a:noFill/>
              <a:ln w="25400">
                <a:noFill/>
              </a:ln>
            </c:spPr>
            <c:txPr>
              <a:bodyPr/>
              <a:lstStyle/>
              <a:p>
                <a:pPr>
                  <a:defRPr sz="1400" b="1"/>
                </a:pPr>
                <a:endParaRPr lang="es-BO"/>
              </a:p>
            </c:txPr>
            <c:dLblPos val="ctr"/>
            <c:showVal val="1"/>
            <c:showLeaderLines val="1"/>
          </c:dLbls>
          <c:cat>
            <c:strRef>
              <c:f>'Cuadros y gráficos'!$B$85:$B$86</c:f>
              <c:strCache>
                <c:ptCount val="2"/>
                <c:pt idx="0">
                  <c:v>Femenino</c:v>
                </c:pt>
                <c:pt idx="1">
                  <c:v>Masculino</c:v>
                </c:pt>
              </c:strCache>
            </c:strRef>
          </c:cat>
          <c:val>
            <c:numRef>
              <c:f>'Cuadros y gráficos'!$D$85:$D$86</c:f>
              <c:numCache>
                <c:formatCode>#,##0.0%</c:formatCode>
                <c:ptCount val="2"/>
                <c:pt idx="0">
                  <c:v>0.9</c:v>
                </c:pt>
                <c:pt idx="1">
                  <c:v>0.1</c:v>
                </c:pt>
              </c:numCache>
            </c:numRef>
          </c:val>
        </c:ser>
      </c:pie3DChart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0.72504149445841004"/>
          <c:y val="0.21929893631717265"/>
          <c:w val="0.22509124313620679"/>
          <c:h val="0.37280736289543043"/>
        </c:manualLayout>
      </c:layout>
      <c:txPr>
        <a:bodyPr/>
        <a:lstStyle/>
        <a:p>
          <a:pPr>
            <a:defRPr sz="1400" b="1" i="0"/>
          </a:pPr>
          <a:endParaRPr lang="es-BO"/>
        </a:p>
      </c:txPr>
    </c:legend>
    <c:plotVisOnly val="1"/>
    <c:dispBlanksAs val="zero"/>
  </c:chart>
  <c:spPr>
    <a:blipFill>
      <a:blip xmlns:r="http://schemas.openxmlformats.org/officeDocument/2006/relationships" r:embed="rId1"/>
      <a:stretch>
        <a:fillRect/>
      </a:stretch>
    </a:blipFill>
    <a:scene3d>
      <a:camera prst="orthographicFront"/>
      <a:lightRig rig="threePt" dir="t"/>
    </a:scene3d>
    <a:sp3d prstMaterial="matte">
      <a:bevelT w="254000" h="63500"/>
    </a:sp3d>
  </c:spPr>
  <c:txPr>
    <a:bodyPr/>
    <a:lstStyle/>
    <a:p>
      <a:pPr>
        <a:defRPr>
          <a:latin typeface="Arial Narrow" pitchFamily="34" charset="0"/>
        </a:defRPr>
      </a:pPr>
      <a:endParaRPr lang="es-BO"/>
    </a:p>
  </c:txPr>
  <c:externalData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s-BO"/>
  <c:style val="27"/>
  <c:chart>
    <c:title>
      <c:layout/>
      <c:spPr>
        <a:noFill/>
        <a:ln w="25400">
          <a:noFill/>
        </a:ln>
      </c:spPr>
      <c:txPr>
        <a:bodyPr/>
        <a:lstStyle/>
        <a:p>
          <a:pPr>
            <a:defRPr sz="1800">
              <a:solidFill>
                <a:srgbClr val="002060"/>
              </a:solidFill>
            </a:defRPr>
          </a:pPr>
          <a:endParaRPr lang="es-BO"/>
        </a:p>
      </c:txPr>
    </c:title>
    <c:view3D>
      <c:rotX val="30"/>
      <c:rotY val="135"/>
      <c:perspective val="60"/>
    </c:view3D>
    <c:plotArea>
      <c:layout>
        <c:manualLayout>
          <c:layoutTarget val="inner"/>
          <c:xMode val="edge"/>
          <c:yMode val="edge"/>
          <c:x val="8.2815902432514965E-2"/>
          <c:y val="0.18245676554538728"/>
          <c:w val="0.64182346771871235"/>
          <c:h val="0.68421310494082654"/>
        </c:manualLayout>
      </c:layout>
      <c:pie3DChart>
        <c:varyColors val="1"/>
        <c:ser>
          <c:idx val="0"/>
          <c:order val="0"/>
          <c:tx>
            <c:strRef>
              <c:f>'Cuadros y gráficos'!$B$92</c:f>
              <c:strCache>
                <c:ptCount val="1"/>
                <c:pt idx="0">
                  <c:v>Domicilio del paciente</c:v>
                </c:pt>
              </c:strCache>
            </c:strRef>
          </c:tx>
          <c:spPr>
            <a:scene3d>
              <a:camera prst="orthographicFront"/>
              <a:lightRig rig="threePt" dir="t">
                <a:rot lat="0" lon="0" rev="1200000"/>
              </a:lightRig>
            </a:scene3d>
            <a:sp3d prstMaterial="softEdge">
              <a:bevelT w="317500" h="317500"/>
            </a:sp3d>
          </c:spPr>
          <c:explosion val="2"/>
          <c:dPt>
            <c:idx val="0"/>
            <c:spPr>
              <a:solidFill>
                <a:srgbClr val="FFFF00"/>
              </a:solidFill>
              <a:scene3d>
                <a:camera prst="orthographicFront"/>
                <a:lightRig rig="threePt" dir="t">
                  <a:rot lat="0" lon="0" rev="1200000"/>
                </a:lightRig>
              </a:scene3d>
              <a:sp3d prstMaterial="softEdge">
                <a:bevelT w="317500" h="317500"/>
              </a:sp3d>
            </c:spPr>
          </c:dPt>
          <c:dPt>
            <c:idx val="1"/>
            <c:spPr>
              <a:solidFill>
                <a:srgbClr val="0000FF"/>
              </a:solidFill>
              <a:ln w="25400">
                <a:noFill/>
              </a:ln>
              <a:effectLst>
                <a:outerShdw dist="35921" dir="2700000" algn="br">
                  <a:srgbClr val="000000"/>
                </a:outerShdw>
              </a:effectLst>
            </c:spPr>
          </c:dPt>
          <c:dLbls>
            <c:spPr>
              <a:noFill/>
              <a:ln w="25400">
                <a:noFill/>
              </a:ln>
            </c:spPr>
            <c:txPr>
              <a:bodyPr/>
              <a:lstStyle/>
              <a:p>
                <a:pPr>
                  <a:defRPr sz="1400" b="1"/>
                </a:pPr>
                <a:endParaRPr lang="es-BO"/>
              </a:p>
            </c:txPr>
            <c:dLblPos val="ctr"/>
            <c:showVal val="1"/>
            <c:showLeaderLines val="1"/>
          </c:dLbls>
          <c:cat>
            <c:strRef>
              <c:f>'Cuadros y gráficos'!$B$93:$B$94</c:f>
              <c:strCache>
                <c:ptCount val="2"/>
                <c:pt idx="0">
                  <c:v>Cerca</c:v>
                </c:pt>
                <c:pt idx="1">
                  <c:v>Lejos</c:v>
                </c:pt>
              </c:strCache>
            </c:strRef>
          </c:cat>
          <c:val>
            <c:numRef>
              <c:f>'Cuadros y gráficos'!$D$93:$D$94</c:f>
              <c:numCache>
                <c:formatCode>#,##0.0%</c:formatCode>
                <c:ptCount val="2"/>
                <c:pt idx="0">
                  <c:v>0.9</c:v>
                </c:pt>
                <c:pt idx="1">
                  <c:v>0.1</c:v>
                </c:pt>
              </c:numCache>
            </c:numRef>
          </c:val>
        </c:ser>
      </c:pie3DChart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0.78123157685898115"/>
          <c:y val="0.25483342096736328"/>
          <c:w val="0.19116323753137146"/>
          <c:h val="0.46934639242066045"/>
        </c:manualLayout>
      </c:layout>
      <c:txPr>
        <a:bodyPr/>
        <a:lstStyle/>
        <a:p>
          <a:pPr>
            <a:defRPr sz="1400" b="1" i="0"/>
          </a:pPr>
          <a:endParaRPr lang="es-BO"/>
        </a:p>
      </c:txPr>
    </c:legend>
    <c:plotVisOnly val="1"/>
    <c:dispBlanksAs val="zero"/>
  </c:chart>
  <c:spPr>
    <a:blipFill>
      <a:blip xmlns:r="http://schemas.openxmlformats.org/officeDocument/2006/relationships" r:embed="rId1"/>
      <a:stretch>
        <a:fillRect/>
      </a:stretch>
    </a:blipFill>
    <a:scene3d>
      <a:camera prst="orthographicFront"/>
      <a:lightRig rig="threePt" dir="t"/>
    </a:scene3d>
    <a:sp3d prstMaterial="matte">
      <a:bevelT w="254000" h="63500"/>
    </a:sp3d>
  </c:spPr>
  <c:txPr>
    <a:bodyPr/>
    <a:lstStyle/>
    <a:p>
      <a:pPr>
        <a:defRPr>
          <a:latin typeface="Arial Narrow" pitchFamily="34" charset="0"/>
        </a:defRPr>
      </a:pPr>
      <a:endParaRPr lang="es-BO"/>
    </a:p>
  </c:txPr>
  <c:externalData r:id="rId2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s-BO"/>
  <c:style val="27"/>
  <c:chart>
    <c:title>
      <c:layout/>
      <c:spPr>
        <a:noFill/>
        <a:ln w="25400">
          <a:noFill/>
        </a:ln>
      </c:spPr>
      <c:txPr>
        <a:bodyPr/>
        <a:lstStyle/>
        <a:p>
          <a:pPr>
            <a:defRPr sz="1600">
              <a:solidFill>
                <a:srgbClr val="002060"/>
              </a:solidFill>
            </a:defRPr>
          </a:pPr>
          <a:endParaRPr lang="es-BO"/>
        </a:p>
      </c:txPr>
    </c:title>
    <c:plotArea>
      <c:layout>
        <c:manualLayout>
          <c:layoutTarget val="inner"/>
          <c:xMode val="edge"/>
          <c:yMode val="edge"/>
          <c:x val="0.15866803723631961"/>
          <c:y val="0.13261265239041381"/>
          <c:w val="0.76121615232878792"/>
          <c:h val="0.59244977555375666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'Cuadros y gráficos'!$B$143</c:f>
              <c:strCache>
                <c:ptCount val="1"/>
                <c:pt idx="0">
                  <c:v>Medio de transporte hacia el centro de salud</c:v>
                </c:pt>
              </c:strCache>
            </c:strRef>
          </c:tx>
          <c:dPt>
            <c:idx val="0"/>
            <c:spPr>
              <a:gradFill rotWithShape="0">
                <a:gsLst>
                  <a:gs pos="0">
                    <a:srgbClr val="0000FF"/>
                  </a:gs>
                  <a:gs pos="100000">
                    <a:srgbClr val="0000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25400">
                <a:noFill/>
              </a:ln>
              <a:effectLst>
                <a:outerShdw dist="35921" dir="2700000" algn="br">
                  <a:srgbClr val="000000"/>
                </a:outerShdw>
              </a:effectLst>
            </c:spPr>
          </c:dPt>
          <c:dPt>
            <c:idx val="1"/>
            <c:spPr>
              <a:gradFill rotWithShape="0">
                <a:gsLst>
                  <a:gs pos="0">
                    <a:srgbClr val="008000"/>
                  </a:gs>
                  <a:gs pos="100000">
                    <a:srgbClr val="008000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25400">
                <a:noFill/>
              </a:ln>
              <a:effectLst>
                <a:outerShdw dist="35921" dir="2700000" algn="br">
                  <a:srgbClr val="000000"/>
                </a:outerShdw>
              </a:effectLst>
            </c:spPr>
          </c:dPt>
          <c:dPt>
            <c:idx val="2"/>
            <c:spPr>
              <a:gradFill rotWithShape="0">
                <a:gsLst>
                  <a:gs pos="0">
                    <a:srgbClr val="FF00FF">
                      <a:gamma/>
                      <a:shade val="46275"/>
                      <a:invGamma/>
                    </a:srgbClr>
                  </a:gs>
                  <a:gs pos="50000">
                    <a:srgbClr val="FF00FF"/>
                  </a:gs>
                  <a:gs pos="100000">
                    <a:srgbClr val="FF00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25400">
                <a:noFill/>
              </a:ln>
              <a:effectLst>
                <a:outerShdw dist="35921" dir="2700000" algn="br">
                  <a:srgbClr val="000000"/>
                </a:outerShdw>
              </a:effectLst>
            </c:spPr>
          </c:dPt>
          <c:dLbls>
            <c:dLbl>
              <c:idx val="0"/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400" b="1"/>
                  </a:pPr>
                  <a:endParaRPr lang="es-BO"/>
                </a:p>
              </c:txPr>
            </c:dLbl>
            <c:dLbl>
              <c:idx val="1"/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400" b="1"/>
                  </a:pPr>
                  <a:endParaRPr lang="es-BO"/>
                </a:p>
              </c:txPr>
            </c:dLbl>
            <c:dLbl>
              <c:idx val="2"/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400" b="1"/>
                  </a:pPr>
                  <a:endParaRPr lang="es-BO"/>
                </a:p>
              </c:txPr>
            </c:dLbl>
            <c:spPr>
              <a:noFill/>
              <a:ln w="25400">
                <a:noFill/>
              </a:ln>
            </c:spPr>
            <c:txPr>
              <a:bodyPr/>
              <a:lstStyle/>
              <a:p>
                <a:pPr>
                  <a:defRPr sz="1200" b="1"/>
                </a:pPr>
                <a:endParaRPr lang="es-BO"/>
              </a:p>
            </c:txPr>
            <c:dLblPos val="ctr"/>
            <c:showVal val="1"/>
          </c:dLbls>
          <c:cat>
            <c:strRef>
              <c:f>'Cuadros y gráficos'!$B$144:$B$146</c:f>
              <c:strCache>
                <c:ptCount val="3"/>
                <c:pt idx="0">
                  <c:v>Caminando</c:v>
                </c:pt>
                <c:pt idx="1">
                  <c:v>Transporte público</c:v>
                </c:pt>
                <c:pt idx="2">
                  <c:v>Auto particular</c:v>
                </c:pt>
              </c:strCache>
            </c:strRef>
          </c:cat>
          <c:val>
            <c:numRef>
              <c:f>'Cuadros y gráficos'!$D$144:$D$146</c:f>
              <c:numCache>
                <c:formatCode>#,##0.0%</c:formatCode>
                <c:ptCount val="3"/>
                <c:pt idx="0">
                  <c:v>0.75000000000000233</c:v>
                </c:pt>
                <c:pt idx="1">
                  <c:v>0.2</c:v>
                </c:pt>
                <c:pt idx="2">
                  <c:v>0.05</c:v>
                </c:pt>
              </c:numCache>
            </c:numRef>
          </c:val>
        </c:ser>
        <c:axId val="57968512"/>
        <c:axId val="57970048"/>
      </c:barChart>
      <c:catAx>
        <c:axId val="57968512"/>
        <c:scaling>
          <c:orientation val="minMax"/>
        </c:scaling>
        <c:axPos val="b"/>
        <c:numFmt formatCode="#,##0.00" sourceLinked="1"/>
        <c:majorTickMark val="none"/>
        <c:tickLblPos val="nextTo"/>
        <c:txPr>
          <a:bodyPr/>
          <a:lstStyle/>
          <a:p>
            <a:pPr>
              <a:defRPr sz="1200" b="1"/>
            </a:pPr>
            <a:endParaRPr lang="es-BO"/>
          </a:p>
        </c:txPr>
        <c:crossAx val="57970048"/>
        <c:crosses val="autoZero"/>
        <c:auto val="1"/>
        <c:lblAlgn val="ctr"/>
        <c:lblOffset val="100"/>
      </c:catAx>
      <c:valAx>
        <c:axId val="57970048"/>
        <c:scaling>
          <c:orientation val="minMax"/>
        </c:scaling>
        <c:axPos val="l"/>
        <c:majorGridlines/>
        <c:title>
          <c:tx>
            <c:rich>
              <a:bodyPr/>
              <a:lstStyle/>
              <a:p>
                <a:pPr>
                  <a:defRPr>
                    <a:solidFill>
                      <a:srgbClr val="006000"/>
                    </a:solidFill>
                  </a:defRPr>
                </a:pPr>
                <a:r>
                  <a:rPr lang="es-ES">
                    <a:solidFill>
                      <a:srgbClr val="006000"/>
                    </a:solidFill>
                  </a:rPr>
                  <a:t>Porcentaje</a:t>
                </a:r>
              </a:p>
            </c:rich>
          </c:tx>
          <c:layout/>
          <c:spPr>
            <a:noFill/>
            <a:ln w="25400">
              <a:noFill/>
            </a:ln>
          </c:spPr>
        </c:title>
        <c:numFmt formatCode="#,##0.0%" sourceLinked="1"/>
        <c:tickLblPos val="nextTo"/>
        <c:txPr>
          <a:bodyPr/>
          <a:lstStyle/>
          <a:p>
            <a:pPr>
              <a:defRPr sz="800" b="1">
                <a:solidFill>
                  <a:schemeClr val="accent3">
                    <a:lumMod val="50000"/>
                  </a:schemeClr>
                </a:solidFill>
              </a:defRPr>
            </a:pPr>
            <a:endParaRPr lang="es-BO"/>
          </a:p>
        </c:txPr>
        <c:crossAx val="57968512"/>
        <c:crosses val="autoZero"/>
        <c:crossBetween val="between"/>
      </c:valAx>
      <c:spPr>
        <a:blipFill dpi="0" rotWithShape="1">
          <a:blip xmlns:r="http://schemas.openxmlformats.org/officeDocument/2006/relationships" r:embed="rId1">
            <a:alphaModFix amt="86000"/>
          </a:blip>
          <a:srcRect/>
          <a:stretch>
            <a:fillRect/>
          </a:stretch>
        </a:blipFill>
        <a:scene3d>
          <a:camera prst="orthographicFront"/>
          <a:lightRig rig="threePt" dir="t"/>
        </a:scene3d>
        <a:sp3d prstMaterial="softEdge">
          <a:bevelT/>
        </a:sp3d>
      </c:spPr>
    </c:plotArea>
    <c:plotVisOnly val="1"/>
    <c:dispBlanksAs val="gap"/>
  </c:chart>
  <c:spPr>
    <a:blipFill>
      <a:blip xmlns:r="http://schemas.openxmlformats.org/officeDocument/2006/relationships" r:embed="rId2"/>
      <a:stretch>
        <a:fillRect/>
      </a:stretch>
    </a:blipFill>
    <a:scene3d>
      <a:camera prst="orthographicFront"/>
      <a:lightRig rig="threePt" dir="t"/>
    </a:scene3d>
    <a:sp3d prstMaterial="matte">
      <a:bevelT w="127000" h="63500"/>
    </a:sp3d>
  </c:spPr>
  <c:txPr>
    <a:bodyPr/>
    <a:lstStyle/>
    <a:p>
      <a:pPr>
        <a:defRPr>
          <a:latin typeface="Arial Narrow" pitchFamily="34" charset="0"/>
        </a:defRPr>
      </a:pPr>
      <a:endParaRPr lang="es-BO"/>
    </a:p>
  </c:txPr>
  <c:externalData r:id="rId3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s-BO"/>
  <c:style val="27"/>
  <c:chart>
    <c:title>
      <c:tx>
        <c:rich>
          <a:bodyPr/>
          <a:lstStyle/>
          <a:p>
            <a:pPr>
              <a:defRPr sz="1800">
                <a:solidFill>
                  <a:srgbClr val="002060"/>
                </a:solidFill>
              </a:defRPr>
            </a:pPr>
            <a:r>
              <a:rPr lang="en-US" sz="1800"/>
              <a:t>Infraestructura  del Centro de Salud</a:t>
            </a:r>
          </a:p>
        </c:rich>
      </c:tx>
      <c:layout/>
      <c:spPr>
        <a:noFill/>
        <a:ln w="25400">
          <a:noFill/>
        </a:ln>
      </c:spPr>
    </c:title>
    <c:view3D>
      <c:rotX val="30"/>
      <c:rotY val="359"/>
      <c:perspective val="60"/>
    </c:view3D>
    <c:plotArea>
      <c:layout>
        <c:manualLayout>
          <c:layoutTarget val="inner"/>
          <c:xMode val="edge"/>
          <c:yMode val="edge"/>
          <c:x val="8.9027095114954533E-2"/>
          <c:y val="0.25263244460130169"/>
          <c:w val="0.63184002684595963"/>
          <c:h val="0.66716282608520028"/>
        </c:manualLayout>
      </c:layout>
      <c:pie3DChart>
        <c:varyColors val="1"/>
        <c:ser>
          <c:idx val="0"/>
          <c:order val="0"/>
          <c:tx>
            <c:strRef>
              <c:f>'Cuadros y gráficos'!$B$110</c:f>
              <c:strCache>
                <c:ptCount val="1"/>
                <c:pt idx="0">
                  <c:v>Infraestructura del Centro de Salud</c:v>
                </c:pt>
              </c:strCache>
            </c:strRef>
          </c:tx>
          <c:spPr>
            <a:scene3d>
              <a:camera prst="orthographicFront"/>
              <a:lightRig rig="threePt" dir="t">
                <a:rot lat="0" lon="0" rev="1200000"/>
              </a:lightRig>
            </a:scene3d>
            <a:sp3d prstMaterial="softEdge">
              <a:bevelT w="317500" h="317500"/>
            </a:sp3d>
          </c:spPr>
          <c:explosion val="4"/>
          <c:dPt>
            <c:idx val="0"/>
            <c:explosion val="0"/>
            <c:spPr>
              <a:gradFill rotWithShape="0">
                <a:gsLst>
                  <a:gs pos="0">
                    <a:srgbClr val="993366">
                      <a:gamma/>
                      <a:shade val="46275"/>
                      <a:invGamma/>
                    </a:srgbClr>
                  </a:gs>
                  <a:gs pos="100000">
                    <a:srgbClr val="993366"/>
                  </a:gs>
                </a:gsLst>
                <a:lin ang="5400000" scaled="1"/>
              </a:gradFill>
              <a:ln w="25400">
                <a:noFill/>
              </a:ln>
              <a:effectLst>
                <a:outerShdw dist="35921" dir="2700000" algn="br">
                  <a:srgbClr val="000000"/>
                </a:outerShdw>
              </a:effectLst>
            </c:spPr>
          </c:dPt>
          <c:dPt>
            <c:idx val="1"/>
            <c:spPr>
              <a:gradFill rotWithShape="0">
                <a:gsLst>
                  <a:gs pos="0">
                    <a:srgbClr val="FF6600">
                      <a:gamma/>
                      <a:shade val="46275"/>
                      <a:invGamma/>
                    </a:srgbClr>
                  </a:gs>
                  <a:gs pos="100000">
                    <a:srgbClr val="FF6600"/>
                  </a:gs>
                </a:gsLst>
                <a:lin ang="5400000" scaled="1"/>
              </a:gradFill>
              <a:ln w="25400">
                <a:noFill/>
              </a:ln>
              <a:effectLst>
                <a:outerShdw dist="35921" dir="2700000" algn="br">
                  <a:srgbClr val="000000"/>
                </a:outerShdw>
              </a:effectLst>
            </c:spPr>
          </c:dPt>
          <c:dLbls>
            <c:dLbl>
              <c:idx val="0"/>
              <c:layout>
                <c:manualLayout>
                  <c:x val="-0.18837884394885418"/>
                  <c:y val="-0.13242013169406491"/>
                </c:manualLayout>
              </c:layout>
              <c:dLblPos val="bestFit"/>
              <c:showVal val="1"/>
            </c:dLbl>
            <c:dLbl>
              <c:idx val="1"/>
              <c:layout>
                <c:manualLayout>
                  <c:x val="0.13667095960830894"/>
                  <c:y val="3.358474927476171E-2"/>
                </c:manualLayout>
              </c:layout>
              <c:dLblPos val="bestFit"/>
              <c:showVal val="1"/>
            </c:dLbl>
            <c:spPr>
              <a:noFill/>
              <a:ln w="25400">
                <a:noFill/>
              </a:ln>
            </c:spPr>
            <c:txPr>
              <a:bodyPr/>
              <a:lstStyle/>
              <a:p>
                <a:pPr>
                  <a:defRPr sz="1400" b="1"/>
                </a:pPr>
                <a:endParaRPr lang="es-BO"/>
              </a:p>
            </c:txPr>
            <c:showVal val="1"/>
            <c:showLeaderLines val="1"/>
          </c:dLbls>
          <c:cat>
            <c:strRef>
              <c:f>'Cuadros y gráficos'!$B$111:$B$112</c:f>
              <c:strCache>
                <c:ptCount val="2"/>
                <c:pt idx="0">
                  <c:v>Buena </c:v>
                </c:pt>
                <c:pt idx="1">
                  <c:v>Mala</c:v>
                </c:pt>
              </c:strCache>
            </c:strRef>
          </c:cat>
          <c:val>
            <c:numRef>
              <c:f>'Cuadros y gráficos'!$D$111:$D$112</c:f>
              <c:numCache>
                <c:formatCode>#,##0.0%</c:formatCode>
                <c:ptCount val="2"/>
                <c:pt idx="0">
                  <c:v>0.70000000000000062</c:v>
                </c:pt>
                <c:pt idx="1">
                  <c:v>0.30000000000000032</c:v>
                </c:pt>
              </c:numCache>
            </c:numRef>
          </c:val>
        </c:ser>
      </c:pie3DChart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0.78908068085629957"/>
          <c:y val="0.47719298245614034"/>
          <c:w val="0.18607449989440916"/>
          <c:h val="0.34385964912280947"/>
        </c:manualLayout>
      </c:layout>
      <c:txPr>
        <a:bodyPr/>
        <a:lstStyle/>
        <a:p>
          <a:pPr>
            <a:defRPr sz="1800" b="1" i="0"/>
          </a:pPr>
          <a:endParaRPr lang="es-BO"/>
        </a:p>
      </c:txPr>
    </c:legend>
    <c:plotVisOnly val="1"/>
    <c:dispBlanksAs val="zero"/>
  </c:chart>
  <c:spPr>
    <a:blipFill>
      <a:blip xmlns:r="http://schemas.openxmlformats.org/officeDocument/2006/relationships" r:embed="rId1"/>
      <a:stretch>
        <a:fillRect/>
      </a:stretch>
    </a:blipFill>
    <a:scene3d>
      <a:camera prst="orthographicFront"/>
      <a:lightRig rig="threePt" dir="t"/>
    </a:scene3d>
    <a:sp3d prstMaterial="matte">
      <a:bevelT w="254000" h="63500"/>
    </a:sp3d>
  </c:spPr>
  <c:txPr>
    <a:bodyPr/>
    <a:lstStyle/>
    <a:p>
      <a:pPr>
        <a:defRPr>
          <a:latin typeface="Arial Narrow" pitchFamily="34" charset="0"/>
        </a:defRPr>
      </a:pPr>
      <a:endParaRPr lang="es-BO"/>
    </a:p>
  </c:txPr>
  <c:externalData r:id="rId2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s-BO"/>
  <c:style val="27"/>
  <c:chart>
    <c:title>
      <c:tx>
        <c:rich>
          <a:bodyPr/>
          <a:lstStyle/>
          <a:p>
            <a:pPr>
              <a:defRPr sz="1800">
                <a:solidFill>
                  <a:srgbClr val="002060"/>
                </a:solidFill>
              </a:defRPr>
            </a:pPr>
            <a:r>
              <a:rPr lang="en-US" sz="1800"/>
              <a:t>Ocupación del paciente</a:t>
            </a:r>
          </a:p>
        </c:rich>
      </c:tx>
      <c:layout/>
      <c:spPr>
        <a:noFill/>
        <a:ln w="25400">
          <a:noFill/>
        </a:ln>
      </c:spPr>
    </c:title>
    <c:plotArea>
      <c:layout>
        <c:manualLayout>
          <c:layoutTarget val="inner"/>
          <c:xMode val="edge"/>
          <c:yMode val="edge"/>
          <c:x val="0.10766067316227013"/>
          <c:y val="0.1778526404097637"/>
          <c:w val="0.68392146633845108"/>
          <c:h val="0.52634976183532556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'Cuadros y gráficos'!$B$5</c:f>
              <c:strCache>
                <c:ptCount val="1"/>
                <c:pt idx="0">
                  <c:v>Ocupación del paciente</c:v>
                </c:pt>
              </c:strCache>
            </c:strRef>
          </c:tx>
          <c:dPt>
            <c:idx val="0"/>
            <c:spPr>
              <a:solidFill>
                <a:srgbClr val="0000FF"/>
              </a:solidFill>
              <a:ln w="25400">
                <a:noFill/>
              </a:ln>
              <a:effectLst>
                <a:outerShdw dist="35921" dir="2700000" algn="br">
                  <a:srgbClr val="000000"/>
                </a:outerShdw>
              </a:effectLst>
            </c:spPr>
          </c:dPt>
          <c:dPt>
            <c:idx val="1"/>
            <c:spPr>
              <a:gradFill rotWithShape="0">
                <a:gsLst>
                  <a:gs pos="0">
                    <a:srgbClr val="008000"/>
                  </a:gs>
                  <a:gs pos="100000">
                    <a:srgbClr val="99CC00"/>
                  </a:gs>
                </a:gsLst>
                <a:lin ang="5400000" scaled="1"/>
              </a:gradFill>
              <a:ln w="25400">
                <a:noFill/>
              </a:ln>
              <a:effectLst>
                <a:outerShdw dist="35921" dir="2700000" algn="br">
                  <a:srgbClr val="000000"/>
                </a:outerShdw>
              </a:effectLst>
            </c:spPr>
          </c:dPt>
          <c:dPt>
            <c:idx val="2"/>
            <c:spPr>
              <a:solidFill>
                <a:srgbClr val="FF0066"/>
              </a:solidFill>
            </c:spPr>
          </c:dPt>
          <c:dLbls>
            <c:dLbl>
              <c:idx val="0"/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400" b="1"/>
                  </a:pPr>
                  <a:endParaRPr lang="es-BO"/>
                </a:p>
              </c:txPr>
            </c:dLbl>
            <c:dLbl>
              <c:idx val="1"/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400" b="1"/>
                  </a:pPr>
                  <a:endParaRPr lang="es-BO"/>
                </a:p>
              </c:txPr>
            </c:dLbl>
            <c:txPr>
              <a:bodyPr/>
              <a:lstStyle/>
              <a:p>
                <a:pPr>
                  <a:defRPr sz="1400" b="1"/>
                </a:pPr>
                <a:endParaRPr lang="es-BO"/>
              </a:p>
            </c:txPr>
            <c:dLblPos val="ctr"/>
            <c:showVal val="1"/>
          </c:dLbls>
          <c:cat>
            <c:strRef>
              <c:f>'Cuadros y gráficos'!$B$6:$B$8</c:f>
              <c:strCache>
                <c:ptCount val="3"/>
                <c:pt idx="0">
                  <c:v>Labores de casa</c:v>
                </c:pt>
                <c:pt idx="1">
                  <c:v>Comerciante</c:v>
                </c:pt>
                <c:pt idx="2">
                  <c:v>Otros </c:v>
                </c:pt>
              </c:strCache>
            </c:strRef>
          </c:cat>
          <c:val>
            <c:numRef>
              <c:f>'Cuadros y gráficos'!$D$6:$D$8</c:f>
              <c:numCache>
                <c:formatCode>#,##0.0%</c:formatCode>
                <c:ptCount val="3"/>
                <c:pt idx="0">
                  <c:v>0.5</c:v>
                </c:pt>
                <c:pt idx="1">
                  <c:v>0.15000000000000024</c:v>
                </c:pt>
                <c:pt idx="2">
                  <c:v>0.35000000000000031</c:v>
                </c:pt>
              </c:numCache>
            </c:numRef>
          </c:val>
        </c:ser>
        <c:axId val="58119680"/>
        <c:axId val="58121600"/>
      </c:barChart>
      <c:catAx>
        <c:axId val="58119680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>
                    <a:solidFill>
                      <a:srgbClr val="006000"/>
                    </a:solidFill>
                  </a:defRPr>
                </a:pPr>
                <a:r>
                  <a:rPr lang="en-US">
                    <a:solidFill>
                      <a:srgbClr val="006000"/>
                    </a:solidFill>
                  </a:rPr>
                  <a:t>Ocupación </a:t>
                </a:r>
              </a:p>
            </c:rich>
          </c:tx>
          <c:layout/>
          <c:spPr>
            <a:noFill/>
            <a:ln w="25400">
              <a:noFill/>
            </a:ln>
          </c:spPr>
        </c:title>
        <c:numFmt formatCode="#,##0.00" sourceLinked="1"/>
        <c:majorTickMark val="none"/>
        <c:tickLblPos val="nextTo"/>
        <c:txPr>
          <a:bodyPr/>
          <a:lstStyle/>
          <a:p>
            <a:pPr>
              <a:defRPr sz="1100" b="1"/>
            </a:pPr>
            <a:endParaRPr lang="es-BO"/>
          </a:p>
        </c:txPr>
        <c:crossAx val="58121600"/>
        <c:crosses val="autoZero"/>
        <c:auto val="1"/>
        <c:lblAlgn val="ctr"/>
        <c:lblOffset val="100"/>
      </c:catAx>
      <c:valAx>
        <c:axId val="58121600"/>
        <c:scaling>
          <c:orientation val="minMax"/>
        </c:scaling>
        <c:axPos val="l"/>
        <c:majorGridlines/>
        <c:title>
          <c:tx>
            <c:rich>
              <a:bodyPr/>
              <a:lstStyle/>
              <a:p>
                <a:pPr>
                  <a:defRPr>
                    <a:solidFill>
                      <a:srgbClr val="006000"/>
                    </a:solidFill>
                  </a:defRPr>
                </a:pPr>
                <a:r>
                  <a:rPr lang="es-ES">
                    <a:solidFill>
                      <a:srgbClr val="006000"/>
                    </a:solidFill>
                  </a:rPr>
                  <a:t>Porcentaje</a:t>
                </a:r>
              </a:p>
            </c:rich>
          </c:tx>
          <c:layout/>
          <c:spPr>
            <a:noFill/>
            <a:ln w="25400">
              <a:noFill/>
            </a:ln>
          </c:spPr>
        </c:title>
        <c:numFmt formatCode="#,##0.0%" sourceLinked="1"/>
        <c:tickLblPos val="nextTo"/>
        <c:txPr>
          <a:bodyPr/>
          <a:lstStyle/>
          <a:p>
            <a:pPr>
              <a:defRPr sz="800" b="1">
                <a:solidFill>
                  <a:schemeClr val="accent3">
                    <a:lumMod val="50000"/>
                  </a:schemeClr>
                </a:solidFill>
              </a:defRPr>
            </a:pPr>
            <a:endParaRPr lang="es-BO"/>
          </a:p>
        </c:txPr>
        <c:crossAx val="58119680"/>
        <c:crosses val="autoZero"/>
        <c:crossBetween val="between"/>
      </c:valAx>
      <c:spPr>
        <a:blipFill dpi="0" rotWithShape="1">
          <a:blip xmlns:r="http://schemas.openxmlformats.org/officeDocument/2006/relationships" r:embed="rId1">
            <a:alphaModFix amt="86000"/>
          </a:blip>
          <a:srcRect/>
          <a:stretch>
            <a:fillRect/>
          </a:stretch>
        </a:blipFill>
        <a:scene3d>
          <a:camera prst="orthographicFront"/>
          <a:lightRig rig="threePt" dir="t"/>
        </a:scene3d>
        <a:sp3d prstMaterial="softEdge">
          <a:bevelT/>
        </a:sp3d>
      </c:spPr>
    </c:plotArea>
    <c:legend>
      <c:legendPos val="r"/>
      <c:layout>
        <c:manualLayout>
          <c:xMode val="edge"/>
          <c:yMode val="edge"/>
          <c:x val="0.78245836281843917"/>
          <c:y val="0.22222292920455508"/>
          <c:w val="0.21754163718156191"/>
          <c:h val="0.4478128617761179"/>
        </c:manualLayout>
      </c:layout>
      <c:txPr>
        <a:bodyPr/>
        <a:lstStyle/>
        <a:p>
          <a:pPr>
            <a:defRPr sz="1400" b="1" i="0"/>
          </a:pPr>
          <a:endParaRPr lang="es-BO"/>
        </a:p>
      </c:txPr>
    </c:legend>
    <c:plotVisOnly val="1"/>
    <c:dispBlanksAs val="gap"/>
  </c:chart>
  <c:spPr>
    <a:blipFill>
      <a:blip xmlns:r="http://schemas.openxmlformats.org/officeDocument/2006/relationships" r:embed="rId2"/>
      <a:stretch>
        <a:fillRect/>
      </a:stretch>
    </a:blipFill>
    <a:scene3d>
      <a:camera prst="orthographicFront"/>
      <a:lightRig rig="threePt" dir="t"/>
    </a:scene3d>
    <a:sp3d prstMaterial="matte">
      <a:bevelT w="127000" h="63500"/>
    </a:sp3d>
  </c:spPr>
  <c:txPr>
    <a:bodyPr/>
    <a:lstStyle/>
    <a:p>
      <a:pPr>
        <a:defRPr>
          <a:latin typeface="Arial Narrow" pitchFamily="34" charset="0"/>
        </a:defRPr>
      </a:pPr>
      <a:endParaRPr lang="es-BO"/>
    </a:p>
  </c:txPr>
  <c:externalData r:id="rId3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s-BO"/>
  <c:style val="27"/>
  <c:chart>
    <c:title>
      <c:tx>
        <c:rich>
          <a:bodyPr/>
          <a:lstStyle/>
          <a:p>
            <a:pPr>
              <a:defRPr sz="1800">
                <a:solidFill>
                  <a:srgbClr val="002060"/>
                </a:solidFill>
              </a:defRPr>
            </a:pPr>
            <a:r>
              <a:rPr lang="en-US" sz="1800"/>
              <a:t>Área</a:t>
            </a:r>
            <a:r>
              <a:rPr lang="en-US" sz="1800" baseline="0"/>
              <a:t> de espera del paciente.</a:t>
            </a:r>
            <a:endParaRPr lang="en-US" sz="1800"/>
          </a:p>
        </c:rich>
      </c:tx>
      <c:layout/>
      <c:spPr>
        <a:noFill/>
        <a:ln w="25400">
          <a:noFill/>
        </a:ln>
      </c:spPr>
    </c:title>
    <c:view3D>
      <c:rotX val="30"/>
      <c:rotY val="359"/>
      <c:perspective val="60"/>
    </c:view3D>
    <c:plotArea>
      <c:layout>
        <c:manualLayout>
          <c:layoutTarget val="inner"/>
          <c:xMode val="edge"/>
          <c:yMode val="edge"/>
          <c:x val="8.9390387555549372E-2"/>
          <c:y val="0.19931432735489069"/>
          <c:w val="0.62072369002446925"/>
          <c:h val="0.65287080325993663"/>
        </c:manualLayout>
      </c:layout>
      <c:pie3DChart>
        <c:varyColors val="1"/>
        <c:ser>
          <c:idx val="0"/>
          <c:order val="0"/>
          <c:tx>
            <c:strRef>
              <c:f>'Cuadros y gráficos'!$B$200</c:f>
              <c:strCache>
                <c:ptCount val="1"/>
                <c:pt idx="0">
                  <c:v>En qué área invierte más de su tiempo</c:v>
                </c:pt>
              </c:strCache>
            </c:strRef>
          </c:tx>
          <c:spPr>
            <a:scene3d>
              <a:camera prst="orthographicFront"/>
              <a:lightRig rig="threePt" dir="t">
                <a:rot lat="0" lon="0" rev="1200000"/>
              </a:lightRig>
            </a:scene3d>
            <a:sp3d prstMaterial="softEdge">
              <a:bevelT w="317500" h="317500"/>
            </a:sp3d>
          </c:spPr>
          <c:explosion val="4"/>
          <c:dPt>
            <c:idx val="0"/>
            <c:explosion val="0"/>
            <c:spPr>
              <a:solidFill>
                <a:srgbClr val="FF0066"/>
              </a:solidFill>
              <a:scene3d>
                <a:camera prst="orthographicFront"/>
                <a:lightRig rig="threePt" dir="t">
                  <a:rot lat="0" lon="0" rev="1200000"/>
                </a:lightRig>
              </a:scene3d>
              <a:sp3d prstMaterial="softEdge">
                <a:bevelT w="317500" h="317500"/>
              </a:sp3d>
            </c:spPr>
          </c:dPt>
          <c:dPt>
            <c:idx val="1"/>
            <c:explosion val="30"/>
            <c:spPr>
              <a:solidFill>
                <a:srgbClr val="00B0F0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/>
                <a:lightRig rig="threePt" dir="t">
                  <a:rot lat="0" lon="0" rev="1200000"/>
                </a:lightRig>
              </a:scene3d>
              <a:sp3d prstMaterial="softEdge">
                <a:bevelT w="317500" h="317500"/>
              </a:sp3d>
            </c:spPr>
          </c:dPt>
          <c:dPt>
            <c:idx val="2"/>
            <c:explosion val="31"/>
            <c:spPr>
              <a:solidFill>
                <a:srgbClr val="92D050"/>
              </a:solidFill>
              <a:scene3d>
                <a:camera prst="orthographicFront"/>
                <a:lightRig rig="threePt" dir="t">
                  <a:rot lat="0" lon="0" rev="1200000"/>
                </a:lightRig>
              </a:scene3d>
              <a:sp3d prstMaterial="softEdge">
                <a:bevelT w="317500" h="317500"/>
              </a:sp3d>
            </c:spPr>
          </c:dPt>
          <c:dLbls>
            <c:spPr>
              <a:noFill/>
              <a:ln w="25400">
                <a:noFill/>
              </a:ln>
            </c:spPr>
            <c:txPr>
              <a:bodyPr/>
              <a:lstStyle/>
              <a:p>
                <a:pPr>
                  <a:defRPr sz="1400" b="1"/>
                </a:pPr>
                <a:endParaRPr lang="es-BO"/>
              </a:p>
            </c:txPr>
            <c:dLblPos val="ctr"/>
            <c:showVal val="1"/>
            <c:showLeaderLines val="1"/>
          </c:dLbls>
          <c:cat>
            <c:strRef>
              <c:f>'Cuadros y gráficos'!$B$201:$B$203</c:f>
              <c:strCache>
                <c:ptCount val="3"/>
                <c:pt idx="0">
                  <c:v>Admisión</c:v>
                </c:pt>
                <c:pt idx="1">
                  <c:v>Enfermería</c:v>
                </c:pt>
                <c:pt idx="2">
                  <c:v>Consulta médica</c:v>
                </c:pt>
              </c:strCache>
            </c:strRef>
          </c:cat>
          <c:val>
            <c:numRef>
              <c:f>'Cuadros y gráficos'!$D$201:$D$203</c:f>
              <c:numCache>
                <c:formatCode>#,##0.0%</c:formatCode>
                <c:ptCount val="3"/>
                <c:pt idx="0">
                  <c:v>0.30000000000000032</c:v>
                </c:pt>
                <c:pt idx="1">
                  <c:v>0.1</c:v>
                </c:pt>
                <c:pt idx="2">
                  <c:v>0.60000000000000064</c:v>
                </c:pt>
              </c:numCache>
            </c:numRef>
          </c:val>
        </c:ser>
      </c:pie3DChart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0.71290719094895738"/>
          <c:y val="0.25146419855412805"/>
          <c:w val="0.256038864707129"/>
          <c:h val="0.4397671869963623"/>
        </c:manualLayout>
      </c:layout>
      <c:txPr>
        <a:bodyPr/>
        <a:lstStyle/>
        <a:p>
          <a:pPr>
            <a:defRPr sz="1400" b="1" i="0"/>
          </a:pPr>
          <a:endParaRPr lang="es-BO"/>
        </a:p>
      </c:txPr>
    </c:legend>
    <c:plotVisOnly val="1"/>
    <c:dispBlanksAs val="zero"/>
  </c:chart>
  <c:spPr>
    <a:blipFill>
      <a:blip xmlns:r="http://schemas.openxmlformats.org/officeDocument/2006/relationships" r:embed="rId1"/>
      <a:stretch>
        <a:fillRect/>
      </a:stretch>
    </a:blipFill>
    <a:scene3d>
      <a:camera prst="orthographicFront"/>
      <a:lightRig rig="threePt" dir="t"/>
    </a:scene3d>
    <a:sp3d prstMaterial="matte">
      <a:bevelT w="254000" h="63500"/>
    </a:sp3d>
  </c:spPr>
  <c:txPr>
    <a:bodyPr/>
    <a:lstStyle/>
    <a:p>
      <a:pPr>
        <a:defRPr>
          <a:latin typeface="Arial Narrow" pitchFamily="34" charset="0"/>
        </a:defRPr>
      </a:pPr>
      <a:endParaRPr lang="es-BO"/>
    </a:p>
  </c:txPr>
  <c:externalData r:id="rId2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s-BO"/>
  <c:style val="27"/>
  <c:chart>
    <c:title>
      <c:layout/>
      <c:spPr>
        <a:noFill/>
        <a:ln w="25400">
          <a:noFill/>
        </a:ln>
      </c:spPr>
      <c:txPr>
        <a:bodyPr/>
        <a:lstStyle/>
        <a:p>
          <a:pPr>
            <a:defRPr sz="1800">
              <a:solidFill>
                <a:srgbClr val="002060"/>
              </a:solidFill>
            </a:defRPr>
          </a:pPr>
          <a:endParaRPr lang="es-BO"/>
        </a:p>
      </c:txPr>
    </c:title>
    <c:view3D>
      <c:rotX val="30"/>
      <c:rotY val="170"/>
      <c:perspective val="60"/>
    </c:view3D>
    <c:plotArea>
      <c:layout>
        <c:manualLayout>
          <c:layoutTarget val="inner"/>
          <c:xMode val="edge"/>
          <c:yMode val="edge"/>
          <c:x val="7.2463914628450934E-2"/>
          <c:y val="0.21754460507334544"/>
          <c:w val="0.59165671453633339"/>
          <c:h val="0.63170277010442333"/>
        </c:manualLayout>
      </c:layout>
      <c:pie3DChart>
        <c:varyColors val="1"/>
        <c:ser>
          <c:idx val="0"/>
          <c:order val="0"/>
          <c:tx>
            <c:strRef>
              <c:f>'Cuadros y gráficos'!$B$226</c:f>
              <c:strCache>
                <c:ptCount val="1"/>
                <c:pt idx="0">
                  <c:v>Estadía en el centro de salud</c:v>
                </c:pt>
              </c:strCache>
            </c:strRef>
          </c:tx>
          <c:spPr>
            <a:scene3d>
              <a:camera prst="orthographicFront"/>
              <a:lightRig rig="threePt" dir="t">
                <a:rot lat="0" lon="0" rev="1200000"/>
              </a:lightRig>
            </a:scene3d>
            <a:sp3d prstMaterial="softEdge">
              <a:bevelT w="317500" h="317500"/>
            </a:sp3d>
          </c:spPr>
          <c:explosion val="4"/>
          <c:dPt>
            <c:idx val="0"/>
            <c:explosion val="0"/>
            <c:spPr>
              <a:solidFill>
                <a:srgbClr val="0000FF"/>
              </a:solidFill>
              <a:scene3d>
                <a:camera prst="orthographicFront"/>
                <a:lightRig rig="threePt" dir="t">
                  <a:rot lat="0" lon="0" rev="1200000"/>
                </a:lightRig>
              </a:scene3d>
              <a:sp3d prstMaterial="softEdge">
                <a:bevelT w="317500" h="317500"/>
              </a:sp3d>
            </c:spPr>
          </c:dPt>
          <c:dPt>
            <c:idx val="1"/>
            <c:spPr>
              <a:solidFill>
                <a:srgbClr val="00B050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/>
                <a:lightRig rig="threePt" dir="t">
                  <a:rot lat="0" lon="0" rev="1200000"/>
                </a:lightRig>
              </a:scene3d>
              <a:sp3d prstMaterial="softEdge">
                <a:bevelT w="317500" h="317500"/>
              </a:sp3d>
            </c:spPr>
          </c:dPt>
          <c:dPt>
            <c:idx val="2"/>
            <c:spPr>
              <a:solidFill>
                <a:srgbClr val="CC0099"/>
              </a:solidFill>
              <a:scene3d>
                <a:camera prst="orthographicFront"/>
                <a:lightRig rig="threePt" dir="t">
                  <a:rot lat="0" lon="0" rev="1200000"/>
                </a:lightRig>
              </a:scene3d>
              <a:sp3d prstMaterial="softEdge">
                <a:bevelT w="317500" h="317500"/>
              </a:sp3d>
            </c:spPr>
          </c:dPt>
          <c:dLbls>
            <c:dLbl>
              <c:idx val="0"/>
              <c:layout/>
              <c:dLblPos val="bestFit"/>
              <c:showVal val="1"/>
            </c:dLbl>
            <c:dLbl>
              <c:idx val="1"/>
              <c:layout/>
              <c:dLblPos val="bestFit"/>
              <c:showVal val="1"/>
            </c:dLbl>
            <c:spPr>
              <a:noFill/>
              <a:ln w="25400">
                <a:noFill/>
              </a:ln>
            </c:spPr>
            <c:txPr>
              <a:bodyPr/>
              <a:lstStyle/>
              <a:p>
                <a:pPr>
                  <a:defRPr sz="1400" b="1"/>
                </a:pPr>
                <a:endParaRPr lang="es-BO"/>
              </a:p>
            </c:txPr>
            <c:dLblPos val="ctr"/>
            <c:showVal val="1"/>
            <c:showLeaderLines val="1"/>
          </c:dLbls>
          <c:cat>
            <c:strRef>
              <c:f>'Cuadros y gráficos'!$B$227:$B$229</c:f>
              <c:strCache>
                <c:ptCount val="3"/>
                <c:pt idx="0">
                  <c:v>Una hora</c:v>
                </c:pt>
                <c:pt idx="1">
                  <c:v>Dos horas</c:v>
                </c:pt>
                <c:pt idx="2">
                  <c:v>Más de tres horas</c:v>
                </c:pt>
              </c:strCache>
            </c:strRef>
          </c:cat>
          <c:val>
            <c:numRef>
              <c:f>'Cuadros y gráficos'!$D$227:$D$229</c:f>
              <c:numCache>
                <c:formatCode>#,##0.0%</c:formatCode>
                <c:ptCount val="3"/>
                <c:pt idx="0">
                  <c:v>0.1</c:v>
                </c:pt>
                <c:pt idx="1">
                  <c:v>0.25</c:v>
                </c:pt>
                <c:pt idx="2">
                  <c:v>0.6500000000000028</c:v>
                </c:pt>
              </c:numCache>
            </c:numRef>
          </c:val>
        </c:ser>
      </c:pie3DChart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0.75528400777413174"/>
          <c:y val="0.24808612119422793"/>
          <c:w val="0.22843361971057963"/>
          <c:h val="0.51929935073905231"/>
        </c:manualLayout>
      </c:layout>
      <c:txPr>
        <a:bodyPr/>
        <a:lstStyle/>
        <a:p>
          <a:pPr>
            <a:defRPr sz="1800" b="1" i="0"/>
          </a:pPr>
          <a:endParaRPr lang="es-BO"/>
        </a:p>
      </c:txPr>
    </c:legend>
    <c:plotVisOnly val="1"/>
    <c:dispBlanksAs val="zero"/>
  </c:chart>
  <c:spPr>
    <a:blipFill>
      <a:blip xmlns:r="http://schemas.openxmlformats.org/officeDocument/2006/relationships" r:embed="rId1"/>
      <a:stretch>
        <a:fillRect/>
      </a:stretch>
    </a:blipFill>
    <a:scene3d>
      <a:camera prst="orthographicFront"/>
      <a:lightRig rig="threePt" dir="t"/>
    </a:scene3d>
    <a:sp3d prstMaterial="matte">
      <a:bevelT w="254000" h="63500"/>
    </a:sp3d>
  </c:spPr>
  <c:txPr>
    <a:bodyPr/>
    <a:lstStyle/>
    <a:p>
      <a:pPr>
        <a:defRPr>
          <a:latin typeface="Arial Narrow" pitchFamily="34" charset="0"/>
        </a:defRPr>
      </a:pPr>
      <a:endParaRPr lang="es-BO"/>
    </a:p>
  </c:txPr>
  <c:externalData r:id="rId2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s-BO"/>
  <c:style val="27"/>
  <c:chart>
    <c:title>
      <c:spPr>
        <a:noFill/>
        <a:ln w="25400">
          <a:noFill/>
        </a:ln>
      </c:spPr>
      <c:txPr>
        <a:bodyPr/>
        <a:lstStyle/>
        <a:p>
          <a:pPr>
            <a:defRPr sz="1800">
              <a:solidFill>
                <a:srgbClr val="002060"/>
              </a:solidFill>
            </a:defRPr>
          </a:pPr>
          <a:endParaRPr lang="es-BO"/>
        </a:p>
      </c:txPr>
    </c:title>
    <c:view3D>
      <c:rotX val="30"/>
      <c:rotY val="170"/>
      <c:perspective val="60"/>
    </c:view3D>
    <c:plotArea>
      <c:layout>
        <c:manualLayout>
          <c:layoutTarget val="inner"/>
          <c:xMode val="edge"/>
          <c:yMode val="edge"/>
          <c:x val="7.2463914628450934E-2"/>
          <c:y val="0.21754460507334544"/>
          <c:w val="0.61289861389356814"/>
          <c:h val="0.65028202872690144"/>
        </c:manualLayout>
      </c:layout>
      <c:pie3DChart>
        <c:varyColors val="1"/>
        <c:ser>
          <c:idx val="0"/>
          <c:order val="0"/>
          <c:tx>
            <c:strRef>
              <c:f>'Cuadros y gráficos'!$B$273</c:f>
              <c:strCache>
                <c:ptCount val="1"/>
                <c:pt idx="0">
                  <c:v>En qué área siente mejor atendido</c:v>
                </c:pt>
              </c:strCache>
            </c:strRef>
          </c:tx>
          <c:spPr>
            <a:scene3d>
              <a:camera prst="orthographicFront"/>
              <a:lightRig rig="threePt" dir="t">
                <a:rot lat="0" lon="0" rev="1200000"/>
              </a:lightRig>
            </a:scene3d>
            <a:sp3d prstMaterial="softEdge">
              <a:bevelT w="317500" h="317500"/>
            </a:sp3d>
          </c:spPr>
          <c:explosion val="4"/>
          <c:dPt>
            <c:idx val="0"/>
            <c:explosion val="7"/>
            <c:spPr>
              <a:solidFill>
                <a:srgbClr val="00B0F0"/>
              </a:solidFill>
              <a:scene3d>
                <a:camera prst="orthographicFront"/>
                <a:lightRig rig="threePt" dir="t">
                  <a:rot lat="0" lon="0" rev="1200000"/>
                </a:lightRig>
              </a:scene3d>
              <a:sp3d prstMaterial="softEdge">
                <a:bevelT w="317500" h="317500"/>
              </a:sp3d>
            </c:spPr>
          </c:dPt>
          <c:dPt>
            <c:idx val="1"/>
            <c:spPr>
              <a:solidFill>
                <a:srgbClr val="0000FF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/>
                <a:lightRig rig="threePt" dir="t">
                  <a:rot lat="0" lon="0" rev="1200000"/>
                </a:lightRig>
              </a:scene3d>
              <a:sp3d prstMaterial="softEdge">
                <a:bevelT w="317500" h="317500"/>
              </a:sp3d>
            </c:spPr>
          </c:dPt>
          <c:dPt>
            <c:idx val="2"/>
            <c:spPr>
              <a:solidFill>
                <a:srgbClr val="CC0099"/>
              </a:solidFill>
              <a:scene3d>
                <a:camera prst="orthographicFront"/>
                <a:lightRig rig="threePt" dir="t">
                  <a:rot lat="0" lon="0" rev="1200000"/>
                </a:lightRig>
              </a:scene3d>
              <a:sp3d prstMaterial="softEdge">
                <a:bevelT w="317500" h="317500"/>
              </a:sp3d>
            </c:spPr>
          </c:dPt>
          <c:dPt>
            <c:idx val="3"/>
            <c:spPr>
              <a:solidFill>
                <a:srgbClr val="FFFF00"/>
              </a:solidFill>
              <a:scene3d>
                <a:camera prst="orthographicFront"/>
                <a:lightRig rig="threePt" dir="t">
                  <a:rot lat="0" lon="0" rev="1200000"/>
                </a:lightRig>
              </a:scene3d>
              <a:sp3d prstMaterial="softEdge">
                <a:bevelT w="317500" h="317500"/>
              </a:sp3d>
            </c:spPr>
          </c:dPt>
          <c:dLbls>
            <c:spPr>
              <a:noFill/>
              <a:ln w="25400">
                <a:noFill/>
              </a:ln>
            </c:spPr>
            <c:txPr>
              <a:bodyPr/>
              <a:lstStyle/>
              <a:p>
                <a:pPr>
                  <a:defRPr sz="1600" b="1"/>
                </a:pPr>
                <a:endParaRPr lang="es-BO"/>
              </a:p>
            </c:txPr>
            <c:dLblPos val="inEnd"/>
            <c:showVal val="1"/>
            <c:showLeaderLines val="1"/>
          </c:dLbls>
          <c:cat>
            <c:strRef>
              <c:f>'Cuadros y gráficos'!$B$274:$B$277</c:f>
              <c:strCache>
                <c:ptCount val="4"/>
                <c:pt idx="0">
                  <c:v>Admisión</c:v>
                </c:pt>
                <c:pt idx="1">
                  <c:v>Enfermeria</c:v>
                </c:pt>
                <c:pt idx="2">
                  <c:v>Consulta médica</c:v>
                </c:pt>
                <c:pt idx="3">
                  <c:v>ninguno </c:v>
                </c:pt>
              </c:strCache>
            </c:strRef>
          </c:cat>
          <c:val>
            <c:numRef>
              <c:f>'Cuadros y gráficos'!$D$274:$D$277</c:f>
              <c:numCache>
                <c:formatCode>#,##0.0%</c:formatCode>
                <c:ptCount val="4"/>
                <c:pt idx="0">
                  <c:v>0.15000000000000024</c:v>
                </c:pt>
                <c:pt idx="1">
                  <c:v>0.25</c:v>
                </c:pt>
                <c:pt idx="2">
                  <c:v>0.55000000000000004</c:v>
                </c:pt>
                <c:pt idx="3">
                  <c:v>0.05</c:v>
                </c:pt>
              </c:numCache>
            </c:numRef>
          </c:val>
        </c:ser>
      </c:pie3DChart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0.72284178079148065"/>
          <c:y val="0.18384622795879521"/>
          <c:w val="0.20634942371334103"/>
          <c:h val="0.60350987705484604"/>
        </c:manualLayout>
      </c:layout>
      <c:txPr>
        <a:bodyPr/>
        <a:lstStyle/>
        <a:p>
          <a:pPr>
            <a:defRPr sz="1800" b="1" i="0"/>
          </a:pPr>
          <a:endParaRPr lang="es-BO"/>
        </a:p>
      </c:txPr>
    </c:legend>
    <c:plotVisOnly val="1"/>
    <c:dispBlanksAs val="zero"/>
  </c:chart>
  <c:spPr>
    <a:blipFill>
      <a:blip xmlns:r="http://schemas.openxmlformats.org/officeDocument/2006/relationships" r:embed="rId1"/>
      <a:stretch>
        <a:fillRect/>
      </a:stretch>
    </a:blipFill>
    <a:scene3d>
      <a:camera prst="orthographicFront"/>
      <a:lightRig rig="threePt" dir="t"/>
    </a:scene3d>
    <a:sp3d prstMaterial="matte">
      <a:bevelT w="254000" h="63500"/>
    </a:sp3d>
  </c:spPr>
  <c:txPr>
    <a:bodyPr/>
    <a:lstStyle/>
    <a:p>
      <a:pPr>
        <a:defRPr>
          <a:latin typeface="Arial Narrow" pitchFamily="34" charset="0"/>
        </a:defRPr>
      </a:pPr>
      <a:endParaRPr lang="es-BO"/>
    </a:p>
  </c:txPr>
  <c:externalData r:id="rId2"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s-BO"/>
  <c:style val="27"/>
  <c:chart>
    <c:title>
      <c:spPr>
        <a:noFill/>
        <a:ln w="25400">
          <a:noFill/>
        </a:ln>
      </c:spPr>
      <c:txPr>
        <a:bodyPr/>
        <a:lstStyle/>
        <a:p>
          <a:pPr>
            <a:defRPr sz="1800">
              <a:solidFill>
                <a:srgbClr val="002060"/>
              </a:solidFill>
            </a:defRPr>
          </a:pPr>
          <a:endParaRPr lang="es-BO"/>
        </a:p>
      </c:txPr>
    </c:title>
    <c:view3D>
      <c:rotX val="30"/>
      <c:rotY val="170"/>
      <c:perspective val="60"/>
    </c:view3D>
    <c:plotArea>
      <c:layout>
        <c:manualLayout>
          <c:layoutTarget val="inner"/>
          <c:xMode val="edge"/>
          <c:yMode val="edge"/>
          <c:x val="7.2463914628450893E-2"/>
          <c:y val="0.21754460507334544"/>
          <c:w val="0.66835929945489603"/>
          <c:h val="0.70772240770221329"/>
        </c:manualLayout>
      </c:layout>
      <c:pie3DChart>
        <c:varyColors val="1"/>
        <c:ser>
          <c:idx val="0"/>
          <c:order val="0"/>
          <c:tx>
            <c:strRef>
              <c:f>'Cuadros y gráficos'!$B$281</c:f>
              <c:strCache>
                <c:ptCount val="1"/>
                <c:pt idx="0">
                  <c:v>Conocimiento sobre los derechos</c:v>
                </c:pt>
              </c:strCache>
            </c:strRef>
          </c:tx>
          <c:spPr>
            <a:scene3d>
              <a:camera prst="orthographicFront"/>
              <a:lightRig rig="threePt" dir="t">
                <a:rot lat="0" lon="0" rev="1200000"/>
              </a:lightRig>
            </a:scene3d>
            <a:sp3d prstMaterial="softEdge">
              <a:bevelT w="317500" h="317500"/>
            </a:sp3d>
          </c:spPr>
          <c:explosion val="4"/>
          <c:dPt>
            <c:idx val="0"/>
            <c:explosion val="7"/>
            <c:spPr>
              <a:solidFill>
                <a:srgbClr val="7030A0"/>
              </a:solidFill>
              <a:scene3d>
                <a:camera prst="orthographicFront"/>
                <a:lightRig rig="threePt" dir="t">
                  <a:rot lat="0" lon="0" rev="1200000"/>
                </a:lightRig>
              </a:scene3d>
              <a:sp3d prstMaterial="softEdge">
                <a:bevelT w="317500" h="317500"/>
              </a:sp3d>
            </c:spPr>
          </c:dPt>
          <c:dPt>
            <c:idx val="1"/>
            <c:spPr>
              <a:solidFill>
                <a:srgbClr val="0070C0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/>
                <a:lightRig rig="threePt" dir="t">
                  <a:rot lat="0" lon="0" rev="1200000"/>
                </a:lightRig>
              </a:scene3d>
              <a:sp3d prstMaterial="softEdge">
                <a:bevelT w="317500" h="317500"/>
              </a:sp3d>
            </c:spPr>
          </c:dPt>
          <c:dLbls>
            <c:spPr>
              <a:noFill/>
              <a:ln w="25400">
                <a:noFill/>
              </a:ln>
            </c:spPr>
            <c:txPr>
              <a:bodyPr/>
              <a:lstStyle/>
              <a:p>
                <a:pPr>
                  <a:defRPr sz="1600" b="1"/>
                </a:pPr>
                <a:endParaRPr lang="es-BO"/>
              </a:p>
            </c:txPr>
            <c:dLblPos val="ctr"/>
            <c:showVal val="1"/>
            <c:showLeaderLines val="1"/>
          </c:dLbls>
          <c:cat>
            <c:strRef>
              <c:f>'Cuadros y gráficos'!$B$282:$B$283</c:f>
              <c:strCache>
                <c:ptCount val="2"/>
                <c:pt idx="0">
                  <c:v>Si</c:v>
                </c:pt>
                <c:pt idx="1">
                  <c:v>No</c:v>
                </c:pt>
              </c:strCache>
            </c:strRef>
          </c:cat>
          <c:val>
            <c:numRef>
              <c:f>'Cuadros y gráficos'!$D$282:$D$283</c:f>
              <c:numCache>
                <c:formatCode>#,##0.0%</c:formatCode>
                <c:ptCount val="2"/>
                <c:pt idx="0">
                  <c:v>0.65000000000000235</c:v>
                </c:pt>
                <c:pt idx="1">
                  <c:v>0.35000000000000031</c:v>
                </c:pt>
              </c:numCache>
            </c:numRef>
          </c:val>
        </c:ser>
      </c:pie3DChart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0.7329209935714579"/>
          <c:y val="0.23877912528884068"/>
          <c:w val="0.14285736022127671"/>
          <c:h val="0.28070285951098217"/>
        </c:manualLayout>
      </c:layout>
      <c:txPr>
        <a:bodyPr/>
        <a:lstStyle/>
        <a:p>
          <a:pPr>
            <a:defRPr sz="2000" b="1" i="0"/>
          </a:pPr>
          <a:endParaRPr lang="es-BO"/>
        </a:p>
      </c:txPr>
    </c:legend>
    <c:plotVisOnly val="1"/>
    <c:dispBlanksAs val="zero"/>
  </c:chart>
  <c:spPr>
    <a:blipFill>
      <a:blip xmlns:r="http://schemas.openxmlformats.org/officeDocument/2006/relationships" r:embed="rId1"/>
      <a:stretch>
        <a:fillRect/>
      </a:stretch>
    </a:blipFill>
    <a:scene3d>
      <a:camera prst="orthographicFront"/>
      <a:lightRig rig="threePt" dir="t"/>
    </a:scene3d>
    <a:sp3d prstMaterial="matte">
      <a:bevelT w="254000" h="63500"/>
    </a:sp3d>
  </c:spPr>
  <c:txPr>
    <a:bodyPr/>
    <a:lstStyle/>
    <a:p>
      <a:pPr>
        <a:defRPr>
          <a:latin typeface="Arial Narrow" pitchFamily="34" charset="0"/>
        </a:defRPr>
      </a:pPr>
      <a:endParaRPr lang="es-BO"/>
    </a:p>
  </c:txPr>
  <c:externalData r:id="rId2"/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s-BO"/>
  <c:style val="27"/>
  <c:chart>
    <c:title>
      <c:layout>
        <c:manualLayout>
          <c:xMode val="edge"/>
          <c:yMode val="edge"/>
          <c:x val="0.38543524136002183"/>
          <c:y val="0"/>
        </c:manualLayout>
      </c:layout>
      <c:spPr>
        <a:noFill/>
        <a:ln w="25400">
          <a:noFill/>
        </a:ln>
      </c:spPr>
      <c:txPr>
        <a:bodyPr/>
        <a:lstStyle/>
        <a:p>
          <a:pPr>
            <a:defRPr sz="2000">
              <a:solidFill>
                <a:srgbClr val="002060"/>
              </a:solidFill>
            </a:defRPr>
          </a:pPr>
          <a:endParaRPr lang="es-BO"/>
        </a:p>
      </c:txPr>
    </c:title>
    <c:view3D>
      <c:rotX val="30"/>
      <c:rotY val="135"/>
      <c:perspective val="60"/>
    </c:view3D>
    <c:plotArea>
      <c:layout>
        <c:manualLayout>
          <c:layoutTarget val="inner"/>
          <c:xMode val="edge"/>
          <c:yMode val="edge"/>
          <c:x val="0"/>
          <c:y val="0.17105290632212841"/>
          <c:w val="0.79324182767278728"/>
          <c:h val="0.78122326906283746"/>
        </c:manualLayout>
      </c:layout>
      <c:pie3DChart>
        <c:varyColors val="1"/>
        <c:ser>
          <c:idx val="0"/>
          <c:order val="0"/>
          <c:tx>
            <c:strRef>
              <c:f>'Cuadros y gráficos'!$B$84</c:f>
              <c:strCache>
                <c:ptCount val="1"/>
                <c:pt idx="0">
                  <c:v>Tiempo para cada paciente</c:v>
                </c:pt>
              </c:strCache>
            </c:strRef>
          </c:tx>
          <c:spPr>
            <a:solidFill>
              <a:srgbClr val="0000FF"/>
            </a:solidFill>
            <a:scene3d>
              <a:camera prst="orthographicFront"/>
              <a:lightRig rig="threePt" dir="t">
                <a:rot lat="0" lon="0" rev="1200000"/>
              </a:lightRig>
            </a:scene3d>
            <a:sp3d prstMaterial="powder">
              <a:bevelT w="317500" h="317500"/>
            </a:sp3d>
          </c:spPr>
          <c:explosion val="2"/>
          <c:dPt>
            <c:idx val="0"/>
            <c:spPr>
              <a:solidFill>
                <a:srgbClr val="FF0000"/>
              </a:solidFill>
              <a:scene3d>
                <a:camera prst="orthographicFront"/>
                <a:lightRig rig="threePt" dir="t">
                  <a:rot lat="0" lon="0" rev="1200000"/>
                </a:lightRig>
              </a:scene3d>
              <a:sp3d prstMaterial="powder">
                <a:bevelT w="317500" h="317500"/>
              </a:sp3d>
            </c:spPr>
          </c:dPt>
          <c:dPt>
            <c:idx val="1"/>
            <c:spPr>
              <a:solidFill>
                <a:srgbClr val="0000FF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/>
                <a:lightRig rig="threePt" dir="t">
                  <a:rot lat="0" lon="0" rev="1200000"/>
                </a:lightRig>
              </a:scene3d>
              <a:sp3d prstMaterial="plastic">
                <a:bevelT w="317500" h="317500"/>
              </a:sp3d>
            </c:spPr>
          </c:dPt>
          <c:dLbls>
            <c:dLbl>
              <c:idx val="0"/>
              <c:dLblPos val="bestFit"/>
              <c:showVal val="1"/>
            </c:dLbl>
            <c:dLbl>
              <c:idx val="1"/>
              <c:dLblPos val="bestFit"/>
              <c:showVal val="1"/>
            </c:dLbl>
            <c:spPr>
              <a:noFill/>
              <a:ln w="25400">
                <a:noFill/>
              </a:ln>
            </c:spPr>
            <c:txPr>
              <a:bodyPr/>
              <a:lstStyle/>
              <a:p>
                <a:pPr>
                  <a:defRPr sz="1400" b="1"/>
                </a:pPr>
                <a:endParaRPr lang="es-BO"/>
              </a:p>
            </c:txPr>
            <c:dLblPos val="ctr"/>
            <c:showVal val="1"/>
            <c:showLeaderLines val="1"/>
          </c:dLbls>
          <c:cat>
            <c:strRef>
              <c:f>'Cuadros y gráficos'!$B$85:$B$86</c:f>
              <c:strCache>
                <c:ptCount val="2"/>
                <c:pt idx="0">
                  <c:v>Depende de cada pcte.</c:v>
                </c:pt>
                <c:pt idx="1">
                  <c:v>Lo necesario  para el pcte.</c:v>
                </c:pt>
              </c:strCache>
            </c:strRef>
          </c:cat>
          <c:val>
            <c:numRef>
              <c:f>'Cuadros y gráficos'!$D$85:$D$86</c:f>
              <c:numCache>
                <c:formatCode>#,##0.0%</c:formatCode>
                <c:ptCount val="2"/>
                <c:pt idx="0">
                  <c:v>0.36360000000000031</c:v>
                </c:pt>
                <c:pt idx="1">
                  <c:v>0.63630000000000064</c:v>
                </c:pt>
              </c:numCache>
            </c:numRef>
          </c:val>
        </c:ser>
      </c:pie3DChart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0.76965040614638935"/>
          <c:y val="0.23534127846970226"/>
          <c:w val="0.22946997662975152"/>
          <c:h val="0.58542494135135548"/>
        </c:manualLayout>
      </c:layout>
      <c:txPr>
        <a:bodyPr/>
        <a:lstStyle/>
        <a:p>
          <a:pPr>
            <a:defRPr sz="1800" b="1" i="0"/>
          </a:pPr>
          <a:endParaRPr lang="es-BO"/>
        </a:p>
      </c:txPr>
    </c:legend>
    <c:plotVisOnly val="1"/>
    <c:dispBlanksAs val="zero"/>
  </c:chart>
  <c:spPr>
    <a:blipFill>
      <a:blip xmlns:r="http://schemas.openxmlformats.org/officeDocument/2006/relationships" r:embed="rId1"/>
      <a:stretch>
        <a:fillRect/>
      </a:stretch>
    </a:blipFill>
    <a:scene3d>
      <a:camera prst="orthographicFront"/>
      <a:lightRig rig="threePt" dir="t"/>
    </a:scene3d>
    <a:sp3d prstMaterial="matte">
      <a:bevelT w="254000" h="63500"/>
    </a:sp3d>
  </c:spPr>
  <c:txPr>
    <a:bodyPr/>
    <a:lstStyle/>
    <a:p>
      <a:pPr>
        <a:defRPr>
          <a:latin typeface="Arial Narrow" pitchFamily="34" charset="0"/>
        </a:defRPr>
      </a:pPr>
      <a:endParaRPr lang="es-BO"/>
    </a:p>
  </c:txPr>
  <c:externalData r:id="rId2"/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s-BO"/>
  <c:style val="27"/>
  <c:chart>
    <c:title>
      <c:spPr>
        <a:noFill/>
        <a:ln w="25400">
          <a:noFill/>
        </a:ln>
      </c:spPr>
      <c:txPr>
        <a:bodyPr/>
        <a:lstStyle/>
        <a:p>
          <a:pPr>
            <a:defRPr sz="2000">
              <a:solidFill>
                <a:srgbClr val="002060"/>
              </a:solidFill>
            </a:defRPr>
          </a:pPr>
          <a:endParaRPr lang="es-BO"/>
        </a:p>
      </c:txPr>
    </c:title>
    <c:view3D>
      <c:rotX val="30"/>
      <c:rotY val="170"/>
      <c:perspective val="60"/>
    </c:view3D>
    <c:plotArea>
      <c:layout>
        <c:manualLayout>
          <c:layoutTarget val="inner"/>
          <c:xMode val="edge"/>
          <c:yMode val="edge"/>
          <c:x val="6.5934641323553604E-3"/>
          <c:y val="0.21754460507334544"/>
          <c:w val="0.66835611424258556"/>
          <c:h val="0.71246467055735407"/>
        </c:manualLayout>
      </c:layout>
      <c:pie3DChart>
        <c:varyColors val="1"/>
        <c:ser>
          <c:idx val="0"/>
          <c:order val="0"/>
          <c:tx>
            <c:strRef>
              <c:f>'Cuadros y gráficos'!$B$226</c:f>
              <c:strCache>
                <c:ptCount val="1"/>
                <c:pt idx="0">
                  <c:v>Trato del pcte. Al personal de salud </c:v>
                </c:pt>
              </c:strCache>
            </c:strRef>
          </c:tx>
          <c:spPr>
            <a:scene3d>
              <a:camera prst="orthographicFront"/>
              <a:lightRig rig="threePt" dir="t">
                <a:rot lat="0" lon="0" rev="1200000"/>
              </a:lightRig>
            </a:scene3d>
            <a:sp3d prstMaterial="softEdge">
              <a:bevelT w="317500" h="317500"/>
            </a:sp3d>
          </c:spPr>
          <c:explosion val="4"/>
          <c:dPt>
            <c:idx val="0"/>
            <c:explosion val="9"/>
            <c:spPr>
              <a:solidFill>
                <a:srgbClr val="0000FF"/>
              </a:solidFill>
              <a:scene3d>
                <a:camera prst="orthographicFront"/>
                <a:lightRig rig="threePt" dir="t">
                  <a:rot lat="0" lon="0" rev="1200000"/>
                </a:lightRig>
              </a:scene3d>
              <a:sp3d prstMaterial="softEdge">
                <a:bevelT w="317500" h="317500"/>
              </a:sp3d>
            </c:spPr>
          </c:dPt>
          <c:dPt>
            <c:idx val="1"/>
            <c:spPr>
              <a:solidFill>
                <a:srgbClr val="00B050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/>
                <a:lightRig rig="threePt" dir="t">
                  <a:rot lat="0" lon="0" rev="1200000"/>
                </a:lightRig>
              </a:scene3d>
              <a:sp3d prstMaterial="softEdge">
                <a:bevelT w="317500" h="317500"/>
              </a:sp3d>
            </c:spPr>
          </c:dPt>
          <c:dPt>
            <c:idx val="2"/>
            <c:spPr>
              <a:solidFill>
                <a:srgbClr val="CC0099"/>
              </a:solidFill>
              <a:scene3d>
                <a:camera prst="orthographicFront"/>
                <a:lightRig rig="threePt" dir="t">
                  <a:rot lat="0" lon="0" rev="1200000"/>
                </a:lightRig>
              </a:scene3d>
              <a:sp3d prstMaterial="softEdge">
                <a:bevelT w="317500" h="317500"/>
              </a:sp3d>
            </c:spPr>
          </c:dPt>
          <c:dLbls>
            <c:dLbl>
              <c:idx val="0"/>
              <c:dLblPos val="bestFit"/>
              <c:showVal val="1"/>
            </c:dLbl>
            <c:dLbl>
              <c:idx val="1"/>
              <c:dLblPos val="bestFit"/>
              <c:showVal val="1"/>
            </c:dLbl>
            <c:spPr>
              <a:noFill/>
              <a:ln w="25400">
                <a:noFill/>
              </a:ln>
            </c:spPr>
            <c:txPr>
              <a:bodyPr/>
              <a:lstStyle/>
              <a:p>
                <a:pPr>
                  <a:defRPr sz="1600" b="1"/>
                </a:pPr>
                <a:endParaRPr lang="es-BO"/>
              </a:p>
            </c:txPr>
            <c:dLblPos val="ctr"/>
            <c:showVal val="1"/>
            <c:showLeaderLines val="1"/>
          </c:dLbls>
          <c:cat>
            <c:strRef>
              <c:f>'Cuadros y gráficos'!$B$227:$B$229</c:f>
              <c:strCache>
                <c:ptCount val="3"/>
                <c:pt idx="0">
                  <c:v>Respeto</c:v>
                </c:pt>
                <c:pt idx="1">
                  <c:v>No hacen caso de lo que se le dice</c:v>
                </c:pt>
                <c:pt idx="2">
                  <c:v>Reniegan por la tardanza</c:v>
                </c:pt>
              </c:strCache>
            </c:strRef>
          </c:cat>
          <c:val>
            <c:numRef>
              <c:f>'Cuadros y gráficos'!$D$227:$D$229</c:f>
              <c:numCache>
                <c:formatCode>#,##0.0%</c:formatCode>
                <c:ptCount val="3"/>
                <c:pt idx="0">
                  <c:v>0.63630000000000064</c:v>
                </c:pt>
                <c:pt idx="1">
                  <c:v>0.2727</c:v>
                </c:pt>
                <c:pt idx="2">
                  <c:v>9.1000000000000025E-2</c:v>
                </c:pt>
              </c:numCache>
            </c:numRef>
          </c:val>
        </c:ser>
      </c:pie3DChart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0.68875260157697671"/>
          <c:y val="0.1795568111238004"/>
          <c:w val="0.26402361646090305"/>
          <c:h val="0.79226438812326305"/>
        </c:manualLayout>
      </c:layout>
      <c:txPr>
        <a:bodyPr/>
        <a:lstStyle/>
        <a:p>
          <a:pPr>
            <a:defRPr sz="1800" b="1" i="0"/>
          </a:pPr>
          <a:endParaRPr lang="es-BO"/>
        </a:p>
      </c:txPr>
    </c:legend>
    <c:plotVisOnly val="1"/>
    <c:dispBlanksAs val="zero"/>
  </c:chart>
  <c:spPr>
    <a:blipFill>
      <a:blip xmlns:r="http://schemas.openxmlformats.org/officeDocument/2006/relationships" r:embed="rId1"/>
      <a:stretch>
        <a:fillRect/>
      </a:stretch>
    </a:blipFill>
    <a:scene3d>
      <a:camera prst="orthographicFront"/>
      <a:lightRig rig="threePt" dir="t"/>
    </a:scene3d>
    <a:sp3d prstMaterial="matte">
      <a:bevelT w="254000" h="63500"/>
    </a:sp3d>
  </c:spPr>
  <c:txPr>
    <a:bodyPr/>
    <a:lstStyle/>
    <a:p>
      <a:pPr>
        <a:defRPr>
          <a:latin typeface="Arial Narrow" pitchFamily="34" charset="0"/>
        </a:defRPr>
      </a:pPr>
      <a:endParaRPr lang="es-BO"/>
    </a:p>
  </c:txPr>
  <c:externalData r:id="rId2"/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s-BO"/>
  <c:style val="27"/>
  <c:chart>
    <c:title>
      <c:spPr>
        <a:noFill/>
        <a:ln w="25400">
          <a:noFill/>
        </a:ln>
      </c:spPr>
      <c:txPr>
        <a:bodyPr/>
        <a:lstStyle/>
        <a:p>
          <a:pPr>
            <a:defRPr sz="2400">
              <a:solidFill>
                <a:srgbClr val="002060"/>
              </a:solidFill>
            </a:defRPr>
          </a:pPr>
          <a:endParaRPr lang="es-BO"/>
        </a:p>
      </c:txPr>
    </c:title>
    <c:view3D>
      <c:rotX val="30"/>
      <c:rotY val="190"/>
      <c:perspective val="60"/>
    </c:view3D>
    <c:plotArea>
      <c:layout>
        <c:manualLayout>
          <c:layoutTarget val="inner"/>
          <c:xMode val="edge"/>
          <c:yMode val="edge"/>
          <c:x val="7.2463914628450934E-2"/>
          <c:y val="0.21754460507334544"/>
          <c:w val="0.60248577623449528"/>
          <c:h val="0.6374294792098385"/>
        </c:manualLayout>
      </c:layout>
      <c:pie3DChart>
        <c:varyColors val="1"/>
        <c:ser>
          <c:idx val="0"/>
          <c:order val="0"/>
          <c:tx>
            <c:strRef>
              <c:f>'Cuadros y gráficos'!$B$289</c:f>
              <c:strCache>
                <c:ptCount val="1"/>
                <c:pt idx="0">
                  <c:v>Respetan sus derechos </c:v>
                </c:pt>
              </c:strCache>
            </c:strRef>
          </c:tx>
          <c:spPr>
            <a:scene3d>
              <a:camera prst="orthographicFront"/>
              <a:lightRig rig="threePt" dir="t">
                <a:rot lat="0" lon="0" rev="1200000"/>
              </a:lightRig>
            </a:scene3d>
            <a:sp3d prstMaterial="softEdge">
              <a:bevelT w="317500" h="317500"/>
            </a:sp3d>
          </c:spPr>
          <c:dPt>
            <c:idx val="0"/>
            <c:spPr>
              <a:solidFill>
                <a:srgbClr val="00B0F0"/>
              </a:solidFill>
              <a:scene3d>
                <a:camera prst="orthographicFront"/>
                <a:lightRig rig="threePt" dir="t">
                  <a:rot lat="0" lon="0" rev="1200000"/>
                </a:lightRig>
              </a:scene3d>
              <a:sp3d prstMaterial="softEdge">
                <a:bevelT w="317500" h="317500"/>
              </a:sp3d>
            </c:spPr>
          </c:dPt>
          <c:dPt>
            <c:idx val="1"/>
            <c:explosion val="6"/>
            <c:spPr>
              <a:solidFill>
                <a:srgbClr val="FF0066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/>
                <a:lightRig rig="threePt" dir="t">
                  <a:rot lat="0" lon="0" rev="1200000"/>
                </a:lightRig>
              </a:scene3d>
              <a:sp3d prstMaterial="softEdge">
                <a:bevelT w="317500" h="317500"/>
              </a:sp3d>
            </c:spPr>
          </c:dPt>
          <c:dLbls>
            <c:dLbl>
              <c:idx val="0"/>
              <c:layout>
                <c:manualLayout>
                  <c:x val="0.17425495726077719"/>
                  <c:y val="8.4726619698853728E-2"/>
                </c:manualLayout>
              </c:layout>
              <c:dLblPos val="bestFit"/>
              <c:showVal val="1"/>
            </c:dLbl>
            <c:dLbl>
              <c:idx val="1"/>
              <c:layout>
                <c:manualLayout>
                  <c:x val="-0.25292664503893536"/>
                  <c:y val="-9.0085370907584048E-2"/>
                </c:manualLayout>
              </c:layout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600" b="1">
                      <a:solidFill>
                        <a:schemeClr val="bg1"/>
                      </a:solidFill>
                    </a:defRPr>
                  </a:pPr>
                  <a:endParaRPr lang="es-BO"/>
                </a:p>
              </c:txPr>
              <c:dLblPos val="bestFit"/>
              <c:showVal val="1"/>
            </c:dLbl>
            <c:spPr>
              <a:noFill/>
              <a:ln w="25400">
                <a:noFill/>
              </a:ln>
            </c:spPr>
            <c:txPr>
              <a:bodyPr/>
              <a:lstStyle/>
              <a:p>
                <a:pPr>
                  <a:defRPr sz="1600" b="1"/>
                </a:pPr>
                <a:endParaRPr lang="es-BO"/>
              </a:p>
            </c:txPr>
            <c:showVal val="1"/>
            <c:showLeaderLines val="1"/>
          </c:dLbls>
          <c:cat>
            <c:strRef>
              <c:f>'Cuadros y gráficos'!$B$290:$B$291</c:f>
              <c:strCache>
                <c:ptCount val="2"/>
                <c:pt idx="0">
                  <c:v>Si</c:v>
                </c:pt>
                <c:pt idx="1">
                  <c:v>No</c:v>
                </c:pt>
              </c:strCache>
            </c:strRef>
          </c:cat>
          <c:val>
            <c:numRef>
              <c:f>'Cuadros y gráficos'!$D$290:$D$291</c:f>
              <c:numCache>
                <c:formatCode>#,##0.0%</c:formatCode>
                <c:ptCount val="2"/>
                <c:pt idx="0">
                  <c:v>0.72720000000000062</c:v>
                </c:pt>
                <c:pt idx="1">
                  <c:v>0.2727</c:v>
                </c:pt>
              </c:numCache>
            </c:numRef>
          </c:val>
        </c:ser>
      </c:pie3DChart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0.75776571406835258"/>
          <c:y val="0.14386185937284171"/>
          <c:w val="0.14285736022127671"/>
          <c:h val="0.28070285951098217"/>
        </c:manualLayout>
      </c:layout>
      <c:txPr>
        <a:bodyPr/>
        <a:lstStyle/>
        <a:p>
          <a:pPr>
            <a:defRPr sz="2000" b="1" i="0"/>
          </a:pPr>
          <a:endParaRPr lang="es-BO"/>
        </a:p>
      </c:txPr>
    </c:legend>
    <c:plotVisOnly val="1"/>
    <c:dispBlanksAs val="zero"/>
  </c:chart>
  <c:spPr>
    <a:blipFill>
      <a:blip xmlns:r="http://schemas.openxmlformats.org/officeDocument/2006/relationships" r:embed="rId1"/>
      <a:stretch>
        <a:fillRect/>
      </a:stretch>
    </a:blipFill>
    <a:scene3d>
      <a:camera prst="orthographicFront"/>
      <a:lightRig rig="threePt" dir="t"/>
    </a:scene3d>
    <a:sp3d prstMaterial="matte">
      <a:bevelT w="254000" h="63500"/>
    </a:sp3d>
  </c:spPr>
  <c:txPr>
    <a:bodyPr/>
    <a:lstStyle/>
    <a:p>
      <a:pPr>
        <a:defRPr>
          <a:latin typeface="Arial Narrow" pitchFamily="34" charset="0"/>
        </a:defRPr>
      </a:pPr>
      <a:endParaRPr lang="es-BO"/>
    </a:p>
  </c:txPr>
  <c:externalData r:id="rId2"/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C4751A-EEC5-4A09-9CC6-9B91E7B6A1EF}" type="doc">
      <dgm:prSet loTypeId="urn:microsoft.com/office/officeart/2005/8/layout/radial4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9D841370-5F0B-41F6-95A4-19F6BCA6513C}">
      <dgm:prSet phldrT="[Texto]" custT="1"/>
      <dgm:spPr/>
      <dgm:t>
        <a:bodyPr/>
        <a:lstStyle/>
        <a:p>
          <a:r>
            <a:rPr lang="es-ES" sz="2000" dirty="0" smtClean="0">
              <a:solidFill>
                <a:schemeClr val="tx1"/>
              </a:solidFill>
            </a:rPr>
            <a:t>Tipo de investigación </a:t>
          </a:r>
          <a:endParaRPr lang="es-ES" sz="2000" dirty="0">
            <a:solidFill>
              <a:schemeClr val="tx1"/>
            </a:solidFill>
          </a:endParaRPr>
        </a:p>
      </dgm:t>
    </dgm:pt>
    <dgm:pt modelId="{8422CCF6-312E-4910-8F0C-DF8FAFCAFC9F}" type="parTrans" cxnId="{099E021C-FB4F-4166-9854-F4D01B05FFE3}">
      <dgm:prSet/>
      <dgm:spPr/>
      <dgm:t>
        <a:bodyPr/>
        <a:lstStyle/>
        <a:p>
          <a:endParaRPr lang="es-ES"/>
        </a:p>
      </dgm:t>
    </dgm:pt>
    <dgm:pt modelId="{FC1428B9-A321-4159-ADB0-4F5F38F0309B}" type="sibTrans" cxnId="{099E021C-FB4F-4166-9854-F4D01B05FFE3}">
      <dgm:prSet/>
      <dgm:spPr/>
      <dgm:t>
        <a:bodyPr/>
        <a:lstStyle/>
        <a:p>
          <a:endParaRPr lang="es-ES"/>
        </a:p>
      </dgm:t>
    </dgm:pt>
    <dgm:pt modelId="{DB084623-F9AB-4415-A3ED-5C337E7D2000}">
      <dgm:prSet phldrT="[Texto]" custT="1"/>
      <dgm:spPr/>
      <dgm:t>
        <a:bodyPr/>
        <a:lstStyle/>
        <a:p>
          <a:r>
            <a:rPr lang="es-ES" sz="2000" dirty="0" smtClean="0">
              <a:solidFill>
                <a:schemeClr val="tx1"/>
              </a:solidFill>
            </a:rPr>
            <a:t>Según el alcance </a:t>
          </a:r>
          <a:endParaRPr lang="es-ES" sz="2000" dirty="0">
            <a:solidFill>
              <a:schemeClr val="tx1"/>
            </a:solidFill>
          </a:endParaRPr>
        </a:p>
      </dgm:t>
    </dgm:pt>
    <dgm:pt modelId="{37E7FAF9-8C79-4DDD-A96B-19806CFEBCE8}" type="parTrans" cxnId="{FD099C07-C2AA-4DC3-989F-9E22B8165AAF}">
      <dgm:prSet/>
      <dgm:spPr/>
      <dgm:t>
        <a:bodyPr/>
        <a:lstStyle/>
        <a:p>
          <a:endParaRPr lang="es-ES" dirty="0"/>
        </a:p>
      </dgm:t>
    </dgm:pt>
    <dgm:pt modelId="{15D47FAA-9A11-4EFD-9C05-2FB62DC852A4}" type="sibTrans" cxnId="{FD099C07-C2AA-4DC3-989F-9E22B8165AAF}">
      <dgm:prSet/>
      <dgm:spPr/>
      <dgm:t>
        <a:bodyPr/>
        <a:lstStyle/>
        <a:p>
          <a:endParaRPr lang="es-ES"/>
        </a:p>
      </dgm:t>
    </dgm:pt>
    <dgm:pt modelId="{2A442455-FABB-405B-B9EC-34EA9BC593C0}">
      <dgm:prSet phldrT="[Texto]" custT="1"/>
      <dgm:spPr/>
      <dgm:t>
        <a:bodyPr/>
        <a:lstStyle/>
        <a:p>
          <a:r>
            <a:rPr lang="es-ES" sz="2000" dirty="0" smtClean="0">
              <a:solidFill>
                <a:schemeClr val="tx1"/>
              </a:solidFill>
            </a:rPr>
            <a:t>Según el tiempo </a:t>
          </a:r>
          <a:endParaRPr lang="es-ES" sz="2000" dirty="0">
            <a:solidFill>
              <a:schemeClr val="tx1"/>
            </a:solidFill>
          </a:endParaRPr>
        </a:p>
      </dgm:t>
    </dgm:pt>
    <dgm:pt modelId="{90CCDEE9-8EF5-402D-B45F-0ACCF987DB02}" type="parTrans" cxnId="{0E3EE5DD-FA56-4F22-BE39-1415FCA8203C}">
      <dgm:prSet/>
      <dgm:spPr/>
      <dgm:t>
        <a:bodyPr/>
        <a:lstStyle/>
        <a:p>
          <a:endParaRPr lang="es-ES" dirty="0"/>
        </a:p>
      </dgm:t>
    </dgm:pt>
    <dgm:pt modelId="{451BD54E-7811-4A56-8F2F-752A7C64C4E6}" type="sibTrans" cxnId="{0E3EE5DD-FA56-4F22-BE39-1415FCA8203C}">
      <dgm:prSet/>
      <dgm:spPr/>
      <dgm:t>
        <a:bodyPr/>
        <a:lstStyle/>
        <a:p>
          <a:endParaRPr lang="es-ES"/>
        </a:p>
      </dgm:t>
    </dgm:pt>
    <dgm:pt modelId="{3F4819F4-C208-4E1F-8251-3F81D77545D2}">
      <dgm:prSet phldrT="[Texto]" custT="1"/>
      <dgm:spPr/>
      <dgm:t>
        <a:bodyPr/>
        <a:lstStyle/>
        <a:p>
          <a:r>
            <a:rPr lang="es-ES" sz="2000" dirty="0" smtClean="0">
              <a:solidFill>
                <a:schemeClr val="tx1"/>
              </a:solidFill>
            </a:rPr>
            <a:t>Según el</a:t>
          </a:r>
          <a:r>
            <a:rPr lang="es-ES" sz="2000" dirty="0" smtClean="0"/>
            <a:t> </a:t>
          </a:r>
          <a:r>
            <a:rPr lang="es-ES" sz="2000" dirty="0" smtClean="0">
              <a:solidFill>
                <a:schemeClr val="tx1"/>
              </a:solidFill>
            </a:rPr>
            <a:t>análisis</a:t>
          </a:r>
          <a:r>
            <a:rPr lang="es-ES" sz="2000" dirty="0" smtClean="0"/>
            <a:t> </a:t>
          </a:r>
          <a:endParaRPr lang="es-ES" sz="2000" dirty="0"/>
        </a:p>
      </dgm:t>
    </dgm:pt>
    <dgm:pt modelId="{B89A6D40-D3BB-4DC9-A28C-402FF996A4AD}" type="parTrans" cxnId="{D0D095AC-80DB-4448-9009-3ECA6E7F9920}">
      <dgm:prSet/>
      <dgm:spPr/>
      <dgm:t>
        <a:bodyPr/>
        <a:lstStyle/>
        <a:p>
          <a:endParaRPr lang="es-ES" dirty="0"/>
        </a:p>
      </dgm:t>
    </dgm:pt>
    <dgm:pt modelId="{E8636057-EE29-4E2D-BEA6-2F7111FED341}" type="sibTrans" cxnId="{D0D095AC-80DB-4448-9009-3ECA6E7F9920}">
      <dgm:prSet/>
      <dgm:spPr/>
      <dgm:t>
        <a:bodyPr/>
        <a:lstStyle/>
        <a:p>
          <a:endParaRPr lang="es-ES"/>
        </a:p>
      </dgm:t>
    </dgm:pt>
    <dgm:pt modelId="{7E3C6817-9151-4F1A-A827-C443FC3ABFA7}">
      <dgm:prSet custT="1"/>
      <dgm:spPr/>
      <dgm:t>
        <a:bodyPr/>
        <a:lstStyle/>
        <a:p>
          <a:r>
            <a:rPr lang="es-ES" sz="2000" dirty="0" smtClean="0">
              <a:solidFill>
                <a:schemeClr val="tx1"/>
              </a:solidFill>
            </a:rPr>
            <a:t>Según el lugar </a:t>
          </a:r>
          <a:endParaRPr lang="es-ES" sz="2000" dirty="0">
            <a:solidFill>
              <a:schemeClr val="tx1"/>
            </a:solidFill>
          </a:endParaRPr>
        </a:p>
      </dgm:t>
    </dgm:pt>
    <dgm:pt modelId="{09F702CF-71D6-42EA-AC03-D8E5C0F53544}" type="parTrans" cxnId="{0AB6DD59-F66F-40B8-8C99-E0DBB0D83F44}">
      <dgm:prSet/>
      <dgm:spPr/>
      <dgm:t>
        <a:bodyPr/>
        <a:lstStyle/>
        <a:p>
          <a:endParaRPr lang="es-ES" dirty="0"/>
        </a:p>
      </dgm:t>
    </dgm:pt>
    <dgm:pt modelId="{32CBBDD2-D1C1-459A-B7DB-708B153C423C}" type="sibTrans" cxnId="{0AB6DD59-F66F-40B8-8C99-E0DBB0D83F44}">
      <dgm:prSet/>
      <dgm:spPr/>
      <dgm:t>
        <a:bodyPr/>
        <a:lstStyle/>
        <a:p>
          <a:endParaRPr lang="es-ES"/>
        </a:p>
      </dgm:t>
    </dgm:pt>
    <dgm:pt modelId="{26F8C117-B54A-4940-B48C-7ED172EA7A61}">
      <dgm:prSet custT="1"/>
      <dgm:spPr/>
      <dgm:t>
        <a:bodyPr/>
        <a:lstStyle/>
        <a:p>
          <a:r>
            <a:rPr lang="es-ES" sz="2000" dirty="0" smtClean="0">
              <a:solidFill>
                <a:schemeClr val="tx1"/>
              </a:solidFill>
            </a:rPr>
            <a:t>Según la orientación que asume</a:t>
          </a:r>
          <a:endParaRPr lang="es-ES" sz="2000" dirty="0">
            <a:solidFill>
              <a:schemeClr val="tx1"/>
            </a:solidFill>
          </a:endParaRPr>
        </a:p>
      </dgm:t>
    </dgm:pt>
    <dgm:pt modelId="{57FF51BA-D1FB-48A3-A626-C4C63765C381}" type="parTrans" cxnId="{1270D8C5-4D6A-4FC6-B34E-E547372DF51C}">
      <dgm:prSet/>
      <dgm:spPr/>
      <dgm:t>
        <a:bodyPr/>
        <a:lstStyle/>
        <a:p>
          <a:endParaRPr lang="es-ES" dirty="0"/>
        </a:p>
      </dgm:t>
    </dgm:pt>
    <dgm:pt modelId="{57A2F734-A614-40E5-8E21-F6C372086632}" type="sibTrans" cxnId="{1270D8C5-4D6A-4FC6-B34E-E547372DF51C}">
      <dgm:prSet/>
      <dgm:spPr/>
      <dgm:t>
        <a:bodyPr/>
        <a:lstStyle/>
        <a:p>
          <a:endParaRPr lang="es-ES"/>
        </a:p>
      </dgm:t>
    </dgm:pt>
    <dgm:pt modelId="{FD20EFEC-447B-4423-BF0B-A4E18D017756}" type="pres">
      <dgm:prSet presAssocID="{9CC4751A-EEC5-4A09-9CC6-9B91E7B6A1EF}" presName="cycle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s-BO"/>
        </a:p>
      </dgm:t>
    </dgm:pt>
    <dgm:pt modelId="{63494EDB-DDC0-47B9-9003-0874A216B5AE}" type="pres">
      <dgm:prSet presAssocID="{9D841370-5F0B-41F6-95A4-19F6BCA6513C}" presName="centerShape" presStyleLbl="node0" presStyleIdx="0" presStyleCnt="1" custAng="0" custScaleX="111980"/>
      <dgm:spPr/>
      <dgm:t>
        <a:bodyPr/>
        <a:lstStyle/>
        <a:p>
          <a:endParaRPr lang="es-ES"/>
        </a:p>
      </dgm:t>
    </dgm:pt>
    <dgm:pt modelId="{D1DF61AF-AF8F-432D-B35B-CF5646132CCB}" type="pres">
      <dgm:prSet presAssocID="{37E7FAF9-8C79-4DDD-A96B-19806CFEBCE8}" presName="parTrans" presStyleLbl="bgSibTrans2D1" presStyleIdx="0" presStyleCnt="5"/>
      <dgm:spPr/>
      <dgm:t>
        <a:bodyPr/>
        <a:lstStyle/>
        <a:p>
          <a:endParaRPr lang="es-BO"/>
        </a:p>
      </dgm:t>
    </dgm:pt>
    <dgm:pt modelId="{085622B4-8401-4C88-A0A1-D8879FF607D2}" type="pres">
      <dgm:prSet presAssocID="{DB084623-F9AB-4415-A3ED-5C337E7D2000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4366356F-BE6F-4E97-B3C1-7FCF44FC7296}" type="pres">
      <dgm:prSet presAssocID="{90CCDEE9-8EF5-402D-B45F-0ACCF987DB02}" presName="parTrans" presStyleLbl="bgSibTrans2D1" presStyleIdx="1" presStyleCnt="5"/>
      <dgm:spPr/>
      <dgm:t>
        <a:bodyPr/>
        <a:lstStyle/>
        <a:p>
          <a:endParaRPr lang="es-BO"/>
        </a:p>
      </dgm:t>
    </dgm:pt>
    <dgm:pt modelId="{E3A069B5-64EE-46F5-BD67-42D335692F37}" type="pres">
      <dgm:prSet presAssocID="{2A442455-FABB-405B-B9EC-34EA9BC593C0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C3E59147-F746-4E54-BC56-B6C4FC06C236}" type="pres">
      <dgm:prSet presAssocID="{B89A6D40-D3BB-4DC9-A28C-402FF996A4AD}" presName="parTrans" presStyleLbl="bgSibTrans2D1" presStyleIdx="2" presStyleCnt="5"/>
      <dgm:spPr/>
      <dgm:t>
        <a:bodyPr/>
        <a:lstStyle/>
        <a:p>
          <a:endParaRPr lang="es-BO"/>
        </a:p>
      </dgm:t>
    </dgm:pt>
    <dgm:pt modelId="{F9F79C0C-2BD4-4C96-933D-BFA3DB56006B}" type="pres">
      <dgm:prSet presAssocID="{3F4819F4-C208-4E1F-8251-3F81D77545D2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s-BO"/>
        </a:p>
      </dgm:t>
    </dgm:pt>
    <dgm:pt modelId="{12C2CF1D-80A4-4117-8051-941D0A11DDF3}" type="pres">
      <dgm:prSet presAssocID="{57FF51BA-D1FB-48A3-A626-C4C63765C381}" presName="parTrans" presStyleLbl="bgSibTrans2D1" presStyleIdx="3" presStyleCnt="5"/>
      <dgm:spPr/>
      <dgm:t>
        <a:bodyPr/>
        <a:lstStyle/>
        <a:p>
          <a:endParaRPr lang="es-BO"/>
        </a:p>
      </dgm:t>
    </dgm:pt>
    <dgm:pt modelId="{BF2F5817-B43C-4454-A824-ECCF9921F1DC}" type="pres">
      <dgm:prSet presAssocID="{26F8C117-B54A-4940-B48C-7ED172EA7A61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E7D3DD80-D0F1-4F2A-8527-AFA1FBD455B5}" type="pres">
      <dgm:prSet presAssocID="{09F702CF-71D6-42EA-AC03-D8E5C0F53544}" presName="parTrans" presStyleLbl="bgSibTrans2D1" presStyleIdx="4" presStyleCnt="5"/>
      <dgm:spPr/>
      <dgm:t>
        <a:bodyPr/>
        <a:lstStyle/>
        <a:p>
          <a:endParaRPr lang="es-BO"/>
        </a:p>
      </dgm:t>
    </dgm:pt>
    <dgm:pt modelId="{63BBC4EB-F418-4C9E-8F80-D729DB0FDF08}" type="pres">
      <dgm:prSet presAssocID="{7E3C6817-9151-4F1A-A827-C443FC3ABFA7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s-BO"/>
        </a:p>
      </dgm:t>
    </dgm:pt>
  </dgm:ptLst>
  <dgm:cxnLst>
    <dgm:cxn modelId="{D0D095AC-80DB-4448-9009-3ECA6E7F9920}" srcId="{9D841370-5F0B-41F6-95A4-19F6BCA6513C}" destId="{3F4819F4-C208-4E1F-8251-3F81D77545D2}" srcOrd="2" destOrd="0" parTransId="{B89A6D40-D3BB-4DC9-A28C-402FF996A4AD}" sibTransId="{E8636057-EE29-4E2D-BEA6-2F7111FED341}"/>
    <dgm:cxn modelId="{099E021C-FB4F-4166-9854-F4D01B05FFE3}" srcId="{9CC4751A-EEC5-4A09-9CC6-9B91E7B6A1EF}" destId="{9D841370-5F0B-41F6-95A4-19F6BCA6513C}" srcOrd="0" destOrd="0" parTransId="{8422CCF6-312E-4910-8F0C-DF8FAFCAFC9F}" sibTransId="{FC1428B9-A321-4159-ADB0-4F5F38F0309B}"/>
    <dgm:cxn modelId="{88F4A51A-6B37-4EFA-9CAE-9E7D4366B224}" type="presOf" srcId="{09F702CF-71D6-42EA-AC03-D8E5C0F53544}" destId="{E7D3DD80-D0F1-4F2A-8527-AFA1FBD455B5}" srcOrd="0" destOrd="0" presId="urn:microsoft.com/office/officeart/2005/8/layout/radial4"/>
    <dgm:cxn modelId="{1FC9F1CC-6BE8-4A40-9924-6C7B60B10E5B}" type="presOf" srcId="{26F8C117-B54A-4940-B48C-7ED172EA7A61}" destId="{BF2F5817-B43C-4454-A824-ECCF9921F1DC}" srcOrd="0" destOrd="0" presId="urn:microsoft.com/office/officeart/2005/8/layout/radial4"/>
    <dgm:cxn modelId="{46B4AE89-B745-45DD-995B-6FBBD042ECDF}" type="presOf" srcId="{3F4819F4-C208-4E1F-8251-3F81D77545D2}" destId="{F9F79C0C-2BD4-4C96-933D-BFA3DB56006B}" srcOrd="0" destOrd="0" presId="urn:microsoft.com/office/officeart/2005/8/layout/radial4"/>
    <dgm:cxn modelId="{7976F188-A9C6-41D9-AC05-46224958C7A0}" type="presOf" srcId="{DB084623-F9AB-4415-A3ED-5C337E7D2000}" destId="{085622B4-8401-4C88-A0A1-D8879FF607D2}" srcOrd="0" destOrd="0" presId="urn:microsoft.com/office/officeart/2005/8/layout/radial4"/>
    <dgm:cxn modelId="{3CB11272-131C-4FA9-B098-B9EE0CEF7282}" type="presOf" srcId="{37E7FAF9-8C79-4DDD-A96B-19806CFEBCE8}" destId="{D1DF61AF-AF8F-432D-B35B-CF5646132CCB}" srcOrd="0" destOrd="0" presId="urn:microsoft.com/office/officeart/2005/8/layout/radial4"/>
    <dgm:cxn modelId="{869931D2-E9CA-4CC7-A79A-14EE7B91D055}" type="presOf" srcId="{B89A6D40-D3BB-4DC9-A28C-402FF996A4AD}" destId="{C3E59147-F746-4E54-BC56-B6C4FC06C236}" srcOrd="0" destOrd="0" presId="urn:microsoft.com/office/officeart/2005/8/layout/radial4"/>
    <dgm:cxn modelId="{B85AA553-5863-4BE7-888A-97F7B580BDBD}" type="presOf" srcId="{2A442455-FABB-405B-B9EC-34EA9BC593C0}" destId="{E3A069B5-64EE-46F5-BD67-42D335692F37}" srcOrd="0" destOrd="0" presId="urn:microsoft.com/office/officeart/2005/8/layout/radial4"/>
    <dgm:cxn modelId="{CF4B5ACC-1844-407B-8C69-25AF8770DFDF}" type="presOf" srcId="{90CCDEE9-8EF5-402D-B45F-0ACCF987DB02}" destId="{4366356F-BE6F-4E97-B3C1-7FCF44FC7296}" srcOrd="0" destOrd="0" presId="urn:microsoft.com/office/officeart/2005/8/layout/radial4"/>
    <dgm:cxn modelId="{8910DF9B-E61B-4E45-BDD2-BDADFB3DF725}" type="presOf" srcId="{7E3C6817-9151-4F1A-A827-C443FC3ABFA7}" destId="{63BBC4EB-F418-4C9E-8F80-D729DB0FDF08}" srcOrd="0" destOrd="0" presId="urn:microsoft.com/office/officeart/2005/8/layout/radial4"/>
    <dgm:cxn modelId="{1270D8C5-4D6A-4FC6-B34E-E547372DF51C}" srcId="{9D841370-5F0B-41F6-95A4-19F6BCA6513C}" destId="{26F8C117-B54A-4940-B48C-7ED172EA7A61}" srcOrd="3" destOrd="0" parTransId="{57FF51BA-D1FB-48A3-A626-C4C63765C381}" sibTransId="{57A2F734-A614-40E5-8E21-F6C372086632}"/>
    <dgm:cxn modelId="{6BB114B8-3D1F-47A0-9E72-C51D0D4EBE51}" type="presOf" srcId="{9D841370-5F0B-41F6-95A4-19F6BCA6513C}" destId="{63494EDB-DDC0-47B9-9003-0874A216B5AE}" srcOrd="0" destOrd="0" presId="urn:microsoft.com/office/officeart/2005/8/layout/radial4"/>
    <dgm:cxn modelId="{B3A9FE4B-0BE9-40A3-8FCF-12C3156DCA53}" type="presOf" srcId="{57FF51BA-D1FB-48A3-A626-C4C63765C381}" destId="{12C2CF1D-80A4-4117-8051-941D0A11DDF3}" srcOrd="0" destOrd="0" presId="urn:microsoft.com/office/officeart/2005/8/layout/radial4"/>
    <dgm:cxn modelId="{0AB6DD59-F66F-40B8-8C99-E0DBB0D83F44}" srcId="{9D841370-5F0B-41F6-95A4-19F6BCA6513C}" destId="{7E3C6817-9151-4F1A-A827-C443FC3ABFA7}" srcOrd="4" destOrd="0" parTransId="{09F702CF-71D6-42EA-AC03-D8E5C0F53544}" sibTransId="{32CBBDD2-D1C1-459A-B7DB-708B153C423C}"/>
    <dgm:cxn modelId="{FD099C07-C2AA-4DC3-989F-9E22B8165AAF}" srcId="{9D841370-5F0B-41F6-95A4-19F6BCA6513C}" destId="{DB084623-F9AB-4415-A3ED-5C337E7D2000}" srcOrd="0" destOrd="0" parTransId="{37E7FAF9-8C79-4DDD-A96B-19806CFEBCE8}" sibTransId="{15D47FAA-9A11-4EFD-9C05-2FB62DC852A4}"/>
    <dgm:cxn modelId="{0E3EE5DD-FA56-4F22-BE39-1415FCA8203C}" srcId="{9D841370-5F0B-41F6-95A4-19F6BCA6513C}" destId="{2A442455-FABB-405B-B9EC-34EA9BC593C0}" srcOrd="1" destOrd="0" parTransId="{90CCDEE9-8EF5-402D-B45F-0ACCF987DB02}" sibTransId="{451BD54E-7811-4A56-8F2F-752A7C64C4E6}"/>
    <dgm:cxn modelId="{C017C6E7-53C1-4FE2-9935-566A65CA2139}" type="presOf" srcId="{9CC4751A-EEC5-4A09-9CC6-9B91E7B6A1EF}" destId="{FD20EFEC-447B-4423-BF0B-A4E18D017756}" srcOrd="0" destOrd="0" presId="urn:microsoft.com/office/officeart/2005/8/layout/radial4"/>
    <dgm:cxn modelId="{F088BBCB-3AE4-474C-9F94-136D695241F3}" type="presParOf" srcId="{FD20EFEC-447B-4423-BF0B-A4E18D017756}" destId="{63494EDB-DDC0-47B9-9003-0874A216B5AE}" srcOrd="0" destOrd="0" presId="urn:microsoft.com/office/officeart/2005/8/layout/radial4"/>
    <dgm:cxn modelId="{3F40F163-C262-41A4-BA70-1DA1C18375ED}" type="presParOf" srcId="{FD20EFEC-447B-4423-BF0B-A4E18D017756}" destId="{D1DF61AF-AF8F-432D-B35B-CF5646132CCB}" srcOrd="1" destOrd="0" presId="urn:microsoft.com/office/officeart/2005/8/layout/radial4"/>
    <dgm:cxn modelId="{A75A5066-45CC-479D-BEE7-9312C49224E1}" type="presParOf" srcId="{FD20EFEC-447B-4423-BF0B-A4E18D017756}" destId="{085622B4-8401-4C88-A0A1-D8879FF607D2}" srcOrd="2" destOrd="0" presId="urn:microsoft.com/office/officeart/2005/8/layout/radial4"/>
    <dgm:cxn modelId="{0A8BD169-8631-43C1-B97A-61D4FC8ECC48}" type="presParOf" srcId="{FD20EFEC-447B-4423-BF0B-A4E18D017756}" destId="{4366356F-BE6F-4E97-B3C1-7FCF44FC7296}" srcOrd="3" destOrd="0" presId="urn:microsoft.com/office/officeart/2005/8/layout/radial4"/>
    <dgm:cxn modelId="{2AD7A8E4-9B8B-4E76-A51A-C1C1697637FB}" type="presParOf" srcId="{FD20EFEC-447B-4423-BF0B-A4E18D017756}" destId="{E3A069B5-64EE-46F5-BD67-42D335692F37}" srcOrd="4" destOrd="0" presId="urn:microsoft.com/office/officeart/2005/8/layout/radial4"/>
    <dgm:cxn modelId="{3D4CC0B8-E9AF-4109-881E-28E01A7AFD98}" type="presParOf" srcId="{FD20EFEC-447B-4423-BF0B-A4E18D017756}" destId="{C3E59147-F746-4E54-BC56-B6C4FC06C236}" srcOrd="5" destOrd="0" presId="urn:microsoft.com/office/officeart/2005/8/layout/radial4"/>
    <dgm:cxn modelId="{D5DC0DB9-1C7E-40E7-B988-D8F990858A8A}" type="presParOf" srcId="{FD20EFEC-447B-4423-BF0B-A4E18D017756}" destId="{F9F79C0C-2BD4-4C96-933D-BFA3DB56006B}" srcOrd="6" destOrd="0" presId="urn:microsoft.com/office/officeart/2005/8/layout/radial4"/>
    <dgm:cxn modelId="{C3D290E5-D343-4925-B1CA-401143B4D0BE}" type="presParOf" srcId="{FD20EFEC-447B-4423-BF0B-A4E18D017756}" destId="{12C2CF1D-80A4-4117-8051-941D0A11DDF3}" srcOrd="7" destOrd="0" presId="urn:microsoft.com/office/officeart/2005/8/layout/radial4"/>
    <dgm:cxn modelId="{C38A1C09-95E6-42CD-9F96-5567E141619B}" type="presParOf" srcId="{FD20EFEC-447B-4423-BF0B-A4E18D017756}" destId="{BF2F5817-B43C-4454-A824-ECCF9921F1DC}" srcOrd="8" destOrd="0" presId="urn:microsoft.com/office/officeart/2005/8/layout/radial4"/>
    <dgm:cxn modelId="{B42BFDF5-7773-44C8-B786-B43EE39D207C}" type="presParOf" srcId="{FD20EFEC-447B-4423-BF0B-A4E18D017756}" destId="{E7D3DD80-D0F1-4F2A-8527-AFA1FBD455B5}" srcOrd="9" destOrd="0" presId="urn:microsoft.com/office/officeart/2005/8/layout/radial4"/>
    <dgm:cxn modelId="{0FA3E1BD-5793-4177-9CDD-CBD43DF44FF2}" type="presParOf" srcId="{FD20EFEC-447B-4423-BF0B-A4E18D017756}" destId="{63BBC4EB-F418-4C9E-8F80-D729DB0FDF08}" srcOrd="10" destOrd="0" presId="urn:microsoft.com/office/officeart/2005/8/layout/radial4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B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3D44F0-2CFB-4DD3-B136-4481B62023D4}" type="datetimeFigureOut">
              <a:rPr lang="es-BO" smtClean="0"/>
              <a:pPr/>
              <a:t>16/06/2010</a:t>
            </a:fld>
            <a:endParaRPr lang="es-B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B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207116-5781-487F-A101-0AD353A39577}" type="slidenum">
              <a:rPr lang="es-BO" smtClean="0"/>
              <a:pPr/>
              <a:t>‹Nº›</a:t>
            </a:fld>
            <a:endParaRPr lang="es-B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B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207116-5781-487F-A101-0AD353A39577}" type="slidenum">
              <a:rPr lang="es-BO" smtClean="0"/>
              <a:pPr/>
              <a:t>9</a:t>
            </a:fld>
            <a:endParaRPr lang="es-BO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B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207116-5781-487F-A101-0AD353A39577}" type="slidenum">
              <a:rPr lang="es-BO" smtClean="0"/>
              <a:pPr/>
              <a:t>43</a:t>
            </a:fld>
            <a:endParaRPr lang="es-BO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Conector recto"/>
          <p:cNvSpPr>
            <a:spLocks noChangeShapeType="1"/>
          </p:cNvSpPr>
          <p:nvPr/>
        </p:nvSpPr>
        <p:spPr bwMode="auto">
          <a:xfrm>
            <a:off x="514350" y="5349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28 Título"/>
          <p:cNvSpPr>
            <a:spLocks noGrp="1"/>
          </p:cNvSpPr>
          <p:nvPr>
            <p:ph type="ctrTitle"/>
          </p:nvPr>
        </p:nvSpPr>
        <p:spPr>
          <a:xfrm>
            <a:off x="381000" y="4853411"/>
            <a:ext cx="8458200" cy="1222375"/>
          </a:xfrm>
        </p:spPr>
        <p:txBody>
          <a:bodyPr anchor="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4582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16" name="15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B2804-0588-43E6-9963-A6C815B2F890}" type="datetimeFigureOut">
              <a:rPr lang="es-BO" smtClean="0"/>
              <a:pPr/>
              <a:t>16/06/2010</a:t>
            </a:fld>
            <a:endParaRPr lang="es-BO"/>
          </a:p>
        </p:txBody>
      </p:sp>
      <p:sp>
        <p:nvSpPr>
          <p:cNvPr id="2" name="1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15" name="14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B2B9572C-EEEE-4A7F-BAAF-556E86DA17D1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  <p:transition>
    <p:dissolv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2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27" name="26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25" name="2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B2804-0588-43E6-9963-A6C815B2F890}" type="datetimeFigureOut">
              <a:rPr lang="es-BO" smtClean="0"/>
              <a:pPr/>
              <a:t>16/06/2010</a:t>
            </a:fld>
            <a:endParaRPr lang="es-BO"/>
          </a:p>
        </p:txBody>
      </p:sp>
      <p:sp>
        <p:nvSpPr>
          <p:cNvPr id="19" name="18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581400" y="76200"/>
            <a:ext cx="2895600" cy="288925"/>
          </a:xfrm>
        </p:spPr>
        <p:txBody>
          <a:bodyPr/>
          <a:lstStyle/>
          <a:p>
            <a:endParaRPr lang="es-BO"/>
          </a:p>
        </p:txBody>
      </p:sp>
      <p:sp>
        <p:nvSpPr>
          <p:cNvPr id="16" name="1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B2B9572C-EEEE-4A7F-BAAF-556E86DA17D1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  <p:transition>
    <p:dissolv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Conector recto"/>
          <p:cNvSpPr>
            <a:spLocks noChangeShapeType="1"/>
          </p:cNvSpPr>
          <p:nvPr/>
        </p:nvSpPr>
        <p:spPr bwMode="auto">
          <a:xfrm>
            <a:off x="514350" y="3444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5 Marcador de texto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84582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19" name="18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B2804-0588-43E6-9963-A6C815B2F890}" type="datetimeFigureOut">
              <a:rPr lang="es-BO" smtClean="0"/>
              <a:pPr/>
              <a:t>16/06/2010</a:t>
            </a:fld>
            <a:endParaRPr lang="es-BO"/>
          </a:p>
        </p:txBody>
      </p:sp>
      <p:sp>
        <p:nvSpPr>
          <p:cNvPr id="11" name="10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16" name="1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9572C-EEEE-4A7F-BAAF-556E86DA17D1}" type="slidenum">
              <a:rPr lang="es-BO" smtClean="0"/>
              <a:pPr/>
              <a:t>‹Nº›</a:t>
            </a:fld>
            <a:endParaRPr lang="es-BO"/>
          </a:p>
        </p:txBody>
      </p:sp>
      <p:sp>
        <p:nvSpPr>
          <p:cNvPr id="8" name="7 Título"/>
          <p:cNvSpPr>
            <a:spLocks noGrp="1"/>
          </p:cNvSpPr>
          <p:nvPr>
            <p:ph type="title"/>
          </p:nvPr>
        </p:nvSpPr>
        <p:spPr>
          <a:xfrm>
            <a:off x="180475" y="2947085"/>
            <a:ext cx="86868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dissolv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19 Título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4" name="13 Marcador de contenido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4191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3" name="12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21" name="20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B2804-0588-43E6-9963-A6C815B2F890}" type="datetimeFigureOut">
              <a:rPr lang="es-BO" smtClean="0"/>
              <a:pPr/>
              <a:t>16/06/2010</a:t>
            </a:fld>
            <a:endParaRPr lang="es-BO"/>
          </a:p>
        </p:txBody>
      </p:sp>
      <p:sp>
        <p:nvSpPr>
          <p:cNvPr id="10" name="9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1" name="30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9572C-EEEE-4A7F-BAAF-556E86DA17D1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  <p:transition>
    <p:dissolv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28 Título"/>
          <p:cNvSpPr>
            <a:spLocks noGrp="1"/>
          </p:cNvSpPr>
          <p:nvPr>
            <p:ph type="title"/>
          </p:nvPr>
        </p:nvSpPr>
        <p:spPr>
          <a:xfrm>
            <a:off x="304800" y="5410200"/>
            <a:ext cx="8610600" cy="8826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281444" y="666750"/>
            <a:ext cx="4290556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25" name="24 Marcador de texto"/>
          <p:cNvSpPr>
            <a:spLocks noGrp="1"/>
          </p:cNvSpPr>
          <p:nvPr>
            <p:ph type="body" sz="half" idx="3"/>
          </p:nvPr>
        </p:nvSpPr>
        <p:spPr>
          <a:xfrm>
            <a:off x="4645025" y="666750"/>
            <a:ext cx="4292241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quarter" idx="2"/>
          </p:nvPr>
        </p:nvSpPr>
        <p:spPr>
          <a:xfrm>
            <a:off x="281444" y="1316037"/>
            <a:ext cx="429055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28" name="27 Marcador de contenido"/>
          <p:cNvSpPr>
            <a:spLocks noGrp="1"/>
          </p:cNvSpPr>
          <p:nvPr>
            <p:ph sz="quarter" idx="4"/>
          </p:nvPr>
        </p:nvSpPr>
        <p:spPr>
          <a:xfrm>
            <a:off x="4648730" y="1316037"/>
            <a:ext cx="428853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0" name="9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B2804-0588-43E6-9963-A6C815B2F890}" type="datetimeFigureOut">
              <a:rPr lang="es-BO" smtClean="0"/>
              <a:pPr/>
              <a:t>16/06/2010</a:t>
            </a:fld>
            <a:endParaRPr lang="es-B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229600" y="6477000"/>
            <a:ext cx="762000" cy="246888"/>
          </a:xfrm>
        </p:spPr>
        <p:txBody>
          <a:bodyPr/>
          <a:lstStyle/>
          <a:p>
            <a:fld id="{B2B9572C-EEEE-4A7F-BAAF-556E86DA17D1}" type="slidenum">
              <a:rPr lang="es-BO" smtClean="0"/>
              <a:pPr/>
              <a:t>‹Nº›</a:t>
            </a:fld>
            <a:endParaRPr lang="es-BO"/>
          </a:p>
        </p:txBody>
      </p:sp>
      <p:sp>
        <p:nvSpPr>
          <p:cNvPr id="11" name="10 Conector recto"/>
          <p:cNvSpPr>
            <a:spLocks noChangeShapeType="1"/>
          </p:cNvSpPr>
          <p:nvPr/>
        </p:nvSpPr>
        <p:spPr bwMode="auto">
          <a:xfrm>
            <a:off x="514350" y="6019800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  <p:transition>
    <p:dissolv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29 Título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2" name="1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B2804-0588-43E6-9963-A6C815B2F890}" type="datetimeFigureOut">
              <a:rPr lang="es-BO" smtClean="0"/>
              <a:pPr/>
              <a:t>16/06/2010</a:t>
            </a:fld>
            <a:endParaRPr lang="es-BO"/>
          </a:p>
        </p:txBody>
      </p:sp>
      <p:sp>
        <p:nvSpPr>
          <p:cNvPr id="21" name="20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9572C-EEEE-4A7F-BAAF-556E86DA17D1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  <p:transition>
    <p:dissolv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B2804-0588-43E6-9963-A6C815B2F890}" type="datetimeFigureOut">
              <a:rPr lang="es-BO" smtClean="0"/>
              <a:pPr/>
              <a:t>16/06/2010</a:t>
            </a:fld>
            <a:endParaRPr lang="es-BO"/>
          </a:p>
        </p:txBody>
      </p:sp>
      <p:sp>
        <p:nvSpPr>
          <p:cNvPr id="24" name="2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9572C-EEEE-4A7F-BAAF-556E86DA17D1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  <p:transition>
    <p:dissolv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onector recto"/>
          <p:cNvSpPr>
            <a:spLocks noChangeShapeType="1"/>
          </p:cNvSpPr>
          <p:nvPr/>
        </p:nvSpPr>
        <p:spPr bwMode="auto">
          <a:xfrm>
            <a:off x="514350" y="5849117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11 Título"/>
          <p:cNvSpPr>
            <a:spLocks noGrp="1"/>
          </p:cNvSpPr>
          <p:nvPr>
            <p:ph type="title"/>
          </p:nvPr>
        </p:nvSpPr>
        <p:spPr>
          <a:xfrm>
            <a:off x="457200" y="5486400"/>
            <a:ext cx="8458200" cy="520700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26" name="25 Marcador de texto"/>
          <p:cNvSpPr>
            <a:spLocks noGrp="1"/>
          </p:cNvSpPr>
          <p:nvPr>
            <p:ph type="body" idx="2"/>
          </p:nvPr>
        </p:nvSpPr>
        <p:spPr>
          <a:xfrm>
            <a:off x="457200" y="609600"/>
            <a:ext cx="3008313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14" name="13 Marcador de contenido"/>
          <p:cNvSpPr>
            <a:spLocks noGrp="1"/>
          </p:cNvSpPr>
          <p:nvPr>
            <p:ph sz="half" idx="1"/>
          </p:nvPr>
        </p:nvSpPr>
        <p:spPr>
          <a:xfrm>
            <a:off x="3575050" y="609600"/>
            <a:ext cx="5340350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25" name="2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B2804-0588-43E6-9963-A6C815B2F890}" type="datetimeFigureOut">
              <a:rPr lang="es-BO" smtClean="0"/>
              <a:pPr/>
              <a:t>16/06/2010</a:t>
            </a:fld>
            <a:endParaRPr lang="es-BO"/>
          </a:p>
        </p:txBody>
      </p:sp>
      <p:sp>
        <p:nvSpPr>
          <p:cNvPr id="29" name="28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9572C-EEEE-4A7F-BAAF-556E86DA17D1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  <p:transition>
    <p:dissolv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12 Marcador de posición de imagen"/>
          <p:cNvSpPr>
            <a:spLocks noGrp="1"/>
          </p:cNvSpPr>
          <p:nvPr>
            <p:ph type="pic" idx="1"/>
          </p:nvPr>
        </p:nvSpPr>
        <p:spPr>
          <a:xfrm>
            <a:off x="3505200" y="616634"/>
            <a:ext cx="50292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B2804-0588-43E6-9963-A6C815B2F890}" type="datetimeFigureOut">
              <a:rPr lang="es-BO" smtClean="0"/>
              <a:pPr/>
              <a:t>16/06/2010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1" name="30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9572C-EEEE-4A7F-BAAF-556E86DA17D1}" type="slidenum">
              <a:rPr lang="es-BO" smtClean="0"/>
              <a:pPr/>
              <a:t>‹Nº›</a:t>
            </a:fld>
            <a:endParaRPr lang="es-BO"/>
          </a:p>
        </p:txBody>
      </p:sp>
      <p:sp>
        <p:nvSpPr>
          <p:cNvPr id="17" name="16 Título"/>
          <p:cNvSpPr>
            <a:spLocks noGrp="1"/>
          </p:cNvSpPr>
          <p:nvPr>
            <p:ph type="title"/>
          </p:nvPr>
        </p:nvSpPr>
        <p:spPr>
          <a:xfrm>
            <a:off x="381000" y="4993760"/>
            <a:ext cx="5867400" cy="522288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26" name="25 Marcador de texto"/>
          <p:cNvSpPr>
            <a:spLocks noGrp="1"/>
          </p:cNvSpPr>
          <p:nvPr>
            <p:ph type="body" sz="half" idx="2"/>
          </p:nvPr>
        </p:nvSpPr>
        <p:spPr>
          <a:xfrm>
            <a:off x="381000" y="5533218"/>
            <a:ext cx="5867400" cy="76835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</p:spTree>
  </p:cSld>
  <p:clrMapOvr>
    <a:masterClrMapping/>
  </p:clrMapOvr>
  <p:transition>
    <p:dissolv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B2804-0588-43E6-9963-A6C815B2F890}" type="datetimeFigureOut">
              <a:rPr lang="es-BO" smtClean="0"/>
              <a:pPr/>
              <a:t>16/06/2010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9572C-EEEE-4A7F-BAAF-556E86DA17D1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  <p:transition>
    <p:dissolv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858000" y="549276"/>
            <a:ext cx="1828800" cy="5851525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549276"/>
            <a:ext cx="6248400" cy="5851525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B2804-0588-43E6-9963-A6C815B2F890}" type="datetimeFigureOut">
              <a:rPr lang="es-BO" smtClean="0"/>
              <a:pPr/>
              <a:t>16/06/2010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9572C-EEEE-4A7F-BAAF-556E86DA17D1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  <p:transition>
    <p:dissolv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Conector recto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7 Marcador de texto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8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1" name="10 Marcador de fecha"/>
          <p:cNvSpPr>
            <a:spLocks noGrp="1"/>
          </p:cNvSpPr>
          <p:nvPr>
            <p:ph type="dt" sz="half" idx="2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367B2804-0588-43E6-9963-A6C815B2F890}" type="datetimeFigureOut">
              <a:rPr lang="es-BO" smtClean="0"/>
              <a:pPr/>
              <a:t>16/06/2010</a:t>
            </a:fld>
            <a:endParaRPr lang="es-BO"/>
          </a:p>
        </p:txBody>
      </p:sp>
      <p:sp>
        <p:nvSpPr>
          <p:cNvPr id="28" name="27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76200"/>
            <a:ext cx="3352800" cy="2889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endParaRPr lang="es-B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B2B9572C-EEEE-4A7F-BAAF-556E86DA17D1}" type="slidenum">
              <a:rPr lang="es-BO" smtClean="0"/>
              <a:pPr/>
              <a:t>‹Nº›</a:t>
            </a:fld>
            <a:endParaRPr lang="es-BO"/>
          </a:p>
        </p:txBody>
      </p:sp>
      <p:sp>
        <p:nvSpPr>
          <p:cNvPr id="10" name="9 Marcador de título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11 Conector recto"/>
          <p:cNvSpPr>
            <a:spLocks noChangeShapeType="1"/>
          </p:cNvSpPr>
          <p:nvPr/>
        </p:nvSpPr>
        <p:spPr bwMode="auto">
          <a:xfrm>
            <a:off x="514350" y="1057986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dissolve/>
  </p:transition>
  <p:txStyles>
    <p:titleStyle>
      <a:lvl1pPr algn="l" rtl="0" eaLnBrk="1" latinLnBrk="0" hangingPunct="1">
        <a:spcBef>
          <a:spcPct val="0"/>
        </a:spcBef>
        <a:buNone/>
        <a:defRPr kumimoji="0" sz="36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monografias.com/trabajos16/objetivos-educacion/objetivos-educacion.shtm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monografias.com/trabajos16/objetivos-educacion/objetivos-educacion.shtml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onografias.com/trabajos14/disciplina/disciplina.shtml" TargetMode="External"/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monografias.com/trabajos14/administ-procesos/administ-procesos.shtml" TargetMode="External"/><Relationship Id="rId5" Type="http://schemas.openxmlformats.org/officeDocument/2006/relationships/hyperlink" Target="http://www.monografias.com/trabajos13/indicrea/indicrea.shtml" TargetMode="External"/><Relationship Id="rId4" Type="http://schemas.openxmlformats.org/officeDocument/2006/relationships/hyperlink" Target="http://www.monografias.com/trabajos11/concient/concient.shtml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857233"/>
            <a:ext cx="7772400" cy="2000264"/>
          </a:xfrm>
        </p:spPr>
        <p:txBody>
          <a:bodyPr>
            <a:normAutofit/>
          </a:bodyPr>
          <a:lstStyle/>
          <a:p>
            <a:pPr algn="ctr"/>
            <a:r>
              <a:rPr lang="es-BO" sz="2200" b="1" dirty="0"/>
              <a:t>MINISTERIO DE SALUD Y DEPORTES</a:t>
            </a:r>
            <a:r>
              <a:rPr lang="es-BO" sz="2200" dirty="0"/>
              <a:t/>
            </a:r>
            <a:br>
              <a:rPr lang="es-BO" sz="2200" dirty="0"/>
            </a:br>
            <a:r>
              <a:rPr lang="es-BO" sz="2200" b="1" dirty="0"/>
              <a:t>PREFECTURA DEL DEPARTAMENTO</a:t>
            </a:r>
            <a:r>
              <a:rPr lang="es-BO" sz="2200" dirty="0"/>
              <a:t/>
            </a:r>
            <a:br>
              <a:rPr lang="es-BO" sz="2200" dirty="0"/>
            </a:br>
            <a:r>
              <a:rPr lang="es-BO" sz="2200" b="1" dirty="0"/>
              <a:t>SERVICIO DEPARTAMENTAL DE SALUD</a:t>
            </a:r>
            <a:r>
              <a:rPr lang="es-BO" sz="2200" dirty="0"/>
              <a:t/>
            </a:r>
            <a:br>
              <a:rPr lang="es-BO" sz="2200" dirty="0"/>
            </a:br>
            <a:r>
              <a:rPr lang="es-BO" sz="2200" b="1" dirty="0"/>
              <a:t>COCHABAMBA</a:t>
            </a:r>
            <a:r>
              <a:rPr lang="es-BO" dirty="0"/>
              <a:t/>
            </a:r>
            <a:br>
              <a:rPr lang="es-BO" dirty="0"/>
            </a:br>
            <a:endParaRPr lang="es-BO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143248"/>
            <a:ext cx="6629424" cy="3000396"/>
          </a:xfrm>
        </p:spPr>
        <p:txBody>
          <a:bodyPr/>
          <a:lstStyle/>
          <a:p>
            <a:pPr algn="ctr"/>
            <a:r>
              <a:rPr lang="es-BO" sz="2000" b="1" dirty="0">
                <a:solidFill>
                  <a:schemeClr val="tx1"/>
                </a:solidFill>
              </a:rPr>
              <a:t>Demora en la atención del paciente que acude a consulta en </a:t>
            </a:r>
            <a:r>
              <a:rPr lang="es-BO" sz="2000" b="1">
                <a:solidFill>
                  <a:schemeClr val="tx1"/>
                </a:solidFill>
              </a:rPr>
              <a:t>el </a:t>
            </a:r>
            <a:r>
              <a:rPr lang="es-BO" sz="2000" b="1" smtClean="0">
                <a:solidFill>
                  <a:schemeClr val="tx1"/>
                </a:solidFill>
              </a:rPr>
              <a:t>Centro </a:t>
            </a:r>
            <a:r>
              <a:rPr lang="es-BO" sz="2000" b="1">
                <a:solidFill>
                  <a:schemeClr val="tx1"/>
                </a:solidFill>
              </a:rPr>
              <a:t>de </a:t>
            </a:r>
            <a:r>
              <a:rPr lang="es-BO" sz="2000" b="1" smtClean="0">
                <a:solidFill>
                  <a:schemeClr val="tx1"/>
                </a:solidFill>
              </a:rPr>
              <a:t>Salud </a:t>
            </a:r>
            <a:r>
              <a:rPr lang="es-BO" sz="2000" b="1" dirty="0">
                <a:solidFill>
                  <a:schemeClr val="tx1"/>
                </a:solidFill>
              </a:rPr>
              <a:t>de Jaihuayco, gestión 2010</a:t>
            </a:r>
            <a:endParaRPr lang="es-BO" sz="2000" dirty="0">
              <a:solidFill>
                <a:schemeClr val="tx1"/>
              </a:solidFill>
            </a:endParaRPr>
          </a:p>
          <a:p>
            <a:endParaRPr lang="es-BO" sz="1200" dirty="0" smtClean="0">
              <a:solidFill>
                <a:schemeClr val="tx1"/>
              </a:solidFill>
            </a:endParaRPr>
          </a:p>
          <a:p>
            <a:endParaRPr lang="es-BO" sz="1200" dirty="0">
              <a:solidFill>
                <a:schemeClr val="tx1"/>
              </a:solidFill>
            </a:endParaRPr>
          </a:p>
          <a:p>
            <a:pPr algn="ctr"/>
            <a:r>
              <a:rPr lang="es-BO" sz="1200" b="1" dirty="0" smtClean="0">
                <a:solidFill>
                  <a:schemeClr val="tx1"/>
                </a:solidFill>
              </a:rPr>
              <a:t>               </a:t>
            </a:r>
            <a:r>
              <a:rPr lang="es-BO" sz="1400" b="1" dirty="0" smtClean="0">
                <a:solidFill>
                  <a:schemeClr val="tx1"/>
                </a:solidFill>
              </a:rPr>
              <a:t>Elaborado por:</a:t>
            </a:r>
          </a:p>
          <a:p>
            <a:pPr algn="r"/>
            <a:r>
              <a:rPr lang="es-BO" sz="1400" b="1" dirty="0" smtClean="0">
                <a:solidFill>
                  <a:schemeClr val="tx1"/>
                </a:solidFill>
              </a:rPr>
              <a:t>Lic. </a:t>
            </a:r>
            <a:r>
              <a:rPr lang="es-BO" sz="1400" b="1" dirty="0" err="1" smtClean="0">
                <a:solidFill>
                  <a:schemeClr val="tx1"/>
                </a:solidFill>
              </a:rPr>
              <a:t>Lilian</a:t>
            </a:r>
            <a:r>
              <a:rPr lang="es-BO" sz="1400" b="1" dirty="0" smtClean="0">
                <a:solidFill>
                  <a:schemeClr val="tx1"/>
                </a:solidFill>
              </a:rPr>
              <a:t>  Zapata Claros</a:t>
            </a:r>
          </a:p>
          <a:p>
            <a:pPr algn="r"/>
            <a:endParaRPr lang="es-BO" sz="1400" b="1" dirty="0" smtClean="0">
              <a:solidFill>
                <a:schemeClr val="tx1"/>
              </a:solidFill>
            </a:endParaRPr>
          </a:p>
          <a:p>
            <a:pPr algn="ctr"/>
            <a:r>
              <a:rPr lang="es-BO" sz="1400" b="1" dirty="0" smtClean="0">
                <a:solidFill>
                  <a:schemeClr val="tx1"/>
                </a:solidFill>
              </a:rPr>
              <a:t>Cochabamba- - Bolivia  </a:t>
            </a:r>
            <a:endParaRPr lang="es-BO" sz="1400" b="1" dirty="0">
              <a:solidFill>
                <a:schemeClr val="tx1"/>
              </a:solidFill>
            </a:endParaRPr>
          </a:p>
        </p:txBody>
      </p:sp>
      <p:pic>
        <p:nvPicPr>
          <p:cNvPr id="4" name="3 Imagen" descr="Escudo Nacional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28662" y="1000108"/>
            <a:ext cx="1298476" cy="11044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 descr="G:\cbba.g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00892" y="714356"/>
            <a:ext cx="1214446" cy="1529302"/>
          </a:xfrm>
          <a:prstGeom prst="rect">
            <a:avLst/>
          </a:prstGeom>
          <a:noFill/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381000" y="3429001"/>
            <a:ext cx="8458200" cy="1214445"/>
          </a:xfrm>
        </p:spPr>
        <p:txBody>
          <a:bodyPr/>
          <a:lstStyle/>
          <a:p>
            <a:r>
              <a:rPr lang="es-BO" dirty="0" smtClean="0"/>
              <a:t>PERFÍL DE LA INVESTIGACIÓN</a:t>
            </a:r>
            <a:endParaRPr lang="es-BO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381000" y="2071678"/>
            <a:ext cx="8458200" cy="1143008"/>
          </a:xfrm>
        </p:spPr>
        <p:txBody>
          <a:bodyPr/>
          <a:lstStyle/>
          <a:p>
            <a:r>
              <a:rPr lang="es-BO" dirty="0" smtClean="0"/>
              <a:t>CAPÍTULO I</a:t>
            </a:r>
            <a:endParaRPr lang="es-BO" dirty="0"/>
          </a:p>
        </p:txBody>
      </p:sp>
      <p:pic>
        <p:nvPicPr>
          <p:cNvPr id="4" name="Picture 5" descr="G:\cbba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00892" y="714356"/>
            <a:ext cx="1214446" cy="1529302"/>
          </a:xfrm>
          <a:prstGeom prst="rect">
            <a:avLst/>
          </a:prstGeom>
          <a:noFill/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PLANTEAMIENTO DEL PROBLEMA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BO" dirty="0" smtClean="0"/>
              <a:t>La elaboración de este trabajo radica en la importancia que se debe tener con la satisfacción del paciente que acude a consulta.</a:t>
            </a:r>
          </a:p>
          <a:p>
            <a:r>
              <a:rPr lang="es-BO" dirty="0" smtClean="0"/>
              <a:t>Asi también conocer cuales son las causas por las cuales el paciente invierte más de su tiempo cuando acude al centro de salud.</a:t>
            </a:r>
          </a:p>
          <a:p>
            <a:pPr>
              <a:buNone/>
            </a:pPr>
            <a:endParaRPr lang="es-BO" dirty="0" smtClean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b="1" dirty="0" smtClean="0"/>
              <a:t>Justificación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dirty="0" smtClean="0"/>
              <a:t>Se buscará conocer cuáles son las causas por las que el paciente demora su consulta.</a:t>
            </a:r>
          </a:p>
          <a:p>
            <a:r>
              <a:rPr lang="es-BO" dirty="0" smtClean="0"/>
              <a:t>Se propondrá soluciones en base a estrategias con las cuales tanto el personal de salud como el usuario tengan una mejor atención</a:t>
            </a:r>
            <a:endParaRPr lang="es-BO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b="1" u="sng" dirty="0" smtClean="0">
                <a:hlinkClick r:id="rId2"/>
              </a:rPr>
              <a:t>Objetivo</a:t>
            </a:r>
            <a:r>
              <a:rPr lang="es-BO" b="1" dirty="0" smtClean="0"/>
              <a:t>s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b="1" dirty="0" smtClean="0"/>
              <a:t>Objetivo General:</a:t>
            </a:r>
            <a:endParaRPr lang="es-BO" dirty="0" smtClean="0"/>
          </a:p>
          <a:p>
            <a:r>
              <a:rPr lang="es-BO" dirty="0" smtClean="0"/>
              <a:t>Conocer cuáles son las causas por las cuales existe  demora en la atención del paciente que acude a consulta para mejorar la atención del centro de salud de Jaihuayco, gestión 2010.</a:t>
            </a:r>
          </a:p>
          <a:p>
            <a:endParaRPr lang="es-BO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b="1" u="sng" dirty="0" smtClean="0">
                <a:hlinkClick r:id="rId2"/>
              </a:rPr>
              <a:t>Objetivo</a:t>
            </a:r>
            <a:r>
              <a:rPr lang="es-BO" b="1" dirty="0" smtClean="0"/>
              <a:t>s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BO" b="1" dirty="0" smtClean="0">
                <a:hlinkClick r:id="rId2"/>
              </a:rPr>
              <a:t>Objetivos</a:t>
            </a:r>
            <a:r>
              <a:rPr lang="es-BO" b="1" dirty="0" smtClean="0"/>
              <a:t> Específicos:</a:t>
            </a:r>
            <a:endParaRPr lang="es-BO" dirty="0" smtClean="0"/>
          </a:p>
          <a:p>
            <a:pPr lvl="0"/>
            <a:r>
              <a:rPr lang="es-BO" dirty="0" smtClean="0"/>
              <a:t>Conocer las causas más importantes por las cuales la atención al paciente se demora cuando acude a consulta.</a:t>
            </a:r>
          </a:p>
          <a:p>
            <a:pPr lvl="0"/>
            <a:r>
              <a:rPr lang="es-BO" dirty="0" smtClean="0"/>
              <a:t>Conocer la satisfacción del paciente cuando acude a consulta.</a:t>
            </a:r>
          </a:p>
          <a:p>
            <a:pPr lvl="0"/>
            <a:r>
              <a:rPr lang="es-BO" dirty="0" smtClean="0"/>
              <a:t>Determinar el recurso humano y la logística que existe en el centro de salud.</a:t>
            </a:r>
          </a:p>
          <a:p>
            <a:pPr lvl="0"/>
            <a:r>
              <a:rPr lang="es-BO" dirty="0" smtClean="0"/>
              <a:t>Conocer la satisfacción del personal de salud.</a:t>
            </a:r>
          </a:p>
          <a:p>
            <a:pPr lvl="0"/>
            <a:r>
              <a:rPr lang="es-BO" dirty="0" smtClean="0"/>
              <a:t>Conocer cuales son las consecuencias que trae la demora de la atención del paciente.</a:t>
            </a:r>
          </a:p>
          <a:p>
            <a:endParaRPr lang="es-BO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381000" y="3500439"/>
            <a:ext cx="8458200" cy="1643073"/>
          </a:xfrm>
        </p:spPr>
        <p:txBody>
          <a:bodyPr/>
          <a:lstStyle/>
          <a:p>
            <a:r>
              <a:rPr lang="es-BO" b="1" dirty="0" smtClean="0"/>
              <a:t>MARCO TEÓRICO</a:t>
            </a:r>
            <a:r>
              <a:rPr lang="es-BO" dirty="0" smtClean="0"/>
              <a:t/>
            </a:r>
            <a:br>
              <a:rPr lang="es-BO" dirty="0" smtClean="0"/>
            </a:br>
            <a:endParaRPr lang="es-BO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381000" y="2428868"/>
            <a:ext cx="8458200" cy="1214446"/>
          </a:xfrm>
        </p:spPr>
        <p:txBody>
          <a:bodyPr/>
          <a:lstStyle/>
          <a:p>
            <a:r>
              <a:rPr lang="es-BO" b="1" dirty="0" smtClean="0"/>
              <a:t>Capítulo II</a:t>
            </a:r>
            <a:endParaRPr lang="es-BO" dirty="0" smtClean="0"/>
          </a:p>
          <a:p>
            <a:endParaRPr lang="es-BO" dirty="0"/>
          </a:p>
        </p:txBody>
      </p:sp>
      <p:pic>
        <p:nvPicPr>
          <p:cNvPr id="4" name="Picture 5" descr="G:\cbba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00892" y="756690"/>
            <a:ext cx="1214446" cy="1529302"/>
          </a:xfrm>
          <a:prstGeom prst="rect">
            <a:avLst/>
          </a:prstGeom>
          <a:noFill/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b="1" dirty="0" smtClean="0"/>
              <a:t>Introducción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BO" dirty="0" smtClean="0"/>
              <a:t>En los últimos años la búsqueda de soluciones para mejorar la eficiencia de los servicios de salud ha sido un tema de gran importancia. </a:t>
            </a:r>
          </a:p>
          <a:p>
            <a:pPr>
              <a:buNone/>
            </a:pPr>
            <a:r>
              <a:rPr lang="es-BO" b="1" dirty="0" smtClean="0"/>
              <a:t>Centro de Salud.</a:t>
            </a:r>
            <a:endParaRPr lang="es-BO" dirty="0" smtClean="0"/>
          </a:p>
          <a:p>
            <a:pPr algn="just"/>
            <a:r>
              <a:rPr lang="es-BO" dirty="0" smtClean="0"/>
              <a:t>Son todos los establecimientos que proporcionan asistencia médica, preventiva y curativa para la atención de enfermedades. </a:t>
            </a:r>
          </a:p>
          <a:p>
            <a:endParaRPr lang="es-BO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b="1" dirty="0" smtClean="0"/>
              <a:t>Centro de salud.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04800" y="1554162"/>
            <a:ext cx="8267728" cy="4525963"/>
          </a:xfrm>
        </p:spPr>
        <p:txBody>
          <a:bodyPr/>
          <a:lstStyle/>
          <a:p>
            <a:r>
              <a:rPr lang="es-BO" dirty="0" smtClean="0"/>
              <a:t>Compuesto por profesionales. Dependencias necesarias: servicio de administración, curación, prevención,</a:t>
            </a:r>
          </a:p>
          <a:p>
            <a:pPr>
              <a:buNone/>
            </a:pPr>
            <a:r>
              <a:rPr lang="es-BO" dirty="0" smtClean="0"/>
              <a:t> laboratorio, servicios de apoyo.</a:t>
            </a:r>
          </a:p>
          <a:p>
            <a:pPr>
              <a:buNone/>
            </a:pPr>
            <a:endParaRPr lang="es-BO" dirty="0"/>
          </a:p>
        </p:txBody>
      </p:sp>
      <p:pic>
        <p:nvPicPr>
          <p:cNvPr id="7171" name="Picture 3" descr="D:\RESPALDO\ESCRITORIO\fotos feria\SDC11739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14942" y="3633312"/>
            <a:ext cx="3500462" cy="3010397"/>
          </a:xfrm>
          <a:prstGeom prst="rect">
            <a:avLst/>
          </a:prstGeom>
          <a:noFill/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magen" descr="C:\Users\name\Documents\monografia lily\Untitled.pn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57752" y="3914150"/>
            <a:ext cx="3857652" cy="25152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Ubicación del centro de salud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BO" dirty="0" smtClean="0"/>
              <a:t>Lugar y ubicación: accesible</a:t>
            </a:r>
          </a:p>
          <a:p>
            <a:pPr lvl="0"/>
            <a:r>
              <a:rPr lang="es-BO" dirty="0" smtClean="0"/>
              <a:t>Material: local, durable y fácil de limpiar.</a:t>
            </a:r>
          </a:p>
          <a:p>
            <a:pPr lvl="0"/>
            <a:r>
              <a:rPr lang="es-BO" dirty="0" smtClean="0"/>
              <a:t>Diseño: características locales</a:t>
            </a:r>
          </a:p>
          <a:p>
            <a:pPr lvl="0"/>
            <a:r>
              <a:rPr lang="es-BO" dirty="0" smtClean="0"/>
              <a:t>Áreas: de espera, de trabajo, servicios de apoyo, oficina, camas.</a:t>
            </a:r>
          </a:p>
          <a:p>
            <a:r>
              <a:rPr lang="es-BO" dirty="0" smtClean="0"/>
              <a:t>Equipo: simple solido y no complicado</a:t>
            </a:r>
            <a:endParaRPr lang="es-BO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b="1" dirty="0" smtClean="0"/>
              <a:t>Aplicación de Atención Familiar Comunitaria Intercultural</a:t>
            </a:r>
            <a:endParaRPr lang="es-BO" dirty="0"/>
          </a:p>
        </p:txBody>
      </p:sp>
      <p:pic>
        <p:nvPicPr>
          <p:cNvPr id="9218" name="Picture 2" descr="C:\Users\Lilian\Pictures\FOTITOS CHIQUI\SDC12142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3438" y="3429000"/>
            <a:ext cx="3869802" cy="2902352"/>
          </a:xfrm>
          <a:prstGeom prst="rect">
            <a:avLst/>
          </a:prstGeom>
          <a:noFill/>
        </p:spPr>
      </p:pic>
      <p:sp>
        <p:nvSpPr>
          <p:cNvPr id="5" name="4 Rectángulo"/>
          <p:cNvSpPr/>
          <p:nvPr/>
        </p:nvSpPr>
        <p:spPr>
          <a:xfrm>
            <a:off x="285720" y="1357298"/>
            <a:ext cx="8072494" cy="2831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s-BO" sz="3200" dirty="0" smtClean="0"/>
          </a:p>
          <a:p>
            <a:r>
              <a:rPr lang="es-BO" sz="3200" dirty="0" smtClean="0"/>
              <a:t>La red de servicios de salud está formada por establecimientos de diferentes niveles de complejidad, de acuerdo a su capacidad resolutiva.</a:t>
            </a:r>
          </a:p>
          <a:p>
            <a:endParaRPr lang="es-BO" dirty="0" smtClean="0"/>
          </a:p>
        </p:txBody>
      </p:sp>
    </p:spTree>
  </p:cSld>
  <p:clrMapOvr>
    <a:masterClrMapping/>
  </p:clrMapOvr>
  <p:transition>
    <p:dissolv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BO" b="1" dirty="0" smtClean="0"/>
              <a:t>Primer Nivel de Complejidad 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dirty="0" smtClean="0"/>
              <a:t>Representado tradicionalmente por </a:t>
            </a:r>
            <a:r>
              <a:rPr lang="es-BO" b="1" dirty="0" smtClean="0"/>
              <a:t>el Puesto de Salud y el Centro de Salud</a:t>
            </a:r>
            <a:r>
              <a:rPr lang="es-BO" b="1" i="1" dirty="0" smtClean="0"/>
              <a:t>.</a:t>
            </a:r>
          </a:p>
          <a:p>
            <a:pPr>
              <a:buNone/>
            </a:pPr>
            <a:r>
              <a:rPr lang="es-BO" dirty="0" smtClean="0"/>
              <a:t>La oferta de servicios en este nivel se enmarca en la promoción de la salud física, mental y social, la educación en salud y la prevención de las enfermedades.</a:t>
            </a:r>
            <a:endParaRPr lang="es-BO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Actividades del centro de salud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s-BO" dirty="0" smtClean="0">
                <a:solidFill>
                  <a:schemeClr val="tx1"/>
                </a:solidFill>
                <a:latin typeface="Arial" pitchFamily="34" charset="0"/>
                <a:ea typeface="Times New Roman" pitchFamily="18" charset="0"/>
                <a:cs typeface="Times New Roman" pitchFamily="18" charset="0"/>
              </a:rPr>
              <a:t>Además de las capacidades necesarias del equipo de salud: </a:t>
            </a:r>
            <a:endParaRPr lang="es-BO" sz="280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s-BO" dirty="0" smtClean="0">
                <a:solidFill>
                  <a:schemeClr val="tx1"/>
                </a:solidFill>
                <a:latin typeface="Arial" pitchFamily="34" charset="0"/>
                <a:ea typeface="Times New Roman" pitchFamily="18" charset="0"/>
                <a:cs typeface="Times New Roman" pitchFamily="18" charset="0"/>
              </a:rPr>
              <a:t>Prestar atención integral, intercultural con capacidad técnica resolutiva </a:t>
            </a:r>
            <a:endParaRPr lang="es-BO" sz="280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s-BO" dirty="0" smtClean="0">
                <a:solidFill>
                  <a:schemeClr val="tx1"/>
                </a:solidFill>
                <a:latin typeface="Arial" pitchFamily="34" charset="0"/>
                <a:ea typeface="Times New Roman" pitchFamily="18" charset="0"/>
                <a:cs typeface="Times New Roman" pitchFamily="18" charset="0"/>
              </a:rPr>
              <a:t>Horarios de atención acordados. </a:t>
            </a:r>
            <a:endParaRPr lang="es-BO" sz="280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s-BO" dirty="0" smtClean="0">
                <a:solidFill>
                  <a:schemeClr val="tx1"/>
                </a:solidFill>
                <a:latin typeface="Arial" pitchFamily="34" charset="0"/>
                <a:ea typeface="Times New Roman" pitchFamily="18" charset="0"/>
                <a:cs typeface="Times New Roman" pitchFamily="18" charset="0"/>
              </a:rPr>
              <a:t>Implementar propuestas, acordadas y consensuadas con la comunidad. </a:t>
            </a:r>
            <a:endParaRPr lang="es-BO" sz="280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s-BO" dirty="0" smtClean="0">
                <a:solidFill>
                  <a:schemeClr val="tx1"/>
                </a:solidFill>
                <a:latin typeface="Arial" pitchFamily="34" charset="0"/>
                <a:ea typeface="Times New Roman" pitchFamily="18" charset="0"/>
                <a:cs typeface="Times New Roman" pitchFamily="18" charset="0"/>
              </a:rPr>
              <a:t>Aplicación de protocolos y </a:t>
            </a:r>
            <a:r>
              <a:rPr lang="es-BO" dirty="0" err="1" smtClean="0">
                <a:solidFill>
                  <a:schemeClr val="tx1"/>
                </a:solidFill>
                <a:latin typeface="Arial" pitchFamily="34" charset="0"/>
                <a:ea typeface="Times New Roman" pitchFamily="18" charset="0"/>
                <a:cs typeface="Times New Roman" pitchFamily="18" charset="0"/>
              </a:rPr>
              <a:t>flujogramas</a:t>
            </a:r>
            <a:r>
              <a:rPr lang="es-BO" dirty="0" smtClean="0">
                <a:solidFill>
                  <a:schemeClr val="tx1"/>
                </a:solidFill>
                <a:latin typeface="Arial" pitchFamily="34" charset="0"/>
                <a:ea typeface="Times New Roman" pitchFamily="18" charset="0"/>
                <a:cs typeface="Times New Roman" pitchFamily="18" charset="0"/>
              </a:rPr>
              <a:t> de atención culturalmente adecuados. </a:t>
            </a:r>
            <a:endParaRPr lang="es-BO" sz="280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s-BO" dirty="0" smtClean="0">
                <a:solidFill>
                  <a:schemeClr val="tx1"/>
                </a:solidFill>
                <a:latin typeface="Arial" pitchFamily="34" charset="0"/>
                <a:ea typeface="Times New Roman" pitchFamily="18" charset="0"/>
                <a:cs typeface="Times New Roman" pitchFamily="18" charset="0"/>
              </a:rPr>
              <a:t>Realizar educación y promoción en salud, personalizada y grupal en procesos participativos. </a:t>
            </a:r>
            <a:endParaRPr lang="es-BO" sz="280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endParaRPr lang="es-BO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Actividades del centro de salud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s-BO" dirty="0" smtClean="0">
                <a:solidFill>
                  <a:schemeClr val="tx1"/>
                </a:solidFill>
                <a:latin typeface="Arial" pitchFamily="34" charset="0"/>
                <a:ea typeface="Times New Roman" pitchFamily="18" charset="0"/>
                <a:cs typeface="Times New Roman" pitchFamily="18" charset="0"/>
              </a:rPr>
              <a:t>Realizar coordinación, articulación y complementariedad con los terapeutas de salud tradicional, donde éstos existan. </a:t>
            </a:r>
            <a:endParaRPr lang="es-BO" sz="280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s-BO" dirty="0" smtClean="0">
                <a:solidFill>
                  <a:schemeClr val="tx1"/>
                </a:solidFill>
                <a:latin typeface="Arial" pitchFamily="34" charset="0"/>
                <a:ea typeface="Times New Roman" pitchFamily="18" charset="0"/>
                <a:cs typeface="Times New Roman" pitchFamily="18" charset="0"/>
              </a:rPr>
              <a:t>Realizar la vigilancia epidemiológica completa.</a:t>
            </a:r>
            <a:endParaRPr lang="es-BO" sz="280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s-BO" dirty="0" smtClean="0">
                <a:solidFill>
                  <a:schemeClr val="tx1"/>
                </a:solidFill>
                <a:latin typeface="Arial" pitchFamily="34" charset="0"/>
                <a:ea typeface="Times New Roman" pitchFamily="18" charset="0"/>
                <a:cs typeface="Times New Roman" pitchFamily="18" charset="0"/>
              </a:rPr>
              <a:t>Realizar vigilancia epidemiológica nutricional y violencia intrafamiliar, </a:t>
            </a:r>
            <a:endParaRPr lang="es-BO" sz="280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s-BO" dirty="0" smtClean="0">
                <a:solidFill>
                  <a:schemeClr val="tx1"/>
                </a:solidFill>
                <a:latin typeface="Arial" pitchFamily="34" charset="0"/>
                <a:ea typeface="Times New Roman" pitchFamily="18" charset="0"/>
                <a:cs typeface="Times New Roman" pitchFamily="18" charset="0"/>
              </a:rPr>
              <a:t>Realizar referencia/</a:t>
            </a:r>
            <a:r>
              <a:rPr lang="es-BO" dirty="0" err="1" smtClean="0">
                <a:solidFill>
                  <a:schemeClr val="tx1"/>
                </a:solidFill>
                <a:latin typeface="Arial" pitchFamily="34" charset="0"/>
                <a:ea typeface="Times New Roman" pitchFamily="18" charset="0"/>
                <a:cs typeface="Times New Roman" pitchFamily="18" charset="0"/>
              </a:rPr>
              <a:t>contrarreferencia</a:t>
            </a:r>
            <a:r>
              <a:rPr lang="es-BO" dirty="0" smtClean="0">
                <a:solidFill>
                  <a:schemeClr val="tx1"/>
                </a:solidFill>
                <a:latin typeface="Arial" pitchFamily="34" charset="0"/>
                <a:ea typeface="Times New Roman" pitchFamily="18" charset="0"/>
                <a:cs typeface="Times New Roman" pitchFamily="18" charset="0"/>
              </a:rPr>
              <a:t>. </a:t>
            </a:r>
            <a:endParaRPr lang="es-BO" sz="280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s-BO" dirty="0" smtClean="0">
                <a:solidFill>
                  <a:schemeClr val="tx1"/>
                </a:solidFill>
                <a:latin typeface="Arial" pitchFamily="34" charset="0"/>
                <a:ea typeface="Times New Roman" pitchFamily="18" charset="0"/>
                <a:cs typeface="Times New Roman" pitchFamily="18" charset="0"/>
              </a:rPr>
              <a:t>Articular acciones con los agentes comunitarios en salud (RPS, colaborador voluntario, etc.). </a:t>
            </a:r>
            <a:endParaRPr lang="es-BO" sz="280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s-BO" dirty="0" smtClean="0">
                <a:solidFill>
                  <a:schemeClr val="tx1"/>
                </a:solidFill>
                <a:latin typeface="Arial" pitchFamily="34" charset="0"/>
                <a:ea typeface="Times New Roman" pitchFamily="18" charset="0"/>
                <a:cs typeface="Times New Roman" pitchFamily="18" charset="0"/>
              </a:rPr>
              <a:t>Clasificar, actualizar y utilizar en forma continua las carpetas familiares por comunidades </a:t>
            </a:r>
            <a:endParaRPr lang="es-BO" sz="280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s-BO" dirty="0" smtClean="0">
                <a:solidFill>
                  <a:schemeClr val="tx1"/>
                </a:solidFill>
                <a:latin typeface="Arial" pitchFamily="34" charset="0"/>
                <a:ea typeface="Times New Roman" pitchFamily="18" charset="0"/>
                <a:cs typeface="Times New Roman" pitchFamily="18" charset="0"/>
              </a:rPr>
              <a:t>Procesar y analizar la información de las carpetas familiares devolviendo la misma a la comunidad para la toma de decisiones conjunta. </a:t>
            </a:r>
            <a:endParaRPr lang="es-BO" dirty="0" smtClean="0">
              <a:solidFill>
                <a:schemeClr val="tx1"/>
              </a:solidFill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s-BO" dirty="0" smtClean="0">
                <a:solidFill>
                  <a:schemeClr val="tx1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Realizar y ser parte de procesos de investigación social en salud</a:t>
            </a:r>
            <a:r>
              <a:rPr lang="es-BO" sz="28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endParaRPr lang="es-BO" sz="440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endParaRPr lang="es-BO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b="1" dirty="0" smtClean="0"/>
              <a:t>En la Comunidad</a:t>
            </a:r>
            <a:r>
              <a:rPr lang="es-BO" dirty="0" smtClean="0"/>
              <a:t>   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lvl="0"/>
            <a:r>
              <a:rPr lang="es-BO" dirty="0" smtClean="0"/>
              <a:t>Fomento y desarrollo de la participación social</a:t>
            </a:r>
          </a:p>
          <a:p>
            <a:pPr lvl="0"/>
            <a:r>
              <a:rPr lang="es-BO" dirty="0" smtClean="0"/>
              <a:t>Coordinar con autoridades locales y Comité de Salud para las acciones en la comunidad. </a:t>
            </a:r>
          </a:p>
          <a:p>
            <a:pPr lvl="0"/>
            <a:r>
              <a:rPr lang="es-BO" dirty="0" smtClean="0"/>
              <a:t>Participar en las actividades de las organizaciones e instituciones de la comunidad.</a:t>
            </a:r>
          </a:p>
          <a:p>
            <a:pPr lvl="0"/>
            <a:r>
              <a:rPr lang="es-BO" dirty="0" smtClean="0"/>
              <a:t>Delimitación geográfica del ámbito territorial y población asignada al establecimiento. </a:t>
            </a:r>
          </a:p>
          <a:p>
            <a:pPr lvl="0"/>
            <a:r>
              <a:rPr lang="es-BO" dirty="0" smtClean="0"/>
              <a:t>Realizar el diagnóstico comunitario aplicando el Módulo de Información Básica. </a:t>
            </a:r>
          </a:p>
          <a:p>
            <a:pPr lvl="0"/>
            <a:r>
              <a:rPr lang="es-BO" dirty="0" smtClean="0"/>
              <a:t>Aplicación y actualización permanente de la carpeta familiar.</a:t>
            </a:r>
          </a:p>
          <a:p>
            <a:pPr lvl="0"/>
            <a:r>
              <a:rPr lang="es-BO" dirty="0" smtClean="0"/>
              <a:t>Acuerdos y consensos para la adecuación de horarios de atención según los flujos de movimiento de la población. </a:t>
            </a:r>
          </a:p>
          <a:p>
            <a:pPr lvl="0"/>
            <a:r>
              <a:rPr lang="es-BO" dirty="0" smtClean="0"/>
              <a:t>Promover el censo de terapeutas tradicionales, en coordinación con las Autoridades Locales y Comités Locales de Salud </a:t>
            </a:r>
          </a:p>
          <a:p>
            <a:pPr lvl="0"/>
            <a:r>
              <a:rPr lang="es-BO" dirty="0" smtClean="0"/>
              <a:t>Acordar y consensuar con la organización social comunitaria y sus bases, propuestas de adecuación cultural de espacios físicos y equipos </a:t>
            </a:r>
          </a:p>
          <a:p>
            <a:pPr lvl="0"/>
            <a:r>
              <a:rPr lang="es-BO" dirty="0" smtClean="0"/>
              <a:t>Articular acciones con el Agente Comunitario (RPS/voluntario). </a:t>
            </a:r>
          </a:p>
          <a:p>
            <a:pPr lvl="0"/>
            <a:r>
              <a:rPr lang="es-BO" dirty="0" smtClean="0"/>
              <a:t>Realizar acciones de información, educación y comunicación. </a:t>
            </a:r>
          </a:p>
          <a:p>
            <a:endParaRPr lang="es-BO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b="1" dirty="0" smtClean="0"/>
              <a:t>Recurso Humano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dirty="0" smtClean="0"/>
              <a:t>El recurso humano juega un papel estratégico en todo proceso de cambio, ya que es el responsable de implementar las propuestas diseñadas por el Ministerio cabeza de sector. </a:t>
            </a:r>
          </a:p>
          <a:p>
            <a:r>
              <a:rPr lang="es-BO" dirty="0" smtClean="0"/>
              <a:t>Los recursos humanos y los establecimientos en el sistema público de Bolivia son asignados de acuerdo a la cantidad de población y al perfil epidemiológico.</a:t>
            </a:r>
            <a:endParaRPr lang="es-BO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04800" y="785794"/>
            <a:ext cx="8686800" cy="5294331"/>
          </a:xfrm>
        </p:spPr>
        <p:txBody>
          <a:bodyPr/>
          <a:lstStyle/>
          <a:p>
            <a:r>
              <a:rPr lang="es-BO" dirty="0" smtClean="0"/>
              <a:t>Los ambientes de atención tratan de comunicar la hospitalidad, sensibilidad, refugio y comodidad.</a:t>
            </a:r>
          </a:p>
          <a:p>
            <a:endParaRPr lang="es-BO" dirty="0" smtClean="0"/>
          </a:p>
        </p:txBody>
      </p:sp>
      <p:pic>
        <p:nvPicPr>
          <p:cNvPr id="1028" name="Picture 4" descr="C:\Users\Lilian\Pictures\FOTITOS CHIQUI\SDC12154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43372" y="2428868"/>
            <a:ext cx="4249322" cy="3929090"/>
          </a:xfrm>
          <a:prstGeom prst="rect">
            <a:avLst/>
          </a:prstGeom>
          <a:noFill/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Calidad de atención </a:t>
            </a:r>
            <a:endParaRPr lang="es-BO" dirty="0"/>
          </a:p>
        </p:txBody>
      </p:sp>
      <p:pic>
        <p:nvPicPr>
          <p:cNvPr id="2051" name="Picture 3" descr="C:\Program Files\Microsoft Office\MEDIA\CAGCAT10\j0240719.wm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358082" y="4429132"/>
            <a:ext cx="1500198" cy="2000264"/>
          </a:xfrm>
          <a:prstGeom prst="rect">
            <a:avLst/>
          </a:prstGeom>
          <a:noFill/>
        </p:spPr>
      </p:pic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BO" b="1" dirty="0" smtClean="0"/>
              <a:t>Ciencia,</a:t>
            </a:r>
            <a:r>
              <a:rPr lang="es-BO" dirty="0" smtClean="0"/>
              <a:t> no en el estricto sentido epidemiológico, sino porque su </a:t>
            </a:r>
            <a:r>
              <a:rPr lang="es-BO" u="sng" dirty="0" smtClean="0">
                <a:hlinkClick r:id="rId3"/>
              </a:rPr>
              <a:t>disciplina</a:t>
            </a:r>
            <a:r>
              <a:rPr lang="es-BO" dirty="0" smtClean="0"/>
              <a:t> se instaura a partir de fundamentos de las </a:t>
            </a:r>
            <a:r>
              <a:rPr lang="es-BO" u="sng" dirty="0" smtClean="0">
                <a:hlinkClick r:id="rId4"/>
              </a:rPr>
              <a:t>ciencias</a:t>
            </a:r>
            <a:r>
              <a:rPr lang="es-BO" dirty="0" smtClean="0"/>
              <a:t> sociales y biológicas.</a:t>
            </a:r>
          </a:p>
          <a:p>
            <a:pPr algn="just"/>
            <a:r>
              <a:rPr lang="es-BO" b="1" dirty="0" smtClean="0"/>
              <a:t>Arte</a:t>
            </a:r>
            <a:r>
              <a:rPr lang="es-BO" dirty="0" smtClean="0"/>
              <a:t>, porque requiere de sensibilidad y </a:t>
            </a:r>
            <a:r>
              <a:rPr lang="es-BO" u="sng" dirty="0" smtClean="0">
                <a:hlinkClick r:id="rId5"/>
              </a:rPr>
              <a:t>creatividad</a:t>
            </a:r>
            <a:r>
              <a:rPr lang="es-BO" dirty="0" smtClean="0"/>
              <a:t> para enfrentar las realidades humanas en la vivencia de sus </a:t>
            </a:r>
            <a:r>
              <a:rPr lang="es-BO" u="sng" dirty="0" smtClean="0">
                <a:hlinkClick r:id="rId6"/>
              </a:rPr>
              <a:t>procesos</a:t>
            </a:r>
            <a:r>
              <a:rPr lang="es-BO" dirty="0" smtClean="0"/>
              <a:t> vitales.</a:t>
            </a:r>
            <a:endParaRPr lang="es-BO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b="1" dirty="0" smtClean="0"/>
              <a:t>Derechos de los pacientes.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s-ES_tradnl" b="1" dirty="0" smtClean="0"/>
              <a:t>Según la ley 3131 del ejerció profesional médico menciona.</a:t>
            </a:r>
          </a:p>
          <a:p>
            <a:endParaRPr lang="es-ES_tradnl" b="1" dirty="0" smtClean="0"/>
          </a:p>
          <a:p>
            <a:r>
              <a:rPr lang="es-ES_tradnl" b="1" dirty="0" smtClean="0"/>
              <a:t>Derechos y deberes del medico</a:t>
            </a:r>
          </a:p>
          <a:p>
            <a:r>
              <a:rPr lang="es-ES_tradnl" b="1" dirty="0" smtClean="0"/>
              <a:t>Derechos y deberes de los pacientes.</a:t>
            </a:r>
            <a:endParaRPr lang="es-BO" dirty="0"/>
          </a:p>
        </p:txBody>
      </p:sp>
      <p:pic>
        <p:nvPicPr>
          <p:cNvPr id="3074" name="Picture 2" descr="C:\Program Files\Microsoft Office\MEDIA\CAGCAT10\j0217698.wm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15140" y="2285992"/>
            <a:ext cx="1747418" cy="1693469"/>
          </a:xfrm>
          <a:prstGeom prst="rect">
            <a:avLst/>
          </a:prstGeom>
          <a:noFill/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381000" y="3500439"/>
            <a:ext cx="8458200" cy="1643073"/>
          </a:xfrm>
        </p:spPr>
        <p:txBody>
          <a:bodyPr>
            <a:normAutofit/>
          </a:bodyPr>
          <a:lstStyle/>
          <a:p>
            <a:r>
              <a:rPr lang="es-BO" b="1" dirty="0" smtClean="0"/>
              <a:t>DISEÑO Metodológico</a:t>
            </a:r>
            <a:r>
              <a:rPr lang="es-BO" dirty="0" smtClean="0"/>
              <a:t/>
            </a:r>
            <a:br>
              <a:rPr lang="es-BO" dirty="0" smtClean="0"/>
            </a:br>
            <a:endParaRPr lang="es-BO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381000" y="2643182"/>
            <a:ext cx="8458200" cy="1143008"/>
          </a:xfrm>
        </p:spPr>
        <p:txBody>
          <a:bodyPr/>
          <a:lstStyle/>
          <a:p>
            <a:r>
              <a:rPr lang="es-BO" b="1" dirty="0" smtClean="0"/>
              <a:t>Capítulo III</a:t>
            </a:r>
            <a:endParaRPr lang="es-BO" dirty="0" smtClean="0"/>
          </a:p>
          <a:p>
            <a:endParaRPr lang="es-BO" dirty="0"/>
          </a:p>
        </p:txBody>
      </p:sp>
      <p:pic>
        <p:nvPicPr>
          <p:cNvPr id="4" name="Picture 5" descr="G:\cbba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00892" y="756690"/>
            <a:ext cx="1214446" cy="1529302"/>
          </a:xfrm>
          <a:prstGeom prst="rect">
            <a:avLst/>
          </a:prstGeom>
          <a:noFill/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b="1" dirty="0" smtClean="0"/>
              <a:t>Enfoque 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dirty="0" smtClean="0"/>
              <a:t>El tipo de enfoque que se aplicó en este estudio fue:</a:t>
            </a:r>
          </a:p>
          <a:p>
            <a:pPr algn="ctr"/>
            <a:r>
              <a:rPr lang="es-BO" dirty="0" smtClean="0"/>
              <a:t>Cuantitativo</a:t>
            </a:r>
          </a:p>
          <a:p>
            <a:pPr algn="ctr"/>
            <a:r>
              <a:rPr lang="es-BO" dirty="0" smtClean="0"/>
              <a:t>cualitativo</a:t>
            </a:r>
            <a:endParaRPr lang="es-BO" dirty="0"/>
          </a:p>
        </p:txBody>
      </p:sp>
      <p:pic>
        <p:nvPicPr>
          <p:cNvPr id="4098" name="Picture 2" descr="C:\Program Files\Microsoft Office\MEDIA\CAGCAT10\j0299125.wm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72330" y="3000372"/>
            <a:ext cx="1100023" cy="1805026"/>
          </a:xfrm>
          <a:prstGeom prst="rect">
            <a:avLst/>
          </a:prstGeom>
          <a:noFill/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4 Marcador de contenido"/>
          <p:cNvGraphicFramePr>
            <a:graphicFrameLocks noGrp="1"/>
          </p:cNvGraphicFramePr>
          <p:nvPr>
            <p:ph idx="1"/>
          </p:nvPr>
        </p:nvGraphicFramePr>
        <p:xfrm>
          <a:off x="457200" y="1071546"/>
          <a:ext cx="8229600" cy="45005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b="1" dirty="0" smtClean="0"/>
              <a:t>Universo y población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s-BO" b="1" dirty="0" smtClean="0"/>
              <a:t>Universo de estudio</a:t>
            </a:r>
            <a:endParaRPr lang="es-BO" dirty="0" smtClean="0"/>
          </a:p>
          <a:p>
            <a:r>
              <a:rPr lang="es-BO" dirty="0" smtClean="0"/>
              <a:t>Total de pacientes que se acuden al centro de salud de Jaihuayco  a consultar.</a:t>
            </a:r>
          </a:p>
          <a:p>
            <a:endParaRPr lang="es-BO" dirty="0" smtClean="0"/>
          </a:p>
          <a:p>
            <a:pPr>
              <a:buNone/>
            </a:pPr>
            <a:r>
              <a:rPr lang="es-BO" dirty="0" smtClean="0"/>
              <a:t>M</a:t>
            </a:r>
            <a:r>
              <a:rPr lang="es-BO" b="1" dirty="0" smtClean="0"/>
              <a:t>uestra</a:t>
            </a:r>
            <a:endParaRPr lang="es-BO" dirty="0" smtClean="0"/>
          </a:p>
          <a:p>
            <a:r>
              <a:rPr lang="es-BO" dirty="0" smtClean="0"/>
              <a:t>Se tomara 40  pacientes al azar</a:t>
            </a:r>
            <a:endParaRPr lang="es-BO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b="1" dirty="0" smtClean="0"/>
              <a:t>Identificación de variables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BO" dirty="0" smtClean="0"/>
              <a:t>Demora</a:t>
            </a:r>
          </a:p>
          <a:p>
            <a:pPr lvl="0"/>
            <a:r>
              <a:rPr lang="es-BO" dirty="0" smtClean="0"/>
              <a:t>Calidad de atención </a:t>
            </a:r>
          </a:p>
          <a:p>
            <a:pPr lvl="0"/>
            <a:r>
              <a:rPr lang="es-BO" dirty="0" smtClean="0"/>
              <a:t>Satisfacción del paciente</a:t>
            </a:r>
          </a:p>
          <a:p>
            <a:pPr lvl="0"/>
            <a:r>
              <a:rPr lang="es-BO" dirty="0" smtClean="0"/>
              <a:t>Recurso humano</a:t>
            </a:r>
          </a:p>
          <a:p>
            <a:pPr>
              <a:buNone/>
            </a:pPr>
            <a:endParaRPr lang="es-BO" dirty="0"/>
          </a:p>
        </p:txBody>
      </p:sp>
      <p:pic>
        <p:nvPicPr>
          <p:cNvPr id="4" name="3 Imagen" descr="G:\SDC12242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14942" y="3286124"/>
            <a:ext cx="3143272" cy="2571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b="1" dirty="0" smtClean="0"/>
              <a:t>Métodos e instrumentos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s-BO" dirty="0" smtClean="0"/>
              <a:t>Métodos </a:t>
            </a:r>
          </a:p>
          <a:p>
            <a:r>
              <a:rPr lang="es-BO" dirty="0" smtClean="0"/>
              <a:t>En base al análisis documental de la bibliografía</a:t>
            </a:r>
          </a:p>
          <a:p>
            <a:endParaRPr lang="es-BO" dirty="0" smtClean="0"/>
          </a:p>
          <a:p>
            <a:pPr>
              <a:buNone/>
            </a:pPr>
            <a:r>
              <a:rPr lang="es-BO" dirty="0" smtClean="0"/>
              <a:t>Instrumentos </a:t>
            </a:r>
          </a:p>
          <a:p>
            <a:r>
              <a:rPr lang="es-BO" dirty="0" smtClean="0"/>
              <a:t>Entrevista al personal de salud y a los pacientes</a:t>
            </a:r>
            <a:endParaRPr lang="es-BO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b="1" dirty="0" smtClean="0"/>
              <a:t>Alcances y limitaciones 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>
              <a:buNone/>
            </a:pPr>
            <a:r>
              <a:rPr lang="es-BO" b="1" dirty="0" smtClean="0"/>
              <a:t>Alcances</a:t>
            </a:r>
            <a:endParaRPr lang="es-BO" dirty="0" smtClean="0"/>
          </a:p>
          <a:p>
            <a:pPr lvl="0"/>
            <a:r>
              <a:rPr lang="es-BO" dirty="0" smtClean="0"/>
              <a:t>Se tuvo fácil acceso a las personas que acuden al centro de salud y contar con su colaboración en el llenado de la entrevista.</a:t>
            </a:r>
          </a:p>
          <a:p>
            <a:pPr lvl="0"/>
            <a:r>
              <a:rPr lang="es-BO" dirty="0" smtClean="0"/>
              <a:t>Se conto con la colaboración de todo el personal de salud en la realización de este trabajo.</a:t>
            </a:r>
          </a:p>
          <a:p>
            <a:endParaRPr lang="es-BO" dirty="0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pPr>
              <a:buNone/>
            </a:pPr>
            <a:r>
              <a:rPr lang="es-BO" b="1" dirty="0" smtClean="0"/>
              <a:t>Limitaciones </a:t>
            </a:r>
            <a:endParaRPr lang="es-BO" dirty="0" smtClean="0"/>
          </a:p>
          <a:p>
            <a:pPr lvl="0"/>
            <a:r>
              <a:rPr lang="es-BO" dirty="0" smtClean="0"/>
              <a:t>En el momento de llenado de la entrevista, alguna pregunta que ameritaba un poco de explicación para ser correctamente llenada.</a:t>
            </a:r>
          </a:p>
          <a:p>
            <a:endParaRPr lang="es-BO" dirty="0"/>
          </a:p>
        </p:txBody>
      </p:sp>
    </p:spTree>
  </p:cSld>
  <p:clrMapOvr>
    <a:masterClrMapping/>
  </p:clrMapOvr>
  <p:transition>
    <p:dissolv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381000" y="3571877"/>
            <a:ext cx="8458200" cy="1714511"/>
          </a:xfrm>
        </p:spPr>
        <p:txBody>
          <a:bodyPr>
            <a:normAutofit fontScale="90000"/>
          </a:bodyPr>
          <a:lstStyle/>
          <a:p>
            <a:r>
              <a:rPr lang="es-BO" b="1" dirty="0" smtClean="0"/>
              <a:t>PRESENTACIÓN   Y ANÁLISIS DE RESULTADOS</a:t>
            </a:r>
            <a:r>
              <a:rPr lang="es-BO" dirty="0" smtClean="0"/>
              <a:t/>
            </a:r>
            <a:br>
              <a:rPr lang="es-BO" dirty="0" smtClean="0"/>
            </a:br>
            <a:endParaRPr lang="es-BO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381000" y="2428868"/>
            <a:ext cx="8458200" cy="1285884"/>
          </a:xfrm>
        </p:spPr>
        <p:txBody>
          <a:bodyPr/>
          <a:lstStyle/>
          <a:p>
            <a:r>
              <a:rPr lang="es-BO" b="1" dirty="0" smtClean="0"/>
              <a:t>Capítulo IV</a:t>
            </a:r>
            <a:endParaRPr lang="es-BO" dirty="0" smtClean="0"/>
          </a:p>
          <a:p>
            <a:endParaRPr lang="es-BO" dirty="0"/>
          </a:p>
        </p:txBody>
      </p:sp>
      <p:pic>
        <p:nvPicPr>
          <p:cNvPr id="4" name="Picture 5" descr="G:\cbba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00892" y="756690"/>
            <a:ext cx="1214446" cy="1529302"/>
          </a:xfrm>
          <a:prstGeom prst="rect">
            <a:avLst/>
          </a:prstGeom>
          <a:noFill/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s-BO" b="1" cap="none" dirty="0" smtClean="0"/>
              <a:t>Distribución de pacientes que acuden al centro de salud según el sexo</a:t>
            </a:r>
            <a:r>
              <a:rPr lang="es-BO" dirty="0" smtClean="0"/>
              <a:t/>
            </a:r>
            <a:br>
              <a:rPr lang="es-BO" dirty="0" smtClean="0"/>
            </a:br>
            <a:endParaRPr lang="es-BO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</p:nvPr>
        </p:nvGraphicFramePr>
        <p:xfrm>
          <a:off x="1214414" y="1554163"/>
          <a:ext cx="6500858" cy="39465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s-BO" b="1" cap="none" dirty="0" smtClean="0"/>
              <a:t>Distribución de los pacientes que acuden al centro de salud según la ubicación de su domicilio.</a:t>
            </a:r>
            <a:r>
              <a:rPr lang="es-BO" dirty="0" smtClean="0"/>
              <a:t/>
            </a:r>
            <a:br>
              <a:rPr lang="es-BO" dirty="0" smtClean="0"/>
            </a:br>
            <a:endParaRPr lang="es-BO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</p:nvPr>
        </p:nvGraphicFramePr>
        <p:xfrm>
          <a:off x="1714480" y="1428736"/>
          <a:ext cx="5929354" cy="39290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s-BO" b="1" cap="none" dirty="0" smtClean="0"/>
              <a:t>Distribución de los pacientes que acuden al centro de salud según el medio de transporte que  toman</a:t>
            </a:r>
            <a:r>
              <a:rPr lang="es-BO" dirty="0" smtClean="0"/>
              <a:t/>
            </a:r>
            <a:br>
              <a:rPr lang="es-BO" dirty="0" smtClean="0"/>
            </a:br>
            <a:endParaRPr lang="es-BO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</p:nvPr>
        </p:nvGraphicFramePr>
        <p:xfrm>
          <a:off x="1142976" y="1554163"/>
          <a:ext cx="6500858" cy="35179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s-BO" b="1" cap="none" dirty="0" smtClean="0"/>
              <a:t>Distribución de los pacientes según el tipo de infraestructura.</a:t>
            </a:r>
            <a:r>
              <a:rPr lang="es-BO" dirty="0" smtClean="0"/>
              <a:t/>
            </a:r>
            <a:br>
              <a:rPr lang="es-BO" dirty="0" smtClean="0"/>
            </a:br>
            <a:endParaRPr lang="es-BO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</p:nvPr>
        </p:nvGraphicFramePr>
        <p:xfrm>
          <a:off x="1785918" y="2071678"/>
          <a:ext cx="5786478" cy="35179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s-BO" b="1" cap="none" dirty="0" smtClean="0"/>
              <a:t>Distribución de pacientes que acuden al centro de salud según el tipo de ocupación </a:t>
            </a:r>
            <a:r>
              <a:rPr lang="es-BO" dirty="0" smtClean="0"/>
              <a:t/>
            </a:r>
            <a:br>
              <a:rPr lang="es-BO" dirty="0" smtClean="0"/>
            </a:br>
            <a:endParaRPr lang="es-BO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</p:nvPr>
        </p:nvGraphicFramePr>
        <p:xfrm>
          <a:off x="1714480" y="1643050"/>
          <a:ext cx="6715172" cy="40179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14282" y="428604"/>
            <a:ext cx="8686800" cy="1214446"/>
          </a:xfrm>
        </p:spPr>
        <p:txBody>
          <a:bodyPr>
            <a:normAutofit fontScale="90000"/>
          </a:bodyPr>
          <a:lstStyle/>
          <a:p>
            <a:pPr algn="ctr"/>
            <a:r>
              <a:rPr lang="es-BO" sz="3100" b="1" cap="none" dirty="0" smtClean="0"/>
              <a:t>Distribución de los pacientes que acuden al centro de salud según el área donde esperan más para recibir atención por parte del personal de salud.</a:t>
            </a:r>
            <a:r>
              <a:rPr lang="es-BO" dirty="0" smtClean="0"/>
              <a:t/>
            </a:r>
            <a:br>
              <a:rPr lang="es-BO" dirty="0" smtClean="0"/>
            </a:br>
            <a:endParaRPr lang="es-BO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</p:nvPr>
        </p:nvGraphicFramePr>
        <p:xfrm>
          <a:off x="1500166" y="1785926"/>
          <a:ext cx="6481778" cy="40894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1400164"/>
          </a:xfrm>
        </p:spPr>
        <p:txBody>
          <a:bodyPr>
            <a:normAutofit fontScale="90000"/>
          </a:bodyPr>
          <a:lstStyle/>
          <a:p>
            <a:pPr algn="ctr"/>
            <a:r>
              <a:rPr lang="es-BO" b="1" cap="none" dirty="0" smtClean="0"/>
              <a:t>Distribución de los pacientes que acuden al centro de salud según la estadía en el centro de salud</a:t>
            </a:r>
            <a:r>
              <a:rPr lang="es-BO" dirty="0" smtClean="0"/>
              <a:t/>
            </a:r>
            <a:br>
              <a:rPr lang="es-BO" dirty="0" smtClean="0"/>
            </a:br>
            <a:endParaRPr lang="es-BO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</p:nvPr>
        </p:nvGraphicFramePr>
        <p:xfrm>
          <a:off x="1357290" y="2000240"/>
          <a:ext cx="6786610" cy="38036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s-BO" b="1" cap="none" dirty="0" smtClean="0"/>
              <a:t>Distribución de los pacientes que acuden al centro de salud según el área en la cual reciben mejor atención</a:t>
            </a:r>
            <a:r>
              <a:rPr lang="es-BO" dirty="0" smtClean="0"/>
              <a:t/>
            </a:r>
            <a:br>
              <a:rPr lang="es-BO" dirty="0" smtClean="0"/>
            </a:br>
            <a:endParaRPr lang="es-BO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</p:nvPr>
        </p:nvGraphicFramePr>
        <p:xfrm>
          <a:off x="1500166" y="2000240"/>
          <a:ext cx="6643734" cy="39465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1471602"/>
          </a:xfrm>
        </p:spPr>
        <p:txBody>
          <a:bodyPr>
            <a:normAutofit fontScale="90000"/>
          </a:bodyPr>
          <a:lstStyle/>
          <a:p>
            <a:pPr algn="ctr"/>
            <a:r>
              <a:rPr lang="es-BO" b="1" cap="none" dirty="0" smtClean="0"/>
              <a:t>Distribución de los pacientes que acuden al centro de salud según el conocimiento que tienen sobre sus derechos y las del médico</a:t>
            </a:r>
            <a:endParaRPr lang="es-BO" cap="none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</p:nvPr>
        </p:nvGraphicFramePr>
        <p:xfrm>
          <a:off x="1857356" y="2285992"/>
          <a:ext cx="5929354" cy="34464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1543040"/>
          </a:xfrm>
        </p:spPr>
        <p:txBody>
          <a:bodyPr>
            <a:normAutofit fontScale="90000"/>
          </a:bodyPr>
          <a:lstStyle/>
          <a:p>
            <a:pPr algn="ctr"/>
            <a:r>
              <a:rPr lang="es-BO" b="1" cap="none" dirty="0" smtClean="0"/>
              <a:t>Distribución del personal de salud según el tiempo que dedican a la atención de los pacientes.</a:t>
            </a:r>
            <a:r>
              <a:rPr lang="es-BO" dirty="0" smtClean="0"/>
              <a:t/>
            </a:r>
            <a:br>
              <a:rPr lang="es-BO" dirty="0" smtClean="0"/>
            </a:br>
            <a:endParaRPr lang="es-BO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</p:nvPr>
        </p:nvGraphicFramePr>
        <p:xfrm>
          <a:off x="1285852" y="2000240"/>
          <a:ext cx="7215238" cy="35004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s-BO" b="1" cap="none" dirty="0" smtClean="0"/>
              <a:t>Distribución del personal de salud según  el trato que reciben por parte de los pacientes.</a:t>
            </a:r>
            <a:r>
              <a:rPr lang="es-BO" dirty="0" smtClean="0"/>
              <a:t/>
            </a:r>
            <a:br>
              <a:rPr lang="es-BO" dirty="0" smtClean="0"/>
            </a:br>
            <a:endParaRPr lang="es-BO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</p:nvPr>
        </p:nvGraphicFramePr>
        <p:xfrm>
          <a:off x="1071538" y="1554163"/>
          <a:ext cx="6500858" cy="42322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1257288"/>
          </a:xfrm>
        </p:spPr>
        <p:txBody>
          <a:bodyPr>
            <a:normAutofit fontScale="90000"/>
          </a:bodyPr>
          <a:lstStyle/>
          <a:p>
            <a:pPr algn="ctr"/>
            <a:r>
              <a:rPr lang="es-BO" b="1" cap="none" dirty="0" smtClean="0"/>
              <a:t>Distribución del personal de salud según el respeto que reciben de sus pacientes.</a:t>
            </a:r>
            <a:r>
              <a:rPr lang="es-BO" dirty="0" smtClean="0"/>
              <a:t/>
            </a:r>
            <a:br>
              <a:rPr lang="es-BO" dirty="0" smtClean="0"/>
            </a:br>
            <a:endParaRPr lang="es-BO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</p:nvPr>
        </p:nvGraphicFramePr>
        <p:xfrm>
          <a:off x="1428728" y="1554163"/>
          <a:ext cx="5929354" cy="41608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BO" b="1" dirty="0" smtClean="0"/>
              <a:t>Conclusiones Y RECOMENDACIONES </a:t>
            </a:r>
            <a:r>
              <a:rPr lang="es-BO" dirty="0" smtClean="0"/>
              <a:t/>
            </a:r>
            <a:br>
              <a:rPr lang="es-BO" dirty="0" smtClean="0"/>
            </a:br>
            <a:endParaRPr lang="es-BO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BO" b="1" dirty="0" smtClean="0"/>
              <a:t>Capitulo V</a:t>
            </a:r>
            <a:endParaRPr lang="es-BO" dirty="0" smtClean="0"/>
          </a:p>
          <a:p>
            <a:endParaRPr lang="es-BO" dirty="0"/>
          </a:p>
        </p:txBody>
      </p:sp>
      <p:pic>
        <p:nvPicPr>
          <p:cNvPr id="4" name="Picture 5" descr="G:\cbba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00892" y="756690"/>
            <a:ext cx="1214446" cy="1529302"/>
          </a:xfrm>
          <a:prstGeom prst="rect">
            <a:avLst/>
          </a:prstGeom>
          <a:noFill/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Program Files\Microsoft Office\MEDIA\CAGCAT10\j0195812.wm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72330" y="4643446"/>
            <a:ext cx="1773022" cy="1824228"/>
          </a:xfrm>
          <a:prstGeom prst="rect">
            <a:avLst/>
          </a:prstGeom>
          <a:noFill/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b="1" dirty="0" smtClean="0"/>
              <a:t>Conclusiones</a:t>
            </a:r>
            <a:r>
              <a:rPr lang="es-BO" dirty="0" smtClean="0"/>
              <a:t/>
            </a:r>
            <a:br>
              <a:rPr lang="es-BO" dirty="0" smtClean="0"/>
            </a:b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/>
            <a:r>
              <a:rPr lang="es-BO" dirty="0" smtClean="0"/>
              <a:t>El recurso humano no alcanza para la cantidad de pacientes que acude al centro de salud.</a:t>
            </a:r>
          </a:p>
          <a:p>
            <a:pPr lvl="0"/>
            <a:r>
              <a:rPr lang="es-BO" dirty="0" smtClean="0"/>
              <a:t>El recurso humano realiza múltiples actividades.</a:t>
            </a:r>
          </a:p>
          <a:p>
            <a:pPr lvl="0"/>
            <a:r>
              <a:rPr lang="es-BO" dirty="0" smtClean="0"/>
              <a:t>El paciente al invertir más de su tiempo en la consulta no llega a realizar todas sus actividades.</a:t>
            </a:r>
          </a:p>
          <a:p>
            <a:pPr lvl="0"/>
            <a:r>
              <a:rPr lang="es-BO" dirty="0" smtClean="0"/>
              <a:t>Pese a que existe demora en la atención de los pacientes, los mismos se siente conformes con la atención que reciben.</a:t>
            </a:r>
          </a:p>
          <a:p>
            <a:endParaRPr lang="es-BO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b="1" dirty="0" smtClean="0"/>
              <a:t>Recomendaciones:</a:t>
            </a:r>
            <a:r>
              <a:rPr lang="es-BO" dirty="0" smtClean="0"/>
              <a:t/>
            </a:r>
            <a:br>
              <a:rPr lang="es-BO" dirty="0" smtClean="0"/>
            </a:b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s-BO" dirty="0" smtClean="0"/>
              <a:t>Contar con más recurso humano.</a:t>
            </a:r>
          </a:p>
          <a:p>
            <a:pPr lvl="0"/>
            <a:r>
              <a:rPr lang="es-BO" dirty="0" smtClean="0"/>
              <a:t>Realizar capacitaciones al persona de salud.</a:t>
            </a:r>
          </a:p>
          <a:p>
            <a:pPr lvl="0"/>
            <a:r>
              <a:rPr lang="es-BO" dirty="0" smtClean="0"/>
              <a:t>Durante el tiempo de espera se debe de dar charlas</a:t>
            </a:r>
          </a:p>
          <a:p>
            <a:pPr lvl="0"/>
            <a:r>
              <a:rPr lang="es-BO" dirty="0" smtClean="0"/>
              <a:t>Otorgar un área que sea para consejería.</a:t>
            </a:r>
          </a:p>
          <a:p>
            <a:pPr lvl="0"/>
            <a:r>
              <a:rPr lang="es-BO" dirty="0" smtClean="0"/>
              <a:t>Contar con medios audiovisuales.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 descr="C:\Users\Lilian\Pictures\FOTITOS CHIQUI\SDC12105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57620" y="2357430"/>
            <a:ext cx="4762534" cy="3571900"/>
          </a:xfrm>
          <a:prstGeom prst="rect">
            <a:avLst/>
          </a:prstGeom>
          <a:noFill/>
        </p:spPr>
      </p:pic>
      <p:sp>
        <p:nvSpPr>
          <p:cNvPr id="4" name="3 Rectángulo"/>
          <p:cNvSpPr/>
          <p:nvPr/>
        </p:nvSpPr>
        <p:spPr>
          <a:xfrm>
            <a:off x="785786" y="2643183"/>
            <a:ext cx="4500595" cy="1323439"/>
          </a:xfrm>
          <a:prstGeom prst="rect">
            <a:avLst/>
          </a:prstGeom>
          <a:solidFill>
            <a:srgbClr val="0070C0"/>
          </a:solidFill>
          <a:ln>
            <a:solidFill>
              <a:srgbClr val="FFFF00"/>
            </a:solidFill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8000" b="1" cap="none" spc="0" dirty="0" smtClean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rgbClr val="FFFF00"/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GRACIAS</a:t>
            </a:r>
            <a:endParaRPr lang="es-ES" sz="8000" b="1" cap="none" spc="0" dirty="0">
              <a:ln w="17780" cmpd="sng">
                <a:solidFill>
                  <a:schemeClr val="accent1">
                    <a:tint val="3000"/>
                  </a:schemeClr>
                </a:solidFill>
                <a:prstDash val="solid"/>
                <a:miter lim="800000"/>
              </a:ln>
              <a:solidFill>
                <a:srgbClr val="FFFF00"/>
              </a:solidFill>
              <a:effectLst>
                <a:outerShdw blurRad="55000" dist="50800" dir="5400000" algn="tl">
                  <a:srgbClr val="000000">
                    <a:alpha val="33000"/>
                  </a:srgbClr>
                </a:outerShdw>
              </a:effectLst>
            </a:endParaRP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iajes">
  <a:themeElements>
    <a:clrScheme name="Viajes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Viaje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Viajes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1048</TotalTime>
  <Words>1460</Words>
  <Application>Microsoft Office PowerPoint</Application>
  <PresentationFormat>Presentación en pantalla (4:3)</PresentationFormat>
  <Paragraphs>171</Paragraphs>
  <Slides>43</Slides>
  <Notes>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43</vt:i4>
      </vt:variant>
    </vt:vector>
  </HeadingPairs>
  <TitlesOfParts>
    <vt:vector size="44" baseType="lpstr">
      <vt:lpstr>Viajes</vt:lpstr>
      <vt:lpstr>MINISTERIO DE SALUD Y DEPORTES PREFECTURA DEL DEPARTAMENTO SERVICIO DEPARTAMENTAL DE SALUD COCHABAMBA </vt:lpstr>
      <vt:lpstr>PERFÍL DE LA INVESTIGACIÓN</vt:lpstr>
      <vt:lpstr>PLANTEAMIENTO DEL PROBLEMA</vt:lpstr>
      <vt:lpstr>Justificación</vt:lpstr>
      <vt:lpstr>Objetivos</vt:lpstr>
      <vt:lpstr>Objetivos</vt:lpstr>
      <vt:lpstr>MARCO TEÓRICO </vt:lpstr>
      <vt:lpstr>Introducción</vt:lpstr>
      <vt:lpstr>Centro de salud.</vt:lpstr>
      <vt:lpstr>Ubicación del centro de salud</vt:lpstr>
      <vt:lpstr>Aplicación de Atención Familiar Comunitaria Intercultural</vt:lpstr>
      <vt:lpstr>Primer Nivel de Complejidad </vt:lpstr>
      <vt:lpstr>Actividades del centro de salud</vt:lpstr>
      <vt:lpstr>Actividades del centro de salud</vt:lpstr>
      <vt:lpstr>En la Comunidad   </vt:lpstr>
      <vt:lpstr>Recurso Humano</vt:lpstr>
      <vt:lpstr>Diapositiva 17</vt:lpstr>
      <vt:lpstr>Calidad de atención </vt:lpstr>
      <vt:lpstr>Derechos de los pacientes.</vt:lpstr>
      <vt:lpstr>DISEÑO Metodológico </vt:lpstr>
      <vt:lpstr>Enfoque </vt:lpstr>
      <vt:lpstr>Diapositiva 22</vt:lpstr>
      <vt:lpstr>Universo y población</vt:lpstr>
      <vt:lpstr>Identificación de variables</vt:lpstr>
      <vt:lpstr>Métodos e instrumentos</vt:lpstr>
      <vt:lpstr>Alcances y limitaciones </vt:lpstr>
      <vt:lpstr>PRESENTACIÓN   Y ANÁLISIS DE RESULTADOS </vt:lpstr>
      <vt:lpstr>Distribución de pacientes que acuden al centro de salud según el sexo </vt:lpstr>
      <vt:lpstr>Distribución de los pacientes que acuden al centro de salud según la ubicación de su domicilio. </vt:lpstr>
      <vt:lpstr>Distribución de los pacientes que acuden al centro de salud según el medio de transporte que  toman </vt:lpstr>
      <vt:lpstr>Distribución de los pacientes según el tipo de infraestructura. </vt:lpstr>
      <vt:lpstr>Distribución de pacientes que acuden al centro de salud según el tipo de ocupación  </vt:lpstr>
      <vt:lpstr>Distribución de los pacientes que acuden al centro de salud según el área donde esperan más para recibir atención por parte del personal de salud. </vt:lpstr>
      <vt:lpstr>Distribución de los pacientes que acuden al centro de salud según la estadía en el centro de salud </vt:lpstr>
      <vt:lpstr>Distribución de los pacientes que acuden al centro de salud según el área en la cual reciben mejor atención </vt:lpstr>
      <vt:lpstr>Distribución de los pacientes que acuden al centro de salud según el conocimiento que tienen sobre sus derechos y las del médico</vt:lpstr>
      <vt:lpstr>Distribución del personal de salud según el tiempo que dedican a la atención de los pacientes. </vt:lpstr>
      <vt:lpstr>Distribución del personal de salud según  el trato que reciben por parte de los pacientes. </vt:lpstr>
      <vt:lpstr>Distribución del personal de salud según el respeto que reciben de sus pacientes. </vt:lpstr>
      <vt:lpstr>Conclusiones Y RECOMENDACIONES  </vt:lpstr>
      <vt:lpstr>Conclusiones </vt:lpstr>
      <vt:lpstr>Recomendaciones: </vt:lpstr>
      <vt:lpstr>Diapositiva 43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Lilian</dc:creator>
  <cp:lastModifiedBy>Lilian</cp:lastModifiedBy>
  <cp:revision>67</cp:revision>
  <dcterms:created xsi:type="dcterms:W3CDTF">2010-05-18T15:02:46Z</dcterms:created>
  <dcterms:modified xsi:type="dcterms:W3CDTF">2010-06-16T22:57:07Z</dcterms:modified>
</cp:coreProperties>
</file>