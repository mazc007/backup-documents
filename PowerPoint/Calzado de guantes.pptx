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4" r:id="rId9"/>
    <p:sldId id="265" r:id="rId10"/>
    <p:sldId id="266" r:id="rId11"/>
    <p:sldId id="263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8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5960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23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9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81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43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8990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04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9520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2774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52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45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97752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3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944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926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99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AA29B7-DF30-4814-AC12-1C736671FF07}" type="datetimeFigureOut">
              <a:rPr lang="es-BO" smtClean="0"/>
              <a:t>5/7/2018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3BB375-3B2F-4D00-853B-D6AA6423BDB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2682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3.bp.blogspot.com/-FH88jIVVkCA/UR8F8L1Fj2I/AAAAAAAAArs/Z0bdmEfXz5g/s1600/Calzado+de+guantes+2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3.bp.blogspot.com/-FH88jIVVkCA/UR8F8L1Fj2I/AAAAAAAAArs/Z0bdmEfXz5g/s1600/Calzado+de+guantes+2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3.bp.blogspot.com/-FH88jIVVkCA/UR8F8L1Fj2I/AAAAAAAAArs/Z0bdmEfXz5g/s1600/Calzado+de+guantes+2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3.bp.blogspot.com/-FH88jIVVkCA/UR8F8L1Fj2I/AAAAAAAAArs/Z0bdmEfXz5g/s1600/Calzado+de+guantes+2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3759199"/>
            <a:ext cx="151130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 smtClean="0"/>
              <a:t>Calzado de guantes </a:t>
            </a:r>
            <a:endParaRPr lang="es-BO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Lic. Lilian Zapata Claros</a:t>
            </a:r>
          </a:p>
          <a:p>
            <a:r>
              <a:rPr lang="es-ES" dirty="0" smtClean="0"/>
              <a:t>Servicio de Emergencias</a:t>
            </a:r>
          </a:p>
          <a:p>
            <a:r>
              <a:rPr lang="es-ES" dirty="0" smtClean="0"/>
              <a:t>2018</a:t>
            </a:r>
            <a:endParaRPr lang="es-BO" dirty="0"/>
          </a:p>
        </p:txBody>
      </p:sp>
      <p:pic>
        <p:nvPicPr>
          <p:cNvPr id="4" name="Imagen 3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7962900" y="1699680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794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811212"/>
            <a:ext cx="9309100" cy="520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8826500" y="963080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0583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530601"/>
            <a:ext cx="2717800" cy="24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GENERALIDADES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dirty="0"/>
              <a:t> Los guantes son una barrera física que protege, tanto a los trabajadores de los servicios sanitarios, como a los usuarios que acuden a dichos servicios mediante:</a:t>
            </a:r>
          </a:p>
          <a:p>
            <a:r>
              <a:rPr lang="es-BO" dirty="0"/>
              <a:t>- La prevención de la contaminación de las manos de los </a:t>
            </a:r>
            <a:r>
              <a:rPr lang="es-BO" dirty="0" smtClean="0"/>
              <a:t>trabajadores. </a:t>
            </a:r>
            <a:r>
              <a:rPr lang="es-BO" dirty="0"/>
              <a:t>cuando entran en contacto con sangre, fluidos, secreciones, líquidos corporales, piel no intacta</a:t>
            </a:r>
            <a:r>
              <a:rPr lang="es-BO" dirty="0" smtClean="0"/>
              <a:t>.</a:t>
            </a:r>
          </a:p>
          <a:p>
            <a:r>
              <a:rPr lang="es-BO" dirty="0" smtClean="0"/>
              <a:t>- </a:t>
            </a:r>
            <a:r>
              <a:rPr lang="es-BO" dirty="0"/>
              <a:t>Reduciendo la probabilidad de que los </a:t>
            </a:r>
            <a:r>
              <a:rPr lang="es-BO" dirty="0" smtClean="0"/>
              <a:t>microorganismos</a:t>
            </a:r>
            <a:endParaRPr lang="es-BO" dirty="0"/>
          </a:p>
          <a:p>
            <a:r>
              <a:rPr lang="es-BO" dirty="0"/>
              <a:t>- Reduciendo la probabilidad </a:t>
            </a:r>
            <a:r>
              <a:rPr lang="es-BO" dirty="0" smtClean="0"/>
              <a:t>infecciones cruzadas.</a:t>
            </a:r>
            <a:endParaRPr lang="es-BO" dirty="0"/>
          </a:p>
          <a:p>
            <a:endParaRPr lang="es-BO" dirty="0"/>
          </a:p>
        </p:txBody>
      </p:sp>
      <p:pic>
        <p:nvPicPr>
          <p:cNvPr id="5" name="Imagen 4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1562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0" t="39562" r="26698" b="16180"/>
          <a:stretch/>
        </p:blipFill>
        <p:spPr bwMode="auto">
          <a:xfrm>
            <a:off x="6451600" y="3454400"/>
            <a:ext cx="31115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cap="all" dirty="0" smtClean="0"/>
              <a:t>Objetivos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BO" dirty="0"/>
              <a:t>Identificar mediante la observación los pasos de la colocación de los guantes estériles </a:t>
            </a:r>
          </a:p>
          <a:p>
            <a:pPr lvl="0"/>
            <a:r>
              <a:rPr lang="es-BO" dirty="0"/>
              <a:t>Reconocer la importancia de cada paso </a:t>
            </a:r>
            <a:r>
              <a:rPr lang="es-BO" dirty="0" smtClean="0"/>
              <a:t>en </a:t>
            </a:r>
            <a:r>
              <a:rPr lang="es-BO" dirty="0"/>
              <a:t>el éxito de la técnica aséptica  </a:t>
            </a:r>
          </a:p>
          <a:p>
            <a:pPr lvl="0"/>
            <a:r>
              <a:rPr lang="es-BO" dirty="0"/>
              <a:t>Realizar el procedimiento con técnica </a:t>
            </a:r>
            <a:r>
              <a:rPr lang="es-BO" dirty="0" smtClean="0"/>
              <a:t>aséptica.</a:t>
            </a:r>
          </a:p>
          <a:p>
            <a:pPr lvl="0"/>
            <a:r>
              <a:rPr lang="es-BO" dirty="0" smtClean="0"/>
              <a:t>Señalar </a:t>
            </a:r>
            <a:r>
              <a:rPr lang="es-BO" dirty="0"/>
              <a:t>la importancia de la técnica aséptica en la colocación de los guantes asociado a los </a:t>
            </a:r>
            <a:r>
              <a:rPr lang="es-BO" dirty="0" smtClean="0"/>
              <a:t>procedimientos.</a:t>
            </a:r>
            <a:endParaRPr lang="es-BO" dirty="0"/>
          </a:p>
          <a:p>
            <a:pPr lvl="0"/>
            <a:r>
              <a:rPr lang="es-ES" dirty="0"/>
              <a:t>Manipular material </a:t>
            </a:r>
            <a:r>
              <a:rPr lang="es-ES" dirty="0" smtClean="0"/>
              <a:t>estéril</a:t>
            </a:r>
            <a:r>
              <a:rPr lang="es-BO" dirty="0" smtClean="0"/>
              <a:t>.</a:t>
            </a:r>
            <a:endParaRPr lang="es-BO" dirty="0"/>
          </a:p>
        </p:txBody>
      </p:sp>
      <p:pic>
        <p:nvPicPr>
          <p:cNvPr id="4" name="Imagen 3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0392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530601"/>
            <a:ext cx="2717800" cy="24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113368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INDICACIONES Y RECOMENDACIONES </a:t>
            </a:r>
            <a:endParaRPr lang="es-BO" dirty="0"/>
          </a:p>
        </p:txBody>
      </p:sp>
      <p:sp>
        <p:nvSpPr>
          <p:cNvPr id="10" name="Marcador de contenido 9"/>
          <p:cNvSpPr>
            <a:spLocks noGrp="1"/>
          </p:cNvSpPr>
          <p:nvPr>
            <p:ph sz="half" idx="1"/>
          </p:nvPr>
        </p:nvSpPr>
        <p:spPr>
          <a:xfrm>
            <a:off x="1424942" y="2552700"/>
            <a:ext cx="4718304" cy="3406648"/>
          </a:xfrm>
        </p:spPr>
        <p:txBody>
          <a:bodyPr>
            <a:noAutofit/>
          </a:bodyPr>
          <a:lstStyle/>
          <a:p>
            <a:r>
              <a:rPr lang="es-BO" sz="1600" dirty="0"/>
              <a:t>Procedimientos o técnicas sanitarias en los que se produzca contacto con sangre, tejidos y fluidos biológicos. </a:t>
            </a:r>
          </a:p>
          <a:p>
            <a:r>
              <a:rPr lang="es-BO" sz="1600" dirty="0" smtClean="0"/>
              <a:t>Manipulación </a:t>
            </a:r>
            <a:r>
              <a:rPr lang="es-BO" sz="1600" dirty="0"/>
              <a:t>de objetos, materiales o superficies contaminados con sangre o fluidos biológicos. </a:t>
            </a:r>
          </a:p>
          <a:p>
            <a:r>
              <a:rPr lang="es-BO" sz="1600" dirty="0" smtClean="0"/>
              <a:t>Curas </a:t>
            </a:r>
            <a:r>
              <a:rPr lang="es-BO" sz="1600" dirty="0"/>
              <a:t>de heridas y cualquier otro procedimiento </a:t>
            </a:r>
            <a:r>
              <a:rPr lang="es-BO" sz="1600" dirty="0" smtClean="0"/>
              <a:t>invasivo.</a:t>
            </a:r>
            <a:endParaRPr lang="es-BO" sz="1600" dirty="0"/>
          </a:p>
          <a:p>
            <a:r>
              <a:rPr lang="es-BO" sz="1600" dirty="0" smtClean="0"/>
              <a:t>Contacto </a:t>
            </a:r>
            <a:r>
              <a:rPr lang="es-BO" sz="1600" dirty="0"/>
              <a:t>con las mucosas o con piel no íntegra del paciente. </a:t>
            </a:r>
          </a:p>
          <a:p>
            <a:r>
              <a:rPr lang="es-BO" sz="1600" dirty="0" smtClean="0"/>
              <a:t>Cuando </a:t>
            </a:r>
            <a:r>
              <a:rPr lang="es-BO" sz="1600" dirty="0"/>
              <a:t>exista indicación expresa del </a:t>
            </a:r>
            <a:r>
              <a:rPr lang="es-BO" sz="1600" dirty="0" smtClean="0"/>
              <a:t>procedimiento invasivo </a:t>
            </a:r>
            <a:r>
              <a:rPr lang="es-BO" sz="1600" dirty="0"/>
              <a:t>(por ejemplo, en pacientes en estado crítico). </a:t>
            </a:r>
          </a:p>
        </p:txBody>
      </p:sp>
      <p:sp>
        <p:nvSpPr>
          <p:cNvPr id="11" name="Marcador de contenido 10"/>
          <p:cNvSpPr>
            <a:spLocks noGrp="1"/>
          </p:cNvSpPr>
          <p:nvPr>
            <p:ph sz="half" idx="2"/>
          </p:nvPr>
        </p:nvSpPr>
        <p:spPr>
          <a:xfrm>
            <a:off x="6181344" y="2463800"/>
            <a:ext cx="4718304" cy="3406648"/>
          </a:xfrm>
        </p:spPr>
        <p:txBody>
          <a:bodyPr>
            <a:normAutofit fontScale="62500" lnSpcReduction="20000"/>
          </a:bodyPr>
          <a:lstStyle/>
          <a:p>
            <a:r>
              <a:rPr lang="es-BO" sz="2600" dirty="0"/>
              <a:t>1. Lavar y secar las manos antes de colocar los guantes.</a:t>
            </a:r>
          </a:p>
          <a:p>
            <a:r>
              <a:rPr lang="es-BO" sz="2600" dirty="0"/>
              <a:t>2. El uso de guantes no sustituye el lavado de manos</a:t>
            </a:r>
          </a:p>
          <a:p>
            <a:r>
              <a:rPr lang="es-BO" sz="2600" dirty="0"/>
              <a:t>3. Llevar las uñas cortas y no utilizar anillos ni </a:t>
            </a:r>
            <a:r>
              <a:rPr lang="es-BO" sz="2600" dirty="0" smtClean="0"/>
              <a:t>pulseras. </a:t>
            </a:r>
          </a:p>
          <a:p>
            <a:r>
              <a:rPr lang="es-BO" sz="2600" dirty="0" smtClean="0"/>
              <a:t>4</a:t>
            </a:r>
            <a:r>
              <a:rPr lang="es-BO" sz="2600" dirty="0"/>
              <a:t>. Cubrir con un apósito cualquier herida localizada en las manos</a:t>
            </a:r>
          </a:p>
          <a:p>
            <a:r>
              <a:rPr lang="es-BO" sz="2600" dirty="0"/>
              <a:t>5. Conservar los guantes alejados de fuentes de calor y de la acción de la luz solar.</a:t>
            </a:r>
          </a:p>
          <a:p>
            <a:r>
              <a:rPr lang="es-BO" sz="2600" dirty="0"/>
              <a:t>6. Elegir el guante del tamaño apropiado, evitando que esté </a:t>
            </a:r>
            <a:r>
              <a:rPr lang="es-BO" sz="2600" dirty="0" smtClean="0"/>
              <a:t>flojo</a:t>
            </a:r>
          </a:p>
          <a:p>
            <a:r>
              <a:rPr lang="es-ES" dirty="0" smtClean="0"/>
              <a:t>Lavarse las manos después del uso de guantes.</a:t>
            </a:r>
            <a:endParaRPr lang="es-BO" dirty="0"/>
          </a:p>
        </p:txBody>
      </p:sp>
      <p:pic>
        <p:nvPicPr>
          <p:cNvPr id="13" name="Imagen 12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715500" y="663573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5344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530601"/>
            <a:ext cx="2717800" cy="24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Calzado de guantes de procedimiento </a:t>
            </a:r>
            <a:endParaRPr lang="es-BO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BO" dirty="0"/>
              <a:t>Elegir el guante adecuado en función de la asistencia a realizar.</a:t>
            </a:r>
          </a:p>
          <a:p>
            <a:pPr lvl="0"/>
            <a:r>
              <a:rPr lang="es-BO" dirty="0"/>
              <a:t>Elegir la talla adecuada. </a:t>
            </a:r>
          </a:p>
          <a:p>
            <a:pPr lvl="0"/>
            <a:r>
              <a:rPr lang="es-BO" dirty="0"/>
              <a:t>Lavado y secado de manos. </a:t>
            </a:r>
          </a:p>
          <a:p>
            <a:pPr lvl="0"/>
            <a:r>
              <a:rPr lang="es-BO" dirty="0"/>
              <a:t>Revisar que el guante se encuentra en buen estado al sacarlo de su presentación. </a:t>
            </a:r>
          </a:p>
          <a:p>
            <a:pPr lvl="0"/>
            <a:r>
              <a:rPr lang="es-BO" dirty="0"/>
              <a:t>Colocarse los guantes (tener en cuenta no contaminar los guantes si la asistencia requiere esterilidad). </a:t>
            </a:r>
          </a:p>
          <a:p>
            <a:pPr lvl="0"/>
            <a:r>
              <a:rPr lang="es-BO" dirty="0"/>
              <a:t>Comprobar el buen estado y continuidad del guante de forma previa a la asistencia (buen ajuste, inexistencia de poros o </a:t>
            </a:r>
            <a:r>
              <a:rPr lang="es-BO" dirty="0" smtClean="0"/>
              <a:t>roturas)</a:t>
            </a:r>
            <a:endParaRPr lang="es-BO" dirty="0"/>
          </a:p>
          <a:p>
            <a:pPr marL="0" indent="0">
              <a:buNone/>
            </a:pPr>
            <a:endParaRPr lang="es-BO" dirty="0"/>
          </a:p>
        </p:txBody>
      </p:sp>
      <p:pic>
        <p:nvPicPr>
          <p:cNvPr id="7" name="Imagen 6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7409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3457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Calzado de guantes técnica abierta</a:t>
            </a:r>
            <a:endParaRPr lang="es-BO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BO" dirty="0"/>
              <a:t>Elija el guante de acuerdo a su talla. </a:t>
            </a:r>
            <a:r>
              <a:rPr lang="es-BO" dirty="0" smtClean="0"/>
              <a:t>Abra </a:t>
            </a:r>
            <a:r>
              <a:rPr lang="es-BO" dirty="0"/>
              <a:t>la envoltura externa por el sitio indicado por el fabricante</a:t>
            </a:r>
            <a:r>
              <a:rPr lang="es-BO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BO" dirty="0"/>
              <a:t>Coloque la envoltura interna de los guantes sobre una superficie limpia y seca. </a:t>
            </a:r>
          </a:p>
          <a:p>
            <a:pPr marL="457200" indent="-457200">
              <a:buFont typeface="+mj-lt"/>
              <a:buAutoNum type="arabicPeriod"/>
            </a:pPr>
            <a:endParaRPr lang="es-BO" dirty="0" smtClean="0"/>
          </a:p>
          <a:p>
            <a:pPr marL="0" indent="0">
              <a:buNone/>
            </a:pPr>
            <a:endParaRPr lang="es-BO" dirty="0"/>
          </a:p>
          <a:p>
            <a:endParaRPr lang="es-BO" dirty="0"/>
          </a:p>
        </p:txBody>
      </p:sp>
      <p:pic>
        <p:nvPicPr>
          <p:cNvPr id="6" name="Imagen 5" descr="http://3.bp.blogspot.com/-FH88jIVVkCA/UR8F8L1Fj2I/AAAAAAAAArs/Z0bdmEfXz5g/s1600/Calzado+de+guantes+2.jp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" t="205" r="-773" b="75026"/>
          <a:stretch/>
        </p:blipFill>
        <p:spPr bwMode="auto">
          <a:xfrm>
            <a:off x="4191001" y="3784600"/>
            <a:ext cx="4432300" cy="2091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Resultado de imagen para logo hospital univalle norte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740900" y="663572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2498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Calzado de guantes técnica abierta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BO" dirty="0" smtClean="0"/>
              <a:t>3. Oriente </a:t>
            </a:r>
            <a:r>
              <a:rPr lang="es-BO" dirty="0"/>
              <a:t>los guantes de tal forma que los dobleces queden proximales a su cuerpo. </a:t>
            </a:r>
            <a:endParaRPr lang="es-BO" dirty="0" smtClean="0"/>
          </a:p>
          <a:p>
            <a:pPr marL="0" indent="0">
              <a:buNone/>
            </a:pPr>
            <a:r>
              <a:rPr lang="es-BO" dirty="0" smtClean="0"/>
              <a:t>4. Abra </a:t>
            </a:r>
            <a:r>
              <a:rPr lang="es-BO" dirty="0"/>
              <a:t>la envoltura interna del guante sin tocar el interior de la misma. </a:t>
            </a:r>
            <a:r>
              <a:rPr lang="es-BO" dirty="0" smtClean="0"/>
              <a:t>Tome </a:t>
            </a:r>
            <a:r>
              <a:rPr lang="es-BO" dirty="0"/>
              <a:t>con la mano no dominante el guante de la mano dominante, por la parte superior del dobles y levántelo. </a:t>
            </a:r>
          </a:p>
        </p:txBody>
      </p:sp>
      <p:pic>
        <p:nvPicPr>
          <p:cNvPr id="4" name="Imagen 3" descr="http://3.bp.blogspot.com/-FH88jIVVkCA/UR8F8L1Fj2I/AAAAAAAAArs/Z0bdmEfXz5g/s1600/Calzado+de+guantes+2.jp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78" t="24563" r="3478" b="51232"/>
          <a:stretch/>
        </p:blipFill>
        <p:spPr bwMode="auto">
          <a:xfrm>
            <a:off x="5308600" y="4377268"/>
            <a:ext cx="48641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Resultado de imagen para logo hospital univalle norte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842500" y="663572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4669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Calzado de guantes técnica abierta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dirty="0" smtClean="0"/>
              <a:t>5. Introduzca </a:t>
            </a:r>
            <a:r>
              <a:rPr lang="es-BO" dirty="0"/>
              <a:t>la mano dominante en el guante hasta que calcen todos los dedos. Estire el guante tomándolo de la parte interna para su ajuste correcto. </a:t>
            </a:r>
          </a:p>
          <a:p>
            <a:endParaRPr lang="es-BO" dirty="0"/>
          </a:p>
          <a:p>
            <a:endParaRPr lang="es-BO" dirty="0"/>
          </a:p>
        </p:txBody>
      </p:sp>
      <p:pic>
        <p:nvPicPr>
          <p:cNvPr id="4" name="Imagen 3" descr="http://3.bp.blogspot.com/-FH88jIVVkCA/UR8F8L1Fj2I/AAAAAAAAArs/Z0bdmEfXz5g/s1600/Calzado+de+guantes+2.jp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3" b="25179"/>
          <a:stretch/>
        </p:blipFill>
        <p:spPr bwMode="auto">
          <a:xfrm>
            <a:off x="3987801" y="3276599"/>
            <a:ext cx="4419599" cy="228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Resultado de imagen para logo hospital univalle norte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88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Calzado de guantes técnica abierta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dirty="0" smtClean="0"/>
              <a:t>6. Introduzca </a:t>
            </a:r>
            <a:r>
              <a:rPr lang="es-BO" dirty="0"/>
              <a:t>los dedos de la mano enguantada debajo del doblez del guante sobrante y levántelo. </a:t>
            </a:r>
          </a:p>
          <a:p>
            <a:pPr marL="0" indent="0">
              <a:buNone/>
            </a:pPr>
            <a:r>
              <a:rPr lang="es-BO" dirty="0" smtClean="0"/>
              <a:t>7. Introduzca </a:t>
            </a:r>
            <a:r>
              <a:rPr lang="es-BO" dirty="0"/>
              <a:t>la mano no dominante en el guante y ajústelo. </a:t>
            </a:r>
          </a:p>
          <a:p>
            <a:endParaRPr lang="es-BO" dirty="0"/>
          </a:p>
        </p:txBody>
      </p:sp>
      <p:pic>
        <p:nvPicPr>
          <p:cNvPr id="4" name="Imagen 3" descr="http://3.bp.blogspot.com/-FH88jIVVkCA/UR8F8L1Fj2I/AAAAAAAAArs/Z0bdmEfXz5g/s1600/Calzado+de+guantes+2.jp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79" r="41111"/>
          <a:stretch/>
        </p:blipFill>
        <p:spPr bwMode="auto">
          <a:xfrm>
            <a:off x="5359400" y="4066117"/>
            <a:ext cx="3365499" cy="18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Resultado de imagen para logo hospital univalle norte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112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530601"/>
            <a:ext cx="2717800" cy="24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Calzado de guantes técnica cerrada</a:t>
            </a:r>
            <a:endParaRPr lang="es-BO" dirty="0"/>
          </a:p>
        </p:txBody>
      </p:sp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BO" dirty="0"/>
              <a:t>1. Lavar las manos de acuerdo a la técnica anteriormente descrita.</a:t>
            </a:r>
          </a:p>
          <a:p>
            <a:r>
              <a:rPr lang="es-BO" dirty="0"/>
              <a:t>2. No sacar las manos de los puños de la bata hasta que el guante esté colocado.</a:t>
            </a:r>
          </a:p>
          <a:p>
            <a:r>
              <a:rPr lang="es-BO" dirty="0"/>
              <a:t>3. Sujete el guante derecho con la mano izquierda.</a:t>
            </a:r>
          </a:p>
          <a:p>
            <a:r>
              <a:rPr lang="es-BO" dirty="0"/>
              <a:t>4. Manteniendo los brazos por encima de la cintura, deje la mano derecha con la</a:t>
            </a:r>
          </a:p>
          <a:p>
            <a:r>
              <a:rPr lang="es-BO" dirty="0"/>
              <a:t>palma hacia abajo, los dedos en dirección a los codos y la muñeca del guante</a:t>
            </a:r>
          </a:p>
          <a:p>
            <a:r>
              <a:rPr lang="es-BO" dirty="0"/>
              <a:t>sobre el puño de la blusa.</a:t>
            </a:r>
          </a:p>
          <a:p>
            <a:r>
              <a:rPr lang="es-BO" dirty="0"/>
              <a:t>5. Tome el guante con la mano que va a enguantar y ayude con la otra para</a:t>
            </a:r>
          </a:p>
          <a:p>
            <a:r>
              <a:rPr lang="es-BO" dirty="0"/>
              <a:t>estirar el guante hasta que cubra totalmente la abertura de la blusa.</a:t>
            </a:r>
          </a:p>
          <a:p>
            <a:endParaRPr lang="es-BO" dirty="0"/>
          </a:p>
        </p:txBody>
      </p:sp>
      <p:pic>
        <p:nvPicPr>
          <p:cNvPr id="8" name="Imagen 7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99937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sultado de imagen para calzado de guantes 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3530601"/>
            <a:ext cx="2717800" cy="24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Calzado de guantes técnica cerrada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BO" dirty="0"/>
              <a:t>5. Estire el guante sobre el extremo de la manga y la mano empezando a introducir</a:t>
            </a:r>
          </a:p>
          <a:p>
            <a:r>
              <a:rPr lang="es-BO" dirty="0"/>
              <a:t>los dedos en la apertura de la manga.</a:t>
            </a:r>
          </a:p>
          <a:p>
            <a:r>
              <a:rPr lang="es-BO" dirty="0"/>
              <a:t>6. Sujetando la manga y el guante, estírelos como si ambos fueran una unidad.</a:t>
            </a:r>
          </a:p>
          <a:p>
            <a:r>
              <a:rPr lang="es-BO" dirty="0"/>
              <a:t>7. Con la mano derecha tome el guante izquierdo y repita el mismo</a:t>
            </a:r>
          </a:p>
          <a:p>
            <a:r>
              <a:rPr lang="es-BO" dirty="0"/>
              <a:t>procedimiento,</a:t>
            </a:r>
          </a:p>
          <a:p>
            <a:r>
              <a:rPr lang="es-BO" dirty="0"/>
              <a:t>asegurándose de que ambos guantes cubran completamente el puño tejido de</a:t>
            </a:r>
          </a:p>
          <a:p>
            <a:r>
              <a:rPr lang="es-BO" dirty="0"/>
              <a:t>la bata.</a:t>
            </a:r>
          </a:p>
          <a:p>
            <a:r>
              <a:rPr lang="es-BO" dirty="0"/>
              <a:t>8. Ajuste las puntas de los dedos del guante a la mano, de manera que no queden</a:t>
            </a:r>
          </a:p>
          <a:p>
            <a:r>
              <a:rPr lang="es-BO" dirty="0"/>
              <a:t>arrugas</a:t>
            </a:r>
            <a:r>
              <a:rPr lang="es-BO" dirty="0" smtClean="0"/>
              <a:t>.</a:t>
            </a:r>
            <a:endParaRPr lang="es-BO" dirty="0"/>
          </a:p>
        </p:txBody>
      </p:sp>
      <p:pic>
        <p:nvPicPr>
          <p:cNvPr id="4" name="Imagen 3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31406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 descr="http://media.zonates.com/03-04/guantes-de-proteccion-paso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0" y="2768600"/>
            <a:ext cx="3644900" cy="3067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Remoción del calzado de guantes</a:t>
            </a:r>
            <a:endParaRPr lang="es-BO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>
          <a:xfrm>
            <a:off x="1295400" y="2768600"/>
            <a:ext cx="4718304" cy="3107267"/>
          </a:xfrm>
        </p:spPr>
        <p:txBody>
          <a:bodyPr>
            <a:normAutofit/>
          </a:bodyPr>
          <a:lstStyle/>
          <a:p>
            <a:r>
              <a:rPr lang="es-BO" dirty="0"/>
              <a:t>Con el dedo pulgar de la mano no dominante tome del borde inferior y externo del guante de la mano dominante.</a:t>
            </a:r>
          </a:p>
          <a:p>
            <a:r>
              <a:rPr lang="es-BO" dirty="0"/>
              <a:t> Hale hacia afuera, libere el guante y manténgalo en la mano no dominante enguantada. </a:t>
            </a:r>
          </a:p>
          <a:p>
            <a:endParaRPr lang="es-BO" dirty="0"/>
          </a:p>
        </p:txBody>
      </p:sp>
      <p:pic>
        <p:nvPicPr>
          <p:cNvPr id="8" name="Imagen 7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6445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Remoción del calzado de guantes</a:t>
            </a:r>
            <a:endParaRPr lang="es-BO" dirty="0"/>
          </a:p>
        </p:txBody>
      </p:sp>
      <p:sp>
        <p:nvSpPr>
          <p:cNvPr id="13" name="Marcador de contenido 12"/>
          <p:cNvSpPr>
            <a:spLocks noGrp="1"/>
          </p:cNvSpPr>
          <p:nvPr>
            <p:ph sz="half" idx="2"/>
          </p:nvPr>
        </p:nvSpPr>
        <p:spPr>
          <a:xfrm>
            <a:off x="1282700" y="2857500"/>
            <a:ext cx="4718304" cy="3018367"/>
          </a:xfrm>
        </p:spPr>
        <p:txBody>
          <a:bodyPr>
            <a:normAutofit fontScale="92500" lnSpcReduction="10000"/>
          </a:bodyPr>
          <a:lstStyle/>
          <a:p>
            <a:r>
              <a:rPr lang="es-BO" dirty="0"/>
              <a:t>Con el dedo pulgar de la mano dominante tome del borde inferior e interno del guante de la mano no dominante.  </a:t>
            </a:r>
          </a:p>
          <a:p>
            <a:r>
              <a:rPr lang="es-BO" dirty="0"/>
              <a:t>Jale de manera que lo de adentro quede hacia afuera. </a:t>
            </a:r>
          </a:p>
          <a:p>
            <a:r>
              <a:rPr lang="es-BO" dirty="0"/>
              <a:t>Descártelos en la bolsa roja.</a:t>
            </a:r>
          </a:p>
          <a:p>
            <a:r>
              <a:rPr lang="es-BO" dirty="0"/>
              <a:t>Realice higiene de manos. </a:t>
            </a:r>
          </a:p>
          <a:p>
            <a:endParaRPr lang="es-BO" dirty="0"/>
          </a:p>
        </p:txBody>
      </p:sp>
      <p:pic>
        <p:nvPicPr>
          <p:cNvPr id="16" name="image" descr="http://media.zonates.com/03-04/guantes-de-proteccion-paso3.jpg"/>
          <p:cNvPicPr>
            <a:picLocks noGrp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2857500"/>
            <a:ext cx="2743200" cy="2601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n 16" descr="Resultado de imagen para logo hospital univalle norte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b="74286"/>
          <a:stretch/>
        </p:blipFill>
        <p:spPr bwMode="auto">
          <a:xfrm>
            <a:off x="9563100" y="711199"/>
            <a:ext cx="1724025" cy="637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23506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Complicaciones 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BO" dirty="0"/>
              <a:t>Contacto con secreciones y líquidos de precaución universal por rotura de los guantes. </a:t>
            </a:r>
          </a:p>
          <a:p>
            <a:pPr lvl="0"/>
            <a:r>
              <a:rPr lang="es-BO" dirty="0"/>
              <a:t>Aparición de infecciones secundaria al manejo incorrecto de los guantes. </a:t>
            </a:r>
          </a:p>
          <a:p>
            <a:pPr lvl="0"/>
            <a:r>
              <a:rPr lang="es-BO" dirty="0"/>
              <a:t>Alergia al látex. </a:t>
            </a:r>
          </a:p>
          <a:p>
            <a:r>
              <a:rPr lang="es-BO" dirty="0"/>
              <a:t>Dermatitis por </a:t>
            </a:r>
            <a:r>
              <a:rPr lang="es-BO" dirty="0" smtClean="0"/>
              <a:t>contacto.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927474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130</TotalTime>
  <Words>908</Words>
  <Application>Microsoft Office PowerPoint</Application>
  <PresentationFormat>Panorámica</PresentationFormat>
  <Paragraphs>79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Orgánico</vt:lpstr>
      <vt:lpstr>Calzado de guantes </vt:lpstr>
      <vt:lpstr>Presentación de PowerPoint</vt:lpstr>
      <vt:lpstr>GENERALIDADES</vt:lpstr>
      <vt:lpstr>Objetivos</vt:lpstr>
      <vt:lpstr>INDICACIONES Y RECOMENDACIONES </vt:lpstr>
      <vt:lpstr>Calzado de guantes de procedimiento </vt:lpstr>
      <vt:lpstr>Calzado de guantes técnica abierta</vt:lpstr>
      <vt:lpstr>Calzado de guantes técnica abierta</vt:lpstr>
      <vt:lpstr>Calzado de guantes técnica abierta</vt:lpstr>
      <vt:lpstr>Calzado de guantes técnica abierta</vt:lpstr>
      <vt:lpstr>Calzado de guantes técnica cerrada</vt:lpstr>
      <vt:lpstr>Calzado de guantes técnica cerrada</vt:lpstr>
      <vt:lpstr>Remoción del calzado de guantes</vt:lpstr>
      <vt:lpstr>Remoción del calzado de guantes</vt:lpstr>
      <vt:lpstr>Complicaciones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Calzado de guantes</dc:title>
  <dc:creator>MIGUEL</dc:creator>
  <cp:lastModifiedBy>MIGUEL</cp:lastModifiedBy>
  <cp:revision>12</cp:revision>
  <dcterms:created xsi:type="dcterms:W3CDTF">2018-07-05T21:48:25Z</dcterms:created>
  <dcterms:modified xsi:type="dcterms:W3CDTF">2018-07-05T23:59:09Z</dcterms:modified>
</cp:coreProperties>
</file>