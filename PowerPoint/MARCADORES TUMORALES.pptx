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3" r:id="rId3"/>
    <p:sldId id="264" r:id="rId4"/>
    <p:sldId id="265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3" d="100"/>
          <a:sy n="53" d="100"/>
        </p:scale>
        <p:origin x="-912" y="4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B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C7C31039-0822-48EB-8263-3DBF4B73BC19}" type="datetimeFigureOut">
              <a:rPr lang="es-BO" smtClean="0"/>
              <a:t>08/08/2014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23720DF-EF27-4983-B9C7-10964D190597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es.wikipedia.org/wiki/C%C3%A1nc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osalud.com/Cancerpacientes/Cancerdeestomago.htm" TargetMode="External"/><Relationship Id="rId2" Type="http://schemas.openxmlformats.org/officeDocument/2006/relationships/hyperlink" Target="http://www.geosalud.com/Cancerpacientes/higadoprimarioadultos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geosalud.com/Cancerpacientes/colorrectal.htm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osalud.com/Cancerpacientes/higadoindex.htm" TargetMode="External"/><Relationship Id="rId2" Type="http://schemas.openxmlformats.org/officeDocument/2006/relationships/hyperlink" Target="http://www.geosalud.com/Cancerpacientes/pancreas/pancreasindex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geosalud.com/Cancerpacientes/colorrectal.htm" TargetMode="External"/><Relationship Id="rId4" Type="http://schemas.openxmlformats.org/officeDocument/2006/relationships/hyperlink" Target="http://www.geosalud.com/Cancerpacientes/Cancerdeestomago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MARCADORES TUMORALES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0248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Concepto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/>
              <a:t>Los </a:t>
            </a:r>
            <a:r>
              <a:rPr lang="es-ES" b="1" dirty="0"/>
              <a:t>marcadores tumorales</a:t>
            </a:r>
            <a:r>
              <a:rPr lang="es-ES" dirty="0"/>
              <a:t> son una serie de sustancias que pueden detectarse en la sangre, la orina u otros tejidos del organismo y cuya presencia en una concentración superior a determinado nivel puede indicar la existencia de un </a:t>
            </a:r>
            <a:r>
              <a:rPr lang="es-ES" u="sng" dirty="0">
                <a:hlinkClick r:id="rId2" tooltip="Cáncer"/>
              </a:rPr>
              <a:t>cáncer</a:t>
            </a:r>
            <a:r>
              <a:rPr lang="es-ES" dirty="0"/>
              <a:t>. Aunque una concentración anormal de un marcador tumoral pueda sugerir la presencia de cáncer, esto, por sí mismo, no es suficiente para diagnosticarlo. Generalmente su utilidad se reduce a sospechar el diagnóstico o valorar la evolución de un tumor detectado por otros procedimientos. 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96348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Aplicaciones importantes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A. Diagnostico</a:t>
            </a:r>
          </a:p>
          <a:p>
            <a:r>
              <a:rPr lang="es-BO" b="1" dirty="0"/>
              <a:t>B. Monitoreo del tratamiento y detección de </a:t>
            </a:r>
            <a:r>
              <a:rPr lang="es-BO" b="1" dirty="0" smtClean="0"/>
              <a:t>recurrencias</a:t>
            </a:r>
          </a:p>
          <a:p>
            <a:r>
              <a:rPr lang="es-BO" b="1" dirty="0"/>
              <a:t>C. Pronóstico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40360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Tipos de marcadores tumorales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BO"/>
              <a:t>Sustancias "nuevas producidas" por el tumor debido a su proceso de indiferenciación</a:t>
            </a:r>
            <a:br>
              <a:rPr lang="es-BO"/>
            </a:br>
            <a:r>
              <a:rPr lang="es-BO"/>
              <a:t>" Sustancias normalmente producidas o liberadas por el tejido normal en muy bajas concentraciones pero en el tumor se producen en alta cantidad debido a su proceso de proliferación</a:t>
            </a:r>
            <a:br>
              <a:rPr lang="es-BO"/>
            </a:br>
            <a:r>
              <a:rPr lang="es-BO"/>
              <a:t>" Sustancias producidas por el tejido adyacente ante la presencia del tumor</a:t>
            </a:r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68362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AFP</a:t>
            </a:r>
            <a:br>
              <a:rPr lang="es-BO" dirty="0" smtClean="0"/>
            </a:br>
            <a:r>
              <a:rPr lang="es-BO" dirty="0" smtClean="0"/>
              <a:t>ALFAFETOPROTEINAS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BO" b="1" dirty="0"/>
              <a:t>Valores normales</a:t>
            </a:r>
            <a:r>
              <a:rPr lang="es-BO" dirty="0"/>
              <a:t/>
            </a:r>
            <a:br>
              <a:rPr lang="es-BO" dirty="0"/>
            </a:br>
            <a:r>
              <a:rPr lang="es-BO" dirty="0"/>
              <a:t>Hombres y mujeres no embarazadas: </a:t>
            </a:r>
            <a:endParaRPr lang="es-BO" dirty="0" smtClean="0"/>
          </a:p>
          <a:p>
            <a:pPr marL="0" indent="0">
              <a:buNone/>
            </a:pPr>
            <a:r>
              <a:rPr lang="es-BO" dirty="0"/>
              <a:t> </a:t>
            </a:r>
            <a:r>
              <a:rPr lang="es-BO" dirty="0" smtClean="0"/>
              <a:t>         0 </a:t>
            </a:r>
            <a:r>
              <a:rPr lang="es-BO" dirty="0"/>
              <a:t>- 5 </a:t>
            </a:r>
            <a:r>
              <a:rPr lang="es-BO" dirty="0" smtClean="0"/>
              <a:t>UI/ml</a:t>
            </a:r>
          </a:p>
          <a:p>
            <a:pPr marL="0" indent="0">
              <a:buNone/>
            </a:pPr>
            <a:r>
              <a:rPr lang="es-BO" b="1" dirty="0"/>
              <a:t>Descripción</a:t>
            </a:r>
            <a:br>
              <a:rPr lang="es-BO" b="1" dirty="0"/>
            </a:br>
            <a:r>
              <a:rPr lang="es-BO" dirty="0" smtClean="0"/>
              <a:t> La </a:t>
            </a:r>
            <a:r>
              <a:rPr lang="es-BO" dirty="0"/>
              <a:t>AFP es una glicoproteína producida por el hígado y se encuentra en muy elevada concentración en el feto, decreciendo rápidamente a como se acerca el nacimiento. </a:t>
            </a:r>
            <a:endParaRPr lang="es-BO" dirty="0" smtClean="0"/>
          </a:p>
          <a:p>
            <a:pPr marL="0" indent="0">
              <a:buNone/>
            </a:pPr>
            <a:endParaRPr lang="es-BO" dirty="0" smtClean="0"/>
          </a:p>
          <a:p>
            <a:endParaRPr lang="es-BO" dirty="0" smtClean="0"/>
          </a:p>
        </p:txBody>
      </p:sp>
    </p:spTree>
    <p:extLst>
      <p:ext uri="{BB962C8B-B14F-4D97-AF65-F5344CB8AC3E}">
        <p14:creationId xmlns:p14="http://schemas.microsoft.com/office/powerpoint/2010/main" val="2708461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ALFAFETOPROTEINAS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BO" dirty="0" smtClean="0"/>
              <a:t>Importancia </a:t>
            </a:r>
            <a:r>
              <a:rPr lang="es-BO" dirty="0" err="1" smtClean="0"/>
              <a:t>clinica</a:t>
            </a:r>
            <a:endParaRPr lang="es-BO" dirty="0" smtClean="0"/>
          </a:p>
          <a:p>
            <a:r>
              <a:rPr lang="es-BO" dirty="0"/>
              <a:t>Se va encontrar elevada en condiciones no malignas como el embarazo, hepatitis viral y cirrosis. </a:t>
            </a:r>
            <a:br>
              <a:rPr lang="es-BO" dirty="0"/>
            </a:br>
            <a:r>
              <a:rPr lang="es-BO" dirty="0"/>
              <a:t>Un 75% de los pacientes con </a:t>
            </a:r>
            <a:r>
              <a:rPr lang="es-BO" dirty="0">
                <a:hlinkClick r:id="rId2"/>
              </a:rPr>
              <a:t>cáncer primario de hígado</a:t>
            </a:r>
            <a:r>
              <a:rPr lang="es-BO" dirty="0"/>
              <a:t> tienen niveles séricos de AFP sobre 33 UI/ml. Esta se va a encontrar elevada en más del 70% de pacientes con cáncer de testículo no </a:t>
            </a:r>
            <a:r>
              <a:rPr lang="es-BO" dirty="0" err="1"/>
              <a:t>seminomatoso</a:t>
            </a:r>
            <a:r>
              <a:rPr lang="es-BO" dirty="0"/>
              <a:t>. Concentraciones elevadas sobre las 33 UI/ml se pueden encontrar en cáncer de páncreas (23 %), </a:t>
            </a:r>
            <a:r>
              <a:rPr lang="es-BO" dirty="0">
                <a:hlinkClick r:id="rId3"/>
              </a:rPr>
              <a:t>gástrico </a:t>
            </a:r>
            <a:r>
              <a:rPr lang="es-BO" dirty="0"/>
              <a:t>(18%), </a:t>
            </a:r>
            <a:r>
              <a:rPr lang="es-BO" dirty="0" err="1"/>
              <a:t>broncogénicos</a:t>
            </a:r>
            <a:r>
              <a:rPr lang="es-BO" dirty="0"/>
              <a:t> (7%) y 5% de </a:t>
            </a:r>
            <a:r>
              <a:rPr lang="es-BO" dirty="0" err="1">
                <a:hlinkClick r:id="rId4"/>
              </a:rPr>
              <a:t>cólon</a:t>
            </a:r>
            <a:r>
              <a:rPr lang="es-BO" dirty="0">
                <a:hlinkClick r:id="rId4"/>
              </a:rPr>
              <a:t>.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323596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HCG</a:t>
            </a:r>
            <a:br>
              <a:rPr lang="es-BO" dirty="0" smtClean="0"/>
            </a:br>
            <a:r>
              <a:rPr lang="es-BO" sz="4000" dirty="0" smtClean="0"/>
              <a:t>GOMADOTROPINA CORIONICA HUMANA</a:t>
            </a:r>
            <a:endParaRPr lang="es-BO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BO" b="1" dirty="0"/>
              <a:t>Valores normales</a:t>
            </a:r>
            <a:endParaRPr lang="es-BO" dirty="0"/>
          </a:p>
          <a:p>
            <a:r>
              <a:rPr lang="es-BO" dirty="0"/>
              <a:t>Hombres y mujeres no embarazadas: Menos de 5 </a:t>
            </a:r>
            <a:r>
              <a:rPr lang="es-BO" dirty="0" err="1"/>
              <a:t>mUI</a:t>
            </a:r>
            <a:r>
              <a:rPr lang="es-BO" dirty="0"/>
              <a:t>/ml</a:t>
            </a:r>
          </a:p>
          <a:p>
            <a:r>
              <a:rPr lang="es-BO" b="1" dirty="0"/>
              <a:t>Descripción</a:t>
            </a:r>
            <a:r>
              <a:rPr lang="es-BO" dirty="0"/>
              <a:t/>
            </a:r>
            <a:br>
              <a:rPr lang="es-BO" dirty="0"/>
            </a:br>
            <a:r>
              <a:rPr lang="es-BO" dirty="0" smtClean="0"/>
              <a:t>Hormona </a:t>
            </a:r>
            <a:r>
              <a:rPr lang="es-BO" dirty="0"/>
              <a:t>constituida por dos subunidades. La subunidad alfa la cual es idéntica a las subunidades beta de hormonas </a:t>
            </a:r>
            <a:r>
              <a:rPr lang="es-BO" dirty="0" err="1"/>
              <a:t>hipofisiarias</a:t>
            </a:r>
            <a:r>
              <a:rPr lang="es-BO" dirty="0"/>
              <a:t> como la LH, FSH y TSH. La subunidad beta es la que proporciona su función biológica específica y la que detecta específicamente a al hora de hacer la prueba. </a:t>
            </a:r>
          </a:p>
        </p:txBody>
      </p:sp>
    </p:spTree>
    <p:extLst>
      <p:ext uri="{BB962C8B-B14F-4D97-AF65-F5344CB8AC3E}">
        <p14:creationId xmlns:p14="http://schemas.microsoft.com/office/powerpoint/2010/main" val="162983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HCG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BO" b="1" dirty="0"/>
              <a:t>Importancia clínica</a:t>
            </a:r>
            <a:r>
              <a:rPr lang="es-BO" dirty="0"/>
              <a:t/>
            </a:r>
            <a:br>
              <a:rPr lang="es-BO" dirty="0"/>
            </a:br>
            <a:r>
              <a:rPr lang="es-BO" dirty="0"/>
              <a:t/>
            </a:r>
            <a:br>
              <a:rPr lang="es-BO" dirty="0"/>
            </a:br>
            <a:r>
              <a:rPr lang="es-BO" dirty="0"/>
              <a:t>La determinación cuantitativa de la </a:t>
            </a:r>
            <a:r>
              <a:rPr lang="es-BO" dirty="0" err="1"/>
              <a:t>hCG</a:t>
            </a:r>
            <a:r>
              <a:rPr lang="es-BO" dirty="0"/>
              <a:t> es de mucha utilidad en los seguimientos de embarazos, en diagnóstico de embarazos ectópicos, molas </a:t>
            </a:r>
            <a:r>
              <a:rPr lang="es-BO" dirty="0" err="1"/>
              <a:t>hidatidiformes</a:t>
            </a:r>
            <a:r>
              <a:rPr lang="es-BO" dirty="0"/>
              <a:t>, y tumores testiculares. Junto con la determinación del </a:t>
            </a:r>
            <a:r>
              <a:rPr lang="es-BO" dirty="0" err="1"/>
              <a:t>estriol</a:t>
            </a:r>
            <a:r>
              <a:rPr lang="es-BO" dirty="0"/>
              <a:t> y la AFP colaboran en la detección de problemas fetales como el síndrome de Down y la espina bífida.</a:t>
            </a:r>
          </a:p>
        </p:txBody>
      </p:sp>
    </p:spTree>
    <p:extLst>
      <p:ext uri="{BB962C8B-B14F-4D97-AF65-F5344CB8AC3E}">
        <p14:creationId xmlns:p14="http://schemas.microsoft.com/office/powerpoint/2010/main" val="3206636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CA 19-9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b="1" dirty="0"/>
              <a:t>Valores normales</a:t>
            </a:r>
            <a:r>
              <a:rPr lang="es-BO" dirty="0"/>
              <a:t/>
            </a:r>
            <a:br>
              <a:rPr lang="es-BO" dirty="0"/>
            </a:br>
            <a:r>
              <a:rPr lang="es-BO" dirty="0"/>
              <a:t/>
            </a:r>
            <a:br>
              <a:rPr lang="es-BO" dirty="0"/>
            </a:br>
            <a:r>
              <a:rPr lang="es-BO" dirty="0"/>
              <a:t>0- 37 UI/ml</a:t>
            </a:r>
          </a:p>
          <a:p>
            <a:r>
              <a:rPr lang="es-BO" b="1" dirty="0"/>
              <a:t>Descripción</a:t>
            </a:r>
            <a:r>
              <a:rPr lang="es-BO" dirty="0"/>
              <a:t/>
            </a:r>
            <a:br>
              <a:rPr lang="es-BO" dirty="0"/>
            </a:br>
            <a:r>
              <a:rPr lang="es-BO" dirty="0"/>
              <a:t/>
            </a:r>
            <a:br>
              <a:rPr lang="es-BO" dirty="0"/>
            </a:br>
            <a:r>
              <a:rPr lang="es-BO" dirty="0"/>
              <a:t>Se trata de una glicoproteína de peso molecular de más de 400 </a:t>
            </a:r>
            <a:r>
              <a:rPr lang="es-BO" dirty="0" err="1"/>
              <a:t>kD</a:t>
            </a:r>
            <a:r>
              <a:rPr lang="es-BO" dirty="0"/>
              <a:t> relacionado con el grupo sanguíneo </a:t>
            </a:r>
            <a:r>
              <a:rPr lang="es-BO" dirty="0" err="1"/>
              <a:t>Lewisab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815820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dirty="0" smtClean="0"/>
              <a:t>CA 19-9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BO" b="1" dirty="0"/>
              <a:t>Importancia clínica</a:t>
            </a:r>
            <a:r>
              <a:rPr lang="es-BO" dirty="0"/>
              <a:t/>
            </a:r>
            <a:br>
              <a:rPr lang="es-BO" dirty="0"/>
            </a:br>
            <a:r>
              <a:rPr lang="es-BO" dirty="0"/>
              <a:t/>
            </a:r>
            <a:br>
              <a:rPr lang="es-BO" dirty="0"/>
            </a:br>
            <a:r>
              <a:rPr lang="es-BO" dirty="0"/>
              <a:t>Su mayor uso es en el diagnóstico y seguimiento de procesos malignos gastrointestinales tales como </a:t>
            </a:r>
            <a:r>
              <a:rPr lang="es-BO" u="sng" dirty="0">
                <a:hlinkClick r:id="rId2"/>
              </a:rPr>
              <a:t>adenocarcinomas pancreáticos</a:t>
            </a:r>
            <a:r>
              <a:rPr lang="es-BO" dirty="0"/>
              <a:t>. Proceso no malignos como pancreatitis pueden presentar niveles elevados (niveles menores de 75 UI/ml en el 90% de pacientes con pancreatitis).</a:t>
            </a:r>
            <a:br>
              <a:rPr lang="es-BO" dirty="0"/>
            </a:br>
            <a:r>
              <a:rPr lang="es-BO" dirty="0"/>
              <a:t>Concentraciones mayores de 37 UI/ml se pueden encontrar en </a:t>
            </a:r>
            <a:r>
              <a:rPr lang="es-BO" u="sng" dirty="0">
                <a:hlinkClick r:id="rId2"/>
              </a:rPr>
              <a:t>carcinoma pancreático</a:t>
            </a:r>
            <a:r>
              <a:rPr lang="es-BO" dirty="0"/>
              <a:t> (72-100%), carcinoma </a:t>
            </a:r>
            <a:r>
              <a:rPr lang="es-BO" u="sng" dirty="0" err="1">
                <a:hlinkClick r:id="rId3"/>
              </a:rPr>
              <a:t>hepatocelular</a:t>
            </a:r>
            <a:r>
              <a:rPr lang="es-BO" dirty="0"/>
              <a:t> (67%), </a:t>
            </a:r>
            <a:r>
              <a:rPr lang="es-BO" u="sng" dirty="0">
                <a:hlinkClick r:id="rId4"/>
              </a:rPr>
              <a:t>carcinoma gástrico</a:t>
            </a:r>
            <a:r>
              <a:rPr lang="es-BO" dirty="0">
                <a:hlinkClick r:id="rId4"/>
              </a:rPr>
              <a:t> </a:t>
            </a:r>
            <a:r>
              <a:rPr lang="es-BO" dirty="0"/>
              <a:t>(62%) y en algunos pacientes con </a:t>
            </a:r>
            <a:r>
              <a:rPr lang="es-BO" u="sng" dirty="0">
                <a:hlinkClick r:id="rId5"/>
              </a:rPr>
              <a:t>carcinoma </a:t>
            </a:r>
            <a:r>
              <a:rPr lang="es-BO" u="sng" dirty="0" err="1">
                <a:hlinkClick r:id="rId5"/>
              </a:rPr>
              <a:t>colorrectal</a:t>
            </a:r>
            <a:r>
              <a:rPr lang="es-BO" dirty="0"/>
              <a:t> (19%). Su uso principal se dirige a detectar carcinomas de páncreas que aún puede ser </a:t>
            </a:r>
            <a:r>
              <a:rPr lang="es-BO" dirty="0" err="1"/>
              <a:t>resectables</a:t>
            </a:r>
            <a:r>
              <a:rPr lang="es-BO" dirty="0"/>
              <a:t>, pues entre mayor sea su concentración menos la probabilidad de ser operables (mayor que 1000 UI/ml solo 5% son operables)</a:t>
            </a:r>
            <a:br>
              <a:rPr lang="es-BO" dirty="0"/>
            </a:b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2171036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339</TotalTime>
  <Words>87</Words>
  <Application>Microsoft Office PowerPoint</Application>
  <PresentationFormat>Presentación en pantalla (4:3)</PresentationFormat>
  <Paragraphs>27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Austin</vt:lpstr>
      <vt:lpstr>MARCADORES TUMORALES</vt:lpstr>
      <vt:lpstr>Concepto </vt:lpstr>
      <vt:lpstr>Aplicaciones importantes</vt:lpstr>
      <vt:lpstr>Tipos de marcadores tumorales</vt:lpstr>
      <vt:lpstr>AFP ALFAFETOPROTEINAS</vt:lpstr>
      <vt:lpstr>ALFAFETOPROTEINAS</vt:lpstr>
      <vt:lpstr>HCG GOMADOTROPINA CORIONICA HUMANA</vt:lpstr>
      <vt:lpstr>HCG</vt:lpstr>
      <vt:lpstr>CA 19-9</vt:lpstr>
      <vt:lpstr>CA 19-9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MARCADORES TUMORALES</dc:title>
  <dc:creator>LILI</dc:creator>
  <cp:lastModifiedBy>LILI</cp:lastModifiedBy>
  <cp:revision>7</cp:revision>
  <dcterms:created xsi:type="dcterms:W3CDTF">2014-08-08T23:17:27Z</dcterms:created>
  <dcterms:modified xsi:type="dcterms:W3CDTF">2014-08-09T04:57:25Z</dcterms:modified>
</cp:coreProperties>
</file>