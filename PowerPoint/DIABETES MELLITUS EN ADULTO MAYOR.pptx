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2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11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E6312CC-5B51-4FB6-8A8D-F3E993296930}" type="datetimeFigureOut">
              <a:rPr lang="es-BO" smtClean="0"/>
              <a:pPr/>
              <a:t>22/11/2014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169303C-F11F-433B-ADD4-FF82CCE83D4D}" type="slidenum">
              <a:rPr lang="es-BO" smtClean="0"/>
              <a:pPr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DIABETES MELLITUS EN ADULTO MAYOR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33400" y="4033854"/>
            <a:ext cx="7854696" cy="1752600"/>
          </a:xfrm>
        </p:spPr>
        <p:txBody>
          <a:bodyPr/>
          <a:lstStyle/>
          <a:p>
            <a:pPr algn="l"/>
            <a:r>
              <a:rPr lang="es-ES" dirty="0" smtClean="0"/>
              <a:t>INTEGRANTES:</a:t>
            </a:r>
          </a:p>
          <a:p>
            <a:pPr algn="l"/>
            <a:r>
              <a:rPr lang="es-ES" dirty="0" smtClean="0"/>
              <a:t>Dora Bernabé Martínez</a:t>
            </a:r>
          </a:p>
          <a:p>
            <a:pPr algn="l"/>
            <a:r>
              <a:rPr lang="es-ES" dirty="0" smtClean="0"/>
              <a:t>Marlene </a:t>
            </a:r>
            <a:r>
              <a:rPr lang="es-ES" dirty="0" err="1" smtClean="0"/>
              <a:t>Cerrogrande</a:t>
            </a:r>
            <a:r>
              <a:rPr lang="es-ES" dirty="0" smtClean="0"/>
              <a:t> </a:t>
            </a:r>
            <a:r>
              <a:rPr lang="es-ES" dirty="0" smtClean="0"/>
              <a:t>Jorge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/>
          </p:cNvSpPr>
          <p:nvPr>
            <p:ph type="title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s-ES" b="1" dirty="0" smtClean="0"/>
              <a:t>DIABETES MELLITUS</a:t>
            </a:r>
            <a:r>
              <a:rPr lang="es-ES" cap="none" dirty="0" smtClean="0"/>
              <a:t/>
            </a:r>
            <a:br>
              <a:rPr lang="es-ES" cap="none" dirty="0" smtClean="0"/>
            </a:br>
            <a:endParaRPr lang="es-ES" cap="none" dirty="0" smtClean="0"/>
          </a:p>
        </p:txBody>
      </p:sp>
      <p:sp>
        <p:nvSpPr>
          <p:cNvPr id="9523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endParaRPr lang="es-ES" b="1" dirty="0" smtClean="0"/>
          </a:p>
          <a:p>
            <a:pPr algn="just"/>
            <a:r>
              <a:rPr lang="es-ES" b="1" dirty="0" smtClean="0"/>
              <a:t>La </a:t>
            </a:r>
            <a:r>
              <a:rPr lang="es-ES" b="1" i="1" dirty="0" smtClean="0"/>
              <a:t>Diabetes </a:t>
            </a:r>
            <a:r>
              <a:rPr lang="es-ES" b="1" i="1" dirty="0" err="1" smtClean="0"/>
              <a:t>mellitus</a:t>
            </a:r>
            <a:r>
              <a:rPr lang="es-ES" b="1" i="1" dirty="0" smtClean="0"/>
              <a:t> </a:t>
            </a:r>
            <a:r>
              <a:rPr lang="es-ES" b="1" dirty="0" smtClean="0"/>
              <a:t>(DM)</a:t>
            </a:r>
            <a:r>
              <a:rPr lang="es-ES" dirty="0" smtClean="0"/>
              <a:t> es una enfermedad consistente en una alteración del metabolismo de los hidratos de carbono que se produce </a:t>
            </a:r>
            <a:r>
              <a:rPr lang="es-ES" b="1" dirty="0" smtClean="0"/>
              <a:t>por una insuficiencia de la secreción de insulina</a:t>
            </a:r>
            <a:r>
              <a:rPr lang="es-ES" dirty="0" smtClean="0"/>
              <a:t> o una falta de actividad de la misma, lo que </a:t>
            </a:r>
            <a:r>
              <a:rPr lang="es-ES" b="1" dirty="0" smtClean="0"/>
              <a:t>conlleva una elevación de los niveles de glucosa en sangre</a:t>
            </a:r>
            <a:r>
              <a:rPr lang="es-ES" dirty="0" smtClean="0"/>
              <a:t> (</a:t>
            </a:r>
            <a:r>
              <a:rPr lang="es-ES" i="1" dirty="0" smtClean="0"/>
              <a:t>hiperglucemia).</a:t>
            </a:r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D8E6E8-4FD4-4434-B0FA-5DEC4BFBE582}" type="slidenum">
              <a:rPr lang="es-ES"/>
              <a:pPr>
                <a:defRPr/>
              </a:pPr>
              <a:t>2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54CE8A-070D-484E-A3C9-D1F2FE0115FF}" type="slidenum">
              <a:rPr lang="es-ES"/>
              <a:pPr>
                <a:defRPr/>
              </a:pPr>
              <a:t>3</a:t>
            </a:fld>
            <a:endParaRPr lang="es-ES"/>
          </a:p>
        </p:txBody>
      </p:sp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250825" y="1125538"/>
            <a:ext cx="4465638" cy="39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b="1" dirty="0"/>
              <a:t>	</a:t>
            </a:r>
          </a:p>
          <a:p>
            <a:pPr>
              <a:spcBef>
                <a:spcPct val="50000"/>
              </a:spcBef>
            </a:pPr>
            <a:endParaRPr lang="es-ES_tradnl" sz="2000" b="1" dirty="0"/>
          </a:p>
          <a:p>
            <a:pPr>
              <a:spcBef>
                <a:spcPct val="50000"/>
              </a:spcBef>
            </a:pPr>
            <a:endParaRPr lang="es-ES_tradnl" sz="1200" b="1" dirty="0"/>
          </a:p>
          <a:p>
            <a:pPr>
              <a:spcBef>
                <a:spcPct val="50000"/>
              </a:spcBef>
            </a:pPr>
            <a:r>
              <a:rPr lang="es-ES_tradnl" b="1" dirty="0"/>
              <a:t>   - DM. TIPO I O INFANTO-JUVENIL</a:t>
            </a:r>
          </a:p>
          <a:p>
            <a:pPr>
              <a:spcBef>
                <a:spcPct val="50000"/>
              </a:spcBef>
            </a:pPr>
            <a:endParaRPr lang="es-ES_tradnl" b="1" dirty="0"/>
          </a:p>
          <a:p>
            <a:pPr>
              <a:spcBef>
                <a:spcPct val="50000"/>
              </a:spcBef>
            </a:pPr>
            <a:endParaRPr lang="es-ES_tradnl" b="1" dirty="0"/>
          </a:p>
          <a:p>
            <a:pPr>
              <a:spcBef>
                <a:spcPct val="50000"/>
              </a:spcBef>
            </a:pPr>
            <a:endParaRPr lang="es-ES_tradnl" b="1" dirty="0"/>
          </a:p>
          <a:p>
            <a:pPr>
              <a:spcBef>
                <a:spcPct val="50000"/>
              </a:spcBef>
            </a:pPr>
            <a:endParaRPr lang="es-ES_tradnl" b="1" dirty="0"/>
          </a:p>
          <a:p>
            <a:pPr>
              <a:spcBef>
                <a:spcPct val="50000"/>
              </a:spcBef>
            </a:pPr>
            <a:endParaRPr lang="es-ES_tradnl" b="1" dirty="0"/>
          </a:p>
          <a:p>
            <a:pPr>
              <a:spcBef>
                <a:spcPct val="50000"/>
              </a:spcBef>
            </a:pPr>
            <a:r>
              <a:rPr lang="es-ES_tradnl" b="1" dirty="0"/>
              <a:t>   - DM. TIPO II O DEL ADULTO</a:t>
            </a:r>
            <a:endParaRPr lang="es-ES" b="1" dirty="0"/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4787900" y="1628775"/>
            <a:ext cx="3429000" cy="174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ES_tradnl" b="1" dirty="0"/>
              <a:t>- Páncreas no produce insulina.</a:t>
            </a:r>
          </a:p>
          <a:p>
            <a:pPr algn="just">
              <a:spcBef>
                <a:spcPct val="50000"/>
              </a:spcBef>
            </a:pPr>
            <a:r>
              <a:rPr lang="es-ES_tradnl" b="1" dirty="0"/>
              <a:t>- Inicio adelgazamiento, astenia,   sed,   orina.</a:t>
            </a:r>
          </a:p>
          <a:p>
            <a:pPr algn="just">
              <a:spcBef>
                <a:spcPct val="50000"/>
              </a:spcBef>
            </a:pPr>
            <a:r>
              <a:rPr lang="es-ES_tradnl" b="1" dirty="0"/>
              <a:t>- Tratamiento  dieta y insulina</a:t>
            </a:r>
            <a:endParaRPr lang="es-ES" b="1" dirty="0"/>
          </a:p>
        </p:txBody>
      </p:sp>
      <p:sp>
        <p:nvSpPr>
          <p:cNvPr id="97284" name="AutoShape 4"/>
          <p:cNvSpPr>
            <a:spLocks/>
          </p:cNvSpPr>
          <p:nvPr/>
        </p:nvSpPr>
        <p:spPr bwMode="auto">
          <a:xfrm>
            <a:off x="4427538" y="1557338"/>
            <a:ext cx="142875" cy="2016125"/>
          </a:xfrm>
          <a:prstGeom prst="leftBrace">
            <a:avLst>
              <a:gd name="adj1" fmla="val 117593"/>
              <a:gd name="adj2" fmla="val 4737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4787900" y="4005263"/>
            <a:ext cx="3371850" cy="187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Tx/>
              <a:buChar char="-"/>
            </a:pPr>
            <a:r>
              <a:rPr lang="es-ES_tradnl" b="1"/>
              <a:t> Más frecuente en adultos.</a:t>
            </a:r>
          </a:p>
          <a:p>
            <a:pPr algn="just">
              <a:spcBef>
                <a:spcPct val="50000"/>
              </a:spcBef>
              <a:buFontTx/>
              <a:buChar char="-"/>
            </a:pPr>
            <a:r>
              <a:rPr lang="es-ES_tradnl" b="1"/>
              <a:t>Frecuente la obesidad.</a:t>
            </a:r>
          </a:p>
          <a:p>
            <a:pPr algn="just">
              <a:spcBef>
                <a:spcPct val="50000"/>
              </a:spcBef>
            </a:pPr>
            <a:r>
              <a:rPr lang="es-ES_tradnl" b="1"/>
              <a:t>- Tratamiento dieta  y a veces pastillas o insulina.</a:t>
            </a:r>
          </a:p>
          <a:p>
            <a:pPr algn="just">
              <a:spcBef>
                <a:spcPct val="50000"/>
              </a:spcBef>
              <a:buFontTx/>
              <a:buChar char="-"/>
            </a:pPr>
            <a:endParaRPr lang="es-ES" b="1"/>
          </a:p>
        </p:txBody>
      </p:sp>
      <p:sp>
        <p:nvSpPr>
          <p:cNvPr id="97286" name="AutoShape 6"/>
          <p:cNvSpPr>
            <a:spLocks/>
          </p:cNvSpPr>
          <p:nvPr/>
        </p:nvSpPr>
        <p:spPr bwMode="auto">
          <a:xfrm>
            <a:off x="4356100" y="3789363"/>
            <a:ext cx="177800" cy="2303462"/>
          </a:xfrm>
          <a:prstGeom prst="leftBrace">
            <a:avLst>
              <a:gd name="adj1" fmla="val 1079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BO"/>
          </a:p>
        </p:txBody>
      </p:sp>
      <p:sp>
        <p:nvSpPr>
          <p:cNvPr id="97289" name="Rectangle 9"/>
          <p:cNvSpPr>
            <a:spLocks noChangeArrowheads="1"/>
          </p:cNvSpPr>
          <p:nvPr/>
        </p:nvSpPr>
        <p:spPr bwMode="auto">
          <a:xfrm>
            <a:off x="762000" y="228600"/>
            <a:ext cx="7467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endParaRPr lang="en-US" sz="4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7290" name="Rectangle 10"/>
          <p:cNvSpPr>
            <a:spLocks noChangeArrowheads="1"/>
          </p:cNvSpPr>
          <p:nvPr/>
        </p:nvSpPr>
        <p:spPr bwMode="auto">
          <a:xfrm>
            <a:off x="755650" y="620713"/>
            <a:ext cx="59848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2800" b="1">
                <a:solidFill>
                  <a:srgbClr val="5F5F5F"/>
                </a:solidFill>
              </a:rPr>
              <a:t>TIPOS DE DIABETES MELLITUS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38211"/>
            <a:ext cx="8496300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3 CuadroTexto"/>
          <p:cNvSpPr txBox="1"/>
          <p:nvPr/>
        </p:nvSpPr>
        <p:spPr>
          <a:xfrm>
            <a:off x="142844" y="214290"/>
            <a:ext cx="8786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 smtClean="0"/>
              <a:t>FACTORES QUE PREDISPONEN EN LA DM</a:t>
            </a:r>
            <a:endParaRPr lang="es-BO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PATOGENIA DE LA DM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Tiene tres fases:</a:t>
            </a:r>
          </a:p>
          <a:p>
            <a:pPr marL="514350" indent="-514350">
              <a:buAutoNum type="arabicPeriod"/>
            </a:pPr>
            <a:r>
              <a:rPr lang="es-BO" dirty="0" smtClean="0"/>
              <a:t>Resistencia </a:t>
            </a:r>
            <a:r>
              <a:rPr lang="es-BO" dirty="0"/>
              <a:t>a la insulina, lo que obliga a la célula beta a aumentar su producción de insulina en un intento compensatorio para lograr vencer esta </a:t>
            </a:r>
            <a:r>
              <a:rPr lang="es-BO" dirty="0" smtClean="0"/>
              <a:t>resistencia.</a:t>
            </a:r>
          </a:p>
          <a:p>
            <a:pPr marL="514350" indent="-514350">
              <a:buAutoNum type="arabicPeriod"/>
            </a:pPr>
            <a:r>
              <a:rPr lang="es-BO" dirty="0" smtClean="0"/>
              <a:t>De </a:t>
            </a:r>
            <a:r>
              <a:rPr lang="es-BO" dirty="0"/>
              <a:t>forma progresiva las células beta sufren una disfunción secretora, lo que condiciona la aparición de glucemias en ayuna alteradas, sin llegar estas al rango </a:t>
            </a:r>
            <a:r>
              <a:rPr lang="es-BO" dirty="0" smtClean="0"/>
              <a:t>diabético.</a:t>
            </a:r>
          </a:p>
          <a:p>
            <a:pPr marL="514350" indent="-514350">
              <a:buAutoNum type="arabicPeriod"/>
            </a:pPr>
            <a:r>
              <a:rPr lang="es-BO" dirty="0" smtClean="0"/>
              <a:t>Las </a:t>
            </a:r>
            <a:r>
              <a:rPr lang="es-BO" dirty="0"/>
              <a:t>células fracasan en su producción de insulina y sufren procesos como, apoptosis y muerte celular. </a:t>
            </a:r>
          </a:p>
          <a:p>
            <a:endParaRPr lang="es-ES" dirty="0" smtClean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PREVALENCIA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s-ES" dirty="0" smtClean="0"/>
              <a:t>Es conocido que la incidencia de Diabetes aumenta con la edad, y que existe un progresivo incremento en los índices de envejecimiento de la población, por lo que con el paso del tiempo nos iremos encontrando más ancianos y más diabéticos. Se ha señalado una prevalencia del 10 % para la década de los 60-70 años, 12 % entre los 70 y 80 años, y 17 % por encima de los 80 años. </a:t>
            </a:r>
          </a:p>
          <a:p>
            <a:pPr>
              <a:lnSpc>
                <a:spcPct val="80000"/>
              </a:lnSpc>
            </a:pPr>
            <a:r>
              <a:rPr lang="es-ES" dirty="0" smtClean="0"/>
              <a:t>Los estudios internacionales muestran una prevalencia alrededor del 20% por encima de los 65 años, con 1/3 de los diabéticos de esta edad no diagnosticados y con un 20% adicional de personas con tolerancia alterada a la glucosa. 50% de los diabéticos conocidos tienen más de 65 años.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1143000"/>
          </a:xfrm>
        </p:spPr>
        <p:txBody>
          <a:bodyPr/>
          <a:lstStyle/>
          <a:p>
            <a:r>
              <a:rPr lang="es-ES" dirty="0" smtClean="0"/>
              <a:t>SINTOMAS DE LA DM</a:t>
            </a:r>
            <a:endParaRPr lang="es-BO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8457" t="30937" r="10935" b="32760"/>
          <a:stretch>
            <a:fillRect/>
          </a:stretch>
        </p:blipFill>
        <p:spPr bwMode="auto">
          <a:xfrm>
            <a:off x="571472" y="1357298"/>
            <a:ext cx="7789848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CuadroTexto"/>
          <p:cNvSpPr txBox="1"/>
          <p:nvPr/>
        </p:nvSpPr>
        <p:spPr>
          <a:xfrm>
            <a:off x="2786050" y="4500570"/>
            <a:ext cx="214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/>
              <a:t>POLIFAGIA</a:t>
            </a:r>
            <a:endParaRPr lang="es-BO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1143000"/>
          </a:xfrm>
        </p:spPr>
        <p:txBody>
          <a:bodyPr/>
          <a:lstStyle/>
          <a:p>
            <a:r>
              <a:rPr lang="es-ES" dirty="0" smtClean="0"/>
              <a:t>DIAGNOSTICO CLINICO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 fontScale="85000" lnSpcReduction="10000"/>
          </a:bodyPr>
          <a:lstStyle/>
          <a:p>
            <a:r>
              <a:rPr lang="es-BO" dirty="0" smtClean="0"/>
              <a:t>Aunque </a:t>
            </a:r>
            <a:r>
              <a:rPr lang="es-BO" dirty="0"/>
              <a:t>puede presentarse con la tríada clásica (poliuria, polidipsia y polifagia), esta no es la forma de presentación habitual, sino que </a:t>
            </a:r>
            <a:r>
              <a:rPr lang="es-BO" b="1" dirty="0"/>
              <a:t>se diagnostica de </a:t>
            </a:r>
            <a:r>
              <a:rPr lang="es-BO" b="1" dirty="0" smtClean="0"/>
              <a:t>la siguiente manera </a:t>
            </a:r>
            <a:r>
              <a:rPr lang="es-BO" dirty="0" smtClean="0"/>
              <a:t>: </a:t>
            </a:r>
          </a:p>
          <a:p>
            <a:r>
              <a:rPr lang="es-BO" dirty="0" smtClean="0"/>
              <a:t>Descubrimiento </a:t>
            </a:r>
            <a:r>
              <a:rPr lang="es-BO" dirty="0"/>
              <a:t>ocasional</a:t>
            </a:r>
            <a:r>
              <a:rPr lang="es-BO" b="1" dirty="0"/>
              <a:t> </a:t>
            </a:r>
            <a:r>
              <a:rPr lang="es-BO" dirty="0"/>
              <a:t>en la práctica rutinaria o motivada por alguna enfermedad intercurrente. </a:t>
            </a:r>
            <a:endParaRPr lang="es-BO" dirty="0" smtClean="0"/>
          </a:p>
          <a:p>
            <a:r>
              <a:rPr lang="es-BO" dirty="0" smtClean="0"/>
              <a:t>Presencia </a:t>
            </a:r>
            <a:r>
              <a:rPr lang="es-BO" dirty="0"/>
              <a:t>de sintomatología inespecífica, la cual puede hacer sospechar la presencia de la alteración metabólica (astenia, prurito </a:t>
            </a:r>
            <a:r>
              <a:rPr lang="es-BO" dirty="0" err="1"/>
              <a:t>vulvar</a:t>
            </a:r>
            <a:r>
              <a:rPr lang="es-BO" dirty="0"/>
              <a:t> y/o </a:t>
            </a:r>
            <a:r>
              <a:rPr lang="es-BO" dirty="0" err="1"/>
              <a:t>moniliasis</a:t>
            </a:r>
            <a:r>
              <a:rPr lang="es-BO" dirty="0"/>
              <a:t> oral</a:t>
            </a:r>
            <a:r>
              <a:rPr lang="es-BO" dirty="0" smtClean="0"/>
              <a:t>).</a:t>
            </a:r>
          </a:p>
          <a:p>
            <a:r>
              <a:rPr lang="es-BO" dirty="0" smtClean="0"/>
              <a:t> Presencia </a:t>
            </a:r>
            <a:r>
              <a:rPr lang="es-BO" dirty="0"/>
              <a:t>de complicaciones crónicas de la DM, tanto </a:t>
            </a:r>
            <a:r>
              <a:rPr lang="es-BO" dirty="0" err="1"/>
              <a:t>microangiopáticas</a:t>
            </a:r>
            <a:r>
              <a:rPr lang="es-BO" dirty="0"/>
              <a:t> (retinopatía y/o poli neuropatía) como </a:t>
            </a:r>
            <a:r>
              <a:rPr lang="es-BO" dirty="0" err="1"/>
              <a:t>macroangiopáticas</a:t>
            </a:r>
            <a:r>
              <a:rPr lang="es-BO" dirty="0"/>
              <a:t> (cardiopatía isquémica, accidente cerebro vascular o vasculopatía arterial periférica</a:t>
            </a:r>
            <a:r>
              <a:rPr lang="es-BO" dirty="0" smtClean="0"/>
              <a:t>).</a:t>
            </a:r>
          </a:p>
          <a:p>
            <a:r>
              <a:rPr lang="es-BO" dirty="0" smtClean="0"/>
              <a:t> Presencia </a:t>
            </a:r>
            <a:r>
              <a:rPr lang="es-BO" dirty="0"/>
              <a:t>de complicaciones agudas de la DM, como</a:t>
            </a:r>
            <a:r>
              <a:rPr lang="es-BO" b="1" dirty="0"/>
              <a:t> </a:t>
            </a:r>
            <a:r>
              <a:rPr lang="es-BO" dirty="0"/>
              <a:t>estado </a:t>
            </a:r>
            <a:r>
              <a:rPr lang="es-BO" dirty="0" err="1"/>
              <a:t>hiperosmolar</a:t>
            </a:r>
            <a:r>
              <a:rPr lang="es-BO" dirty="0"/>
              <a:t> no </a:t>
            </a:r>
            <a:r>
              <a:rPr lang="es-BO" dirty="0" err="1"/>
              <a:t>cetósico</a:t>
            </a:r>
            <a:r>
              <a:rPr lang="es-BO" dirty="0"/>
              <a:t>, así como episodios frecuentes de hipoglucemia.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TRATAMIENTO DE LA DM EN EL PACIENTE ANCIANO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BO" dirty="0"/>
              <a:t>Los objetivos del tratamiento en estos pacientes son: </a:t>
            </a:r>
          </a:p>
          <a:p>
            <a:pPr>
              <a:buNone/>
            </a:pPr>
            <a:r>
              <a:rPr lang="es-BO" dirty="0"/>
              <a:t>• Garantizar una buena calidad de vida</a:t>
            </a:r>
            <a:r>
              <a:rPr lang="es-BO" dirty="0" smtClean="0"/>
              <a:t>.</a:t>
            </a:r>
          </a:p>
          <a:p>
            <a:pPr>
              <a:buNone/>
            </a:pPr>
            <a:r>
              <a:rPr lang="es-BO" dirty="0" smtClean="0"/>
              <a:t>• </a:t>
            </a:r>
            <a:r>
              <a:rPr lang="es-BO" dirty="0"/>
              <a:t>Prevenir las complicaciones agudas</a:t>
            </a:r>
            <a:r>
              <a:rPr lang="es-BO" dirty="0" smtClean="0"/>
              <a:t>.</a:t>
            </a:r>
          </a:p>
          <a:p>
            <a:pPr>
              <a:buNone/>
            </a:pPr>
            <a:r>
              <a:rPr lang="es-BO" dirty="0" smtClean="0"/>
              <a:t>• </a:t>
            </a:r>
            <a:r>
              <a:rPr lang="es-BO" dirty="0"/>
              <a:t>Emplear el menor número de fármacos posible</a:t>
            </a:r>
            <a:r>
              <a:rPr lang="es-BO" dirty="0" smtClean="0"/>
              <a:t>.</a:t>
            </a:r>
          </a:p>
          <a:p>
            <a:pPr>
              <a:buNone/>
            </a:pPr>
            <a:r>
              <a:rPr lang="es-BO" dirty="0" smtClean="0"/>
              <a:t>• </a:t>
            </a:r>
            <a:r>
              <a:rPr lang="es-BO" dirty="0"/>
              <a:t>Controlar adecuadamente la tensión arterial</a:t>
            </a:r>
            <a:r>
              <a:rPr lang="es-BO" dirty="0" smtClean="0"/>
              <a:t>.</a:t>
            </a:r>
          </a:p>
          <a:p>
            <a:pPr>
              <a:buNone/>
            </a:pPr>
            <a:r>
              <a:rPr lang="es-BO" dirty="0" smtClean="0"/>
              <a:t>• </a:t>
            </a:r>
            <a:r>
              <a:rPr lang="es-BO" dirty="0"/>
              <a:t>Controlar la </a:t>
            </a:r>
            <a:r>
              <a:rPr lang="es-BO" dirty="0" err="1"/>
              <a:t>insulinorresistencia</a:t>
            </a:r>
            <a:r>
              <a:rPr lang="es-BO" dirty="0" smtClean="0"/>
              <a:t>.</a:t>
            </a:r>
          </a:p>
          <a:p>
            <a:pPr>
              <a:buNone/>
            </a:pPr>
            <a:r>
              <a:rPr lang="es-BO" dirty="0" smtClean="0"/>
              <a:t>• </a:t>
            </a:r>
            <a:r>
              <a:rPr lang="es-BO" dirty="0"/>
              <a:t>Mantener la glucemia dentro de los límites aceptables. 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ESTRATEGIAS TERAPEUTICAS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BO" dirty="0"/>
              <a:t>En primer lugar, debemos enfatizar en </a:t>
            </a:r>
            <a:r>
              <a:rPr lang="es-BO" dirty="0" smtClean="0"/>
              <a:t>el</a:t>
            </a:r>
          </a:p>
          <a:p>
            <a:pPr>
              <a:buNone/>
            </a:pPr>
            <a:r>
              <a:rPr lang="es-BO" dirty="0" smtClean="0"/>
              <a:t>tratamiento </a:t>
            </a:r>
            <a:r>
              <a:rPr lang="es-BO" dirty="0"/>
              <a:t>preventivo, tomando medidas </a:t>
            </a:r>
            <a:r>
              <a:rPr lang="es-BO" dirty="0" smtClean="0"/>
              <a:t>para</a:t>
            </a:r>
          </a:p>
          <a:p>
            <a:pPr>
              <a:buNone/>
            </a:pPr>
            <a:r>
              <a:rPr lang="es-BO" dirty="0" smtClean="0"/>
              <a:t>garantizar </a:t>
            </a:r>
            <a:r>
              <a:rPr lang="es-BO" dirty="0"/>
              <a:t>que se haga un diagnóstico precoz y </a:t>
            </a:r>
            <a:r>
              <a:rPr lang="es-BO" dirty="0" smtClean="0"/>
              <a:t>un</a:t>
            </a:r>
          </a:p>
          <a:p>
            <a:pPr>
              <a:buNone/>
            </a:pPr>
            <a:r>
              <a:rPr lang="es-BO" dirty="0" smtClean="0"/>
              <a:t>tratamiento </a:t>
            </a:r>
            <a:r>
              <a:rPr lang="es-BO" dirty="0"/>
              <a:t>adecuado de la pre diabetes </a:t>
            </a:r>
            <a:r>
              <a:rPr lang="es-BO" dirty="0" smtClean="0"/>
              <a:t>para</a:t>
            </a:r>
          </a:p>
          <a:p>
            <a:pPr>
              <a:buNone/>
            </a:pPr>
            <a:r>
              <a:rPr lang="es-BO" dirty="0" smtClean="0"/>
              <a:t>lograr </a:t>
            </a:r>
            <a:r>
              <a:rPr lang="es-BO" dirty="0"/>
              <a:t>los objetivos siguientes: </a:t>
            </a:r>
          </a:p>
          <a:p>
            <a:pPr>
              <a:buNone/>
            </a:pPr>
            <a:r>
              <a:rPr lang="es-BO" dirty="0"/>
              <a:t>• Retardar el inicio de la DM</a:t>
            </a:r>
            <a:r>
              <a:rPr lang="es-BO" dirty="0" smtClean="0"/>
              <a:t>.</a:t>
            </a:r>
          </a:p>
          <a:p>
            <a:pPr>
              <a:buNone/>
            </a:pPr>
            <a:r>
              <a:rPr lang="es-BO" dirty="0" smtClean="0"/>
              <a:t>• </a:t>
            </a:r>
            <a:r>
              <a:rPr lang="es-BO" dirty="0"/>
              <a:t>Preservar la función de la célula beta</a:t>
            </a:r>
            <a:r>
              <a:rPr lang="es-BO" dirty="0" smtClean="0"/>
              <a:t>.</a:t>
            </a:r>
          </a:p>
          <a:p>
            <a:pPr>
              <a:buNone/>
            </a:pPr>
            <a:r>
              <a:rPr lang="es-BO" dirty="0" smtClean="0"/>
              <a:t>• </a:t>
            </a:r>
            <a:r>
              <a:rPr lang="es-BO" dirty="0"/>
              <a:t>Retardar la aparición de las complicaciones micro y macro- vasculares. 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428604"/>
            <a:ext cx="8643998" cy="1143000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TRATAMIENTO NO FARMACOLOGICO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s-BO" b="1" dirty="0"/>
              <a:t>• Educación</a:t>
            </a:r>
            <a:r>
              <a:rPr lang="es-BO" dirty="0"/>
              <a:t>: es de vital importancia educar al paciente anciano e involucrar al núcleo familiar en esta actividad. Para ello deben usarse mensajes sencillos, acordes con la edad y el nivel escolar del paciente</a:t>
            </a:r>
            <a:r>
              <a:rPr lang="es-BO" dirty="0" smtClean="0"/>
              <a:t>.</a:t>
            </a:r>
          </a:p>
          <a:p>
            <a:pPr>
              <a:buNone/>
            </a:pPr>
            <a:r>
              <a:rPr lang="es-BO" b="1" dirty="0" smtClean="0"/>
              <a:t>• </a:t>
            </a:r>
            <a:r>
              <a:rPr lang="es-BO" b="1" dirty="0"/>
              <a:t>Dieta:</a:t>
            </a:r>
            <a:r>
              <a:rPr lang="es-BO" dirty="0"/>
              <a:t> no debe ser </a:t>
            </a:r>
            <a:r>
              <a:rPr lang="es-BO" dirty="0" err="1"/>
              <a:t>hipercalórica</a:t>
            </a:r>
            <a:r>
              <a:rPr lang="es-BO" dirty="0"/>
              <a:t>, pero al mismo tiempo debe evitarse la malnutrición iatrogénica. Debe ser rica en vitaminas y minerales (insistir en la ingesta de agua, calcio, </a:t>
            </a:r>
            <a:r>
              <a:rPr lang="es-BO" dirty="0" err="1"/>
              <a:t>folatos</a:t>
            </a:r>
            <a:r>
              <a:rPr lang="es-BO" dirty="0"/>
              <a:t>, potasio y vitamina B 12), y la distribución calórica será igual que en los adultos jóvenes. En los ancianos obesos, lograr una pérdida de peso del 10 % debe ser considerado positivo y suficiente</a:t>
            </a:r>
            <a:r>
              <a:rPr lang="es-BO" dirty="0" smtClean="0"/>
              <a:t>.</a:t>
            </a:r>
          </a:p>
          <a:p>
            <a:pPr>
              <a:buNone/>
            </a:pPr>
            <a:r>
              <a:rPr lang="es-BO" b="1" dirty="0" smtClean="0"/>
              <a:t>• </a:t>
            </a:r>
            <a:r>
              <a:rPr lang="es-BO" b="1" dirty="0"/>
              <a:t>Ejercicio físico:</a:t>
            </a:r>
            <a:r>
              <a:rPr lang="es-BO" dirty="0"/>
              <a:t> la actividad física es muy productiva para el anciano diabético, ya que mejora la sensibilidad a la insulina. Se recomienda la caminata en el horario de la mañana durante 1 h y como mínimo 4 veces a la semana, siempre que no existan contraindicaciones para su realización.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TRATAMIENTO FARMACOLOGICO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BO" b="1" dirty="0" smtClean="0"/>
              <a:t>Antidiabéticos orales:</a:t>
            </a:r>
          </a:p>
          <a:p>
            <a:r>
              <a:rPr lang="es-BO" b="1" i="1" dirty="0" err="1" smtClean="0"/>
              <a:t>Sulfonilureas</a:t>
            </a:r>
            <a:r>
              <a:rPr lang="es-BO" b="1" i="1" dirty="0" smtClean="0"/>
              <a:t> - </a:t>
            </a:r>
            <a:r>
              <a:rPr lang="es-BO" b="1" dirty="0" err="1" smtClean="0"/>
              <a:t>glibenclamida</a:t>
            </a:r>
            <a:endParaRPr lang="es-BO" b="1" i="1" dirty="0" smtClean="0"/>
          </a:p>
          <a:p>
            <a:r>
              <a:rPr lang="es-BO" b="1" i="1" dirty="0" err="1" smtClean="0"/>
              <a:t>Biguanidas</a:t>
            </a:r>
            <a:r>
              <a:rPr lang="es-BO" b="1" i="1" dirty="0"/>
              <a:t> </a:t>
            </a:r>
            <a:r>
              <a:rPr lang="es-BO" b="1" i="1" dirty="0" smtClean="0"/>
              <a:t>- </a:t>
            </a:r>
            <a:r>
              <a:rPr lang="es-BO" b="1" dirty="0" err="1" smtClean="0"/>
              <a:t>metformina</a:t>
            </a:r>
            <a:endParaRPr lang="es-BO" dirty="0"/>
          </a:p>
          <a:p>
            <a:pPr>
              <a:buNone/>
            </a:pPr>
            <a:r>
              <a:rPr lang="es-BO" dirty="0" smtClean="0"/>
              <a:t> </a:t>
            </a:r>
            <a:r>
              <a:rPr lang="es-BO" b="1" dirty="0" smtClean="0"/>
              <a:t>Antidiabéticos inyectables:</a:t>
            </a:r>
          </a:p>
          <a:p>
            <a:r>
              <a:rPr lang="es-ES" b="1" dirty="0" smtClean="0"/>
              <a:t>Insulina NPH</a:t>
            </a:r>
          </a:p>
          <a:p>
            <a:r>
              <a:rPr lang="es-ES" b="1" dirty="0" smtClean="0"/>
              <a:t>Insulina Regular o intermedia</a:t>
            </a:r>
          </a:p>
          <a:p>
            <a:r>
              <a:rPr lang="es-ES" b="1" dirty="0" smtClean="0"/>
              <a:t>Insulina Cristalina</a:t>
            </a:r>
            <a:endParaRPr lang="es-BO" b="1" dirty="0" smtClean="0"/>
          </a:p>
          <a:p>
            <a:pPr>
              <a:buNone/>
            </a:pPr>
            <a:endParaRPr lang="es-BO" dirty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5804" y="500066"/>
            <a:ext cx="8229600" cy="1357298"/>
          </a:xfrm>
        </p:spPr>
        <p:txBody>
          <a:bodyPr>
            <a:normAutofit fontScale="90000"/>
          </a:bodyPr>
          <a:lstStyle/>
          <a:p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/>
              <a:t> </a:t>
            </a:r>
            <a:br>
              <a:rPr lang="es-BO" b="1" dirty="0" smtClean="0"/>
            </a:br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sz="4400" b="1" dirty="0" smtClean="0"/>
              <a:t>COMPLICACIONES EN PACIENTES 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85720" y="1600200"/>
            <a:ext cx="8572560" cy="504351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s-ES" b="1" dirty="0"/>
              <a:t>Agudas:</a:t>
            </a:r>
            <a:endParaRPr lang="es-BO" b="1" dirty="0"/>
          </a:p>
          <a:p>
            <a:pPr lvl="0"/>
            <a:r>
              <a:rPr lang="es-ES" b="1" dirty="0"/>
              <a:t>Hipoglucemia</a:t>
            </a:r>
            <a:r>
              <a:rPr lang="es-ES" dirty="0"/>
              <a:t>: </a:t>
            </a:r>
            <a:r>
              <a:rPr lang="es-ES" dirty="0" smtClean="0"/>
              <a:t>Algunos </a:t>
            </a:r>
            <a:r>
              <a:rPr lang="es-ES" dirty="0"/>
              <a:t>de los indicios </a:t>
            </a:r>
            <a:r>
              <a:rPr lang="es-ES" dirty="0" smtClean="0"/>
              <a:t>son</a:t>
            </a:r>
            <a:r>
              <a:rPr lang="es-ES" dirty="0"/>
              <a:t>: temblores, mareos, sudoraciones, dolores de cabeza, palidez, cambios repentinos en estados de ánimo, entre otros.</a:t>
            </a:r>
            <a:endParaRPr lang="es-BO" dirty="0"/>
          </a:p>
          <a:p>
            <a:pPr lvl="0"/>
            <a:r>
              <a:rPr lang="es-ES" b="1" u="sng" dirty="0"/>
              <a:t>Hiperglucemia</a:t>
            </a:r>
            <a:r>
              <a:rPr lang="es-ES" b="1" dirty="0"/>
              <a:t>:</a:t>
            </a:r>
            <a:r>
              <a:rPr lang="es-ES" dirty="0"/>
              <a:t> E</a:t>
            </a:r>
            <a:r>
              <a:rPr lang="es-ES" dirty="0" smtClean="0"/>
              <a:t>ste </a:t>
            </a:r>
            <a:r>
              <a:rPr lang="es-ES" dirty="0"/>
              <a:t>padecimiento traerá complicaciones crónicas a largo plazo. Algunos síntomas incluyen aumento de sed, de hambre, respiración acelerada, náusea o vómito, visión borrosa y resequedad de la boca.</a:t>
            </a:r>
            <a:endParaRPr lang="es-BO" dirty="0"/>
          </a:p>
          <a:p>
            <a:pPr>
              <a:buNone/>
            </a:pPr>
            <a:r>
              <a:rPr lang="es-ES" b="1" dirty="0"/>
              <a:t>Crónicas:</a:t>
            </a:r>
            <a:endParaRPr lang="es-BO" b="1" dirty="0"/>
          </a:p>
          <a:p>
            <a:pPr lvl="0"/>
            <a:r>
              <a:rPr lang="es-ES" b="1" dirty="0" smtClean="0"/>
              <a:t>Retinopatía </a:t>
            </a:r>
            <a:r>
              <a:rPr lang="es-ES" b="1" dirty="0"/>
              <a:t>diabética</a:t>
            </a:r>
            <a:r>
              <a:rPr lang="es-ES" dirty="0"/>
              <a:t> (enfermedad de los ojos): El riesgo de retinopatía aumenta considerablemente en pacientes con niveles de glucosa en ayunas entre 109 a 116 mg/</a:t>
            </a:r>
            <a:r>
              <a:rPr lang="es-ES" dirty="0" err="1"/>
              <a:t>dL</a:t>
            </a:r>
            <a:r>
              <a:rPr lang="es-ES" dirty="0"/>
              <a:t> (6.05 a 6.45 </a:t>
            </a:r>
            <a:r>
              <a:rPr lang="es-ES" dirty="0" err="1"/>
              <a:t>mmol</a:t>
            </a:r>
            <a:r>
              <a:rPr lang="es-ES" dirty="0"/>
              <a:t>/L) o cuando el resultado de una glucosa postprandial está entre 150 y 180 mg/</a:t>
            </a:r>
            <a:r>
              <a:rPr lang="es-ES" dirty="0" err="1"/>
              <a:t>dL</a:t>
            </a:r>
            <a:r>
              <a:rPr lang="es-ES" dirty="0"/>
              <a:t> (8.3 a 10.0 </a:t>
            </a:r>
            <a:r>
              <a:rPr lang="es-ES" dirty="0" err="1"/>
              <a:t>mmol</a:t>
            </a:r>
            <a:r>
              <a:rPr lang="es-ES" dirty="0"/>
              <a:t>/L)</a:t>
            </a:r>
            <a:r>
              <a:rPr lang="es-ES" u="sng" baseline="30000" dirty="0"/>
              <a:t>[4]</a:t>
            </a:r>
            <a:endParaRPr lang="es-BO" dirty="0"/>
          </a:p>
          <a:p>
            <a:pPr lvl="0"/>
            <a:r>
              <a:rPr lang="es-ES" b="1" dirty="0"/>
              <a:t>Nefropatía diabética</a:t>
            </a:r>
            <a:r>
              <a:rPr lang="es-BO" b="1" dirty="0"/>
              <a:t> </a:t>
            </a:r>
            <a:r>
              <a:rPr lang="es-ES" dirty="0"/>
              <a:t>(enfermedad de los riñones)</a:t>
            </a:r>
            <a:endParaRPr lang="es-BO" dirty="0"/>
          </a:p>
          <a:p>
            <a:pPr lvl="0"/>
            <a:r>
              <a:rPr lang="es-ES" b="1" dirty="0"/>
              <a:t>Neuropatía diabética</a:t>
            </a:r>
            <a:r>
              <a:rPr lang="es-ES" dirty="0"/>
              <a:t> (daño de los nervios)</a:t>
            </a:r>
            <a:endParaRPr lang="es-BO" dirty="0"/>
          </a:p>
          <a:p>
            <a:r>
              <a:rPr lang="es-ES" b="1" dirty="0"/>
              <a:t>Enfermedad vascular periférica </a:t>
            </a:r>
            <a:r>
              <a:rPr lang="es-ES" dirty="0"/>
              <a:t>(daño en los </a:t>
            </a:r>
            <a:r>
              <a:rPr lang="es-ES" dirty="0" smtClean="0"/>
              <a:t>vasos sanguíneos/circulación</a:t>
            </a:r>
            <a:r>
              <a:rPr lang="es-ES" dirty="0"/>
              <a:t>)</a:t>
            </a:r>
            <a:endParaRPr lang="es-BO" dirty="0"/>
          </a:p>
          <a:p>
            <a:pPr lvl="0"/>
            <a:r>
              <a:rPr lang="es-ES" b="1" dirty="0"/>
              <a:t>Colesterol alto </a:t>
            </a:r>
            <a:r>
              <a:rPr lang="es-ES" dirty="0"/>
              <a:t>(</a:t>
            </a:r>
            <a:r>
              <a:rPr lang="es-ES" dirty="0" err="1" smtClean="0"/>
              <a:t>dislipidemia</a:t>
            </a:r>
            <a:r>
              <a:rPr lang="es-ES" dirty="0" smtClean="0"/>
              <a:t>), </a:t>
            </a:r>
            <a:r>
              <a:rPr lang="es-ES" dirty="0"/>
              <a:t>hipertensión arterial, ateroesclerosis y </a:t>
            </a:r>
            <a:r>
              <a:rPr lang="es-ES" dirty="0" err="1"/>
              <a:t>arteriopatía</a:t>
            </a:r>
            <a:r>
              <a:rPr lang="es-ES" dirty="0"/>
              <a:t> </a:t>
            </a:r>
            <a:r>
              <a:rPr lang="es-ES" dirty="0" smtClean="0"/>
              <a:t>coronaria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67524"/>
          </a:xfrm>
        </p:spPr>
        <p:txBody>
          <a:bodyPr/>
          <a:lstStyle/>
          <a:p>
            <a:r>
              <a:rPr lang="es-ES" dirty="0" smtClean="0"/>
              <a:t>CUIDADOS DE ENFERMERIA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s-BO" dirty="0"/>
              <a:t>Asegurarse de que la persona reciba una nutrición adecuada,</a:t>
            </a:r>
          </a:p>
          <a:p>
            <a:pPr lvl="0"/>
            <a:r>
              <a:rPr lang="es-BO" dirty="0"/>
              <a:t>Administrar los medicamentos de forma personal para cerciorarte que los toma apropiadamente y prevenir efectos secundarios por la interacción de medicamentos,</a:t>
            </a:r>
          </a:p>
          <a:p>
            <a:pPr lvl="0"/>
            <a:r>
              <a:rPr lang="es-BO" dirty="0"/>
              <a:t>Lidiar con limitaciones físicas o mentales que pueden hacer difícil el cuidado de la diabetes.</a:t>
            </a:r>
          </a:p>
          <a:p>
            <a:pPr lvl="0"/>
            <a:r>
              <a:rPr lang="es-BO" dirty="0"/>
              <a:t>El control estricto de la glucosa en sangre puede reducir el riesgo de la ceguera relacionada con diabetes y la enfermedad renal causada por el daño de los pequeños vasos sanguíneos. </a:t>
            </a:r>
          </a:p>
          <a:p>
            <a:pPr lvl="0"/>
            <a:r>
              <a:rPr lang="es-BO" dirty="0"/>
              <a:t>El riesgo de un ataque al corazón o infarto puede ser disminuido con un manejo adecuado de la presión sanguínea y colesterol</a:t>
            </a:r>
            <a:r>
              <a:rPr lang="es-BO" dirty="0" smtClean="0"/>
              <a:t>.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es-ES" dirty="0" smtClean="0"/>
              <a:t>TOMAR EN CUENTA</a:t>
            </a:r>
            <a:endParaRPr lang="es-BO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06" y="1000108"/>
            <a:ext cx="8927042" cy="4572032"/>
          </a:xfrm>
          <a:prstGeom prst="rect">
            <a:avLst/>
          </a:prstGeom>
          <a:noFill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718" y="5857876"/>
            <a:ext cx="8763000" cy="785834"/>
          </a:xfrm>
          <a:prstGeom prst="rect">
            <a:avLst/>
          </a:prstGeom>
          <a:noFill/>
        </p:spPr>
      </p:pic>
      <p:sp>
        <p:nvSpPr>
          <p:cNvPr id="6" name="5 CuadroTexto"/>
          <p:cNvSpPr txBox="1"/>
          <p:nvPr/>
        </p:nvSpPr>
        <p:spPr>
          <a:xfrm>
            <a:off x="7572396" y="3357562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BO" dirty="0"/>
          </a:p>
        </p:txBody>
      </p:sp>
      <p:pic>
        <p:nvPicPr>
          <p:cNvPr id="7" name="Picture 8" descr="needleWHTi.gif (5375 bytes)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6200000">
            <a:off x="7896924" y="2420939"/>
            <a:ext cx="458788" cy="19859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99</TotalTime>
  <Words>1064</Words>
  <Application>Microsoft Office PowerPoint</Application>
  <PresentationFormat>Presentación en pantalla (4:3)</PresentationFormat>
  <Paragraphs>89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Flujo</vt:lpstr>
      <vt:lpstr>DIABETES MELLITUS EN ADULTO MAYOR</vt:lpstr>
      <vt:lpstr>DIABETES MELLITUS </vt:lpstr>
      <vt:lpstr>Diapositiva 3</vt:lpstr>
      <vt:lpstr>Diapositiva 4</vt:lpstr>
      <vt:lpstr>PATOGENIA DE LA DM</vt:lpstr>
      <vt:lpstr>PREVALENCIA</vt:lpstr>
      <vt:lpstr>SINTOMAS DE LA DM</vt:lpstr>
      <vt:lpstr>DIAGNOSTICO CLINICO</vt:lpstr>
      <vt:lpstr>TRATAMIENTO DE LA DM EN EL PACIENTE ANCIANO</vt:lpstr>
      <vt:lpstr>ESTRATEGIAS TERAPEUTICAS</vt:lpstr>
      <vt:lpstr>TRATAMIENTO NO FARMACOLOGICO</vt:lpstr>
      <vt:lpstr>TRATAMIENTO FARMACOLOGICO</vt:lpstr>
      <vt:lpstr>      COMPLICACIONES EN PACIENTES  </vt:lpstr>
      <vt:lpstr>CUIDADOS DE ENFERMERIA</vt:lpstr>
      <vt:lpstr>TOMAR EN CUENTA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MELLITUS EN ADULTO MAYOR</dc:title>
  <dc:creator>Jaime</dc:creator>
  <cp:lastModifiedBy>Jaime</cp:lastModifiedBy>
  <cp:revision>2</cp:revision>
  <dcterms:created xsi:type="dcterms:W3CDTF">2014-11-22T10:33:32Z</dcterms:created>
  <dcterms:modified xsi:type="dcterms:W3CDTF">2014-11-22T12:14:07Z</dcterms:modified>
</cp:coreProperties>
</file>