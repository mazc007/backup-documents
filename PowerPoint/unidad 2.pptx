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0" r:id="rId4"/>
    <p:sldId id="261" r:id="rId5"/>
    <p:sldId id="258" r:id="rId6"/>
    <p:sldId id="259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s-B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45" d="100"/>
          <a:sy n="45" d="100"/>
        </p:scale>
        <p:origin x="-1236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8 Título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17" name="16 Subtítulo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s-ES" smtClean="0"/>
              <a:t>Haga clic para modificar el estilo de subtítulo del patrón</a:t>
            </a:r>
            <a:endParaRPr kumimoji="0" lang="en-US"/>
          </a:p>
        </p:txBody>
      </p:sp>
      <p:sp>
        <p:nvSpPr>
          <p:cNvPr id="30" name="29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0ACBB-E51D-4830-AE62-68E01EF0F969}" type="datetimeFigureOut">
              <a:rPr lang="es-BO" smtClean="0"/>
              <a:pPr/>
              <a:t>22/10/2010</a:t>
            </a:fld>
            <a:endParaRPr lang="es-BO"/>
          </a:p>
        </p:txBody>
      </p:sp>
      <p:sp>
        <p:nvSpPr>
          <p:cNvPr id="19" name="18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27" name="2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CBCBC-4092-4853-9186-E762905F46A5}" type="slidenum">
              <a:rPr lang="es-BO" smtClean="0"/>
              <a:pPr/>
              <a:t>‹Nº›</a:t>
            </a:fld>
            <a:endParaRPr lang="es-BO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0ACBB-E51D-4830-AE62-68E01EF0F969}" type="datetimeFigureOut">
              <a:rPr lang="es-BO" smtClean="0"/>
              <a:pPr/>
              <a:t>22/10/2010</a:t>
            </a:fld>
            <a:endParaRPr lang="es-B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CBCBC-4092-4853-9186-E762905F46A5}" type="slidenum">
              <a:rPr lang="es-BO" smtClean="0"/>
              <a:pPr/>
              <a:t>‹Nº›</a:t>
            </a:fld>
            <a:endParaRPr lang="es-B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0ACBB-E51D-4830-AE62-68E01EF0F969}" type="datetimeFigureOut">
              <a:rPr lang="es-BO" smtClean="0"/>
              <a:pPr/>
              <a:t>22/10/2010</a:t>
            </a:fld>
            <a:endParaRPr lang="es-B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CBCBC-4092-4853-9186-E762905F46A5}" type="slidenum">
              <a:rPr lang="es-BO" smtClean="0"/>
              <a:pPr/>
              <a:t>‹Nº›</a:t>
            </a:fld>
            <a:endParaRPr lang="es-BO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0ACBB-E51D-4830-AE62-68E01EF0F969}" type="datetimeFigureOut">
              <a:rPr lang="es-BO" smtClean="0"/>
              <a:pPr/>
              <a:t>22/10/2010</a:t>
            </a:fld>
            <a:endParaRPr lang="es-B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CBCBC-4092-4853-9186-E762905F46A5}" type="slidenum">
              <a:rPr lang="es-BO" smtClean="0"/>
              <a:pPr/>
              <a:t>‹Nº›</a:t>
            </a:fld>
            <a:endParaRPr lang="es-B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5" name="4 Marcador de contenido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0ACBB-E51D-4830-AE62-68E01EF0F969}" type="datetimeFigureOut">
              <a:rPr lang="es-BO" smtClean="0"/>
              <a:pPr/>
              <a:t>22/10/2010</a:t>
            </a:fld>
            <a:endParaRPr lang="es-BO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CBCBC-4092-4853-9186-E762905F46A5}" type="slidenum">
              <a:rPr lang="es-BO" smtClean="0"/>
              <a:pPr/>
              <a:t>‹Nº›</a:t>
            </a:fld>
            <a:endParaRPr lang="es-B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0ACBB-E51D-4830-AE62-68E01EF0F969}" type="datetimeFigureOut">
              <a:rPr lang="es-BO" smtClean="0"/>
              <a:pPr/>
              <a:t>22/10/2010</a:t>
            </a:fld>
            <a:endParaRPr lang="es-BO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CBCBC-4092-4853-9186-E762905F46A5}" type="slidenum">
              <a:rPr lang="es-BO" smtClean="0"/>
              <a:pPr/>
              <a:t>‹Nº›</a:t>
            </a:fld>
            <a:endParaRPr lang="es-B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0ACBB-E51D-4830-AE62-68E01EF0F969}" type="datetimeFigureOut">
              <a:rPr lang="es-BO" smtClean="0"/>
              <a:pPr/>
              <a:t>22/10/2010</a:t>
            </a:fld>
            <a:endParaRPr lang="es-BO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CBCBC-4092-4853-9186-E762905F46A5}" type="slidenum">
              <a:rPr lang="es-BO" smtClean="0"/>
              <a:pPr/>
              <a:t>‹Nº›</a:t>
            </a:fld>
            <a:endParaRPr lang="es-B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0ACBB-E51D-4830-AE62-68E01EF0F969}" type="datetimeFigureOut">
              <a:rPr lang="es-BO" smtClean="0"/>
              <a:pPr/>
              <a:t>22/10/2010</a:t>
            </a:fld>
            <a:endParaRPr lang="es-B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CBCBC-4092-4853-9186-E762905F46A5}" type="slidenum">
              <a:rPr lang="es-BO" smtClean="0"/>
              <a:pPr/>
              <a:t>‹Nº›</a:t>
            </a:fld>
            <a:endParaRPr lang="es-B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8 Recortar y redondear rectángulo de esquina sencilla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11 Triángulo rectángulo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0ACBB-E51D-4830-AE62-68E01EF0F969}" type="datetimeFigureOut">
              <a:rPr lang="es-BO" smtClean="0"/>
              <a:pPr/>
              <a:t>22/10/2010</a:t>
            </a:fld>
            <a:endParaRPr lang="es-B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C57CBCBC-4092-4853-9186-E762905F46A5}" type="slidenum">
              <a:rPr lang="es-BO" smtClean="0"/>
              <a:pPr/>
              <a:t>‹Nº›</a:t>
            </a:fld>
            <a:endParaRPr lang="es-BO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s-ES" smtClean="0"/>
              <a:t>Haga clic en el icono para agregar una imagen</a:t>
            </a:r>
            <a:endParaRPr kumimoji="0" lang="en-US" dirty="0"/>
          </a:p>
        </p:txBody>
      </p:sp>
      <p:sp>
        <p:nvSpPr>
          <p:cNvPr id="10" name="9 Forma libre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10 Forma libre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0ACBB-E51D-4830-AE62-68E01EF0F969}" type="datetimeFigureOut">
              <a:rPr lang="es-BO" smtClean="0"/>
              <a:pPr/>
              <a:t>22/10/2010</a:t>
            </a:fld>
            <a:endParaRPr lang="es-B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CBCBC-4092-4853-9186-E762905F46A5}" type="slidenum">
              <a:rPr lang="es-BO" smtClean="0"/>
              <a:pPr/>
              <a:t>‹Nº›</a:t>
            </a:fld>
            <a:endParaRPr lang="es-B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0ACBB-E51D-4830-AE62-68E01EF0F969}" type="datetimeFigureOut">
              <a:rPr lang="es-BO" smtClean="0"/>
              <a:pPr/>
              <a:t>22/10/2010</a:t>
            </a:fld>
            <a:endParaRPr lang="es-B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CBCBC-4092-4853-9186-E762905F46A5}" type="slidenum">
              <a:rPr lang="es-BO" smtClean="0"/>
              <a:pPr/>
              <a:t>‹Nº›</a:t>
            </a:fld>
            <a:endParaRPr lang="es-BO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6 Forma libre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7 Forma libre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8 Marcador de título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0" name="29 Marcador de texto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  <a:p>
            <a:pPr lvl="1" eaLnBrk="1" latinLnBrk="0" hangingPunct="1"/>
            <a:r>
              <a:rPr kumimoji="0" lang="es-ES" smtClean="0"/>
              <a:t>Segundo nivel</a:t>
            </a:r>
          </a:p>
          <a:p>
            <a:pPr lvl="2" eaLnBrk="1" latinLnBrk="0" hangingPunct="1"/>
            <a:r>
              <a:rPr kumimoji="0" lang="es-ES" smtClean="0"/>
              <a:t>Tercer nivel</a:t>
            </a:r>
          </a:p>
          <a:p>
            <a:pPr lvl="3" eaLnBrk="1" latinLnBrk="0" hangingPunct="1"/>
            <a:r>
              <a:rPr kumimoji="0" lang="es-ES" smtClean="0"/>
              <a:t>Cuarto nivel</a:t>
            </a:r>
          </a:p>
          <a:p>
            <a:pPr lvl="4" eaLnBrk="1" latinLnBrk="0" hangingPunct="1"/>
            <a:r>
              <a:rPr kumimoji="0" lang="es-ES" smtClean="0"/>
              <a:t>Quinto nivel</a:t>
            </a:r>
            <a:endParaRPr kumimoji="0" lang="en-US"/>
          </a:p>
        </p:txBody>
      </p:sp>
      <p:sp>
        <p:nvSpPr>
          <p:cNvPr id="10" name="9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C330ACBB-E51D-4830-AE62-68E01EF0F969}" type="datetimeFigureOut">
              <a:rPr lang="es-BO" smtClean="0"/>
              <a:pPr/>
              <a:t>22/10/2010</a:t>
            </a:fld>
            <a:endParaRPr lang="es-BO"/>
          </a:p>
        </p:txBody>
      </p:sp>
      <p:sp>
        <p:nvSpPr>
          <p:cNvPr id="22" name="21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s-BO"/>
          </a:p>
        </p:txBody>
      </p:sp>
      <p:sp>
        <p:nvSpPr>
          <p:cNvPr id="18" name="17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C57CBCBC-4092-4853-9186-E762905F46A5}" type="slidenum">
              <a:rPr lang="es-BO" smtClean="0"/>
              <a:pPr/>
              <a:t>‹Nº›</a:t>
            </a:fld>
            <a:endParaRPr lang="es-BO"/>
          </a:p>
        </p:txBody>
      </p:sp>
      <p:grpSp>
        <p:nvGrpSpPr>
          <p:cNvPr id="2" name="1 Grupo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11 Forma libre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12 Forma libre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s-BO" dirty="0" smtClean="0"/>
              <a:t>2.5 contribución de la placenta a la ecología fetal</a:t>
            </a:r>
            <a:endParaRPr lang="es-BO" dirty="0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BO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BO" dirty="0" smtClean="0"/>
              <a:t>Concepto.-</a:t>
            </a:r>
            <a:endParaRPr lang="es-B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BO" dirty="0" smtClean="0"/>
              <a:t>La placenta apoyada por el cordón umbilical funciona como un sistema de transporte de sustancias entre madre y feto.</a:t>
            </a:r>
          </a:p>
          <a:p>
            <a:r>
              <a:rPr lang="es-BO" dirty="0" smtClean="0"/>
              <a:t>La placenta órgano vital para la supervivencia y desarrollo del feto.</a:t>
            </a:r>
          </a:p>
          <a:p>
            <a:r>
              <a:rPr lang="es-BO" dirty="0" smtClean="0"/>
              <a:t>El microambiente fetal mantiene un intercambio continuo con el </a:t>
            </a:r>
            <a:r>
              <a:rPr lang="es-BO" dirty="0" err="1" smtClean="0"/>
              <a:t>macroambiente</a:t>
            </a:r>
            <a:r>
              <a:rPr lang="es-BO" dirty="0" smtClean="0"/>
              <a:t> materno.</a:t>
            </a:r>
            <a:endParaRPr lang="es-BO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510466"/>
          </a:xfrm>
        </p:spPr>
        <p:txBody>
          <a:bodyPr>
            <a:normAutofit fontScale="90000"/>
          </a:bodyPr>
          <a:lstStyle/>
          <a:p>
            <a:r>
              <a:rPr lang="es-BO" dirty="0" smtClean="0"/>
              <a:t/>
            </a:r>
            <a:br>
              <a:rPr lang="es-BO" dirty="0" smtClean="0"/>
            </a:br>
            <a:r>
              <a:rPr lang="es-BO" dirty="0" smtClean="0"/>
              <a:t/>
            </a:r>
            <a:br>
              <a:rPr lang="es-BO" dirty="0" smtClean="0"/>
            </a:br>
            <a:r>
              <a:rPr lang="es-BO" dirty="0" smtClean="0"/>
              <a:t/>
            </a:r>
            <a:br>
              <a:rPr lang="es-BO" dirty="0" smtClean="0"/>
            </a:br>
            <a:r>
              <a:rPr lang="es-BO" dirty="0" smtClean="0"/>
              <a:t/>
            </a:r>
            <a:br>
              <a:rPr lang="es-BO" dirty="0" smtClean="0"/>
            </a:br>
            <a:r>
              <a:rPr lang="es-BO" dirty="0" smtClean="0"/>
              <a:t/>
            </a:r>
            <a:br>
              <a:rPr lang="es-BO" dirty="0" smtClean="0"/>
            </a:br>
            <a:r>
              <a:rPr lang="es-BO" dirty="0" smtClean="0"/>
              <a:t>La insuficiencia del intercambio metabólico entre madre y feto se puede deber a:</a:t>
            </a:r>
            <a:endParaRPr lang="es-B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BO" dirty="0" smtClean="0"/>
          </a:p>
          <a:p>
            <a:r>
              <a:rPr lang="es-BO" dirty="0" smtClean="0"/>
              <a:t>Lesiones placentarias que se correlacionan con el estado fetal.</a:t>
            </a:r>
          </a:p>
          <a:p>
            <a:r>
              <a:rPr lang="es-BO" dirty="0" smtClean="0"/>
              <a:t>La reducción del flujo sanguíneo materno es otro factor muy frecuente y aparece cuando aumenta la presión fetal.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BO" dirty="0" smtClean="0"/>
              <a:t>Otros factores </a:t>
            </a:r>
            <a:endParaRPr lang="es-B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BO" dirty="0" smtClean="0"/>
              <a:t>La existencia de circulares de cordón.</a:t>
            </a:r>
          </a:p>
          <a:p>
            <a:r>
              <a:rPr lang="es-BO" dirty="0" smtClean="0"/>
              <a:t>La insuficiencia de intercambio de nutrientes entre micro y </a:t>
            </a:r>
            <a:r>
              <a:rPr lang="es-BO" dirty="0" err="1" smtClean="0"/>
              <a:t>macroambiente</a:t>
            </a:r>
            <a:r>
              <a:rPr lang="es-BO" dirty="0" smtClean="0"/>
              <a:t> producen retardo crecimiento.</a:t>
            </a:r>
          </a:p>
          <a:p>
            <a:r>
              <a:rPr lang="es-BO" dirty="0" smtClean="0"/>
              <a:t>Asfixia </a:t>
            </a:r>
            <a:r>
              <a:rPr lang="es-BO" dirty="0" err="1" smtClean="0"/>
              <a:t>cronica</a:t>
            </a:r>
            <a:r>
              <a:rPr lang="es-BO" dirty="0" smtClean="0"/>
              <a:t> lleva a sufrimiento fetal.</a:t>
            </a:r>
          </a:p>
          <a:p>
            <a:endParaRPr lang="es-BO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BO" dirty="0" smtClean="0"/>
              <a:t>Funciones del placenta</a:t>
            </a:r>
            <a:endParaRPr lang="es-B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BO" dirty="0" smtClean="0"/>
              <a:t>Respiración.- oxigeno de la sangre materna </a:t>
            </a:r>
          </a:p>
          <a:p>
            <a:r>
              <a:rPr lang="es-BO" dirty="0" smtClean="0"/>
              <a:t>Nutrición .- agua, sales orgánicas, proteínas que pasan por la sangre.</a:t>
            </a:r>
          </a:p>
          <a:p>
            <a:r>
              <a:rPr lang="es-BO" dirty="0" smtClean="0"/>
              <a:t>Excreción.- productos de deshecho urea acido úrico.</a:t>
            </a:r>
          </a:p>
          <a:p>
            <a:r>
              <a:rPr lang="es-BO" dirty="0" smtClean="0"/>
              <a:t>Protección .- gracias a la inmunidad materna.</a:t>
            </a:r>
          </a:p>
          <a:p>
            <a:r>
              <a:rPr lang="es-BO" dirty="0" smtClean="0"/>
              <a:t>Almacenamiento.- calcio</a:t>
            </a:r>
            <a:r>
              <a:rPr lang="es-BO" smtClean="0"/>
              <a:t>, proteínas </a:t>
            </a:r>
            <a:r>
              <a:rPr lang="es-BO" dirty="0" smtClean="0"/>
              <a:t>y hierro se almacenan y se liberan según se requiera.</a:t>
            </a:r>
            <a:endParaRPr lang="es-BO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BO" dirty="0" smtClean="0"/>
              <a:t>Transparencia placentaria</a:t>
            </a:r>
            <a:endParaRPr lang="es-BO" dirty="0"/>
          </a:p>
        </p:txBody>
      </p:sp>
      <p:graphicFrame>
        <p:nvGraphicFramePr>
          <p:cNvPr id="4" name="3 Marcador de contenido"/>
          <p:cNvGraphicFramePr>
            <a:graphicFrameLocks noGrp="1"/>
          </p:cNvGraphicFramePr>
          <p:nvPr>
            <p:ph idx="1"/>
          </p:nvPr>
        </p:nvGraphicFramePr>
        <p:xfrm>
          <a:off x="457200" y="1935162"/>
          <a:ext cx="8229600" cy="41554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741683">
                <a:tc>
                  <a:txBody>
                    <a:bodyPr/>
                    <a:lstStyle/>
                    <a:p>
                      <a:r>
                        <a:rPr lang="es-BO" sz="2400" dirty="0" smtClean="0"/>
                        <a:t>Mecanismo de transporte</a:t>
                      </a:r>
                      <a:endParaRPr lang="es-BO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BO" sz="2400" dirty="0" smtClean="0"/>
                        <a:t>Sustancias transportadas</a:t>
                      </a:r>
                      <a:endParaRPr lang="es-BO" sz="2400" dirty="0"/>
                    </a:p>
                  </a:txBody>
                  <a:tcPr/>
                </a:tc>
              </a:tr>
              <a:tr h="741683">
                <a:tc>
                  <a:txBody>
                    <a:bodyPr/>
                    <a:lstStyle/>
                    <a:p>
                      <a:r>
                        <a:rPr lang="es-BO" dirty="0" err="1" smtClean="0"/>
                        <a:t>Difusion</a:t>
                      </a:r>
                      <a:r>
                        <a:rPr lang="es-BO" baseline="0" dirty="0" smtClean="0"/>
                        <a:t> simple</a:t>
                      </a:r>
                      <a:endParaRPr lang="es-B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BO" dirty="0" smtClean="0"/>
                        <a:t>Oxigeno, </a:t>
                      </a:r>
                      <a:r>
                        <a:rPr lang="es-BO" dirty="0" err="1" smtClean="0"/>
                        <a:t>dioxido</a:t>
                      </a:r>
                      <a:r>
                        <a:rPr lang="es-BO" dirty="0" smtClean="0"/>
                        <a:t> de carbono, </a:t>
                      </a:r>
                      <a:r>
                        <a:rPr lang="es-BO" dirty="0" err="1" smtClean="0"/>
                        <a:t>monoxido</a:t>
                      </a:r>
                      <a:r>
                        <a:rPr lang="es-BO" dirty="0" smtClean="0"/>
                        <a:t> de carbono, vitamina, urea, acido </a:t>
                      </a:r>
                      <a:r>
                        <a:rPr lang="es-BO" dirty="0" err="1" smtClean="0"/>
                        <a:t>urico,bilirrubina</a:t>
                      </a:r>
                      <a:r>
                        <a:rPr lang="es-BO" dirty="0" smtClean="0"/>
                        <a:t> , casi todos los </a:t>
                      </a:r>
                      <a:r>
                        <a:rPr lang="es-BO" dirty="0" err="1" smtClean="0"/>
                        <a:t>farmacos</a:t>
                      </a:r>
                      <a:r>
                        <a:rPr lang="es-BO" dirty="0" smtClean="0"/>
                        <a:t>.</a:t>
                      </a:r>
                      <a:endParaRPr lang="es-BO" dirty="0"/>
                    </a:p>
                  </a:txBody>
                  <a:tcPr/>
                </a:tc>
              </a:tr>
              <a:tr h="741683">
                <a:tc>
                  <a:txBody>
                    <a:bodyPr/>
                    <a:lstStyle/>
                    <a:p>
                      <a:r>
                        <a:rPr lang="es-BO" dirty="0" err="1" smtClean="0"/>
                        <a:t>Difusion</a:t>
                      </a:r>
                      <a:r>
                        <a:rPr lang="es-BO" dirty="0" smtClean="0"/>
                        <a:t> facilitada</a:t>
                      </a:r>
                      <a:endParaRPr lang="es-B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BO" dirty="0" smtClean="0"/>
                        <a:t>Glucosa </a:t>
                      </a:r>
                      <a:endParaRPr lang="es-BO" dirty="0"/>
                    </a:p>
                  </a:txBody>
                  <a:tcPr/>
                </a:tc>
              </a:tr>
              <a:tr h="741683">
                <a:tc>
                  <a:txBody>
                    <a:bodyPr/>
                    <a:lstStyle/>
                    <a:p>
                      <a:r>
                        <a:rPr lang="es-BO" dirty="0" smtClean="0"/>
                        <a:t>Transporte activo</a:t>
                      </a:r>
                      <a:endParaRPr lang="es-B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BO" dirty="0" smtClean="0"/>
                        <a:t>Hierro,</a:t>
                      </a:r>
                      <a:r>
                        <a:rPr lang="es-BO" baseline="0" dirty="0" smtClean="0"/>
                        <a:t> </a:t>
                      </a:r>
                      <a:r>
                        <a:rPr lang="es-BO" baseline="0" dirty="0" err="1" smtClean="0"/>
                        <a:t>aminoacidos</a:t>
                      </a:r>
                      <a:r>
                        <a:rPr lang="es-BO" baseline="0" dirty="0" smtClean="0"/>
                        <a:t> esenciales</a:t>
                      </a:r>
                      <a:endParaRPr lang="es-BO" dirty="0"/>
                    </a:p>
                  </a:txBody>
                  <a:tcPr/>
                </a:tc>
              </a:tr>
              <a:tr h="741683">
                <a:tc>
                  <a:txBody>
                    <a:bodyPr/>
                    <a:lstStyle/>
                    <a:p>
                      <a:r>
                        <a:rPr lang="es-BO" dirty="0" err="1" smtClean="0"/>
                        <a:t>pinocitosis</a:t>
                      </a:r>
                      <a:endParaRPr lang="es-B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BO" dirty="0" smtClean="0"/>
                        <a:t>Anticuerpos maternos, </a:t>
                      </a:r>
                      <a:r>
                        <a:rPr lang="es-BO" dirty="0" err="1" smtClean="0"/>
                        <a:t>proteinas</a:t>
                      </a:r>
                      <a:r>
                        <a:rPr lang="es-BO" dirty="0" smtClean="0"/>
                        <a:t>.</a:t>
                      </a:r>
                      <a:endParaRPr lang="es-BO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BO" dirty="0" smtClean="0"/>
              <a:t>Crecimiento y desarrollo uterino</a:t>
            </a:r>
            <a:endParaRPr lang="es-B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BO" dirty="0" smtClean="0"/>
              <a:t>La evolución embrionaria comprende los procesos simultáneos del crecimiento y desarrollo o diferenciación.</a:t>
            </a:r>
          </a:p>
          <a:p>
            <a:r>
              <a:rPr lang="es-BO" dirty="0" smtClean="0"/>
              <a:t> el termino crecimiento se emplea por lo general para determinar aspectos de </a:t>
            </a:r>
            <a:r>
              <a:rPr lang="es-BO" dirty="0" err="1" smtClean="0"/>
              <a:t>maduracion</a:t>
            </a:r>
            <a:r>
              <a:rPr lang="es-BO" dirty="0" smtClean="0"/>
              <a:t> que puede ser la talla.</a:t>
            </a:r>
          </a:p>
          <a:p>
            <a:pPr>
              <a:buNone/>
            </a:pPr>
            <a:endParaRPr lang="es-BO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BO" dirty="0" smtClean="0"/>
              <a:t>Mas conceptos </a:t>
            </a:r>
            <a:endParaRPr lang="es-B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BO" dirty="0" smtClean="0"/>
              <a:t>El termino desarrollo se refiere al proceso por el cual se logra progresivamente la adquisición funcional de los sistemas y regulaciones fisiológicas.</a:t>
            </a:r>
            <a:endParaRPr lang="es-BO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BO" dirty="0" smtClean="0"/>
              <a:t>Aspectos relacionados con el desarrollo y crecimiento</a:t>
            </a:r>
            <a:endParaRPr lang="es-B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BO" dirty="0" smtClean="0"/>
              <a:t>La herencia establece el potencial inherente del sistema de desarrollo del individuo.</a:t>
            </a:r>
          </a:p>
          <a:p>
            <a:r>
              <a:rPr lang="es-BO" dirty="0" smtClean="0"/>
              <a:t>Los factores genéticos depende los que muchas veces se ha pensado que establecen limites finales al potencial biológico.</a:t>
            </a:r>
          </a:p>
          <a:p>
            <a:r>
              <a:rPr lang="es-BO" dirty="0" smtClean="0"/>
              <a:t>El traumatismo puede ser prenatal o posnatal de naturaleza </a:t>
            </a:r>
            <a:r>
              <a:rPr lang="es-BO" dirty="0" err="1" smtClean="0"/>
              <a:t>quimica</a:t>
            </a:r>
            <a:r>
              <a:rPr lang="es-BO" dirty="0" smtClean="0"/>
              <a:t> como en la </a:t>
            </a:r>
            <a:r>
              <a:rPr lang="es-BO" dirty="0" err="1" smtClean="0"/>
              <a:t>distrocion</a:t>
            </a:r>
            <a:r>
              <a:rPr lang="es-BO" dirty="0" smtClean="0"/>
              <a:t> del crecimiento por drogas.</a:t>
            </a:r>
            <a:endParaRPr lang="es-BO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BO" dirty="0" smtClean="0"/>
              <a:t>Los factores nutritivos son fundamentales para el crecimiento optimo tanto prenatal como posnatal.</a:t>
            </a:r>
          </a:p>
          <a:p>
            <a:r>
              <a:rPr lang="es-BO" dirty="0" smtClean="0"/>
              <a:t>Actualmente </a:t>
            </a:r>
            <a:r>
              <a:rPr lang="es-BO" smtClean="0"/>
              <a:t>lo factores </a:t>
            </a:r>
            <a:r>
              <a:rPr lang="es-BO" dirty="0" smtClean="0"/>
              <a:t>sociales y emocionales  son importantes modificadores </a:t>
            </a:r>
            <a:endParaRPr lang="es-BO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ujo">
  <a:themeElements>
    <a:clrScheme name="Flujo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ujo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ujo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56</TotalTime>
  <Words>361</Words>
  <Application>Microsoft Office PowerPoint</Application>
  <PresentationFormat>Presentación en pantalla (4:3)</PresentationFormat>
  <Paragraphs>41</Paragraphs>
  <Slides>10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1" baseType="lpstr">
      <vt:lpstr>Flujo</vt:lpstr>
      <vt:lpstr>2.5 contribución de la placenta a la ecología fetal</vt:lpstr>
      <vt:lpstr>Concepto.-</vt:lpstr>
      <vt:lpstr>     La insuficiencia del intercambio metabólico entre madre y feto se puede deber a:</vt:lpstr>
      <vt:lpstr>Otros factores </vt:lpstr>
      <vt:lpstr>Funciones del placenta</vt:lpstr>
      <vt:lpstr>Transparencia placentaria</vt:lpstr>
      <vt:lpstr>Crecimiento y desarrollo uterino</vt:lpstr>
      <vt:lpstr>Mas conceptos </vt:lpstr>
      <vt:lpstr>Aspectos relacionados con el desarrollo y crecimiento</vt:lpstr>
      <vt:lpstr>Diapositiva 10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2.5 contribución de la placenta a la ecología fetal</dc:title>
  <dc:creator>Lilian</dc:creator>
  <cp:lastModifiedBy>Lilian</cp:lastModifiedBy>
  <cp:revision>3</cp:revision>
  <dcterms:created xsi:type="dcterms:W3CDTF">2010-10-22T19:49:25Z</dcterms:created>
  <dcterms:modified xsi:type="dcterms:W3CDTF">2010-10-22T22:38:21Z</dcterms:modified>
</cp:coreProperties>
</file>