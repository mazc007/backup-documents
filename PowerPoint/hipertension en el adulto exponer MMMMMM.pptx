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2" r:id="rId6"/>
    <p:sldId id="287" r:id="rId7"/>
    <p:sldId id="285" r:id="rId8"/>
    <p:sldId id="284" r:id="rId9"/>
    <p:sldId id="290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86" r:id="rId18"/>
    <p:sldId id="277" r:id="rId19"/>
    <p:sldId id="288" r:id="rId20"/>
    <p:sldId id="278" r:id="rId21"/>
    <p:sldId id="282" r:id="rId22"/>
    <p:sldId id="279" r:id="rId23"/>
    <p:sldId id="280" r:id="rId24"/>
    <p:sldId id="281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-6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660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447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312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131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410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806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2900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460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13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345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7145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55CB3-34FD-43CE-A903-3EFED729C16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759357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s-E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41700-671B-4C09-A13E-C5CFA6CEFC9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868463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40386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F5669-A17F-498B-AC89-A54C76298CA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31024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D64C1-05BD-4CDF-8ACA-EB0019FFF824}" type="datetimeFigureOut">
              <a:rPr lang="es-MX" smtClean="0"/>
              <a:t>22/11/2014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EACEF-481E-4DE5-B671-22CD47BB8B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378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9"/>
            <a:ext cx="8229600" cy="288032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CO" sz="6600" dirty="0" smtClean="0">
                <a:solidFill>
                  <a:schemeClr val="hlink"/>
                </a:solidFill>
              </a:rPr>
              <a:t>PRESION ARTERIAL</a:t>
            </a:r>
            <a:br>
              <a:rPr lang="es-CO" sz="6600" dirty="0" smtClean="0">
                <a:solidFill>
                  <a:schemeClr val="hlink"/>
                </a:solidFill>
              </a:rPr>
            </a:br>
            <a:endParaRPr lang="es-ES" sz="6600" dirty="0" smtClean="0">
              <a:solidFill>
                <a:schemeClr val="hlink"/>
              </a:solidFill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2705811" y="469552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 smtClean="0"/>
              <a:t>INTEGRANTES: PAMELA CARRION</a:t>
            </a:r>
          </a:p>
          <a:p>
            <a:r>
              <a:rPr lang="pt-BR" b="1" dirty="0"/>
              <a:t> </a:t>
            </a:r>
            <a:r>
              <a:rPr lang="pt-BR" b="1" dirty="0" smtClean="0"/>
              <a:t>                           MIRIAN VILLARROEL ANTONIO</a:t>
            </a:r>
          </a:p>
          <a:p>
            <a:r>
              <a:rPr lang="pt-BR" b="1" dirty="0"/>
              <a:t> </a:t>
            </a:r>
            <a:r>
              <a:rPr lang="pt-BR" b="1" dirty="0" smtClean="0"/>
              <a:t>                           </a:t>
            </a:r>
            <a:r>
              <a:rPr lang="pt-BR" b="1" dirty="0" smtClean="0"/>
              <a:t>MARIBEL CRUZ MAMANI</a:t>
            </a:r>
            <a:endParaRPr lang="pt-BR" b="1" dirty="0"/>
          </a:p>
        </p:txBody>
      </p:sp>
      <p:pic>
        <p:nvPicPr>
          <p:cNvPr id="6" name="Picture 4" descr="http://www.enfermerasperu.com/imagenes/cuidados_de_enfermeria_a_domicili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05811" y="1628800"/>
            <a:ext cx="3214710" cy="26642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300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396875"/>
            <a:ext cx="7705725" cy="1296988"/>
          </a:xfrm>
        </p:spPr>
        <p:txBody>
          <a:bodyPr/>
          <a:lstStyle/>
          <a:p>
            <a:pPr algn="l" eaLnBrk="1" hangingPunct="1">
              <a:defRPr/>
            </a:pPr>
            <a:r>
              <a:rPr lang="es-ES_tradnl" sz="5600" b="1" smtClean="0">
                <a:solidFill>
                  <a:srgbClr val="33CCFF"/>
                </a:solidFill>
              </a:rPr>
              <a:t>PRESIÓN ARTERIAL</a:t>
            </a:r>
            <a:endParaRPr lang="es-ES" sz="5600" b="1" smtClean="0">
              <a:solidFill>
                <a:srgbClr val="33CCFF"/>
              </a:solidFill>
            </a:endParaRPr>
          </a:p>
        </p:txBody>
      </p:sp>
      <p:pic>
        <p:nvPicPr>
          <p:cNvPr id="154627" name="Picture 3" descr="6475_1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557338"/>
            <a:ext cx="3335337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8" name="Oval 4"/>
          <p:cNvSpPr>
            <a:spLocks noChangeArrowheads="1"/>
          </p:cNvSpPr>
          <p:nvPr/>
        </p:nvSpPr>
        <p:spPr bwMode="auto">
          <a:xfrm>
            <a:off x="5076825" y="1916113"/>
            <a:ext cx="3095625" cy="30972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ES">
                <a:latin typeface="Verdana" pitchFamily="34" charset="0"/>
              </a:rPr>
              <a:t>Es la fuerza </a:t>
            </a:r>
          </a:p>
          <a:p>
            <a:pPr algn="ctr"/>
            <a:r>
              <a:rPr lang="es-ES">
                <a:latin typeface="Verdana" pitchFamily="34" charset="0"/>
              </a:rPr>
              <a:t>que ejerce la sangre </a:t>
            </a:r>
          </a:p>
          <a:p>
            <a:pPr algn="ctr"/>
            <a:r>
              <a:rPr lang="es-ES">
                <a:latin typeface="Verdana" pitchFamily="34" charset="0"/>
              </a:rPr>
              <a:t>contra la pared de una </a:t>
            </a:r>
          </a:p>
          <a:p>
            <a:pPr algn="ctr"/>
            <a:r>
              <a:rPr lang="es-ES">
                <a:latin typeface="Verdana" pitchFamily="34" charset="0"/>
              </a:rPr>
              <a:t>arteria mientras los </a:t>
            </a:r>
          </a:p>
          <a:p>
            <a:pPr algn="ctr"/>
            <a:r>
              <a:rPr lang="es-ES">
                <a:latin typeface="Verdana" pitchFamily="34" charset="0"/>
              </a:rPr>
              <a:t>ventrículos cardiacos </a:t>
            </a:r>
          </a:p>
          <a:p>
            <a:pPr algn="ctr"/>
            <a:r>
              <a:rPr lang="es-ES">
                <a:latin typeface="Verdana" pitchFamily="34" charset="0"/>
              </a:rPr>
              <a:t>se contraen y </a:t>
            </a:r>
          </a:p>
          <a:p>
            <a:pPr algn="ctr"/>
            <a:r>
              <a:rPr lang="es-ES">
                <a:latin typeface="Verdana" pitchFamily="34" charset="0"/>
              </a:rPr>
              <a:t>relajan</a:t>
            </a:r>
          </a:p>
        </p:txBody>
      </p:sp>
    </p:spTree>
    <p:extLst>
      <p:ext uri="{BB962C8B-B14F-4D97-AF65-F5344CB8AC3E}">
        <p14:creationId xmlns:p14="http://schemas.microsoft.com/office/powerpoint/2010/main" val="38208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08720"/>
            <a:ext cx="4559300" cy="5187280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r>
              <a:rPr lang="es-ES_tradnl" sz="9600" dirty="0" smtClean="0"/>
              <a:t>Es  la  fuerza  que  ejerce   sobre las   paredes   de   una  arteria la sangre    bombeada      por      el corazón.</a:t>
            </a:r>
          </a:p>
          <a:p>
            <a:pPr eaLnBrk="1" hangingPunct="1">
              <a:defRPr/>
            </a:pPr>
            <a:r>
              <a:rPr lang="es-ES_tradnl" sz="9600" dirty="0" smtClean="0"/>
              <a:t>La   sangre   circula  a través del sistema circulatorio debido a los cambios de presión.</a:t>
            </a:r>
          </a:p>
          <a:p>
            <a:pPr eaLnBrk="1" hangingPunct="1">
              <a:defRPr/>
            </a:pPr>
            <a:r>
              <a:rPr lang="es-ES_tradnl" sz="9600" dirty="0" smtClean="0"/>
              <a:t>La P.A. es un buen  indicador de la salud cardiovascular.</a:t>
            </a:r>
          </a:p>
          <a:p>
            <a:pPr eaLnBrk="1" hangingPunct="1">
              <a:defRPr/>
            </a:pPr>
            <a:r>
              <a:rPr lang="es-ES_tradnl" sz="9600" dirty="0" smtClean="0"/>
              <a:t>La unidad estándar para medir la P.A. en </a:t>
            </a:r>
            <a:r>
              <a:rPr lang="es-ES_tradnl" sz="9600" dirty="0" err="1" smtClean="0"/>
              <a:t>mmHg</a:t>
            </a:r>
            <a:r>
              <a:rPr lang="es-ES_tradnl" sz="9600" dirty="0" smtClean="0"/>
              <a:t>. </a:t>
            </a:r>
          </a:p>
          <a:p>
            <a:pPr marL="0" indent="0" eaLnBrk="1" hangingPunct="1">
              <a:buNone/>
              <a:defRPr/>
            </a:pPr>
            <a:r>
              <a:rPr lang="es-ES_tradnl" sz="9600" dirty="0" smtClean="0"/>
              <a:t> </a:t>
            </a:r>
          </a:p>
          <a:p>
            <a:pPr eaLnBrk="1" hangingPunct="1">
              <a:defRPr/>
            </a:pPr>
            <a:r>
              <a:rPr lang="es-ES_tradnl" sz="9600" dirty="0" smtClean="0"/>
              <a:t>Una sola medición  de la P.A. no puede   reflejar   exactamente  la P.A. … Son las tendencias.       </a:t>
            </a:r>
          </a:p>
          <a:p>
            <a:pPr eaLnBrk="1" hangingPunct="1">
              <a:defRPr/>
            </a:pPr>
            <a:endParaRPr lang="es-ES_tradnl" sz="9600" dirty="0" smtClean="0"/>
          </a:p>
          <a:p>
            <a:pPr eaLnBrk="1" hangingPunct="1">
              <a:defRPr/>
            </a:pPr>
            <a:endParaRPr lang="es-ES_tradnl" sz="9600" dirty="0" smtClean="0"/>
          </a:p>
          <a:p>
            <a:pPr eaLnBrk="1" hangingPunct="1">
              <a:defRPr/>
            </a:pPr>
            <a:endParaRPr lang="es-ES_tradnl" sz="9600" dirty="0" smtClean="0"/>
          </a:p>
          <a:p>
            <a:pPr eaLnBrk="1" hangingPunct="1">
              <a:buFont typeface="Wingdings" pitchFamily="2" charset="2"/>
              <a:buNone/>
              <a:defRPr/>
            </a:pPr>
            <a:endParaRPr lang="es-ES_tradnl" sz="20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000" dirty="0" smtClean="0"/>
              <a:t> </a:t>
            </a:r>
            <a:endParaRPr lang="es-MX" sz="2000" dirty="0" smtClean="0"/>
          </a:p>
        </p:txBody>
      </p:sp>
      <p:pic>
        <p:nvPicPr>
          <p:cNvPr id="155651" name="Picture 3" descr="DSC0589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14950" y="836712"/>
            <a:ext cx="3260725" cy="5159276"/>
          </a:xfrm>
          <a:ln w="76200" cmpd="tri">
            <a:solidFill>
              <a:srgbClr val="FFCC00"/>
            </a:solidFill>
          </a:ln>
        </p:spPr>
      </p:pic>
    </p:spTree>
    <p:extLst>
      <p:ext uri="{BB962C8B-B14F-4D97-AF65-F5344CB8AC3E}">
        <p14:creationId xmlns:p14="http://schemas.microsoft.com/office/powerpoint/2010/main" val="3523831363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908050"/>
            <a:ext cx="8229600" cy="4525963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s-ES_tradnl" sz="2800" b="1" u="sng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Presión arterial sistólica</a:t>
            </a:r>
            <a:r>
              <a:rPr lang="es-ES_tradnl" sz="2800" dirty="0" smtClean="0"/>
              <a:t>: La punta de presión máxima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s-ES_tradnl" sz="2800" dirty="0" smtClean="0"/>
              <a:t>    cuando se produce la eyección. 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800" dirty="0" smtClean="0"/>
              <a:t> Su valor normal es de 120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_tradnl" sz="28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800" b="1" u="sng" dirty="0" smtClean="0">
                <a:solidFill>
                  <a:srgbClr val="33CC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Presión arterial diastólica</a:t>
            </a:r>
            <a:r>
              <a:rPr lang="es-ES_tradnl" sz="2800" b="1" dirty="0" smtClean="0">
                <a:solidFill>
                  <a:srgbClr val="33CC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:</a:t>
            </a:r>
            <a:r>
              <a:rPr lang="es-ES_tradnl" sz="2800" dirty="0" smtClean="0"/>
              <a:t> Cuando los ventrículos se relajan, la sangre que permanece en las arterias ejerce una presión mínima.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800" dirty="0" smtClean="0"/>
              <a:t>Su valor normal es de 80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s-ES_tradnl" sz="28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800" dirty="0" smtClean="0"/>
              <a:t>La diferencia entre la presión sistólica y diastólica se llaman presión diferencial o de pulso. Su valor es de 40mmHg. </a:t>
            </a:r>
            <a:endParaRPr lang="es-MX" sz="2800" dirty="0" smtClean="0"/>
          </a:p>
        </p:txBody>
      </p:sp>
    </p:spTree>
    <p:extLst>
      <p:ext uri="{BB962C8B-B14F-4D97-AF65-F5344CB8AC3E}">
        <p14:creationId xmlns:p14="http://schemas.microsoft.com/office/powerpoint/2010/main" val="401195612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b="1" dirty="0" smtClean="0">
                <a:solidFill>
                  <a:srgbClr val="33CCFF"/>
                </a:solidFill>
              </a:rPr>
              <a:t>MEDIA DE LA P.A. SEGÚN EDAD</a:t>
            </a:r>
            <a:endParaRPr lang="es-MX" b="1" dirty="0" smtClean="0">
              <a:solidFill>
                <a:srgbClr val="33CCFF"/>
              </a:solidFill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8218488" cy="41148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2800" dirty="0" smtClean="0"/>
              <a:t>R.N. …………………………     40 (media)</a:t>
            </a:r>
          </a:p>
          <a:p>
            <a:pPr eaLnBrk="1" hangingPunct="1">
              <a:defRPr/>
            </a:pPr>
            <a:r>
              <a:rPr lang="es-ES_tradnl" sz="2800" dirty="0" smtClean="0"/>
              <a:t>1 mes……………………….   85/54 </a:t>
            </a:r>
            <a:r>
              <a:rPr lang="es-ES_tradnl" sz="2800" dirty="0" err="1" smtClean="0"/>
              <a:t>mmhg</a:t>
            </a:r>
            <a:endParaRPr lang="es-ES_tradnl" sz="2800" dirty="0" smtClean="0"/>
          </a:p>
          <a:p>
            <a:pPr eaLnBrk="1" hangingPunct="1">
              <a:defRPr/>
            </a:pPr>
            <a:r>
              <a:rPr lang="es-ES_tradnl" sz="2800" dirty="0" smtClean="0"/>
              <a:t>1 año………………………..   95/65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defRPr/>
            </a:pPr>
            <a:r>
              <a:rPr lang="es-ES_tradnl" sz="2800" dirty="0" smtClean="0"/>
              <a:t>6 años……………………… 105/65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defRPr/>
            </a:pPr>
            <a:r>
              <a:rPr lang="es-ES_tradnl" sz="2800" dirty="0" smtClean="0"/>
              <a:t>10-13 años………………… 110/65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defRPr/>
            </a:pPr>
            <a:r>
              <a:rPr lang="es-ES_tradnl" sz="2800" dirty="0" smtClean="0"/>
              <a:t>14-17 años………………… 120/75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defRPr/>
            </a:pPr>
            <a:r>
              <a:rPr lang="es-ES_tradnl" sz="2800" dirty="0" smtClean="0"/>
              <a:t>Adulto………………………  120/80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</a:t>
            </a:r>
          </a:p>
          <a:p>
            <a:pPr eaLnBrk="1" hangingPunct="1">
              <a:defRPr/>
            </a:pPr>
            <a:r>
              <a:rPr lang="es-ES_tradnl" sz="2800" dirty="0" smtClean="0"/>
              <a:t>Anciano……………………   140/90 </a:t>
            </a:r>
            <a:r>
              <a:rPr lang="es-ES_tradnl" sz="2800" dirty="0" err="1" smtClean="0"/>
              <a:t>mmhg</a:t>
            </a:r>
            <a:r>
              <a:rPr lang="es-ES_tradnl" sz="2800" dirty="0" smtClean="0"/>
              <a:t>. </a:t>
            </a:r>
            <a:endParaRPr lang="es-MX" sz="2800" dirty="0" smtClean="0"/>
          </a:p>
        </p:txBody>
      </p:sp>
    </p:spTree>
    <p:extLst>
      <p:ext uri="{BB962C8B-B14F-4D97-AF65-F5344CB8AC3E}">
        <p14:creationId xmlns:p14="http://schemas.microsoft.com/office/powerpoint/2010/main" val="2081142643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Hipertensión </a:t>
            </a:r>
            <a:r>
              <a:rPr lang="es-AR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Arterial</a:t>
            </a:r>
            <a:endParaRPr lang="es-E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s-AR" sz="40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DEFINICIÓN .- </a:t>
            </a:r>
            <a:r>
              <a:rPr lang="es-AR" sz="4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Enfermedad </a:t>
            </a:r>
            <a:r>
              <a:rPr lang="es-AR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controlable, de etiología </a:t>
            </a:r>
            <a:r>
              <a:rPr lang="es-AR" sz="4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múltiple, </a:t>
            </a:r>
            <a:r>
              <a:rPr lang="es-AR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caracterizada por la elevación de la presión arterial, que reduce la calidad y expectativa de </a:t>
            </a:r>
            <a:r>
              <a:rPr lang="es-AR" sz="4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vida del ser humano</a:t>
            </a:r>
            <a:r>
              <a:rPr lang="es-AR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  <a:endParaRPr lang="es-AR" dirty="0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615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Fisiopatología</a:t>
            </a:r>
            <a:endParaRPr lang="es-E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Tx/>
              <a:buChar char="•"/>
            </a:pPr>
            <a:r>
              <a:rPr lang="es-MX" b="1" dirty="0"/>
              <a:t>Cambios relacionados a rigidez aórtica por la edad explican el desarrollo</a:t>
            </a:r>
          </a:p>
          <a:p>
            <a:pPr marL="0" indent="0">
              <a:buNone/>
            </a:pPr>
            <a:r>
              <a:rPr lang="es-MX" sz="3600" dirty="0"/>
              <a:t> </a:t>
            </a:r>
            <a:r>
              <a:rPr lang="es-MX" sz="3600" dirty="0" smtClean="0"/>
              <a:t>    </a:t>
            </a:r>
            <a:r>
              <a:rPr lang="es-MX" b="1" dirty="0" smtClean="0"/>
              <a:t>frecuente </a:t>
            </a:r>
            <a:r>
              <a:rPr lang="es-MX" b="1" dirty="0"/>
              <a:t>de hipertensión sistólica</a:t>
            </a:r>
          </a:p>
          <a:p>
            <a:endParaRPr lang="es-MX" b="1" dirty="0"/>
          </a:p>
          <a:p>
            <a:endParaRPr lang="es-MX" b="1" dirty="0"/>
          </a:p>
          <a:p>
            <a:pPr>
              <a:buFontTx/>
              <a:buChar char="•"/>
            </a:pPr>
            <a:r>
              <a:rPr lang="es-MX" b="1" dirty="0"/>
              <a:t>Mientras que la elevación de la presión diastólica esta relacionada a la</a:t>
            </a:r>
          </a:p>
          <a:p>
            <a:pPr marL="0" indent="0">
              <a:buNone/>
            </a:pPr>
            <a:r>
              <a:rPr lang="es-MX" sz="3600" dirty="0"/>
              <a:t> </a:t>
            </a:r>
            <a:r>
              <a:rPr lang="es-MX" sz="3600" dirty="0" smtClean="0"/>
              <a:t>    </a:t>
            </a:r>
            <a:r>
              <a:rPr lang="es-MX" b="1" dirty="0" smtClean="0"/>
              <a:t>constricción </a:t>
            </a:r>
            <a:r>
              <a:rPr lang="es-MX" b="1" dirty="0"/>
              <a:t>de arteriolas más pequeñas, la elevación de la presión</a:t>
            </a:r>
          </a:p>
          <a:p>
            <a:pPr marL="0" indent="0">
              <a:buNone/>
            </a:pPr>
            <a:r>
              <a:rPr lang="es-MX" b="1" dirty="0"/>
              <a:t> </a:t>
            </a:r>
            <a:r>
              <a:rPr lang="es-MX" b="1" dirty="0" smtClean="0"/>
              <a:t>    </a:t>
            </a:r>
            <a:r>
              <a:rPr lang="es-MX" b="1" dirty="0" smtClean="0"/>
              <a:t> </a:t>
            </a:r>
            <a:r>
              <a:rPr lang="es-MX" b="1" dirty="0"/>
              <a:t>sistólica está causada por pérdida de la </a:t>
            </a:r>
            <a:r>
              <a:rPr lang="es-MX" b="1" dirty="0" err="1"/>
              <a:t>distensibilidad</a:t>
            </a:r>
            <a:r>
              <a:rPr lang="es-MX" b="1" dirty="0"/>
              <a:t> de arterias </a:t>
            </a:r>
            <a:r>
              <a:rPr lang="es-MX" b="1" dirty="0" smtClean="0"/>
              <a:t>más</a:t>
            </a:r>
          </a:p>
          <a:p>
            <a:pPr marL="0" indent="0">
              <a:buNone/>
            </a:pPr>
            <a:r>
              <a:rPr lang="es-MX" b="1" dirty="0" smtClean="0"/>
              <a:t>       grandes, especialmente la aorta.</a:t>
            </a:r>
          </a:p>
          <a:p>
            <a:pPr marL="0" indent="0">
              <a:buNone/>
            </a:pPr>
            <a:endParaRPr lang="es-MX" b="1" dirty="0" smtClean="0"/>
          </a:p>
          <a:p>
            <a:r>
              <a:rPr lang="es-MX" b="1" dirty="0" smtClean="0"/>
              <a:t>La </a:t>
            </a:r>
            <a:r>
              <a:rPr lang="es-MX" b="1" dirty="0"/>
              <a:t>presión sistólica elevada incrementa el trabajo del ventrículo</a:t>
            </a:r>
          </a:p>
          <a:p>
            <a:pPr marL="0" indent="0">
              <a:buNone/>
            </a:pPr>
            <a:r>
              <a:rPr lang="es-MX" sz="3600" dirty="0"/>
              <a:t> </a:t>
            </a:r>
            <a:r>
              <a:rPr lang="es-MX" sz="3600" dirty="0" smtClean="0"/>
              <a:t>   </a:t>
            </a:r>
            <a:r>
              <a:rPr lang="es-MX" sz="3600" dirty="0" smtClean="0"/>
              <a:t> </a:t>
            </a:r>
            <a:r>
              <a:rPr lang="es-MX" b="1" dirty="0"/>
              <a:t>izquierdo y el riesgo de hipertrofia ventricular </a:t>
            </a:r>
            <a:r>
              <a:rPr lang="es-MX" b="1" dirty="0" smtClean="0"/>
              <a:t>izquierda.</a:t>
            </a:r>
            <a:endParaRPr lang="es-ES" sz="3600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702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b="1" dirty="0" smtClean="0">
                <a:solidFill>
                  <a:srgbClr val="33CCFF"/>
                </a:solidFill>
              </a:rPr>
              <a:t>FACTORES PREDISPONENTES</a:t>
            </a:r>
            <a:endParaRPr lang="es-MX" b="1" dirty="0" smtClean="0">
              <a:solidFill>
                <a:srgbClr val="33CCFF"/>
              </a:solidFill>
            </a:endParaRP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628775"/>
            <a:ext cx="7905750" cy="45307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s-ES_tradnl" sz="2800" dirty="0" smtClean="0"/>
              <a:t>- Antecedentes familiares</a:t>
            </a:r>
          </a:p>
          <a:p>
            <a:pPr eaLnBrk="1" hangingPunct="1">
              <a:defRPr/>
            </a:pPr>
            <a:r>
              <a:rPr lang="es-ES_tradnl" sz="2800" dirty="0" smtClean="0"/>
              <a:t>- Sedentarismo</a:t>
            </a:r>
          </a:p>
          <a:p>
            <a:pPr eaLnBrk="1" hangingPunct="1">
              <a:defRPr/>
            </a:pPr>
            <a:r>
              <a:rPr lang="es-ES_tradnl" sz="2800" dirty="0" smtClean="0"/>
              <a:t>- Edad</a:t>
            </a:r>
          </a:p>
          <a:p>
            <a:pPr eaLnBrk="1" hangingPunct="1">
              <a:defRPr/>
            </a:pPr>
            <a:r>
              <a:rPr lang="es-ES_tradnl" sz="2800" dirty="0" smtClean="0"/>
              <a:t>- Sexo</a:t>
            </a:r>
          </a:p>
          <a:p>
            <a:pPr eaLnBrk="1" hangingPunct="1">
              <a:defRPr/>
            </a:pPr>
            <a:r>
              <a:rPr lang="es-ES_tradnl" sz="2800" dirty="0" smtClean="0"/>
              <a:t>- Raza</a:t>
            </a:r>
          </a:p>
          <a:p>
            <a:pPr eaLnBrk="1" hangingPunct="1">
              <a:defRPr/>
            </a:pPr>
            <a:r>
              <a:rPr lang="es-ES_tradnl" sz="2800" dirty="0" smtClean="0"/>
              <a:t>- Obesidad</a:t>
            </a:r>
          </a:p>
          <a:p>
            <a:pPr eaLnBrk="1" hangingPunct="1">
              <a:defRPr/>
            </a:pPr>
            <a:r>
              <a:rPr lang="es-ES_tradnl" sz="2800" dirty="0" smtClean="0"/>
              <a:t>- Consumo de tabaco</a:t>
            </a:r>
          </a:p>
          <a:p>
            <a:pPr eaLnBrk="1" hangingPunct="1">
              <a:defRPr/>
            </a:pPr>
            <a:r>
              <a:rPr lang="es-ES_tradnl" sz="2800" dirty="0" smtClean="0"/>
              <a:t>- Estrés</a:t>
            </a:r>
          </a:p>
          <a:p>
            <a:pPr eaLnBrk="1" hangingPunct="1">
              <a:defRPr/>
            </a:pPr>
            <a:r>
              <a:rPr lang="es-ES_tradnl" sz="2800" dirty="0" smtClean="0"/>
              <a:t>- Uso excesivo de sal y grasas saturadas</a:t>
            </a:r>
          </a:p>
          <a:p>
            <a:pPr>
              <a:defRPr/>
            </a:pPr>
            <a:r>
              <a:rPr lang="es-ES_tradnl" sz="2800" dirty="0" smtClean="0"/>
              <a:t>- Consumo elevado de alcohol y los </a:t>
            </a:r>
            <a:r>
              <a:rPr lang="es-ES_tradnl" sz="2800" dirty="0"/>
              <a:t>Medicamentos</a:t>
            </a:r>
            <a:r>
              <a:rPr lang="es-ES_tradnl" sz="2400" dirty="0"/>
              <a:t>: </a:t>
            </a:r>
            <a:endParaRPr lang="es-ES_tradnl" sz="2800" dirty="0" smtClean="0"/>
          </a:p>
          <a:p>
            <a:pPr eaLnBrk="1" hangingPunct="1">
              <a:defRPr/>
            </a:pPr>
            <a:endParaRPr lang="es-MX" sz="2800" dirty="0" smtClean="0"/>
          </a:p>
        </p:txBody>
      </p:sp>
      <p:pic>
        <p:nvPicPr>
          <p:cNvPr id="165892" name="Picture 4" descr="schlonger_drunk[1]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35825" y="1773238"/>
            <a:ext cx="1524000" cy="1057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194613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ES_tradnl" b="1" dirty="0" smtClean="0">
                <a:solidFill>
                  <a:srgbClr val="33CCFF"/>
                </a:solidFill>
              </a:rPr>
              <a:t>HIPERTENSIÓN ARTERIAL</a:t>
            </a:r>
            <a:endParaRPr lang="es-MX" b="1" dirty="0" smtClean="0">
              <a:solidFill>
                <a:srgbClr val="33CCFF"/>
              </a:solidFill>
            </a:endParaRP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5425"/>
            <a:ext cx="8686800" cy="45259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s-ES_tradnl" sz="2400" dirty="0" smtClean="0"/>
          </a:p>
          <a:p>
            <a:pPr eaLnBrk="1" hangingPunct="1">
              <a:defRPr/>
            </a:pPr>
            <a:r>
              <a:rPr lang="es-ES_tradnl" sz="2400" dirty="0" smtClean="0"/>
              <a:t>El   flujo   de   sangre   a  órganos   vitales  disminuye ( corazón, cerebro, riñón.)</a:t>
            </a:r>
          </a:p>
          <a:p>
            <a:pPr eaLnBrk="1" hangingPunct="1">
              <a:defRPr/>
            </a:pPr>
            <a:r>
              <a:rPr lang="es-ES_tradnl" sz="2400" dirty="0" smtClean="0"/>
              <a:t>Con frecuencia asintomático. </a:t>
            </a:r>
          </a:p>
          <a:p>
            <a:pPr eaLnBrk="1" hangingPunct="1">
              <a:defRPr/>
            </a:pPr>
            <a:r>
              <a:rPr lang="es-ES_tradnl" sz="2400" dirty="0" smtClean="0"/>
              <a:t>Elevación   intermitente   o    continua   de  la presión sanguínea sistólica o diastólica. </a:t>
            </a:r>
          </a:p>
          <a:p>
            <a:pPr eaLnBrk="1" hangingPunct="1">
              <a:defRPr/>
            </a:pPr>
            <a:r>
              <a:rPr lang="es-ES_tradnl" sz="2400" b="1" dirty="0" smtClean="0"/>
              <a:t>SÍNTOMAS : </a:t>
            </a:r>
            <a:r>
              <a:rPr lang="es-ES_tradnl" sz="2400" dirty="0" smtClean="0"/>
              <a:t>cefalea occipital, enrojecimiento de cara,                    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400" dirty="0" smtClean="0"/>
              <a:t>                      </a:t>
            </a:r>
            <a:r>
              <a:rPr lang="es-ES_tradnl" sz="2400" dirty="0" smtClean="0"/>
              <a:t>epistaxis, fatiga.</a:t>
            </a:r>
            <a:endParaRPr lang="es-MX" sz="2400" dirty="0" smtClean="0"/>
          </a:p>
          <a:p>
            <a:pPr eaLnBrk="1" hangingPunct="1">
              <a:defRPr/>
            </a:pPr>
            <a:endParaRPr lang="es-MX" sz="2400" dirty="0" smtClean="0"/>
          </a:p>
        </p:txBody>
      </p:sp>
    </p:spTree>
    <p:extLst>
      <p:ext uri="{BB962C8B-B14F-4D97-AF65-F5344CB8AC3E}">
        <p14:creationId xmlns:p14="http://schemas.microsoft.com/office/powerpoint/2010/main" val="2472037411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735013" y="260350"/>
            <a:ext cx="8229600" cy="630238"/>
          </a:xfrm>
          <a:solidFill>
            <a:schemeClr val="accent4">
              <a:lumMod val="75000"/>
            </a:schemeClr>
          </a:solidFill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000" b="1" dirty="0" smtClean="0">
                <a:solidFill>
                  <a:srgbClr val="33CCFF"/>
                </a:solidFill>
              </a:rPr>
              <a:t>CLASIFICACIÓN DE LA P.A. EN ADULTOS</a:t>
            </a:r>
            <a:endParaRPr lang="es-MX" sz="4000" b="1" dirty="0" smtClean="0">
              <a:solidFill>
                <a:srgbClr val="33CCFF"/>
              </a:solidFill>
            </a:endParaRPr>
          </a:p>
        </p:txBody>
      </p:sp>
      <p:graphicFrame>
        <p:nvGraphicFramePr>
          <p:cNvPr id="451779" name="Group 19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956220"/>
              </p:ext>
            </p:extLst>
          </p:nvPr>
        </p:nvGraphicFramePr>
        <p:xfrm>
          <a:off x="827088" y="1557338"/>
          <a:ext cx="7921625" cy="4530726"/>
        </p:xfrm>
        <a:graphic>
          <a:graphicData uri="http://schemas.openxmlformats.org/drawingml/2006/table">
            <a:tbl>
              <a:tblPr/>
              <a:tblGrid>
                <a:gridCol w="2454275"/>
                <a:gridCol w="2798762"/>
                <a:gridCol w="2668588"/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Optima</a:t>
                      </a:r>
                      <a:endParaRPr kumimoji="0" lang="es-MX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&lt; 120      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&lt; 80    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46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Normal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&lt; 130      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&lt; 85    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Normal elevada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130  139   </a:t>
                      </a:r>
                      <a:r>
                        <a:rPr kumimoji="0" lang="es-ES_tradnl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mmHg</a:t>
                      </a:r>
                      <a:r>
                        <a:rPr kumimoji="0" lang="es-ES_tradn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.</a:t>
                      </a:r>
                      <a:endParaRPr kumimoji="0" lang="es-MX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85 - 89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Hipertensión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Etapa 1 ( LEVE)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140 -159    </a:t>
                      </a:r>
                      <a:r>
                        <a:rPr kumimoji="0" lang="es-ES_tradnl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mmHg</a:t>
                      </a:r>
                      <a:r>
                        <a:rPr kumimoji="0" lang="es-ES_tradn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.</a:t>
                      </a:r>
                      <a:endParaRPr kumimoji="0" lang="es-MX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90 – 99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Hipertensión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Etapa 2 ( Moderada)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160 -179  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100-109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46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Hipertensión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Etapa 3 (Grave)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180 -209  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110-119 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Hipertensión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Etapa 4 (Muy grave) 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&gt; o = a 210 mmHg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&gt;o=a120 mmHg.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1697" name="Group 113"/>
          <p:cNvGraphicFramePr>
            <a:graphicFrameLocks noGrp="1"/>
          </p:cNvGraphicFramePr>
          <p:nvPr/>
        </p:nvGraphicFramePr>
        <p:xfrm>
          <a:off x="828675" y="1052513"/>
          <a:ext cx="7920038" cy="511175"/>
        </p:xfrm>
        <a:graphic>
          <a:graphicData uri="http://schemas.openxmlformats.org/drawingml/2006/table">
            <a:tbl>
              <a:tblPr/>
              <a:tblGrid>
                <a:gridCol w="2398713"/>
                <a:gridCol w="5521325"/>
              </a:tblGrid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CATEGORIA</a:t>
                      </a:r>
                      <a:endParaRPr kumimoji="0" lang="es-MX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SISTOLICA                DIASTOLICA</a:t>
                      </a:r>
                      <a:endParaRPr kumimoji="0" lang="es-MX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275991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smtClean="0">
                <a:solidFill>
                  <a:srgbClr val="33CCFF"/>
                </a:solidFill>
              </a:rPr>
              <a:t>Hipotensión</a:t>
            </a:r>
            <a:endParaRPr lang="es-MX" smtClean="0">
              <a:solidFill>
                <a:srgbClr val="33CCFF"/>
              </a:solidFill>
            </a:endParaRP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6778625" cy="41148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2400" smtClean="0"/>
              <a:t>Causas: - Dilatación de arterias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400" smtClean="0"/>
              <a:t>                   - Pérdida   de volumen sanguíneo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400" smtClean="0"/>
              <a:t>                   - Insuficiencia   músculo cardiaco.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_tradnl" sz="240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400" smtClean="0"/>
              <a:t>   Síntomas: Palidez,   piel moteada,    frialdad,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400" smtClean="0"/>
              <a:t>                    confusión,      aumento         pulso,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sz="2400" smtClean="0"/>
              <a:t>                    disminución diuresis.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_tradnl" sz="2400" smtClean="0"/>
          </a:p>
          <a:p>
            <a:pPr eaLnBrk="1" hangingPunct="1">
              <a:buFontTx/>
              <a:buChar char="•"/>
              <a:defRPr/>
            </a:pPr>
            <a:r>
              <a:rPr lang="es-ES_tradnl" sz="2400" smtClean="0"/>
              <a:t>Hipotensión ortostática : </a:t>
            </a:r>
            <a:r>
              <a:rPr lang="es-ES_tradnl" sz="1600" smtClean="0"/>
              <a:t>Por cambios  posturales</a:t>
            </a:r>
            <a:r>
              <a:rPr lang="es-ES_tradnl" sz="2400" smtClean="0"/>
              <a:t> </a:t>
            </a:r>
            <a:endParaRPr lang="es-MX" sz="2400" smtClean="0"/>
          </a:p>
        </p:txBody>
      </p:sp>
      <p:pic>
        <p:nvPicPr>
          <p:cNvPr id="163844" name="Picture 4" descr="curioso18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77050" y="4581525"/>
            <a:ext cx="2022475" cy="2039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4720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84175"/>
            <a:ext cx="8075612" cy="13716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3800" b="1" dirty="0" smtClean="0">
                <a:solidFill>
                  <a:srgbClr val="33CCFF"/>
                </a:solidFill>
              </a:rPr>
              <a:t>TRATAMIENTO PARA LA HIPERTENSIÓN ARTERIAL</a:t>
            </a:r>
            <a:r>
              <a:rPr lang="es-ES_tradnl" sz="4000" b="1" dirty="0" smtClean="0">
                <a:solidFill>
                  <a:srgbClr val="33CCFF"/>
                </a:solidFill>
              </a:rPr>
              <a:t>.</a:t>
            </a:r>
            <a:endParaRPr lang="es-MX" sz="4000" b="1" dirty="0" smtClean="0">
              <a:solidFill>
                <a:srgbClr val="33CCFF"/>
              </a:solidFill>
            </a:endParaRPr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5932488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s-ES_tradnl" sz="2400" dirty="0" smtClean="0"/>
              <a:t>Terapia no farmacológica:</a:t>
            </a:r>
          </a:p>
          <a:p>
            <a:pPr eaLnBrk="1" hangingPunct="1">
              <a:defRPr/>
            </a:pPr>
            <a:r>
              <a:rPr lang="es-ES_tradnl" sz="2400" dirty="0" smtClean="0"/>
              <a:t>- Dieta.</a:t>
            </a:r>
          </a:p>
          <a:p>
            <a:pPr eaLnBrk="1" hangingPunct="1">
              <a:defRPr/>
            </a:pPr>
            <a:r>
              <a:rPr lang="es-ES_tradnl" sz="2400" dirty="0" smtClean="0"/>
              <a:t>- No fumar</a:t>
            </a:r>
          </a:p>
          <a:p>
            <a:pPr eaLnBrk="1" hangingPunct="1">
              <a:defRPr/>
            </a:pPr>
            <a:r>
              <a:rPr lang="es-ES_tradnl" sz="2400" dirty="0" smtClean="0"/>
              <a:t>- Pérdida de peso.</a:t>
            </a:r>
          </a:p>
          <a:p>
            <a:pPr eaLnBrk="1" hangingPunct="1">
              <a:defRPr/>
            </a:pPr>
            <a:r>
              <a:rPr lang="es-ES_tradnl" sz="2400" dirty="0" smtClean="0"/>
              <a:t>- Ejercicio regular.</a:t>
            </a:r>
          </a:p>
          <a:p>
            <a:pPr eaLnBrk="1" hangingPunct="1">
              <a:defRPr/>
            </a:pPr>
            <a:endParaRPr lang="es-ES_tradnl" sz="2400" dirty="0" smtClean="0"/>
          </a:p>
          <a:p>
            <a:pPr eaLnBrk="1" hangingPunct="1">
              <a:defRPr/>
            </a:pPr>
            <a:r>
              <a:rPr lang="es-ES_tradnl" sz="2400" dirty="0" smtClean="0"/>
              <a:t>Terapia farmacológica:</a:t>
            </a:r>
          </a:p>
          <a:p>
            <a:pPr eaLnBrk="1" hangingPunct="1">
              <a:defRPr/>
            </a:pPr>
            <a:r>
              <a:rPr lang="es-ES_tradnl" sz="2400" dirty="0" smtClean="0"/>
              <a:t> - Diuréticos.</a:t>
            </a:r>
          </a:p>
          <a:p>
            <a:pPr eaLnBrk="1" hangingPunct="1">
              <a:defRPr/>
            </a:pPr>
            <a:r>
              <a:rPr lang="es-ES_tradnl" sz="2400" dirty="0" smtClean="0"/>
              <a:t> - Bloqueadores beta adrenérgicos.</a:t>
            </a:r>
          </a:p>
          <a:p>
            <a:pPr eaLnBrk="1" hangingPunct="1">
              <a:defRPr/>
            </a:pPr>
            <a:r>
              <a:rPr lang="es-ES_tradnl" sz="2400" dirty="0" smtClean="0"/>
              <a:t> - Vasodilatadores.</a:t>
            </a:r>
          </a:p>
          <a:p>
            <a:pPr eaLnBrk="1" hangingPunct="1">
              <a:defRPr/>
            </a:pPr>
            <a:r>
              <a:rPr lang="es-ES_tradnl" sz="2400" dirty="0" smtClean="0"/>
              <a:t> - Bloqueadores de los canales del calcio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MX" sz="2400" dirty="0" smtClean="0"/>
          </a:p>
        </p:txBody>
      </p:sp>
      <p:pic>
        <p:nvPicPr>
          <p:cNvPr id="166916" name="Picture 4" descr="x_corredor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59563" y="2420938"/>
            <a:ext cx="2195512" cy="2195512"/>
          </a:xfrm>
        </p:spPr>
      </p:pic>
    </p:spTree>
    <p:extLst>
      <p:ext uri="{BB962C8B-B14F-4D97-AF65-F5344CB8AC3E}">
        <p14:creationId xmlns:p14="http://schemas.microsoft.com/office/powerpoint/2010/main" val="767800632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sz="4000" smtClean="0">
                <a:solidFill>
                  <a:srgbClr val="33CCFF"/>
                </a:solidFill>
              </a:rPr>
              <a:t>LUGAR DE CONTROL DE LA P.A.</a:t>
            </a:r>
            <a:endParaRPr lang="es-MX" sz="4000" smtClean="0">
              <a:solidFill>
                <a:srgbClr val="33CCFF"/>
              </a:solidFill>
            </a:endParaRP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3109913" cy="205422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s-ES_tradnl" sz="2800" smtClean="0"/>
              <a:t>Brazo</a:t>
            </a:r>
          </a:p>
          <a:p>
            <a:pPr eaLnBrk="1" hangingPunct="1">
              <a:defRPr/>
            </a:pPr>
            <a:r>
              <a:rPr lang="es-ES_tradnl" sz="2800" smtClean="0"/>
              <a:t>Arteria humeral</a:t>
            </a:r>
          </a:p>
          <a:p>
            <a:pPr eaLnBrk="1" hangingPunct="1">
              <a:defRPr/>
            </a:pPr>
            <a:r>
              <a:rPr lang="es-ES_tradnl" sz="2800" smtClean="0"/>
              <a:t>Arteria radial</a:t>
            </a:r>
          </a:p>
          <a:p>
            <a:pPr eaLnBrk="1" hangingPunct="1">
              <a:defRPr/>
            </a:pPr>
            <a:r>
              <a:rPr lang="es-ES_tradnl" sz="2800" smtClean="0"/>
              <a:t>Pierna</a:t>
            </a:r>
          </a:p>
          <a:p>
            <a:pPr eaLnBrk="1" hangingPunct="1">
              <a:defRPr/>
            </a:pPr>
            <a:r>
              <a:rPr lang="es-ES_tradnl" sz="2800" smtClean="0"/>
              <a:t>Arteria poplítea</a:t>
            </a:r>
            <a:endParaRPr lang="es-MX" sz="2800" smtClean="0"/>
          </a:p>
        </p:txBody>
      </p:sp>
      <p:pic>
        <p:nvPicPr>
          <p:cNvPr id="167940" name="Picture 4" descr="DSC05899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0425" y="1484313"/>
            <a:ext cx="2919413" cy="2189162"/>
          </a:xfrm>
          <a:ln w="57150" cmpd="thickThin">
            <a:solidFill>
              <a:srgbClr val="CC3300"/>
            </a:solidFill>
          </a:ln>
        </p:spPr>
      </p:pic>
      <p:pic>
        <p:nvPicPr>
          <p:cNvPr id="167941" name="Picture 5" descr="DSC0589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7175" y="3573463"/>
            <a:ext cx="2189163" cy="2919412"/>
          </a:xfrm>
          <a:noFill/>
          <a:ln w="76200" cmpd="tri">
            <a:solidFill>
              <a:srgbClr val="CC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435296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sz="4000" b="1" dirty="0" smtClean="0">
                <a:solidFill>
                  <a:srgbClr val="33CCFF"/>
                </a:solidFill>
              </a:rPr>
              <a:t>INSTRUMENTOS DE MEDICIÓN DE LA P.A.</a:t>
            </a:r>
            <a:endParaRPr lang="es-MX" sz="4000" b="1" dirty="0" smtClean="0">
              <a:solidFill>
                <a:srgbClr val="33CCFF"/>
              </a:solidFill>
            </a:endParaRP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557338"/>
            <a:ext cx="5472113" cy="453072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s-ES_tradnl" sz="2000" dirty="0" smtClean="0"/>
              <a:t>Esfigmomanómetro.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000" dirty="0" smtClean="0"/>
              <a:t>Fonendoscopio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_tradnl" sz="20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000" b="1" u="sng" dirty="0" smtClean="0"/>
              <a:t>Tipos: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000" dirty="0" smtClean="0"/>
              <a:t>Manómetro de mercurio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000" dirty="0" smtClean="0"/>
              <a:t>Aneroide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000" dirty="0" smtClean="0"/>
              <a:t>Digital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_tradnl" sz="2000" dirty="0" smtClean="0"/>
          </a:p>
        </p:txBody>
      </p:sp>
      <p:pic>
        <p:nvPicPr>
          <p:cNvPr id="168964" name="Picture 4" descr="DSC05895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05338" y="1484784"/>
            <a:ext cx="2919412" cy="2189163"/>
          </a:xfrm>
          <a:ln w="57150" cmpd="thickThin">
            <a:solidFill>
              <a:srgbClr val="CC3300"/>
            </a:solidFill>
          </a:ln>
        </p:spPr>
      </p:pic>
      <p:pic>
        <p:nvPicPr>
          <p:cNvPr id="168965" name="Picture 5" descr="DSC0590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3848" y="3913187"/>
            <a:ext cx="1865312" cy="2487613"/>
          </a:xfrm>
          <a:noFill/>
          <a:ln w="57150" cmpd="thickThin">
            <a:solidFill>
              <a:srgbClr val="CC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966" name="Picture 6" descr="DSC05902"/>
          <p:cNvPicPr>
            <a:picLocks noChangeAspect="1" noChangeArrowheads="1"/>
          </p:cNvPicPr>
          <p:nvPr/>
        </p:nvPicPr>
        <p:blipFill>
          <a:blip r:embed="rId4">
            <a:lum bright="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077072"/>
            <a:ext cx="1460500" cy="2446338"/>
          </a:xfrm>
          <a:prstGeom prst="rect">
            <a:avLst/>
          </a:prstGeom>
          <a:noFill/>
          <a:ln w="76200" cmpd="tri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115726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b="1" dirty="0" smtClean="0">
                <a:solidFill>
                  <a:srgbClr val="33CCFF"/>
                </a:solidFill>
              </a:rPr>
              <a:t>Esfigmomanómetro aneroide</a:t>
            </a:r>
            <a:endParaRPr lang="es-MX" b="1" dirty="0" smtClean="0">
              <a:solidFill>
                <a:srgbClr val="33CCFF"/>
              </a:solidFill>
            </a:endParaRP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1200"/>
            <a:ext cx="4537075" cy="41195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Manguito de tela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Cámara de goma hinchable.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Tubos de conexión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Manómetro  de  presión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s-ES_tradnl" sz="2400" dirty="0" smtClean="0"/>
              <a:t>    </a:t>
            </a:r>
            <a:r>
              <a:rPr lang="es-ES_tradnl" sz="1800" dirty="0" smtClean="0"/>
              <a:t>( aguja que registra calibraciones milimétricas)</a:t>
            </a:r>
            <a:r>
              <a:rPr lang="es-ES_tradnl" sz="2400" dirty="0" smtClean="0"/>
              <a:t> </a:t>
            </a:r>
            <a:endParaRPr lang="es-ES_tradnl" sz="18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Bulbo de presión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Válvula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Ventajas : Ligeros, portátiles,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s-ES_tradnl" sz="2400" dirty="0" smtClean="0"/>
              <a:t>                      compactos.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_tradnl" sz="2400" dirty="0" smtClean="0"/>
              <a:t>Desventajas: menos fiables.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defRPr/>
            </a:pPr>
            <a:endParaRPr lang="es-ES_tradnl" sz="2400" dirty="0" smtClean="0"/>
          </a:p>
          <a:p>
            <a:pPr eaLnBrk="1" hangingPunct="1">
              <a:lnSpc>
                <a:spcPct val="80000"/>
              </a:lnSpc>
              <a:defRPr/>
            </a:pPr>
            <a:endParaRPr lang="es-MX" sz="2400" dirty="0" smtClean="0"/>
          </a:p>
        </p:txBody>
      </p:sp>
      <p:pic>
        <p:nvPicPr>
          <p:cNvPr id="169988" name="Picture 4" descr="images[1]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946275"/>
            <a:ext cx="3816350" cy="3816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989" name="Line 5"/>
          <p:cNvSpPr>
            <a:spLocks noChangeShapeType="1"/>
          </p:cNvSpPr>
          <p:nvPr/>
        </p:nvSpPr>
        <p:spPr bwMode="auto">
          <a:xfrm>
            <a:off x="3132138" y="2060575"/>
            <a:ext cx="3024187" cy="5762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69990" name="Line 6"/>
          <p:cNvSpPr>
            <a:spLocks noChangeShapeType="1"/>
          </p:cNvSpPr>
          <p:nvPr/>
        </p:nvSpPr>
        <p:spPr bwMode="auto">
          <a:xfrm>
            <a:off x="3276600" y="2708275"/>
            <a:ext cx="2374900" cy="720725"/>
          </a:xfrm>
          <a:prstGeom prst="line">
            <a:avLst/>
          </a:prstGeom>
          <a:noFill/>
          <a:ln w="28575">
            <a:solidFill>
              <a:srgbClr val="00FF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69991" name="Line 7"/>
          <p:cNvSpPr>
            <a:spLocks noChangeShapeType="1"/>
          </p:cNvSpPr>
          <p:nvPr/>
        </p:nvSpPr>
        <p:spPr bwMode="auto">
          <a:xfrm>
            <a:off x="3779838" y="3284538"/>
            <a:ext cx="3816350" cy="288925"/>
          </a:xfrm>
          <a:prstGeom prst="line">
            <a:avLst/>
          </a:prstGeom>
          <a:noFill/>
          <a:ln w="28575">
            <a:solidFill>
              <a:srgbClr val="FF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69992" name="Line 8"/>
          <p:cNvSpPr>
            <a:spLocks noChangeShapeType="1"/>
          </p:cNvSpPr>
          <p:nvPr/>
        </p:nvSpPr>
        <p:spPr bwMode="auto">
          <a:xfrm>
            <a:off x="3059113" y="4149725"/>
            <a:ext cx="3529012" cy="4318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69993" name="Line 9"/>
          <p:cNvSpPr>
            <a:spLocks noChangeShapeType="1"/>
          </p:cNvSpPr>
          <p:nvPr/>
        </p:nvSpPr>
        <p:spPr bwMode="auto">
          <a:xfrm flipV="1">
            <a:off x="1908175" y="3860800"/>
            <a:ext cx="5040313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26472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mtClean="0">
                <a:solidFill>
                  <a:srgbClr val="33CCFF"/>
                </a:solidFill>
              </a:rPr>
              <a:t>Esfigmomanómetro de mercurio</a:t>
            </a:r>
            <a:endParaRPr lang="es-MX" smtClean="0">
              <a:solidFill>
                <a:srgbClr val="33CCFF"/>
              </a:solidFill>
            </a:endParaRPr>
          </a:p>
        </p:txBody>
      </p:sp>
      <p:pic>
        <p:nvPicPr>
          <p:cNvPr id="171011" name="Picture 3" descr="DSC0589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50" r="8337"/>
          <a:stretch>
            <a:fillRect/>
          </a:stretch>
        </p:blipFill>
        <p:spPr>
          <a:xfrm>
            <a:off x="7019925" y="1773238"/>
            <a:ext cx="1928813" cy="4530725"/>
          </a:xfrm>
          <a:ln w="57150" cmpd="thickThin">
            <a:solidFill>
              <a:srgbClr val="CC3300"/>
            </a:solidFill>
          </a:ln>
        </p:spPr>
      </p:pic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611188" y="1654175"/>
            <a:ext cx="67691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_tradnl" sz="2400">
                <a:latin typeface="Arial" charset="0"/>
              </a:rPr>
              <a:t>Manguito de tela</a:t>
            </a:r>
          </a:p>
          <a:p>
            <a:r>
              <a:rPr lang="es-ES_tradnl" sz="2400">
                <a:latin typeface="Arial" charset="0"/>
              </a:rPr>
              <a:t>Cámara de goma hinchable.</a:t>
            </a:r>
          </a:p>
          <a:p>
            <a:r>
              <a:rPr lang="es-ES_tradnl" sz="2400">
                <a:latin typeface="Arial" charset="0"/>
              </a:rPr>
              <a:t>Tubos de conexión</a:t>
            </a:r>
          </a:p>
          <a:p>
            <a:endParaRPr lang="es-ES_tradnl" sz="2400">
              <a:latin typeface="Arial" charset="0"/>
            </a:endParaRPr>
          </a:p>
          <a:p>
            <a:r>
              <a:rPr lang="es-ES_tradnl" sz="2400">
                <a:latin typeface="Arial" charset="0"/>
              </a:rPr>
              <a:t>Manómetro  de  mercurio </a:t>
            </a:r>
          </a:p>
          <a:p>
            <a:r>
              <a:rPr lang="es-ES_tradnl">
                <a:latin typeface="Arial" charset="0"/>
              </a:rPr>
              <a:t>( columna de mercurio con calibraciones milimétricas, </a:t>
            </a:r>
          </a:p>
          <a:p>
            <a:r>
              <a:rPr lang="es-ES_tradnl">
                <a:latin typeface="Arial" charset="0"/>
              </a:rPr>
              <a:t>  “ menisco en forma de ½ luna ”) </a:t>
            </a:r>
          </a:p>
          <a:p>
            <a:r>
              <a:rPr lang="es-ES_tradnl" sz="2400">
                <a:latin typeface="Arial" charset="0"/>
              </a:rPr>
              <a:t>Bulbo de presión</a:t>
            </a:r>
          </a:p>
          <a:p>
            <a:r>
              <a:rPr lang="es-ES_tradnl" sz="2400">
                <a:latin typeface="Arial" charset="0"/>
              </a:rPr>
              <a:t>Válvula</a:t>
            </a:r>
          </a:p>
          <a:p>
            <a:endParaRPr lang="es-ES_tradnl" sz="2400">
              <a:latin typeface="Arial" charset="0"/>
            </a:endParaRPr>
          </a:p>
          <a:p>
            <a:r>
              <a:rPr lang="es-ES_tradnl" sz="2400">
                <a:latin typeface="Arial" charset="0"/>
              </a:rPr>
              <a:t>Ventajas: </a:t>
            </a:r>
            <a:r>
              <a:rPr lang="es-ES_tradnl">
                <a:latin typeface="Arial" charset="0"/>
              </a:rPr>
              <a:t>Más exactos, no necesitan calibraciones repetidas </a:t>
            </a:r>
            <a:endParaRPr lang="es-ES_tradnl" sz="2400">
              <a:latin typeface="Arial" charset="0"/>
            </a:endParaRPr>
          </a:p>
          <a:p>
            <a:r>
              <a:rPr lang="es-ES_tradnl" sz="2400">
                <a:latin typeface="Arial" charset="0"/>
              </a:rPr>
              <a:t>Desventajas: </a:t>
            </a:r>
            <a:r>
              <a:rPr lang="es-ES_tradnl">
                <a:latin typeface="Arial" charset="0"/>
              </a:rPr>
              <a:t>Posibilidad de rotura, salida de mercurio.</a:t>
            </a:r>
          </a:p>
        </p:txBody>
      </p:sp>
      <p:sp>
        <p:nvSpPr>
          <p:cNvPr id="171013" name="Line 5"/>
          <p:cNvSpPr>
            <a:spLocks noChangeShapeType="1"/>
          </p:cNvSpPr>
          <p:nvPr/>
        </p:nvSpPr>
        <p:spPr bwMode="auto">
          <a:xfrm flipV="1">
            <a:off x="4643438" y="2924175"/>
            <a:ext cx="2735262" cy="50482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71014" name="Line 6"/>
          <p:cNvSpPr>
            <a:spLocks noChangeShapeType="1"/>
          </p:cNvSpPr>
          <p:nvPr/>
        </p:nvSpPr>
        <p:spPr bwMode="auto">
          <a:xfrm>
            <a:off x="3059113" y="4364038"/>
            <a:ext cx="4465637" cy="5778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71015" name="Line 7"/>
          <p:cNvSpPr>
            <a:spLocks noChangeShapeType="1"/>
          </p:cNvSpPr>
          <p:nvPr/>
        </p:nvSpPr>
        <p:spPr bwMode="auto">
          <a:xfrm>
            <a:off x="3563938" y="1916113"/>
            <a:ext cx="4321175" cy="230505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27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Conclusiones</a:t>
            </a:r>
            <a:r>
              <a:rPr lang="es-ES" b="1" dirty="0"/>
              <a:t/>
            </a:r>
            <a:br>
              <a:rPr lang="es-ES" b="1" dirty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85000" lnSpcReduction="20000"/>
          </a:bodyPr>
          <a:lstStyle/>
          <a:p>
            <a:pPr algn="just">
              <a:buFontTx/>
              <a:buChar char="•"/>
            </a:pPr>
            <a:r>
              <a:rPr lang="es-MX" b="1" dirty="0"/>
              <a:t>La hipertensión afecta hasta el 75% de los individuos &gt;60 años, </a:t>
            </a:r>
            <a:r>
              <a:rPr lang="es-MX" b="1" dirty="0" smtClean="0"/>
              <a:t>es el </a:t>
            </a:r>
            <a:r>
              <a:rPr lang="es-MX" b="1" dirty="0"/>
              <a:t>segmento  de la población que está creciendo rápidamente</a:t>
            </a:r>
          </a:p>
          <a:p>
            <a:pPr marL="0" indent="0">
              <a:buNone/>
            </a:pPr>
            <a:endParaRPr lang="es-MX" b="1" dirty="0"/>
          </a:p>
          <a:p>
            <a:pPr>
              <a:buFontTx/>
              <a:buChar char="•"/>
            </a:pPr>
            <a:r>
              <a:rPr lang="es-MX" b="1" dirty="0"/>
              <a:t>La terapia antihipertensiva en el anciano debe incluir modificación en el </a:t>
            </a:r>
            <a:r>
              <a:rPr lang="es-MX" b="1" dirty="0" smtClean="0"/>
              <a:t>estilo de </a:t>
            </a:r>
            <a:r>
              <a:rPr lang="es-MX" b="1" dirty="0"/>
              <a:t>vida, especialmente pérdida de peso y restricción de sodio, lo cual </a:t>
            </a:r>
            <a:r>
              <a:rPr lang="es-MX" b="1" dirty="0" smtClean="0"/>
              <a:t>puede  </a:t>
            </a:r>
            <a:r>
              <a:rPr lang="es-MX" b="1" dirty="0"/>
              <a:t>disminuir la necesidad de fármacos antihipertensivos</a:t>
            </a:r>
          </a:p>
          <a:p>
            <a:pPr marL="0" indent="0">
              <a:buNone/>
            </a:pPr>
            <a:endParaRPr lang="es-MX" b="1" dirty="0"/>
          </a:p>
          <a:p>
            <a:pPr algn="just">
              <a:buFontTx/>
              <a:buChar char="•"/>
            </a:pPr>
            <a:r>
              <a:rPr lang="es-MX" b="1" dirty="0"/>
              <a:t>Si se utilizan dosis iníciales bajas, debe prestarse atención a la adecuada titulación  a menudo se requiere terapia combinada para control óptimo de presión. El fármaco que se elige inicialmente casi nunca será el  fármaco final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637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Cuidados Al Adulto Mayor</a:t>
            </a:r>
            <a:endParaRPr lang="es-ES" dirty="0"/>
          </a:p>
        </p:txBody>
      </p:sp>
      <p:pic>
        <p:nvPicPr>
          <p:cNvPr id="4" name="3 Marcador de contenido" descr="7857403-felices-adultos-mayores-sanas-jardineria--plantar-flores-junt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903051" y="1600200"/>
            <a:ext cx="3337897" cy="4525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4604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s-CL" b="1" dirty="0" smtClean="0"/>
              <a:t>PROPÓSITO DE LA ENFERMERÍA </a:t>
            </a:r>
            <a:br>
              <a:rPr lang="es-CL" b="1" dirty="0" smtClean="0"/>
            </a:br>
            <a:r>
              <a:rPr lang="es-CL" b="1" dirty="0" smtClean="0"/>
              <a:t>GERONTO-GERIÁTRICA</a:t>
            </a:r>
            <a:endParaRPr lang="es-E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s-CL" sz="2800" dirty="0"/>
              <a:t>Ayudar al A. M. y sus cuidadores a enfrentar el proceso de envejecimiento, entendiéndolo como proceso natural y adaptativo, e interviniendo en maximizar sus fuentes de poder</a:t>
            </a:r>
            <a:r>
              <a:rPr lang="es-CL" sz="2800" dirty="0" smtClean="0"/>
              <a:t>:</a:t>
            </a:r>
            <a:endParaRPr lang="es-CL" sz="2800" dirty="0"/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Fuerza física</a:t>
            </a:r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Reserva psicológica y social</a:t>
            </a:r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Concepto de si mismo</a:t>
            </a:r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Autoestima</a:t>
            </a:r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La energía</a:t>
            </a:r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La motivación</a:t>
            </a:r>
          </a:p>
          <a:p>
            <a:pPr lvl="1">
              <a:lnSpc>
                <a:spcPct val="80000"/>
              </a:lnSpc>
              <a:defRPr/>
            </a:pPr>
            <a:r>
              <a:rPr lang="es-CL" sz="2400" dirty="0"/>
              <a:t>Las creencias</a:t>
            </a:r>
          </a:p>
          <a:p>
            <a:pPr marL="0" indent="0">
              <a:buNone/>
            </a:pP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289987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Algerian" pitchFamily="82" charset="0"/>
              </a:rPr>
              <a:t>Cuidados de </a:t>
            </a:r>
            <a:r>
              <a:rPr lang="es-CO" dirty="0" smtClean="0">
                <a:latin typeface="Algerian" pitchFamily="82" charset="0"/>
              </a:rPr>
              <a:t>enfermería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es-CO" dirty="0">
                <a:latin typeface="Arial" pitchFamily="34" charset="0"/>
                <a:cs typeface="Arial" pitchFamily="34" charset="0"/>
              </a:rPr>
              <a:t>La adaptación al envejecimiento no es tarea fácil para los adultos mayores y requiere que los profesionales 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que participan </a:t>
            </a:r>
            <a:r>
              <a:rPr lang="es-CO" dirty="0">
                <a:latin typeface="Arial" pitchFamily="34" charset="0"/>
                <a:cs typeface="Arial" pitchFamily="34" charset="0"/>
              </a:rPr>
              <a:t>en su cuidado se caractericen por una muy especial vocación y amor al trabajo con este grupo </a:t>
            </a:r>
            <a:r>
              <a:rPr lang="es-CO" dirty="0" err="1">
                <a:latin typeface="Arial" pitchFamily="34" charset="0"/>
                <a:cs typeface="Arial" pitchFamily="34" charset="0"/>
              </a:rPr>
              <a:t>e</a:t>
            </a:r>
            <a:r>
              <a:rPr lang="es-CO" dirty="0" err="1" smtClean="0">
                <a:latin typeface="Arial" pitchFamily="34" charset="0"/>
                <a:cs typeface="Arial" pitchFamily="34" charset="0"/>
              </a:rPr>
              <a:t>tareo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s-CO" dirty="0">
                <a:latin typeface="Arial" pitchFamily="34" charset="0"/>
                <a:cs typeface="Arial" pitchFamily="34" charset="0"/>
              </a:rPr>
              <a:t>lo que se traduce en una actitud 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de </a:t>
            </a:r>
            <a:r>
              <a:rPr lang="es-CO" dirty="0">
                <a:latin typeface="Arial" pitchFamily="34" charset="0"/>
                <a:cs typeface="Arial" pitchFamily="34" charset="0"/>
              </a:rPr>
              <a:t>valores como: el respeto por el otro, la autonomía y la compasión para brindar 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cuidados humanizados </a:t>
            </a:r>
            <a:r>
              <a:rPr lang="es-CO" dirty="0">
                <a:latin typeface="Arial" pitchFamily="34" charset="0"/>
                <a:cs typeface="Arial" pitchFamily="34" charset="0"/>
              </a:rPr>
              <a:t>al adulto mayor y que se extiende también a su grupo directo de</a:t>
            </a:r>
            <a:r>
              <a:rPr lang="es-CO" b="1" dirty="0">
                <a:latin typeface="Arial" pitchFamily="34" charset="0"/>
                <a:cs typeface="Arial" pitchFamily="34" charset="0"/>
              </a:rPr>
              <a:t> cuidadores</a:t>
            </a:r>
            <a:r>
              <a:rPr lang="es-CO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723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ESCUCHAR AL ADULTO MAYOR </a:t>
            </a:r>
            <a:endParaRPr lang="es-ES" dirty="0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680521"/>
          </a:xfrm>
        </p:spPr>
        <p:txBody>
          <a:bodyPr>
            <a:normAutofit fontScale="92500"/>
          </a:bodyPr>
          <a:lstStyle/>
          <a:p>
            <a:endParaRPr lang="es-CO" dirty="0" smtClean="0"/>
          </a:p>
          <a:p>
            <a:r>
              <a:rPr lang="es-CO" dirty="0" smtClean="0"/>
              <a:t>− Dirija la voz al oído del adulto mayor, colocarse de frente y a su altura. </a:t>
            </a:r>
            <a:br>
              <a:rPr lang="es-CO" dirty="0" smtClean="0"/>
            </a:br>
            <a:r>
              <a:rPr lang="es-CO" dirty="0" smtClean="0"/>
              <a:t>_Llamar al paciente por su nombre</a:t>
            </a:r>
          </a:p>
          <a:p>
            <a:pPr marL="0" indent="0">
              <a:buNone/>
            </a:pPr>
            <a:endParaRPr lang="es-CO" dirty="0" smtClean="0"/>
          </a:p>
          <a:p>
            <a:r>
              <a:rPr lang="es-CO" dirty="0"/>
              <a:t>− Hablarle despacio, evitando los tonos agudos.</a:t>
            </a:r>
            <a:br>
              <a:rPr lang="es-CO" dirty="0"/>
            </a:br>
            <a:r>
              <a:rPr lang="es-CO" dirty="0"/>
              <a:t>− Utilizar un lenguaje sencillo, coherente y concreto de acuerdo a los requerimientos del adulto mayor.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2644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>
                <a:latin typeface="Algerian" pitchFamily="82" charset="0"/>
              </a:rPr>
              <a:t>entregarle al paciente en forma integral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solidFill>
                  <a:srgbClr val="0070C0"/>
                </a:solidFill>
                <a:latin typeface="Arial Black" pitchFamily="34" charset="0"/>
              </a:rPr>
              <a:t>Apoyo psicológico: Atención oportuna.</a:t>
            </a:r>
          </a:p>
          <a:p>
            <a:r>
              <a:rPr lang="es-CO" dirty="0">
                <a:solidFill>
                  <a:srgbClr val="0070C0"/>
                </a:solidFill>
                <a:latin typeface="Arial Black" pitchFamily="34" charset="0"/>
              </a:rPr>
              <a:t>Demostrarle cariño.</a:t>
            </a:r>
          </a:p>
          <a:p>
            <a:r>
              <a:rPr lang="es-CO" dirty="0">
                <a:solidFill>
                  <a:srgbClr val="0070C0"/>
                </a:solidFill>
                <a:latin typeface="Arial Black" pitchFamily="34" charset="0"/>
              </a:rPr>
              <a:t>Afectividad.</a:t>
            </a:r>
          </a:p>
          <a:p>
            <a:r>
              <a:rPr lang="es-CO" dirty="0">
                <a:solidFill>
                  <a:srgbClr val="0070C0"/>
                </a:solidFill>
                <a:latin typeface="Arial Black" pitchFamily="34" charset="0"/>
              </a:rPr>
              <a:t>Conversar de cosas de su Interés.</a:t>
            </a:r>
          </a:p>
          <a:p>
            <a:r>
              <a:rPr lang="es-CO" dirty="0" smtClean="0">
                <a:solidFill>
                  <a:srgbClr val="0070C0"/>
                </a:solidFill>
                <a:latin typeface="Arial Black" pitchFamily="34" charset="0"/>
              </a:rPr>
              <a:t>Protección</a:t>
            </a:r>
            <a:endParaRPr lang="es-CO" dirty="0">
              <a:solidFill>
                <a:srgbClr val="0070C0"/>
              </a:solidFill>
              <a:latin typeface="Arial Black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384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>
                <a:latin typeface="Algerian" pitchFamily="82" charset="0"/>
              </a:rPr>
              <a:t>Satisfacer sus necesidades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s-CO" dirty="0"/>
              <a:t>Reposo y sueño: Crear un ambiente </a:t>
            </a:r>
            <a:r>
              <a:rPr lang="es-CO" dirty="0" smtClean="0"/>
              <a:t>tranquilo.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dirty="0" smtClean="0"/>
              <a:t>Evitar ruidos.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dirty="0" smtClean="0"/>
              <a:t>Actividad </a:t>
            </a:r>
            <a:r>
              <a:rPr lang="es-CO" dirty="0"/>
              <a:t>antes de </a:t>
            </a:r>
            <a:r>
              <a:rPr lang="es-CO" dirty="0" smtClean="0"/>
              <a:t>dormir</a:t>
            </a:r>
            <a:r>
              <a:rPr lang="es-CO" sz="1600" dirty="0" smtClean="0"/>
              <a:t>.</a:t>
            </a:r>
          </a:p>
          <a:p>
            <a:pPr marL="0" indent="0">
              <a:buNone/>
            </a:pPr>
            <a:r>
              <a:rPr lang="es-CO" b="1" dirty="0" smtClean="0">
                <a:latin typeface="Algerian" pitchFamily="82" charset="0"/>
              </a:rPr>
              <a:t>enfermedades </a:t>
            </a:r>
            <a:r>
              <a:rPr lang="es-CO" b="1" dirty="0">
                <a:latin typeface="Algerian" pitchFamily="82" charset="0"/>
              </a:rPr>
              <a:t>más comunes en el </a:t>
            </a:r>
            <a:r>
              <a:rPr lang="es-CO" b="1" dirty="0" smtClean="0">
                <a:latin typeface="Algerian" pitchFamily="82" charset="0"/>
              </a:rPr>
              <a:t>A.M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>
                <a:latin typeface="Algerian" pitchFamily="82" charset="0"/>
              </a:rPr>
              <a:t>ulcera por </a:t>
            </a:r>
            <a:r>
              <a:rPr lang="es-CO" sz="2500" dirty="0" smtClean="0">
                <a:latin typeface="Algerian" pitchFamily="82" charset="0"/>
              </a:rPr>
              <a:t>decúbito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artrosis 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Diabetes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Artritis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hipertensión arterial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Osteoporosis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Ulceras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Escaras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Alzheimer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Varices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s-CO" sz="2500" dirty="0" smtClean="0">
                <a:latin typeface="Algerian" pitchFamily="82" charset="0"/>
              </a:rPr>
              <a:t>taquicardia</a:t>
            </a:r>
            <a:endParaRPr lang="es-CO" sz="2500" dirty="0">
              <a:latin typeface="Algerian" pitchFamily="82" charset="0"/>
            </a:endParaRPr>
          </a:p>
          <a:p>
            <a:pPr>
              <a:buNone/>
              <a:defRPr/>
            </a:pPr>
            <a:endParaRPr lang="es-CO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704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5 Marcador de contenido" descr="cuidado-del-adulto-mayo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548680"/>
            <a:ext cx="8280919" cy="5832648"/>
          </a:xfrm>
        </p:spPr>
      </p:pic>
      <p:pic>
        <p:nvPicPr>
          <p:cNvPr id="5" name="5 Marcador de contenido" descr="cuidado-del-adulto-mayo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548680"/>
            <a:ext cx="8280919" cy="5832648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 rot="20579824">
            <a:off x="279869" y="710832"/>
            <a:ext cx="42618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0" b="1" i="0" u="none" strike="noStrike" kern="0" cap="none" spc="0" normalizeH="0" baseline="0" noProof="0" dirty="0" smtClean="0">
                <a:ln w="18000">
                  <a:solidFill>
                    <a:srgbClr val="9F2936">
                      <a:satMod val="140000"/>
                    </a:srgb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</a:rPr>
              <a:t>GRACIAS</a:t>
            </a:r>
            <a:endParaRPr kumimoji="0" lang="es-ES" sz="8000" b="1" i="0" u="none" strike="noStrike" kern="0" cap="none" spc="0" normalizeH="0" baseline="0" noProof="0" dirty="0">
              <a:ln w="18000">
                <a:solidFill>
                  <a:srgbClr val="9F2936">
                    <a:satMod val="140000"/>
                  </a:srgb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7959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267</TotalTime>
  <Words>1090</Words>
  <Application>Microsoft Office PowerPoint</Application>
  <PresentationFormat>Presentación en pantalla (4:3)</PresentationFormat>
  <Paragraphs>210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Tema de Office</vt:lpstr>
      <vt:lpstr>PRESION ARTERIAL </vt:lpstr>
      <vt:lpstr>PRESIÓN ARTERIAL</vt:lpstr>
      <vt:lpstr>Presentación de PowerPoint</vt:lpstr>
      <vt:lpstr>Presentación de PowerPoint</vt:lpstr>
      <vt:lpstr>MEDIA DE LA P.A. SEGÚN EDAD</vt:lpstr>
      <vt:lpstr>Hipertensión Arterial</vt:lpstr>
      <vt:lpstr>Fisiopatología</vt:lpstr>
      <vt:lpstr>FACTORES PREDISPONENTES</vt:lpstr>
      <vt:lpstr>HIPERTENSIÓN ARTERIAL</vt:lpstr>
      <vt:lpstr>CLASIFICACIÓN DE LA P.A. EN ADULTOS</vt:lpstr>
      <vt:lpstr>Hipotensión</vt:lpstr>
      <vt:lpstr>TRATAMIENTO PARA LA HIPERTENSIÓN ARTERIAL.</vt:lpstr>
      <vt:lpstr>LUGAR DE CONTROL DE LA P.A.</vt:lpstr>
      <vt:lpstr>INSTRUMENTOS DE MEDICIÓN DE LA P.A.</vt:lpstr>
      <vt:lpstr>Esfigmomanómetro aneroide</vt:lpstr>
      <vt:lpstr>Esfigmomanómetro de mercurio</vt:lpstr>
      <vt:lpstr>Conclusiones </vt:lpstr>
      <vt:lpstr>Cuidados Al Adulto Mayor</vt:lpstr>
      <vt:lpstr>PROPÓSITO DE LA ENFERMERÍA  GERONTO-GERIÁTRICA</vt:lpstr>
      <vt:lpstr>Cuidados de enfermería</vt:lpstr>
      <vt:lpstr>ESCUCHAR AL ADULTO MAYOR </vt:lpstr>
      <vt:lpstr>entregarle al paciente en forma integral</vt:lpstr>
      <vt:lpstr>Satisfacer sus necesidades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PRESION ARTERIAL</dc:title>
  <dc:creator>HUGO PINTO</dc:creator>
  <cp:lastModifiedBy>JHONY</cp:lastModifiedBy>
  <cp:revision>24</cp:revision>
  <dcterms:created xsi:type="dcterms:W3CDTF">2012-06-25T19:47:48Z</dcterms:created>
  <dcterms:modified xsi:type="dcterms:W3CDTF">2014-11-22T13:50:18Z</dcterms:modified>
</cp:coreProperties>
</file>