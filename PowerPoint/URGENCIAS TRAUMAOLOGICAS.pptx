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73" r:id="rId16"/>
    <p:sldId id="269" r:id="rId17"/>
    <p:sldId id="271" r:id="rId18"/>
    <p:sldId id="270" r:id="rId19"/>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1" d="100"/>
          <a:sy n="41" d="100"/>
        </p:scale>
        <p:origin x="-126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EDCFF160-C7DA-4AF2-8925-229EC9C87908}" type="datetimeFigureOut">
              <a:rPr lang="es-BO" smtClean="0"/>
              <a:t>01/11/2014</a:t>
            </a:fld>
            <a:endParaRPr lang="es-BO"/>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s-BO"/>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F83FE100-653A-4A3F-9E54-8155A7D7685F}" type="slidenum">
              <a:rPr lang="es-BO" smtClean="0"/>
              <a:t>‹Nº›</a:t>
            </a:fld>
            <a:endParaRPr lang="es-BO"/>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DCFF160-C7DA-4AF2-8925-229EC9C87908}" type="datetimeFigureOut">
              <a:rPr lang="es-BO" smtClean="0"/>
              <a:t>01/11/2014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DCFF160-C7DA-4AF2-8925-229EC9C87908}" type="datetimeFigureOut">
              <a:rPr lang="es-BO" smtClean="0"/>
              <a:t>01/11/2014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5" name="Date Placeholder 4"/>
          <p:cNvSpPr>
            <a:spLocks noGrp="1"/>
          </p:cNvSpPr>
          <p:nvPr>
            <p:ph type="dt" sz="half" idx="10"/>
          </p:nvPr>
        </p:nvSpPr>
        <p:spPr/>
        <p:txBody>
          <a:bodyPr/>
          <a:lstStyle/>
          <a:p>
            <a:fld id="{EDCFF160-C7DA-4AF2-8925-229EC9C87908}" type="datetimeFigureOut">
              <a:rPr lang="es-BO" smtClean="0"/>
              <a:t>01/11/2014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83FE100-653A-4A3F-9E54-8155A7D7685F}" type="slidenum">
              <a:rPr lang="es-BO" smtClean="0"/>
              <a:t>‹Nº›</a:t>
            </a:fld>
            <a:endParaRPr lang="es-BO"/>
          </a:p>
        </p:txBody>
      </p:sp>
      <p:sp>
        <p:nvSpPr>
          <p:cNvPr id="9" name="Content Placeholder 8"/>
          <p:cNvSpPr>
            <a:spLocks noGrp="1"/>
          </p:cNvSpPr>
          <p:nvPr>
            <p:ph sz="quarter" idx="13"/>
          </p:nvPr>
        </p:nvSpPr>
        <p:spPr>
          <a:xfrm>
            <a:off x="1042416" y="2313432"/>
            <a:ext cx="3419856" cy="349300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DCFF160-C7DA-4AF2-8925-229EC9C87908}" type="datetimeFigureOut">
              <a:rPr lang="es-BO" smtClean="0"/>
              <a:t>01/11/2014</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EDCFF160-C7DA-4AF2-8925-229EC9C87908}" type="datetimeFigureOut">
              <a:rPr lang="es-BO" smtClean="0"/>
              <a:t>01/11/2014</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CFF160-C7DA-4AF2-8925-229EC9C87908}" type="datetimeFigureOut">
              <a:rPr lang="es-BO" smtClean="0"/>
              <a:t>01/11/2014</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EDCFF160-C7DA-4AF2-8925-229EC9C87908}" type="datetimeFigureOut">
              <a:rPr lang="es-BO" smtClean="0"/>
              <a:t>01/11/2014</a:t>
            </a:fld>
            <a:endParaRPr lang="es-BO"/>
          </a:p>
        </p:txBody>
      </p:sp>
      <p:sp>
        <p:nvSpPr>
          <p:cNvPr id="7" name="Slide Number Placeholder 6"/>
          <p:cNvSpPr>
            <a:spLocks noGrp="1"/>
          </p:cNvSpPr>
          <p:nvPr>
            <p:ph type="sldNum" sz="quarter" idx="12"/>
          </p:nvPr>
        </p:nvSpPr>
        <p:spPr/>
        <p:txBody>
          <a:bodyPr/>
          <a:lstStyle/>
          <a:p>
            <a:fld id="{F83FE100-653A-4A3F-9E54-8155A7D7685F}" type="slidenum">
              <a:rPr lang="es-BO" smtClean="0"/>
              <a:t>‹Nº›</a:t>
            </a:fld>
            <a:endParaRPr lang="es-BO"/>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BO"/>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s-ES" smtClean="0"/>
              <a:t>Haga clic para modificar el estilo de título del patrón</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DCFF160-C7DA-4AF2-8925-229EC9C87908}" type="datetimeFigureOut">
              <a:rPr lang="es-BO" smtClean="0"/>
              <a:t>01/11/2014</a:t>
            </a:fld>
            <a:endParaRPr lang="es-BO"/>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BO"/>
          </a:p>
        </p:txBody>
      </p:sp>
      <p:sp>
        <p:nvSpPr>
          <p:cNvPr id="7" name="Slide Number Placeholder 6"/>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DCFF160-C7DA-4AF2-8925-229EC9C87908}" type="datetimeFigureOut">
              <a:rPr lang="es-BO" smtClean="0"/>
              <a:t>01/11/2014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DCFF160-C7DA-4AF2-8925-229EC9C87908}" type="datetimeFigureOut">
              <a:rPr lang="es-BO" smtClean="0"/>
              <a:t>01/11/2014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83FE100-653A-4A3F-9E54-8155A7D7685F}" type="slidenum">
              <a:rPr lang="es-BO" smtClean="0"/>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EDCFF160-C7DA-4AF2-8925-229EC9C87908}" type="datetimeFigureOut">
              <a:rPr lang="es-BO" smtClean="0"/>
              <a:t>01/11/2014</a:t>
            </a:fld>
            <a:endParaRPr lang="es-BO"/>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s-BO"/>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F83FE100-653A-4A3F-9E54-8155A7D7685F}" type="slidenum">
              <a:rPr lang="es-BO" smtClean="0"/>
              <a:t>‹Nº›</a:t>
            </a:fld>
            <a:endParaRPr lang="es-BO"/>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tiposde.info/wp-content/uploads/2013/07/Tipos-de-fracturas.jp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tiposde.info/wp-content/uploads/2013/07/Fractura-conminuta-o-de-ala-de-mariposa.png"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tiposde.info/wp-content/uploads/2013/07/Fractura-de-espiral.png"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tiposde.info/wp-content/uploads/2013/07/Tipos-de-fractura-oblicua.png"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tiposde.info/wp-content/uploads/2013/07/Tipo-de-fractura-transversal.png"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es.wikipedia.org/wiki/Fractura" TargetMode="External"/><Relationship Id="rId2" Type="http://schemas.openxmlformats.org/officeDocument/2006/relationships/hyperlink" Target="http://es.wikipedia.org/wiki/Fractura_expuest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644008" y="2564904"/>
            <a:ext cx="3528392" cy="1656184"/>
          </a:xfrm>
        </p:spPr>
        <p:txBody>
          <a:bodyPr>
            <a:normAutofit fontScale="90000"/>
          </a:bodyPr>
          <a:lstStyle/>
          <a:p>
            <a:pPr algn="ctr"/>
            <a:r>
              <a:rPr lang="es-BO" dirty="0" smtClean="0"/>
              <a:t>URGENCIAS TRAUMAOLOGI</a:t>
            </a:r>
            <a:br>
              <a:rPr lang="es-BO" dirty="0" smtClean="0"/>
            </a:br>
            <a:r>
              <a:rPr lang="es-BO" dirty="0" smtClean="0"/>
              <a:t>CAS</a:t>
            </a:r>
            <a:endParaRPr lang="es-BO" dirty="0"/>
          </a:p>
        </p:txBody>
      </p:sp>
      <p:sp>
        <p:nvSpPr>
          <p:cNvPr id="3" name="2 Subtítulo"/>
          <p:cNvSpPr>
            <a:spLocks noGrp="1"/>
          </p:cNvSpPr>
          <p:nvPr>
            <p:ph type="subTitle" idx="1"/>
          </p:nvPr>
        </p:nvSpPr>
        <p:spPr/>
        <p:txBody>
          <a:bodyPr/>
          <a:lstStyle/>
          <a:p>
            <a:r>
              <a:rPr lang="es-BO" dirty="0" smtClean="0"/>
              <a:t>Docente.- Lic. Cinthya Sabido</a:t>
            </a:r>
            <a:endParaRPr lang="es-BO" dirty="0"/>
          </a:p>
        </p:txBody>
      </p:sp>
    </p:spTree>
    <p:extLst>
      <p:ext uri="{BB962C8B-B14F-4D97-AF65-F5344CB8AC3E}">
        <p14:creationId xmlns:p14="http://schemas.microsoft.com/office/powerpoint/2010/main" val="354379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Urgencia </a:t>
            </a:r>
            <a:endParaRPr lang="es-BO" dirty="0"/>
          </a:p>
        </p:txBody>
      </p:sp>
      <p:sp>
        <p:nvSpPr>
          <p:cNvPr id="3" name="2 Marcador de contenido"/>
          <p:cNvSpPr>
            <a:spLocks noGrp="1"/>
          </p:cNvSpPr>
          <p:nvPr>
            <p:ph idx="1"/>
          </p:nvPr>
        </p:nvSpPr>
        <p:spPr/>
        <p:txBody>
          <a:bodyPr>
            <a:normAutofit fontScale="85000" lnSpcReduction="20000"/>
          </a:bodyPr>
          <a:lstStyle/>
          <a:p>
            <a:r>
              <a:rPr lang="es-BO" dirty="0"/>
              <a:t>Es toda aquella situación que pone en peligro la vida y que requiere atención médica inmediata:</a:t>
            </a:r>
          </a:p>
          <a:p>
            <a:r>
              <a:rPr lang="es-BO" dirty="0"/>
              <a:t>Situaciones que de forma evidente exigen una actitud terapéutica </a:t>
            </a:r>
            <a:r>
              <a:rPr lang="es-BO" b="1" dirty="0"/>
              <a:t>inmediata</a:t>
            </a:r>
            <a:r>
              <a:rPr lang="es-BO" dirty="0"/>
              <a:t>:</a:t>
            </a:r>
          </a:p>
          <a:p>
            <a:pPr lvl="0"/>
            <a:r>
              <a:rPr lang="es-BO" dirty="0"/>
              <a:t>Paro </a:t>
            </a:r>
            <a:r>
              <a:rPr lang="es-BO" dirty="0" err="1"/>
              <a:t>cardiorespiratorio</a:t>
            </a:r>
            <a:endParaRPr lang="es-BO" dirty="0"/>
          </a:p>
          <a:p>
            <a:pPr lvl="0"/>
            <a:r>
              <a:rPr lang="es-BO" dirty="0"/>
              <a:t>Taponamiento cardiaco</a:t>
            </a:r>
          </a:p>
          <a:p>
            <a:pPr lvl="0"/>
            <a:r>
              <a:rPr lang="es-BO" dirty="0" smtClean="0"/>
              <a:t>Hemorragia </a:t>
            </a:r>
            <a:r>
              <a:rPr lang="es-BO" dirty="0" err="1"/>
              <a:t>intraabdominal</a:t>
            </a:r>
            <a:endParaRPr lang="es-BO" dirty="0"/>
          </a:p>
          <a:p>
            <a:pPr lvl="0"/>
            <a:r>
              <a:rPr lang="es-BO" dirty="0"/>
              <a:t>Dificultad severa para respirar</a:t>
            </a:r>
          </a:p>
          <a:p>
            <a:pPr lvl="0"/>
            <a:r>
              <a:rPr lang="es-BO" dirty="0"/>
              <a:t>Traumatismo importante (habrá hemorragia visible o pérdida de conciencia)</a:t>
            </a:r>
          </a:p>
          <a:p>
            <a:r>
              <a:rPr lang="es-BO" dirty="0"/>
              <a:t> </a:t>
            </a:r>
          </a:p>
          <a:p>
            <a:endParaRPr lang="es-BO" dirty="0"/>
          </a:p>
        </p:txBody>
      </p:sp>
    </p:spTree>
    <p:extLst>
      <p:ext uri="{BB962C8B-B14F-4D97-AF65-F5344CB8AC3E}">
        <p14:creationId xmlns:p14="http://schemas.microsoft.com/office/powerpoint/2010/main" val="928314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Urgencia </a:t>
            </a:r>
            <a:r>
              <a:rPr lang="es-BO" dirty="0" err="1" smtClean="0"/>
              <a:t>traumatologica</a:t>
            </a:r>
            <a:r>
              <a:rPr lang="es-BO" dirty="0" smtClean="0"/>
              <a:t> </a:t>
            </a:r>
            <a:endParaRPr lang="es-BO" dirty="0"/>
          </a:p>
        </p:txBody>
      </p:sp>
      <p:sp>
        <p:nvSpPr>
          <p:cNvPr id="3" name="2 Marcador de contenido"/>
          <p:cNvSpPr>
            <a:spLocks noGrp="1"/>
          </p:cNvSpPr>
          <p:nvPr>
            <p:ph idx="1"/>
          </p:nvPr>
        </p:nvSpPr>
        <p:spPr/>
        <p:txBody>
          <a:bodyPr>
            <a:normAutofit fontScale="92500"/>
          </a:bodyPr>
          <a:lstStyle/>
          <a:p>
            <a:r>
              <a:rPr lang="es-BO" dirty="0"/>
              <a:t>Las fracturas son generalmente acompañadas por más o menos lesiones a las partes blandas circundantes, y éstas son consideradas como complicaciones de la fractura; pero en el sentido estricto de la palabra, usualmente reservamos el término de complicación para ciertas condiciones que son de suficiente gravedad como para demandar tratamiento inmediato, urgente, y afectar seriamente el pronóstico de la </a:t>
            </a:r>
            <a:r>
              <a:rPr lang="es-BO" dirty="0" smtClean="0"/>
              <a:t>lesión.</a:t>
            </a:r>
            <a:endParaRPr lang="es-BO" dirty="0"/>
          </a:p>
        </p:txBody>
      </p:sp>
    </p:spTree>
    <p:extLst>
      <p:ext uri="{BB962C8B-B14F-4D97-AF65-F5344CB8AC3E}">
        <p14:creationId xmlns:p14="http://schemas.microsoft.com/office/powerpoint/2010/main" val="3738738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490" y="1027664"/>
            <a:ext cx="7024744" cy="1105192"/>
          </a:xfrm>
        </p:spPr>
        <p:txBody>
          <a:bodyPr/>
          <a:lstStyle/>
          <a:p>
            <a:r>
              <a:rPr lang="es-BO" dirty="0" smtClean="0"/>
              <a:t>Tipos de fractura </a:t>
            </a:r>
            <a:endParaRPr lang="es-BO" dirty="0"/>
          </a:p>
        </p:txBody>
      </p:sp>
      <p:sp>
        <p:nvSpPr>
          <p:cNvPr id="3" name="2 Marcador de contenido"/>
          <p:cNvSpPr>
            <a:spLocks noGrp="1"/>
          </p:cNvSpPr>
          <p:nvPr>
            <p:ph idx="1"/>
          </p:nvPr>
        </p:nvSpPr>
        <p:spPr>
          <a:xfrm>
            <a:off x="971600" y="2060848"/>
            <a:ext cx="7344932" cy="3508977"/>
          </a:xfrm>
        </p:spPr>
        <p:txBody>
          <a:bodyPr/>
          <a:lstStyle/>
          <a:p>
            <a:r>
              <a:rPr lang="es-BO" dirty="0"/>
              <a:t>Tipos de fracturas en el ser humano, pueden presentarse como fractura conminuta, oblicua, en espiral, transversal y de rama, así como fisuras sin ser propiamente una fractura.</a:t>
            </a:r>
          </a:p>
          <a:p>
            <a:endParaRPr lang="es-BO" dirty="0"/>
          </a:p>
        </p:txBody>
      </p:sp>
      <p:pic>
        <p:nvPicPr>
          <p:cNvPr id="4" name="3 Imagen" descr="Tipos de fracturas en el cuerpo humano.">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571038" y="4005064"/>
            <a:ext cx="5544616" cy="2376263"/>
          </a:xfrm>
          <a:prstGeom prst="rect">
            <a:avLst/>
          </a:prstGeom>
          <a:noFill/>
          <a:ln>
            <a:noFill/>
          </a:ln>
        </p:spPr>
      </p:pic>
    </p:spTree>
    <p:extLst>
      <p:ext uri="{BB962C8B-B14F-4D97-AF65-F5344CB8AC3E}">
        <p14:creationId xmlns:p14="http://schemas.microsoft.com/office/powerpoint/2010/main" val="2072888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ctr"/>
            <a:r>
              <a:rPr lang="es-BO" dirty="0" smtClean="0"/>
              <a:t>Descripción de los tipos de fracturas </a:t>
            </a:r>
            <a:endParaRPr lang="es-BO" dirty="0"/>
          </a:p>
        </p:txBody>
      </p:sp>
      <p:sp>
        <p:nvSpPr>
          <p:cNvPr id="4" name="3 Marcador de contenido"/>
          <p:cNvSpPr>
            <a:spLocks noGrp="1"/>
          </p:cNvSpPr>
          <p:nvPr>
            <p:ph sz="quarter" idx="13"/>
          </p:nvPr>
        </p:nvSpPr>
        <p:spPr>
          <a:xfrm>
            <a:off x="827584" y="1916832"/>
            <a:ext cx="3888432" cy="3816424"/>
          </a:xfrm>
        </p:spPr>
        <p:txBody>
          <a:bodyPr>
            <a:normAutofit fontScale="92500" lnSpcReduction="10000"/>
          </a:bodyPr>
          <a:lstStyle/>
          <a:p>
            <a:pPr lvl="0"/>
            <a:r>
              <a:rPr lang="es-BO" b="1" dirty="0"/>
              <a:t>Fractura de  conminuta.-</a:t>
            </a:r>
            <a:r>
              <a:rPr lang="es-BO" dirty="0"/>
              <a:t> Estos tipos de fracturas usualmente ocurren en los huesos largos del cuerpo humano como seria en brazos y piernas, suele ser la fractura en el centro del hueso largo o en las orillas y. La fractura es tal como se muestra en la </a:t>
            </a:r>
            <a:r>
              <a:rPr lang="es-BO" dirty="0" smtClean="0"/>
              <a:t>imagen.</a:t>
            </a:r>
            <a:endParaRPr lang="es-BO" dirty="0"/>
          </a:p>
          <a:p>
            <a:endParaRPr lang="es-BO" dirty="0"/>
          </a:p>
        </p:txBody>
      </p:sp>
      <p:pic>
        <p:nvPicPr>
          <p:cNvPr id="6" name="5 Marcador de contenido" descr="Fractura conminuta o de ala de mariposa">
            <a:hlinkClick r:id="rId2"/>
          </p:cNvPr>
          <p:cNvPicPr>
            <a:picLocks noGrp="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4932040" y="2312988"/>
            <a:ext cx="2520280" cy="3494087"/>
          </a:xfrm>
          <a:prstGeom prst="rect">
            <a:avLst/>
          </a:prstGeom>
          <a:noFill/>
          <a:ln>
            <a:noFill/>
          </a:ln>
        </p:spPr>
      </p:pic>
    </p:spTree>
    <p:extLst>
      <p:ext uri="{BB962C8B-B14F-4D97-AF65-F5344CB8AC3E}">
        <p14:creationId xmlns:p14="http://schemas.microsoft.com/office/powerpoint/2010/main" val="2872834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971600" y="1412776"/>
            <a:ext cx="3960440" cy="4608512"/>
          </a:xfrm>
        </p:spPr>
        <p:txBody>
          <a:bodyPr>
            <a:normAutofit/>
          </a:bodyPr>
          <a:lstStyle/>
          <a:p>
            <a:pPr lvl="0"/>
            <a:r>
              <a:rPr lang="es-BO" b="1" dirty="0"/>
              <a:t>Fractura helicoide o de espiral.- </a:t>
            </a:r>
            <a:r>
              <a:rPr lang="es-BO" dirty="0"/>
              <a:t>    Estos tipos de fracturas suelen ser demasiadas dolorosas debido a la forma de la lesión que ocurre a lo largo del hueso dañando así los nervios, vasos sanguíneos y la misma piel sufren de la lesión.</a:t>
            </a:r>
          </a:p>
          <a:p>
            <a:endParaRPr lang="es-BO" dirty="0"/>
          </a:p>
        </p:txBody>
      </p:sp>
      <p:pic>
        <p:nvPicPr>
          <p:cNvPr id="5" name="4 Marcador de contenido" descr="Lesion en hueso largo en tipo de fractura espiral.">
            <a:hlinkClick r:id="rId2"/>
          </p:cNvPr>
          <p:cNvPicPr>
            <a:picLocks noGrp="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148065" y="1556792"/>
            <a:ext cx="1944216" cy="4250283"/>
          </a:xfrm>
          <a:prstGeom prst="rect">
            <a:avLst/>
          </a:prstGeom>
          <a:noFill/>
          <a:ln>
            <a:noFill/>
          </a:ln>
        </p:spPr>
      </p:pic>
    </p:spTree>
    <p:extLst>
      <p:ext uri="{BB962C8B-B14F-4D97-AF65-F5344CB8AC3E}">
        <p14:creationId xmlns:p14="http://schemas.microsoft.com/office/powerpoint/2010/main" val="228944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1043608" y="1340768"/>
            <a:ext cx="3419856" cy="4608512"/>
          </a:xfrm>
        </p:spPr>
        <p:txBody>
          <a:bodyPr>
            <a:normAutofit lnSpcReduction="10000"/>
          </a:bodyPr>
          <a:lstStyle/>
          <a:p>
            <a:r>
              <a:rPr lang="es-BO" b="1" dirty="0"/>
              <a:t>Fractura longitudinales u oblicua.- </a:t>
            </a:r>
            <a:r>
              <a:rPr lang="es-BO" dirty="0"/>
              <a:t> Esta fractura ocurre cuando sufre un impacto o gran peso en el hueso y ocasiona que se rompa y que tenga una segunda fractura con pico o forma triangular.</a:t>
            </a:r>
            <a:endParaRPr lang="es-BO" dirty="0"/>
          </a:p>
        </p:txBody>
      </p:sp>
      <p:pic>
        <p:nvPicPr>
          <p:cNvPr id="5" name="4 Marcador de contenido" descr="Lesión en el hueso con fractura oblicua">
            <a:hlinkClick r:id="rId2"/>
          </p:cNvPr>
          <p:cNvPicPr>
            <a:picLocks noGrp="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4645025" y="2636912"/>
            <a:ext cx="3419475" cy="1960597"/>
          </a:xfrm>
          <a:prstGeom prst="rect">
            <a:avLst/>
          </a:prstGeom>
          <a:noFill/>
          <a:ln>
            <a:noFill/>
          </a:ln>
        </p:spPr>
      </p:pic>
    </p:spTree>
    <p:extLst>
      <p:ext uri="{BB962C8B-B14F-4D97-AF65-F5344CB8AC3E}">
        <p14:creationId xmlns:p14="http://schemas.microsoft.com/office/powerpoint/2010/main" val="400483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1043608" y="1772816"/>
            <a:ext cx="3418664" cy="4033624"/>
          </a:xfrm>
        </p:spPr>
        <p:txBody>
          <a:bodyPr>
            <a:normAutofit fontScale="92500"/>
          </a:bodyPr>
          <a:lstStyle/>
          <a:p>
            <a:pPr lvl="0"/>
            <a:r>
              <a:rPr lang="es-BO" b="1" dirty="0"/>
              <a:t>Fractura horizontales o transversal</a:t>
            </a:r>
            <a:r>
              <a:rPr lang="es-BO" dirty="0"/>
              <a:t>.- Estos tipos de fractura ocurren sobre el eje del hueso de tal forma como se aprecia en la imagen. Rara vez compromete músculos y piel. Pero puede dañarlos.</a:t>
            </a:r>
          </a:p>
          <a:p>
            <a:endParaRPr lang="es-BO" dirty="0"/>
          </a:p>
        </p:txBody>
      </p:sp>
      <p:pic>
        <p:nvPicPr>
          <p:cNvPr id="5" name="4 Marcador de contenido" descr="Lesión o fractura de forma transversal">
            <a:hlinkClick r:id="rId2"/>
          </p:cNvPr>
          <p:cNvPicPr>
            <a:picLocks noGrp="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4427984" y="2708920"/>
            <a:ext cx="3672408" cy="1440160"/>
          </a:xfrm>
          <a:prstGeom prst="rect">
            <a:avLst/>
          </a:prstGeom>
          <a:noFill/>
          <a:ln>
            <a:noFill/>
          </a:ln>
        </p:spPr>
      </p:pic>
    </p:spTree>
    <p:extLst>
      <p:ext uri="{BB962C8B-B14F-4D97-AF65-F5344CB8AC3E}">
        <p14:creationId xmlns:p14="http://schemas.microsoft.com/office/powerpoint/2010/main" val="1333611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71600" y="1268760"/>
            <a:ext cx="6849209" cy="4563869"/>
          </a:xfrm>
        </p:spPr>
        <p:txBody>
          <a:bodyPr>
            <a:normAutofit fontScale="85000" lnSpcReduction="10000"/>
          </a:bodyPr>
          <a:lstStyle/>
          <a:p>
            <a:pPr lvl="0"/>
            <a:r>
              <a:rPr lang="es-BO" dirty="0"/>
              <a:t>Fractura en rama.- Estos tipos de fractura son usuales en bebés o niños pequeños debido a que sus huesos aun no son los suficientemente duros, entonces si reciben un fuerte impacto no se fracturan totalmente como los de un adulto, si no que se fractura por partes es decir, algunas partes del hueso queda unido o intacto y otras si hay ruptura pero sin que se desprenda, es como cuando doblas una rama de árbol tierna es difícil que se quiebre totalmente, solo queda doblada y lesionada la sección donde se trató de romperla, lo mismo ocurre con los infantes.</a:t>
            </a:r>
          </a:p>
          <a:p>
            <a:pPr lvl="0"/>
            <a:r>
              <a:rPr lang="es-BO" dirty="0"/>
              <a:t>Fisuras.- En estas lesiones, no ocurre como de los tipos de fractura o separación del hueso, si no que solamente se corta parcialmente el hueso.</a:t>
            </a:r>
          </a:p>
          <a:p>
            <a:endParaRPr lang="es-BO" dirty="0"/>
          </a:p>
        </p:txBody>
      </p:sp>
    </p:spTree>
    <p:extLst>
      <p:ext uri="{BB962C8B-B14F-4D97-AF65-F5344CB8AC3E}">
        <p14:creationId xmlns:p14="http://schemas.microsoft.com/office/powerpoint/2010/main" val="3670507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99592" y="1484784"/>
            <a:ext cx="6921217" cy="4347845"/>
          </a:xfrm>
        </p:spPr>
        <p:txBody>
          <a:bodyPr>
            <a:normAutofit/>
          </a:bodyPr>
          <a:lstStyle/>
          <a:p>
            <a:r>
              <a:rPr lang="es-BO" b="1" dirty="0"/>
              <a:t>Las fracturas pueden ser de dos clases:</a:t>
            </a:r>
            <a:endParaRPr lang="es-BO" dirty="0"/>
          </a:p>
          <a:p>
            <a:pPr lvl="0"/>
            <a:r>
              <a:rPr lang="es-BO" b="1" dirty="0">
                <a:hlinkClick r:id="rId2" tooltip="Tipos de fractura"/>
              </a:rPr>
              <a:t>Expuestas</a:t>
            </a:r>
            <a:r>
              <a:rPr lang="es-BO" b="1" dirty="0" smtClean="0"/>
              <a:t>.</a:t>
            </a:r>
            <a:r>
              <a:rPr lang="es-BO" dirty="0"/>
              <a:t> son aquellos tipos de fracturas en el que el hueso sale de la piel, lesionando músculos y hasta venas</a:t>
            </a:r>
          </a:p>
          <a:p>
            <a:pPr lvl="0"/>
            <a:r>
              <a:rPr lang="es-BO" b="1" dirty="0" smtClean="0">
                <a:hlinkClick r:id="rId3" tooltip="Tipos de fractura"/>
              </a:rPr>
              <a:t>Encamisadas</a:t>
            </a:r>
            <a:r>
              <a:rPr lang="es-BO" b="1" dirty="0" smtClean="0"/>
              <a:t>.</a:t>
            </a:r>
            <a:r>
              <a:rPr lang="es-BO" dirty="0" smtClean="0"/>
              <a:t>- son </a:t>
            </a:r>
            <a:r>
              <a:rPr lang="es-BO" dirty="0"/>
              <a:t>aquellas fracturas que el hueso no sale al exterior del cuerpo, queda adentro y con seguridad puede sanar en un tiempo menos extenso</a:t>
            </a:r>
            <a:endParaRPr lang="es-BO" dirty="0"/>
          </a:p>
        </p:txBody>
      </p:sp>
    </p:spTree>
    <p:extLst>
      <p:ext uri="{BB962C8B-B14F-4D97-AF65-F5344CB8AC3E}">
        <p14:creationId xmlns:p14="http://schemas.microsoft.com/office/powerpoint/2010/main" val="399352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Tratamiento de la herida</a:t>
            </a:r>
            <a:endParaRPr lang="es-BO" dirty="0"/>
          </a:p>
        </p:txBody>
      </p:sp>
      <p:sp>
        <p:nvSpPr>
          <p:cNvPr id="3" name="2 Marcador de contenido"/>
          <p:cNvSpPr>
            <a:spLocks noGrp="1"/>
          </p:cNvSpPr>
          <p:nvPr>
            <p:ph idx="1"/>
          </p:nvPr>
        </p:nvSpPr>
        <p:spPr/>
        <p:txBody>
          <a:bodyPr/>
          <a:lstStyle/>
          <a:p>
            <a:r>
              <a:rPr lang="es-BO" dirty="0"/>
              <a:t>El objetivo principal del tratamiento de la herida es evitar que se produzca la infección y que ésta comprometa al plano óseo. La primera medida preventiva o de profilaxis que debe emplearse es la administración de toxoide y antitoxina tetánica, los cuales no deben faltar en un servicio para atención de </a:t>
            </a:r>
            <a:r>
              <a:rPr lang="es-BO" dirty="0" smtClean="0"/>
              <a:t>emergencias.</a:t>
            </a:r>
            <a:endParaRPr lang="es-BO" dirty="0"/>
          </a:p>
        </p:txBody>
      </p:sp>
    </p:spTree>
    <p:extLst>
      <p:ext uri="{BB962C8B-B14F-4D97-AF65-F5344CB8AC3E}">
        <p14:creationId xmlns:p14="http://schemas.microsoft.com/office/powerpoint/2010/main" val="2143145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tratamiento</a:t>
            </a:r>
            <a:endParaRPr lang="es-BO" dirty="0"/>
          </a:p>
        </p:txBody>
      </p:sp>
      <p:sp>
        <p:nvSpPr>
          <p:cNvPr id="3" name="2 Marcador de contenido"/>
          <p:cNvSpPr>
            <a:spLocks noGrp="1"/>
          </p:cNvSpPr>
          <p:nvPr>
            <p:ph idx="1"/>
          </p:nvPr>
        </p:nvSpPr>
        <p:spPr/>
        <p:txBody>
          <a:bodyPr>
            <a:normAutofit lnSpcReduction="10000"/>
          </a:bodyPr>
          <a:lstStyle/>
          <a:p>
            <a:r>
              <a:rPr lang="es-BO" dirty="0"/>
              <a:t>El tratamiento de las fracturas abiertas incluye el tratamiento del paciente en el lugar del accidente, su transporte a un hospital o algún otro centro asistencial en donde pueda recibir el tratamiento de urgencia y finalmente, el tratamiento en el hospital. El último incluye, principalmente, el tratamiento de las heridas y la reducción e inmovilización de la fractura.</a:t>
            </a:r>
          </a:p>
          <a:p>
            <a:endParaRPr lang="es-BO" dirty="0"/>
          </a:p>
        </p:txBody>
      </p:sp>
    </p:spTree>
    <p:extLst>
      <p:ext uri="{BB962C8B-B14F-4D97-AF65-F5344CB8AC3E}">
        <p14:creationId xmlns:p14="http://schemas.microsoft.com/office/powerpoint/2010/main" val="777410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Tratamiento de la fractura </a:t>
            </a:r>
            <a:endParaRPr lang="es-BO" dirty="0"/>
          </a:p>
        </p:txBody>
      </p:sp>
      <p:sp>
        <p:nvSpPr>
          <p:cNvPr id="3" name="2 Marcador de contenido"/>
          <p:cNvSpPr>
            <a:spLocks noGrp="1"/>
          </p:cNvSpPr>
          <p:nvPr>
            <p:ph idx="1"/>
          </p:nvPr>
        </p:nvSpPr>
        <p:spPr/>
        <p:txBody>
          <a:bodyPr/>
          <a:lstStyle/>
          <a:p>
            <a:r>
              <a:rPr lang="es-BO" dirty="0"/>
              <a:t>De ser posible, consiste en la reducción e inmovilización de los fragmentos, en una posición que dé como resultado una función satisfactoria, siempre y cuando la unión de los fragmentos ocurra, y que permita la posibilidad de que otros tratamientos posteriores o simultáneos indicados puedan realizarse.</a:t>
            </a:r>
          </a:p>
          <a:p>
            <a:endParaRPr lang="es-BO" dirty="0"/>
          </a:p>
        </p:txBody>
      </p:sp>
    </p:spTree>
    <p:extLst>
      <p:ext uri="{BB962C8B-B14F-4D97-AF65-F5344CB8AC3E}">
        <p14:creationId xmlns:p14="http://schemas.microsoft.com/office/powerpoint/2010/main" val="3065649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BO" dirty="0" smtClean="0"/>
              <a:t>Objetivo final del tratamiento</a:t>
            </a:r>
            <a:endParaRPr lang="es-BO" dirty="0"/>
          </a:p>
        </p:txBody>
      </p:sp>
      <p:sp>
        <p:nvSpPr>
          <p:cNvPr id="3" name="2 Marcador de contenido"/>
          <p:cNvSpPr>
            <a:spLocks noGrp="1"/>
          </p:cNvSpPr>
          <p:nvPr>
            <p:ph idx="1"/>
          </p:nvPr>
        </p:nvSpPr>
        <p:spPr/>
        <p:txBody>
          <a:bodyPr/>
          <a:lstStyle/>
          <a:p>
            <a:r>
              <a:rPr lang="es-BO" dirty="0"/>
              <a:t>1.- Evitar la infección de la herida,</a:t>
            </a:r>
            <a:br>
              <a:rPr lang="es-BO" dirty="0"/>
            </a:br>
            <a:r>
              <a:rPr lang="es-BO" dirty="0"/>
              <a:t>2.- Obtener la consolidación de la fractura, y</a:t>
            </a:r>
            <a:br>
              <a:rPr lang="es-BO" dirty="0"/>
            </a:br>
            <a:r>
              <a:rPr lang="es-BO" dirty="0"/>
              <a:t>3.- Restablecer la óptima funcionalidad de la extremidad lesionada</a:t>
            </a:r>
            <a:r>
              <a:rPr lang="es-BO" b="1" dirty="0"/>
              <a:t>.</a:t>
            </a:r>
            <a:endParaRPr lang="es-BO" dirty="0"/>
          </a:p>
          <a:p>
            <a:pPr marL="68580" indent="0">
              <a:buNone/>
            </a:pPr>
            <a:endParaRPr lang="es-BO" dirty="0"/>
          </a:p>
        </p:txBody>
      </p:sp>
    </p:spTree>
    <p:extLst>
      <p:ext uri="{BB962C8B-B14F-4D97-AF65-F5344CB8AC3E}">
        <p14:creationId xmlns:p14="http://schemas.microsoft.com/office/powerpoint/2010/main" val="1160287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Fijación externa </a:t>
            </a:r>
            <a:endParaRPr lang="es-BO" dirty="0"/>
          </a:p>
        </p:txBody>
      </p:sp>
      <p:sp>
        <p:nvSpPr>
          <p:cNvPr id="3" name="2 Marcador de contenido"/>
          <p:cNvSpPr>
            <a:spLocks noGrp="1"/>
          </p:cNvSpPr>
          <p:nvPr>
            <p:ph idx="1"/>
          </p:nvPr>
        </p:nvSpPr>
        <p:spPr/>
        <p:txBody>
          <a:bodyPr/>
          <a:lstStyle/>
          <a:p>
            <a:r>
              <a:rPr lang="es-BO" dirty="0"/>
              <a:t>La inmovilización de fragmentos de fractura, por la inserción de clavos conectados externamente por yeso, barras metálicas u otros dispositivos, no es un concepto nuevo. En el siglo pasado, la fijación externa ha tenido largos períodos de uso entusiasta, alternando con intervalos de total discrepancia.</a:t>
            </a:r>
          </a:p>
          <a:p>
            <a:endParaRPr lang="es-BO" dirty="0"/>
          </a:p>
        </p:txBody>
      </p:sp>
    </p:spTree>
    <p:extLst>
      <p:ext uri="{BB962C8B-B14F-4D97-AF65-F5344CB8AC3E}">
        <p14:creationId xmlns:p14="http://schemas.microsoft.com/office/powerpoint/2010/main" val="428829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259632" y="1027664"/>
            <a:ext cx="6808602" cy="817160"/>
          </a:xfrm>
        </p:spPr>
        <p:txBody>
          <a:bodyPr/>
          <a:lstStyle/>
          <a:p>
            <a:r>
              <a:rPr lang="es-BO" dirty="0" smtClean="0"/>
              <a:t>Cuidados de enfermería</a:t>
            </a:r>
            <a:endParaRPr lang="es-BO" dirty="0"/>
          </a:p>
        </p:txBody>
      </p:sp>
      <p:sp>
        <p:nvSpPr>
          <p:cNvPr id="3" name="2 Marcador de contenido"/>
          <p:cNvSpPr>
            <a:spLocks noGrp="1"/>
          </p:cNvSpPr>
          <p:nvPr>
            <p:ph idx="1"/>
          </p:nvPr>
        </p:nvSpPr>
        <p:spPr>
          <a:xfrm>
            <a:off x="899592" y="1988840"/>
            <a:ext cx="7488832" cy="4464496"/>
          </a:xfrm>
        </p:spPr>
        <p:txBody>
          <a:bodyPr>
            <a:normAutofit fontScale="92500"/>
          </a:bodyPr>
          <a:lstStyle/>
          <a:p>
            <a:r>
              <a:rPr lang="es-BO" dirty="0"/>
              <a:t>1.- Hacer una valoración rápida del estado del paciente, incluyendo el estado de conciencia.</a:t>
            </a:r>
            <a:br>
              <a:rPr lang="es-BO" dirty="0"/>
            </a:br>
            <a:r>
              <a:rPr lang="es-BO" dirty="0"/>
              <a:t>2.- Establecer y mantener las vías aéreas permeables.</a:t>
            </a:r>
            <a:br>
              <a:rPr lang="es-BO" dirty="0"/>
            </a:br>
            <a:r>
              <a:rPr lang="es-BO" dirty="0"/>
              <a:t>3.- Establecer un recambio respiratorio eficaz (taponar heridas penetrantes torácicas).</a:t>
            </a:r>
            <a:br>
              <a:rPr lang="es-BO" dirty="0"/>
            </a:br>
            <a:r>
              <a:rPr lang="es-BO" dirty="0"/>
              <a:t>4.- Mantener o restablecer el volumen circulatorio.</a:t>
            </a:r>
            <a:br>
              <a:rPr lang="es-BO" dirty="0"/>
            </a:br>
            <a:r>
              <a:rPr lang="es-BO" dirty="0"/>
              <a:t>5.- Efectuar un examen físico, metódico y completo.</a:t>
            </a:r>
            <a:br>
              <a:rPr lang="es-BO" dirty="0"/>
            </a:br>
            <a:r>
              <a:rPr lang="es-BO" dirty="0"/>
              <a:t>6.- Inmovilizar las fracturas manifiestas o sospechosas y evitar la flexión de pacientes con sospecha de lesión raquídea. </a:t>
            </a:r>
            <a:br>
              <a:rPr lang="es-BO" dirty="0"/>
            </a:br>
            <a:endParaRPr lang="es-BO" dirty="0"/>
          </a:p>
        </p:txBody>
      </p:sp>
    </p:spTree>
    <p:extLst>
      <p:ext uri="{BB962C8B-B14F-4D97-AF65-F5344CB8AC3E}">
        <p14:creationId xmlns:p14="http://schemas.microsoft.com/office/powerpoint/2010/main" val="4265832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Cuidados de enfermería </a:t>
            </a:r>
            <a:endParaRPr lang="es-BO" dirty="0"/>
          </a:p>
        </p:txBody>
      </p:sp>
      <p:sp>
        <p:nvSpPr>
          <p:cNvPr id="3" name="2 Marcador de contenido"/>
          <p:cNvSpPr>
            <a:spLocks noGrp="1"/>
          </p:cNvSpPr>
          <p:nvPr>
            <p:ph idx="1"/>
          </p:nvPr>
        </p:nvSpPr>
        <p:spPr/>
        <p:txBody>
          <a:bodyPr/>
          <a:lstStyle/>
          <a:p>
            <a:r>
              <a:rPr lang="es-BO" dirty="0"/>
              <a:t>7.- No movilizar al paciente de manera innecesaria. Reducir al mínimo absoluto las movilizaciones y el transporte.</a:t>
            </a:r>
            <a:br>
              <a:rPr lang="es-BO" dirty="0"/>
            </a:br>
            <a:r>
              <a:rPr lang="es-BO" dirty="0"/>
              <a:t>8.- Obtener las consultas adecuadas en pacientes con lesiones múltiples.</a:t>
            </a:r>
            <a:br>
              <a:rPr lang="es-BO" dirty="0"/>
            </a:br>
            <a:r>
              <a:rPr lang="es-BO" dirty="0"/>
              <a:t>9.- Respetar la opinión del cirujano encargado jefe, para la coordinación de las prioridades y el establecimiento del orden en que se tratarán las lesiones.</a:t>
            </a:r>
          </a:p>
          <a:p>
            <a:endParaRPr lang="es-BO" dirty="0"/>
          </a:p>
        </p:txBody>
      </p:sp>
    </p:spTree>
    <p:extLst>
      <p:ext uri="{BB962C8B-B14F-4D97-AF65-F5344CB8AC3E}">
        <p14:creationId xmlns:p14="http://schemas.microsoft.com/office/powerpoint/2010/main" val="26633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BO" dirty="0" smtClean="0"/>
              <a:t> Nemotecnia </a:t>
            </a:r>
            <a:r>
              <a:rPr lang="es-BO" dirty="0"/>
              <a:t>que orienta el </a:t>
            </a:r>
            <a:r>
              <a:rPr lang="es-BO" dirty="0" smtClean="0"/>
              <a:t>examen </a:t>
            </a:r>
            <a:endParaRPr lang="es-BO" dirty="0"/>
          </a:p>
        </p:txBody>
      </p:sp>
      <p:sp>
        <p:nvSpPr>
          <p:cNvPr id="3" name="2 Marcador de contenido"/>
          <p:cNvSpPr>
            <a:spLocks noGrp="1"/>
          </p:cNvSpPr>
          <p:nvPr>
            <p:ph idx="1"/>
          </p:nvPr>
        </p:nvSpPr>
        <p:spPr/>
        <p:txBody>
          <a:bodyPr>
            <a:normAutofit/>
          </a:bodyPr>
          <a:lstStyle/>
          <a:p>
            <a:r>
              <a:rPr lang="es-BO" b="1" dirty="0" smtClean="0"/>
              <a:t>A</a:t>
            </a:r>
            <a:r>
              <a:rPr lang="es-BO" b="1" dirty="0"/>
              <a:t>:</a:t>
            </a:r>
            <a:r>
              <a:rPr lang="es-BO" dirty="0"/>
              <a:t> Air Aire Vías Aéreas</a:t>
            </a:r>
            <a:br>
              <a:rPr lang="es-BO" dirty="0"/>
            </a:br>
            <a:r>
              <a:rPr lang="es-BO" b="1" dirty="0"/>
              <a:t>B.</a:t>
            </a:r>
            <a:r>
              <a:rPr lang="es-BO" dirty="0"/>
              <a:t> </a:t>
            </a:r>
            <a:r>
              <a:rPr lang="es-BO" dirty="0" err="1"/>
              <a:t>Blood</a:t>
            </a:r>
            <a:r>
              <a:rPr lang="es-BO" dirty="0"/>
              <a:t> Sangre Hemorragias</a:t>
            </a:r>
            <a:br>
              <a:rPr lang="es-BO" dirty="0"/>
            </a:br>
            <a:r>
              <a:rPr lang="es-BO" b="1" dirty="0"/>
              <a:t>C:</a:t>
            </a:r>
            <a:r>
              <a:rPr lang="es-BO" dirty="0"/>
              <a:t> </a:t>
            </a:r>
            <a:r>
              <a:rPr lang="es-BO" dirty="0" err="1"/>
              <a:t>Conscience</a:t>
            </a:r>
            <a:r>
              <a:rPr lang="es-BO" dirty="0"/>
              <a:t> Conciencia. T.E.C. </a:t>
            </a:r>
            <a:br>
              <a:rPr lang="es-BO" dirty="0"/>
            </a:br>
            <a:r>
              <a:rPr lang="es-BO" b="1" dirty="0"/>
              <a:t>D:</a:t>
            </a:r>
            <a:r>
              <a:rPr lang="es-BO" dirty="0"/>
              <a:t> </a:t>
            </a:r>
            <a:r>
              <a:rPr lang="es-BO" dirty="0" err="1"/>
              <a:t>Digestive</a:t>
            </a:r>
            <a:r>
              <a:rPr lang="es-BO" dirty="0"/>
              <a:t> Víscera Digestiva Trauma. Digestivos </a:t>
            </a:r>
            <a:br>
              <a:rPr lang="es-BO" dirty="0"/>
            </a:br>
            <a:r>
              <a:rPr lang="es-BO" b="1" dirty="0"/>
              <a:t>E:</a:t>
            </a:r>
            <a:r>
              <a:rPr lang="es-BO" dirty="0"/>
              <a:t> </a:t>
            </a:r>
            <a:r>
              <a:rPr lang="es-BO" dirty="0" err="1"/>
              <a:t>Excretion</a:t>
            </a:r>
            <a:r>
              <a:rPr lang="es-BO" dirty="0"/>
              <a:t> Aparato Urinario Trauma. Urinarios</a:t>
            </a:r>
            <a:br>
              <a:rPr lang="es-BO" dirty="0"/>
            </a:br>
            <a:r>
              <a:rPr lang="es-BO" b="1" dirty="0"/>
              <a:t>F:</a:t>
            </a:r>
            <a:r>
              <a:rPr lang="es-BO" dirty="0"/>
              <a:t> Fracture Fracturas </a:t>
            </a:r>
            <a:r>
              <a:rPr lang="es-BO" dirty="0" err="1"/>
              <a:t>Fracturas</a:t>
            </a:r>
            <a:endParaRPr lang="es-BO" dirty="0"/>
          </a:p>
          <a:p>
            <a:pPr marL="68580" indent="0">
              <a:buNone/>
            </a:pPr>
            <a:endParaRPr lang="es-BO" dirty="0"/>
          </a:p>
          <a:p>
            <a:endParaRPr lang="es-BO" dirty="0"/>
          </a:p>
        </p:txBody>
      </p:sp>
    </p:spTree>
    <p:extLst>
      <p:ext uri="{BB962C8B-B14F-4D97-AF65-F5344CB8AC3E}">
        <p14:creationId xmlns:p14="http://schemas.microsoft.com/office/powerpoint/2010/main" val="34749570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60</TotalTime>
  <Words>687</Words>
  <Application>Microsoft Office PowerPoint</Application>
  <PresentationFormat>Presentación en pantalla (4:3)</PresentationFormat>
  <Paragraphs>41</Paragraphs>
  <Slides>18</Slides>
  <Notes>0</Notes>
  <HiddenSlides>0</HiddenSlides>
  <MMClips>0</MMClips>
  <ScaleCrop>false</ScaleCrop>
  <HeadingPairs>
    <vt:vector size="4" baseType="variant">
      <vt:variant>
        <vt:lpstr>Tema</vt:lpstr>
      </vt:variant>
      <vt:variant>
        <vt:i4>1</vt:i4>
      </vt:variant>
      <vt:variant>
        <vt:lpstr>Títulos de diapositiva</vt:lpstr>
      </vt:variant>
      <vt:variant>
        <vt:i4>18</vt:i4>
      </vt:variant>
    </vt:vector>
  </HeadingPairs>
  <TitlesOfParts>
    <vt:vector size="19" baseType="lpstr">
      <vt:lpstr>Austin</vt:lpstr>
      <vt:lpstr>URGENCIAS TRAUMAOLOGI CAS</vt:lpstr>
      <vt:lpstr>Urgencia </vt:lpstr>
      <vt:lpstr>Urgencia traumatologica </vt:lpstr>
      <vt:lpstr>Tipos de fractura </vt:lpstr>
      <vt:lpstr>Descripción de los tipos de fracturas </vt:lpstr>
      <vt:lpstr>Presentación de PowerPoint</vt:lpstr>
      <vt:lpstr>Presentación de PowerPoint</vt:lpstr>
      <vt:lpstr>Presentación de PowerPoint</vt:lpstr>
      <vt:lpstr>Presentación de PowerPoint</vt:lpstr>
      <vt:lpstr>Presentación de PowerPoint</vt:lpstr>
      <vt:lpstr>Tratamiento de la herida</vt:lpstr>
      <vt:lpstr>tratamiento</vt:lpstr>
      <vt:lpstr>Tratamiento de la fractura </vt:lpstr>
      <vt:lpstr>Objetivo final del tratamiento</vt:lpstr>
      <vt:lpstr>Fijación externa </vt:lpstr>
      <vt:lpstr>Cuidados de enfermería</vt:lpstr>
      <vt:lpstr>Cuidados de enfermería </vt:lpstr>
      <vt:lpstr> Nemotecnia que orienta el examen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URGENCIAS TRAUMAOLOGICAS</dc:title>
  <dc:creator>LILI</dc:creator>
  <cp:lastModifiedBy>LILI</cp:lastModifiedBy>
  <cp:revision>9</cp:revision>
  <dcterms:created xsi:type="dcterms:W3CDTF">2014-11-01T10:23:57Z</dcterms:created>
  <dcterms:modified xsi:type="dcterms:W3CDTF">2014-11-01T11:24:08Z</dcterms:modified>
</cp:coreProperties>
</file>