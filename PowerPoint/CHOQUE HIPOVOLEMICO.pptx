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3" r:id="rId6"/>
    <p:sldId id="264" r:id="rId7"/>
    <p:sldId id="265" r:id="rId8"/>
    <p:sldId id="266" r:id="rId9"/>
    <p:sldId id="271" r:id="rId10"/>
    <p:sldId id="261" r:id="rId11"/>
    <p:sldId id="262" r:id="rId12"/>
    <p:sldId id="272" r:id="rId13"/>
    <p:sldId id="260" r:id="rId14"/>
    <p:sldId id="267" r:id="rId15"/>
    <p:sldId id="273" r:id="rId16"/>
    <p:sldId id="274" r:id="rId17"/>
    <p:sldId id="275" r:id="rId18"/>
    <p:sldId id="276" r:id="rId19"/>
    <p:sldId id="269" r:id="rId20"/>
  </p:sldIdLst>
  <p:sldSz cx="9144000" cy="6858000" type="screen4x3"/>
  <p:notesSz cx="6858000" cy="9144000"/>
  <p:defaultTextStyle>
    <a:defPPr>
      <a:defRPr lang="es-B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41" d="100"/>
          <a:sy n="41" d="100"/>
        </p:scale>
        <p:origin x="-1272" y="-11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Ref idx="1001">
        <a:schemeClr val="bg1"/>
      </p:bgRef>
    </p:bg>
    <p:spTree>
      <p:nvGrpSpPr>
        <p:cNvPr id="1" name=""/>
        <p:cNvGrpSpPr/>
        <p:nvPr/>
      </p:nvGrpSpPr>
      <p:grpSpPr>
        <a:xfrm>
          <a:off x="0" y="0"/>
          <a:ext cx="0" cy="0"/>
          <a:chOff x="0" y="0"/>
          <a:chExt cx="0" cy="0"/>
        </a:xfrm>
      </p:grpSpPr>
      <p:sp>
        <p:nvSpPr>
          <p:cNvPr id="8" name="7 Título"/>
          <p:cNvSpPr>
            <a:spLocks noGrp="1"/>
          </p:cNvSpPr>
          <p:nvPr>
            <p:ph type="ctrTitle"/>
          </p:nvPr>
        </p:nvSpPr>
        <p:spPr>
          <a:xfrm>
            <a:off x="2286000" y="3124200"/>
            <a:ext cx="6172200" cy="1894362"/>
          </a:xfrm>
        </p:spPr>
        <p:txBody>
          <a:bodyPr/>
          <a:lstStyle>
            <a:lvl1pPr>
              <a:defRPr b="1"/>
            </a:lvl1pPr>
          </a:lstStyle>
          <a:p>
            <a:r>
              <a:rPr kumimoji="0" lang="es-ES" smtClean="0"/>
              <a:t>Haga clic para modificar el estilo de título del patrón</a:t>
            </a:r>
            <a:endParaRPr kumimoji="0" lang="en-US"/>
          </a:p>
        </p:txBody>
      </p:sp>
      <p:sp>
        <p:nvSpPr>
          <p:cNvPr id="9" name="8 Subtítulo"/>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s-ES" smtClean="0"/>
              <a:t>Haga clic para modificar el estilo de subtítulo del patrón</a:t>
            </a:r>
            <a:endParaRPr kumimoji="0" lang="en-US"/>
          </a:p>
        </p:txBody>
      </p:sp>
      <p:sp>
        <p:nvSpPr>
          <p:cNvPr id="28" name="27 Marcador de fecha"/>
          <p:cNvSpPr>
            <a:spLocks noGrp="1"/>
          </p:cNvSpPr>
          <p:nvPr>
            <p:ph type="dt" sz="half" idx="10"/>
          </p:nvPr>
        </p:nvSpPr>
        <p:spPr bwMode="auto">
          <a:xfrm rot="5400000">
            <a:off x="7764621" y="1174097"/>
            <a:ext cx="2286000" cy="381000"/>
          </a:xfrm>
        </p:spPr>
        <p:txBody>
          <a:bodyPr/>
          <a:lstStyle/>
          <a:p>
            <a:fld id="{631418B0-6BDF-4824-911E-60359F7AF904}" type="datetimeFigureOut">
              <a:rPr lang="es-BO" smtClean="0"/>
              <a:t>22/03/2014</a:t>
            </a:fld>
            <a:endParaRPr lang="es-BO"/>
          </a:p>
        </p:txBody>
      </p:sp>
      <p:sp>
        <p:nvSpPr>
          <p:cNvPr id="17" name="16 Marcador de pie de página"/>
          <p:cNvSpPr>
            <a:spLocks noGrp="1"/>
          </p:cNvSpPr>
          <p:nvPr>
            <p:ph type="ftr" sz="quarter" idx="11"/>
          </p:nvPr>
        </p:nvSpPr>
        <p:spPr bwMode="auto">
          <a:xfrm rot="5400000">
            <a:off x="7077269" y="4181669"/>
            <a:ext cx="3657600" cy="384048"/>
          </a:xfrm>
        </p:spPr>
        <p:txBody>
          <a:bodyPr/>
          <a:lstStyle/>
          <a:p>
            <a:endParaRPr lang="es-BO"/>
          </a:p>
        </p:txBody>
      </p:sp>
      <p:sp>
        <p:nvSpPr>
          <p:cNvPr id="10" name="9 Rectángulo"/>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11 Rectángulo"/>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13 Rectángulo"/>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18 Rectángulo"/>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10 Conector recto"/>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17 Conector recto"/>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19 Conector recto"/>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15 Conector recto"/>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14 Conector recto"/>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21 Conector recto"/>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26 Rectángulo"/>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20 Elipse"/>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22 Elipse"/>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23 Elipse"/>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25 Elipse"/>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24 Elipse"/>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28 Marcador de número de diapositiva"/>
          <p:cNvSpPr>
            <a:spLocks noGrp="1"/>
          </p:cNvSpPr>
          <p:nvPr>
            <p:ph type="sldNum" sz="quarter" idx="12"/>
          </p:nvPr>
        </p:nvSpPr>
        <p:spPr bwMode="auto">
          <a:xfrm>
            <a:off x="1325544" y="4928702"/>
            <a:ext cx="609600" cy="517524"/>
          </a:xfrm>
        </p:spPr>
        <p:txBody>
          <a:bodyPr/>
          <a:lstStyle/>
          <a:p>
            <a:fld id="{5E2F4CA9-72FA-470E-880F-23EA4964DE18}" type="slidenum">
              <a:rPr lang="es-BO" smtClean="0"/>
              <a:t>‹Nº›</a:t>
            </a:fld>
            <a:endParaRPr lang="es-BO"/>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8" name="7 Marcador de contenido"/>
          <p:cNvSpPr>
            <a:spLocks noGrp="1"/>
          </p:cNvSpPr>
          <p:nvPr>
            <p:ph sz="quarter" idx="1"/>
          </p:nvPr>
        </p:nvSpPr>
        <p:spPr>
          <a:xfrm>
            <a:off x="457200" y="1600200"/>
            <a:ext cx="7467600" cy="4873752"/>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7" name="6 Marcador de fecha"/>
          <p:cNvSpPr>
            <a:spLocks noGrp="1"/>
          </p:cNvSpPr>
          <p:nvPr>
            <p:ph type="dt" sz="half" idx="14"/>
          </p:nvPr>
        </p:nvSpPr>
        <p:spPr/>
        <p:txBody>
          <a:bodyPr rtlCol="0"/>
          <a:lstStyle/>
          <a:p>
            <a:fld id="{631418B0-6BDF-4824-911E-60359F7AF904}" type="datetimeFigureOut">
              <a:rPr lang="es-BO" smtClean="0"/>
              <a:t>22/03/2014</a:t>
            </a:fld>
            <a:endParaRPr lang="es-BO"/>
          </a:p>
        </p:txBody>
      </p:sp>
      <p:sp>
        <p:nvSpPr>
          <p:cNvPr id="9" name="8 Marcador de número de diapositiva"/>
          <p:cNvSpPr>
            <a:spLocks noGrp="1"/>
          </p:cNvSpPr>
          <p:nvPr>
            <p:ph type="sldNum" sz="quarter" idx="15"/>
          </p:nvPr>
        </p:nvSpPr>
        <p:spPr/>
        <p:txBody>
          <a:bodyPr rtlCol="0"/>
          <a:lstStyle/>
          <a:p>
            <a:fld id="{5E2F4CA9-72FA-470E-880F-23EA4964DE18}" type="slidenum">
              <a:rPr lang="es-BO" smtClean="0"/>
              <a:t>‹Nº›</a:t>
            </a:fld>
            <a:endParaRPr lang="es-BO"/>
          </a:p>
        </p:txBody>
      </p:sp>
      <p:sp>
        <p:nvSpPr>
          <p:cNvPr id="10" name="9 Marcador de pie de página"/>
          <p:cNvSpPr>
            <a:spLocks noGrp="1"/>
          </p:cNvSpPr>
          <p:nvPr>
            <p:ph type="ftr" sz="quarter" idx="16"/>
          </p:nvPr>
        </p:nvSpPr>
        <p:spPr/>
        <p:txBody>
          <a:bodyPr rtlCol="0"/>
          <a:lstStyle/>
          <a:p>
            <a:endParaRPr lang="es-BO"/>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Ref idx="1001">
        <a:schemeClr val="bg2"/>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2286000" y="2895600"/>
            <a:ext cx="6172200" cy="2053590"/>
          </a:xfrm>
        </p:spPr>
        <p:txBody>
          <a:bodyPr/>
          <a:lstStyle>
            <a:lvl1pPr algn="l">
              <a:buNone/>
              <a:defRPr sz="3000" b="1" cap="small" baseline="0"/>
            </a:lvl1pPr>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s-ES" smtClean="0"/>
              <a:t>Haga clic para modificar el estilo de texto del patrón</a:t>
            </a:r>
          </a:p>
        </p:txBody>
      </p:sp>
      <p:sp>
        <p:nvSpPr>
          <p:cNvPr id="4" name="3 Marcador de fecha"/>
          <p:cNvSpPr>
            <a:spLocks noGrp="1"/>
          </p:cNvSpPr>
          <p:nvPr>
            <p:ph type="dt" sz="half" idx="10"/>
          </p:nvPr>
        </p:nvSpPr>
        <p:spPr bwMode="auto">
          <a:xfrm rot="5400000">
            <a:off x="7763256" y="1170432"/>
            <a:ext cx="2286000" cy="381000"/>
          </a:xfrm>
        </p:spPr>
        <p:txBody>
          <a:bodyPr/>
          <a:lstStyle/>
          <a:p>
            <a:fld id="{631418B0-6BDF-4824-911E-60359F7AF904}" type="datetimeFigureOut">
              <a:rPr lang="es-BO" smtClean="0"/>
              <a:t>22/03/2014</a:t>
            </a:fld>
            <a:endParaRPr lang="es-BO"/>
          </a:p>
        </p:txBody>
      </p:sp>
      <p:sp>
        <p:nvSpPr>
          <p:cNvPr id="5" name="4 Marcador de pie de página"/>
          <p:cNvSpPr>
            <a:spLocks noGrp="1"/>
          </p:cNvSpPr>
          <p:nvPr>
            <p:ph type="ftr" sz="quarter" idx="11"/>
          </p:nvPr>
        </p:nvSpPr>
        <p:spPr bwMode="auto">
          <a:xfrm rot="5400000">
            <a:off x="7077456" y="4178808"/>
            <a:ext cx="3657600" cy="384048"/>
          </a:xfrm>
        </p:spPr>
        <p:txBody>
          <a:bodyPr/>
          <a:lstStyle/>
          <a:p>
            <a:endParaRPr lang="es-BO"/>
          </a:p>
        </p:txBody>
      </p:sp>
      <p:sp>
        <p:nvSpPr>
          <p:cNvPr id="9" name="8 Rectángulo"/>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9 Rectángulo"/>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10 Rectángulo"/>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11 Rectángulo"/>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12 Conector recto"/>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13 Conector recto"/>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14 Conector recto"/>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15 Conector recto"/>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16 Conector recto"/>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17 Rectángulo"/>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18 Elipse"/>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19 Elipse"/>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20 Elipse"/>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21 Elipse"/>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22 Elipse"/>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25 Conector recto"/>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5 Marcador de número de diapositiva"/>
          <p:cNvSpPr>
            <a:spLocks noGrp="1"/>
          </p:cNvSpPr>
          <p:nvPr>
            <p:ph type="sldNum" sz="quarter" idx="12"/>
          </p:nvPr>
        </p:nvSpPr>
        <p:spPr bwMode="auto">
          <a:xfrm>
            <a:off x="1340616" y="4928702"/>
            <a:ext cx="609600" cy="517524"/>
          </a:xfrm>
        </p:spPr>
        <p:txBody>
          <a:bodyPr/>
          <a:lstStyle/>
          <a:p>
            <a:fld id="{5E2F4CA9-72FA-470E-880F-23EA4964DE18}" type="slidenum">
              <a:rPr lang="es-BO" smtClean="0"/>
              <a:t>‹Nº›</a:t>
            </a:fld>
            <a:endParaRPr lang="es-BO"/>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5" name="4 Marcador de fecha"/>
          <p:cNvSpPr>
            <a:spLocks noGrp="1"/>
          </p:cNvSpPr>
          <p:nvPr>
            <p:ph type="dt" sz="half" idx="10"/>
          </p:nvPr>
        </p:nvSpPr>
        <p:spPr/>
        <p:txBody>
          <a:bodyPr/>
          <a:lstStyle/>
          <a:p>
            <a:fld id="{631418B0-6BDF-4824-911E-60359F7AF904}" type="datetimeFigureOut">
              <a:rPr lang="es-BO" smtClean="0"/>
              <a:t>22/03/2014</a:t>
            </a:fld>
            <a:endParaRPr lang="es-BO"/>
          </a:p>
        </p:txBody>
      </p:sp>
      <p:sp>
        <p:nvSpPr>
          <p:cNvPr id="6" name="5 Marcador de pie de página"/>
          <p:cNvSpPr>
            <a:spLocks noGrp="1"/>
          </p:cNvSpPr>
          <p:nvPr>
            <p:ph type="ftr" sz="quarter" idx="11"/>
          </p:nvPr>
        </p:nvSpPr>
        <p:spPr/>
        <p:txBody>
          <a:bodyPr/>
          <a:lstStyle/>
          <a:p>
            <a:endParaRPr lang="es-BO"/>
          </a:p>
        </p:txBody>
      </p:sp>
      <p:sp>
        <p:nvSpPr>
          <p:cNvPr id="7" name="6 Marcador de número de diapositiva"/>
          <p:cNvSpPr>
            <a:spLocks noGrp="1"/>
          </p:cNvSpPr>
          <p:nvPr>
            <p:ph type="sldNum" sz="quarter" idx="12"/>
          </p:nvPr>
        </p:nvSpPr>
        <p:spPr/>
        <p:txBody>
          <a:bodyPr/>
          <a:lstStyle/>
          <a:p>
            <a:fld id="{5E2F4CA9-72FA-470E-880F-23EA4964DE18}" type="slidenum">
              <a:rPr lang="es-BO" smtClean="0"/>
              <a:t>‹Nº›</a:t>
            </a:fld>
            <a:endParaRPr lang="es-BO"/>
          </a:p>
        </p:txBody>
      </p:sp>
      <p:sp>
        <p:nvSpPr>
          <p:cNvPr id="9" name="8 Marcador de contenido"/>
          <p:cNvSpPr>
            <a:spLocks noGrp="1"/>
          </p:cNvSpPr>
          <p:nvPr>
            <p:ph sz="quarter" idx="1"/>
          </p:nvPr>
        </p:nvSpPr>
        <p:spPr>
          <a:xfrm>
            <a:off x="457200" y="1600200"/>
            <a:ext cx="3657600" cy="4572000"/>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11" name="10 Marcador de contenido"/>
          <p:cNvSpPr>
            <a:spLocks noGrp="1"/>
          </p:cNvSpPr>
          <p:nvPr>
            <p:ph sz="quarter" idx="2"/>
          </p:nvPr>
        </p:nvSpPr>
        <p:spPr>
          <a:xfrm>
            <a:off x="4270248" y="1600200"/>
            <a:ext cx="3657600" cy="4572000"/>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7543800" cy="1143000"/>
          </a:xfrm>
        </p:spPr>
        <p:txBody>
          <a:bodyPr anchor="b"/>
          <a:lstStyle>
            <a:lvl1pPr>
              <a:defRPr/>
            </a:lvl1pPr>
          </a:lstStyle>
          <a:p>
            <a:r>
              <a:rPr kumimoji="0" lang="es-ES" smtClean="0"/>
              <a:t>Haga clic para modificar el estilo de título del patrón</a:t>
            </a:r>
            <a:endParaRPr kumimoji="0" lang="en-US"/>
          </a:p>
        </p:txBody>
      </p:sp>
      <p:sp>
        <p:nvSpPr>
          <p:cNvPr id="7" name="6 Marcador de fecha"/>
          <p:cNvSpPr>
            <a:spLocks noGrp="1"/>
          </p:cNvSpPr>
          <p:nvPr>
            <p:ph type="dt" sz="half" idx="10"/>
          </p:nvPr>
        </p:nvSpPr>
        <p:spPr/>
        <p:txBody>
          <a:bodyPr/>
          <a:lstStyle/>
          <a:p>
            <a:fld id="{631418B0-6BDF-4824-911E-60359F7AF904}" type="datetimeFigureOut">
              <a:rPr lang="es-BO" smtClean="0"/>
              <a:t>22/03/2014</a:t>
            </a:fld>
            <a:endParaRPr lang="es-BO"/>
          </a:p>
        </p:txBody>
      </p:sp>
      <p:sp>
        <p:nvSpPr>
          <p:cNvPr id="8" name="7 Marcador de pie de página"/>
          <p:cNvSpPr>
            <a:spLocks noGrp="1"/>
          </p:cNvSpPr>
          <p:nvPr>
            <p:ph type="ftr" sz="quarter" idx="11"/>
          </p:nvPr>
        </p:nvSpPr>
        <p:spPr/>
        <p:txBody>
          <a:bodyPr/>
          <a:lstStyle/>
          <a:p>
            <a:endParaRPr lang="es-BO"/>
          </a:p>
        </p:txBody>
      </p:sp>
      <p:sp>
        <p:nvSpPr>
          <p:cNvPr id="9" name="8 Marcador de número de diapositiva"/>
          <p:cNvSpPr>
            <a:spLocks noGrp="1"/>
          </p:cNvSpPr>
          <p:nvPr>
            <p:ph type="sldNum" sz="quarter" idx="12"/>
          </p:nvPr>
        </p:nvSpPr>
        <p:spPr/>
        <p:txBody>
          <a:bodyPr/>
          <a:lstStyle/>
          <a:p>
            <a:fld id="{5E2F4CA9-72FA-470E-880F-23EA4964DE18}" type="slidenum">
              <a:rPr lang="es-BO" smtClean="0"/>
              <a:t>‹Nº›</a:t>
            </a:fld>
            <a:endParaRPr lang="es-BO"/>
          </a:p>
        </p:txBody>
      </p:sp>
      <p:sp>
        <p:nvSpPr>
          <p:cNvPr id="11" name="10 Marcador de contenido"/>
          <p:cNvSpPr>
            <a:spLocks noGrp="1"/>
          </p:cNvSpPr>
          <p:nvPr>
            <p:ph sz="quarter" idx="2"/>
          </p:nvPr>
        </p:nvSpPr>
        <p:spPr>
          <a:xfrm>
            <a:off x="457200" y="2362200"/>
            <a:ext cx="3657600" cy="3886200"/>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13" name="12 Marcador de contenido"/>
          <p:cNvSpPr>
            <a:spLocks noGrp="1"/>
          </p:cNvSpPr>
          <p:nvPr>
            <p:ph sz="quarter" idx="4"/>
          </p:nvPr>
        </p:nvSpPr>
        <p:spPr>
          <a:xfrm>
            <a:off x="4371975" y="2362200"/>
            <a:ext cx="3657600" cy="3886200"/>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12" name="11 Marcador de texto"/>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s-ES" smtClean="0"/>
              <a:t>Haga clic para modificar el estilo de texto del patrón</a:t>
            </a:r>
          </a:p>
        </p:txBody>
      </p:sp>
      <p:sp>
        <p:nvSpPr>
          <p:cNvPr id="14" name="13 Marcador de texto"/>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s-ES" smtClean="0"/>
              <a:t>Haga clic para modificar el estilo de texto del patrón</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6" name="5 Marcador de fecha"/>
          <p:cNvSpPr>
            <a:spLocks noGrp="1"/>
          </p:cNvSpPr>
          <p:nvPr>
            <p:ph type="dt" sz="half" idx="10"/>
          </p:nvPr>
        </p:nvSpPr>
        <p:spPr/>
        <p:txBody>
          <a:bodyPr rtlCol="0"/>
          <a:lstStyle/>
          <a:p>
            <a:fld id="{631418B0-6BDF-4824-911E-60359F7AF904}" type="datetimeFigureOut">
              <a:rPr lang="es-BO" smtClean="0"/>
              <a:t>22/03/2014</a:t>
            </a:fld>
            <a:endParaRPr lang="es-BO"/>
          </a:p>
        </p:txBody>
      </p:sp>
      <p:sp>
        <p:nvSpPr>
          <p:cNvPr id="7" name="6 Marcador de número de diapositiva"/>
          <p:cNvSpPr>
            <a:spLocks noGrp="1"/>
          </p:cNvSpPr>
          <p:nvPr>
            <p:ph type="sldNum" sz="quarter" idx="11"/>
          </p:nvPr>
        </p:nvSpPr>
        <p:spPr/>
        <p:txBody>
          <a:bodyPr rtlCol="0"/>
          <a:lstStyle/>
          <a:p>
            <a:fld id="{5E2F4CA9-72FA-470E-880F-23EA4964DE18}" type="slidenum">
              <a:rPr lang="es-BO" smtClean="0"/>
              <a:t>‹Nº›</a:t>
            </a:fld>
            <a:endParaRPr lang="es-BO"/>
          </a:p>
        </p:txBody>
      </p:sp>
      <p:sp>
        <p:nvSpPr>
          <p:cNvPr id="8" name="7 Marcador de pie de página"/>
          <p:cNvSpPr>
            <a:spLocks noGrp="1"/>
          </p:cNvSpPr>
          <p:nvPr>
            <p:ph type="ftr" sz="quarter" idx="12"/>
          </p:nvPr>
        </p:nvSpPr>
        <p:spPr/>
        <p:txBody>
          <a:bodyPr rtlCol="0"/>
          <a:lstStyle/>
          <a:p>
            <a:endParaRPr lang="es-BO"/>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631418B0-6BDF-4824-911E-60359F7AF904}" type="datetimeFigureOut">
              <a:rPr lang="es-BO" smtClean="0"/>
              <a:t>22/03/2014</a:t>
            </a:fld>
            <a:endParaRPr lang="es-BO"/>
          </a:p>
        </p:txBody>
      </p:sp>
      <p:sp>
        <p:nvSpPr>
          <p:cNvPr id="3" name="2 Marcador de pie de página"/>
          <p:cNvSpPr>
            <a:spLocks noGrp="1"/>
          </p:cNvSpPr>
          <p:nvPr>
            <p:ph type="ftr" sz="quarter" idx="11"/>
          </p:nvPr>
        </p:nvSpPr>
        <p:spPr/>
        <p:txBody>
          <a:bodyPr/>
          <a:lstStyle/>
          <a:p>
            <a:endParaRPr lang="es-BO"/>
          </a:p>
        </p:txBody>
      </p:sp>
      <p:sp>
        <p:nvSpPr>
          <p:cNvPr id="4" name="3 Marcador de número de diapositiva"/>
          <p:cNvSpPr>
            <a:spLocks noGrp="1"/>
          </p:cNvSpPr>
          <p:nvPr>
            <p:ph type="sldNum" sz="quarter" idx="12"/>
          </p:nvPr>
        </p:nvSpPr>
        <p:spPr/>
        <p:txBody>
          <a:bodyPr/>
          <a:lstStyle/>
          <a:p>
            <a:fld id="{5E2F4CA9-72FA-470E-880F-23EA4964DE18}" type="slidenum">
              <a:rPr lang="es-BO" smtClean="0"/>
              <a:t>‹Nº›</a:t>
            </a:fld>
            <a:endParaRPr lang="es-BO"/>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bg>
      <p:bgRef idx="1001">
        <a:schemeClr val="bg1"/>
      </p:bgRef>
    </p:bg>
    <p:spTree>
      <p:nvGrpSpPr>
        <p:cNvPr id="1" name=""/>
        <p:cNvGrpSpPr/>
        <p:nvPr/>
      </p:nvGrpSpPr>
      <p:grpSpPr>
        <a:xfrm>
          <a:off x="0" y="0"/>
          <a:ext cx="0" cy="0"/>
          <a:chOff x="0" y="0"/>
          <a:chExt cx="0" cy="0"/>
        </a:xfrm>
      </p:grpSpPr>
      <p:sp>
        <p:nvSpPr>
          <p:cNvPr id="10" name="9 Conector recto"/>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1 Título"/>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s-ES" smtClean="0"/>
              <a:t>Haga clic para modificar el estilo de título del patrón</a:t>
            </a:r>
            <a:endParaRPr kumimoji="0" lang="en-US"/>
          </a:p>
        </p:txBody>
      </p:sp>
      <p:sp>
        <p:nvSpPr>
          <p:cNvPr id="3" name="2 Marcador de texto"/>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s-ES" smtClean="0"/>
              <a:t>Haga clic para modificar el estilo de texto del patrón</a:t>
            </a:r>
          </a:p>
        </p:txBody>
      </p:sp>
      <p:sp>
        <p:nvSpPr>
          <p:cNvPr id="8" name="7 Conector recto"/>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8 Conector recto"/>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10 Conector recto"/>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11 Rectángulo"/>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12 Conector recto"/>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13 Elipse"/>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17 Marcador de contenido"/>
          <p:cNvSpPr>
            <a:spLocks noGrp="1"/>
          </p:cNvSpPr>
          <p:nvPr>
            <p:ph sz="quarter" idx="1"/>
          </p:nvPr>
        </p:nvSpPr>
        <p:spPr>
          <a:xfrm>
            <a:off x="304800" y="274320"/>
            <a:ext cx="5638800" cy="6327648"/>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21" name="20 Marcador de fecha"/>
          <p:cNvSpPr>
            <a:spLocks noGrp="1"/>
          </p:cNvSpPr>
          <p:nvPr>
            <p:ph type="dt" sz="half" idx="14"/>
          </p:nvPr>
        </p:nvSpPr>
        <p:spPr/>
        <p:txBody>
          <a:bodyPr rtlCol="0"/>
          <a:lstStyle/>
          <a:p>
            <a:fld id="{631418B0-6BDF-4824-911E-60359F7AF904}" type="datetimeFigureOut">
              <a:rPr lang="es-BO" smtClean="0"/>
              <a:t>22/03/2014</a:t>
            </a:fld>
            <a:endParaRPr lang="es-BO"/>
          </a:p>
        </p:txBody>
      </p:sp>
      <p:sp>
        <p:nvSpPr>
          <p:cNvPr id="22" name="21 Marcador de número de diapositiva"/>
          <p:cNvSpPr>
            <a:spLocks noGrp="1"/>
          </p:cNvSpPr>
          <p:nvPr>
            <p:ph type="sldNum" sz="quarter" idx="15"/>
          </p:nvPr>
        </p:nvSpPr>
        <p:spPr/>
        <p:txBody>
          <a:bodyPr rtlCol="0"/>
          <a:lstStyle/>
          <a:p>
            <a:fld id="{5E2F4CA9-72FA-470E-880F-23EA4964DE18}" type="slidenum">
              <a:rPr lang="es-BO" smtClean="0"/>
              <a:t>‹Nº›</a:t>
            </a:fld>
            <a:endParaRPr lang="es-BO"/>
          </a:p>
        </p:txBody>
      </p:sp>
      <p:sp>
        <p:nvSpPr>
          <p:cNvPr id="23" name="22 Marcador de pie de página"/>
          <p:cNvSpPr>
            <a:spLocks noGrp="1"/>
          </p:cNvSpPr>
          <p:nvPr>
            <p:ph type="ftr" sz="quarter" idx="16"/>
          </p:nvPr>
        </p:nvSpPr>
        <p:spPr/>
        <p:txBody>
          <a:bodyPr rtlCol="0"/>
          <a:lstStyle/>
          <a:p>
            <a:endParaRPr lang="es-BO"/>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9" name="8 Conector recto"/>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12 Elipse"/>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1 Título"/>
          <p:cNvSpPr>
            <a:spLocks noGrp="1"/>
          </p:cNvSpPr>
          <p:nvPr>
            <p:ph type="title"/>
          </p:nvPr>
        </p:nvSpPr>
        <p:spPr>
          <a:xfrm rot="5400000">
            <a:off x="3350133" y="3200400"/>
            <a:ext cx="6309360" cy="457200"/>
          </a:xfrm>
        </p:spPr>
        <p:txBody>
          <a:bodyPr anchor="b"/>
          <a:lstStyle>
            <a:lvl1pPr algn="l">
              <a:buNone/>
              <a:defRPr sz="2000" b="1"/>
            </a:lvl1pPr>
          </a:lstStyle>
          <a:p>
            <a:r>
              <a:rPr kumimoji="0" lang="es-ES" smtClean="0"/>
              <a:t>Haga clic para modificar el estilo de título del patrón</a:t>
            </a:r>
            <a:endParaRPr kumimoji="0" lang="en-US"/>
          </a:p>
        </p:txBody>
      </p:sp>
      <p:sp>
        <p:nvSpPr>
          <p:cNvPr id="3" name="2 Marcador de posición de imagen"/>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s-ES" smtClean="0"/>
              <a:t>Haga clic en el icono para agregar una imagen</a:t>
            </a:r>
            <a:endParaRPr kumimoji="0" lang="en-US" dirty="0"/>
          </a:p>
        </p:txBody>
      </p:sp>
      <p:sp>
        <p:nvSpPr>
          <p:cNvPr id="4" name="3 Marcador de texto"/>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s-ES" smtClean="0"/>
              <a:t>Haga clic para modificar el estilo de texto del patrón</a:t>
            </a:r>
          </a:p>
        </p:txBody>
      </p:sp>
      <p:sp>
        <p:nvSpPr>
          <p:cNvPr id="10" name="9 Conector recto"/>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10 Rectángulo"/>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11 Conector recto"/>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18 Conector recto"/>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19 Conector recto"/>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16 Marcador de fecha"/>
          <p:cNvSpPr>
            <a:spLocks noGrp="1"/>
          </p:cNvSpPr>
          <p:nvPr>
            <p:ph type="dt" sz="half" idx="10"/>
          </p:nvPr>
        </p:nvSpPr>
        <p:spPr/>
        <p:txBody>
          <a:bodyPr rtlCol="0"/>
          <a:lstStyle/>
          <a:p>
            <a:fld id="{631418B0-6BDF-4824-911E-60359F7AF904}" type="datetimeFigureOut">
              <a:rPr lang="es-BO" smtClean="0"/>
              <a:t>22/03/2014</a:t>
            </a:fld>
            <a:endParaRPr lang="es-BO"/>
          </a:p>
        </p:txBody>
      </p:sp>
      <p:sp>
        <p:nvSpPr>
          <p:cNvPr id="18" name="17 Marcador de número de diapositiva"/>
          <p:cNvSpPr>
            <a:spLocks noGrp="1"/>
          </p:cNvSpPr>
          <p:nvPr>
            <p:ph type="sldNum" sz="quarter" idx="11"/>
          </p:nvPr>
        </p:nvSpPr>
        <p:spPr/>
        <p:txBody>
          <a:bodyPr rtlCol="0"/>
          <a:lstStyle/>
          <a:p>
            <a:fld id="{5E2F4CA9-72FA-470E-880F-23EA4964DE18}" type="slidenum">
              <a:rPr lang="es-BO" smtClean="0"/>
              <a:t>‹Nº›</a:t>
            </a:fld>
            <a:endParaRPr lang="es-BO"/>
          </a:p>
        </p:txBody>
      </p:sp>
      <p:sp>
        <p:nvSpPr>
          <p:cNvPr id="21" name="20 Marcador de pie de página"/>
          <p:cNvSpPr>
            <a:spLocks noGrp="1"/>
          </p:cNvSpPr>
          <p:nvPr>
            <p:ph type="ftr" sz="quarter" idx="12"/>
          </p:nvPr>
        </p:nvSpPr>
        <p:spPr/>
        <p:txBody>
          <a:bodyPr rtlCol="0"/>
          <a:lstStyle/>
          <a:p>
            <a:endParaRPr lang="es-BO"/>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631418B0-6BDF-4824-911E-60359F7AF904}" type="datetimeFigureOut">
              <a:rPr lang="es-BO" smtClean="0"/>
              <a:t>22/03/2014</a:t>
            </a:fld>
            <a:endParaRPr lang="es-BO"/>
          </a:p>
        </p:txBody>
      </p:sp>
      <p:sp>
        <p:nvSpPr>
          <p:cNvPr id="5" name="4 Marcador de pie de página"/>
          <p:cNvSpPr>
            <a:spLocks noGrp="1"/>
          </p:cNvSpPr>
          <p:nvPr>
            <p:ph type="ftr" sz="quarter" idx="11"/>
          </p:nvPr>
        </p:nvSpPr>
        <p:spPr/>
        <p:txBody>
          <a:bodyPr/>
          <a:lstStyle/>
          <a:p>
            <a:endParaRPr lang="es-BO"/>
          </a:p>
        </p:txBody>
      </p:sp>
      <p:sp>
        <p:nvSpPr>
          <p:cNvPr id="6" name="5 Marcador de número de diapositiva"/>
          <p:cNvSpPr>
            <a:spLocks noGrp="1"/>
          </p:cNvSpPr>
          <p:nvPr>
            <p:ph type="sldNum" sz="quarter" idx="12"/>
          </p:nvPr>
        </p:nvSpPr>
        <p:spPr/>
        <p:txBody>
          <a:bodyPr/>
          <a:lstStyle/>
          <a:p>
            <a:fld id="{5E2F4CA9-72FA-470E-880F-23EA4964DE18}" type="slidenum">
              <a:rPr lang="es-BO" smtClean="0"/>
              <a:t>‹Nº›</a:t>
            </a:fld>
            <a:endParaRPr lang="es-BO"/>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9"/>
            <a:ext cx="1676400" cy="5851525"/>
          </a:xfrm>
        </p:spPr>
        <p:txBody>
          <a:bodyPr vert="eaVert"/>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a:xfrm>
            <a:off x="457200" y="274638"/>
            <a:ext cx="6019800" cy="5851525"/>
          </a:xfrm>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631418B0-6BDF-4824-911E-60359F7AF904}" type="datetimeFigureOut">
              <a:rPr lang="es-BO" smtClean="0"/>
              <a:t>22/03/2014</a:t>
            </a:fld>
            <a:endParaRPr lang="es-BO"/>
          </a:p>
        </p:txBody>
      </p:sp>
      <p:sp>
        <p:nvSpPr>
          <p:cNvPr id="5" name="4 Marcador de pie de página"/>
          <p:cNvSpPr>
            <a:spLocks noGrp="1"/>
          </p:cNvSpPr>
          <p:nvPr>
            <p:ph type="ftr" sz="quarter" idx="11"/>
          </p:nvPr>
        </p:nvSpPr>
        <p:spPr/>
        <p:txBody>
          <a:bodyPr/>
          <a:lstStyle/>
          <a:p>
            <a:endParaRPr lang="es-BO"/>
          </a:p>
        </p:txBody>
      </p:sp>
      <p:sp>
        <p:nvSpPr>
          <p:cNvPr id="6" name="5 Marcador de número de diapositiva"/>
          <p:cNvSpPr>
            <a:spLocks noGrp="1"/>
          </p:cNvSpPr>
          <p:nvPr>
            <p:ph type="sldNum" sz="quarter" idx="12"/>
          </p:nvPr>
        </p:nvSpPr>
        <p:spPr/>
        <p:txBody>
          <a:bodyPr/>
          <a:lstStyle/>
          <a:p>
            <a:fld id="{5E2F4CA9-72FA-470E-880F-23EA4964DE18}" type="slidenum">
              <a:rPr lang="es-BO" smtClean="0"/>
              <a:t>‹Nº›</a:t>
            </a:fld>
            <a:endParaRPr lang="es-BO"/>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15 Conector recto"/>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21 Marcador de título"/>
          <p:cNvSpPr>
            <a:spLocks noGrp="1"/>
          </p:cNvSpPr>
          <p:nvPr>
            <p:ph type="title"/>
          </p:nvPr>
        </p:nvSpPr>
        <p:spPr>
          <a:xfrm>
            <a:off x="457200" y="274638"/>
            <a:ext cx="7467600" cy="1143000"/>
          </a:xfrm>
          <a:prstGeom prst="rect">
            <a:avLst/>
          </a:prstGeom>
        </p:spPr>
        <p:txBody>
          <a:bodyPr vert="horz" anchor="b">
            <a:normAutofit/>
          </a:bodyPr>
          <a:lstStyle/>
          <a:p>
            <a:r>
              <a:rPr kumimoji="0" lang="es-ES" smtClean="0"/>
              <a:t>Haga clic para modificar el estilo de título del patrón</a:t>
            </a:r>
            <a:endParaRPr kumimoji="0" lang="en-US"/>
          </a:p>
        </p:txBody>
      </p:sp>
      <p:sp>
        <p:nvSpPr>
          <p:cNvPr id="13" name="12 Marcador de texto"/>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s-ES" smtClean="0"/>
              <a:t>Haga clic para modificar el estilo de texto del patrón</a:t>
            </a:r>
          </a:p>
          <a:p>
            <a:pPr lvl="1" eaLnBrk="1" latinLnBrk="0" hangingPunct="1"/>
            <a:r>
              <a:rPr kumimoji="0" lang="es-ES" smtClean="0"/>
              <a:t>Segundo nivel</a:t>
            </a:r>
          </a:p>
          <a:p>
            <a:pPr lvl="2" eaLnBrk="1" latinLnBrk="0" hangingPunct="1"/>
            <a:r>
              <a:rPr kumimoji="0" lang="es-ES" smtClean="0"/>
              <a:t>Tercer nivel</a:t>
            </a:r>
          </a:p>
          <a:p>
            <a:pPr lvl="3" eaLnBrk="1" latinLnBrk="0" hangingPunct="1"/>
            <a:r>
              <a:rPr kumimoji="0" lang="es-ES" smtClean="0"/>
              <a:t>Cuarto nivel</a:t>
            </a:r>
          </a:p>
          <a:p>
            <a:pPr lvl="4" eaLnBrk="1" latinLnBrk="0" hangingPunct="1"/>
            <a:r>
              <a:rPr kumimoji="0" lang="es-ES" smtClean="0"/>
              <a:t>Quinto nivel</a:t>
            </a:r>
            <a:endParaRPr kumimoji="0" lang="en-US"/>
          </a:p>
        </p:txBody>
      </p:sp>
      <p:sp>
        <p:nvSpPr>
          <p:cNvPr id="14" name="13 Marcador de fecha"/>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631418B0-6BDF-4824-911E-60359F7AF904}" type="datetimeFigureOut">
              <a:rPr lang="es-BO" smtClean="0"/>
              <a:t>22/03/2014</a:t>
            </a:fld>
            <a:endParaRPr lang="es-BO"/>
          </a:p>
        </p:txBody>
      </p:sp>
      <p:sp>
        <p:nvSpPr>
          <p:cNvPr id="3" name="2 Marcador de pie de página"/>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s-BO"/>
          </a:p>
        </p:txBody>
      </p:sp>
      <p:sp>
        <p:nvSpPr>
          <p:cNvPr id="7" name="6 Conector recto"/>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8 Conector recto"/>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9 Rectángulo"/>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10 Conector recto"/>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11 Elipse"/>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22 Marcador de número de diapositiva"/>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5E2F4CA9-72FA-470E-880F-23EA4964DE18}" type="slidenum">
              <a:rPr lang="es-BO" smtClean="0"/>
              <a:t>‹Nº›</a:t>
            </a:fld>
            <a:endParaRPr lang="es-BO"/>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lstStyle/>
          <a:p>
            <a:r>
              <a:rPr lang="es-BO" dirty="0" smtClean="0"/>
              <a:t>CHOQUE HIPOVOLEMICO</a:t>
            </a:r>
            <a:endParaRPr lang="es-BO" dirty="0"/>
          </a:p>
        </p:txBody>
      </p:sp>
      <p:sp>
        <p:nvSpPr>
          <p:cNvPr id="3" name="2 Subtítulo"/>
          <p:cNvSpPr>
            <a:spLocks noGrp="1"/>
          </p:cNvSpPr>
          <p:nvPr>
            <p:ph type="subTitle" idx="1"/>
          </p:nvPr>
        </p:nvSpPr>
        <p:spPr/>
        <p:txBody>
          <a:bodyPr/>
          <a:lstStyle/>
          <a:p>
            <a:endParaRPr lang="es-BO"/>
          </a:p>
        </p:txBody>
      </p:sp>
    </p:spTree>
    <p:extLst>
      <p:ext uri="{BB962C8B-B14F-4D97-AF65-F5344CB8AC3E}">
        <p14:creationId xmlns:p14="http://schemas.microsoft.com/office/powerpoint/2010/main" val="16831423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dirty="0" smtClean="0"/>
              <a:t>DEFINICION </a:t>
            </a:r>
            <a:endParaRPr lang="es-BO" dirty="0"/>
          </a:p>
        </p:txBody>
      </p:sp>
      <p:sp>
        <p:nvSpPr>
          <p:cNvPr id="3" name="2 Marcador de contenido"/>
          <p:cNvSpPr>
            <a:spLocks noGrp="1"/>
          </p:cNvSpPr>
          <p:nvPr>
            <p:ph sz="quarter" idx="1"/>
          </p:nvPr>
        </p:nvSpPr>
        <p:spPr/>
        <p:txBody>
          <a:bodyPr>
            <a:normAutofit/>
          </a:bodyPr>
          <a:lstStyle/>
          <a:p>
            <a:r>
              <a:rPr lang="es-BO" dirty="0"/>
              <a:t>El </a:t>
            </a:r>
            <a:r>
              <a:rPr lang="es-BO" b="1" dirty="0"/>
              <a:t>choque hipovolémico</a:t>
            </a:r>
            <a:r>
              <a:rPr lang="es-BO" dirty="0"/>
              <a:t>, a menudo llamado </a:t>
            </a:r>
            <a:r>
              <a:rPr lang="es-BO" i="1" dirty="0"/>
              <a:t>shock hemorrágico</a:t>
            </a:r>
            <a:r>
              <a:rPr lang="es-BO" dirty="0"/>
              <a:t>, es un síndrome complejo que se desarrolla cuando el volumen sanguíneo circulante baja a tal punto que el corazón se vuelve incapaz de bombear suficiente sangre al cuerpo. Es un estado clínico en el cual la cantidad de sangre que llega a las células es insuficiente para que estas puedan realizar sus funciones. </a:t>
            </a:r>
          </a:p>
          <a:p>
            <a:r>
              <a:rPr lang="es-BO" dirty="0"/>
              <a:t>El término </a:t>
            </a:r>
            <a:r>
              <a:rPr lang="es-BO" i="1" dirty="0"/>
              <a:t>hipovolemia</a:t>
            </a:r>
            <a:r>
              <a:rPr lang="es-BO" dirty="0"/>
              <a:t> significa disminución del volumen, en este caso, </a:t>
            </a:r>
            <a:r>
              <a:rPr lang="es-BO" dirty="0" smtClean="0"/>
              <a:t>sanguíneo.</a:t>
            </a:r>
            <a:endParaRPr lang="es-BO" dirty="0"/>
          </a:p>
        </p:txBody>
      </p:sp>
    </p:spTree>
    <p:extLst>
      <p:ext uri="{BB962C8B-B14F-4D97-AF65-F5344CB8AC3E}">
        <p14:creationId xmlns:p14="http://schemas.microsoft.com/office/powerpoint/2010/main" val="17704511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BO" b="1" dirty="0" smtClean="0"/>
              <a:t>Síntomas</a:t>
            </a:r>
            <a:endParaRPr lang="es-BO" dirty="0"/>
          </a:p>
        </p:txBody>
      </p:sp>
      <p:sp>
        <p:nvSpPr>
          <p:cNvPr id="3" name="2 Marcador de contenido"/>
          <p:cNvSpPr>
            <a:spLocks noGrp="1"/>
          </p:cNvSpPr>
          <p:nvPr>
            <p:ph sz="quarter" idx="1"/>
          </p:nvPr>
        </p:nvSpPr>
        <p:spPr/>
        <p:txBody>
          <a:bodyPr>
            <a:normAutofit fontScale="92500" lnSpcReduction="20000"/>
          </a:bodyPr>
          <a:lstStyle/>
          <a:p>
            <a:pPr lvl="0"/>
            <a:r>
              <a:rPr lang="es-BO" dirty="0" smtClean="0"/>
              <a:t>Ansiedad</a:t>
            </a:r>
            <a:r>
              <a:rPr lang="es-BO" dirty="0"/>
              <a:t>, inquietud, o estado </a:t>
            </a:r>
            <a:r>
              <a:rPr lang="es-BO" dirty="0" smtClean="0"/>
              <a:t>mental </a:t>
            </a:r>
            <a:r>
              <a:rPr lang="es-BO" dirty="0"/>
              <a:t>alterado debido a baja perfusión cerebral y consiguiente hipoxia.</a:t>
            </a:r>
          </a:p>
          <a:p>
            <a:pPr lvl="0"/>
            <a:r>
              <a:rPr lang="es-BO" dirty="0"/>
              <a:t>Baja presión arterial debida a escaso volumen sanguíneo circulante</a:t>
            </a:r>
          </a:p>
          <a:p>
            <a:pPr lvl="0"/>
            <a:r>
              <a:rPr lang="es-BO" dirty="0"/>
              <a:t>Pulso débil y rápido</a:t>
            </a:r>
          </a:p>
          <a:p>
            <a:pPr lvl="0"/>
            <a:r>
              <a:rPr lang="es-BO" dirty="0"/>
              <a:t>Piel fría por vasoconstricción y palidez cutánea.</a:t>
            </a:r>
          </a:p>
          <a:p>
            <a:pPr lvl="0"/>
            <a:r>
              <a:rPr lang="es-BO" dirty="0"/>
              <a:t>Respiraciones rápidas por estimulación del sistema nervioso simpático y acidosis</a:t>
            </a:r>
          </a:p>
          <a:p>
            <a:pPr lvl="0"/>
            <a:r>
              <a:rPr lang="es-BO" dirty="0" smtClean="0"/>
              <a:t>Hipotermia</a:t>
            </a:r>
            <a:endParaRPr lang="es-BO" dirty="0"/>
          </a:p>
          <a:p>
            <a:pPr lvl="0"/>
            <a:r>
              <a:rPr lang="es-BO" dirty="0" smtClean="0"/>
              <a:t>Sed y </a:t>
            </a:r>
            <a:r>
              <a:rPr lang="es-BO" dirty="0"/>
              <a:t>boca seca por falta de líquidos</a:t>
            </a:r>
          </a:p>
          <a:p>
            <a:pPr lvl="0"/>
            <a:r>
              <a:rPr lang="es-BO" dirty="0"/>
              <a:t>Fatiga por falta de oxigenación</a:t>
            </a:r>
          </a:p>
          <a:p>
            <a:pPr lvl="0"/>
            <a:r>
              <a:rPr lang="es-BO" dirty="0"/>
              <a:t>Piel fría, especialmente extremidades, por insuficiente perfusión</a:t>
            </a:r>
          </a:p>
          <a:p>
            <a:pPr lvl="0"/>
            <a:r>
              <a:rPr lang="es-BO" dirty="0"/>
              <a:t>Mirada distraída</a:t>
            </a:r>
          </a:p>
          <a:p>
            <a:endParaRPr lang="es-BO" dirty="0"/>
          </a:p>
        </p:txBody>
      </p:sp>
    </p:spTree>
    <p:extLst>
      <p:ext uri="{BB962C8B-B14F-4D97-AF65-F5344CB8AC3E}">
        <p14:creationId xmlns:p14="http://schemas.microsoft.com/office/powerpoint/2010/main" val="24171333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BO" b="1" dirty="0" smtClean="0"/>
              <a:t>Patogenia</a:t>
            </a:r>
            <a:endParaRPr lang="es-BO" dirty="0"/>
          </a:p>
        </p:txBody>
      </p:sp>
      <p:sp>
        <p:nvSpPr>
          <p:cNvPr id="3" name="2 Marcador de contenido"/>
          <p:cNvSpPr>
            <a:spLocks noGrp="1"/>
          </p:cNvSpPr>
          <p:nvPr>
            <p:ph sz="quarter" idx="1"/>
          </p:nvPr>
        </p:nvSpPr>
        <p:spPr/>
        <p:txBody>
          <a:bodyPr/>
          <a:lstStyle/>
          <a:p>
            <a:r>
              <a:rPr lang="es-BO" dirty="0" smtClean="0"/>
              <a:t>El </a:t>
            </a:r>
            <a:r>
              <a:rPr lang="es-BO" dirty="0"/>
              <a:t>cuerpo humano responde ante una hemorragia aguda con la activación de los principales sistemas fisiológicos: </a:t>
            </a:r>
            <a:endParaRPr lang="es-BO" dirty="0" smtClean="0"/>
          </a:p>
          <a:p>
            <a:pPr>
              <a:buFont typeface="Wingdings" panose="05000000000000000000" pitchFamily="2" charset="2"/>
              <a:buChar char="ü"/>
            </a:pPr>
            <a:r>
              <a:rPr lang="es-BO" dirty="0" smtClean="0"/>
              <a:t>la </a:t>
            </a:r>
            <a:r>
              <a:rPr lang="es-BO" dirty="0"/>
              <a:t>hematológica</a:t>
            </a:r>
            <a:r>
              <a:rPr lang="es-BO" dirty="0" smtClean="0"/>
              <a:t>,</a:t>
            </a:r>
          </a:p>
          <a:p>
            <a:pPr>
              <a:buFont typeface="Wingdings" panose="05000000000000000000" pitchFamily="2" charset="2"/>
              <a:buChar char="ü"/>
            </a:pPr>
            <a:r>
              <a:rPr lang="es-BO" dirty="0" smtClean="0"/>
              <a:t> </a:t>
            </a:r>
            <a:r>
              <a:rPr lang="es-BO" dirty="0"/>
              <a:t>cardiovascular, </a:t>
            </a:r>
            <a:endParaRPr lang="es-BO" dirty="0" smtClean="0"/>
          </a:p>
          <a:p>
            <a:pPr>
              <a:buFont typeface="Wingdings" panose="05000000000000000000" pitchFamily="2" charset="2"/>
              <a:buChar char="ü"/>
            </a:pPr>
            <a:r>
              <a:rPr lang="es-BO" dirty="0" smtClean="0"/>
              <a:t>renal</a:t>
            </a:r>
            <a:r>
              <a:rPr lang="es-BO" dirty="0"/>
              <a:t>, </a:t>
            </a:r>
            <a:r>
              <a:rPr lang="es-BO" dirty="0" smtClean="0"/>
              <a:t>y</a:t>
            </a:r>
          </a:p>
          <a:p>
            <a:pPr>
              <a:buFont typeface="Wingdings" panose="05000000000000000000" pitchFamily="2" charset="2"/>
              <a:buChar char="ü"/>
            </a:pPr>
            <a:r>
              <a:rPr lang="es-BO" dirty="0" smtClean="0"/>
              <a:t> </a:t>
            </a:r>
            <a:r>
              <a:rPr lang="es-BO" dirty="0"/>
              <a:t>los sistemas neuroendocrinos</a:t>
            </a:r>
          </a:p>
        </p:txBody>
      </p:sp>
    </p:spTree>
    <p:extLst>
      <p:ext uri="{BB962C8B-B14F-4D97-AF65-F5344CB8AC3E}">
        <p14:creationId xmlns:p14="http://schemas.microsoft.com/office/powerpoint/2010/main" val="15277466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b="1" dirty="0"/>
              <a:t>Respuesta hematológica</a:t>
            </a:r>
            <a:endParaRPr lang="es-BO" dirty="0"/>
          </a:p>
        </p:txBody>
      </p:sp>
      <p:sp>
        <p:nvSpPr>
          <p:cNvPr id="3" name="2 Marcador de contenido"/>
          <p:cNvSpPr>
            <a:spLocks noGrp="1"/>
          </p:cNvSpPr>
          <p:nvPr>
            <p:ph sz="quarter" idx="1"/>
          </p:nvPr>
        </p:nvSpPr>
        <p:spPr/>
        <p:txBody>
          <a:bodyPr/>
          <a:lstStyle/>
          <a:p>
            <a:r>
              <a:rPr lang="es-BO" dirty="0" smtClean="0"/>
              <a:t>La </a:t>
            </a:r>
            <a:r>
              <a:rPr lang="es-BO" dirty="0"/>
              <a:t>respuesta del sistema hematológico ante una pérdida de sangre aguda y grave se basa en la activación de la cascada de coagulación y la vasoconstricción de vasos sanguíneos sangrantes, fundamentalmente por medio de la liberación local de tromboxano A2. Además, se activan las plaquetas, también bajo la dirección de la liberación local de tromboxano A2, y se forma un coágulo inmaduro en el sitio del sangrado</a:t>
            </a:r>
          </a:p>
        </p:txBody>
      </p:sp>
    </p:spTree>
    <p:extLst>
      <p:ext uri="{BB962C8B-B14F-4D97-AF65-F5344CB8AC3E}">
        <p14:creationId xmlns:p14="http://schemas.microsoft.com/office/powerpoint/2010/main" val="42775942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b="1" dirty="0"/>
              <a:t>Respuesta cardiovascular</a:t>
            </a:r>
            <a:endParaRPr lang="es-BO" dirty="0"/>
          </a:p>
        </p:txBody>
      </p:sp>
      <p:sp>
        <p:nvSpPr>
          <p:cNvPr id="3" name="2 Marcador de contenido"/>
          <p:cNvSpPr>
            <a:spLocks noGrp="1"/>
          </p:cNvSpPr>
          <p:nvPr>
            <p:ph sz="quarter" idx="1"/>
          </p:nvPr>
        </p:nvSpPr>
        <p:spPr/>
        <p:txBody>
          <a:bodyPr/>
          <a:lstStyle/>
          <a:p>
            <a:r>
              <a:rPr lang="es-BO" dirty="0" smtClean="0"/>
              <a:t>Inicialmente</a:t>
            </a:r>
            <a:r>
              <a:rPr lang="es-BO" dirty="0"/>
              <a:t>, el sistema cardiovascular responde ante un choque hipovolémico con el aumento de la frecuencia cardíaca, aumento de la contractilidad miocárdica, y la vasoconstricción de vasos sanguíneos periféricos. Esta respuesta se produce como consecuencia a un aumento en la liberación de noradrenalina y la disminución del tono </a:t>
            </a:r>
            <a:r>
              <a:rPr lang="es-BO" dirty="0" err="1"/>
              <a:t>vagal</a:t>
            </a:r>
            <a:r>
              <a:rPr lang="es-BO" dirty="0"/>
              <a:t>, regulada por los </a:t>
            </a:r>
            <a:r>
              <a:rPr lang="es-BO" dirty="0" err="1"/>
              <a:t>baroreceptores</a:t>
            </a:r>
            <a:r>
              <a:rPr lang="es-BO" dirty="0"/>
              <a:t> en el cayado aórtico, seno </a:t>
            </a:r>
            <a:r>
              <a:rPr lang="es-BO" dirty="0" err="1"/>
              <a:t>carotídeo</a:t>
            </a:r>
            <a:r>
              <a:rPr lang="es-BO" dirty="0"/>
              <a:t>, </a:t>
            </a:r>
            <a:r>
              <a:rPr lang="es-BO" dirty="0" smtClean="0"/>
              <a:t>aurícula izquierda}, </a:t>
            </a:r>
            <a:r>
              <a:rPr lang="es-BO" dirty="0"/>
              <a:t>y los vasos pulmonares</a:t>
            </a:r>
          </a:p>
        </p:txBody>
      </p:sp>
    </p:spTree>
    <p:extLst>
      <p:ext uri="{BB962C8B-B14F-4D97-AF65-F5344CB8AC3E}">
        <p14:creationId xmlns:p14="http://schemas.microsoft.com/office/powerpoint/2010/main" val="1797188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b="1" dirty="0"/>
              <a:t>Respuesta </a:t>
            </a:r>
            <a:r>
              <a:rPr lang="es-BO" b="1" dirty="0" smtClean="0"/>
              <a:t>renal</a:t>
            </a:r>
            <a:endParaRPr lang="es-BO" dirty="0"/>
          </a:p>
        </p:txBody>
      </p:sp>
      <p:sp>
        <p:nvSpPr>
          <p:cNvPr id="3" name="2 Marcador de contenido"/>
          <p:cNvSpPr>
            <a:spLocks noGrp="1"/>
          </p:cNvSpPr>
          <p:nvPr>
            <p:ph sz="quarter" idx="1"/>
          </p:nvPr>
        </p:nvSpPr>
        <p:spPr/>
        <p:txBody>
          <a:bodyPr/>
          <a:lstStyle/>
          <a:p>
            <a:r>
              <a:rPr lang="es-BO" dirty="0" smtClean="0"/>
              <a:t>El </a:t>
            </a:r>
            <a:r>
              <a:rPr lang="es-BO" dirty="0"/>
              <a:t>sistema renal responde ante un choque hemorrágico con la estimulación de un aumento en la secreción de renina del aparato </a:t>
            </a:r>
            <a:r>
              <a:rPr lang="es-BO" dirty="0" err="1"/>
              <a:t>yuxtaglomerular</a:t>
            </a:r>
            <a:r>
              <a:rPr lang="es-BO" dirty="0"/>
              <a:t>. La renina convierte al </a:t>
            </a:r>
            <a:r>
              <a:rPr lang="es-BO" dirty="0" err="1"/>
              <a:t>angiotensinógeno</a:t>
            </a:r>
            <a:r>
              <a:rPr lang="es-BO" dirty="0"/>
              <a:t> en angiotensina I, que posteriormente es convertida a angiotensina II en los pulmones y el </a:t>
            </a:r>
            <a:r>
              <a:rPr lang="es-BO" dirty="0" smtClean="0"/>
              <a:t>hígado.</a:t>
            </a:r>
            <a:endParaRPr lang="es-BO" dirty="0"/>
          </a:p>
        </p:txBody>
      </p:sp>
    </p:spTree>
    <p:extLst>
      <p:ext uri="{BB962C8B-B14F-4D97-AF65-F5344CB8AC3E}">
        <p14:creationId xmlns:p14="http://schemas.microsoft.com/office/powerpoint/2010/main" val="7764937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b="1" dirty="0"/>
              <a:t>Respuesta </a:t>
            </a:r>
            <a:r>
              <a:rPr lang="es-BO" b="1" dirty="0" err="1" smtClean="0"/>
              <a:t>neuro</a:t>
            </a:r>
            <a:r>
              <a:rPr lang="es-BO" b="1" dirty="0" smtClean="0"/>
              <a:t>-endocrina</a:t>
            </a:r>
            <a:endParaRPr lang="es-BO" dirty="0"/>
          </a:p>
        </p:txBody>
      </p:sp>
      <p:sp>
        <p:nvSpPr>
          <p:cNvPr id="3" name="2 Marcador de contenido"/>
          <p:cNvSpPr>
            <a:spLocks noGrp="1"/>
          </p:cNvSpPr>
          <p:nvPr>
            <p:ph sz="quarter" idx="1"/>
          </p:nvPr>
        </p:nvSpPr>
        <p:spPr/>
        <p:txBody>
          <a:bodyPr/>
          <a:lstStyle/>
          <a:p>
            <a:r>
              <a:rPr lang="es-BO" dirty="0" smtClean="0"/>
              <a:t>El </a:t>
            </a:r>
            <a:r>
              <a:rPr lang="es-BO" dirty="0"/>
              <a:t>sistema neuroendocrino responde ante el choque hemorrágico, provocando un aumento de circulante de hormona antidiurética(ADH). El ADH se libera de la glándula pituitaria posterior en respuesta a una disminución de la </a:t>
            </a:r>
            <a:r>
              <a:rPr lang="es-BO" dirty="0" smtClean="0"/>
              <a:t>tensión </a:t>
            </a:r>
            <a:r>
              <a:rPr lang="es-BO" dirty="0"/>
              <a:t>arterial, detectados por </a:t>
            </a:r>
            <a:r>
              <a:rPr lang="es-BO" dirty="0" err="1"/>
              <a:t>barorreceptores</a:t>
            </a:r>
            <a:r>
              <a:rPr lang="es-BO" dirty="0"/>
              <a:t>, y una disminución en la concentración de sodio, detectados por </a:t>
            </a:r>
            <a:r>
              <a:rPr lang="es-BO" dirty="0" err="1"/>
              <a:t>osmorreceptores</a:t>
            </a:r>
            <a:endParaRPr lang="es-BO" dirty="0"/>
          </a:p>
        </p:txBody>
      </p:sp>
    </p:spTree>
    <p:extLst>
      <p:ext uri="{BB962C8B-B14F-4D97-AF65-F5344CB8AC3E}">
        <p14:creationId xmlns:p14="http://schemas.microsoft.com/office/powerpoint/2010/main" val="10645677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ES"/>
          </a:p>
        </p:txBody>
      </p:sp>
      <p:pic>
        <p:nvPicPr>
          <p:cNvPr id="4101" name="Picture 5"/>
          <p:cNvPicPr>
            <a:picLocks noGrp="1" noChangeAspect="1" noChangeArrowheads="1"/>
          </p:cNvPicPr>
          <p:nvPr>
            <p:ph idx="1"/>
          </p:nvPr>
        </p:nvPicPr>
        <p:blipFill>
          <a:blip r:embed="rId2"/>
          <a:srcRect/>
          <a:stretch>
            <a:fillRect/>
          </a:stretch>
        </p:blipFill>
        <p:spPr bwMode="auto">
          <a:xfrm>
            <a:off x="357158" y="571481"/>
            <a:ext cx="8358245" cy="5753120"/>
          </a:xfrm>
          <a:prstGeom prst="rect">
            <a:avLst/>
          </a:prstGeom>
          <a:noFill/>
          <a:ln w="9525">
            <a:noFill/>
            <a:miter lim="800000"/>
            <a:headEnd/>
            <a:tailEnd/>
          </a:ln>
          <a:effectLst/>
        </p:spPr>
      </p:pic>
    </p:spTree>
    <p:extLst>
      <p:ext uri="{BB962C8B-B14F-4D97-AF65-F5344CB8AC3E}">
        <p14:creationId xmlns:p14="http://schemas.microsoft.com/office/powerpoint/2010/main" val="15586650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b="1" dirty="0" smtClean="0"/>
              <a:t>Diagnóstico</a:t>
            </a:r>
            <a:endParaRPr lang="es-BO" dirty="0"/>
          </a:p>
        </p:txBody>
      </p:sp>
      <p:sp>
        <p:nvSpPr>
          <p:cNvPr id="3" name="2 Marcador de contenido"/>
          <p:cNvSpPr>
            <a:spLocks noGrp="1"/>
          </p:cNvSpPr>
          <p:nvPr>
            <p:ph sz="quarter" idx="1"/>
          </p:nvPr>
        </p:nvSpPr>
        <p:spPr/>
        <p:txBody>
          <a:bodyPr>
            <a:normAutofit/>
          </a:bodyPr>
          <a:lstStyle/>
          <a:p>
            <a:r>
              <a:rPr lang="es-BO" b="1" dirty="0" smtClean="0"/>
              <a:t>Exámenes </a:t>
            </a:r>
            <a:r>
              <a:rPr lang="es-BO" b="1" dirty="0"/>
              <a:t>de laboratorio</a:t>
            </a:r>
            <a:endParaRPr lang="es-BO" dirty="0"/>
          </a:p>
          <a:p>
            <a:r>
              <a:rPr lang="es-BO" dirty="0"/>
              <a:t>Los estudios iniciales de laboratorio suelen incluir el análisis del hemograma, los niveles de electrolitos</a:t>
            </a:r>
            <a:r>
              <a:rPr lang="es-BO" dirty="0" smtClean="0"/>
              <a:t>, </a:t>
            </a:r>
            <a:r>
              <a:rPr lang="es-BO" dirty="0"/>
              <a:t> bicarbonato, urea, creatinina y los niveles de glucosa, exámenes de coagulación como el tiempo de protrombina y el tiempo de </a:t>
            </a:r>
            <a:r>
              <a:rPr lang="es-BO" dirty="0" smtClean="0"/>
              <a:t>tromboplastina parcial activado</a:t>
            </a:r>
            <a:r>
              <a:rPr lang="es-BO" dirty="0"/>
              <a:t>, gasometría, análisis de orina, especialmente en pacientes con traumatismos.</a:t>
            </a:r>
          </a:p>
          <a:p>
            <a:r>
              <a:rPr lang="es-BO" b="1" dirty="0"/>
              <a:t>Estudios de imagen</a:t>
            </a:r>
            <a:endParaRPr lang="es-BO" dirty="0"/>
          </a:p>
          <a:p>
            <a:r>
              <a:rPr lang="es-BO" dirty="0" err="1" smtClean="0"/>
              <a:t>Rx</a:t>
            </a:r>
            <a:r>
              <a:rPr lang="es-BO" dirty="0" smtClean="0"/>
              <a:t>.</a:t>
            </a:r>
          </a:p>
          <a:p>
            <a:r>
              <a:rPr lang="es-BO" dirty="0" smtClean="0"/>
              <a:t>Ecografías. </a:t>
            </a:r>
            <a:endParaRPr lang="es-BO" dirty="0"/>
          </a:p>
          <a:p>
            <a:endParaRPr lang="es-BO" dirty="0"/>
          </a:p>
        </p:txBody>
      </p:sp>
    </p:spTree>
    <p:extLst>
      <p:ext uri="{BB962C8B-B14F-4D97-AF65-F5344CB8AC3E}">
        <p14:creationId xmlns:p14="http://schemas.microsoft.com/office/powerpoint/2010/main" val="33423233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b="1" dirty="0" smtClean="0"/>
              <a:t>Tratamiento</a:t>
            </a:r>
            <a:endParaRPr lang="es-BO" dirty="0"/>
          </a:p>
        </p:txBody>
      </p:sp>
      <p:sp>
        <p:nvSpPr>
          <p:cNvPr id="3" name="2 Marcador de contenido"/>
          <p:cNvSpPr>
            <a:spLocks noGrp="1"/>
          </p:cNvSpPr>
          <p:nvPr>
            <p:ph sz="quarter" idx="1"/>
          </p:nvPr>
        </p:nvSpPr>
        <p:spPr/>
        <p:txBody>
          <a:bodyPr>
            <a:normAutofit/>
          </a:bodyPr>
          <a:lstStyle/>
          <a:p>
            <a:r>
              <a:rPr lang="es-BO" dirty="0" smtClean="0"/>
              <a:t>Aunque </a:t>
            </a:r>
            <a:r>
              <a:rPr lang="es-BO" dirty="0"/>
              <a:t>el organismo puede compensar la pérdida de tensión por medio de reflejos </a:t>
            </a:r>
            <a:r>
              <a:rPr lang="es-BO" dirty="0" smtClean="0"/>
              <a:t>autónomos</a:t>
            </a:r>
            <a:endParaRPr lang="es-BO" dirty="0"/>
          </a:p>
          <a:p>
            <a:r>
              <a:rPr lang="es-BO" dirty="0" smtClean="0"/>
              <a:t>. </a:t>
            </a:r>
            <a:r>
              <a:rPr lang="es-BO" dirty="0"/>
              <a:t>El tratamiento médico inicial para el choque hipovolémico debe tener como finalidad el arreglo de tres áreas principales: maximizar el suministro de oxígeno—asegurando una adecuada ventilación, aumentando la saturación de oxígeno de la sangre, y restaurando el flujo sanguíneo; el control de la pérdida de sangre; y la restitución con </a:t>
            </a:r>
            <a:r>
              <a:rPr lang="es-BO" dirty="0" smtClean="0"/>
              <a:t>líquidos.</a:t>
            </a:r>
            <a:endParaRPr lang="es-BO" dirty="0"/>
          </a:p>
        </p:txBody>
      </p:sp>
    </p:spTree>
    <p:extLst>
      <p:ext uri="{BB962C8B-B14F-4D97-AF65-F5344CB8AC3E}">
        <p14:creationId xmlns:p14="http://schemas.microsoft.com/office/powerpoint/2010/main" val="11870379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0"/>
            <a:ext cx="8229600" cy="1340768"/>
          </a:xfrm>
        </p:spPr>
        <p:txBody>
          <a:bodyPr>
            <a:normAutofit/>
          </a:bodyPr>
          <a:lstStyle/>
          <a:p>
            <a:r>
              <a:rPr lang="es-ES" b="1" dirty="0" smtClean="0"/>
              <a:t>RESUCITACION</a:t>
            </a:r>
            <a:br>
              <a:rPr lang="es-ES" b="1" dirty="0" smtClean="0"/>
            </a:br>
            <a:endParaRPr lang="es-ES" dirty="0"/>
          </a:p>
        </p:txBody>
      </p:sp>
      <p:sp>
        <p:nvSpPr>
          <p:cNvPr id="3" name="2 Marcador de contenido"/>
          <p:cNvSpPr>
            <a:spLocks noGrp="1"/>
          </p:cNvSpPr>
          <p:nvPr>
            <p:ph idx="1"/>
          </p:nvPr>
        </p:nvSpPr>
        <p:spPr>
          <a:xfrm>
            <a:off x="457200" y="1412776"/>
            <a:ext cx="7467600" cy="5061176"/>
          </a:xfrm>
        </p:spPr>
        <p:txBody>
          <a:bodyPr>
            <a:normAutofit/>
          </a:bodyPr>
          <a:lstStyle/>
          <a:p>
            <a:r>
              <a:rPr lang="es-ES" i="1" dirty="0" smtClean="0"/>
              <a:t>“Time </a:t>
            </a:r>
            <a:r>
              <a:rPr lang="es-ES" i="1" dirty="0" err="1" smtClean="0"/>
              <a:t>is</a:t>
            </a:r>
            <a:r>
              <a:rPr lang="es-ES" i="1" dirty="0" smtClean="0"/>
              <a:t> </a:t>
            </a:r>
            <a:r>
              <a:rPr lang="es-ES" i="1" dirty="0" err="1" smtClean="0"/>
              <a:t>tissue</a:t>
            </a:r>
            <a:r>
              <a:rPr lang="es-ES" i="1" dirty="0" smtClean="0"/>
              <a:t>”: El shock constituye una </a:t>
            </a:r>
            <a:r>
              <a:rPr lang="es-ES" i="1" dirty="0" smtClean="0"/>
              <a:t>emergencia, </a:t>
            </a:r>
            <a:r>
              <a:rPr lang="es-ES" dirty="0" smtClean="0"/>
              <a:t>requiere </a:t>
            </a:r>
            <a:r>
              <a:rPr lang="es-ES" dirty="0" smtClean="0"/>
              <a:t>una reanimación urgente, incluso antes del</a:t>
            </a:r>
          </a:p>
          <a:p>
            <a:r>
              <a:rPr lang="es-ES" dirty="0" smtClean="0"/>
              <a:t>diagnóstico, pero ordenada.</a:t>
            </a:r>
          </a:p>
          <a:p>
            <a:r>
              <a:rPr lang="es-ES" i="1" dirty="0" smtClean="0"/>
              <a:t>“VIP”: Ventilación: Vía aérea permeable, ventilar, FiO2</a:t>
            </a:r>
          </a:p>
          <a:p>
            <a:r>
              <a:rPr lang="es-ES" dirty="0" smtClean="0"/>
              <a:t>Infusión: Electrolitos, coloides, sangre.</a:t>
            </a:r>
          </a:p>
          <a:p>
            <a:r>
              <a:rPr lang="es-ES" dirty="0" err="1" smtClean="0"/>
              <a:t>Pump</a:t>
            </a:r>
            <a:r>
              <a:rPr lang="es-ES" dirty="0" smtClean="0"/>
              <a:t> (bomba): Mejorar la función de la bomba:</a:t>
            </a:r>
          </a:p>
          <a:p>
            <a:r>
              <a:rPr lang="es-ES" dirty="0" smtClean="0"/>
              <a:t>Taquicardia.</a:t>
            </a:r>
          </a:p>
          <a:p>
            <a:r>
              <a:rPr lang="es-ES" dirty="0" smtClean="0"/>
              <a:t>Bradicardia.</a:t>
            </a:r>
            <a:endParaRPr lang="es-ES" dirty="0"/>
          </a:p>
        </p:txBody>
      </p:sp>
    </p:spTree>
    <p:extLst>
      <p:ext uri="{BB962C8B-B14F-4D97-AF65-F5344CB8AC3E}">
        <p14:creationId xmlns:p14="http://schemas.microsoft.com/office/powerpoint/2010/main" val="37366743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b="1" dirty="0"/>
              <a:t>Manejo de la </a:t>
            </a:r>
            <a:r>
              <a:rPr lang="es-BO" b="1" dirty="0" smtClean="0"/>
              <a:t>volemia</a:t>
            </a:r>
            <a:endParaRPr lang="es-BO" dirty="0"/>
          </a:p>
        </p:txBody>
      </p:sp>
      <p:sp>
        <p:nvSpPr>
          <p:cNvPr id="3" name="2 Marcador de contenido"/>
          <p:cNvSpPr>
            <a:spLocks noGrp="1"/>
          </p:cNvSpPr>
          <p:nvPr>
            <p:ph sz="quarter" idx="1"/>
          </p:nvPr>
        </p:nvSpPr>
        <p:spPr/>
        <p:txBody>
          <a:bodyPr>
            <a:normAutofit fontScale="92500" lnSpcReduction="10000"/>
          </a:bodyPr>
          <a:lstStyle/>
          <a:p>
            <a:pPr marL="0" indent="0">
              <a:buNone/>
            </a:pPr>
            <a:r>
              <a:rPr lang="es-BO" dirty="0"/>
              <a:t> </a:t>
            </a:r>
            <a:r>
              <a:rPr lang="es-BO" dirty="0" smtClean="0"/>
              <a:t>Paquetes </a:t>
            </a:r>
            <a:r>
              <a:rPr lang="es-BO" dirty="0"/>
              <a:t>sanguíneos para tratamiento de </a:t>
            </a:r>
            <a:r>
              <a:rPr lang="es-BO" b="1" i="1" dirty="0"/>
              <a:t>hipovolemia</a:t>
            </a:r>
            <a:r>
              <a:rPr lang="es-BO" dirty="0"/>
              <a:t> por pérdida de sangre.</a:t>
            </a:r>
          </a:p>
          <a:p>
            <a:pPr lvl="0"/>
            <a:r>
              <a:rPr lang="es-BO" i="1" dirty="0"/>
              <a:t>Corregir la hipovolemia por hemorragia.</a:t>
            </a:r>
            <a:r>
              <a:rPr lang="es-BO" dirty="0"/>
              <a:t> El tratamiento tras una hemorragia masiva incluye la administración intravenosa de sangre total, eritrocitos en paquete o productos de la sangre. Se requiere el uso de soluciones como la de </a:t>
            </a:r>
            <a:r>
              <a:rPr lang="es-BO" dirty="0" err="1" smtClean="0"/>
              <a:t>Ringer</a:t>
            </a:r>
            <a:r>
              <a:rPr lang="es-BO" dirty="0"/>
              <a:t> </a:t>
            </a:r>
            <a:r>
              <a:rPr lang="es-BO" dirty="0" smtClean="0"/>
              <a:t>con </a:t>
            </a:r>
            <a:r>
              <a:rPr lang="es-BO" dirty="0"/>
              <a:t>lactato o una solución salina al 0.9%.</a:t>
            </a:r>
          </a:p>
          <a:p>
            <a:pPr lvl="0"/>
            <a:r>
              <a:rPr lang="es-BO" i="1" dirty="0"/>
              <a:t>Corregir la hipovolemia por pérdida de líquidos.</a:t>
            </a:r>
            <a:r>
              <a:rPr lang="es-BO" dirty="0"/>
              <a:t> Se incluye la restitución intravenosa de líquidos con coloides como la </a:t>
            </a:r>
            <a:r>
              <a:rPr lang="es-BO" dirty="0" err="1"/>
              <a:t>seroalbúmina</a:t>
            </a:r>
            <a:r>
              <a:rPr lang="es-BO" dirty="0"/>
              <a:t>, el </a:t>
            </a:r>
            <a:r>
              <a:rPr lang="es-BO" dirty="0" err="1"/>
              <a:t>hetaalmidón</a:t>
            </a:r>
            <a:r>
              <a:rPr lang="es-BO" dirty="0"/>
              <a:t> y fracción de proteínas plasmáticas. También se usan soluciones como la de </a:t>
            </a:r>
            <a:r>
              <a:rPr lang="es-BO" dirty="0" err="1"/>
              <a:t>Ringer</a:t>
            </a:r>
            <a:r>
              <a:rPr lang="es-BO" dirty="0"/>
              <a:t> con lactato y solución salina al 0.9%</a:t>
            </a:r>
          </a:p>
          <a:p>
            <a:endParaRPr lang="es-BO" dirty="0"/>
          </a:p>
        </p:txBody>
      </p:sp>
    </p:spTree>
    <p:extLst>
      <p:ext uri="{BB962C8B-B14F-4D97-AF65-F5344CB8AC3E}">
        <p14:creationId xmlns:p14="http://schemas.microsoft.com/office/powerpoint/2010/main" val="9185401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b="1" dirty="0"/>
              <a:t>Manejo de la </a:t>
            </a:r>
            <a:r>
              <a:rPr lang="es-BO" b="1" dirty="0" smtClean="0"/>
              <a:t>hipoxemia</a:t>
            </a:r>
            <a:endParaRPr lang="es-BO" dirty="0"/>
          </a:p>
        </p:txBody>
      </p:sp>
      <p:sp>
        <p:nvSpPr>
          <p:cNvPr id="3" name="2 Marcador de contenido"/>
          <p:cNvSpPr>
            <a:spLocks noGrp="1"/>
          </p:cNvSpPr>
          <p:nvPr>
            <p:ph sz="quarter" idx="1"/>
          </p:nvPr>
        </p:nvSpPr>
        <p:spPr/>
        <p:txBody>
          <a:bodyPr/>
          <a:lstStyle/>
          <a:p>
            <a:pPr lvl="0"/>
            <a:r>
              <a:rPr lang="es-BO" i="1" dirty="0" smtClean="0"/>
              <a:t>Corregir </a:t>
            </a:r>
            <a:r>
              <a:rPr lang="es-BO" i="1" dirty="0"/>
              <a:t>la hipoxemia relacionada.</a:t>
            </a:r>
            <a:r>
              <a:rPr lang="es-BO" dirty="0"/>
              <a:t> La corrección de la hipoxemia suele requerir la administración de oxígeno ya que el paciente necesita una concentración adecuada de </a:t>
            </a:r>
            <a:r>
              <a:rPr lang="es-BO" dirty="0" smtClean="0"/>
              <a:t>hemoglobina</a:t>
            </a:r>
            <a:r>
              <a:rPr lang="es-BO" dirty="0"/>
              <a:t> para transportar el oxígeno de manera eficaz. </a:t>
            </a:r>
          </a:p>
        </p:txBody>
      </p:sp>
    </p:spTree>
    <p:extLst>
      <p:ext uri="{BB962C8B-B14F-4D97-AF65-F5344CB8AC3E}">
        <p14:creationId xmlns:p14="http://schemas.microsoft.com/office/powerpoint/2010/main" val="40917794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0"/>
            <a:ext cx="8229600" cy="1700808"/>
          </a:xfrm>
        </p:spPr>
        <p:txBody>
          <a:bodyPr>
            <a:normAutofit fontScale="90000"/>
          </a:bodyPr>
          <a:lstStyle/>
          <a:p>
            <a:pPr algn="ctr"/>
            <a:r>
              <a:rPr lang="es-ES" sz="3600" b="1" dirty="0" smtClean="0">
                <a:solidFill>
                  <a:srgbClr val="7030A0"/>
                </a:solidFill>
              </a:rPr>
              <a:t>TIPO DE SOLUCIONES</a:t>
            </a:r>
            <a:br>
              <a:rPr lang="es-ES" sz="3600" b="1" dirty="0" smtClean="0">
                <a:solidFill>
                  <a:srgbClr val="7030A0"/>
                </a:solidFill>
              </a:rPr>
            </a:br>
            <a:r>
              <a:rPr lang="es-ES" sz="3600" b="1" dirty="0" smtClean="0">
                <a:solidFill>
                  <a:srgbClr val="7030A0"/>
                </a:solidFill>
              </a:rPr>
              <a:t>FACTORES QUE INFLUENCIAN LA ELECCION</a:t>
            </a:r>
            <a:endParaRPr lang="es-ES" dirty="0"/>
          </a:p>
        </p:txBody>
      </p:sp>
      <p:sp>
        <p:nvSpPr>
          <p:cNvPr id="3" name="2 Marcador de contenido"/>
          <p:cNvSpPr>
            <a:spLocks noGrp="1"/>
          </p:cNvSpPr>
          <p:nvPr>
            <p:ph idx="1"/>
          </p:nvPr>
        </p:nvSpPr>
        <p:spPr/>
        <p:txBody>
          <a:bodyPr>
            <a:normAutofit/>
          </a:bodyPr>
          <a:lstStyle/>
          <a:p>
            <a:r>
              <a:rPr lang="es-ES" dirty="0" smtClean="0"/>
              <a:t>1. Efectos </a:t>
            </a:r>
            <a:r>
              <a:rPr lang="es-ES" dirty="0" err="1" smtClean="0"/>
              <a:t>hemodinámicos</a:t>
            </a:r>
            <a:r>
              <a:rPr lang="es-ES" dirty="0" smtClean="0"/>
              <a:t>.</a:t>
            </a:r>
          </a:p>
          <a:p>
            <a:r>
              <a:rPr lang="es-ES" dirty="0" smtClean="0"/>
              <a:t>2. Efectos sobre la hemostasia.</a:t>
            </a:r>
          </a:p>
          <a:p>
            <a:r>
              <a:rPr lang="es-ES" dirty="0" smtClean="0"/>
              <a:t>3. Transporte de Oxígeno.</a:t>
            </a:r>
          </a:p>
          <a:p>
            <a:r>
              <a:rPr lang="es-ES" dirty="0" smtClean="0"/>
              <a:t>4. Distribución y permeabilidad capilar.</a:t>
            </a:r>
          </a:p>
          <a:p>
            <a:r>
              <a:rPr lang="es-ES" dirty="0" smtClean="0"/>
              <a:t>5. Modulación de la respuesta inflamatoria.</a:t>
            </a:r>
          </a:p>
          <a:p>
            <a:r>
              <a:rPr lang="es-ES" dirty="0" smtClean="0"/>
              <a:t>6. Seguridad.</a:t>
            </a:r>
          </a:p>
          <a:p>
            <a:r>
              <a:rPr lang="es-ES" dirty="0" smtClean="0"/>
              <a:t>7. Amortiguación del pH.</a:t>
            </a:r>
          </a:p>
          <a:p>
            <a:r>
              <a:rPr lang="es-ES" dirty="0" smtClean="0"/>
              <a:t>8. Eliminación.</a:t>
            </a:r>
          </a:p>
          <a:p>
            <a:r>
              <a:rPr lang="es-ES" dirty="0" smtClean="0"/>
              <a:t>9. Practicidad y costos.</a:t>
            </a:r>
            <a:endParaRPr lang="es-ES" dirty="0"/>
          </a:p>
        </p:txBody>
      </p:sp>
    </p:spTree>
    <p:extLst>
      <p:ext uri="{BB962C8B-B14F-4D97-AF65-F5344CB8AC3E}">
        <p14:creationId xmlns:p14="http://schemas.microsoft.com/office/powerpoint/2010/main" val="36180079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188640"/>
            <a:ext cx="8229600" cy="1152128"/>
          </a:xfrm>
        </p:spPr>
        <p:txBody>
          <a:bodyPr>
            <a:normAutofit/>
          </a:bodyPr>
          <a:lstStyle/>
          <a:p>
            <a:r>
              <a:rPr lang="es-ES" b="1" dirty="0" smtClean="0">
                <a:solidFill>
                  <a:srgbClr val="7030A0"/>
                </a:solidFill>
              </a:rPr>
              <a:t>RESTITUCIÓN HIDRICA</a:t>
            </a:r>
            <a:r>
              <a:rPr lang="es-ES" dirty="0" smtClean="0"/>
              <a:t/>
            </a:r>
            <a:br>
              <a:rPr lang="es-ES" dirty="0" smtClean="0"/>
            </a:br>
            <a:endParaRPr lang="es-ES" dirty="0"/>
          </a:p>
        </p:txBody>
      </p:sp>
      <p:sp>
        <p:nvSpPr>
          <p:cNvPr id="3" name="2 Marcador de contenido"/>
          <p:cNvSpPr>
            <a:spLocks noGrp="1"/>
          </p:cNvSpPr>
          <p:nvPr>
            <p:ph idx="1"/>
          </p:nvPr>
        </p:nvSpPr>
        <p:spPr>
          <a:xfrm>
            <a:off x="457200" y="1600200"/>
            <a:ext cx="7467600" cy="3773016"/>
          </a:xfrm>
        </p:spPr>
        <p:txBody>
          <a:bodyPr>
            <a:noAutofit/>
          </a:bodyPr>
          <a:lstStyle/>
          <a:p>
            <a:r>
              <a:rPr lang="es-ES" sz="2800" dirty="0" smtClean="0"/>
              <a:t>Actualmente es de importancia, en función de pronóstico, la primera hora de manejo llamada “HORA  DORADA” para preservación de la función y evitar la muerte. En relación a la restitución hídrica en pacientes con choque hemorrágico se debe considerar, tipo de fluido, cantidad a infundir así como la velocidad de infusión.</a:t>
            </a:r>
            <a:endParaRPr lang="es-ES" sz="2800" dirty="0"/>
          </a:p>
        </p:txBody>
      </p:sp>
    </p:spTree>
    <p:extLst>
      <p:ext uri="{BB962C8B-B14F-4D97-AF65-F5344CB8AC3E}">
        <p14:creationId xmlns:p14="http://schemas.microsoft.com/office/powerpoint/2010/main" val="22730084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smtClean="0"/>
              <a:t>soluciones</a:t>
            </a:r>
            <a:endParaRPr lang="es-ES" dirty="0"/>
          </a:p>
        </p:txBody>
      </p:sp>
      <p:sp>
        <p:nvSpPr>
          <p:cNvPr id="3" name="2 Marcador de contenido"/>
          <p:cNvSpPr>
            <a:spLocks noGrp="1"/>
          </p:cNvSpPr>
          <p:nvPr>
            <p:ph idx="1"/>
          </p:nvPr>
        </p:nvSpPr>
        <p:spPr/>
        <p:txBody>
          <a:bodyPr>
            <a:normAutofit/>
          </a:bodyPr>
          <a:lstStyle/>
          <a:p>
            <a:r>
              <a:rPr lang="es-ES" dirty="0" smtClean="0"/>
              <a:t>CRISTALOIDES: las más utilizadas continúan siendo la solución salina isotónica y Lactato </a:t>
            </a:r>
            <a:r>
              <a:rPr lang="es-ES" dirty="0" err="1" smtClean="0"/>
              <a:t>Ringer</a:t>
            </a:r>
            <a:r>
              <a:rPr lang="es-ES" dirty="0" smtClean="0"/>
              <a:t> estos mejoran</a:t>
            </a:r>
          </a:p>
          <a:p>
            <a:pPr>
              <a:buNone/>
            </a:pPr>
            <a:r>
              <a:rPr lang="es-ES" dirty="0" smtClean="0"/>
              <a:t>    parámetros hemodinámicas, expanden el espacio extracelular (LEC), mínimas reacciones anafilácticas y menor costo, sin embargo sus desventajas, reduce presión </a:t>
            </a:r>
            <a:r>
              <a:rPr lang="es-ES" dirty="0" err="1" smtClean="0"/>
              <a:t>oncótica</a:t>
            </a:r>
            <a:r>
              <a:rPr lang="es-ES" dirty="0" smtClean="0"/>
              <a:t> por lo tanto predispone a edema pulmonar e interfiere en el intercambio de oxígeno, formación de tercer espacio, solamente el 20% se mantiene en espacio </a:t>
            </a:r>
            <a:r>
              <a:rPr lang="es-ES" dirty="0" err="1" smtClean="0"/>
              <a:t>intravascular</a:t>
            </a:r>
            <a:r>
              <a:rPr lang="es-ES" dirty="0" smtClean="0"/>
              <a:t>, se debe reponer en relación 3:1 con las pérdidas.</a:t>
            </a:r>
            <a:endParaRPr lang="es-ES" dirty="0"/>
          </a:p>
        </p:txBody>
      </p:sp>
    </p:spTree>
    <p:extLst>
      <p:ext uri="{BB962C8B-B14F-4D97-AF65-F5344CB8AC3E}">
        <p14:creationId xmlns:p14="http://schemas.microsoft.com/office/powerpoint/2010/main" val="21008224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soluciones</a:t>
            </a:r>
            <a:endParaRPr lang="es-ES"/>
          </a:p>
        </p:txBody>
      </p:sp>
      <p:sp>
        <p:nvSpPr>
          <p:cNvPr id="3" name="2 Marcador de contenido"/>
          <p:cNvSpPr>
            <a:spLocks noGrp="1"/>
          </p:cNvSpPr>
          <p:nvPr>
            <p:ph idx="1"/>
          </p:nvPr>
        </p:nvSpPr>
        <p:spPr/>
        <p:txBody>
          <a:bodyPr>
            <a:normAutofit/>
          </a:bodyPr>
          <a:lstStyle/>
          <a:p>
            <a:r>
              <a:rPr lang="es-ES" sz="3200" dirty="0" smtClean="0"/>
              <a:t>COLOIDES: utilizados como </a:t>
            </a:r>
            <a:r>
              <a:rPr lang="es-ES" sz="3200" dirty="0" err="1" smtClean="0"/>
              <a:t>expansores</a:t>
            </a:r>
            <a:r>
              <a:rPr lang="es-ES" sz="3200" dirty="0" smtClean="0"/>
              <a:t> plasmáticos mejoran gasto cardiaco y contractibilidad, menor volumen  de perfusión, mejoran transporte de oxígeno, sin embargo predisponen a la acumulación de líquido en el intersticio pulmonar y tienen mayor índice de reacciones anafilácticas.</a:t>
            </a:r>
            <a:endParaRPr lang="es-ES" sz="3200" dirty="0"/>
          </a:p>
        </p:txBody>
      </p:sp>
    </p:spTree>
    <p:extLst>
      <p:ext uri="{BB962C8B-B14F-4D97-AF65-F5344CB8AC3E}">
        <p14:creationId xmlns:p14="http://schemas.microsoft.com/office/powerpoint/2010/main" val="30715699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dirty="0" smtClean="0"/>
              <a:t>FARMACOS </a:t>
            </a:r>
            <a:endParaRPr lang="es-BO" dirty="0"/>
          </a:p>
        </p:txBody>
      </p:sp>
      <p:sp>
        <p:nvSpPr>
          <p:cNvPr id="3" name="2 Marcador de contenido"/>
          <p:cNvSpPr>
            <a:spLocks noGrp="1"/>
          </p:cNvSpPr>
          <p:nvPr>
            <p:ph sz="quarter" idx="1"/>
          </p:nvPr>
        </p:nvSpPr>
        <p:spPr/>
        <p:txBody>
          <a:bodyPr/>
          <a:lstStyle/>
          <a:p>
            <a:r>
              <a:rPr lang="es-BO" dirty="0"/>
              <a:t>Pueden administrarse fármacos inotrópicos como: la dopamina, </a:t>
            </a:r>
            <a:r>
              <a:rPr lang="es-BO" dirty="0" err="1"/>
              <a:t>dobutamina</a:t>
            </a:r>
            <a:r>
              <a:rPr lang="es-BO" dirty="0"/>
              <a:t>, epinefrina y norepinefrina a dosis bajas para mejorar el gasto cardiaco y la contractilidad del miocardio en pacientes con problemas de función cardiaca. Los vasodilatadores como </a:t>
            </a:r>
            <a:r>
              <a:rPr lang="es-BO" dirty="0" smtClean="0"/>
              <a:t>la nitroglicerina</a:t>
            </a:r>
            <a:r>
              <a:rPr lang="es-BO" dirty="0"/>
              <a:t> dilatan las arterias coronarias para incrementar el aporte de oxígeno y reducir la </a:t>
            </a:r>
            <a:r>
              <a:rPr lang="es-BO" dirty="0" err="1"/>
              <a:t>postcarga</a:t>
            </a:r>
            <a:endParaRPr lang="es-BO" dirty="0"/>
          </a:p>
        </p:txBody>
      </p:sp>
    </p:spTree>
    <p:extLst>
      <p:ext uri="{BB962C8B-B14F-4D97-AF65-F5344CB8AC3E}">
        <p14:creationId xmlns:p14="http://schemas.microsoft.com/office/powerpoint/2010/main" val="118794909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irador">
  <a:themeElements>
    <a:clrScheme name="Mirador">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Mirador">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irador">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103</TotalTime>
  <Words>500</Words>
  <Application>Microsoft Office PowerPoint</Application>
  <PresentationFormat>Presentación en pantalla (4:3)</PresentationFormat>
  <Paragraphs>71</Paragraphs>
  <Slides>19</Slides>
  <Notes>0</Notes>
  <HiddenSlides>0</HiddenSlides>
  <MMClips>0</MMClips>
  <ScaleCrop>false</ScaleCrop>
  <HeadingPairs>
    <vt:vector size="4" baseType="variant">
      <vt:variant>
        <vt:lpstr>Tema</vt:lpstr>
      </vt:variant>
      <vt:variant>
        <vt:i4>1</vt:i4>
      </vt:variant>
      <vt:variant>
        <vt:lpstr>Títulos de diapositiva</vt:lpstr>
      </vt:variant>
      <vt:variant>
        <vt:i4>19</vt:i4>
      </vt:variant>
    </vt:vector>
  </HeadingPairs>
  <TitlesOfParts>
    <vt:vector size="20" baseType="lpstr">
      <vt:lpstr>Mirador</vt:lpstr>
      <vt:lpstr>CHOQUE HIPOVOLEMICO</vt:lpstr>
      <vt:lpstr>DEFINICION </vt:lpstr>
      <vt:lpstr>Síntomas</vt:lpstr>
      <vt:lpstr>Patogenia</vt:lpstr>
      <vt:lpstr>Respuesta hematológica</vt:lpstr>
      <vt:lpstr>Respuesta cardiovascular</vt:lpstr>
      <vt:lpstr>Respuesta renal</vt:lpstr>
      <vt:lpstr>Respuesta neuro-endocrina</vt:lpstr>
      <vt:lpstr>Presentación de PowerPoint</vt:lpstr>
      <vt:lpstr>Diagnóstico</vt:lpstr>
      <vt:lpstr>Tratamiento</vt:lpstr>
      <vt:lpstr>RESUCITACION </vt:lpstr>
      <vt:lpstr>Manejo de la volemia</vt:lpstr>
      <vt:lpstr>Manejo de la hipoxemia</vt:lpstr>
      <vt:lpstr>TIPO DE SOLUCIONES FACTORES QUE INFLUENCIAN LA ELECCION</vt:lpstr>
      <vt:lpstr>RESTITUCIÓN HIDRICA </vt:lpstr>
      <vt:lpstr>soluciones</vt:lpstr>
      <vt:lpstr>soluciones</vt:lpstr>
      <vt:lpstr>FARMACOS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CHOQUE HIPOVOLEMICO</dc:title>
  <dc:creator>LILI</dc:creator>
  <cp:lastModifiedBy>LILI</cp:lastModifiedBy>
  <cp:revision>10</cp:revision>
  <dcterms:created xsi:type="dcterms:W3CDTF">2014-03-22T02:47:53Z</dcterms:created>
  <dcterms:modified xsi:type="dcterms:W3CDTF">2014-03-22T13:01:56Z</dcterms:modified>
</cp:coreProperties>
</file>