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sldIdLst>
    <p:sldId id="256" r:id="rId2"/>
    <p:sldId id="257" r:id="rId3"/>
    <p:sldId id="258" r:id="rId4"/>
    <p:sldId id="259" r:id="rId5"/>
    <p:sldId id="261"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Lst>
  <p:sldSz cx="9144000" cy="6858000" type="screen4x3"/>
  <p:notesSz cx="6858000" cy="9144000"/>
  <p:defaultTextStyle>
    <a:defPPr>
      <a:defRPr lang="es-B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41" d="100"/>
          <a:sy n="41" d="100"/>
        </p:scale>
        <p:origin x="-1272" y="-11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bg>
      <p:bgRef idx="1001">
        <a:schemeClr val="bg1"/>
      </p:bgRef>
    </p:bg>
    <p:spTree>
      <p:nvGrpSpPr>
        <p:cNvPr id="1" name=""/>
        <p:cNvGrpSpPr/>
        <p:nvPr/>
      </p:nvGrpSpPr>
      <p:grpSpPr>
        <a:xfrm>
          <a:off x="0" y="0"/>
          <a:ext cx="0" cy="0"/>
          <a:chOff x="0" y="0"/>
          <a:chExt cx="0" cy="0"/>
        </a:xfrm>
      </p:grpSpPr>
      <p:sp>
        <p:nvSpPr>
          <p:cNvPr id="8" name="7 Título"/>
          <p:cNvSpPr>
            <a:spLocks noGrp="1"/>
          </p:cNvSpPr>
          <p:nvPr>
            <p:ph type="ctrTitle"/>
          </p:nvPr>
        </p:nvSpPr>
        <p:spPr>
          <a:xfrm>
            <a:off x="2286000" y="3124200"/>
            <a:ext cx="6172200" cy="1894362"/>
          </a:xfrm>
        </p:spPr>
        <p:txBody>
          <a:bodyPr/>
          <a:lstStyle>
            <a:lvl1pPr>
              <a:defRPr b="1"/>
            </a:lvl1pPr>
          </a:lstStyle>
          <a:p>
            <a:r>
              <a:rPr kumimoji="0" lang="es-ES" smtClean="0"/>
              <a:t>Haga clic para modificar el estilo de título del patrón</a:t>
            </a:r>
            <a:endParaRPr kumimoji="0" lang="en-US"/>
          </a:p>
        </p:txBody>
      </p:sp>
      <p:sp>
        <p:nvSpPr>
          <p:cNvPr id="9" name="8 Subtítulo"/>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s-ES" smtClean="0"/>
              <a:t>Haga clic para modificar el estilo de subtítulo del patrón</a:t>
            </a:r>
            <a:endParaRPr kumimoji="0" lang="en-US"/>
          </a:p>
        </p:txBody>
      </p:sp>
      <p:sp>
        <p:nvSpPr>
          <p:cNvPr id="28" name="27 Marcador de fecha"/>
          <p:cNvSpPr>
            <a:spLocks noGrp="1"/>
          </p:cNvSpPr>
          <p:nvPr>
            <p:ph type="dt" sz="half" idx="10"/>
          </p:nvPr>
        </p:nvSpPr>
        <p:spPr bwMode="auto">
          <a:xfrm rot="5400000">
            <a:off x="7764621" y="1174097"/>
            <a:ext cx="2286000" cy="381000"/>
          </a:xfrm>
        </p:spPr>
        <p:txBody>
          <a:bodyPr/>
          <a:lstStyle/>
          <a:p>
            <a:fld id="{225E3DC4-F50E-4EE8-938A-3558BCFEBD58}" type="datetimeFigureOut">
              <a:rPr lang="es-BO" smtClean="0"/>
              <a:t>22/11/2014</a:t>
            </a:fld>
            <a:endParaRPr lang="es-BO"/>
          </a:p>
        </p:txBody>
      </p:sp>
      <p:sp>
        <p:nvSpPr>
          <p:cNvPr id="17" name="16 Marcador de pie de página"/>
          <p:cNvSpPr>
            <a:spLocks noGrp="1"/>
          </p:cNvSpPr>
          <p:nvPr>
            <p:ph type="ftr" sz="quarter" idx="11"/>
          </p:nvPr>
        </p:nvSpPr>
        <p:spPr bwMode="auto">
          <a:xfrm rot="5400000">
            <a:off x="7077269" y="4181669"/>
            <a:ext cx="3657600" cy="384048"/>
          </a:xfrm>
        </p:spPr>
        <p:txBody>
          <a:bodyPr/>
          <a:lstStyle/>
          <a:p>
            <a:endParaRPr lang="es-BO"/>
          </a:p>
        </p:txBody>
      </p:sp>
      <p:sp>
        <p:nvSpPr>
          <p:cNvPr id="10" name="9 Rectángulo"/>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11 Rectángulo"/>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13 Rectángulo"/>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18 Rectángulo"/>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10 Conector recto"/>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17 Conector recto"/>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19 Conector recto"/>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15 Conector recto"/>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14 Conector recto"/>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21 Conector recto"/>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26 Rectángulo"/>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20 Elipse"/>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22 Elipse"/>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23 Elipse"/>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25 Elipse"/>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24 Elipse"/>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28 Marcador de número de diapositiva"/>
          <p:cNvSpPr>
            <a:spLocks noGrp="1"/>
          </p:cNvSpPr>
          <p:nvPr>
            <p:ph type="sldNum" sz="quarter" idx="12"/>
          </p:nvPr>
        </p:nvSpPr>
        <p:spPr bwMode="auto">
          <a:xfrm>
            <a:off x="1325544" y="4928702"/>
            <a:ext cx="609600" cy="517524"/>
          </a:xfrm>
        </p:spPr>
        <p:txBody>
          <a:bodyPr/>
          <a:lstStyle/>
          <a:p>
            <a:fld id="{C650A3B9-867F-4CE5-B740-6C089F76EFC1}" type="slidenum">
              <a:rPr lang="es-BO" smtClean="0"/>
              <a:t>‹Nº›</a:t>
            </a:fld>
            <a:endParaRPr lang="es-BO"/>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8" name="7 Marcador de contenido"/>
          <p:cNvSpPr>
            <a:spLocks noGrp="1"/>
          </p:cNvSpPr>
          <p:nvPr>
            <p:ph sz="quarter" idx="1"/>
          </p:nvPr>
        </p:nvSpPr>
        <p:spPr>
          <a:xfrm>
            <a:off x="457200" y="1600200"/>
            <a:ext cx="7467600" cy="4873752"/>
          </a:xfrm>
        </p:spPr>
        <p:txBody>
          <a:body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7" name="6 Marcador de fecha"/>
          <p:cNvSpPr>
            <a:spLocks noGrp="1"/>
          </p:cNvSpPr>
          <p:nvPr>
            <p:ph type="dt" sz="half" idx="14"/>
          </p:nvPr>
        </p:nvSpPr>
        <p:spPr/>
        <p:txBody>
          <a:bodyPr rtlCol="0"/>
          <a:lstStyle/>
          <a:p>
            <a:fld id="{225E3DC4-F50E-4EE8-938A-3558BCFEBD58}" type="datetimeFigureOut">
              <a:rPr lang="es-BO" smtClean="0"/>
              <a:t>22/11/2014</a:t>
            </a:fld>
            <a:endParaRPr lang="es-BO"/>
          </a:p>
        </p:txBody>
      </p:sp>
      <p:sp>
        <p:nvSpPr>
          <p:cNvPr id="9" name="8 Marcador de número de diapositiva"/>
          <p:cNvSpPr>
            <a:spLocks noGrp="1"/>
          </p:cNvSpPr>
          <p:nvPr>
            <p:ph type="sldNum" sz="quarter" idx="15"/>
          </p:nvPr>
        </p:nvSpPr>
        <p:spPr/>
        <p:txBody>
          <a:bodyPr rtlCol="0"/>
          <a:lstStyle/>
          <a:p>
            <a:fld id="{C650A3B9-867F-4CE5-B740-6C089F76EFC1}" type="slidenum">
              <a:rPr lang="es-BO" smtClean="0"/>
              <a:t>‹Nº›</a:t>
            </a:fld>
            <a:endParaRPr lang="es-BO"/>
          </a:p>
        </p:txBody>
      </p:sp>
      <p:sp>
        <p:nvSpPr>
          <p:cNvPr id="10" name="9 Marcador de pie de página"/>
          <p:cNvSpPr>
            <a:spLocks noGrp="1"/>
          </p:cNvSpPr>
          <p:nvPr>
            <p:ph type="ftr" sz="quarter" idx="16"/>
          </p:nvPr>
        </p:nvSpPr>
        <p:spPr/>
        <p:txBody>
          <a:bodyPr rtlCol="0"/>
          <a:lstStyle/>
          <a:p>
            <a:endParaRPr lang="es-BO"/>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Ref idx="1001">
        <a:schemeClr val="bg2"/>
      </p:bgRef>
    </p:bg>
    <p:spTree>
      <p:nvGrpSpPr>
        <p:cNvPr id="1" name=""/>
        <p:cNvGrpSpPr/>
        <p:nvPr/>
      </p:nvGrpSpPr>
      <p:grpSpPr>
        <a:xfrm>
          <a:off x="0" y="0"/>
          <a:ext cx="0" cy="0"/>
          <a:chOff x="0" y="0"/>
          <a:chExt cx="0" cy="0"/>
        </a:xfrm>
      </p:grpSpPr>
      <p:sp>
        <p:nvSpPr>
          <p:cNvPr id="2" name="1 Título"/>
          <p:cNvSpPr>
            <a:spLocks noGrp="1"/>
          </p:cNvSpPr>
          <p:nvPr>
            <p:ph type="title"/>
          </p:nvPr>
        </p:nvSpPr>
        <p:spPr>
          <a:xfrm>
            <a:off x="2286000" y="2895600"/>
            <a:ext cx="6172200" cy="2053590"/>
          </a:xfrm>
        </p:spPr>
        <p:txBody>
          <a:bodyPr/>
          <a:lstStyle>
            <a:lvl1pPr algn="l">
              <a:buNone/>
              <a:defRPr sz="3000" b="1" cap="small" baseline="0"/>
            </a:lvl1pPr>
          </a:lstStyle>
          <a:p>
            <a:r>
              <a:rPr kumimoji="0" lang="es-ES" smtClean="0"/>
              <a:t>Haga clic para modificar el estilo de título del patrón</a:t>
            </a:r>
            <a:endParaRPr kumimoji="0" lang="en-US"/>
          </a:p>
        </p:txBody>
      </p:sp>
      <p:sp>
        <p:nvSpPr>
          <p:cNvPr id="3" name="2 Marcador de texto"/>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s-ES" smtClean="0"/>
              <a:t>Haga clic para modificar el estilo de texto del patrón</a:t>
            </a:r>
          </a:p>
        </p:txBody>
      </p:sp>
      <p:sp>
        <p:nvSpPr>
          <p:cNvPr id="4" name="3 Marcador de fecha"/>
          <p:cNvSpPr>
            <a:spLocks noGrp="1"/>
          </p:cNvSpPr>
          <p:nvPr>
            <p:ph type="dt" sz="half" idx="10"/>
          </p:nvPr>
        </p:nvSpPr>
        <p:spPr bwMode="auto">
          <a:xfrm rot="5400000">
            <a:off x="7763256" y="1170432"/>
            <a:ext cx="2286000" cy="381000"/>
          </a:xfrm>
        </p:spPr>
        <p:txBody>
          <a:bodyPr/>
          <a:lstStyle/>
          <a:p>
            <a:fld id="{225E3DC4-F50E-4EE8-938A-3558BCFEBD58}" type="datetimeFigureOut">
              <a:rPr lang="es-BO" smtClean="0"/>
              <a:t>22/11/2014</a:t>
            </a:fld>
            <a:endParaRPr lang="es-BO"/>
          </a:p>
        </p:txBody>
      </p:sp>
      <p:sp>
        <p:nvSpPr>
          <p:cNvPr id="5" name="4 Marcador de pie de página"/>
          <p:cNvSpPr>
            <a:spLocks noGrp="1"/>
          </p:cNvSpPr>
          <p:nvPr>
            <p:ph type="ftr" sz="quarter" idx="11"/>
          </p:nvPr>
        </p:nvSpPr>
        <p:spPr bwMode="auto">
          <a:xfrm rot="5400000">
            <a:off x="7077456" y="4178808"/>
            <a:ext cx="3657600" cy="384048"/>
          </a:xfrm>
        </p:spPr>
        <p:txBody>
          <a:bodyPr/>
          <a:lstStyle/>
          <a:p>
            <a:endParaRPr lang="es-BO"/>
          </a:p>
        </p:txBody>
      </p:sp>
      <p:sp>
        <p:nvSpPr>
          <p:cNvPr id="9" name="8 Rectángulo"/>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9 Rectángulo"/>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10 Rectángulo"/>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11 Rectángulo"/>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12 Conector recto"/>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13 Conector recto"/>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14 Conector recto"/>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15 Conector recto"/>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16 Conector recto"/>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17 Rectángulo"/>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18 Elipse"/>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19 Elipse"/>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20 Elipse"/>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21 Elipse"/>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22 Elipse"/>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25 Conector recto"/>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5 Marcador de número de diapositiva"/>
          <p:cNvSpPr>
            <a:spLocks noGrp="1"/>
          </p:cNvSpPr>
          <p:nvPr>
            <p:ph type="sldNum" sz="quarter" idx="12"/>
          </p:nvPr>
        </p:nvSpPr>
        <p:spPr bwMode="auto">
          <a:xfrm>
            <a:off x="1340616" y="4928702"/>
            <a:ext cx="609600" cy="517524"/>
          </a:xfrm>
        </p:spPr>
        <p:txBody>
          <a:bodyPr/>
          <a:lstStyle/>
          <a:p>
            <a:fld id="{C650A3B9-867F-4CE5-B740-6C089F76EFC1}" type="slidenum">
              <a:rPr lang="es-BO" smtClean="0"/>
              <a:t>‹Nº›</a:t>
            </a:fld>
            <a:endParaRPr lang="es-BO"/>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5" name="4 Marcador de fecha"/>
          <p:cNvSpPr>
            <a:spLocks noGrp="1"/>
          </p:cNvSpPr>
          <p:nvPr>
            <p:ph type="dt" sz="half" idx="10"/>
          </p:nvPr>
        </p:nvSpPr>
        <p:spPr/>
        <p:txBody>
          <a:bodyPr/>
          <a:lstStyle/>
          <a:p>
            <a:fld id="{225E3DC4-F50E-4EE8-938A-3558BCFEBD58}" type="datetimeFigureOut">
              <a:rPr lang="es-BO" smtClean="0"/>
              <a:t>22/11/2014</a:t>
            </a:fld>
            <a:endParaRPr lang="es-BO"/>
          </a:p>
        </p:txBody>
      </p:sp>
      <p:sp>
        <p:nvSpPr>
          <p:cNvPr id="6" name="5 Marcador de pie de página"/>
          <p:cNvSpPr>
            <a:spLocks noGrp="1"/>
          </p:cNvSpPr>
          <p:nvPr>
            <p:ph type="ftr" sz="quarter" idx="11"/>
          </p:nvPr>
        </p:nvSpPr>
        <p:spPr/>
        <p:txBody>
          <a:bodyPr/>
          <a:lstStyle/>
          <a:p>
            <a:endParaRPr lang="es-BO"/>
          </a:p>
        </p:txBody>
      </p:sp>
      <p:sp>
        <p:nvSpPr>
          <p:cNvPr id="7" name="6 Marcador de número de diapositiva"/>
          <p:cNvSpPr>
            <a:spLocks noGrp="1"/>
          </p:cNvSpPr>
          <p:nvPr>
            <p:ph type="sldNum" sz="quarter" idx="12"/>
          </p:nvPr>
        </p:nvSpPr>
        <p:spPr/>
        <p:txBody>
          <a:bodyPr/>
          <a:lstStyle/>
          <a:p>
            <a:fld id="{C650A3B9-867F-4CE5-B740-6C089F76EFC1}" type="slidenum">
              <a:rPr lang="es-BO" smtClean="0"/>
              <a:t>‹Nº›</a:t>
            </a:fld>
            <a:endParaRPr lang="es-BO"/>
          </a:p>
        </p:txBody>
      </p:sp>
      <p:sp>
        <p:nvSpPr>
          <p:cNvPr id="9" name="8 Marcador de contenido"/>
          <p:cNvSpPr>
            <a:spLocks noGrp="1"/>
          </p:cNvSpPr>
          <p:nvPr>
            <p:ph sz="quarter" idx="1"/>
          </p:nvPr>
        </p:nvSpPr>
        <p:spPr>
          <a:xfrm>
            <a:off x="457200" y="1600200"/>
            <a:ext cx="3657600" cy="4572000"/>
          </a:xfrm>
        </p:spPr>
        <p:txBody>
          <a:body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11" name="10 Marcador de contenido"/>
          <p:cNvSpPr>
            <a:spLocks noGrp="1"/>
          </p:cNvSpPr>
          <p:nvPr>
            <p:ph sz="quarter" idx="2"/>
          </p:nvPr>
        </p:nvSpPr>
        <p:spPr>
          <a:xfrm>
            <a:off x="4270248" y="1600200"/>
            <a:ext cx="3657600" cy="4572000"/>
          </a:xfrm>
        </p:spPr>
        <p:txBody>
          <a:body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7543800" cy="1143000"/>
          </a:xfrm>
        </p:spPr>
        <p:txBody>
          <a:bodyPr anchor="b"/>
          <a:lstStyle>
            <a:lvl1pPr>
              <a:defRPr/>
            </a:lvl1pPr>
          </a:lstStyle>
          <a:p>
            <a:r>
              <a:rPr kumimoji="0" lang="es-ES" smtClean="0"/>
              <a:t>Haga clic para modificar el estilo de título del patrón</a:t>
            </a:r>
            <a:endParaRPr kumimoji="0" lang="en-US"/>
          </a:p>
        </p:txBody>
      </p:sp>
      <p:sp>
        <p:nvSpPr>
          <p:cNvPr id="7" name="6 Marcador de fecha"/>
          <p:cNvSpPr>
            <a:spLocks noGrp="1"/>
          </p:cNvSpPr>
          <p:nvPr>
            <p:ph type="dt" sz="half" idx="10"/>
          </p:nvPr>
        </p:nvSpPr>
        <p:spPr/>
        <p:txBody>
          <a:bodyPr/>
          <a:lstStyle/>
          <a:p>
            <a:fld id="{225E3DC4-F50E-4EE8-938A-3558BCFEBD58}" type="datetimeFigureOut">
              <a:rPr lang="es-BO" smtClean="0"/>
              <a:t>22/11/2014</a:t>
            </a:fld>
            <a:endParaRPr lang="es-BO"/>
          </a:p>
        </p:txBody>
      </p:sp>
      <p:sp>
        <p:nvSpPr>
          <p:cNvPr id="8" name="7 Marcador de pie de página"/>
          <p:cNvSpPr>
            <a:spLocks noGrp="1"/>
          </p:cNvSpPr>
          <p:nvPr>
            <p:ph type="ftr" sz="quarter" idx="11"/>
          </p:nvPr>
        </p:nvSpPr>
        <p:spPr/>
        <p:txBody>
          <a:bodyPr/>
          <a:lstStyle/>
          <a:p>
            <a:endParaRPr lang="es-BO"/>
          </a:p>
        </p:txBody>
      </p:sp>
      <p:sp>
        <p:nvSpPr>
          <p:cNvPr id="9" name="8 Marcador de número de diapositiva"/>
          <p:cNvSpPr>
            <a:spLocks noGrp="1"/>
          </p:cNvSpPr>
          <p:nvPr>
            <p:ph type="sldNum" sz="quarter" idx="12"/>
          </p:nvPr>
        </p:nvSpPr>
        <p:spPr/>
        <p:txBody>
          <a:bodyPr/>
          <a:lstStyle/>
          <a:p>
            <a:fld id="{C650A3B9-867F-4CE5-B740-6C089F76EFC1}" type="slidenum">
              <a:rPr lang="es-BO" smtClean="0"/>
              <a:t>‹Nº›</a:t>
            </a:fld>
            <a:endParaRPr lang="es-BO"/>
          </a:p>
        </p:txBody>
      </p:sp>
      <p:sp>
        <p:nvSpPr>
          <p:cNvPr id="11" name="10 Marcador de contenido"/>
          <p:cNvSpPr>
            <a:spLocks noGrp="1"/>
          </p:cNvSpPr>
          <p:nvPr>
            <p:ph sz="quarter" idx="2"/>
          </p:nvPr>
        </p:nvSpPr>
        <p:spPr>
          <a:xfrm>
            <a:off x="457200" y="2362200"/>
            <a:ext cx="3657600" cy="3886200"/>
          </a:xfrm>
        </p:spPr>
        <p:txBody>
          <a:body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13" name="12 Marcador de contenido"/>
          <p:cNvSpPr>
            <a:spLocks noGrp="1"/>
          </p:cNvSpPr>
          <p:nvPr>
            <p:ph sz="quarter" idx="4"/>
          </p:nvPr>
        </p:nvSpPr>
        <p:spPr>
          <a:xfrm>
            <a:off x="4371975" y="2362200"/>
            <a:ext cx="3657600" cy="3886200"/>
          </a:xfrm>
        </p:spPr>
        <p:txBody>
          <a:body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12" name="11 Marcador de texto"/>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s-ES" smtClean="0"/>
              <a:t>Haga clic para modificar el estilo de texto del patrón</a:t>
            </a:r>
          </a:p>
        </p:txBody>
      </p:sp>
      <p:sp>
        <p:nvSpPr>
          <p:cNvPr id="14" name="13 Marcador de texto"/>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s-ES" smtClean="0"/>
              <a:t>Haga clic para modificar el estilo de texto del patrón</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6" name="5 Marcador de fecha"/>
          <p:cNvSpPr>
            <a:spLocks noGrp="1"/>
          </p:cNvSpPr>
          <p:nvPr>
            <p:ph type="dt" sz="half" idx="10"/>
          </p:nvPr>
        </p:nvSpPr>
        <p:spPr/>
        <p:txBody>
          <a:bodyPr rtlCol="0"/>
          <a:lstStyle/>
          <a:p>
            <a:fld id="{225E3DC4-F50E-4EE8-938A-3558BCFEBD58}" type="datetimeFigureOut">
              <a:rPr lang="es-BO" smtClean="0"/>
              <a:t>22/11/2014</a:t>
            </a:fld>
            <a:endParaRPr lang="es-BO"/>
          </a:p>
        </p:txBody>
      </p:sp>
      <p:sp>
        <p:nvSpPr>
          <p:cNvPr id="7" name="6 Marcador de número de diapositiva"/>
          <p:cNvSpPr>
            <a:spLocks noGrp="1"/>
          </p:cNvSpPr>
          <p:nvPr>
            <p:ph type="sldNum" sz="quarter" idx="11"/>
          </p:nvPr>
        </p:nvSpPr>
        <p:spPr/>
        <p:txBody>
          <a:bodyPr rtlCol="0"/>
          <a:lstStyle/>
          <a:p>
            <a:fld id="{C650A3B9-867F-4CE5-B740-6C089F76EFC1}" type="slidenum">
              <a:rPr lang="es-BO" smtClean="0"/>
              <a:t>‹Nº›</a:t>
            </a:fld>
            <a:endParaRPr lang="es-BO"/>
          </a:p>
        </p:txBody>
      </p:sp>
      <p:sp>
        <p:nvSpPr>
          <p:cNvPr id="8" name="7 Marcador de pie de página"/>
          <p:cNvSpPr>
            <a:spLocks noGrp="1"/>
          </p:cNvSpPr>
          <p:nvPr>
            <p:ph type="ftr" sz="quarter" idx="12"/>
          </p:nvPr>
        </p:nvSpPr>
        <p:spPr/>
        <p:txBody>
          <a:bodyPr rtlCol="0"/>
          <a:lstStyle/>
          <a:p>
            <a:endParaRPr lang="es-BO"/>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225E3DC4-F50E-4EE8-938A-3558BCFEBD58}" type="datetimeFigureOut">
              <a:rPr lang="es-BO" smtClean="0"/>
              <a:t>22/11/2014</a:t>
            </a:fld>
            <a:endParaRPr lang="es-BO"/>
          </a:p>
        </p:txBody>
      </p:sp>
      <p:sp>
        <p:nvSpPr>
          <p:cNvPr id="3" name="2 Marcador de pie de página"/>
          <p:cNvSpPr>
            <a:spLocks noGrp="1"/>
          </p:cNvSpPr>
          <p:nvPr>
            <p:ph type="ftr" sz="quarter" idx="11"/>
          </p:nvPr>
        </p:nvSpPr>
        <p:spPr/>
        <p:txBody>
          <a:bodyPr/>
          <a:lstStyle/>
          <a:p>
            <a:endParaRPr lang="es-BO"/>
          </a:p>
        </p:txBody>
      </p:sp>
      <p:sp>
        <p:nvSpPr>
          <p:cNvPr id="4" name="3 Marcador de número de diapositiva"/>
          <p:cNvSpPr>
            <a:spLocks noGrp="1"/>
          </p:cNvSpPr>
          <p:nvPr>
            <p:ph type="sldNum" sz="quarter" idx="12"/>
          </p:nvPr>
        </p:nvSpPr>
        <p:spPr/>
        <p:txBody>
          <a:bodyPr/>
          <a:lstStyle/>
          <a:p>
            <a:fld id="{C650A3B9-867F-4CE5-B740-6C089F76EFC1}" type="slidenum">
              <a:rPr lang="es-BO" smtClean="0"/>
              <a:t>‹Nº›</a:t>
            </a:fld>
            <a:endParaRPr lang="es-BO"/>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bg>
      <p:bgRef idx="1001">
        <a:schemeClr val="bg1"/>
      </p:bgRef>
    </p:bg>
    <p:spTree>
      <p:nvGrpSpPr>
        <p:cNvPr id="1" name=""/>
        <p:cNvGrpSpPr/>
        <p:nvPr/>
      </p:nvGrpSpPr>
      <p:grpSpPr>
        <a:xfrm>
          <a:off x="0" y="0"/>
          <a:ext cx="0" cy="0"/>
          <a:chOff x="0" y="0"/>
          <a:chExt cx="0" cy="0"/>
        </a:xfrm>
      </p:grpSpPr>
      <p:sp>
        <p:nvSpPr>
          <p:cNvPr id="10" name="9 Conector recto"/>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1 Título"/>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s-ES" smtClean="0"/>
              <a:t>Haga clic para modificar el estilo de título del patrón</a:t>
            </a:r>
            <a:endParaRPr kumimoji="0" lang="en-US"/>
          </a:p>
        </p:txBody>
      </p:sp>
      <p:sp>
        <p:nvSpPr>
          <p:cNvPr id="3" name="2 Marcador de texto"/>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s-ES" smtClean="0"/>
              <a:t>Haga clic para modificar el estilo de texto del patrón</a:t>
            </a:r>
          </a:p>
        </p:txBody>
      </p:sp>
      <p:sp>
        <p:nvSpPr>
          <p:cNvPr id="8" name="7 Conector recto"/>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8 Conector recto"/>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10 Conector recto"/>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11 Rectángulo"/>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12 Conector recto"/>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13 Elipse"/>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17 Marcador de contenido"/>
          <p:cNvSpPr>
            <a:spLocks noGrp="1"/>
          </p:cNvSpPr>
          <p:nvPr>
            <p:ph sz="quarter" idx="1"/>
          </p:nvPr>
        </p:nvSpPr>
        <p:spPr>
          <a:xfrm>
            <a:off x="304800" y="274320"/>
            <a:ext cx="5638800" cy="6327648"/>
          </a:xfrm>
        </p:spPr>
        <p:txBody>
          <a:body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21" name="20 Marcador de fecha"/>
          <p:cNvSpPr>
            <a:spLocks noGrp="1"/>
          </p:cNvSpPr>
          <p:nvPr>
            <p:ph type="dt" sz="half" idx="14"/>
          </p:nvPr>
        </p:nvSpPr>
        <p:spPr/>
        <p:txBody>
          <a:bodyPr rtlCol="0"/>
          <a:lstStyle/>
          <a:p>
            <a:fld id="{225E3DC4-F50E-4EE8-938A-3558BCFEBD58}" type="datetimeFigureOut">
              <a:rPr lang="es-BO" smtClean="0"/>
              <a:t>22/11/2014</a:t>
            </a:fld>
            <a:endParaRPr lang="es-BO"/>
          </a:p>
        </p:txBody>
      </p:sp>
      <p:sp>
        <p:nvSpPr>
          <p:cNvPr id="22" name="21 Marcador de número de diapositiva"/>
          <p:cNvSpPr>
            <a:spLocks noGrp="1"/>
          </p:cNvSpPr>
          <p:nvPr>
            <p:ph type="sldNum" sz="quarter" idx="15"/>
          </p:nvPr>
        </p:nvSpPr>
        <p:spPr/>
        <p:txBody>
          <a:bodyPr rtlCol="0"/>
          <a:lstStyle/>
          <a:p>
            <a:fld id="{C650A3B9-867F-4CE5-B740-6C089F76EFC1}" type="slidenum">
              <a:rPr lang="es-BO" smtClean="0"/>
              <a:t>‹Nº›</a:t>
            </a:fld>
            <a:endParaRPr lang="es-BO"/>
          </a:p>
        </p:txBody>
      </p:sp>
      <p:sp>
        <p:nvSpPr>
          <p:cNvPr id="23" name="22 Marcador de pie de página"/>
          <p:cNvSpPr>
            <a:spLocks noGrp="1"/>
          </p:cNvSpPr>
          <p:nvPr>
            <p:ph type="ftr" sz="quarter" idx="16"/>
          </p:nvPr>
        </p:nvSpPr>
        <p:spPr/>
        <p:txBody>
          <a:bodyPr rtlCol="0"/>
          <a:lstStyle/>
          <a:p>
            <a:endParaRPr lang="es-BO"/>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9" name="8 Conector recto"/>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12 Elipse"/>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1 Título"/>
          <p:cNvSpPr>
            <a:spLocks noGrp="1"/>
          </p:cNvSpPr>
          <p:nvPr>
            <p:ph type="title"/>
          </p:nvPr>
        </p:nvSpPr>
        <p:spPr>
          <a:xfrm rot="5400000">
            <a:off x="3350133" y="3200400"/>
            <a:ext cx="6309360" cy="457200"/>
          </a:xfrm>
        </p:spPr>
        <p:txBody>
          <a:bodyPr anchor="b"/>
          <a:lstStyle>
            <a:lvl1pPr algn="l">
              <a:buNone/>
              <a:defRPr sz="2000" b="1"/>
            </a:lvl1pPr>
          </a:lstStyle>
          <a:p>
            <a:r>
              <a:rPr kumimoji="0" lang="es-ES" smtClean="0"/>
              <a:t>Haga clic para modificar el estilo de título del patrón</a:t>
            </a:r>
            <a:endParaRPr kumimoji="0" lang="en-US"/>
          </a:p>
        </p:txBody>
      </p:sp>
      <p:sp>
        <p:nvSpPr>
          <p:cNvPr id="3" name="2 Marcador de posición de imagen"/>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s-ES" smtClean="0"/>
              <a:t>Haga clic en el icono para agregar una imagen</a:t>
            </a:r>
            <a:endParaRPr kumimoji="0" lang="en-US" dirty="0"/>
          </a:p>
        </p:txBody>
      </p:sp>
      <p:sp>
        <p:nvSpPr>
          <p:cNvPr id="4" name="3 Marcador de texto"/>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s-ES" smtClean="0"/>
              <a:t>Haga clic para modificar el estilo de texto del patrón</a:t>
            </a:r>
          </a:p>
        </p:txBody>
      </p:sp>
      <p:sp>
        <p:nvSpPr>
          <p:cNvPr id="10" name="9 Conector recto"/>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10 Rectángulo"/>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11 Conector recto"/>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18 Conector recto"/>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19 Conector recto"/>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16 Marcador de fecha"/>
          <p:cNvSpPr>
            <a:spLocks noGrp="1"/>
          </p:cNvSpPr>
          <p:nvPr>
            <p:ph type="dt" sz="half" idx="10"/>
          </p:nvPr>
        </p:nvSpPr>
        <p:spPr/>
        <p:txBody>
          <a:bodyPr rtlCol="0"/>
          <a:lstStyle/>
          <a:p>
            <a:fld id="{225E3DC4-F50E-4EE8-938A-3558BCFEBD58}" type="datetimeFigureOut">
              <a:rPr lang="es-BO" smtClean="0"/>
              <a:t>22/11/2014</a:t>
            </a:fld>
            <a:endParaRPr lang="es-BO"/>
          </a:p>
        </p:txBody>
      </p:sp>
      <p:sp>
        <p:nvSpPr>
          <p:cNvPr id="18" name="17 Marcador de número de diapositiva"/>
          <p:cNvSpPr>
            <a:spLocks noGrp="1"/>
          </p:cNvSpPr>
          <p:nvPr>
            <p:ph type="sldNum" sz="quarter" idx="11"/>
          </p:nvPr>
        </p:nvSpPr>
        <p:spPr/>
        <p:txBody>
          <a:bodyPr rtlCol="0"/>
          <a:lstStyle/>
          <a:p>
            <a:fld id="{C650A3B9-867F-4CE5-B740-6C089F76EFC1}" type="slidenum">
              <a:rPr lang="es-BO" smtClean="0"/>
              <a:t>‹Nº›</a:t>
            </a:fld>
            <a:endParaRPr lang="es-BO"/>
          </a:p>
        </p:txBody>
      </p:sp>
      <p:sp>
        <p:nvSpPr>
          <p:cNvPr id="21" name="20 Marcador de pie de página"/>
          <p:cNvSpPr>
            <a:spLocks noGrp="1"/>
          </p:cNvSpPr>
          <p:nvPr>
            <p:ph type="ftr" sz="quarter" idx="12"/>
          </p:nvPr>
        </p:nvSpPr>
        <p:spPr/>
        <p:txBody>
          <a:bodyPr rtlCol="0"/>
          <a:lstStyle/>
          <a:p>
            <a:endParaRPr lang="es-BO"/>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3" name="2 Marcador de texto vertical"/>
          <p:cNvSpPr>
            <a:spLocks noGrp="1"/>
          </p:cNvSpPr>
          <p:nvPr>
            <p:ph type="body" orient="vert" idx="1"/>
          </p:nvPr>
        </p:nvSpPr>
        <p:spPr/>
        <p:txBody>
          <a:bodyPr vert="eaVer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p>
            <a:fld id="{225E3DC4-F50E-4EE8-938A-3558BCFEBD58}" type="datetimeFigureOut">
              <a:rPr lang="es-BO" smtClean="0"/>
              <a:t>22/11/2014</a:t>
            </a:fld>
            <a:endParaRPr lang="es-BO"/>
          </a:p>
        </p:txBody>
      </p:sp>
      <p:sp>
        <p:nvSpPr>
          <p:cNvPr id="5" name="4 Marcador de pie de página"/>
          <p:cNvSpPr>
            <a:spLocks noGrp="1"/>
          </p:cNvSpPr>
          <p:nvPr>
            <p:ph type="ftr" sz="quarter" idx="11"/>
          </p:nvPr>
        </p:nvSpPr>
        <p:spPr/>
        <p:txBody>
          <a:bodyPr/>
          <a:lstStyle/>
          <a:p>
            <a:endParaRPr lang="es-BO"/>
          </a:p>
        </p:txBody>
      </p:sp>
      <p:sp>
        <p:nvSpPr>
          <p:cNvPr id="6" name="5 Marcador de número de diapositiva"/>
          <p:cNvSpPr>
            <a:spLocks noGrp="1"/>
          </p:cNvSpPr>
          <p:nvPr>
            <p:ph type="sldNum" sz="quarter" idx="12"/>
          </p:nvPr>
        </p:nvSpPr>
        <p:spPr/>
        <p:txBody>
          <a:bodyPr/>
          <a:lstStyle/>
          <a:p>
            <a:fld id="{C650A3B9-867F-4CE5-B740-6C089F76EFC1}" type="slidenum">
              <a:rPr lang="es-BO" smtClean="0"/>
              <a:t>‹Nº›</a:t>
            </a:fld>
            <a:endParaRPr lang="es-BO"/>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9"/>
            <a:ext cx="1676400" cy="5851525"/>
          </a:xfrm>
        </p:spPr>
        <p:txBody>
          <a:bodyPr vert="eaVert"/>
          <a:lstStyle/>
          <a:p>
            <a:r>
              <a:rPr kumimoji="0" lang="es-ES" smtClean="0"/>
              <a:t>Haga clic para modificar el estilo de título del patrón</a:t>
            </a:r>
            <a:endParaRPr kumimoji="0" lang="en-US"/>
          </a:p>
        </p:txBody>
      </p:sp>
      <p:sp>
        <p:nvSpPr>
          <p:cNvPr id="3" name="2 Marcador de texto vertical"/>
          <p:cNvSpPr>
            <a:spLocks noGrp="1"/>
          </p:cNvSpPr>
          <p:nvPr>
            <p:ph type="body" orient="vert" idx="1"/>
          </p:nvPr>
        </p:nvSpPr>
        <p:spPr>
          <a:xfrm>
            <a:off x="457200" y="274638"/>
            <a:ext cx="6019800" cy="5851525"/>
          </a:xfrm>
        </p:spPr>
        <p:txBody>
          <a:bodyPr vert="eaVer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p>
            <a:fld id="{225E3DC4-F50E-4EE8-938A-3558BCFEBD58}" type="datetimeFigureOut">
              <a:rPr lang="es-BO" smtClean="0"/>
              <a:t>22/11/2014</a:t>
            </a:fld>
            <a:endParaRPr lang="es-BO"/>
          </a:p>
        </p:txBody>
      </p:sp>
      <p:sp>
        <p:nvSpPr>
          <p:cNvPr id="5" name="4 Marcador de pie de página"/>
          <p:cNvSpPr>
            <a:spLocks noGrp="1"/>
          </p:cNvSpPr>
          <p:nvPr>
            <p:ph type="ftr" sz="quarter" idx="11"/>
          </p:nvPr>
        </p:nvSpPr>
        <p:spPr/>
        <p:txBody>
          <a:bodyPr/>
          <a:lstStyle/>
          <a:p>
            <a:endParaRPr lang="es-BO"/>
          </a:p>
        </p:txBody>
      </p:sp>
      <p:sp>
        <p:nvSpPr>
          <p:cNvPr id="6" name="5 Marcador de número de diapositiva"/>
          <p:cNvSpPr>
            <a:spLocks noGrp="1"/>
          </p:cNvSpPr>
          <p:nvPr>
            <p:ph type="sldNum" sz="quarter" idx="12"/>
          </p:nvPr>
        </p:nvSpPr>
        <p:spPr/>
        <p:txBody>
          <a:bodyPr/>
          <a:lstStyle/>
          <a:p>
            <a:fld id="{C650A3B9-867F-4CE5-B740-6C089F76EFC1}" type="slidenum">
              <a:rPr lang="es-BO" smtClean="0"/>
              <a:t>‹Nº›</a:t>
            </a:fld>
            <a:endParaRPr lang="es-BO"/>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15 Conector recto"/>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21 Marcador de título"/>
          <p:cNvSpPr>
            <a:spLocks noGrp="1"/>
          </p:cNvSpPr>
          <p:nvPr>
            <p:ph type="title"/>
          </p:nvPr>
        </p:nvSpPr>
        <p:spPr>
          <a:xfrm>
            <a:off x="457200" y="274638"/>
            <a:ext cx="7467600" cy="1143000"/>
          </a:xfrm>
          <a:prstGeom prst="rect">
            <a:avLst/>
          </a:prstGeom>
        </p:spPr>
        <p:txBody>
          <a:bodyPr vert="horz" anchor="b">
            <a:normAutofit/>
          </a:bodyPr>
          <a:lstStyle/>
          <a:p>
            <a:r>
              <a:rPr kumimoji="0" lang="es-ES" smtClean="0"/>
              <a:t>Haga clic para modificar el estilo de título del patrón</a:t>
            </a:r>
            <a:endParaRPr kumimoji="0" lang="en-US"/>
          </a:p>
        </p:txBody>
      </p:sp>
      <p:sp>
        <p:nvSpPr>
          <p:cNvPr id="13" name="12 Marcador de texto"/>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s-ES" smtClean="0"/>
              <a:t>Haga clic para modificar el estilo de texto del patrón</a:t>
            </a:r>
          </a:p>
          <a:p>
            <a:pPr lvl="1" eaLnBrk="1" latinLnBrk="0" hangingPunct="1"/>
            <a:r>
              <a:rPr kumimoji="0" lang="es-ES" smtClean="0"/>
              <a:t>Segundo nivel</a:t>
            </a:r>
          </a:p>
          <a:p>
            <a:pPr lvl="2" eaLnBrk="1" latinLnBrk="0" hangingPunct="1"/>
            <a:r>
              <a:rPr kumimoji="0" lang="es-ES" smtClean="0"/>
              <a:t>Tercer nivel</a:t>
            </a:r>
          </a:p>
          <a:p>
            <a:pPr lvl="3" eaLnBrk="1" latinLnBrk="0" hangingPunct="1"/>
            <a:r>
              <a:rPr kumimoji="0" lang="es-ES" smtClean="0"/>
              <a:t>Cuarto nivel</a:t>
            </a:r>
          </a:p>
          <a:p>
            <a:pPr lvl="4" eaLnBrk="1" latinLnBrk="0" hangingPunct="1"/>
            <a:r>
              <a:rPr kumimoji="0" lang="es-ES" smtClean="0"/>
              <a:t>Quinto nivel</a:t>
            </a:r>
            <a:endParaRPr kumimoji="0" lang="en-US"/>
          </a:p>
        </p:txBody>
      </p:sp>
      <p:sp>
        <p:nvSpPr>
          <p:cNvPr id="14" name="13 Marcador de fecha"/>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225E3DC4-F50E-4EE8-938A-3558BCFEBD58}" type="datetimeFigureOut">
              <a:rPr lang="es-BO" smtClean="0"/>
              <a:t>22/11/2014</a:t>
            </a:fld>
            <a:endParaRPr lang="es-BO"/>
          </a:p>
        </p:txBody>
      </p:sp>
      <p:sp>
        <p:nvSpPr>
          <p:cNvPr id="3" name="2 Marcador de pie de página"/>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es-BO"/>
          </a:p>
        </p:txBody>
      </p:sp>
      <p:sp>
        <p:nvSpPr>
          <p:cNvPr id="7" name="6 Conector recto"/>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8 Conector recto"/>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9 Rectángulo"/>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10 Conector recto"/>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11 Elipse"/>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22 Marcador de número de diapositiva"/>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C650A3B9-867F-4CE5-B740-6C089F76EFC1}" type="slidenum">
              <a:rPr lang="es-BO" smtClean="0"/>
              <a:t>‹Nº›</a:t>
            </a:fld>
            <a:endParaRPr lang="es-BO"/>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es.wikipedia.org/wiki/Enfermedad_neurodegenerativa"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es.wikipedia.org/wiki/Incidencia" TargetMode="External"/><Relationship Id="rId2" Type="http://schemas.openxmlformats.org/officeDocument/2006/relationships/hyperlink" Target="http://es.wikipedia.org/wiki/Enfermedad_de_Alzheimer#cite_note-pmid17727890-30" TargetMode="External"/><Relationship Id="rId1" Type="http://schemas.openxmlformats.org/officeDocument/2006/relationships/slideLayout" Target="../slideLayouts/slideLayout4.xml"/><Relationship Id="rId5" Type="http://schemas.openxmlformats.org/officeDocument/2006/relationships/hyperlink" Target="http://es.wikipedia.org/wiki/Demencia" TargetMode="External"/><Relationship Id="rId4" Type="http://schemas.openxmlformats.org/officeDocument/2006/relationships/hyperlink" Target="http://es.wikipedia.org/wiki/Estudios_de_cohortes" TargetMode="External"/></Relationships>
</file>

<file path=ppt/slides/_rels/slide4.xml.rels><?xml version="1.0" encoding="UTF-8" standalone="yes"?>
<Relationships xmlns="http://schemas.openxmlformats.org/package/2006/relationships"><Relationship Id="rId2" Type="http://schemas.openxmlformats.org/officeDocument/2006/relationships/hyperlink" Target="http://es.wikipedia.org/wiki/Hip%C3%B3tesis_(ling%C3%BC%C3%ADstica)"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hyperlink" Target="http://es.wikipedia.org/wiki/L%C3%B3bulo_frontal" TargetMode="External"/><Relationship Id="rId3" Type="http://schemas.openxmlformats.org/officeDocument/2006/relationships/hyperlink" Target="http://es.wikipedia.org/wiki/Corteza_cerebral" TargetMode="External"/><Relationship Id="rId7" Type="http://schemas.openxmlformats.org/officeDocument/2006/relationships/hyperlink" Target="http://es.wikipedia.org/wiki/L%C3%B3bulo_parietal" TargetMode="External"/><Relationship Id="rId2" Type="http://schemas.openxmlformats.org/officeDocument/2006/relationships/hyperlink" Target="http://es.wikipedia.org/wiki/Sinapsis" TargetMode="External"/><Relationship Id="rId1" Type="http://schemas.openxmlformats.org/officeDocument/2006/relationships/slideLayout" Target="../slideLayouts/slideLayout4.xml"/><Relationship Id="rId6" Type="http://schemas.openxmlformats.org/officeDocument/2006/relationships/hyperlink" Target="http://es.wikipedia.org/wiki/L%C3%B3bulo_temporal" TargetMode="External"/><Relationship Id="rId11" Type="http://schemas.openxmlformats.org/officeDocument/2006/relationships/image" Target="../media/image2.jpeg"/><Relationship Id="rId5" Type="http://schemas.openxmlformats.org/officeDocument/2006/relationships/hyperlink" Target="http://es.wikipedia.org/wiki/Degeneraci%C3%B3n_lobular_frontotemporal" TargetMode="External"/><Relationship Id="rId10" Type="http://schemas.openxmlformats.org/officeDocument/2006/relationships/hyperlink" Target="http://commons.wikimedia.org/wiki/File:Alzheimer_dementia_(3)_presenile_onset.jpg" TargetMode="External"/><Relationship Id="rId4" Type="http://schemas.openxmlformats.org/officeDocument/2006/relationships/hyperlink" Target="http://es.wikipedia.org/wiki/Atrofia" TargetMode="External"/><Relationship Id="rId9" Type="http://schemas.openxmlformats.org/officeDocument/2006/relationships/hyperlink" Target="http://es.wikipedia.org/wiki/Giro_cingulado"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hyperlink" Target="http://commons.wikimedia.org/wiki/File:TANGLES_HIGH-es.jpg"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es.wikipedia.org/wiki/Atenci%C3%B3n" TargetMode="External"/><Relationship Id="rId2" Type="http://schemas.openxmlformats.org/officeDocument/2006/relationships/hyperlink" Target="http://es.wikipedia.org/wiki/Funci%C3%B3n_ejecutiva" TargetMode="External"/><Relationship Id="rId1" Type="http://schemas.openxmlformats.org/officeDocument/2006/relationships/slideLayout" Target="../slideLayouts/slideLayout2.xml"/><Relationship Id="rId4" Type="http://schemas.openxmlformats.org/officeDocument/2006/relationships/hyperlink" Target="http://es.wikipedia.org/wiki/Razonamiento"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hyperlink" Target="http://commons.wikimedia.org/wiki/File:Pink_knitting_in_front_of_pink_sweatshirt.JPG" TargetMode="Externa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es.wikipedia.org/wiki/Cerebro" TargetMode="External"/><Relationship Id="rId2" Type="http://schemas.openxmlformats.org/officeDocument/2006/relationships/hyperlink" Target="http://es.wikipedia.org/wiki/Tomograf%C3%ADa_por_emisi%C3%B3n_de_positrones" TargetMode="External"/><Relationship Id="rId1" Type="http://schemas.openxmlformats.org/officeDocument/2006/relationships/slideLayout" Target="../slideLayouts/slideLayout4.xml"/><Relationship Id="rId6" Type="http://schemas.openxmlformats.org/officeDocument/2006/relationships/image" Target="../media/image6.jpeg"/><Relationship Id="rId5" Type="http://schemas.openxmlformats.org/officeDocument/2006/relationships/hyperlink" Target="http://commons.wikimedia.org/wiki/File:PET_Alzheimer.jpg" TargetMode="External"/><Relationship Id="rId4" Type="http://schemas.openxmlformats.org/officeDocument/2006/relationships/hyperlink" Target="http://es.wikipedia.org/wiki/L%C3%B3bulo_temporal"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es.wikipedia.org/wiki/Colinesterasa" TargetMode="External"/><Relationship Id="rId2" Type="http://schemas.openxmlformats.org/officeDocument/2006/relationships/hyperlink" Target="http://es.wikipedia.org/wiki/Anticolinester%C3%A1sico"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es.wikipedia.org/wiki/%C3%81cido_glut%C3%A1mico" TargetMode="External"/><Relationship Id="rId2" Type="http://schemas.openxmlformats.org/officeDocument/2006/relationships/hyperlink" Target="http://es.wikipedia.org/wiki/Gripe" TargetMode="External"/><Relationship Id="rId1" Type="http://schemas.openxmlformats.org/officeDocument/2006/relationships/slideLayout" Target="../slideLayouts/slideLayout4.xml"/><Relationship Id="rId5" Type="http://schemas.openxmlformats.org/officeDocument/2006/relationships/image" Target="../media/image7.jpg"/><Relationship Id="rId4" Type="http://schemas.openxmlformats.org/officeDocument/2006/relationships/hyperlink" Target="http://es.wikipedia.org/wiki/Excitotoxicidad"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p:txBody>
          <a:bodyPr/>
          <a:lstStyle/>
          <a:p>
            <a:r>
              <a:rPr lang="es-BO" dirty="0" smtClean="0"/>
              <a:t>Enfermedad de Alzheimer  </a:t>
            </a:r>
            <a:endParaRPr lang="es-BO" dirty="0"/>
          </a:p>
        </p:txBody>
      </p:sp>
      <p:sp>
        <p:nvSpPr>
          <p:cNvPr id="3" name="2 Subtítulo"/>
          <p:cNvSpPr>
            <a:spLocks noGrp="1"/>
          </p:cNvSpPr>
          <p:nvPr>
            <p:ph type="subTitle" idx="1"/>
          </p:nvPr>
        </p:nvSpPr>
        <p:spPr/>
        <p:txBody>
          <a:bodyPr/>
          <a:lstStyle/>
          <a:p>
            <a:r>
              <a:rPr lang="es-BO" dirty="0" smtClean="0"/>
              <a:t>Integrantes.- Rolando </a:t>
            </a:r>
            <a:r>
              <a:rPr lang="es-BO" dirty="0" err="1" smtClean="0"/>
              <a:t>Limachi</a:t>
            </a:r>
            <a:endParaRPr lang="es-BO" dirty="0" smtClean="0"/>
          </a:p>
          <a:p>
            <a:r>
              <a:rPr lang="es-BO" dirty="0"/>
              <a:t> </a:t>
            </a:r>
            <a:r>
              <a:rPr lang="es-BO" dirty="0" smtClean="0"/>
              <a:t>                          Lilian Zapata</a:t>
            </a:r>
            <a:endParaRPr lang="es-BO" dirty="0"/>
          </a:p>
        </p:txBody>
      </p:sp>
    </p:spTree>
    <p:extLst>
      <p:ext uri="{BB962C8B-B14F-4D97-AF65-F5344CB8AC3E}">
        <p14:creationId xmlns:p14="http://schemas.microsoft.com/office/powerpoint/2010/main" val="402052021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BO" dirty="0" smtClean="0"/>
              <a:t>Definición </a:t>
            </a:r>
            <a:endParaRPr lang="es-BO" dirty="0"/>
          </a:p>
        </p:txBody>
      </p:sp>
      <p:sp>
        <p:nvSpPr>
          <p:cNvPr id="3" name="2 Marcador de contenido"/>
          <p:cNvSpPr>
            <a:spLocks noGrp="1"/>
          </p:cNvSpPr>
          <p:nvPr>
            <p:ph sz="quarter" idx="1"/>
          </p:nvPr>
        </p:nvSpPr>
        <p:spPr/>
        <p:txBody>
          <a:bodyPr/>
          <a:lstStyle/>
          <a:p>
            <a:r>
              <a:rPr lang="es-ES" dirty="0"/>
              <a:t>La </a:t>
            </a:r>
            <a:r>
              <a:rPr lang="es-ES" b="1" dirty="0"/>
              <a:t>enfermedad de Alzheimer</a:t>
            </a:r>
            <a:r>
              <a:rPr lang="es-ES" dirty="0"/>
              <a:t> (</a:t>
            </a:r>
            <a:r>
              <a:rPr lang="es-ES" b="1" dirty="0"/>
              <a:t>EA</a:t>
            </a:r>
            <a:r>
              <a:rPr lang="es-ES" dirty="0"/>
              <a:t>), también denominada </a:t>
            </a:r>
            <a:r>
              <a:rPr lang="es-ES" b="1" dirty="0"/>
              <a:t>mal de Alzheimer</a:t>
            </a:r>
            <a:r>
              <a:rPr lang="es-ES" dirty="0"/>
              <a:t>, </a:t>
            </a:r>
            <a:r>
              <a:rPr lang="es-ES" b="1" dirty="0"/>
              <a:t>demencia senil de tipo Alzheimer</a:t>
            </a:r>
            <a:r>
              <a:rPr lang="es-ES" dirty="0"/>
              <a:t> (</a:t>
            </a:r>
            <a:r>
              <a:rPr lang="es-ES" b="1" dirty="0"/>
              <a:t>DSTA</a:t>
            </a:r>
            <a:r>
              <a:rPr lang="es-ES" dirty="0"/>
              <a:t>) o simplemente </a:t>
            </a:r>
            <a:r>
              <a:rPr lang="es-ES" b="1" dirty="0"/>
              <a:t>alzhéimer</a:t>
            </a:r>
            <a:r>
              <a:rPr lang="es-ES" dirty="0"/>
              <a:t>, es una </a:t>
            </a:r>
            <a:r>
              <a:rPr lang="es-ES" dirty="0">
                <a:hlinkClick r:id="rId2" tooltip="Enfermedad neurodegenerativa"/>
              </a:rPr>
              <a:t>enfermedad neurodegenerativa</a:t>
            </a:r>
            <a:r>
              <a:rPr lang="es-ES" dirty="0"/>
              <a:t> que se manifiesta como deterioro cognitivo y trastornos conductuales</a:t>
            </a:r>
            <a:endParaRPr lang="es-BO" dirty="0"/>
          </a:p>
        </p:txBody>
      </p:sp>
    </p:spTree>
    <p:extLst>
      <p:ext uri="{BB962C8B-B14F-4D97-AF65-F5344CB8AC3E}">
        <p14:creationId xmlns:p14="http://schemas.microsoft.com/office/powerpoint/2010/main" val="350538848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7467600" cy="850106"/>
          </a:xfrm>
        </p:spPr>
        <p:txBody>
          <a:bodyPr/>
          <a:lstStyle/>
          <a:p>
            <a:r>
              <a:rPr lang="es-BO" dirty="0" smtClean="0"/>
              <a:t>         Epidemiologia </a:t>
            </a:r>
            <a:endParaRPr lang="es-BO" dirty="0"/>
          </a:p>
        </p:txBody>
      </p:sp>
      <p:graphicFrame>
        <p:nvGraphicFramePr>
          <p:cNvPr id="5" name="4 Marcador de contenido"/>
          <p:cNvGraphicFramePr>
            <a:graphicFrameLocks noGrp="1"/>
          </p:cNvGraphicFramePr>
          <p:nvPr>
            <p:ph sz="quarter" idx="1"/>
            <p:extLst>
              <p:ext uri="{D42A27DB-BD31-4B8C-83A1-F6EECF244321}">
                <p14:modId xmlns:p14="http://schemas.microsoft.com/office/powerpoint/2010/main" val="628494206"/>
              </p:ext>
            </p:extLst>
          </p:nvPr>
        </p:nvGraphicFramePr>
        <p:xfrm>
          <a:off x="467544" y="1196752"/>
          <a:ext cx="4248472" cy="5392742"/>
        </p:xfrm>
        <a:graphic>
          <a:graphicData uri="http://schemas.openxmlformats.org/drawingml/2006/table">
            <a:tbl>
              <a:tblPr firstRow="1" firstCol="1" bandRow="1">
                <a:tableStyleId>{5C22544A-7EE6-4342-B048-85BDC9FD1C3A}</a:tableStyleId>
              </a:tblPr>
              <a:tblGrid>
                <a:gridCol w="1362717"/>
                <a:gridCol w="2885755"/>
              </a:tblGrid>
              <a:tr h="390169">
                <a:tc gridSpan="2">
                  <a:txBody>
                    <a:bodyPr/>
                    <a:lstStyle/>
                    <a:p>
                      <a:pPr algn="ctr">
                        <a:lnSpc>
                          <a:spcPct val="150000"/>
                        </a:lnSpc>
                        <a:spcAft>
                          <a:spcPts val="0"/>
                        </a:spcAft>
                      </a:pPr>
                      <a:r>
                        <a:rPr lang="es-BO" sz="1400" dirty="0">
                          <a:effectLst/>
                        </a:rPr>
                        <a:t>Tasas de incidencia del alzhéimer</a:t>
                      </a:r>
                      <a:br>
                        <a:rPr lang="es-BO" sz="1400" dirty="0">
                          <a:effectLst/>
                        </a:rPr>
                      </a:br>
                      <a:r>
                        <a:rPr lang="es-BO" sz="1400" dirty="0">
                          <a:effectLst/>
                        </a:rPr>
                        <a:t>los 65  después de años de edad</a:t>
                      </a:r>
                      <a:r>
                        <a:rPr lang="es-BO" sz="1400" u="none" strike="noStrike" baseline="30000" dirty="0">
                          <a:effectLst/>
                          <a:hlinkClick r:id="rId2"/>
                        </a:rPr>
                        <a:t>30</a:t>
                      </a:r>
                      <a:endParaRPr lang="es-BO" sz="1200" dirty="0">
                        <a:effectLst/>
                        <a:latin typeface="Calibri"/>
                        <a:ea typeface="Calibri"/>
                        <a:cs typeface="Times New Roman"/>
                      </a:endParaRPr>
                    </a:p>
                  </a:txBody>
                  <a:tcPr marL="19508" marR="19508" marT="19508" marB="19508" anchor="ctr"/>
                </a:tc>
                <a:tc hMerge="1">
                  <a:txBody>
                    <a:bodyPr/>
                    <a:lstStyle/>
                    <a:p>
                      <a:endParaRPr lang="es-BO"/>
                    </a:p>
                  </a:txBody>
                  <a:tcPr/>
                </a:tc>
              </a:tr>
              <a:tr h="741322">
                <a:tc>
                  <a:txBody>
                    <a:bodyPr/>
                    <a:lstStyle/>
                    <a:p>
                      <a:pPr algn="just">
                        <a:lnSpc>
                          <a:spcPct val="150000"/>
                        </a:lnSpc>
                        <a:spcAft>
                          <a:spcPts val="0"/>
                        </a:spcAft>
                      </a:pPr>
                      <a:r>
                        <a:rPr lang="es-BO" sz="1400">
                          <a:effectLst/>
                        </a:rPr>
                        <a:t>Edad</a:t>
                      </a:r>
                      <a:endParaRPr lang="es-BO" sz="1200">
                        <a:effectLst/>
                        <a:latin typeface="Calibri"/>
                        <a:ea typeface="Calibri"/>
                        <a:cs typeface="Times New Roman"/>
                      </a:endParaRPr>
                    </a:p>
                  </a:txBody>
                  <a:tcPr marL="19508" marR="19508" marT="19508" marB="19508" anchor="ctr"/>
                </a:tc>
                <a:tc>
                  <a:txBody>
                    <a:bodyPr/>
                    <a:lstStyle/>
                    <a:p>
                      <a:pPr algn="ctr">
                        <a:lnSpc>
                          <a:spcPct val="150000"/>
                        </a:lnSpc>
                        <a:spcAft>
                          <a:spcPts val="0"/>
                        </a:spcAft>
                      </a:pPr>
                      <a:r>
                        <a:rPr lang="es-BO" sz="1400">
                          <a:effectLst/>
                        </a:rPr>
                        <a:t>Incidencia</a:t>
                      </a:r>
                      <a:br>
                        <a:rPr lang="es-BO" sz="1400">
                          <a:effectLst/>
                        </a:rPr>
                      </a:br>
                      <a:r>
                        <a:rPr lang="es-BO" sz="1400">
                          <a:effectLst/>
                        </a:rPr>
                        <a:t>(nuevos casos)</a:t>
                      </a:r>
                      <a:br>
                        <a:rPr lang="es-BO" sz="1400">
                          <a:effectLst/>
                        </a:rPr>
                      </a:br>
                      <a:r>
                        <a:rPr lang="es-BO" sz="1400">
                          <a:effectLst/>
                        </a:rPr>
                        <a:t>por cada mil</a:t>
                      </a:r>
                      <a:br>
                        <a:rPr lang="es-BO" sz="1400">
                          <a:effectLst/>
                        </a:rPr>
                      </a:br>
                      <a:r>
                        <a:rPr lang="es-BO" sz="1400">
                          <a:effectLst/>
                        </a:rPr>
                        <a:t>personas-edad</a:t>
                      </a:r>
                      <a:endParaRPr lang="es-BO" sz="1200">
                        <a:effectLst/>
                        <a:latin typeface="Calibri"/>
                        <a:ea typeface="Calibri"/>
                        <a:cs typeface="Times New Roman"/>
                      </a:endParaRPr>
                    </a:p>
                  </a:txBody>
                  <a:tcPr marL="19508" marR="19508" marT="19508" marB="19508" anchor="ctr"/>
                </a:tc>
              </a:tr>
              <a:tr h="565745">
                <a:tc>
                  <a:txBody>
                    <a:bodyPr/>
                    <a:lstStyle/>
                    <a:p>
                      <a:pPr algn="just">
                        <a:lnSpc>
                          <a:spcPct val="150000"/>
                        </a:lnSpc>
                        <a:spcAft>
                          <a:spcPts val="0"/>
                        </a:spcAft>
                      </a:pPr>
                      <a:r>
                        <a:rPr lang="es-BO" sz="1400">
                          <a:effectLst/>
                        </a:rPr>
                        <a:t>65–69</a:t>
                      </a:r>
                      <a:endParaRPr lang="es-BO" sz="1200">
                        <a:effectLst/>
                        <a:latin typeface="Calibri"/>
                        <a:ea typeface="Calibri"/>
                        <a:cs typeface="Times New Roman"/>
                      </a:endParaRPr>
                    </a:p>
                  </a:txBody>
                  <a:tcPr marL="19508" marR="19508" marT="19508" marB="19508" anchor="ctr"/>
                </a:tc>
                <a:tc>
                  <a:txBody>
                    <a:bodyPr/>
                    <a:lstStyle/>
                    <a:p>
                      <a:pPr algn="ctr">
                        <a:lnSpc>
                          <a:spcPct val="150000"/>
                        </a:lnSpc>
                        <a:spcAft>
                          <a:spcPts val="0"/>
                        </a:spcAft>
                      </a:pPr>
                      <a:r>
                        <a:rPr lang="es-BO" sz="1400">
                          <a:effectLst/>
                        </a:rPr>
                        <a:t> 3</a:t>
                      </a:r>
                      <a:endParaRPr lang="es-BO" sz="1200">
                        <a:effectLst/>
                        <a:latin typeface="Calibri"/>
                        <a:ea typeface="Calibri"/>
                        <a:cs typeface="Times New Roman"/>
                      </a:endParaRPr>
                    </a:p>
                  </a:txBody>
                  <a:tcPr marL="19508" marR="19508" marT="19508" marB="19508" anchor="ctr"/>
                </a:tc>
              </a:tr>
              <a:tr h="565745">
                <a:tc>
                  <a:txBody>
                    <a:bodyPr/>
                    <a:lstStyle/>
                    <a:p>
                      <a:pPr algn="just">
                        <a:lnSpc>
                          <a:spcPct val="150000"/>
                        </a:lnSpc>
                        <a:spcAft>
                          <a:spcPts val="0"/>
                        </a:spcAft>
                      </a:pPr>
                      <a:r>
                        <a:rPr lang="es-BO" sz="1400">
                          <a:effectLst/>
                        </a:rPr>
                        <a:t>70–74</a:t>
                      </a:r>
                      <a:endParaRPr lang="es-BO" sz="1200">
                        <a:effectLst/>
                        <a:latin typeface="Calibri"/>
                        <a:ea typeface="Calibri"/>
                        <a:cs typeface="Times New Roman"/>
                      </a:endParaRPr>
                    </a:p>
                  </a:txBody>
                  <a:tcPr marL="19508" marR="19508" marT="19508" marB="19508" anchor="ctr"/>
                </a:tc>
                <a:tc>
                  <a:txBody>
                    <a:bodyPr/>
                    <a:lstStyle/>
                    <a:p>
                      <a:pPr algn="ctr">
                        <a:lnSpc>
                          <a:spcPct val="150000"/>
                        </a:lnSpc>
                        <a:spcAft>
                          <a:spcPts val="0"/>
                        </a:spcAft>
                      </a:pPr>
                      <a:r>
                        <a:rPr lang="es-BO" sz="1400">
                          <a:effectLst/>
                        </a:rPr>
                        <a:t> 6</a:t>
                      </a:r>
                      <a:endParaRPr lang="es-BO" sz="1200">
                        <a:effectLst/>
                        <a:latin typeface="Calibri"/>
                        <a:ea typeface="Calibri"/>
                        <a:cs typeface="Times New Roman"/>
                      </a:endParaRPr>
                    </a:p>
                  </a:txBody>
                  <a:tcPr marL="19508" marR="19508" marT="19508" marB="19508" anchor="ctr"/>
                </a:tc>
              </a:tr>
              <a:tr h="565745">
                <a:tc>
                  <a:txBody>
                    <a:bodyPr/>
                    <a:lstStyle/>
                    <a:p>
                      <a:pPr algn="just">
                        <a:lnSpc>
                          <a:spcPct val="150000"/>
                        </a:lnSpc>
                        <a:spcAft>
                          <a:spcPts val="0"/>
                        </a:spcAft>
                      </a:pPr>
                      <a:r>
                        <a:rPr lang="es-BO" sz="1400">
                          <a:effectLst/>
                        </a:rPr>
                        <a:t>75–79</a:t>
                      </a:r>
                      <a:endParaRPr lang="es-BO" sz="1200">
                        <a:effectLst/>
                        <a:latin typeface="Calibri"/>
                        <a:ea typeface="Calibri"/>
                        <a:cs typeface="Times New Roman"/>
                      </a:endParaRPr>
                    </a:p>
                  </a:txBody>
                  <a:tcPr marL="19508" marR="19508" marT="19508" marB="19508" anchor="ctr"/>
                </a:tc>
                <a:tc>
                  <a:txBody>
                    <a:bodyPr/>
                    <a:lstStyle/>
                    <a:p>
                      <a:pPr algn="ctr">
                        <a:lnSpc>
                          <a:spcPct val="150000"/>
                        </a:lnSpc>
                        <a:spcAft>
                          <a:spcPts val="0"/>
                        </a:spcAft>
                      </a:pPr>
                      <a:r>
                        <a:rPr lang="es-BO" sz="1400">
                          <a:effectLst/>
                        </a:rPr>
                        <a:t> 9</a:t>
                      </a:r>
                      <a:endParaRPr lang="es-BO" sz="1200">
                        <a:effectLst/>
                        <a:latin typeface="Calibri"/>
                        <a:ea typeface="Calibri"/>
                        <a:cs typeface="Times New Roman"/>
                      </a:endParaRPr>
                    </a:p>
                  </a:txBody>
                  <a:tcPr marL="19508" marR="19508" marT="19508" marB="19508" anchor="ctr"/>
                </a:tc>
              </a:tr>
              <a:tr h="565745">
                <a:tc>
                  <a:txBody>
                    <a:bodyPr/>
                    <a:lstStyle/>
                    <a:p>
                      <a:pPr algn="just">
                        <a:lnSpc>
                          <a:spcPct val="150000"/>
                        </a:lnSpc>
                        <a:spcAft>
                          <a:spcPts val="0"/>
                        </a:spcAft>
                      </a:pPr>
                      <a:r>
                        <a:rPr lang="es-BO" sz="1400">
                          <a:effectLst/>
                        </a:rPr>
                        <a:t>80–84</a:t>
                      </a:r>
                      <a:endParaRPr lang="es-BO" sz="1200">
                        <a:effectLst/>
                        <a:latin typeface="Calibri"/>
                        <a:ea typeface="Calibri"/>
                        <a:cs typeface="Times New Roman"/>
                      </a:endParaRPr>
                    </a:p>
                  </a:txBody>
                  <a:tcPr marL="19508" marR="19508" marT="19508" marB="19508" anchor="ctr"/>
                </a:tc>
                <a:tc>
                  <a:txBody>
                    <a:bodyPr/>
                    <a:lstStyle/>
                    <a:p>
                      <a:pPr algn="ctr">
                        <a:lnSpc>
                          <a:spcPct val="150000"/>
                        </a:lnSpc>
                        <a:spcAft>
                          <a:spcPts val="0"/>
                        </a:spcAft>
                      </a:pPr>
                      <a:r>
                        <a:rPr lang="es-BO" sz="1400">
                          <a:effectLst/>
                        </a:rPr>
                        <a:t>23</a:t>
                      </a:r>
                      <a:endParaRPr lang="es-BO" sz="1200">
                        <a:effectLst/>
                        <a:latin typeface="Calibri"/>
                        <a:ea typeface="Calibri"/>
                        <a:cs typeface="Times New Roman"/>
                      </a:endParaRPr>
                    </a:p>
                  </a:txBody>
                  <a:tcPr marL="19508" marR="19508" marT="19508" marB="19508" anchor="ctr"/>
                </a:tc>
              </a:tr>
              <a:tr h="565745">
                <a:tc>
                  <a:txBody>
                    <a:bodyPr/>
                    <a:lstStyle/>
                    <a:p>
                      <a:pPr algn="just">
                        <a:lnSpc>
                          <a:spcPct val="150000"/>
                        </a:lnSpc>
                        <a:spcAft>
                          <a:spcPts val="0"/>
                        </a:spcAft>
                      </a:pPr>
                      <a:r>
                        <a:rPr lang="es-BO" sz="1400">
                          <a:effectLst/>
                        </a:rPr>
                        <a:t>85–89</a:t>
                      </a:r>
                      <a:endParaRPr lang="es-BO" sz="1200">
                        <a:effectLst/>
                        <a:latin typeface="Calibri"/>
                        <a:ea typeface="Calibri"/>
                        <a:cs typeface="Times New Roman"/>
                      </a:endParaRPr>
                    </a:p>
                  </a:txBody>
                  <a:tcPr marL="19508" marR="19508" marT="19508" marB="19508" anchor="ctr"/>
                </a:tc>
                <a:tc>
                  <a:txBody>
                    <a:bodyPr/>
                    <a:lstStyle/>
                    <a:p>
                      <a:pPr algn="ctr">
                        <a:lnSpc>
                          <a:spcPct val="150000"/>
                        </a:lnSpc>
                        <a:spcAft>
                          <a:spcPts val="0"/>
                        </a:spcAft>
                      </a:pPr>
                      <a:r>
                        <a:rPr lang="es-BO" sz="1400" dirty="0">
                          <a:effectLst/>
                        </a:rPr>
                        <a:t>40</a:t>
                      </a:r>
                      <a:endParaRPr lang="es-BO" sz="1200" dirty="0">
                        <a:effectLst/>
                        <a:latin typeface="Calibri"/>
                        <a:ea typeface="Calibri"/>
                        <a:cs typeface="Times New Roman"/>
                      </a:endParaRPr>
                    </a:p>
                  </a:txBody>
                  <a:tcPr marL="19508" marR="19508" marT="19508" marB="19508" anchor="ctr"/>
                </a:tc>
              </a:tr>
              <a:tr h="565745">
                <a:tc>
                  <a:txBody>
                    <a:bodyPr/>
                    <a:lstStyle/>
                    <a:p>
                      <a:pPr algn="just">
                        <a:lnSpc>
                          <a:spcPct val="150000"/>
                        </a:lnSpc>
                        <a:spcAft>
                          <a:spcPts val="0"/>
                        </a:spcAft>
                      </a:pPr>
                      <a:r>
                        <a:rPr lang="es-BO" sz="1400">
                          <a:effectLst/>
                        </a:rPr>
                        <a:t>90–  </a:t>
                      </a:r>
                      <a:endParaRPr lang="es-BO" sz="1200">
                        <a:effectLst/>
                        <a:latin typeface="Calibri"/>
                        <a:ea typeface="Calibri"/>
                        <a:cs typeface="Times New Roman"/>
                      </a:endParaRPr>
                    </a:p>
                  </a:txBody>
                  <a:tcPr marL="19508" marR="19508" marT="19508" marB="19508" anchor="ctr"/>
                </a:tc>
                <a:tc>
                  <a:txBody>
                    <a:bodyPr/>
                    <a:lstStyle/>
                    <a:p>
                      <a:pPr algn="ctr">
                        <a:lnSpc>
                          <a:spcPct val="150000"/>
                        </a:lnSpc>
                        <a:spcAft>
                          <a:spcPts val="0"/>
                        </a:spcAft>
                      </a:pPr>
                      <a:r>
                        <a:rPr lang="es-BO" sz="1400" dirty="0">
                          <a:effectLst/>
                        </a:rPr>
                        <a:t>69</a:t>
                      </a:r>
                      <a:endParaRPr lang="es-BO" sz="1200" dirty="0">
                        <a:effectLst/>
                        <a:latin typeface="Calibri"/>
                        <a:ea typeface="Calibri"/>
                        <a:cs typeface="Times New Roman"/>
                      </a:endParaRPr>
                    </a:p>
                  </a:txBody>
                  <a:tcPr marL="19508" marR="19508" marT="19508" marB="19508" anchor="ctr"/>
                </a:tc>
              </a:tr>
            </a:tbl>
          </a:graphicData>
        </a:graphic>
      </p:graphicFrame>
      <p:sp>
        <p:nvSpPr>
          <p:cNvPr id="4" name="3 Marcador de contenido"/>
          <p:cNvSpPr>
            <a:spLocks noGrp="1"/>
          </p:cNvSpPr>
          <p:nvPr>
            <p:ph sz="quarter" idx="2"/>
          </p:nvPr>
        </p:nvSpPr>
        <p:spPr>
          <a:xfrm>
            <a:off x="4788024" y="1628800"/>
            <a:ext cx="3657600" cy="4572000"/>
          </a:xfrm>
        </p:spPr>
        <p:txBody>
          <a:bodyPr>
            <a:normAutofit/>
          </a:bodyPr>
          <a:lstStyle/>
          <a:p>
            <a:r>
              <a:rPr lang="es-ES" dirty="0"/>
              <a:t>La </a:t>
            </a:r>
            <a:r>
              <a:rPr lang="es-ES" dirty="0">
                <a:hlinkClick r:id="rId3" tooltip="Incidencia"/>
              </a:rPr>
              <a:t>incidencia</a:t>
            </a:r>
            <a:r>
              <a:rPr lang="es-ES" dirty="0"/>
              <a:t> en </a:t>
            </a:r>
            <a:r>
              <a:rPr lang="es-ES" dirty="0">
                <a:hlinkClick r:id="rId4" tooltip="Estudios de cohortes"/>
              </a:rPr>
              <a:t>estudios de cohortes</a:t>
            </a:r>
            <a:r>
              <a:rPr lang="es-ES" dirty="0"/>
              <a:t> muestra tasas entre 10 y 15 nuevos casos cada mil personas al año para la aparición de cualquier forma </a:t>
            </a:r>
            <a:r>
              <a:rPr lang="es-ES" dirty="0" err="1"/>
              <a:t>de</a:t>
            </a:r>
            <a:r>
              <a:rPr lang="es-ES" dirty="0" err="1">
                <a:hlinkClick r:id="rId5" tooltip="Demencia"/>
              </a:rPr>
              <a:t>demencia</a:t>
            </a:r>
            <a:r>
              <a:rPr lang="es-ES" dirty="0"/>
              <a:t> y entre 5 - 8 para la aparición del alzhéimer</a:t>
            </a:r>
            <a:endParaRPr lang="es-BO" dirty="0"/>
          </a:p>
        </p:txBody>
      </p:sp>
    </p:spTree>
    <p:extLst>
      <p:ext uri="{BB962C8B-B14F-4D97-AF65-F5344CB8AC3E}">
        <p14:creationId xmlns:p14="http://schemas.microsoft.com/office/powerpoint/2010/main" val="9702781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S" b="1" dirty="0"/>
              <a:t>ETIOLOGIA</a:t>
            </a:r>
            <a:r>
              <a:rPr lang="es-ES" b="1" dirty="0" smtClean="0"/>
              <a:t>:</a:t>
            </a:r>
            <a:endParaRPr lang="es-BO" dirty="0"/>
          </a:p>
        </p:txBody>
      </p:sp>
      <p:sp>
        <p:nvSpPr>
          <p:cNvPr id="3" name="2 Marcador de contenido"/>
          <p:cNvSpPr>
            <a:spLocks noGrp="1"/>
          </p:cNvSpPr>
          <p:nvPr>
            <p:ph sz="quarter" idx="1"/>
          </p:nvPr>
        </p:nvSpPr>
        <p:spPr/>
        <p:txBody>
          <a:bodyPr/>
          <a:lstStyle/>
          <a:p>
            <a:r>
              <a:rPr lang="es-ES" dirty="0" smtClean="0"/>
              <a:t>Las </a:t>
            </a:r>
            <a:r>
              <a:rPr lang="es-ES" dirty="0"/>
              <a:t>causas del alzhéimer no han sido descubiertas completamente. Existen tres principales </a:t>
            </a:r>
            <a:r>
              <a:rPr lang="es-ES" dirty="0">
                <a:hlinkClick r:id="rId2" tooltip="Hipótesis (lingüística)"/>
              </a:rPr>
              <a:t>hipótesis</a:t>
            </a:r>
            <a:r>
              <a:rPr lang="es-ES" dirty="0"/>
              <a:t> para explicar el fenómeno: el déficit de la acetilcolina, la acumulación de </a:t>
            </a:r>
            <a:r>
              <a:rPr lang="es-ES" dirty="0" err="1"/>
              <a:t>amiloide</a:t>
            </a:r>
            <a:r>
              <a:rPr lang="es-ES" dirty="0"/>
              <a:t> o tau y los trastornos metabólicos.</a:t>
            </a:r>
            <a:endParaRPr lang="es-BO" dirty="0"/>
          </a:p>
          <a:p>
            <a:endParaRPr lang="es-BO" dirty="0"/>
          </a:p>
        </p:txBody>
      </p:sp>
    </p:spTree>
    <p:extLst>
      <p:ext uri="{BB962C8B-B14F-4D97-AF65-F5344CB8AC3E}">
        <p14:creationId xmlns:p14="http://schemas.microsoft.com/office/powerpoint/2010/main" val="13917121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BO" dirty="0" smtClean="0"/>
              <a:t>patogenia</a:t>
            </a:r>
            <a:endParaRPr lang="es-BO" dirty="0"/>
          </a:p>
        </p:txBody>
      </p:sp>
      <p:sp>
        <p:nvSpPr>
          <p:cNvPr id="3" name="2 Marcador de contenido"/>
          <p:cNvSpPr>
            <a:spLocks noGrp="1"/>
          </p:cNvSpPr>
          <p:nvPr>
            <p:ph sz="quarter" idx="1"/>
          </p:nvPr>
        </p:nvSpPr>
        <p:spPr/>
        <p:txBody>
          <a:bodyPr>
            <a:normAutofit fontScale="85000" lnSpcReduction="10000"/>
          </a:bodyPr>
          <a:lstStyle/>
          <a:p>
            <a:r>
              <a:rPr lang="es-ES" dirty="0"/>
              <a:t>La enfermedad de Alzheimer se caracteriza por la pérdida de neuronas y </a:t>
            </a:r>
            <a:r>
              <a:rPr lang="es-ES" dirty="0">
                <a:hlinkClick r:id="rId2" tooltip="Sinapsis"/>
              </a:rPr>
              <a:t>sinapsis</a:t>
            </a:r>
            <a:r>
              <a:rPr lang="es-ES" dirty="0"/>
              <a:t> en la </a:t>
            </a:r>
            <a:r>
              <a:rPr lang="es-ES" dirty="0">
                <a:hlinkClick r:id="rId3" tooltip="Corteza cerebral"/>
              </a:rPr>
              <a:t>corteza cerebral</a:t>
            </a:r>
            <a:r>
              <a:rPr lang="es-ES" dirty="0"/>
              <a:t> y en ciertas regiones subcorticales. Esta pérdida resulta en una </a:t>
            </a:r>
            <a:r>
              <a:rPr lang="es-ES" dirty="0">
                <a:hlinkClick r:id="rId4" tooltip="Atrofia"/>
              </a:rPr>
              <a:t>atrofia</a:t>
            </a:r>
            <a:r>
              <a:rPr lang="es-ES" dirty="0"/>
              <a:t> de las regiones afectadas, incluyendo una </a:t>
            </a:r>
            <a:r>
              <a:rPr lang="es-ES" dirty="0">
                <a:hlinkClick r:id="rId5" tooltip="Degeneración lobular frontotemporal"/>
              </a:rPr>
              <a:t>degeneración</a:t>
            </a:r>
            <a:r>
              <a:rPr lang="es-ES" dirty="0"/>
              <a:t> en el </a:t>
            </a:r>
            <a:r>
              <a:rPr lang="es-ES" dirty="0">
                <a:hlinkClick r:id="rId6" tooltip="Lóbulo temporal"/>
              </a:rPr>
              <a:t>lóbulo temporal</a:t>
            </a:r>
            <a:r>
              <a:rPr lang="es-ES" dirty="0"/>
              <a:t> y </a:t>
            </a:r>
            <a:r>
              <a:rPr lang="es-ES" dirty="0" err="1">
                <a:hlinkClick r:id="rId7" tooltip="Lóbulo parietal"/>
              </a:rPr>
              <a:t>parietal</a:t>
            </a:r>
            <a:r>
              <a:rPr lang="es-ES" dirty="0" err="1"/>
              <a:t>y</a:t>
            </a:r>
            <a:r>
              <a:rPr lang="es-ES" dirty="0"/>
              <a:t> partes de la </a:t>
            </a:r>
            <a:r>
              <a:rPr lang="es-ES" dirty="0">
                <a:hlinkClick r:id="rId8" tooltip="Lóbulo frontal"/>
              </a:rPr>
              <a:t>corteza frontal</a:t>
            </a:r>
            <a:r>
              <a:rPr lang="es-ES" dirty="0"/>
              <a:t> y la </a:t>
            </a:r>
            <a:r>
              <a:rPr lang="es-ES" dirty="0">
                <a:hlinkClick r:id="rId9" tooltip="Giro cingulado"/>
              </a:rPr>
              <a:t>circunvolución </a:t>
            </a:r>
            <a:r>
              <a:rPr lang="es-ES" dirty="0" err="1">
                <a:hlinkClick r:id="rId9" tooltip="Giro cingulado"/>
              </a:rPr>
              <a:t>cingulada</a:t>
            </a:r>
            <a:endParaRPr lang="es-BO" dirty="0"/>
          </a:p>
        </p:txBody>
      </p:sp>
      <p:pic>
        <p:nvPicPr>
          <p:cNvPr id="5" name="4 Marcador de contenido" descr="http://upload.wikimedia.org/wikipedia/commons/thumb/a/a7/Alzheimer_dementia_%283%29_presenile_onset.jpg/220px-Alzheimer_dementia_%283%29_presenile_onset.jpg">
            <a:hlinkClick r:id="rId10"/>
          </p:cNvPr>
          <p:cNvPicPr>
            <a:picLocks noGrp="1"/>
          </p:cNvPicPr>
          <p:nvPr>
            <p:ph sz="quarter" idx="2"/>
          </p:nvPr>
        </p:nvPicPr>
        <p:blipFill>
          <a:blip r:embed="rId11">
            <a:extLst>
              <a:ext uri="{28A0092B-C50C-407E-A947-70E740481C1C}">
                <a14:useLocalDpi xmlns:a14="http://schemas.microsoft.com/office/drawing/2010/main" val="0"/>
              </a:ext>
            </a:extLst>
          </a:blip>
          <a:srcRect/>
          <a:stretch>
            <a:fillRect/>
          </a:stretch>
        </p:blipFill>
        <p:spPr bwMode="auto">
          <a:xfrm>
            <a:off x="4702175" y="2832100"/>
            <a:ext cx="2794000" cy="2108200"/>
          </a:xfrm>
          <a:prstGeom prst="rect">
            <a:avLst/>
          </a:prstGeom>
          <a:noFill/>
          <a:ln>
            <a:noFill/>
          </a:ln>
        </p:spPr>
      </p:pic>
    </p:spTree>
    <p:extLst>
      <p:ext uri="{BB962C8B-B14F-4D97-AF65-F5344CB8AC3E}">
        <p14:creationId xmlns:p14="http://schemas.microsoft.com/office/powerpoint/2010/main" val="9881869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BO" dirty="0" smtClean="0"/>
              <a:t>PATOLOGIA</a:t>
            </a:r>
            <a:endParaRPr lang="es-BO" dirty="0"/>
          </a:p>
        </p:txBody>
      </p:sp>
      <p:pic>
        <p:nvPicPr>
          <p:cNvPr id="4" name="3 Marcador de contenido" descr="http://upload.wikimedia.org/wikipedia/commons/thumb/d/df/TANGLES_HIGH-es.jpg/400px-TANGLES_HIGH-es.jpg">
            <a:hlinkClick r:id="rId2"/>
          </p:cNvPr>
          <p:cNvPicPr>
            <a:picLocks noGrp="1"/>
          </p:cNvPicPr>
          <p:nvPr>
            <p:ph sz="quarter" idx="1"/>
          </p:nvPr>
        </p:nvPicPr>
        <p:blipFill>
          <a:blip r:embed="rId3">
            <a:extLst>
              <a:ext uri="{28A0092B-C50C-407E-A947-70E740481C1C}">
                <a14:useLocalDpi xmlns:a14="http://schemas.microsoft.com/office/drawing/2010/main" val="0"/>
              </a:ext>
            </a:extLst>
          </a:blip>
          <a:srcRect/>
          <a:stretch>
            <a:fillRect/>
          </a:stretch>
        </p:blipFill>
        <p:spPr bwMode="auto">
          <a:xfrm>
            <a:off x="1187624" y="1916832"/>
            <a:ext cx="6336704" cy="3960440"/>
          </a:xfrm>
          <a:prstGeom prst="rect">
            <a:avLst/>
          </a:prstGeom>
          <a:noFill/>
          <a:ln>
            <a:noFill/>
          </a:ln>
        </p:spPr>
      </p:pic>
    </p:spTree>
    <p:extLst>
      <p:ext uri="{BB962C8B-B14F-4D97-AF65-F5344CB8AC3E}">
        <p14:creationId xmlns:p14="http://schemas.microsoft.com/office/powerpoint/2010/main" val="16486058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BO" dirty="0" smtClean="0"/>
              <a:t>CUADRO CLINICO</a:t>
            </a:r>
            <a:endParaRPr lang="es-BO" dirty="0"/>
          </a:p>
        </p:txBody>
      </p:sp>
      <p:sp>
        <p:nvSpPr>
          <p:cNvPr id="3" name="2 Marcador de contenido"/>
          <p:cNvSpPr>
            <a:spLocks noGrp="1"/>
          </p:cNvSpPr>
          <p:nvPr>
            <p:ph sz="quarter" idx="1"/>
          </p:nvPr>
        </p:nvSpPr>
        <p:spPr/>
        <p:txBody>
          <a:bodyPr/>
          <a:lstStyle/>
          <a:p>
            <a:r>
              <a:rPr lang="es-BO" dirty="0" smtClean="0"/>
              <a:t>PRE DEMENCIA.-</a:t>
            </a:r>
            <a:r>
              <a:rPr lang="es-ES" dirty="0"/>
              <a:t>La deficiencia más notable es la pérdida de memoria, manifestada como la dificultad de recordar hechos recientemente aprendidos y una inhabilidad para adquirir nueva información. Dificultades leves en las </a:t>
            </a:r>
            <a:r>
              <a:rPr lang="es-ES" dirty="0">
                <a:hlinkClick r:id="rId2" tooltip="Función ejecutiva"/>
              </a:rPr>
              <a:t>funciones ejecutivas</a:t>
            </a:r>
            <a:r>
              <a:rPr lang="es-ES" dirty="0"/>
              <a:t> —</a:t>
            </a:r>
            <a:r>
              <a:rPr lang="es-ES" dirty="0">
                <a:hlinkClick r:id="rId3" tooltip="Atención"/>
              </a:rPr>
              <a:t>atención</a:t>
            </a:r>
            <a:r>
              <a:rPr lang="es-ES" dirty="0"/>
              <a:t>, planificación, flexibilidad y </a:t>
            </a:r>
            <a:r>
              <a:rPr lang="es-ES" dirty="0">
                <a:hlinkClick r:id="rId4" tooltip="Razonamiento"/>
              </a:rPr>
              <a:t>razonamiento</a:t>
            </a:r>
            <a:r>
              <a:rPr lang="es-ES" dirty="0"/>
              <a:t> abstracto— o trastornos en la memoria semántica —el recordar el significado de las cosas y la interrelación entre los conceptos</a:t>
            </a:r>
            <a:endParaRPr lang="es-BO" dirty="0"/>
          </a:p>
        </p:txBody>
      </p:sp>
    </p:spTree>
    <p:extLst>
      <p:ext uri="{BB962C8B-B14F-4D97-AF65-F5344CB8AC3E}">
        <p14:creationId xmlns:p14="http://schemas.microsoft.com/office/powerpoint/2010/main" val="9174522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BO" dirty="0" smtClean="0"/>
              <a:t>DEMENCIA INICIAL</a:t>
            </a:r>
            <a:endParaRPr lang="es-BO" dirty="0"/>
          </a:p>
        </p:txBody>
      </p:sp>
      <p:sp>
        <p:nvSpPr>
          <p:cNvPr id="4" name="3 Marcador de contenido"/>
          <p:cNvSpPr>
            <a:spLocks noGrp="1"/>
          </p:cNvSpPr>
          <p:nvPr>
            <p:ph sz="quarter" idx="2"/>
          </p:nvPr>
        </p:nvSpPr>
        <p:spPr/>
        <p:txBody>
          <a:bodyPr>
            <a:normAutofit fontScale="85000" lnSpcReduction="20000"/>
          </a:bodyPr>
          <a:lstStyle/>
          <a:p>
            <a:r>
              <a:rPr lang="es-ES" dirty="0"/>
              <a:t>La disminución en la destreza de la coordinación muscular de pequeños movimientos, como el tejer, comienzan a aparecer en el paciente de Alzheimer en las fases iniciales de la enfermedad.</a:t>
            </a:r>
            <a:endParaRPr lang="es-BO" dirty="0"/>
          </a:p>
          <a:p>
            <a:r>
              <a:rPr lang="es-ES" dirty="0"/>
              <a:t>Los síntomas en esta fase inicial van desde una simple e insignificante, pero a veces recurrente, pérdida de memoria (como la dificultad en orientarse uno mismo en lugares como calles al estar conduciendo el automóvil)</a:t>
            </a:r>
            <a:endParaRPr lang="es-BO" dirty="0"/>
          </a:p>
        </p:txBody>
      </p:sp>
      <p:pic>
        <p:nvPicPr>
          <p:cNvPr id="5" name="4 Marcador de contenido" descr="http://upload.wikimedia.org/wikipedia/commons/thumb/3/3a/Pink_knitting_in_front_of_pink_sweatshirt.JPG/200px-Pink_knitting_in_front_of_pink_sweatshirt.JPG">
            <a:hlinkClick r:id="rId2"/>
          </p:cNvPr>
          <p:cNvPicPr>
            <a:picLocks noGrp="1"/>
          </p:cNvPicPr>
          <p:nvPr>
            <p:ph sz="quarter" idx="1"/>
          </p:nvPr>
        </p:nvPicPr>
        <p:blipFill>
          <a:blip r:embed="rId3">
            <a:extLst>
              <a:ext uri="{28A0092B-C50C-407E-A947-70E740481C1C}">
                <a14:useLocalDpi xmlns:a14="http://schemas.microsoft.com/office/drawing/2010/main" val="0"/>
              </a:ext>
            </a:extLst>
          </a:blip>
          <a:srcRect/>
          <a:stretch>
            <a:fillRect/>
          </a:stretch>
        </p:blipFill>
        <p:spPr bwMode="auto">
          <a:xfrm>
            <a:off x="1078522" y="2532185"/>
            <a:ext cx="2477477" cy="2198565"/>
          </a:xfrm>
          <a:prstGeom prst="rect">
            <a:avLst/>
          </a:prstGeom>
          <a:noFill/>
          <a:ln>
            <a:noFill/>
          </a:ln>
        </p:spPr>
      </p:pic>
    </p:spTree>
    <p:extLst>
      <p:ext uri="{BB962C8B-B14F-4D97-AF65-F5344CB8AC3E}">
        <p14:creationId xmlns:p14="http://schemas.microsoft.com/office/powerpoint/2010/main" val="31723807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BO" dirty="0" smtClean="0"/>
              <a:t>DEMENCIA MODERADA</a:t>
            </a:r>
            <a:endParaRPr lang="es-BO" dirty="0"/>
          </a:p>
        </p:txBody>
      </p:sp>
      <p:sp>
        <p:nvSpPr>
          <p:cNvPr id="3" name="2 Marcador de contenido"/>
          <p:cNvSpPr>
            <a:spLocks noGrp="1"/>
          </p:cNvSpPr>
          <p:nvPr>
            <p:ph sz="quarter" idx="1"/>
          </p:nvPr>
        </p:nvSpPr>
        <p:spPr/>
        <p:txBody>
          <a:bodyPr>
            <a:normAutofit fontScale="92500" lnSpcReduction="20000"/>
          </a:bodyPr>
          <a:lstStyle/>
          <a:p>
            <a:r>
              <a:rPr lang="es-ES" dirty="0"/>
              <a:t>Conforme avanza la enfermedad, los pacientes pueden realizar tareas con cierta independencia (como usar el baño), pero requerirán asistencia para tareas más complejas (p. ej. ir al banco, pagar cuentas, etc.). Paulatinamente llega la pérdida de aptitudes, como las de reconocer objetos y personas</a:t>
            </a:r>
            <a:endParaRPr lang="es-BO" dirty="0"/>
          </a:p>
        </p:txBody>
      </p:sp>
      <p:pic>
        <p:nvPicPr>
          <p:cNvPr id="6" name="Picture 3" descr="Sindrome Parkinson Richer 1888"/>
          <p:cNvPicPr>
            <a:picLocks noGrp="1" noChangeAspect="1" noChangeArrowheads="1"/>
          </p:cNvPicPr>
          <p:nvPr>
            <p:ph sz="quarter" idx="2"/>
          </p:nvPr>
        </p:nvPicPr>
        <p:blipFill>
          <a:blip r:embed="rId2">
            <a:extLst>
              <a:ext uri="{28A0092B-C50C-407E-A947-70E740481C1C}">
                <a14:useLocalDpi xmlns:a14="http://schemas.microsoft.com/office/drawing/2010/main" val="0"/>
              </a:ext>
            </a:extLst>
          </a:blip>
          <a:srcRect/>
          <a:stretch>
            <a:fillRect/>
          </a:stretch>
        </p:blipFill>
        <p:spPr bwMode="auto">
          <a:xfrm>
            <a:off x="4932040" y="1600200"/>
            <a:ext cx="2055889" cy="4572000"/>
          </a:xfrm>
          <a:prstGeom prst="rect">
            <a:avLst/>
          </a:prstGeom>
          <a:solidFill>
            <a:srgbClr val="B9E4FF"/>
          </a:solidFill>
          <a:ln w="38100">
            <a:solidFill>
              <a:schemeClr val="bg2"/>
            </a:solidFill>
            <a:miter lim="800000"/>
            <a:headEnd/>
            <a:tailEnd/>
          </a:ln>
        </p:spPr>
      </p:pic>
    </p:spTree>
    <p:extLst>
      <p:ext uri="{BB962C8B-B14F-4D97-AF65-F5344CB8AC3E}">
        <p14:creationId xmlns:p14="http://schemas.microsoft.com/office/powerpoint/2010/main" val="36225112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BO" dirty="0" smtClean="0"/>
              <a:t>DEMENCIA AVANSADA</a:t>
            </a:r>
            <a:endParaRPr lang="es-BO" dirty="0"/>
          </a:p>
        </p:txBody>
      </p:sp>
      <p:sp>
        <p:nvSpPr>
          <p:cNvPr id="3" name="2 Marcador de contenido"/>
          <p:cNvSpPr>
            <a:spLocks noGrp="1"/>
          </p:cNvSpPr>
          <p:nvPr>
            <p:ph sz="quarter" idx="1"/>
          </p:nvPr>
        </p:nvSpPr>
        <p:spPr/>
        <p:txBody>
          <a:bodyPr/>
          <a:lstStyle/>
          <a:p>
            <a:r>
              <a:rPr lang="es-ES" dirty="0"/>
              <a:t>Conforme avanza la enfermedad, los pacientes pueden realizar tareas con cierta independencia (como usar el baño), pero requerirán asistencia para tareas más complejas (p. ej. ir al banco, pagar cuentas, etc.). Paulatinamente llega la pérdida de aptitudes, como las de reconocer objetos y </a:t>
            </a:r>
            <a:r>
              <a:rPr lang="es-ES" dirty="0" smtClean="0"/>
              <a:t>personas.</a:t>
            </a:r>
            <a:endParaRPr lang="es-BO" dirty="0"/>
          </a:p>
        </p:txBody>
      </p:sp>
    </p:spTree>
    <p:extLst>
      <p:ext uri="{BB962C8B-B14F-4D97-AF65-F5344CB8AC3E}">
        <p14:creationId xmlns:p14="http://schemas.microsoft.com/office/powerpoint/2010/main" val="17487070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BO" dirty="0" smtClean="0"/>
              <a:t>DIAGNOSTICO</a:t>
            </a:r>
            <a:endParaRPr lang="es-BO" dirty="0"/>
          </a:p>
        </p:txBody>
      </p:sp>
      <p:sp>
        <p:nvSpPr>
          <p:cNvPr id="4" name="3 Marcador de contenido"/>
          <p:cNvSpPr>
            <a:spLocks noGrp="1"/>
          </p:cNvSpPr>
          <p:nvPr>
            <p:ph sz="quarter" idx="2"/>
          </p:nvPr>
        </p:nvSpPr>
        <p:spPr/>
        <p:txBody>
          <a:bodyPr/>
          <a:lstStyle/>
          <a:p>
            <a:r>
              <a:rPr lang="es-BO" dirty="0" smtClean="0"/>
              <a:t>TOMOGRAFIA AXIAL COM.PUTARIZADA</a:t>
            </a:r>
          </a:p>
          <a:p>
            <a:r>
              <a:rPr lang="es-ES" dirty="0">
                <a:hlinkClick r:id="rId2" tooltip="Tomografía por emisión de positrones"/>
              </a:rPr>
              <a:t>Tomografía</a:t>
            </a:r>
            <a:r>
              <a:rPr lang="es-ES" dirty="0"/>
              <a:t> del </a:t>
            </a:r>
            <a:r>
              <a:rPr lang="es-ES" dirty="0">
                <a:hlinkClick r:id="rId3" tooltip="Cerebro"/>
              </a:rPr>
              <a:t>cerebro</a:t>
            </a:r>
            <a:r>
              <a:rPr lang="es-ES" dirty="0"/>
              <a:t> de un paciente con alzhéimer mostrando pérdida de la función en el </a:t>
            </a:r>
            <a:r>
              <a:rPr lang="es-ES" dirty="0">
                <a:hlinkClick r:id="rId4" tooltip="Lóbulo temporal"/>
              </a:rPr>
              <a:t>lóbulo temporal</a:t>
            </a:r>
            <a:endParaRPr lang="es-BO" dirty="0"/>
          </a:p>
        </p:txBody>
      </p:sp>
      <p:pic>
        <p:nvPicPr>
          <p:cNvPr id="5" name="4 Marcador de contenido" descr="http://upload.wikimedia.org/wikipedia/commons/thumb/4/49/PET_Alzheimer.jpg/220px-PET_Alzheimer.jpg">
            <a:hlinkClick r:id="rId5"/>
          </p:cNvPr>
          <p:cNvPicPr>
            <a:picLocks noGrp="1"/>
          </p:cNvPicPr>
          <p:nvPr>
            <p:ph sz="quarter" idx="1"/>
          </p:nvPr>
        </p:nvPicPr>
        <p:blipFill>
          <a:blip r:embed="rId6">
            <a:extLst>
              <a:ext uri="{28A0092B-C50C-407E-A947-70E740481C1C}">
                <a14:useLocalDpi xmlns:a14="http://schemas.microsoft.com/office/drawing/2010/main" val="0"/>
              </a:ext>
            </a:extLst>
          </a:blip>
          <a:srcRect/>
          <a:stretch>
            <a:fillRect/>
          </a:stretch>
        </p:blipFill>
        <p:spPr bwMode="auto">
          <a:xfrm>
            <a:off x="1115616" y="1988840"/>
            <a:ext cx="2592288" cy="3240360"/>
          </a:xfrm>
          <a:prstGeom prst="rect">
            <a:avLst/>
          </a:prstGeom>
          <a:noFill/>
          <a:ln>
            <a:noFill/>
          </a:ln>
        </p:spPr>
      </p:pic>
    </p:spTree>
    <p:extLst>
      <p:ext uri="{BB962C8B-B14F-4D97-AF65-F5344CB8AC3E}">
        <p14:creationId xmlns:p14="http://schemas.microsoft.com/office/powerpoint/2010/main" val="17439867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BO" dirty="0" smtClean="0"/>
              <a:t>TRATAMIENTO</a:t>
            </a:r>
            <a:endParaRPr lang="es-BO" dirty="0"/>
          </a:p>
        </p:txBody>
      </p:sp>
      <p:sp>
        <p:nvSpPr>
          <p:cNvPr id="3" name="2 Marcador de contenido"/>
          <p:cNvSpPr>
            <a:spLocks noGrp="1"/>
          </p:cNvSpPr>
          <p:nvPr>
            <p:ph sz="quarter" idx="1"/>
          </p:nvPr>
        </p:nvSpPr>
        <p:spPr/>
        <p:txBody>
          <a:bodyPr/>
          <a:lstStyle/>
          <a:p>
            <a:r>
              <a:rPr lang="es-ES" dirty="0"/>
              <a:t>El tratamiento disponible se puede dividir en farmacológico, psicosocial y cuidados.</a:t>
            </a:r>
            <a:endParaRPr lang="es-BO" dirty="0"/>
          </a:p>
          <a:p>
            <a:r>
              <a:rPr lang="es-ES" b="1" dirty="0"/>
              <a:t>RETRASAR EL AVANCE</a:t>
            </a:r>
            <a:endParaRPr lang="es-BO" dirty="0"/>
          </a:p>
          <a:p>
            <a:r>
              <a:rPr lang="es-ES" dirty="0"/>
              <a:t>El avance de la enfermedad puede ser más rápido o más lento en función del entorno de la persona con alzhéimer. No es una situación fácil y la familia tendrá que hacer grandes esfuerzos para ofrecerle a la persona con alzhéimer un entorno lo más favorable posible.</a:t>
            </a:r>
            <a:endParaRPr lang="es-BO" dirty="0"/>
          </a:p>
          <a:p>
            <a:endParaRPr lang="es-BO" dirty="0"/>
          </a:p>
        </p:txBody>
      </p:sp>
    </p:spTree>
    <p:extLst>
      <p:ext uri="{BB962C8B-B14F-4D97-AF65-F5344CB8AC3E}">
        <p14:creationId xmlns:p14="http://schemas.microsoft.com/office/powerpoint/2010/main" val="30416470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BO" dirty="0" smtClean="0"/>
              <a:t>TRATAMIENTO</a:t>
            </a:r>
            <a:endParaRPr lang="es-BO" dirty="0"/>
          </a:p>
        </p:txBody>
      </p:sp>
      <p:sp>
        <p:nvSpPr>
          <p:cNvPr id="3" name="2 Marcador de contenido"/>
          <p:cNvSpPr>
            <a:spLocks noGrp="1"/>
          </p:cNvSpPr>
          <p:nvPr>
            <p:ph sz="quarter" idx="1"/>
          </p:nvPr>
        </p:nvSpPr>
        <p:spPr/>
        <p:txBody>
          <a:bodyPr/>
          <a:lstStyle/>
          <a:p>
            <a:r>
              <a:rPr lang="es-ES" b="1" dirty="0"/>
              <a:t>ACELERADORES DE LA ENFERMEDAD</a:t>
            </a:r>
            <a:endParaRPr lang="es-BO" dirty="0"/>
          </a:p>
          <a:p>
            <a:pPr lvl="0"/>
            <a:r>
              <a:rPr lang="es-ES" dirty="0"/>
              <a:t>Estrés familiar</a:t>
            </a:r>
            <a:endParaRPr lang="es-BO" dirty="0"/>
          </a:p>
          <a:p>
            <a:pPr lvl="0"/>
            <a:r>
              <a:rPr lang="es-ES" dirty="0"/>
              <a:t>Cambios bruscos en las rutinas diarias</a:t>
            </a:r>
            <a:endParaRPr lang="es-BO" dirty="0"/>
          </a:p>
          <a:p>
            <a:pPr lvl="0"/>
            <a:r>
              <a:rPr lang="es-ES" dirty="0"/>
              <a:t>Cambio a un domicilio nuevo y desconocido (como son las residencias de mayores).</a:t>
            </a:r>
            <a:endParaRPr lang="es-BO" dirty="0"/>
          </a:p>
          <a:p>
            <a:r>
              <a:rPr lang="es-ES" b="1" dirty="0"/>
              <a:t>RETRASADORES DE LA ENFERMEDAD</a:t>
            </a:r>
            <a:endParaRPr lang="es-BO" dirty="0"/>
          </a:p>
          <a:p>
            <a:pPr lvl="0"/>
            <a:r>
              <a:rPr lang="es-ES" dirty="0"/>
              <a:t>Ambiente familiar feliz</a:t>
            </a:r>
            <a:endParaRPr lang="es-BO" dirty="0"/>
          </a:p>
          <a:p>
            <a:pPr lvl="0"/>
            <a:r>
              <a:rPr lang="es-ES" dirty="0"/>
              <a:t>Hacer ejercicio</a:t>
            </a:r>
            <a:endParaRPr lang="es-BO" dirty="0"/>
          </a:p>
          <a:p>
            <a:pPr lvl="0"/>
            <a:r>
              <a:rPr lang="es-ES" dirty="0"/>
              <a:t>Socializar con los amigos u otras personas</a:t>
            </a:r>
            <a:endParaRPr lang="es-BO" dirty="0"/>
          </a:p>
          <a:p>
            <a:endParaRPr lang="es-BO" dirty="0"/>
          </a:p>
        </p:txBody>
      </p:sp>
    </p:spTree>
    <p:extLst>
      <p:ext uri="{BB962C8B-B14F-4D97-AF65-F5344CB8AC3E}">
        <p14:creationId xmlns:p14="http://schemas.microsoft.com/office/powerpoint/2010/main" val="6265409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BO" dirty="0" smtClean="0"/>
              <a:t>TRATAMIENTO FARMACOLOGICO</a:t>
            </a:r>
            <a:endParaRPr lang="es-BO" dirty="0"/>
          </a:p>
        </p:txBody>
      </p:sp>
      <p:sp>
        <p:nvSpPr>
          <p:cNvPr id="3" name="2 Marcador de contenido"/>
          <p:cNvSpPr>
            <a:spLocks noGrp="1"/>
          </p:cNvSpPr>
          <p:nvPr>
            <p:ph sz="quarter" idx="1"/>
          </p:nvPr>
        </p:nvSpPr>
        <p:spPr/>
        <p:txBody>
          <a:bodyPr/>
          <a:lstStyle/>
          <a:p>
            <a:r>
              <a:rPr lang="es-ES" dirty="0"/>
              <a:t>Se ha probado la eficacia de </a:t>
            </a:r>
            <a:r>
              <a:rPr lang="es-ES" dirty="0">
                <a:hlinkClick r:id="rId2" tooltip="Anticolinesterásico"/>
              </a:rPr>
              <a:t>fármacos </a:t>
            </a:r>
            <a:r>
              <a:rPr lang="es-ES" dirty="0" err="1">
                <a:hlinkClick r:id="rId2" tooltip="Anticolinesterásico"/>
              </a:rPr>
              <a:t>anticolinesterásicos</a:t>
            </a:r>
            <a:r>
              <a:rPr lang="es-ES" dirty="0"/>
              <a:t> que tienen una acción inhibidora de la </a:t>
            </a:r>
            <a:r>
              <a:rPr lang="es-ES" dirty="0" err="1">
                <a:hlinkClick r:id="rId3" tooltip="Colinesterasa"/>
              </a:rPr>
              <a:t>colinesterasa</a:t>
            </a:r>
            <a:r>
              <a:rPr lang="es-ES" dirty="0"/>
              <a:t>, la enzima encargada de descomponer la acetilcolina (neurotransmisor que falta en la enfermedad de Alzheimer y que incide sustancialmente en la memoria y otras funciones cognitivas). </a:t>
            </a:r>
            <a:endParaRPr lang="es-BO" dirty="0"/>
          </a:p>
        </p:txBody>
      </p:sp>
    </p:spTree>
    <p:extLst>
      <p:ext uri="{BB962C8B-B14F-4D97-AF65-F5344CB8AC3E}">
        <p14:creationId xmlns:p14="http://schemas.microsoft.com/office/powerpoint/2010/main" val="5917555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7467600" cy="778098"/>
          </a:xfrm>
        </p:spPr>
        <p:txBody>
          <a:bodyPr/>
          <a:lstStyle/>
          <a:p>
            <a:endParaRPr lang="es-BO" dirty="0"/>
          </a:p>
        </p:txBody>
      </p:sp>
      <p:sp>
        <p:nvSpPr>
          <p:cNvPr id="3" name="2 Marcador de contenido"/>
          <p:cNvSpPr>
            <a:spLocks noGrp="1"/>
          </p:cNvSpPr>
          <p:nvPr>
            <p:ph sz="quarter" idx="1"/>
          </p:nvPr>
        </p:nvSpPr>
        <p:spPr>
          <a:xfrm>
            <a:off x="395536" y="1196752"/>
            <a:ext cx="3719264" cy="4975448"/>
          </a:xfrm>
        </p:spPr>
        <p:txBody>
          <a:bodyPr>
            <a:noAutofit/>
          </a:bodyPr>
          <a:lstStyle/>
          <a:p>
            <a:r>
              <a:rPr lang="es-ES" sz="1600" dirty="0"/>
              <a:t>La </a:t>
            </a:r>
            <a:r>
              <a:rPr lang="es-ES" sz="1600" dirty="0" err="1"/>
              <a:t>memantina</a:t>
            </a:r>
            <a:r>
              <a:rPr lang="es-ES" sz="1600" dirty="0"/>
              <a:t> es un fármaco con un mecanismo de acción diferente, que está indicado en las fases moderadas y avanzadas de la enfermedad. Su mecanismo de acción teórico se basa en antagonizar los receptores NMDA </a:t>
            </a:r>
            <a:r>
              <a:rPr lang="es-ES" sz="1600" dirty="0" err="1"/>
              <a:t>glutaminérgicos</a:t>
            </a:r>
            <a:r>
              <a:rPr lang="es-ES" sz="1600" dirty="0"/>
              <a:t>, usado en un principio como un agente anti</a:t>
            </a:r>
            <a:r>
              <a:rPr lang="es-ES" sz="1600" dirty="0">
                <a:hlinkClick r:id="rId2" tooltip="Gripe"/>
              </a:rPr>
              <a:t>gripal</a:t>
            </a:r>
            <a:r>
              <a:rPr lang="es-ES" sz="1600" dirty="0"/>
              <a:t>. El </a:t>
            </a:r>
            <a:r>
              <a:rPr lang="es-ES" sz="1600" dirty="0">
                <a:hlinkClick r:id="rId3" tooltip="Ácido glutámico"/>
              </a:rPr>
              <a:t>glutamato</a:t>
            </a:r>
            <a:r>
              <a:rPr lang="es-ES" sz="1600" dirty="0"/>
              <a:t> es un neurotransmisor </a:t>
            </a:r>
            <a:r>
              <a:rPr lang="es-ES" sz="1600" dirty="0" err="1"/>
              <a:t>excitatorio</a:t>
            </a:r>
            <a:r>
              <a:rPr lang="es-ES" sz="1600" dirty="0"/>
              <a:t> del sistema nervioso central. Al parecer, un exceso de estimulación </a:t>
            </a:r>
            <a:r>
              <a:rPr lang="es-ES" sz="1600" dirty="0" err="1"/>
              <a:t>glutaminérgica</a:t>
            </a:r>
            <a:r>
              <a:rPr lang="es-ES" sz="1600" dirty="0"/>
              <a:t> podría producir o inducir una serie de reacciones </a:t>
            </a:r>
            <a:r>
              <a:rPr lang="es-ES" sz="1600" dirty="0" err="1"/>
              <a:t>intraneuronales</a:t>
            </a:r>
            <a:r>
              <a:rPr lang="es-ES" sz="1600" dirty="0"/>
              <a:t> de carácter tóxico, causando la muerte celular por un proceso llamado </a:t>
            </a:r>
            <a:r>
              <a:rPr lang="es-ES" sz="1600" dirty="0" err="1">
                <a:hlinkClick r:id="rId4" tooltip="Excitotoxicidad"/>
              </a:rPr>
              <a:t>excitotoxicidad</a:t>
            </a:r>
            <a:r>
              <a:rPr lang="es-ES" sz="1600" dirty="0"/>
              <a:t>, que consiste en una </a:t>
            </a:r>
            <a:r>
              <a:rPr lang="es-ES" sz="1600" dirty="0" err="1"/>
              <a:t>sobreestimulación</a:t>
            </a:r>
            <a:r>
              <a:rPr lang="es-ES" sz="1600" dirty="0"/>
              <a:t> de los receptores del glutamato</a:t>
            </a:r>
            <a:endParaRPr lang="es-BO" sz="1600" dirty="0"/>
          </a:p>
        </p:txBody>
      </p:sp>
      <p:pic>
        <p:nvPicPr>
          <p:cNvPr id="5" name="5 Marcador de contenido"/>
          <p:cNvPicPr>
            <a:picLocks noGrp="1" noChangeAspect="1"/>
          </p:cNvPicPr>
          <p:nvPr>
            <p:ph sz="quarter" idx="2"/>
          </p:nvPr>
        </p:nvPicPr>
        <p:blipFill>
          <a:blip r:embed="rId5">
            <a:extLst>
              <a:ext uri="{28A0092B-C50C-407E-A947-70E740481C1C}">
                <a14:useLocalDpi xmlns:a14="http://schemas.microsoft.com/office/drawing/2010/main" val="0"/>
              </a:ext>
            </a:extLst>
          </a:blip>
          <a:stretch>
            <a:fillRect/>
          </a:stretch>
        </p:blipFill>
        <p:spPr>
          <a:xfrm>
            <a:off x="4241436" y="2492896"/>
            <a:ext cx="3570924" cy="2808312"/>
          </a:xfrm>
        </p:spPr>
      </p:pic>
    </p:spTree>
    <p:extLst>
      <p:ext uri="{BB962C8B-B14F-4D97-AF65-F5344CB8AC3E}">
        <p14:creationId xmlns:p14="http://schemas.microsoft.com/office/powerpoint/2010/main" val="10451612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BO" dirty="0" smtClean="0"/>
              <a:t>CUIDADOS DE ENFEMERIA</a:t>
            </a:r>
            <a:endParaRPr lang="es-BO" dirty="0"/>
          </a:p>
        </p:txBody>
      </p:sp>
      <p:sp>
        <p:nvSpPr>
          <p:cNvPr id="3" name="2 Marcador de contenido"/>
          <p:cNvSpPr>
            <a:spLocks noGrp="1"/>
          </p:cNvSpPr>
          <p:nvPr>
            <p:ph sz="quarter" idx="1"/>
          </p:nvPr>
        </p:nvSpPr>
        <p:spPr/>
        <p:txBody>
          <a:bodyPr>
            <a:normAutofit fontScale="85000" lnSpcReduction="20000"/>
          </a:bodyPr>
          <a:lstStyle/>
          <a:p>
            <a:r>
              <a:rPr lang="es-BO" b="1" dirty="0"/>
              <a:t>Medidas generales</a:t>
            </a:r>
            <a:endParaRPr lang="es-BO" dirty="0"/>
          </a:p>
          <a:p>
            <a:pPr lvl="0"/>
            <a:r>
              <a:rPr lang="es-BO" dirty="0"/>
              <a:t>Evite los cambios en el entorno del enfermo</a:t>
            </a:r>
          </a:p>
          <a:p>
            <a:pPr lvl="0"/>
            <a:r>
              <a:rPr lang="es-BO" dirty="0"/>
              <a:t>Para realizar cualquier actividad, ofrezca al enfermo instrucciones cortas y </a:t>
            </a:r>
            <a:r>
              <a:rPr lang="es-BO" dirty="0" err="1"/>
              <a:t>faciles</a:t>
            </a:r>
            <a:r>
              <a:rPr lang="es-BO" dirty="0"/>
              <a:t> de seguir, dejándole tiempo para que procese la información.</a:t>
            </a:r>
          </a:p>
          <a:p>
            <a:pPr lvl="0"/>
            <a:r>
              <a:rPr lang="es-BO" dirty="0"/>
              <a:t>Al enfermo se le debe ayudar, pero no sustituirle en las tareas que todavía es capaz de realizar.</a:t>
            </a:r>
          </a:p>
          <a:p>
            <a:pPr lvl="0"/>
            <a:r>
              <a:rPr lang="es-BO" dirty="0"/>
              <a:t>El cuidador debe siempre animar, potenciar y estimular. Hay que evitar hacerle más dependiente.</a:t>
            </a:r>
          </a:p>
          <a:p>
            <a:pPr lvl="0"/>
            <a:r>
              <a:rPr lang="es-BO" dirty="0"/>
              <a:t>Mantenga, en la medida de lo posible, las relaciones sociales del enfermo.</a:t>
            </a:r>
          </a:p>
          <a:p>
            <a:pPr lvl="0"/>
            <a:r>
              <a:rPr lang="es-BO" dirty="0"/>
              <a:t>Mantenga una adecuada nutrición e hidratación del enfermo</a:t>
            </a:r>
          </a:p>
          <a:p>
            <a:pPr lvl="0"/>
            <a:r>
              <a:rPr lang="es-BO" dirty="0"/>
              <a:t>Restrinja, en la medida de lo posible, el número de fármacos, en especial, los que tengan efectos secundarios a nivel del sistema nervioso.</a:t>
            </a:r>
          </a:p>
          <a:p>
            <a:endParaRPr lang="es-BO" dirty="0"/>
          </a:p>
        </p:txBody>
      </p:sp>
    </p:spTree>
    <p:extLst>
      <p:ext uri="{BB962C8B-B14F-4D97-AF65-F5344CB8AC3E}">
        <p14:creationId xmlns:p14="http://schemas.microsoft.com/office/powerpoint/2010/main" val="12638180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BO" b="1" dirty="0"/>
              <a:t>Prevención de accidentes y </a:t>
            </a:r>
            <a:r>
              <a:rPr lang="es-BO" b="1" dirty="0" smtClean="0"/>
              <a:t>caídas</a:t>
            </a:r>
            <a:endParaRPr lang="es-BO" dirty="0"/>
          </a:p>
        </p:txBody>
      </p:sp>
      <p:sp>
        <p:nvSpPr>
          <p:cNvPr id="3" name="2 Marcador de contenido"/>
          <p:cNvSpPr>
            <a:spLocks noGrp="1"/>
          </p:cNvSpPr>
          <p:nvPr>
            <p:ph sz="quarter" idx="1"/>
          </p:nvPr>
        </p:nvSpPr>
        <p:spPr/>
        <p:txBody>
          <a:bodyPr>
            <a:normAutofit/>
          </a:bodyPr>
          <a:lstStyle/>
          <a:p>
            <a:pPr lvl="0"/>
            <a:r>
              <a:rPr lang="es-BO" dirty="0" smtClean="0"/>
              <a:t>Quite </a:t>
            </a:r>
            <a:r>
              <a:rPr lang="es-BO" dirty="0"/>
              <a:t>los cerrojos de las puertas interiores, para que el enfermo no pueda encerrarse</a:t>
            </a:r>
          </a:p>
          <a:p>
            <a:pPr lvl="0"/>
            <a:r>
              <a:rPr lang="es-BO" dirty="0"/>
              <a:t>Coloque cierres de seguridad en ventanas y puertas, para que el enfermo no pueda abrirlas solo.</a:t>
            </a:r>
          </a:p>
          <a:p>
            <a:pPr lvl="0"/>
            <a:r>
              <a:rPr lang="es-BO" dirty="0"/>
              <a:t>No deje que coja objetos pequeños que pueda tragarse.</a:t>
            </a:r>
          </a:p>
          <a:p>
            <a:pPr lvl="0"/>
            <a:r>
              <a:rPr lang="es-BO" dirty="0"/>
              <a:t>Proteja los radiadores de una rejilla de protección para evitar quemaduras</a:t>
            </a:r>
          </a:p>
          <a:p>
            <a:pPr lvl="0"/>
            <a:r>
              <a:rPr lang="es-BO" dirty="0"/>
              <a:t>Regule la temperatura del agua caliente de manera que no se queme</a:t>
            </a:r>
          </a:p>
          <a:p>
            <a:pPr lvl="0"/>
            <a:r>
              <a:rPr lang="es-BO" dirty="0"/>
              <a:t>No debe dejarle solo en balcones, terrazas, etc.</a:t>
            </a:r>
          </a:p>
        </p:txBody>
      </p:sp>
    </p:spTree>
    <p:extLst>
      <p:ext uri="{BB962C8B-B14F-4D97-AF65-F5344CB8AC3E}">
        <p14:creationId xmlns:p14="http://schemas.microsoft.com/office/powerpoint/2010/main" val="24607591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BO" b="1" dirty="0"/>
              <a:t>Mejorar la función intelectual</a:t>
            </a:r>
            <a:endParaRPr lang="es-BO" dirty="0"/>
          </a:p>
        </p:txBody>
      </p:sp>
      <p:sp>
        <p:nvSpPr>
          <p:cNvPr id="3" name="2 Marcador de contenido"/>
          <p:cNvSpPr>
            <a:spLocks noGrp="1"/>
          </p:cNvSpPr>
          <p:nvPr>
            <p:ph sz="quarter" idx="1"/>
          </p:nvPr>
        </p:nvSpPr>
        <p:spPr/>
        <p:txBody>
          <a:bodyPr>
            <a:normAutofit fontScale="92500" lnSpcReduction="20000"/>
          </a:bodyPr>
          <a:lstStyle/>
          <a:p>
            <a:pPr lvl="0"/>
            <a:r>
              <a:rPr lang="es-BO" dirty="0" smtClean="0"/>
              <a:t>Técnicas </a:t>
            </a:r>
            <a:r>
              <a:rPr lang="es-BO" dirty="0"/>
              <a:t>de orientación de la realidad: orientación en el tiempo, lugar y persona. Reconocimiento de objetos de uso cotidiano, etc.</a:t>
            </a:r>
          </a:p>
          <a:p>
            <a:pPr lvl="0"/>
            <a:r>
              <a:rPr lang="es-BO" dirty="0"/>
              <a:t>Estimulación de la memoria remota, que cuente cosas de su pasado, que hable de situaciones que recuerde...</a:t>
            </a:r>
          </a:p>
          <a:p>
            <a:pPr lvl="0"/>
            <a:r>
              <a:rPr lang="es-BO" dirty="0"/>
              <a:t>Animarles a que lea, ayudarle cuando no lo entienda y enseñarle fotos.</a:t>
            </a:r>
          </a:p>
          <a:p>
            <a:pPr lvl="0"/>
            <a:r>
              <a:rPr lang="es-BO" dirty="0"/>
              <a:t>Escuchar música relajante.</a:t>
            </a:r>
          </a:p>
          <a:p>
            <a:pPr lvl="0"/>
            <a:r>
              <a:rPr lang="es-BO" dirty="0"/>
              <a:t>Estimulación social: que participe en actos familiares, en las conversaciones, que le visiten amigos.</a:t>
            </a:r>
          </a:p>
          <a:p>
            <a:pPr lvl="0"/>
            <a:r>
              <a:rPr lang="es-BO" dirty="0"/>
              <a:t>Pedirle la opinión sobre algo que ha oído o ha visto en la tele.</a:t>
            </a:r>
          </a:p>
          <a:p>
            <a:pPr lvl="0"/>
            <a:r>
              <a:rPr lang="es-BO" dirty="0"/>
              <a:t>Entrenamiento de la memoria: describir objetos, completar frases, reconocer personas, decir refranes, jugar a las adivinanzas, etc.</a:t>
            </a:r>
          </a:p>
          <a:p>
            <a:endParaRPr lang="es-BO" dirty="0"/>
          </a:p>
        </p:txBody>
      </p:sp>
    </p:spTree>
    <p:extLst>
      <p:ext uri="{BB962C8B-B14F-4D97-AF65-F5344CB8AC3E}">
        <p14:creationId xmlns:p14="http://schemas.microsoft.com/office/powerpoint/2010/main" val="18995294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BO"/>
          </a:p>
        </p:txBody>
      </p:sp>
      <p:pic>
        <p:nvPicPr>
          <p:cNvPr id="4" name="3 Marcador de contenido" descr="http://www.me.gov.ar/efeme/alzheimer/imagenes/alz11.jpg"/>
          <p:cNvPicPr>
            <a:picLocks noGrp="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7092280" y="620688"/>
            <a:ext cx="1270000" cy="1651000"/>
          </a:xfrm>
          <a:prstGeom prst="rect">
            <a:avLst/>
          </a:prstGeom>
          <a:noFill/>
          <a:ln>
            <a:noFill/>
          </a:ln>
        </p:spPr>
      </p:pic>
      <p:sp>
        <p:nvSpPr>
          <p:cNvPr id="5" name="4 Rectángulo"/>
          <p:cNvSpPr/>
          <p:nvPr/>
        </p:nvSpPr>
        <p:spPr>
          <a:xfrm>
            <a:off x="1043608" y="1412776"/>
            <a:ext cx="5814392" cy="2585323"/>
          </a:xfrm>
          <a:prstGeom prst="rect">
            <a:avLst/>
          </a:prstGeom>
        </p:spPr>
        <p:txBody>
          <a:bodyPr wrap="square">
            <a:spAutoFit/>
          </a:bodyPr>
          <a:lstStyle/>
          <a:p>
            <a:r>
              <a:rPr lang="es-BO" dirty="0"/>
              <a:t>La enfermedad de Alzheimer es un desorden progresivo, degenerativo e irreversible del cerebro que causa la debilitación, la desorientación y una eventual  muerte intelectual. Su nombre proviene de A los Alzheimer, un neurólogo alemán que en 1907 describió los síntomas que presentaba una mujer de 48 años como graves problemas de memoria así como las características </a:t>
            </a:r>
            <a:r>
              <a:rPr lang="es-BO" dirty="0" err="1"/>
              <a:t>neuropatologica</a:t>
            </a:r>
            <a:r>
              <a:rPr lang="es-BO" dirty="0"/>
              <a:t> de la enfermedad de Alzheimer</a:t>
            </a:r>
          </a:p>
        </p:txBody>
      </p:sp>
    </p:spTree>
    <p:extLst>
      <p:ext uri="{BB962C8B-B14F-4D97-AF65-F5344CB8AC3E}">
        <p14:creationId xmlns:p14="http://schemas.microsoft.com/office/powerpoint/2010/main" val="305054397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irador">
  <a:themeElements>
    <a:clrScheme name="Mirador">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Mirador">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Mirador">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124</TotalTime>
  <Words>777</Words>
  <Application>Microsoft Office PowerPoint</Application>
  <PresentationFormat>Presentación en pantalla (4:3)</PresentationFormat>
  <Paragraphs>80</Paragraphs>
  <Slides>19</Slides>
  <Notes>0</Notes>
  <HiddenSlides>0</HiddenSlides>
  <MMClips>0</MMClips>
  <ScaleCrop>false</ScaleCrop>
  <HeadingPairs>
    <vt:vector size="4" baseType="variant">
      <vt:variant>
        <vt:lpstr>Tema</vt:lpstr>
      </vt:variant>
      <vt:variant>
        <vt:i4>1</vt:i4>
      </vt:variant>
      <vt:variant>
        <vt:lpstr>Títulos de diapositiva</vt:lpstr>
      </vt:variant>
      <vt:variant>
        <vt:i4>19</vt:i4>
      </vt:variant>
    </vt:vector>
  </HeadingPairs>
  <TitlesOfParts>
    <vt:vector size="20" baseType="lpstr">
      <vt:lpstr>Mirador</vt:lpstr>
      <vt:lpstr>Enfermedad de Alzheimer  </vt:lpstr>
      <vt:lpstr>Definición </vt:lpstr>
      <vt:lpstr>         Epidemiologia </vt:lpstr>
      <vt:lpstr>ETIOLOGIA:</vt:lpstr>
      <vt:lpstr>patogenia</vt:lpstr>
      <vt:lpstr>PATOLOGIA</vt:lpstr>
      <vt:lpstr>CUADRO CLINICO</vt:lpstr>
      <vt:lpstr>DEMENCIA INICIAL</vt:lpstr>
      <vt:lpstr>DEMENCIA MODERADA</vt:lpstr>
      <vt:lpstr>DEMENCIA AVANSADA</vt:lpstr>
      <vt:lpstr>DIAGNOSTICO</vt:lpstr>
      <vt:lpstr>TRATAMIENTO</vt:lpstr>
      <vt:lpstr>TRATAMIENTO</vt:lpstr>
      <vt:lpstr>TRATAMIENTO FARMACOLOGICO</vt:lpstr>
      <vt:lpstr>Presentación de PowerPoint</vt:lpstr>
      <vt:lpstr>CUIDADOS DE ENFEMERIA</vt:lpstr>
      <vt:lpstr>Prevención de accidentes y caídas</vt:lpstr>
      <vt:lpstr>Mejorar la función intelectual</vt:lpstr>
      <vt:lpstr>Presentación de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Enfermedad de Alzheimer</dc:title>
  <dc:creator>LILI</dc:creator>
  <cp:lastModifiedBy>LILI</cp:lastModifiedBy>
  <cp:revision>6</cp:revision>
  <dcterms:created xsi:type="dcterms:W3CDTF">2014-11-22T04:29:56Z</dcterms:created>
  <dcterms:modified xsi:type="dcterms:W3CDTF">2014-11-22T13:09:46Z</dcterms:modified>
</cp:coreProperties>
</file>