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1" r:id="rId4"/>
    <p:sldId id="274" r:id="rId5"/>
    <p:sldId id="276" r:id="rId6"/>
    <p:sldId id="262" r:id="rId7"/>
    <p:sldId id="263" r:id="rId8"/>
    <p:sldId id="264" r:id="rId9"/>
    <p:sldId id="257" r:id="rId10"/>
    <p:sldId id="258" r:id="rId11"/>
    <p:sldId id="265" r:id="rId12"/>
    <p:sldId id="266" r:id="rId13"/>
    <p:sldId id="270" r:id="rId14"/>
    <p:sldId id="269" r:id="rId15"/>
    <p:sldId id="271" r:id="rId16"/>
    <p:sldId id="273" r:id="rId17"/>
    <p:sldId id="277" r:id="rId18"/>
    <p:sldId id="272" r:id="rId19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11 Título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25" name="24 Subtítulo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31" name="30 Marcador de fecha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312D688A-BB9C-47D4-BC31-C2F16EA07751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18" name="17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s-BO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895E79D6-E0CB-4EF9-AE32-B6AA5B2B3AB5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12D688A-BB9C-47D4-BC31-C2F16EA07751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95E79D6-E0CB-4EF9-AE32-B6AA5B2B3AB5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312D688A-BB9C-47D4-BC31-C2F16EA07751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895E79D6-E0CB-4EF9-AE32-B6AA5B2B3AB5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12D688A-BB9C-47D4-BC31-C2F16EA07751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95E79D6-E0CB-4EF9-AE32-B6AA5B2B3AB5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12D688A-BB9C-47D4-BC31-C2F16EA07751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95E79D6-E0CB-4EF9-AE32-B6AA5B2B3AB5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12D688A-BB9C-47D4-BC31-C2F16EA07751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95E79D6-E0CB-4EF9-AE32-B6AA5B2B3AB5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312D688A-BB9C-47D4-BC31-C2F16EA07751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s-B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95E79D6-E0CB-4EF9-AE32-B6AA5B2B3AB5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12D688A-BB9C-47D4-BC31-C2F16EA07751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95E79D6-E0CB-4EF9-AE32-B6AA5B2B3AB5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8 Rectángulo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12D688A-BB9C-47D4-BC31-C2F16EA07751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95E79D6-E0CB-4EF9-AE32-B6AA5B2B3AB5}" type="slidenum">
              <a:rPr lang="es-BO" smtClean="0"/>
              <a:pPr/>
              <a:t>‹Nº›</a:t>
            </a:fld>
            <a:endParaRPr lang="es-BO"/>
          </a:p>
        </p:txBody>
      </p:sp>
      <p:sp>
        <p:nvSpPr>
          <p:cNvPr id="10" name="9 Marcador de posición de imagen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12D688A-BB9C-47D4-BC31-C2F16EA07751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95E79D6-E0CB-4EF9-AE32-B6AA5B2B3AB5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312D688A-BB9C-47D4-BC31-C2F16EA07751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95E79D6-E0CB-4EF9-AE32-B6AA5B2B3AB5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tángulo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2 Marcador de título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1" name="30 Marcador de texto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27" name="26 Marcador de fecha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312D688A-BB9C-47D4-BC31-C2F16EA07751}" type="datetimeFigureOut">
              <a:rPr lang="es-BO" smtClean="0"/>
              <a:pPr/>
              <a:t>31/05/2014</a:t>
            </a:fld>
            <a:endParaRPr lang="es-B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s-BO"/>
          </a:p>
        </p:txBody>
      </p:sp>
      <p:sp>
        <p:nvSpPr>
          <p:cNvPr id="16" name="1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895E79D6-E0CB-4EF9-AE32-B6AA5B2B3AB5}" type="slidenum">
              <a:rPr lang="es-BO" smtClean="0"/>
              <a:pPr/>
              <a:t>‹Nº›</a:t>
            </a:fld>
            <a:endParaRPr lang="es-B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BO" dirty="0" smtClean="0"/>
              <a:t>PROTOCOLO DE ENFERMERIA PARA INCONTINENCIA </a:t>
            </a: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BO" dirty="0" smtClean="0"/>
              <a:t>INTEGRANTES:          </a:t>
            </a:r>
            <a:r>
              <a:rPr lang="es-BO" dirty="0" smtClean="0"/>
              <a:t>AIDE </a:t>
            </a:r>
            <a:r>
              <a:rPr lang="es-BO" dirty="0" smtClean="0"/>
              <a:t>COILA ZAPATA</a:t>
            </a:r>
          </a:p>
          <a:p>
            <a:r>
              <a:rPr lang="es-BO" dirty="0" smtClean="0"/>
              <a:t>MONICA VASQUEZ ROMERO</a:t>
            </a:r>
            <a:endParaRPr lang="es-BO" dirty="0"/>
          </a:p>
        </p:txBody>
      </p:sp>
      <p:pic>
        <p:nvPicPr>
          <p:cNvPr id="7" name="Picture 7" descr="685649diarre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3419872" cy="68579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dirty="0" smtClean="0"/>
              <a:t>INCONTINENCIA </a:t>
            </a:r>
            <a:r>
              <a:rPr lang="es-BO" dirty="0" smtClean="0"/>
              <a:t>URINARIA </a:t>
            </a:r>
            <a:r>
              <a:rPr lang="es-BO" dirty="0"/>
              <a:t>-</a:t>
            </a:r>
            <a:r>
              <a:rPr lang="es-BO" dirty="0" smtClean="0"/>
              <a:t> fecal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000" b="1" dirty="0" smtClean="0"/>
              <a:t>Definición: </a:t>
            </a:r>
            <a:r>
              <a:rPr lang="es-ES" sz="2000" dirty="0" smtClean="0"/>
              <a:t>La incontinencia urinaria se define como </a:t>
            </a:r>
            <a:r>
              <a:rPr lang="es-ES" sz="2000" b="1" dirty="0" smtClean="0"/>
              <a:t>“la salida involuntaria de </a:t>
            </a:r>
            <a:r>
              <a:rPr lang="es-ES" sz="2000" b="1" dirty="0" smtClean="0"/>
              <a:t>orina o materia fecal, </a:t>
            </a:r>
            <a:r>
              <a:rPr lang="es-ES" sz="2000" b="1" dirty="0" smtClean="0"/>
              <a:t>que comporta la pérdida del control urinario </a:t>
            </a:r>
            <a:r>
              <a:rPr lang="es-ES" sz="2000" b="1" dirty="0" smtClean="0"/>
              <a:t>y fecal </a:t>
            </a:r>
            <a:r>
              <a:rPr lang="es-ES" sz="2000" b="1" dirty="0" smtClean="0"/>
              <a:t>la incapacidad de </a:t>
            </a:r>
            <a:r>
              <a:rPr lang="es-ES" sz="2000" b="1" dirty="0" smtClean="0"/>
              <a:t>contenerla </a:t>
            </a:r>
            <a:r>
              <a:rPr lang="es-ES" sz="2000" b="1" dirty="0" smtClean="0"/>
              <a:t>hasta ir al baño.</a:t>
            </a:r>
            <a:endParaRPr lang="es-BO" dirty="0"/>
          </a:p>
        </p:txBody>
      </p:sp>
      <p:pic>
        <p:nvPicPr>
          <p:cNvPr id="4" name="3 Imagen" descr="Incontinencia Urinaria - enfermeria101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284984"/>
            <a:ext cx="5472608" cy="29523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INCONTINENCIA 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ES" b="1" dirty="0" smtClean="0"/>
              <a:t>TIPOS DE INCONTINENCIA</a:t>
            </a:r>
            <a:endParaRPr lang="es-BO" dirty="0" smtClean="0"/>
          </a:p>
          <a:p>
            <a:pPr>
              <a:buNone/>
            </a:pPr>
            <a:r>
              <a:rPr lang="es-ES" b="1" dirty="0" smtClean="0"/>
              <a:t>•INCONTINENCIA LIGERA/MODERADA:</a:t>
            </a:r>
            <a:endParaRPr lang="es-BO" dirty="0" smtClean="0"/>
          </a:p>
          <a:p>
            <a:r>
              <a:rPr lang="es-ES" dirty="0" smtClean="0"/>
              <a:t>.Incontinencia de Esfuerzo</a:t>
            </a:r>
            <a:endParaRPr lang="es-BO" dirty="0" smtClean="0"/>
          </a:p>
          <a:p>
            <a:r>
              <a:rPr lang="es-ES" dirty="0" smtClean="0"/>
              <a:t>.Incontinencia de Urgencia </a:t>
            </a:r>
            <a:endParaRPr lang="es-BO" dirty="0" smtClean="0"/>
          </a:p>
          <a:p>
            <a:r>
              <a:rPr lang="es-ES" dirty="0" smtClean="0"/>
              <a:t>.Incontinencia Mixta</a:t>
            </a:r>
            <a:endParaRPr lang="es-BO" dirty="0" smtClean="0"/>
          </a:p>
          <a:p>
            <a:pPr>
              <a:buNone/>
            </a:pPr>
            <a:r>
              <a:rPr lang="es-ES" b="1" dirty="0" smtClean="0"/>
              <a:t>•INCONTINENCIA MEDIA/SEVERA:</a:t>
            </a:r>
            <a:endParaRPr lang="es-BO" dirty="0" smtClean="0"/>
          </a:p>
          <a:p>
            <a:r>
              <a:rPr lang="es-ES" dirty="0" smtClean="0"/>
              <a:t>.Incontinencia por </a:t>
            </a:r>
            <a:r>
              <a:rPr lang="es-ES" dirty="0" smtClean="0"/>
              <a:t>rebasamiento</a:t>
            </a:r>
            <a:endParaRPr lang="es-BO" dirty="0" smtClean="0"/>
          </a:p>
          <a:p>
            <a:r>
              <a:rPr lang="es-ES" dirty="0" smtClean="0"/>
              <a:t>.Incontinencia Funcional:</a:t>
            </a:r>
            <a:endParaRPr lang="es-BO" dirty="0" smtClean="0"/>
          </a:p>
          <a:p>
            <a:r>
              <a:rPr lang="es-ES" dirty="0" smtClean="0"/>
              <a:t>.Incontinencia Neurógena: </a:t>
            </a:r>
            <a:endParaRPr lang="es-BO" dirty="0" smtClean="0"/>
          </a:p>
          <a:p>
            <a:endParaRPr lang="es-BO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incontinencia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Causas</a:t>
            </a:r>
          </a:p>
          <a:p>
            <a:pPr marL="0" indent="0">
              <a:buNone/>
            </a:pPr>
            <a:r>
              <a:rPr lang="es-ES" dirty="0"/>
              <a:t>Las causas principales de incontinencia abarcan:</a:t>
            </a:r>
          </a:p>
          <a:p>
            <a:pPr marL="0" indent="0">
              <a:buNone/>
            </a:pPr>
            <a:r>
              <a:rPr lang="es-ES" dirty="0"/>
              <a:t>•	Problemas con la anatomía </a:t>
            </a:r>
          </a:p>
          <a:p>
            <a:pPr marL="0" indent="0">
              <a:buNone/>
            </a:pPr>
            <a:r>
              <a:rPr lang="es-ES" dirty="0"/>
              <a:t>•	Obstrucción </a:t>
            </a:r>
          </a:p>
          <a:p>
            <a:pPr marL="0" indent="0">
              <a:buNone/>
            </a:pPr>
            <a:r>
              <a:rPr lang="es-ES" dirty="0"/>
              <a:t>•	Problemas neurológicos o cerebrales </a:t>
            </a:r>
          </a:p>
          <a:p>
            <a:pPr marL="0" indent="0">
              <a:buNone/>
            </a:pPr>
            <a:r>
              <a:rPr lang="es-ES" dirty="0"/>
              <a:t>•	Trastornos musculares y nerviosos (trastornos neuromusculares) </a:t>
            </a:r>
          </a:p>
          <a:p>
            <a:pPr marL="0" indent="0">
              <a:buNone/>
            </a:pPr>
            <a:r>
              <a:rPr lang="es-ES" dirty="0"/>
              <a:t>•	Demencia u otros problemas psicológicos que afectan la capacidad para reconocer y responder a las ganas de orinar.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78037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incontinencia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b="1" dirty="0"/>
              <a:t>Factores que predisponen a la incontinencia</a:t>
            </a:r>
            <a:endParaRPr lang="es-ES" dirty="0"/>
          </a:p>
          <a:p>
            <a:r>
              <a:rPr lang="es-ES" dirty="0"/>
              <a:t>Existen factores que pueden propiciar la aparición de pérdidas de </a:t>
            </a:r>
            <a:r>
              <a:rPr lang="es-ES" dirty="0" smtClean="0"/>
              <a:t>orina o materia fecal, </a:t>
            </a:r>
            <a:r>
              <a:rPr lang="es-ES" dirty="0"/>
              <a:t>así como hábitos incorrectos que pueden favorecerla</a:t>
            </a:r>
            <a:r>
              <a:rPr lang="es-ES" dirty="0" smtClean="0"/>
              <a:t>:</a:t>
            </a:r>
            <a:endParaRPr lang="es-ES" dirty="0"/>
          </a:p>
          <a:p>
            <a:pPr lvl="0"/>
            <a:r>
              <a:rPr lang="es-ES" b="1" dirty="0"/>
              <a:t>Edad: </a:t>
            </a:r>
            <a:r>
              <a:rPr lang="es-ES" dirty="0"/>
              <a:t>Con la edad los músculos de la zona </a:t>
            </a:r>
            <a:r>
              <a:rPr lang="es-ES" dirty="0" smtClean="0"/>
              <a:t>pélvica y anal </a:t>
            </a:r>
            <a:r>
              <a:rPr lang="es-ES" dirty="0"/>
              <a:t>se debilitan y algunos tejidos pierden elasticidad. Si además de todo esto se deteriora la coordinación de los mecanismos del sistema urinario y del sistema nervioso favorecerá la incontinencia.</a:t>
            </a:r>
          </a:p>
          <a:p>
            <a:pPr lvl="0"/>
            <a:r>
              <a:rPr lang="es-ES" b="1" dirty="0"/>
              <a:t>Menopausia</a:t>
            </a:r>
            <a:r>
              <a:rPr lang="es-ES" dirty="0"/>
              <a:t>: la falta de producción de estrógenos provoca que los músculos de la vejiga se debiliten y pierdan elasticidad. (edad)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02849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INCONTINENCIA 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b="1" dirty="0" smtClean="0"/>
              <a:t> OBJETIVOS: </a:t>
            </a:r>
            <a:endParaRPr lang="es-BO" dirty="0" smtClean="0"/>
          </a:p>
          <a:p>
            <a:pPr lvl="0"/>
            <a:r>
              <a:rPr lang="es-ES" dirty="0" smtClean="0"/>
              <a:t>Implantar programa de educación sanitaria para disminuir la incontinencia </a:t>
            </a:r>
            <a:r>
              <a:rPr lang="es-ES" dirty="0" smtClean="0"/>
              <a:t>urinaria - fecal. </a:t>
            </a:r>
            <a:endParaRPr lang="es-BO" dirty="0" smtClean="0"/>
          </a:p>
          <a:p>
            <a:pPr lvl="0"/>
            <a:r>
              <a:rPr lang="es-ES" dirty="0" smtClean="0"/>
              <a:t>Mantener la integridad de la piel de la región perineal. </a:t>
            </a:r>
            <a:endParaRPr lang="es-BO" dirty="0" smtClean="0"/>
          </a:p>
          <a:p>
            <a:pPr lvl="0"/>
            <a:r>
              <a:rPr lang="es-ES" dirty="0" smtClean="0"/>
              <a:t>Concienciar al paciente y familia que la incontinencia no es una enfermedad sino un problema de salud. </a:t>
            </a:r>
            <a:endParaRPr lang="es-BO" dirty="0" smtClean="0"/>
          </a:p>
          <a:p>
            <a:pPr lvl="0"/>
            <a:r>
              <a:rPr lang="es-ES" dirty="0" smtClean="0"/>
              <a:t>Favorecer el bienestar físico y psíquico del paciente. </a:t>
            </a:r>
            <a:endParaRPr lang="es-BO" dirty="0" smtClean="0"/>
          </a:p>
          <a:p>
            <a:endParaRPr lang="es-BO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INCOTINENCIA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s-ES" b="1" dirty="0" smtClean="0"/>
              <a:t>MATERIAL, EQUIPOS E INSUMOS:</a:t>
            </a:r>
            <a:endParaRPr lang="es-BO" dirty="0" smtClean="0"/>
          </a:p>
          <a:p>
            <a:pPr>
              <a:buNone/>
            </a:pP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>- Chatas, Patos</a:t>
            </a:r>
            <a:br>
              <a:rPr lang="es-ES" dirty="0" smtClean="0"/>
            </a:br>
            <a:r>
              <a:rPr lang="es-ES" dirty="0" smtClean="0"/>
              <a:t/>
            </a:r>
            <a:br>
              <a:rPr lang="es-ES" dirty="0" smtClean="0"/>
            </a:br>
            <a:r>
              <a:rPr lang="es-ES" dirty="0" smtClean="0"/>
              <a:t>- Toallas</a:t>
            </a:r>
            <a:endParaRPr lang="es-BO" dirty="0" smtClean="0"/>
          </a:p>
          <a:p>
            <a:pPr>
              <a:buNone/>
            </a:pPr>
            <a:r>
              <a:rPr lang="es-ES" dirty="0" smtClean="0"/>
              <a:t>     - Enfermera, auxiliar y/o manual.</a:t>
            </a:r>
            <a:endParaRPr lang="es-BO" dirty="0" smtClean="0"/>
          </a:p>
          <a:p>
            <a:pPr>
              <a:buNone/>
            </a:pPr>
            <a:r>
              <a:rPr lang="es-ES" dirty="0" smtClean="0"/>
              <a:t/>
            </a:r>
            <a:br>
              <a:rPr lang="es-ES" dirty="0" smtClean="0"/>
            </a:br>
            <a:r>
              <a:rPr lang="es-ES" b="1" dirty="0" smtClean="0"/>
              <a:t>Material: </a:t>
            </a:r>
            <a:br>
              <a:rPr lang="es-ES" b="1" dirty="0" smtClean="0"/>
            </a:br>
            <a:r>
              <a:rPr lang="es-ES" dirty="0" smtClean="0"/>
              <a:t>- Absorbentes de incontinencia desechables. </a:t>
            </a:r>
            <a:br>
              <a:rPr lang="es-ES" dirty="0" smtClean="0"/>
            </a:br>
            <a:r>
              <a:rPr lang="es-ES" dirty="0" smtClean="0"/>
              <a:t>- Gasas no estériles. </a:t>
            </a:r>
            <a:br>
              <a:rPr lang="es-ES" dirty="0" smtClean="0"/>
            </a:br>
            <a:r>
              <a:rPr lang="es-ES" dirty="0" smtClean="0"/>
              <a:t>- Torundas. </a:t>
            </a:r>
            <a:br>
              <a:rPr lang="es-ES" dirty="0" smtClean="0"/>
            </a:br>
            <a:r>
              <a:rPr lang="es-ES" dirty="0" smtClean="0"/>
              <a:t>- Pañal.</a:t>
            </a:r>
            <a:br>
              <a:rPr lang="es-ES" dirty="0" smtClean="0"/>
            </a:br>
            <a:r>
              <a:rPr lang="es-ES" dirty="0" smtClean="0"/>
              <a:t>- Guantes no estériles. </a:t>
            </a:r>
            <a:br>
              <a:rPr lang="es-ES" dirty="0" smtClean="0"/>
            </a:br>
            <a:r>
              <a:rPr lang="es-ES" dirty="0" smtClean="0"/>
              <a:t>- Bolsa ropa sucia. </a:t>
            </a:r>
            <a:br>
              <a:rPr lang="es-ES" dirty="0" smtClean="0"/>
            </a:br>
            <a:r>
              <a:rPr lang="es-ES" dirty="0" smtClean="0"/>
              <a:t>- Esponja. </a:t>
            </a:r>
            <a:br>
              <a:rPr lang="es-ES" dirty="0" smtClean="0"/>
            </a:br>
            <a:r>
              <a:rPr lang="es-ES" dirty="0" smtClean="0"/>
              <a:t>- Jabón neutro. </a:t>
            </a:r>
            <a:br>
              <a:rPr lang="es-ES" dirty="0" smtClean="0"/>
            </a:br>
            <a:r>
              <a:rPr lang="es-ES" dirty="0" smtClean="0"/>
              <a:t>- Solución jabonosa y antiséptica. </a:t>
            </a:r>
            <a:br>
              <a:rPr lang="es-ES" dirty="0" smtClean="0"/>
            </a:br>
            <a:r>
              <a:rPr lang="es-ES" dirty="0" smtClean="0"/>
              <a:t>- Registros de enfermería. </a:t>
            </a:r>
            <a:br>
              <a:rPr lang="es-ES" dirty="0" smtClean="0"/>
            </a:br>
            <a:endParaRPr lang="es-BO" dirty="0" smtClean="0"/>
          </a:p>
          <a:p>
            <a:endParaRPr lang="es-BO" dirty="0"/>
          </a:p>
        </p:txBody>
      </p:sp>
      <p:pic>
        <p:nvPicPr>
          <p:cNvPr id="4" name="3 Imagen" descr="modelos de palanganas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005064"/>
            <a:ext cx="3600400" cy="2664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8144" y="406224"/>
            <a:ext cx="2119648" cy="2989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INCONTINENCIA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s-ES" b="1" dirty="0" smtClean="0"/>
              <a:t>PROCEDIMIENTOS DE ENFERMERIA:</a:t>
            </a:r>
          </a:p>
          <a:p>
            <a:pPr>
              <a:buNone/>
            </a:pPr>
            <a:endParaRPr lang="es-BO" dirty="0" smtClean="0"/>
          </a:p>
          <a:p>
            <a:pPr lvl="0"/>
            <a:r>
              <a:rPr lang="es-ES" dirty="0" smtClean="0"/>
              <a:t>Realizar: historia de la duración de la incontinencia </a:t>
            </a:r>
            <a:r>
              <a:rPr lang="es-ES" dirty="0" smtClean="0"/>
              <a:t>urinaria - fecal, </a:t>
            </a:r>
            <a:r>
              <a:rPr lang="es-ES" dirty="0" smtClean="0"/>
              <a:t>severidad, cantidad de escapes, nicturia, frecuencia de incontinencia diurna, presencia de infección urinaria, tratamientos previos, cirugía.</a:t>
            </a:r>
          </a:p>
          <a:p>
            <a:pPr lvl="0">
              <a:buNone/>
            </a:pPr>
            <a:endParaRPr lang="es-BO" dirty="0" smtClean="0"/>
          </a:p>
          <a:p>
            <a:pPr lvl="0"/>
            <a:r>
              <a:rPr lang="es-ES" dirty="0" smtClean="0"/>
              <a:t>Dependiendo del tipo de incontinencia y sexo del paciente se necesitaran materiales y técnicas distintas.</a:t>
            </a:r>
            <a:endParaRPr lang="es-BO" dirty="0" smtClean="0"/>
          </a:p>
          <a:p>
            <a:endParaRPr lang="es-BO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INCONTINENCIA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BO" dirty="0" smtClean="0"/>
          </a:p>
          <a:p>
            <a:pPr lvl="0"/>
            <a:r>
              <a:rPr lang="es-ES" dirty="0" smtClean="0"/>
              <a:t>Si la incontinencia es fecal usaremos pañales desechables en ambos sexos, pero si la incontinencia es urinaria, usaremos colectores en el hombre y pañales en la mujer.</a:t>
            </a:r>
          </a:p>
          <a:p>
            <a:pPr lvl="0">
              <a:buNone/>
            </a:pPr>
            <a:endParaRPr lang="es-BO" dirty="0" smtClean="0"/>
          </a:p>
          <a:p>
            <a:pPr lvl="0"/>
            <a:r>
              <a:rPr lang="es-ES" dirty="0" smtClean="0"/>
              <a:t>Coloque este material, junto con el necesario para lavar al paciente, en una bandeja y transpórtelo a la habitación.</a:t>
            </a:r>
            <a:endParaRPr lang="es-BO" dirty="0" smtClean="0"/>
          </a:p>
          <a:p>
            <a:pPr>
              <a:buNone/>
            </a:pPr>
            <a:endParaRPr lang="es-BO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BO" dirty="0" smtClean="0"/>
              <a:t>INCONTINENCIA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b="1" dirty="0" smtClean="0"/>
              <a:t>Preparación del paciente:</a:t>
            </a:r>
          </a:p>
          <a:p>
            <a:pPr>
              <a:buNone/>
            </a:pPr>
            <a:endParaRPr lang="es-BO" dirty="0" smtClean="0"/>
          </a:p>
          <a:p>
            <a:pPr>
              <a:buNone/>
            </a:pPr>
            <a:r>
              <a:rPr lang="es-ES" dirty="0" smtClean="0"/>
              <a:t>• Proteja la intimidad del paciente.</a:t>
            </a:r>
          </a:p>
          <a:p>
            <a:pPr>
              <a:buNone/>
            </a:pPr>
            <a:endParaRPr lang="es-BO" dirty="0" smtClean="0"/>
          </a:p>
          <a:p>
            <a:pPr>
              <a:buNone/>
            </a:pPr>
            <a:r>
              <a:rPr lang="es-ES" dirty="0" smtClean="0"/>
              <a:t>• Desvista al paciente.</a:t>
            </a:r>
          </a:p>
          <a:p>
            <a:pPr>
              <a:buNone/>
            </a:pPr>
            <a:endParaRPr lang="es-BO" dirty="0" smtClean="0"/>
          </a:p>
          <a:p>
            <a:pPr>
              <a:buNone/>
            </a:pPr>
            <a:r>
              <a:rPr lang="es-ES" dirty="0" smtClean="0"/>
              <a:t>• Si el paciente se puede mantener de pie, se lavará en la ducha y se le colocará el pañal o colector allí mismo, si esto no es posible, se colocará el paciente sobre la cama en decúbito supino y aquí se lavará y se le colocará el pañal o colector.</a:t>
            </a:r>
            <a:endParaRPr lang="es-BO" dirty="0" smtClean="0"/>
          </a:p>
          <a:p>
            <a:endParaRPr lang="es-BO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INCONTINENCIA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ES" b="1" dirty="0" smtClean="0"/>
              <a:t>Ejecución:</a:t>
            </a:r>
            <a:endParaRPr lang="es-BO" dirty="0" smtClean="0"/>
          </a:p>
          <a:p>
            <a:pPr>
              <a:buNone/>
            </a:pPr>
            <a:r>
              <a:rPr lang="es-ES" dirty="0" smtClean="0"/>
              <a:t>Una vez lavado el paciente:</a:t>
            </a:r>
            <a:endParaRPr lang="es-BO" dirty="0" smtClean="0"/>
          </a:p>
          <a:p>
            <a:pPr>
              <a:buNone/>
            </a:pPr>
            <a:r>
              <a:rPr lang="es-ES" dirty="0" smtClean="0"/>
              <a:t>• Aplicación de crema hidratante en pliegues y zona genital.</a:t>
            </a:r>
            <a:endParaRPr lang="es-BO" dirty="0" smtClean="0"/>
          </a:p>
          <a:p>
            <a:pPr>
              <a:buNone/>
            </a:pPr>
            <a:r>
              <a:rPr lang="es-ES" dirty="0" smtClean="0"/>
              <a:t>• Colocación de pañal desechable o colector externo de orina (estos pueden ser totalmente adhesivos en su interior o que se fijen por medio de una cinta adhesiva, usaremos el más adecuado a cada paciente. A este colector acoplaremos una bolsa recolectora).</a:t>
            </a:r>
            <a:endParaRPr lang="es-BO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INCONTINENCIA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ES" dirty="0" smtClean="0"/>
              <a:t>• Vista adecuadamente al paciente.</a:t>
            </a:r>
          </a:p>
          <a:p>
            <a:pPr>
              <a:buNone/>
            </a:pPr>
            <a:endParaRPr lang="es-BO" dirty="0" smtClean="0"/>
          </a:p>
          <a:p>
            <a:pPr>
              <a:buNone/>
            </a:pPr>
            <a:r>
              <a:rPr lang="es-ES" dirty="0" smtClean="0"/>
              <a:t>• Asegúrese de que el paciente quede en posición cómoda.</a:t>
            </a:r>
          </a:p>
          <a:p>
            <a:pPr>
              <a:buNone/>
            </a:pPr>
            <a:endParaRPr lang="es-BO" dirty="0" smtClean="0"/>
          </a:p>
          <a:p>
            <a:pPr>
              <a:buNone/>
            </a:pPr>
            <a:r>
              <a:rPr lang="es-ES" dirty="0" smtClean="0"/>
              <a:t>• Ordene o cambie la ropa de la cama, si es necesario.</a:t>
            </a:r>
          </a:p>
          <a:p>
            <a:pPr>
              <a:buNone/>
            </a:pPr>
            <a:endParaRPr lang="es-BO" dirty="0" smtClean="0"/>
          </a:p>
          <a:p>
            <a:pPr>
              <a:buNone/>
            </a:pPr>
            <a:r>
              <a:rPr lang="es-ES" dirty="0" smtClean="0"/>
              <a:t>• El pañal, colector o bolsa recolectora se cambiaran tantas veces como sea necesario.</a:t>
            </a:r>
            <a:endParaRPr lang="es-BO" dirty="0" smtClean="0"/>
          </a:p>
          <a:p>
            <a:endParaRPr lang="es-BO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INCONTINENCIA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s-ES" b="1" dirty="0" smtClean="0"/>
          </a:p>
          <a:p>
            <a:pPr>
              <a:buNone/>
            </a:pPr>
            <a:r>
              <a:rPr lang="es-ES" b="1" dirty="0" smtClean="0"/>
              <a:t>OBSERVACIONES:</a:t>
            </a:r>
          </a:p>
          <a:p>
            <a:pPr>
              <a:buNone/>
            </a:pPr>
            <a:endParaRPr lang="es-BO" dirty="0" smtClean="0"/>
          </a:p>
          <a:p>
            <a:pPr>
              <a:buNone/>
            </a:pPr>
            <a:r>
              <a:rPr lang="es-ES" dirty="0" smtClean="0"/>
              <a:t>• Es necesario un control exhaustivo de estos pacientes, sobre todo cuando presentan un bajo nivel de conciencia, para evitar irritaciones de la piel de esta zona.</a:t>
            </a:r>
            <a:endParaRPr lang="es-BO" dirty="0" smtClean="0"/>
          </a:p>
          <a:p>
            <a:pPr>
              <a:buNone/>
            </a:pPr>
            <a:endParaRPr lang="es-BO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INCONTINENCIA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s-ES" b="1" dirty="0" smtClean="0"/>
              <a:t>REGISTROS:</a:t>
            </a:r>
          </a:p>
          <a:p>
            <a:pPr>
              <a:buNone/>
            </a:pPr>
            <a:endParaRPr lang="es-BO" dirty="0" smtClean="0"/>
          </a:p>
          <a:p>
            <a:pPr>
              <a:buNone/>
            </a:pPr>
            <a:r>
              <a:rPr lang="es-ES" dirty="0" smtClean="0"/>
              <a:t>Una vez efectuado el procedimiento registrará:</a:t>
            </a:r>
          </a:p>
          <a:p>
            <a:pPr>
              <a:buNone/>
            </a:pPr>
            <a:endParaRPr lang="es-BO" dirty="0" smtClean="0"/>
          </a:p>
          <a:p>
            <a:pPr>
              <a:buNone/>
            </a:pPr>
            <a:r>
              <a:rPr lang="es-ES" dirty="0" smtClean="0"/>
              <a:t>• Hora de colocación del pañal o colector.</a:t>
            </a:r>
            <a:endParaRPr lang="es-BO" dirty="0" smtClean="0"/>
          </a:p>
          <a:p>
            <a:pPr>
              <a:buNone/>
            </a:pPr>
            <a:r>
              <a:rPr lang="es-ES" dirty="0" smtClean="0"/>
              <a:t>• Modelo y calibre del colector.</a:t>
            </a:r>
            <a:endParaRPr lang="es-BO" dirty="0" smtClean="0"/>
          </a:p>
          <a:p>
            <a:pPr>
              <a:buNone/>
            </a:pPr>
            <a:r>
              <a:rPr lang="es-ES" dirty="0" smtClean="0"/>
              <a:t>• Motivo del procedimiento.</a:t>
            </a:r>
            <a:endParaRPr lang="es-BO" dirty="0" smtClean="0"/>
          </a:p>
          <a:p>
            <a:pPr>
              <a:buNone/>
            </a:pPr>
            <a:r>
              <a:rPr lang="es-ES" dirty="0" smtClean="0"/>
              <a:t>• Aspecto y cantidad de la orina o heces evacuadas.</a:t>
            </a:r>
            <a:endParaRPr lang="es-BO" dirty="0" smtClean="0"/>
          </a:p>
          <a:p>
            <a:endParaRPr lang="es-BO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INCONTINENCIA FECAL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s-ES" b="1" dirty="0" smtClean="0">
                <a:solidFill>
                  <a:srgbClr val="000099"/>
                </a:solidFill>
              </a:rPr>
              <a:t>Incontinencia fecal</a:t>
            </a:r>
          </a:p>
          <a:p>
            <a:endParaRPr lang="es-ES" b="1" dirty="0" smtClean="0"/>
          </a:p>
          <a:p>
            <a:r>
              <a:rPr lang="es-ES" dirty="0" smtClean="0">
                <a:solidFill>
                  <a:srgbClr val="000099"/>
                </a:solidFill>
              </a:rPr>
              <a:t>Riesgo de deterioro de la integridad cutánea.</a:t>
            </a:r>
          </a:p>
          <a:p>
            <a:r>
              <a:rPr lang="es-ES" dirty="0" smtClean="0">
                <a:solidFill>
                  <a:srgbClr val="000099"/>
                </a:solidFill>
              </a:rPr>
              <a:t>Riesgo contaminación heridas</a:t>
            </a:r>
            <a:r>
              <a:rPr lang="es-ES" dirty="0" smtClean="0">
                <a:solidFill>
                  <a:srgbClr val="000066"/>
                </a:solidFill>
              </a:rPr>
              <a:t> </a:t>
            </a:r>
          </a:p>
          <a:p>
            <a:r>
              <a:rPr lang="es-ES" dirty="0" smtClean="0">
                <a:solidFill>
                  <a:srgbClr val="000099"/>
                </a:solidFill>
              </a:rPr>
              <a:t>Cambios frecuentes, movilización</a:t>
            </a:r>
          </a:p>
          <a:p>
            <a:pPr>
              <a:buNone/>
            </a:pPr>
            <a:endParaRPr lang="es-BO" dirty="0" smtClean="0"/>
          </a:p>
          <a:p>
            <a:endParaRPr lang="es-BO" dirty="0"/>
          </a:p>
        </p:txBody>
      </p:sp>
      <p:pic>
        <p:nvPicPr>
          <p:cNvPr id="4" name="Picture 11" descr="diarrea-t1179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6136" y="3933056"/>
            <a:ext cx="2232248" cy="25922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BO"/>
          </a:p>
        </p:txBody>
      </p:sp>
      <p:pic>
        <p:nvPicPr>
          <p:cNvPr id="4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b="3735"/>
          <a:stretch>
            <a:fillRect/>
          </a:stretch>
        </p:blipFill>
        <p:spPr bwMode="auto">
          <a:xfrm>
            <a:off x="0" y="0"/>
            <a:ext cx="81724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 smtClean="0"/>
              <a:t>nanda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s-ES" dirty="0"/>
              <a:t>Eliminación</a:t>
            </a:r>
          </a:p>
          <a:p>
            <a:r>
              <a:rPr lang="es-ES" dirty="0"/>
              <a:t>DN: 00014. INCONTINENCIA FECAL. </a:t>
            </a:r>
            <a:r>
              <a:rPr lang="es-ES" dirty="0" err="1"/>
              <a:t>Rc</a:t>
            </a:r>
            <a:r>
              <a:rPr lang="es-ES" dirty="0"/>
              <a:t>: perdida de control de esfínter. Manifestado por (</a:t>
            </a:r>
            <a:r>
              <a:rPr lang="es-ES" dirty="0" err="1"/>
              <a:t>Mp</a:t>
            </a:r>
            <a:r>
              <a:rPr lang="es-ES" dirty="0"/>
              <a:t>):</a:t>
            </a:r>
            <a:r>
              <a:rPr lang="es-ES" b="1" dirty="0"/>
              <a:t> </a:t>
            </a:r>
            <a:r>
              <a:rPr lang="es-ES" dirty="0"/>
              <a:t>emisión de heces y gases involuntariamente</a:t>
            </a:r>
          </a:p>
          <a:p>
            <a:r>
              <a:rPr lang="es-ES" dirty="0"/>
              <a:t>NOC: 0501 Eliminación intestinal</a:t>
            </a:r>
          </a:p>
          <a:p>
            <a:r>
              <a:rPr lang="es-ES" dirty="0" err="1"/>
              <a:t>NICs</a:t>
            </a:r>
            <a:r>
              <a:rPr lang="es-ES" dirty="0"/>
              <a:t>: 1100. Manejo de la nutrición; 0460. Manejo de la diarrea; 0450. Manejo del estreñimiento/implantación.</a:t>
            </a:r>
          </a:p>
          <a:p>
            <a:r>
              <a:rPr lang="es-ES" dirty="0"/>
              <a:t>Los indicadores van encaminados a monitorizar el grado de comprensión de las recomendaciones dietéticas en las que a la paciente se le instruye durante la fase tardía del postoperatorio. La eficacia de estos conocimientos, podrá ser valorada en el seguimiento ambulatorio, después del alta, en relación a:</a:t>
            </a:r>
          </a:p>
          <a:p>
            <a:r>
              <a:rPr lang="es-ES" dirty="0"/>
              <a:t>AUSENCIA DE ESTREÑIMIENTO</a:t>
            </a:r>
          </a:p>
          <a:p>
            <a:r>
              <a:rPr lang="es-ES" dirty="0"/>
              <a:t>AUSENCIA DE DIARREA</a:t>
            </a:r>
          </a:p>
          <a:p>
            <a:r>
              <a:rPr lang="es-ES" dirty="0"/>
              <a:t>Por ello el indicador que utilizaremos durante el ingreso (a valorar en el momento del alta) es:</a:t>
            </a:r>
          </a:p>
          <a:p>
            <a:r>
              <a:rPr lang="es-ES" dirty="0"/>
              <a:t>DESCRIPCION DE LA DIETA PRESCRITA</a:t>
            </a:r>
          </a:p>
          <a:p>
            <a:r>
              <a:rPr lang="es-ES" dirty="0"/>
              <a:t>La paciente será capaz de verbalizar en el momento del alta, los conocimientos aprendidos en cuanto a régimen dietético. Conocerá que alimentos debe tomar en caso de diarrea y cuales en caso de estreñimiento. La paciente tendrá conocimiento de cuales son los alimentos que favorecen la emisión de gases.</a:t>
            </a:r>
          </a:p>
          <a:p>
            <a:r>
              <a:rPr lang="es-ES" dirty="0"/>
              <a:t>La monitorización del grado de conocimiento a la descripción de la dieta prescrita resulta “sustancial” (en  escala: ninguno/escaso/moderado/sustancial/extremo).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205510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 rot="20593711">
            <a:off x="-72914" y="1979842"/>
            <a:ext cx="785586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5400" b="1" cap="none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G R A C I A S</a:t>
            </a:r>
            <a:endParaRPr lang="es-ES" sz="5400" b="1" cap="none" spc="300" dirty="0">
              <a:ln w="11430" cmpd="sng">
                <a:solidFill>
                  <a:schemeClr val="accent1">
                    <a:tint val="10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1">
                      <a:tint val="83000"/>
                      <a:shade val="100000"/>
                      <a:satMod val="200000"/>
                    </a:schemeClr>
                  </a:gs>
                  <a:gs pos="75000">
                    <a:schemeClr val="accent1">
                      <a:tint val="100000"/>
                      <a:shade val="50000"/>
                      <a:satMod val="150000"/>
                    </a:schemeClr>
                  </a:gs>
                </a:gsLst>
                <a:lin ang="5400000"/>
              </a:gra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</a:endParaRPr>
          </a:p>
        </p:txBody>
      </p:sp>
      <p:pic>
        <p:nvPicPr>
          <p:cNvPr id="3" name="2 Imagen" descr="Incontinencia Urinaria - enfermeria101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717032"/>
            <a:ext cx="5472608" cy="2520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o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o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pulento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145</TotalTime>
  <Words>865</Words>
  <Application>Microsoft Office PowerPoint</Application>
  <PresentationFormat>Presentación en pantalla (4:3)</PresentationFormat>
  <Paragraphs>104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19" baseType="lpstr">
      <vt:lpstr>Opulento</vt:lpstr>
      <vt:lpstr>PROTOCOLO DE ENFERMERIA PARA INCONTINENCIA </vt:lpstr>
      <vt:lpstr>INCONTINENCIA URINARIA - fecal</vt:lpstr>
      <vt:lpstr>INCONTINENCIA </vt:lpstr>
      <vt:lpstr>incontinencia</vt:lpstr>
      <vt:lpstr>incontinencia</vt:lpstr>
      <vt:lpstr>INCONTINENCIA </vt:lpstr>
      <vt:lpstr>INCOTINENCIA</vt:lpstr>
      <vt:lpstr>INCONTINENCIA</vt:lpstr>
      <vt:lpstr>INCONTINENCIA</vt:lpstr>
      <vt:lpstr>INCONTINENCIA</vt:lpstr>
      <vt:lpstr>INCONTINENCIA</vt:lpstr>
      <vt:lpstr>INCONTINENCIA</vt:lpstr>
      <vt:lpstr>INCONTINENCIA</vt:lpstr>
      <vt:lpstr>INCONTINENCIA</vt:lpstr>
      <vt:lpstr>INCONTINENCIA FECAL</vt:lpstr>
      <vt:lpstr>Presentación de PowerPoint</vt:lpstr>
      <vt:lpstr>nanda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PROTOCOLO DE ENFERMERIA PARA INCONTINENCIA</dc:title>
  <dc:creator>minedu</dc:creator>
  <cp:lastModifiedBy>Hp435</cp:lastModifiedBy>
  <cp:revision>12</cp:revision>
  <dcterms:created xsi:type="dcterms:W3CDTF">2014-05-30T23:49:04Z</dcterms:created>
  <dcterms:modified xsi:type="dcterms:W3CDTF">2014-05-31T14:28:18Z</dcterms:modified>
</cp:coreProperties>
</file>